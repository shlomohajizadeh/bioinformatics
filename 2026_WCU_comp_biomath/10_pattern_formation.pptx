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sldIdLst>
    <p:sldId id="410" r:id="rId2"/>
    <p:sldId id="390" r:id="rId3"/>
    <p:sldId id="391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4" r:id="rId13"/>
    <p:sldId id="402" r:id="rId14"/>
    <p:sldId id="403" r:id="rId15"/>
    <p:sldId id="405" r:id="rId16"/>
    <p:sldId id="406" r:id="rId17"/>
    <p:sldId id="407" r:id="rId18"/>
    <p:sldId id="408" r:id="rId19"/>
    <p:sldId id="555" r:id="rId20"/>
    <p:sldId id="409" r:id="rId21"/>
    <p:sldId id="412" r:id="rId22"/>
    <p:sldId id="393" r:id="rId23"/>
    <p:sldId id="556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510" r:id="rId42"/>
    <p:sldId id="511" r:id="rId43"/>
    <p:sldId id="513" r:id="rId44"/>
    <p:sldId id="514" r:id="rId45"/>
    <p:sldId id="515" r:id="rId46"/>
    <p:sldId id="516" r:id="rId47"/>
    <p:sldId id="517" r:id="rId48"/>
    <p:sldId id="518" r:id="rId49"/>
    <p:sldId id="411" r:id="rId50"/>
  </p:sldIdLst>
  <p:sldSz cx="9144000" cy="5143500" type="screen16x9"/>
  <p:notesSz cx="6858000" cy="9144000"/>
  <p:embeddedFontLst>
    <p:embeddedFont>
      <p:font typeface="Sylfaen" panose="010A0502050306030303" pitchFamily="18" charset="0"/>
      <p:regular r:id="rId5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7356" autoAdjust="0"/>
  </p:normalViewPr>
  <p:slideViewPr>
    <p:cSldViewPr>
      <p:cViewPr varScale="1">
        <p:scale>
          <a:sx n="86" d="100"/>
          <a:sy n="86" d="100"/>
        </p:scale>
        <p:origin x="70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36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68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68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The Secret Life of Slime Molds: Pattern Formation</a:t>
            </a:r>
          </a:p>
          <a:p>
            <a:endParaRPr lang="en-US" sz="500" noProof="0" dirty="0"/>
          </a:p>
          <a:p>
            <a:r>
              <a:rPr lang="en-US" noProof="0"/>
              <a:t>Lesson 10</a:t>
            </a:r>
            <a:endParaRPr lang="en-US" noProof="0" dirty="0"/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Turing’s model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Spiral waves &amp; pattern formation</a:t>
            </a: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971600" y="1563638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971600" y="1131590"/>
            <a:ext cx="380418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</a:t>
            </a:r>
          </a:p>
          <a:p>
            <a:endParaRPr lang="en-US" sz="1000" dirty="0"/>
          </a:p>
          <a:p>
            <a:pPr lvl="1"/>
            <a:r>
              <a:rPr lang="en-US" b="1" dirty="0"/>
              <a:t>Turing’s Model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Spiral Waves &amp; Pattern Formation</a:t>
            </a:r>
          </a:p>
        </p:txBody>
      </p:sp>
      <p:grpSp>
        <p:nvGrpSpPr>
          <p:cNvPr id="7" name="Gruppieren 6"/>
          <p:cNvGrpSpPr/>
          <p:nvPr/>
        </p:nvGrpSpPr>
        <p:grpSpPr>
          <a:xfrm>
            <a:off x="6408445" y="987575"/>
            <a:ext cx="2628600" cy="4018432"/>
            <a:chOff x="6002142" y="366447"/>
            <a:chExt cx="3034903" cy="4639560"/>
          </a:xfrm>
        </p:grpSpPr>
        <p:pic>
          <p:nvPicPr>
            <p:cNvPr id="4098" name="Picture 2" descr="Naturdetektive für Kinder - www.naturdetektive.de: Zebra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08738" y="3866606"/>
              <a:ext cx="3028307" cy="1139401"/>
            </a:xfrm>
            <a:prstGeom prst="rect">
              <a:avLst/>
            </a:prstGeom>
            <a:noFill/>
          </p:spPr>
        </p:pic>
        <p:pic>
          <p:nvPicPr>
            <p:cNvPr id="4100" name="Picture 4" descr="Der asiatische Gepard - Seltene Tierarten in Iran - IranKultur - Iran |  Kultur | Reisen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02142" y="2089062"/>
              <a:ext cx="3034353" cy="1706824"/>
            </a:xfrm>
            <a:prstGeom prst="rect">
              <a:avLst/>
            </a:prstGeom>
            <a:noFill/>
          </p:spPr>
        </p:pic>
        <p:pic>
          <p:nvPicPr>
            <p:cNvPr id="4102" name="Picture 6" descr="How To Look After Clownfish | Hayes Garden Worl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12160" y="366447"/>
              <a:ext cx="3024336" cy="1629239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may cause inhomogeneous patterns or spatial non-uniformities referred to as Turing instabilities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63691" y="1203588"/>
            <a:ext cx="7056245" cy="3053260"/>
          </a:xfrm>
          <a:prstGeom prst="rect">
            <a:avLst/>
          </a:prstGeom>
          <a:noFill/>
          <a:ln/>
          <a:effectLst/>
        </p:spPr>
      </p:pic>
      <p:pic>
        <p:nvPicPr>
          <p:cNvPr id="32772" name="Picture 4" descr="Alan Turing - Wikipedia bahasa Indonesia, ensiklopedia beba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131590"/>
            <a:ext cx="1209734" cy="1512167"/>
          </a:xfrm>
          <a:prstGeom prst="rect">
            <a:avLst/>
          </a:prstGeom>
          <a:noFill/>
        </p:spPr>
      </p:pic>
      <p:sp>
        <p:nvSpPr>
          <p:cNvPr id="8" name="Textfeld 7"/>
          <p:cNvSpPr txBox="1"/>
          <p:nvPr/>
        </p:nvSpPr>
        <p:spPr>
          <a:xfrm>
            <a:off x="251520" y="2715766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b="1" dirty="0"/>
              <a:t>Alan M. Turing</a:t>
            </a:r>
          </a:p>
          <a:p>
            <a:pPr algn="ctr"/>
            <a:r>
              <a:rPr lang="de-DE" sz="1000" dirty="0"/>
              <a:t>(1912 - 1954)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starting point of our considerations is two-dimensional reaction diffusion system on a finite domain with zero flux boundary conditions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63690" y="1203583"/>
            <a:ext cx="7062522" cy="3719319"/>
          </a:xfrm>
          <a:prstGeom prst="rect">
            <a:avLst/>
          </a:prstGeom>
          <a:noFill/>
          <a:ln/>
          <a:effectLst/>
        </p:spPr>
      </p:pic>
      <p:sp>
        <p:nvSpPr>
          <p:cNvPr id="13" name="Rechteck 12"/>
          <p:cNvSpPr/>
          <p:nvPr/>
        </p:nvSpPr>
        <p:spPr>
          <a:xfrm>
            <a:off x="3131840" y="1727247"/>
            <a:ext cx="4320480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</a:t>
            </a:r>
            <a:br>
              <a:rPr lang="en-US" dirty="0"/>
            </a:br>
            <a:r>
              <a:rPr lang="en-US" dirty="0"/>
              <a:t>There is an asymptotically stable equilibrium in the reaction system (1/ 2)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63691" y="1203583"/>
            <a:ext cx="7058199" cy="326793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</a:t>
            </a:r>
            <a:br>
              <a:rPr lang="en-US" dirty="0"/>
            </a:br>
            <a:r>
              <a:rPr lang="en-US" dirty="0"/>
              <a:t>There is an asymptotically stable equilibrium in the reaction system (2/ 2)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63690" y="1203583"/>
            <a:ext cx="7077998" cy="329675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(1/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63690" y="1203583"/>
            <a:ext cx="7066727" cy="325917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(2/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7159" y="1203580"/>
            <a:ext cx="7071122" cy="371041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(3/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80"/>
            <a:ext cx="7066578" cy="309113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(4/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9" y="1203579"/>
            <a:ext cx="7068471" cy="351851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(5/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9"/>
            <a:ext cx="7075430" cy="336712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(6/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fik 1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4"/>
            <a:ext cx="7086922" cy="362528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This equilibrium is unstable when diffusion is present (7/ 7)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3"/>
            <a:ext cx="5557176" cy="239280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Theorem:</a:t>
            </a:r>
            <a:br>
              <a:rPr lang="en-US" dirty="0"/>
            </a:br>
            <a:r>
              <a:rPr lang="en-US" dirty="0"/>
              <a:t>Turing Instability Theorem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0243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3"/>
            <a:ext cx="7083244" cy="277447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Corollary:</a:t>
            </a:r>
            <a:br>
              <a:rPr lang="en-US" dirty="0"/>
            </a:br>
            <a:r>
              <a:rPr lang="en-US" dirty="0"/>
              <a:t>Necessary conditions for Turing instability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64807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750629" y="1203573"/>
            <a:ext cx="7068779" cy="462469"/>
          </a:xfrm>
          <a:prstGeom prst="rect">
            <a:avLst/>
          </a:prstGeom>
          <a:noFill/>
          <a:ln/>
          <a:effectLst/>
        </p:spPr>
      </p:pic>
      <p:sp>
        <p:nvSpPr>
          <p:cNvPr id="6" name="Rechteck 5"/>
          <p:cNvSpPr/>
          <p:nvPr/>
        </p:nvSpPr>
        <p:spPr>
          <a:xfrm>
            <a:off x="1691680" y="1923678"/>
            <a:ext cx="7200800" cy="28083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750628" y="1995660"/>
            <a:ext cx="7073372" cy="211941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</a:t>
            </a:r>
            <a:br>
              <a:rPr lang="en-US" dirty="0"/>
            </a:br>
            <a:r>
              <a:rPr lang="en-US" dirty="0"/>
              <a:t>Corollary to Turing’s Instability Theorem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252028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9" y="1203574"/>
            <a:ext cx="7087591" cy="2377109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diffusive instabilities to occur the signs of the </a:t>
            </a:r>
            <a:r>
              <a:rPr lang="en-US" dirty="0" err="1"/>
              <a:t>Jacobian</a:t>
            </a:r>
            <a:r>
              <a:rPr lang="en-US" dirty="0"/>
              <a:t> must follow a certain rule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491876" y="1203596"/>
            <a:ext cx="5333088" cy="2370586"/>
          </a:xfrm>
          <a:prstGeom prst="rect">
            <a:avLst/>
          </a:prstGeom>
          <a:noFill/>
          <a:ln/>
          <a:effectLst/>
        </p:spPr>
      </p:pic>
      <p:sp>
        <p:nvSpPr>
          <p:cNvPr id="8" name="Rechteck 7"/>
          <p:cNvSpPr/>
          <p:nvPr/>
        </p:nvSpPr>
        <p:spPr>
          <a:xfrm>
            <a:off x="251520" y="1131590"/>
            <a:ext cx="2880320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Activator-Inhibitor Systems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2427734"/>
            <a:ext cx="2880320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Positive Feedback Systems</a:t>
            </a:r>
          </a:p>
        </p:txBody>
      </p:sp>
      <p:pic>
        <p:nvPicPr>
          <p:cNvPr id="11" name="Grafik 10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1025" y="1643925"/>
            <a:ext cx="1841310" cy="487498"/>
          </a:xfrm>
          <a:prstGeom prst="rect">
            <a:avLst/>
          </a:prstGeom>
          <a:noFill/>
          <a:ln/>
          <a:effectLst/>
        </p:spPr>
      </p:pic>
      <p:sp>
        <p:nvSpPr>
          <p:cNvPr id="12" name="Rechteck 11"/>
          <p:cNvSpPr/>
          <p:nvPr/>
        </p:nvSpPr>
        <p:spPr>
          <a:xfrm>
            <a:off x="251520" y="1491630"/>
            <a:ext cx="2880320" cy="79208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251520" y="2787774"/>
            <a:ext cx="2880320" cy="79208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fik 14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0355" y="2939896"/>
            <a:ext cx="1842651" cy="48784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Applying Turing’s Instability Theorem in 1D</a:t>
            </a:r>
          </a:p>
        </p:txBody>
      </p:sp>
      <p:sp>
        <p:nvSpPr>
          <p:cNvPr id="4" name="Rechteck 3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3"/>
            <a:ext cx="7098674" cy="378351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Applying Turing’s Instability Theorem in 1D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1877" y="1203596"/>
            <a:ext cx="5331875" cy="3602761"/>
          </a:xfrm>
          <a:prstGeom prst="rect">
            <a:avLst/>
          </a:prstGeom>
          <a:noFill/>
          <a:ln/>
          <a:effectLst/>
        </p:spPr>
      </p:pic>
      <p:pic>
        <p:nvPicPr>
          <p:cNvPr id="7" name="Picture 2 1"/>
          <p:cNvPicPr>
            <a:picLocks noChangeAspect="1" noChangeArrowheads="1"/>
          </p:cNvPicPr>
          <p:nvPr/>
        </p:nvPicPr>
        <p:blipFill>
          <a:blip r:embed="rId4" cstate="print"/>
          <a:srcRect l="50202"/>
          <a:stretch>
            <a:fillRect/>
          </a:stretch>
        </p:blipFill>
        <p:spPr bwMode="auto">
          <a:xfrm>
            <a:off x="971600" y="2761483"/>
            <a:ext cx="214287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 2"/>
          <p:cNvPicPr>
            <a:picLocks noChangeAspect="1" noChangeArrowheads="1"/>
          </p:cNvPicPr>
          <p:nvPr/>
        </p:nvPicPr>
        <p:blipFill>
          <a:blip r:embed="rId4" cstate="print"/>
          <a:srcRect r="49798"/>
          <a:stretch>
            <a:fillRect/>
          </a:stretch>
        </p:blipFill>
        <p:spPr bwMode="auto">
          <a:xfrm>
            <a:off x="251520" y="1105466"/>
            <a:ext cx="216024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feld 7"/>
          <p:cNvSpPr txBox="1"/>
          <p:nvPr/>
        </p:nvSpPr>
        <p:spPr>
          <a:xfrm>
            <a:off x="251521" y="4437594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Zebra patterns generated along the line segment [0, 1], </a:t>
            </a:r>
            <a:r>
              <a:rPr lang="en-US" sz="1200" i="1" dirty="0"/>
              <a:t>L</a:t>
            </a:r>
            <a:r>
              <a:rPr lang="en-US" sz="1200" dirty="0"/>
              <a:t> = 1, when the instability occurs at modes </a:t>
            </a:r>
            <a:r>
              <a:rPr lang="pt-BR" sz="1200" i="1" dirty="0"/>
              <a:t>n</a:t>
            </a:r>
            <a:r>
              <a:rPr lang="pt-BR" sz="1200" dirty="0"/>
              <a:t> = 2 and </a:t>
            </a:r>
            <a:r>
              <a:rPr lang="pt-BR" sz="1200" i="1" dirty="0"/>
              <a:t>n</a:t>
            </a:r>
            <a:r>
              <a:rPr lang="pt-BR" sz="1200" dirty="0"/>
              <a:t> = 4.</a:t>
            </a:r>
            <a:endParaRPr lang="en-US" sz="1200" dirty="0"/>
          </a:p>
        </p:txBody>
      </p:sp>
      <p:pic>
        <p:nvPicPr>
          <p:cNvPr id="1034" name="Picture 10" descr="Datei:Zebra (24694097565)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11760" y="1170776"/>
            <a:ext cx="913900" cy="6088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Applying Turing’s Instability Theorem in 2D</a:t>
            </a:r>
          </a:p>
        </p:txBody>
      </p:sp>
      <p:sp>
        <p:nvSpPr>
          <p:cNvPr id="4" name="Rechteck 3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5"/>
            <a:ext cx="7089064" cy="372495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Applying Turing’s Instability Theorem in 2D</a:t>
            </a:r>
          </a:p>
        </p:txBody>
      </p:sp>
      <p:sp>
        <p:nvSpPr>
          <p:cNvPr id="4" name="Rechteck 3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628" y="1203574"/>
            <a:ext cx="7092958" cy="2603154"/>
          </a:xfrm>
          <a:prstGeom prst="rect">
            <a:avLst/>
          </a:prstGeom>
          <a:noFill/>
          <a:ln/>
          <a:effectLst/>
        </p:spPr>
      </p:pic>
      <p:pic>
        <p:nvPicPr>
          <p:cNvPr id="32770" name="Picture 2" descr="Check (pattern) - Wikipedi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131590"/>
            <a:ext cx="1224136" cy="1224136"/>
          </a:xfrm>
          <a:prstGeom prst="rect">
            <a:avLst/>
          </a:prstGeom>
          <a:noFill/>
        </p:spPr>
      </p:pic>
      <p:pic>
        <p:nvPicPr>
          <p:cNvPr id="32774" name="Picture 6" descr="Checkerboard Wrasse - Facts, Video and Photographs| Seaunseen"/>
          <p:cNvPicPr>
            <a:picLocks noChangeAspect="1" noChangeArrowheads="1"/>
          </p:cNvPicPr>
          <p:nvPr/>
        </p:nvPicPr>
        <p:blipFill>
          <a:blip r:embed="rId5" cstate="print"/>
          <a:srcRect l="12705" t="16360" r="7275" b="23655"/>
          <a:stretch>
            <a:fillRect/>
          </a:stretch>
        </p:blipFill>
        <p:spPr bwMode="auto">
          <a:xfrm>
            <a:off x="251520" y="2571750"/>
            <a:ext cx="1224136" cy="612068"/>
          </a:xfrm>
          <a:prstGeom prst="rect">
            <a:avLst/>
          </a:prstGeom>
          <a:noFill/>
        </p:spPr>
      </p:pic>
      <p:sp>
        <p:nvSpPr>
          <p:cNvPr id="8" name="Textfeld 7"/>
          <p:cNvSpPr txBox="1"/>
          <p:nvPr/>
        </p:nvSpPr>
        <p:spPr>
          <a:xfrm>
            <a:off x="251520" y="3219822"/>
            <a:ext cx="122413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de-DE" sz="1000" dirty="0" err="1"/>
              <a:t>checkerboard</a:t>
            </a:r>
            <a:r>
              <a:rPr lang="de-DE" sz="1000" dirty="0"/>
              <a:t> </a:t>
            </a:r>
            <a:r>
              <a:rPr lang="de-DE" sz="1000" dirty="0" err="1"/>
              <a:t>wrasse</a:t>
            </a:r>
            <a:r>
              <a:rPr lang="de-DE" sz="1000" dirty="0"/>
              <a:t> </a:t>
            </a:r>
            <a:r>
              <a:rPr lang="de-DE" sz="800" dirty="0"/>
              <a:t>(</a:t>
            </a:r>
            <a:r>
              <a:rPr lang="de-DE" sz="800" i="1" dirty="0" err="1"/>
              <a:t>Halichoeres</a:t>
            </a:r>
            <a:r>
              <a:rPr lang="de-DE" sz="800" i="1" dirty="0"/>
              <a:t> </a:t>
            </a:r>
            <a:r>
              <a:rPr lang="de-DE" sz="800" i="1" dirty="0" err="1"/>
              <a:t>hortulanus</a:t>
            </a:r>
            <a:r>
              <a:rPr lang="de-DE" sz="800" dirty="0"/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several applets available to illustrate pattern formation in two-dimensional reaction-diffusion systems</a:t>
            </a:r>
          </a:p>
        </p:txBody>
      </p:sp>
      <p:sp>
        <p:nvSpPr>
          <p:cNvPr id="3" name="Rechteck 2"/>
          <p:cNvSpPr/>
          <p:nvPr/>
        </p:nvSpPr>
        <p:spPr>
          <a:xfrm>
            <a:off x="251520" y="1131590"/>
            <a:ext cx="7200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https://jasonwebb.github.io/reaction-diffusion-playground/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7654"/>
            <a:ext cx="7632848" cy="280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2B4EF-51B1-4460-21E0-BE846C3D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60CC0B7-AA24-54FE-BC09-A62A96483D87}"/>
              </a:ext>
            </a:extLst>
          </p:cNvPr>
          <p:cNvSpPr/>
          <p:nvPr/>
        </p:nvSpPr>
        <p:spPr>
          <a:xfrm>
            <a:off x="971600" y="2111566"/>
            <a:ext cx="432048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9ED719-9A96-F7BD-22DA-D36EC918E63C}"/>
              </a:ext>
            </a:extLst>
          </p:cNvPr>
          <p:cNvSpPr txBox="1"/>
          <p:nvPr/>
        </p:nvSpPr>
        <p:spPr>
          <a:xfrm>
            <a:off x="971600" y="1131590"/>
            <a:ext cx="387740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</a:t>
            </a:r>
          </a:p>
          <a:p>
            <a:endParaRPr lang="en-US" sz="1000" dirty="0"/>
          </a:p>
          <a:p>
            <a:pPr lvl="1"/>
            <a:r>
              <a:rPr lang="en-US" dirty="0"/>
              <a:t>Turing’s Model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Spiral Waves &amp; Pattern 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B9C00-7AE6-A76F-FCDD-E23F988A2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16802"/>
          <a:stretch>
            <a:fillRect/>
          </a:stretch>
        </p:blipFill>
        <p:spPr bwMode="auto">
          <a:xfrm>
            <a:off x="5744961" y="1155538"/>
            <a:ext cx="3284711" cy="383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3FFFD67-A48C-8CAE-73BC-94300EFD6CC4}"/>
              </a:ext>
            </a:extLst>
          </p:cNvPr>
          <p:cNvGrpSpPr/>
          <p:nvPr/>
        </p:nvGrpSpPr>
        <p:grpSpPr>
          <a:xfrm>
            <a:off x="1547664" y="2859782"/>
            <a:ext cx="2918384" cy="2160240"/>
            <a:chOff x="1187624" y="1988840"/>
            <a:chExt cx="2918384" cy="2160240"/>
          </a:xfrm>
        </p:grpSpPr>
        <p:pic>
          <p:nvPicPr>
            <p:cNvPr id="6" name="Picture 2" descr="Ähnliches Foto">
              <a:extLst>
                <a:ext uri="{FF2B5EF4-FFF2-40B4-BE49-F238E27FC236}">
                  <a16:creationId xmlns:a16="http://schemas.microsoft.com/office/drawing/2014/main" id="{D5CC7145-8685-7C66-FD3A-1FE73CFCE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11101" t="35827" r="55472" b="22722"/>
            <a:stretch>
              <a:fillRect/>
            </a:stretch>
          </p:blipFill>
          <p:spPr bwMode="auto">
            <a:xfrm>
              <a:off x="1259632" y="2564904"/>
              <a:ext cx="2846376" cy="1512168"/>
            </a:xfrm>
            <a:prstGeom prst="rect">
              <a:avLst/>
            </a:prstGeom>
            <a:noFill/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55430DC-6A85-2F87-3A2E-93995C5DB61C}"/>
                </a:ext>
              </a:extLst>
            </p:cNvPr>
            <p:cNvSpPr/>
            <p:nvPr/>
          </p:nvSpPr>
          <p:spPr>
            <a:xfrm>
              <a:off x="1187624" y="1988840"/>
              <a:ext cx="2880320" cy="21602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bgerundetes Rechteck 27">
              <a:extLst>
                <a:ext uri="{FF2B5EF4-FFF2-40B4-BE49-F238E27FC236}">
                  <a16:creationId xmlns:a16="http://schemas.microsoft.com/office/drawing/2014/main" id="{A0E237C5-0CDF-ADCD-A447-1E4149C4B754}"/>
                </a:ext>
              </a:extLst>
            </p:cNvPr>
            <p:cNvSpPr/>
            <p:nvPr/>
          </p:nvSpPr>
          <p:spPr>
            <a:xfrm>
              <a:off x="1259632" y="2060848"/>
              <a:ext cx="1296144" cy="43204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bg1"/>
                  </a:solidFill>
                </a:rPr>
                <a:t>Martiel</a:t>
              </a:r>
              <a:r>
                <a:rPr lang="en-US" sz="1200" dirty="0">
                  <a:solidFill>
                    <a:schemeClr val="bg1"/>
                  </a:solidFill>
                </a:rPr>
                <a:t> </a:t>
              </a:r>
              <a:r>
                <a:rPr lang="en-US" sz="1200">
                  <a:solidFill>
                    <a:schemeClr val="bg1"/>
                  </a:solidFill>
                </a:rPr>
                <a:t>&amp; Goldbeter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Abgerundetes Rechteck 28">
              <a:extLst>
                <a:ext uri="{FF2B5EF4-FFF2-40B4-BE49-F238E27FC236}">
                  <a16:creationId xmlns:a16="http://schemas.microsoft.com/office/drawing/2014/main" id="{B56D8D7F-3E43-80CF-DF30-BA07BDE05A65}"/>
                </a:ext>
              </a:extLst>
            </p:cNvPr>
            <p:cNvSpPr/>
            <p:nvPr/>
          </p:nvSpPr>
          <p:spPr>
            <a:xfrm>
              <a:off x="2699792" y="2060848"/>
              <a:ext cx="1296144" cy="43204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Keller &amp;</a:t>
              </a:r>
            </a:p>
            <a:p>
              <a:pPr algn="ctr"/>
              <a:r>
                <a:rPr lang="en-US" sz="1200" dirty="0" err="1">
                  <a:solidFill>
                    <a:schemeClr val="bg1"/>
                  </a:solidFill>
                </a:rPr>
                <a:t>Segel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ad 6">
            <a:extLst>
              <a:ext uri="{FF2B5EF4-FFF2-40B4-BE49-F238E27FC236}">
                <a16:creationId xmlns:a16="http://schemas.microsoft.com/office/drawing/2014/main" id="{7D8102EB-FEEB-B872-66FD-B2E0723BBFCD}"/>
              </a:ext>
            </a:extLst>
          </p:cNvPr>
          <p:cNvSpPr/>
          <p:nvPr/>
        </p:nvSpPr>
        <p:spPr>
          <a:xfrm>
            <a:off x="7401145" y="3075806"/>
            <a:ext cx="1440160" cy="1512168"/>
          </a:xfrm>
          <a:prstGeom prst="donut">
            <a:avLst>
              <a:gd name="adj" fmla="val 4471"/>
            </a:avLst>
          </a:prstGeom>
          <a:solidFill>
            <a:srgbClr val="FF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8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and concentric waves in a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aggregation field (dark bands correspond to </a:t>
            </a:r>
            <a:r>
              <a:rPr lang="en-US" dirty="0" err="1"/>
              <a:t>amoebaes</a:t>
            </a:r>
            <a:r>
              <a:rPr lang="en-US" dirty="0"/>
              <a:t>) – 1/ 2</a:t>
            </a:r>
          </a:p>
        </p:txBody>
      </p:sp>
      <p:pic>
        <p:nvPicPr>
          <p:cNvPr id="3" name="Picture 2" descr="http://www.math.utah.edu/~epalsson/kyoung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15566"/>
            <a:ext cx="4392488" cy="290175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hteck 4"/>
          <p:cNvSpPr/>
          <p:nvPr/>
        </p:nvSpPr>
        <p:spPr>
          <a:xfrm>
            <a:off x="107504" y="3866932"/>
            <a:ext cx="4392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Time lapse (min.) data of </a:t>
            </a:r>
            <a:r>
              <a:rPr lang="en-US" sz="1000" i="1" dirty="0" err="1"/>
              <a:t>dictyostelium</a:t>
            </a:r>
            <a:r>
              <a:rPr lang="en-US" sz="1000" i="1" dirty="0"/>
              <a:t> </a:t>
            </a:r>
            <a:r>
              <a:rPr lang="en-US" sz="1000" dirty="0"/>
              <a:t>amoebae aggregating on a thin layer of agar under dark field optics. Dark bands correspond to moving cells and indicate high </a:t>
            </a:r>
            <a:r>
              <a:rPr lang="en-US" sz="1000" dirty="0" err="1"/>
              <a:t>cAMP</a:t>
            </a:r>
            <a:r>
              <a:rPr lang="en-US" sz="1000" dirty="0"/>
              <a:t> concentrations. Field is 18x18 mm. Cells plated at a density 2x10</a:t>
            </a:r>
            <a:r>
              <a:rPr lang="en-US" sz="1000" baseline="30000" dirty="0"/>
              <a:t>6</a:t>
            </a:r>
            <a:r>
              <a:rPr lang="en-US" sz="1000" dirty="0"/>
              <a:t> cells cm</a:t>
            </a:r>
            <a:r>
              <a:rPr lang="en-US" sz="1000" baseline="30000" dirty="0"/>
              <a:t>2</a:t>
            </a:r>
            <a:r>
              <a:rPr lang="en-US" sz="1000" dirty="0"/>
              <a:t>. (http://www.math.utah.edu/~epalsson/research.html)</a:t>
            </a:r>
          </a:p>
        </p:txBody>
      </p:sp>
      <p:pic>
        <p:nvPicPr>
          <p:cNvPr id="7" name="Picture 6" descr="Ähnliches Foto"/>
          <p:cNvPicPr>
            <a:picLocks noChangeAspect="1" noChangeArrowheads="1"/>
          </p:cNvPicPr>
          <p:nvPr/>
        </p:nvPicPr>
        <p:blipFill>
          <a:blip r:embed="rId3" cstate="print"/>
          <a:srcRect l="1899" t="2487" r="2177" b="1771"/>
          <a:stretch>
            <a:fillRect/>
          </a:stretch>
        </p:blipFill>
        <p:spPr bwMode="auto">
          <a:xfrm>
            <a:off x="4644008" y="915566"/>
            <a:ext cx="4392488" cy="33487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feld 7"/>
          <p:cNvSpPr txBox="1"/>
          <p:nvPr/>
        </p:nvSpPr>
        <p:spPr>
          <a:xfrm>
            <a:off x="4644008" y="4299942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A.J. </a:t>
            </a:r>
            <a:r>
              <a:rPr lang="de-DE" sz="1000" dirty="0" err="1"/>
              <a:t>Durston</a:t>
            </a:r>
            <a:r>
              <a:rPr lang="de-DE" sz="1000" dirty="0"/>
              <a:t> (2013): </a:t>
            </a:r>
            <a:r>
              <a:rPr lang="de-DE" sz="1000" dirty="0" err="1"/>
              <a:t>Dictyostelium</a:t>
            </a:r>
            <a:r>
              <a:rPr lang="de-DE" sz="1000" dirty="0"/>
              <a:t>: The </a:t>
            </a:r>
            <a:r>
              <a:rPr lang="de-DE" sz="1000" dirty="0" err="1"/>
              <a:t>Mathematician’s</a:t>
            </a:r>
            <a:r>
              <a:rPr lang="de-DE" sz="1000" dirty="0"/>
              <a:t> </a:t>
            </a:r>
            <a:r>
              <a:rPr lang="de-DE" sz="1000" dirty="0" err="1"/>
              <a:t>Organism</a:t>
            </a:r>
            <a:r>
              <a:rPr lang="de-DE" sz="1000" dirty="0"/>
              <a:t>, </a:t>
            </a:r>
            <a:r>
              <a:rPr lang="de-DE" sz="1000" dirty="0" err="1"/>
              <a:t>Current</a:t>
            </a:r>
            <a:r>
              <a:rPr lang="de-DE" sz="1000" dirty="0"/>
              <a:t> </a:t>
            </a:r>
            <a:r>
              <a:rPr lang="de-DE" sz="1000" dirty="0" err="1"/>
              <a:t>Genomics</a:t>
            </a:r>
            <a:r>
              <a:rPr lang="de-DE" sz="1000" dirty="0"/>
              <a:t>, 14 (6), pp. 355-60, DOI:10.2174/13892029113149990010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and concentric waves in a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aggregation field (dark bands correspond to </a:t>
            </a:r>
            <a:r>
              <a:rPr lang="en-US" dirty="0" err="1"/>
              <a:t>amoebaes</a:t>
            </a:r>
            <a:r>
              <a:rPr lang="en-US" dirty="0"/>
              <a:t>) – 2/ 2</a:t>
            </a:r>
          </a:p>
        </p:txBody>
      </p:sp>
      <p:pic>
        <p:nvPicPr>
          <p:cNvPr id="5" name="Picture 4" descr="https://www.pnas.org/content/pnas/94/25/13719/F3.large.jpg?width=800&amp;height=600&amp;carousel=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15566"/>
            <a:ext cx="3626198" cy="41044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feld 5"/>
          <p:cNvSpPr txBox="1"/>
          <p:nvPr/>
        </p:nvSpPr>
        <p:spPr>
          <a:xfrm>
            <a:off x="3851920" y="3867894"/>
            <a:ext cx="21602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E. </a:t>
            </a:r>
            <a:r>
              <a:rPr lang="de-DE" sz="1000" dirty="0" err="1"/>
              <a:t>Palsson</a:t>
            </a:r>
            <a:r>
              <a:rPr lang="de-DE" sz="1000" dirty="0"/>
              <a:t>, K.J. Lee, R.E. Goldstein, J. Franke, R.H. </a:t>
            </a:r>
            <a:r>
              <a:rPr lang="de-DE" sz="1000" dirty="0" err="1"/>
              <a:t>Kessin</a:t>
            </a:r>
            <a:r>
              <a:rPr lang="de-DE" sz="1000" dirty="0"/>
              <a:t> &amp; E.C. Cox (1997): </a:t>
            </a:r>
            <a:r>
              <a:rPr lang="en-US" sz="1000" dirty="0"/>
              <a:t>Selection for spiral waves in the social amoebae </a:t>
            </a:r>
            <a:r>
              <a:rPr lang="en-US" sz="1000" dirty="0" err="1"/>
              <a:t>Dictyostelium</a:t>
            </a:r>
            <a:r>
              <a:rPr lang="en-US" sz="1000" dirty="0"/>
              <a:t>, </a:t>
            </a:r>
            <a:r>
              <a:rPr lang="sv-SE" sz="1000" dirty="0"/>
              <a:t>PNAS, 94 (25), pp. 13719-13723, https://doi.org/10.1073/pnas.94.25.13719</a:t>
            </a: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 r="50199"/>
          <a:stretch>
            <a:fillRect/>
          </a:stretch>
        </p:blipFill>
        <p:spPr bwMode="auto">
          <a:xfrm>
            <a:off x="6267302" y="915566"/>
            <a:ext cx="1361574" cy="411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4427984" y="915566"/>
            <a:ext cx="1728192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F. Siegert &amp; C.J. </a:t>
            </a:r>
            <a:r>
              <a:rPr lang="de-DE" sz="1000" dirty="0" err="1"/>
              <a:t>Weijer</a:t>
            </a:r>
            <a:r>
              <a:rPr lang="de-DE" sz="1000" dirty="0"/>
              <a:t> (1995): Spiral </a:t>
            </a:r>
            <a:r>
              <a:rPr lang="de-DE" sz="1000" dirty="0" err="1"/>
              <a:t>and</a:t>
            </a:r>
            <a:r>
              <a:rPr lang="de-DE" sz="1000" dirty="0"/>
              <a:t> </a:t>
            </a:r>
            <a:r>
              <a:rPr lang="de-DE" sz="1000" dirty="0" err="1"/>
              <a:t>concentric</a:t>
            </a:r>
            <a:r>
              <a:rPr lang="de-DE" sz="1000" dirty="0"/>
              <a:t> </a:t>
            </a:r>
            <a:r>
              <a:rPr lang="de-DE" sz="1000" dirty="0" err="1"/>
              <a:t>waves</a:t>
            </a:r>
            <a:r>
              <a:rPr lang="de-DE" sz="1000" dirty="0"/>
              <a:t> </a:t>
            </a:r>
            <a:r>
              <a:rPr lang="de-DE" sz="1000" dirty="0" err="1"/>
              <a:t>organize</a:t>
            </a:r>
            <a:r>
              <a:rPr lang="de-DE" sz="1000" dirty="0"/>
              <a:t> </a:t>
            </a:r>
            <a:r>
              <a:rPr lang="de-DE" sz="1000" dirty="0" err="1"/>
              <a:t>multicellular</a:t>
            </a:r>
            <a:r>
              <a:rPr lang="de-DE" sz="1000" dirty="0"/>
              <a:t> </a:t>
            </a:r>
            <a:r>
              <a:rPr lang="de-DE" sz="1000" dirty="0" err="1"/>
              <a:t>Dictyostelium</a:t>
            </a:r>
            <a:r>
              <a:rPr lang="de-DE" sz="1000" dirty="0"/>
              <a:t> </a:t>
            </a:r>
            <a:r>
              <a:rPr lang="de-DE" sz="1000" dirty="0" err="1"/>
              <a:t>mounds</a:t>
            </a:r>
            <a:r>
              <a:rPr lang="de-DE" sz="1000" dirty="0"/>
              <a:t>, </a:t>
            </a:r>
            <a:r>
              <a:rPr lang="de-DE" sz="1000" dirty="0" err="1"/>
              <a:t>Current</a:t>
            </a:r>
            <a:r>
              <a:rPr lang="de-DE" sz="1000" dirty="0"/>
              <a:t> </a:t>
            </a:r>
            <a:r>
              <a:rPr lang="de-DE" sz="1000" dirty="0" err="1"/>
              <a:t>Biology</a:t>
            </a:r>
            <a:r>
              <a:rPr lang="de-DE" sz="1000" dirty="0"/>
              <a:t>, 5 (8), pp. 937-943.</a:t>
            </a:r>
          </a:p>
          <a:p>
            <a:endParaRPr lang="de-DE" sz="500" dirty="0"/>
          </a:p>
          <a:p>
            <a:pPr marL="177800" indent="-177800">
              <a:buFont typeface="Arial" pitchFamily="34" charset="0"/>
              <a:buChar char="•"/>
            </a:pPr>
            <a:r>
              <a:rPr lang="de-DE" sz="1000" dirty="0"/>
              <a:t>Fig. 2 c, e, g,: </a:t>
            </a:r>
            <a:r>
              <a:rPr lang="de-DE" sz="1000" dirty="0" err="1"/>
              <a:t>Concentric-wave</a:t>
            </a:r>
            <a:r>
              <a:rPr lang="de-DE" sz="1000" dirty="0"/>
              <a:t> </a:t>
            </a:r>
            <a:r>
              <a:rPr lang="de-DE" sz="1000" dirty="0" err="1"/>
              <a:t>propagation</a:t>
            </a:r>
            <a:r>
              <a:rPr lang="de-DE" sz="1000" dirty="0"/>
              <a:t> after 25, 50, </a:t>
            </a:r>
            <a:r>
              <a:rPr lang="de-DE" sz="1000" dirty="0" err="1"/>
              <a:t>and</a:t>
            </a:r>
            <a:r>
              <a:rPr lang="de-DE" sz="1000" dirty="0"/>
              <a:t> 75 sec.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de-DE" sz="1000" dirty="0"/>
              <a:t>Fig. 2 d, f, h,: Spiral </a:t>
            </a:r>
            <a:r>
              <a:rPr lang="de-DE" sz="1000" dirty="0" err="1"/>
              <a:t>wave</a:t>
            </a:r>
            <a:r>
              <a:rPr lang="de-DE" sz="1000" dirty="0"/>
              <a:t> </a:t>
            </a:r>
            <a:r>
              <a:rPr lang="de-DE" sz="1000" dirty="0" err="1"/>
              <a:t>propagation</a:t>
            </a:r>
            <a:r>
              <a:rPr lang="de-DE" sz="1000" dirty="0"/>
              <a:t> after 25, 50, </a:t>
            </a:r>
            <a:r>
              <a:rPr lang="de-DE" sz="1000" dirty="0" err="1"/>
              <a:t>and</a:t>
            </a:r>
            <a:r>
              <a:rPr lang="de-DE" sz="1000" dirty="0"/>
              <a:t> 75 sec.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 l="50206" r="-467"/>
          <a:stretch>
            <a:fillRect/>
          </a:stretch>
        </p:blipFill>
        <p:spPr bwMode="auto">
          <a:xfrm>
            <a:off x="7668344" y="915566"/>
            <a:ext cx="1373079" cy="4114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dynamics of </a:t>
            </a:r>
            <a:r>
              <a:rPr lang="en-US" dirty="0" err="1"/>
              <a:t>cAMP</a:t>
            </a:r>
            <a:r>
              <a:rPr lang="en-US" dirty="0"/>
              <a:t> receptors are key to explain concentric and spiral waves in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(1/ 2)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3" cstate="print"/>
          <a:srcRect r="50199"/>
          <a:stretch>
            <a:fillRect/>
          </a:stretch>
        </p:blipFill>
        <p:spPr bwMode="auto">
          <a:xfrm>
            <a:off x="242837" y="1053703"/>
            <a:ext cx="1313511" cy="397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086002" y="1635646"/>
            <a:ext cx="6806478" cy="2561150"/>
          </a:xfrm>
          <a:prstGeom prst="rect">
            <a:avLst/>
          </a:prstGeom>
        </p:spPr>
      </p:pic>
      <p:sp>
        <p:nvSpPr>
          <p:cNvPr id="5" name="Abgerundetes Rechteck 4"/>
          <p:cNvSpPr/>
          <p:nvPr/>
        </p:nvSpPr>
        <p:spPr>
          <a:xfrm>
            <a:off x="179512" y="987574"/>
            <a:ext cx="1440160" cy="4104456"/>
          </a:xfrm>
          <a:prstGeom prst="roundRect">
            <a:avLst>
              <a:gd name="adj" fmla="val 7509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Gerade Verbindung 5"/>
          <p:cNvCxnSpPr/>
          <p:nvPr/>
        </p:nvCxnSpPr>
        <p:spPr>
          <a:xfrm flipH="1">
            <a:off x="1619672" y="1707662"/>
            <a:ext cx="360040" cy="504056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bgerundetes Rechteck 6"/>
          <p:cNvSpPr/>
          <p:nvPr/>
        </p:nvSpPr>
        <p:spPr>
          <a:xfrm>
            <a:off x="2051720" y="987574"/>
            <a:ext cx="6840760" cy="432048"/>
          </a:xfrm>
          <a:prstGeom prst="roundRect">
            <a:avLst>
              <a:gd name="adj" fmla="val 14632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Concentric Waves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763688" y="4450536"/>
            <a:ext cx="49685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F. Siegert &amp; C.J. </a:t>
            </a:r>
            <a:r>
              <a:rPr lang="de-DE" sz="1000" dirty="0" err="1"/>
              <a:t>Weijer</a:t>
            </a:r>
            <a:r>
              <a:rPr lang="de-DE" sz="1000" dirty="0"/>
              <a:t> (1995): Spiral </a:t>
            </a:r>
            <a:r>
              <a:rPr lang="de-DE" sz="1000" dirty="0" err="1"/>
              <a:t>and</a:t>
            </a:r>
            <a:r>
              <a:rPr lang="de-DE" sz="1000" dirty="0"/>
              <a:t> </a:t>
            </a:r>
            <a:r>
              <a:rPr lang="de-DE" sz="1000" dirty="0" err="1"/>
              <a:t>concentric</a:t>
            </a:r>
            <a:r>
              <a:rPr lang="de-DE" sz="1000" dirty="0"/>
              <a:t> </a:t>
            </a:r>
            <a:r>
              <a:rPr lang="de-DE" sz="1000" dirty="0" err="1"/>
              <a:t>waves</a:t>
            </a:r>
            <a:r>
              <a:rPr lang="de-DE" sz="1000" dirty="0"/>
              <a:t> </a:t>
            </a:r>
            <a:r>
              <a:rPr lang="de-DE" sz="1000" dirty="0" err="1"/>
              <a:t>organize</a:t>
            </a:r>
            <a:r>
              <a:rPr lang="de-DE" sz="1000" dirty="0"/>
              <a:t> </a:t>
            </a:r>
            <a:r>
              <a:rPr lang="de-DE" sz="1000" dirty="0" err="1"/>
              <a:t>multicellular</a:t>
            </a:r>
            <a:r>
              <a:rPr lang="de-DE" sz="1000" dirty="0"/>
              <a:t> </a:t>
            </a:r>
            <a:r>
              <a:rPr lang="de-DE" sz="1000" dirty="0" err="1"/>
              <a:t>Dictyostelium</a:t>
            </a:r>
            <a:r>
              <a:rPr lang="de-DE" sz="1000" dirty="0"/>
              <a:t> </a:t>
            </a:r>
            <a:r>
              <a:rPr lang="de-DE" sz="1000" dirty="0" err="1"/>
              <a:t>mounds</a:t>
            </a:r>
            <a:r>
              <a:rPr lang="de-DE" sz="1000" dirty="0"/>
              <a:t>, </a:t>
            </a:r>
            <a:r>
              <a:rPr lang="de-DE" sz="1000" dirty="0" err="1"/>
              <a:t>Current</a:t>
            </a:r>
            <a:r>
              <a:rPr lang="de-DE" sz="1000" dirty="0"/>
              <a:t> </a:t>
            </a:r>
            <a:r>
              <a:rPr lang="de-DE" sz="1000" dirty="0" err="1"/>
              <a:t>Biology</a:t>
            </a:r>
            <a:r>
              <a:rPr lang="de-DE" sz="1000" dirty="0"/>
              <a:t>, 5 (8), pp. 937-943.</a:t>
            </a:r>
          </a:p>
          <a:p>
            <a:endParaRPr lang="de-DE" sz="500" dirty="0"/>
          </a:p>
          <a:p>
            <a:r>
              <a:rPr lang="de-DE" sz="1000" dirty="0"/>
              <a:t>Fig. 2 c, e, g,: </a:t>
            </a:r>
            <a:r>
              <a:rPr lang="de-DE" sz="1000" dirty="0" err="1"/>
              <a:t>Concentric-wave</a:t>
            </a:r>
            <a:r>
              <a:rPr lang="de-DE" sz="1000" dirty="0"/>
              <a:t> </a:t>
            </a:r>
            <a:r>
              <a:rPr lang="de-DE" sz="1000" dirty="0" err="1"/>
              <a:t>propagation</a:t>
            </a:r>
            <a:r>
              <a:rPr lang="de-DE" sz="1000" dirty="0"/>
              <a:t> after 25, 50, </a:t>
            </a:r>
            <a:r>
              <a:rPr lang="de-DE" sz="1000" dirty="0" err="1"/>
              <a:t>and</a:t>
            </a:r>
            <a:r>
              <a:rPr lang="de-DE" sz="1000" dirty="0"/>
              <a:t> 75 sec.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dynamics of </a:t>
            </a:r>
            <a:r>
              <a:rPr lang="en-US" dirty="0" err="1"/>
              <a:t>cAMP</a:t>
            </a:r>
            <a:r>
              <a:rPr lang="en-US" dirty="0"/>
              <a:t> receptors are key to explain concentric and spiral waves in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i="1" dirty="0"/>
              <a:t> </a:t>
            </a:r>
            <a:r>
              <a:rPr lang="en-US" dirty="0"/>
              <a:t>(2a/ 2)</a:t>
            </a:r>
          </a:p>
        </p:txBody>
      </p:sp>
      <p:pic>
        <p:nvPicPr>
          <p:cNvPr id="40" name="Picture 1"/>
          <p:cNvPicPr>
            <a:picLocks noChangeAspect="1" noChangeArrowheads="1"/>
          </p:cNvPicPr>
          <p:nvPr/>
        </p:nvPicPr>
        <p:blipFill>
          <a:blip r:embed="rId3" cstate="print"/>
          <a:srcRect l="50206" r="-467"/>
          <a:stretch>
            <a:fillRect/>
          </a:stretch>
        </p:blipFill>
        <p:spPr bwMode="auto">
          <a:xfrm>
            <a:off x="245568" y="1053703"/>
            <a:ext cx="1325633" cy="397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feld 40"/>
          <p:cNvSpPr txBox="1"/>
          <p:nvPr/>
        </p:nvSpPr>
        <p:spPr>
          <a:xfrm>
            <a:off x="1763688" y="4450536"/>
            <a:ext cx="49685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F. Siegert &amp; C.J. </a:t>
            </a:r>
            <a:r>
              <a:rPr lang="de-DE" sz="1000" dirty="0" err="1"/>
              <a:t>Weijer</a:t>
            </a:r>
            <a:r>
              <a:rPr lang="de-DE" sz="1000" dirty="0"/>
              <a:t> (1995): Spiral </a:t>
            </a:r>
            <a:r>
              <a:rPr lang="de-DE" sz="1000" dirty="0" err="1"/>
              <a:t>and</a:t>
            </a:r>
            <a:r>
              <a:rPr lang="de-DE" sz="1000" dirty="0"/>
              <a:t> </a:t>
            </a:r>
            <a:r>
              <a:rPr lang="de-DE" sz="1000" dirty="0" err="1"/>
              <a:t>concentric</a:t>
            </a:r>
            <a:r>
              <a:rPr lang="de-DE" sz="1000" dirty="0"/>
              <a:t> </a:t>
            </a:r>
            <a:r>
              <a:rPr lang="de-DE" sz="1000" dirty="0" err="1"/>
              <a:t>waves</a:t>
            </a:r>
            <a:r>
              <a:rPr lang="de-DE" sz="1000" dirty="0"/>
              <a:t> </a:t>
            </a:r>
            <a:r>
              <a:rPr lang="de-DE" sz="1000" dirty="0" err="1"/>
              <a:t>organize</a:t>
            </a:r>
            <a:r>
              <a:rPr lang="de-DE" sz="1000" dirty="0"/>
              <a:t> </a:t>
            </a:r>
            <a:r>
              <a:rPr lang="de-DE" sz="1000" dirty="0" err="1"/>
              <a:t>multicellular</a:t>
            </a:r>
            <a:r>
              <a:rPr lang="de-DE" sz="1000" dirty="0"/>
              <a:t> </a:t>
            </a:r>
            <a:r>
              <a:rPr lang="de-DE" sz="1000" dirty="0" err="1"/>
              <a:t>Dictyostelium</a:t>
            </a:r>
            <a:r>
              <a:rPr lang="de-DE" sz="1000" dirty="0"/>
              <a:t> </a:t>
            </a:r>
            <a:r>
              <a:rPr lang="de-DE" sz="1000" dirty="0" err="1"/>
              <a:t>mounds</a:t>
            </a:r>
            <a:r>
              <a:rPr lang="de-DE" sz="1000" dirty="0"/>
              <a:t>, </a:t>
            </a:r>
            <a:r>
              <a:rPr lang="de-DE" sz="1000" dirty="0" err="1"/>
              <a:t>Current</a:t>
            </a:r>
            <a:r>
              <a:rPr lang="de-DE" sz="1000" dirty="0"/>
              <a:t> </a:t>
            </a:r>
            <a:r>
              <a:rPr lang="de-DE" sz="1000" dirty="0" err="1"/>
              <a:t>Biology</a:t>
            </a:r>
            <a:r>
              <a:rPr lang="de-DE" sz="1000" dirty="0"/>
              <a:t>, 5 (8), pp. 937-943.</a:t>
            </a:r>
          </a:p>
          <a:p>
            <a:endParaRPr lang="de-DE" sz="500" dirty="0"/>
          </a:p>
          <a:p>
            <a:r>
              <a:rPr lang="de-DE" sz="1000" dirty="0"/>
              <a:t>Fig. 2 d, f, h,: Spiral </a:t>
            </a:r>
            <a:r>
              <a:rPr lang="de-DE" sz="1000" dirty="0" err="1"/>
              <a:t>wave</a:t>
            </a:r>
            <a:r>
              <a:rPr lang="de-DE" sz="1000" dirty="0"/>
              <a:t> </a:t>
            </a:r>
            <a:r>
              <a:rPr lang="de-DE" sz="1000" dirty="0" err="1"/>
              <a:t>propagation</a:t>
            </a:r>
            <a:r>
              <a:rPr lang="de-DE" sz="1000" dirty="0"/>
              <a:t> after 25, 50, </a:t>
            </a:r>
            <a:r>
              <a:rPr lang="de-DE" sz="1000" dirty="0" err="1"/>
              <a:t>and</a:t>
            </a:r>
            <a:r>
              <a:rPr lang="de-DE" sz="1000" dirty="0"/>
              <a:t> 75 sec.</a:t>
            </a:r>
          </a:p>
        </p:txBody>
      </p:sp>
      <p:sp>
        <p:nvSpPr>
          <p:cNvPr id="42" name="Abgerundetes Rechteck 41"/>
          <p:cNvSpPr/>
          <p:nvPr/>
        </p:nvSpPr>
        <p:spPr>
          <a:xfrm>
            <a:off x="179512" y="987574"/>
            <a:ext cx="1440160" cy="4104456"/>
          </a:xfrm>
          <a:prstGeom prst="roundRect">
            <a:avLst>
              <a:gd name="adj" fmla="val 7509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afik 4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086000" y="1635646"/>
            <a:ext cx="6845293" cy="2119609"/>
          </a:xfrm>
          <a:prstGeom prst="rect">
            <a:avLst/>
          </a:prstGeom>
        </p:spPr>
      </p:pic>
      <p:cxnSp>
        <p:nvCxnSpPr>
          <p:cNvPr id="44" name="Gerade Verbindung 43"/>
          <p:cNvCxnSpPr/>
          <p:nvPr/>
        </p:nvCxnSpPr>
        <p:spPr>
          <a:xfrm flipH="1">
            <a:off x="1619672" y="1707662"/>
            <a:ext cx="360040" cy="504056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bgerundetes Rechteck 44"/>
          <p:cNvSpPr/>
          <p:nvPr/>
        </p:nvSpPr>
        <p:spPr>
          <a:xfrm>
            <a:off x="2051720" y="987574"/>
            <a:ext cx="6840760" cy="432048"/>
          </a:xfrm>
          <a:prstGeom prst="roundRect">
            <a:avLst>
              <a:gd name="adj" fmla="val 14632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Spiral Waves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dynamics of </a:t>
            </a:r>
            <a:r>
              <a:rPr lang="en-US" dirty="0" err="1"/>
              <a:t>cAMP</a:t>
            </a:r>
            <a:r>
              <a:rPr lang="en-US" dirty="0"/>
              <a:t> receptors are key to explain concentric and spiral waves in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i="1" dirty="0"/>
              <a:t> </a:t>
            </a:r>
            <a:r>
              <a:rPr lang="en-US" dirty="0"/>
              <a:t>(2b/ 2)</a:t>
            </a:r>
          </a:p>
        </p:txBody>
      </p:sp>
      <p:pic>
        <p:nvPicPr>
          <p:cNvPr id="40" name="Picture 1"/>
          <p:cNvPicPr>
            <a:picLocks noChangeAspect="1" noChangeArrowheads="1"/>
          </p:cNvPicPr>
          <p:nvPr/>
        </p:nvPicPr>
        <p:blipFill>
          <a:blip r:embed="rId2" cstate="print"/>
          <a:srcRect l="50206" r="-467"/>
          <a:stretch>
            <a:fillRect/>
          </a:stretch>
        </p:blipFill>
        <p:spPr bwMode="auto">
          <a:xfrm>
            <a:off x="245568" y="1053703"/>
            <a:ext cx="1325633" cy="397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Abgerundetes Rechteck 41"/>
          <p:cNvSpPr/>
          <p:nvPr/>
        </p:nvSpPr>
        <p:spPr>
          <a:xfrm>
            <a:off x="179512" y="987574"/>
            <a:ext cx="1440160" cy="4104456"/>
          </a:xfrm>
          <a:prstGeom prst="roundRect">
            <a:avLst>
              <a:gd name="adj" fmla="val 7509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Gerade Verbindung 43"/>
          <p:cNvCxnSpPr/>
          <p:nvPr/>
        </p:nvCxnSpPr>
        <p:spPr>
          <a:xfrm flipH="1">
            <a:off x="1619672" y="1707662"/>
            <a:ext cx="360040" cy="504056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bgerundetes Rechteck 44"/>
          <p:cNvSpPr/>
          <p:nvPr/>
        </p:nvSpPr>
        <p:spPr>
          <a:xfrm>
            <a:off x="2051720" y="987574"/>
            <a:ext cx="6840760" cy="432048"/>
          </a:xfrm>
          <a:prstGeom prst="roundRect">
            <a:avLst>
              <a:gd name="adj" fmla="val 14632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Spiral Waves</a:t>
            </a:r>
          </a:p>
        </p:txBody>
      </p:sp>
      <p:sp>
        <p:nvSpPr>
          <p:cNvPr id="9" name="Freihandform 8"/>
          <p:cNvSpPr/>
          <p:nvPr/>
        </p:nvSpPr>
        <p:spPr>
          <a:xfrm>
            <a:off x="5301762" y="3188101"/>
            <a:ext cx="3578469" cy="1793631"/>
          </a:xfrm>
          <a:custGeom>
            <a:avLst/>
            <a:gdLst>
              <a:gd name="connsiteX0" fmla="*/ 0 w 3578469"/>
              <a:gd name="connsiteY0" fmla="*/ 1793631 h 1793631"/>
              <a:gd name="connsiteX1" fmla="*/ 3578469 w 3578469"/>
              <a:gd name="connsiteY1" fmla="*/ 1793631 h 1793631"/>
              <a:gd name="connsiteX2" fmla="*/ 3578469 w 3578469"/>
              <a:gd name="connsiteY2" fmla="*/ 0 h 1793631"/>
              <a:gd name="connsiteX3" fmla="*/ 3411415 w 3578469"/>
              <a:gd name="connsiteY3" fmla="*/ 140677 h 1793631"/>
              <a:gd name="connsiteX4" fmla="*/ 3217984 w 3578469"/>
              <a:gd name="connsiteY4" fmla="*/ 307731 h 1793631"/>
              <a:gd name="connsiteX5" fmla="*/ 2945423 w 3578469"/>
              <a:gd name="connsiteY5" fmla="*/ 404446 h 1793631"/>
              <a:gd name="connsiteX6" fmla="*/ 2690446 w 3578469"/>
              <a:gd name="connsiteY6" fmla="*/ 395654 h 1793631"/>
              <a:gd name="connsiteX7" fmla="*/ 2092569 w 3578469"/>
              <a:gd name="connsiteY7" fmla="*/ 246184 h 1793631"/>
              <a:gd name="connsiteX8" fmla="*/ 1784838 w 3578469"/>
              <a:gd name="connsiteY8" fmla="*/ 158261 h 1793631"/>
              <a:gd name="connsiteX9" fmla="*/ 1503484 w 3578469"/>
              <a:gd name="connsiteY9" fmla="*/ 131884 h 1793631"/>
              <a:gd name="connsiteX10" fmla="*/ 1213338 w 3578469"/>
              <a:gd name="connsiteY10" fmla="*/ 167054 h 1793631"/>
              <a:gd name="connsiteX11" fmla="*/ 896815 w 3578469"/>
              <a:gd name="connsiteY11" fmla="*/ 272561 h 1793631"/>
              <a:gd name="connsiteX12" fmla="*/ 624253 w 3578469"/>
              <a:gd name="connsiteY12" fmla="*/ 439615 h 1793631"/>
              <a:gd name="connsiteX13" fmla="*/ 430823 w 3578469"/>
              <a:gd name="connsiteY13" fmla="*/ 615461 h 1793631"/>
              <a:gd name="connsiteX14" fmla="*/ 254976 w 3578469"/>
              <a:gd name="connsiteY14" fmla="*/ 879231 h 1793631"/>
              <a:gd name="connsiteX15" fmla="*/ 131884 w 3578469"/>
              <a:gd name="connsiteY15" fmla="*/ 1195754 h 1793631"/>
              <a:gd name="connsiteX16" fmla="*/ 35169 w 3578469"/>
              <a:gd name="connsiteY16" fmla="*/ 1600200 h 1793631"/>
              <a:gd name="connsiteX17" fmla="*/ 0 w 3578469"/>
              <a:gd name="connsiteY17" fmla="*/ 1793631 h 179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578469" h="1793631">
                <a:moveTo>
                  <a:pt x="0" y="1793631"/>
                </a:moveTo>
                <a:lnTo>
                  <a:pt x="3578469" y="1793631"/>
                </a:lnTo>
                <a:lnTo>
                  <a:pt x="3578469" y="0"/>
                </a:lnTo>
                <a:lnTo>
                  <a:pt x="3411415" y="140677"/>
                </a:lnTo>
                <a:lnTo>
                  <a:pt x="3217984" y="307731"/>
                </a:lnTo>
                <a:lnTo>
                  <a:pt x="2945423" y="404446"/>
                </a:lnTo>
                <a:lnTo>
                  <a:pt x="2690446" y="395654"/>
                </a:lnTo>
                <a:lnTo>
                  <a:pt x="2092569" y="246184"/>
                </a:lnTo>
                <a:lnTo>
                  <a:pt x="1784838" y="158261"/>
                </a:lnTo>
                <a:lnTo>
                  <a:pt x="1503484" y="131884"/>
                </a:lnTo>
                <a:lnTo>
                  <a:pt x="1213338" y="167054"/>
                </a:lnTo>
                <a:lnTo>
                  <a:pt x="896815" y="272561"/>
                </a:lnTo>
                <a:lnTo>
                  <a:pt x="624253" y="439615"/>
                </a:lnTo>
                <a:lnTo>
                  <a:pt x="430823" y="615461"/>
                </a:lnTo>
                <a:lnTo>
                  <a:pt x="254976" y="879231"/>
                </a:lnTo>
                <a:lnTo>
                  <a:pt x="131884" y="1195754"/>
                </a:lnTo>
                <a:lnTo>
                  <a:pt x="35169" y="1600200"/>
                </a:lnTo>
                <a:lnTo>
                  <a:pt x="0" y="179363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/>
          <p:cNvSpPr/>
          <p:nvPr/>
        </p:nvSpPr>
        <p:spPr>
          <a:xfrm>
            <a:off x="4716016" y="300379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/>
          <p:cNvSpPr/>
          <p:nvPr/>
        </p:nvSpPr>
        <p:spPr>
          <a:xfrm>
            <a:off x="4283968" y="357986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/>
          <p:cNvSpPr/>
          <p:nvPr/>
        </p:nvSpPr>
        <p:spPr>
          <a:xfrm>
            <a:off x="3851920" y="415592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/>
          <p:cNvSpPr/>
          <p:nvPr/>
        </p:nvSpPr>
        <p:spPr>
          <a:xfrm>
            <a:off x="3419872" y="473199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/>
          <p:cNvSpPr/>
          <p:nvPr/>
        </p:nvSpPr>
        <p:spPr>
          <a:xfrm>
            <a:off x="5508104" y="285978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/>
          <p:cNvSpPr/>
          <p:nvPr/>
        </p:nvSpPr>
        <p:spPr>
          <a:xfrm>
            <a:off x="5076056" y="343584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/>
          <p:cNvSpPr/>
          <p:nvPr/>
        </p:nvSpPr>
        <p:spPr>
          <a:xfrm>
            <a:off x="4644008" y="401191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/>
          <p:cNvSpPr/>
          <p:nvPr/>
        </p:nvSpPr>
        <p:spPr>
          <a:xfrm>
            <a:off x="4211960" y="458797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/>
          <p:cNvSpPr/>
          <p:nvPr/>
        </p:nvSpPr>
        <p:spPr>
          <a:xfrm>
            <a:off x="7668344" y="4155926"/>
            <a:ext cx="216024" cy="216024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/>
          <p:cNvSpPr/>
          <p:nvPr/>
        </p:nvSpPr>
        <p:spPr>
          <a:xfrm>
            <a:off x="8460432" y="4011910"/>
            <a:ext cx="216024" cy="216024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/>
          <p:cNvSpPr/>
          <p:nvPr/>
        </p:nvSpPr>
        <p:spPr>
          <a:xfrm>
            <a:off x="8028384" y="4587974"/>
            <a:ext cx="216024" cy="216024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feld 20"/>
          <p:cNvSpPr txBox="1"/>
          <p:nvPr/>
        </p:nvSpPr>
        <p:spPr>
          <a:xfrm>
            <a:off x="3059832" y="3003798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extracellular </a:t>
            </a:r>
            <a:r>
              <a:rPr lang="en-US" sz="1200" dirty="0" err="1"/>
              <a:t>cAMP</a:t>
            </a:r>
            <a:endParaRPr lang="en-US" sz="1200" dirty="0"/>
          </a:p>
        </p:txBody>
      </p:sp>
      <p:sp>
        <p:nvSpPr>
          <p:cNvPr id="22" name="Textfeld 21"/>
          <p:cNvSpPr txBox="1"/>
          <p:nvPr/>
        </p:nvSpPr>
        <p:spPr>
          <a:xfrm>
            <a:off x="6516216" y="4587974"/>
            <a:ext cx="1420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intracellular </a:t>
            </a:r>
            <a:r>
              <a:rPr lang="en-US" sz="1200" dirty="0" err="1"/>
              <a:t>cAMP</a:t>
            </a:r>
            <a:endParaRPr lang="en-US" sz="1200" dirty="0"/>
          </a:p>
        </p:txBody>
      </p:sp>
      <p:grpSp>
        <p:nvGrpSpPr>
          <p:cNvPr id="3" name="Gruppieren 47"/>
          <p:cNvGrpSpPr/>
          <p:nvPr/>
        </p:nvGrpSpPr>
        <p:grpSpPr>
          <a:xfrm rot="17387179">
            <a:off x="4840146" y="4262960"/>
            <a:ext cx="360040" cy="720080"/>
            <a:chOff x="2195736" y="4293096"/>
            <a:chExt cx="360040" cy="720080"/>
          </a:xfrm>
        </p:grpSpPr>
        <p:cxnSp>
          <p:nvCxnSpPr>
            <p:cNvPr id="24" name="Gerade Verbindung 23"/>
            <p:cNvCxnSpPr/>
            <p:nvPr/>
          </p:nvCxnSpPr>
          <p:spPr>
            <a:xfrm>
              <a:off x="2375756" y="4653136"/>
              <a:ext cx="0" cy="360040"/>
            </a:xfrm>
            <a:prstGeom prst="line">
              <a:avLst/>
            </a:prstGeom>
            <a:ln w="5715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Bogen 24"/>
            <p:cNvSpPr/>
            <p:nvPr/>
          </p:nvSpPr>
          <p:spPr>
            <a:xfrm rot="5400000">
              <a:off x="2195736" y="4293096"/>
              <a:ext cx="360040" cy="360040"/>
            </a:xfrm>
            <a:prstGeom prst="arc">
              <a:avLst>
                <a:gd name="adj1" fmla="val 16200000"/>
                <a:gd name="adj2" fmla="val 5569013"/>
              </a:avLst>
            </a:prstGeom>
            <a:ln w="5715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uppieren 46"/>
          <p:cNvGrpSpPr/>
          <p:nvPr/>
        </p:nvGrpSpPr>
        <p:grpSpPr>
          <a:xfrm rot="19320147">
            <a:off x="5403565" y="3038309"/>
            <a:ext cx="360040" cy="720080"/>
            <a:chOff x="2348136" y="4445496"/>
            <a:chExt cx="360040" cy="720080"/>
          </a:xfrm>
        </p:grpSpPr>
        <p:cxnSp>
          <p:nvCxnSpPr>
            <p:cNvPr id="27" name="Gerade Verbindung 26"/>
            <p:cNvCxnSpPr/>
            <p:nvPr/>
          </p:nvCxnSpPr>
          <p:spPr>
            <a:xfrm>
              <a:off x="2528156" y="4805536"/>
              <a:ext cx="0" cy="360040"/>
            </a:xfrm>
            <a:prstGeom prst="line">
              <a:avLst/>
            </a:prstGeom>
            <a:ln w="5715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Bogen 27"/>
            <p:cNvSpPr/>
            <p:nvPr/>
          </p:nvSpPr>
          <p:spPr>
            <a:xfrm rot="5400000">
              <a:off x="2348136" y="4445496"/>
              <a:ext cx="360040" cy="360040"/>
            </a:xfrm>
            <a:prstGeom prst="arc">
              <a:avLst>
                <a:gd name="adj1" fmla="val 16200000"/>
                <a:gd name="adj2" fmla="val 5569013"/>
              </a:avLst>
            </a:prstGeom>
            <a:ln w="5715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Freihandform 28"/>
          <p:cNvSpPr/>
          <p:nvPr/>
        </p:nvSpPr>
        <p:spPr>
          <a:xfrm>
            <a:off x="5292080" y="3161724"/>
            <a:ext cx="3588151" cy="1828800"/>
          </a:xfrm>
          <a:custGeom>
            <a:avLst/>
            <a:gdLst>
              <a:gd name="connsiteX0" fmla="*/ 0 w 3516923"/>
              <a:gd name="connsiteY0" fmla="*/ 1828800 h 1828800"/>
              <a:gd name="connsiteX1" fmla="*/ 422030 w 3516923"/>
              <a:gd name="connsiteY1" fmla="*/ 633046 h 1828800"/>
              <a:gd name="connsiteX2" fmla="*/ 1389184 w 3516923"/>
              <a:gd name="connsiteY2" fmla="*/ 158261 h 1828800"/>
              <a:gd name="connsiteX3" fmla="*/ 2831123 w 3516923"/>
              <a:gd name="connsiteY3" fmla="*/ 413238 h 1828800"/>
              <a:gd name="connsiteX4" fmla="*/ 3516923 w 3516923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6923" h="1828800">
                <a:moveTo>
                  <a:pt x="0" y="1828800"/>
                </a:moveTo>
                <a:cubicBezTo>
                  <a:pt x="95249" y="1370134"/>
                  <a:pt x="190499" y="911469"/>
                  <a:pt x="422030" y="633046"/>
                </a:cubicBezTo>
                <a:cubicBezTo>
                  <a:pt x="653561" y="354623"/>
                  <a:pt x="987669" y="194896"/>
                  <a:pt x="1389184" y="158261"/>
                </a:cubicBezTo>
                <a:cubicBezTo>
                  <a:pt x="1790699" y="121626"/>
                  <a:pt x="2476500" y="439615"/>
                  <a:pt x="2831123" y="413238"/>
                </a:cubicBezTo>
                <a:cubicBezTo>
                  <a:pt x="3185746" y="386861"/>
                  <a:pt x="3351334" y="193430"/>
                  <a:pt x="3516923" y="0"/>
                </a:cubicBezTo>
              </a:path>
            </a:pathLst>
          </a:custGeom>
          <a:ln w="571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feld 29"/>
          <p:cNvSpPr txBox="1"/>
          <p:nvPr/>
        </p:nvSpPr>
        <p:spPr>
          <a:xfrm>
            <a:off x="5796136" y="3795886"/>
            <a:ext cx="1198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active</a:t>
            </a:r>
          </a:p>
          <a:p>
            <a:r>
              <a:rPr lang="en-US" sz="1200" dirty="0" err="1"/>
              <a:t>cAMP</a:t>
            </a:r>
            <a:r>
              <a:rPr lang="en-US" sz="1200" dirty="0"/>
              <a:t> receptor</a:t>
            </a:r>
          </a:p>
        </p:txBody>
      </p:sp>
      <p:sp>
        <p:nvSpPr>
          <p:cNvPr id="31" name="Nach links gekrümmter Pfeil 30"/>
          <p:cNvSpPr/>
          <p:nvPr/>
        </p:nvSpPr>
        <p:spPr>
          <a:xfrm flipV="1">
            <a:off x="7956376" y="3147814"/>
            <a:ext cx="360040" cy="792088"/>
          </a:xfrm>
          <a:prstGeom prst="curvedLef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8028384" y="2859782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transport</a:t>
            </a:r>
          </a:p>
        </p:txBody>
      </p:sp>
      <p:sp>
        <p:nvSpPr>
          <p:cNvPr id="33" name="Nach links gekrümmter Pfeil 32"/>
          <p:cNvSpPr/>
          <p:nvPr/>
        </p:nvSpPr>
        <p:spPr>
          <a:xfrm rot="7996757" flipV="1">
            <a:off x="5898077" y="4282920"/>
            <a:ext cx="360040" cy="792088"/>
          </a:xfrm>
          <a:prstGeom prst="curvedLef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(1a/ 3) …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15566"/>
            <a:ext cx="4596889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uppieren 5"/>
          <p:cNvGrpSpPr/>
          <p:nvPr/>
        </p:nvGrpSpPr>
        <p:grpSpPr>
          <a:xfrm>
            <a:off x="5580112" y="1131590"/>
            <a:ext cx="3240361" cy="1733217"/>
            <a:chOff x="2123728" y="1484784"/>
            <a:chExt cx="7668767" cy="3834384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23728" y="1556794"/>
              <a:ext cx="3371851" cy="3762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58720" y="1484784"/>
              <a:ext cx="3533775" cy="3181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hteck 7"/>
          <p:cNvSpPr/>
          <p:nvPr/>
        </p:nvSpPr>
        <p:spPr>
          <a:xfrm>
            <a:off x="5292080" y="4681835"/>
            <a:ext cx="3851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de-DE" sz="800" dirty="0"/>
              <a:t>A. </a:t>
            </a:r>
            <a:r>
              <a:rPr lang="de-DE" sz="800" dirty="0" err="1"/>
              <a:t>Gholami</a:t>
            </a:r>
            <a:r>
              <a:rPr lang="de-DE" sz="800" dirty="0"/>
              <a:t>, O. Steinbock, V, </a:t>
            </a:r>
            <a:r>
              <a:rPr lang="de-DE" sz="800" dirty="0" err="1"/>
              <a:t>Zykov</a:t>
            </a:r>
            <a:r>
              <a:rPr lang="de-DE" sz="800" dirty="0"/>
              <a:t> &amp; E. Bodenschatz (2015): Flow-</a:t>
            </a:r>
            <a:r>
              <a:rPr lang="de-DE" sz="800" dirty="0" err="1"/>
              <a:t>driven</a:t>
            </a:r>
            <a:r>
              <a:rPr lang="de-DE" sz="800" dirty="0"/>
              <a:t> </a:t>
            </a:r>
            <a:r>
              <a:rPr lang="de-DE" sz="800" dirty="0" err="1"/>
              <a:t>instabilities</a:t>
            </a:r>
            <a:r>
              <a:rPr lang="de-DE" sz="800" dirty="0"/>
              <a:t> </a:t>
            </a:r>
            <a:r>
              <a:rPr lang="de-DE" sz="800" dirty="0" err="1"/>
              <a:t>during</a:t>
            </a:r>
            <a:r>
              <a:rPr lang="de-DE" sz="800" dirty="0"/>
              <a:t> </a:t>
            </a:r>
            <a:r>
              <a:rPr lang="de-DE" sz="800" dirty="0" err="1"/>
              <a:t>pattern</a:t>
            </a:r>
            <a:r>
              <a:rPr lang="de-DE" sz="800" dirty="0"/>
              <a:t> </a:t>
            </a:r>
            <a:r>
              <a:rPr lang="de-DE" sz="800" dirty="0" err="1"/>
              <a:t>formation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Dictyostelium</a:t>
            </a:r>
            <a:r>
              <a:rPr lang="de-DE" sz="800" dirty="0"/>
              <a:t> </a:t>
            </a:r>
            <a:r>
              <a:rPr lang="de-DE" sz="800" dirty="0" err="1"/>
              <a:t>discodideum</a:t>
            </a:r>
            <a:r>
              <a:rPr lang="de-DE" sz="800" dirty="0"/>
              <a:t>, New Journal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Physics</a:t>
            </a:r>
            <a:r>
              <a:rPr lang="de-DE" sz="800" dirty="0"/>
              <a:t>, 17, 063007.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(1b/ 3) …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915566"/>
            <a:ext cx="303723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523543" y="980998"/>
            <a:ext cx="5370088" cy="375900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(1c/ 3) …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915566"/>
            <a:ext cx="303723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523544" y="980997"/>
            <a:ext cx="5369443" cy="20933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(2a/ 3) …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915566"/>
            <a:ext cx="303723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523543" y="980998"/>
            <a:ext cx="5381986" cy="343491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(2b/ 3) …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915566"/>
            <a:ext cx="303723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523544" y="980996"/>
            <a:ext cx="5385971" cy="23499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“first principles” the </a:t>
            </a:r>
            <a:r>
              <a:rPr lang="en-US" dirty="0" err="1"/>
              <a:t>cAMP</a:t>
            </a:r>
            <a:r>
              <a:rPr lang="en-US" dirty="0"/>
              <a:t> dynamics are governed by several main bio-chemical equations (3/ 3) …</a:t>
            </a:r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523543" y="980997"/>
            <a:ext cx="5382002" cy="3291488"/>
          </a:xfrm>
          <a:prstGeom prst="rect">
            <a:avLst/>
          </a:prstGeom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915566"/>
            <a:ext cx="303723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resulting in a system of ordinary differential equations (see </a:t>
            </a:r>
            <a:r>
              <a:rPr lang="en-US" dirty="0" err="1"/>
              <a:t>Martiel</a:t>
            </a:r>
            <a:r>
              <a:rPr lang="en-US" dirty="0"/>
              <a:t> &amp; </a:t>
            </a:r>
            <a:r>
              <a:rPr lang="en-US" dirty="0" err="1"/>
              <a:t>Goldbeter</a:t>
            </a:r>
            <a:r>
              <a:rPr lang="en-US" dirty="0"/>
              <a:t> (1987) for details)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4860032" y="1393310"/>
            <a:ext cx="3960440" cy="288032"/>
          </a:xfrm>
          <a:prstGeom prst="round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bgerundetes Rechteck 3"/>
          <p:cNvSpPr/>
          <p:nvPr/>
        </p:nvSpPr>
        <p:spPr>
          <a:xfrm>
            <a:off x="251520" y="1275606"/>
            <a:ext cx="2880320" cy="792088"/>
          </a:xfrm>
          <a:prstGeom prst="round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139832" y="1027600"/>
            <a:ext cx="3489201" cy="3945488"/>
          </a:xfrm>
          <a:prstGeom prst="rect">
            <a:avLst/>
          </a:prstGeom>
        </p:spPr>
      </p:pic>
      <p:sp>
        <p:nvSpPr>
          <p:cNvPr id="7" name="Gleichschenkliges Dreieck 6"/>
          <p:cNvSpPr/>
          <p:nvPr/>
        </p:nvSpPr>
        <p:spPr>
          <a:xfrm rot="5400000">
            <a:off x="1871699" y="3327839"/>
            <a:ext cx="3168352" cy="21602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bgerundetes Rechteck 7"/>
          <p:cNvSpPr/>
          <p:nvPr/>
        </p:nvSpPr>
        <p:spPr>
          <a:xfrm>
            <a:off x="4788024" y="915571"/>
            <a:ext cx="4104456" cy="4169546"/>
          </a:xfrm>
          <a:prstGeom prst="roundRect">
            <a:avLst>
              <a:gd name="adj" fmla="val 2364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/>
          <p:cNvSpPr/>
          <p:nvPr/>
        </p:nvSpPr>
        <p:spPr>
          <a:xfrm>
            <a:off x="4860032" y="1695332"/>
            <a:ext cx="3960440" cy="3304268"/>
          </a:xfrm>
          <a:prstGeom prst="rect">
            <a:avLst/>
          </a:prstGeom>
          <a:solidFill>
            <a:srgbClr val="E6E6E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/>
          <p:cNvSpPr/>
          <p:nvPr/>
        </p:nvSpPr>
        <p:spPr>
          <a:xfrm>
            <a:off x="5004048" y="1995691"/>
            <a:ext cx="3456384" cy="12241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Decay of R (- k</a:t>
            </a:r>
            <a:r>
              <a:rPr lang="en-US" sz="1400" baseline="-25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Sylfaen"/>
                <a:sym typeface="Symbol"/>
              </a:rPr>
              <a:t>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Decay of D (+ k</a:t>
            </a:r>
            <a:r>
              <a:rPr lang="en-US" sz="1400" baseline="-25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L</a:t>
            </a:r>
            <a:r>
              <a:rPr lang="en-US" sz="1400" baseline="-25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)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sym typeface="Symbol"/>
              </a:rPr>
              <a:t>Formation of the complex RP </a:t>
            </a:r>
            <a:r>
              <a:rPr lang="en-US" sz="1400" dirty="0">
                <a:solidFill>
                  <a:schemeClr val="tx1"/>
                </a:solidFill>
              </a:rPr>
              <a:t>(- d</a:t>
            </a:r>
            <a:r>
              <a:rPr lang="en-US" sz="1400" baseline="-25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Sylfaen"/>
                <a:sym typeface="Symbol"/>
              </a:rPr>
              <a:t> 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sym typeface="Symbol"/>
              </a:rPr>
              <a:t>Decay of the complex PR (+ d</a:t>
            </a:r>
            <a:r>
              <a:rPr lang="en-US" sz="1400" baseline="-25000" dirty="0">
                <a:solidFill>
                  <a:schemeClr val="tx1"/>
                </a:solidFill>
                <a:sym typeface="Symbol"/>
              </a:rPr>
              <a:t>1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 x)</a:t>
            </a:r>
            <a:endParaRPr lang="en-US" sz="1400" dirty="0">
              <a:solidFill>
                <a:schemeClr val="tx1"/>
              </a:solidFill>
            </a:endParaRP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2854272" y="2326125"/>
            <a:ext cx="86409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re-naming of constants</a:t>
            </a:r>
          </a:p>
        </p:txBody>
      </p:sp>
      <p:sp>
        <p:nvSpPr>
          <p:cNvPr id="12" name="Freeform 37"/>
          <p:cNvSpPr>
            <a:spLocks/>
          </p:cNvSpPr>
          <p:nvPr/>
        </p:nvSpPr>
        <p:spPr bwMode="auto">
          <a:xfrm rot="3300412" flipV="1">
            <a:off x="3245925" y="1399860"/>
            <a:ext cx="1079772" cy="2011224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3" name="Grafik 12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25836" y="987576"/>
            <a:ext cx="2101948" cy="39604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resulting in a system of ordinary differential equations (see </a:t>
            </a:r>
            <a:r>
              <a:rPr lang="en-US" dirty="0" err="1"/>
              <a:t>Martiel</a:t>
            </a:r>
            <a:r>
              <a:rPr lang="en-US" dirty="0"/>
              <a:t> &amp; </a:t>
            </a:r>
            <a:r>
              <a:rPr lang="en-US" dirty="0" err="1"/>
              <a:t>Goldbeter</a:t>
            </a:r>
            <a:r>
              <a:rPr lang="en-US" dirty="0"/>
              <a:t> (1987) for details)</a:t>
            </a:r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139832" y="1027600"/>
            <a:ext cx="3489201" cy="3945488"/>
          </a:xfrm>
          <a:prstGeom prst="rect">
            <a:avLst/>
          </a:prstGeom>
        </p:spPr>
      </p:pic>
      <p:pic>
        <p:nvPicPr>
          <p:cNvPr id="6" name="Grafik 5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25836" y="987576"/>
            <a:ext cx="2101948" cy="3960440"/>
          </a:xfrm>
          <a:prstGeom prst="rect">
            <a:avLst/>
          </a:prstGeom>
        </p:spPr>
      </p:pic>
      <p:sp>
        <p:nvSpPr>
          <p:cNvPr id="7" name="Gleichschenkliges Dreieck 6"/>
          <p:cNvSpPr/>
          <p:nvPr/>
        </p:nvSpPr>
        <p:spPr>
          <a:xfrm rot="5400000">
            <a:off x="1871699" y="2859784"/>
            <a:ext cx="3168352" cy="21602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bgerundetes Rechteck 7"/>
          <p:cNvSpPr/>
          <p:nvPr/>
        </p:nvSpPr>
        <p:spPr>
          <a:xfrm>
            <a:off x="4788024" y="915571"/>
            <a:ext cx="4104456" cy="4169546"/>
          </a:xfrm>
          <a:prstGeom prst="roundRect">
            <a:avLst>
              <a:gd name="adj" fmla="val 2364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Next, certain simplifying assumptions are made in order to reduce this 9-dimensional system</a:t>
            </a:r>
          </a:p>
        </p:txBody>
      </p:sp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9512" y="987573"/>
            <a:ext cx="2520279" cy="2849859"/>
          </a:xfrm>
          <a:prstGeom prst="rect">
            <a:avLst/>
          </a:prstGeom>
        </p:spPr>
      </p:pic>
      <p:sp>
        <p:nvSpPr>
          <p:cNvPr id="5" name="Freeform 37"/>
          <p:cNvSpPr>
            <a:spLocks/>
          </p:cNvSpPr>
          <p:nvPr/>
        </p:nvSpPr>
        <p:spPr bwMode="auto">
          <a:xfrm rot="14029173" flipV="1">
            <a:off x="2871117" y="574045"/>
            <a:ext cx="839943" cy="1564509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hteck 5"/>
          <p:cNvSpPr/>
          <p:nvPr/>
        </p:nvSpPr>
        <p:spPr>
          <a:xfrm>
            <a:off x="3491880" y="1347615"/>
            <a:ext cx="5400599" cy="37444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reactions contain fast binding and slow inter-conversion ones, such that we can separate the set of governing equations into two sets (fast and slow time scales)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an initial transient phase the differential equations become algebraic equations (quasi-steady-state assumption)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Thus, the four equations for the slow time scale variables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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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</a:t>
            </a:r>
            <a:r>
              <a:rPr lang="en-US" sz="1400" dirty="0">
                <a:solidFill>
                  <a:schemeClr val="tx1"/>
                </a:solidFill>
              </a:rPr>
              <a:t>, and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</a:t>
            </a:r>
            <a:r>
              <a:rPr lang="en-US" sz="1400" dirty="0">
                <a:solidFill>
                  <a:schemeClr val="tx1"/>
                </a:solidFill>
              </a:rPr>
              <a:t> remain. The other variables are expressed by means of the algebraic equations that are plugged into the remaining equations.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Terms are neglected that contain parameters/ constants that are rather small</a:t>
            </a:r>
          </a:p>
          <a:p>
            <a:pPr marL="176213" indent="-17621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Experiments show that the concentration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</a:t>
            </a:r>
            <a:r>
              <a:rPr lang="en-US" sz="1400" dirty="0">
                <a:solidFill>
                  <a:schemeClr val="tx1"/>
                </a:solidFill>
              </a:rPr>
              <a:t> of ATP can be considered constant, such that this differential equation can be neglected as well</a:t>
            </a:r>
          </a:p>
          <a:p>
            <a:pPr algn="ctr">
              <a:spcAft>
                <a:spcPts val="600"/>
              </a:spcAft>
            </a:pPr>
            <a:endParaRPr lang="en-US" sz="2200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chemeClr val="tx1"/>
                </a:solidFill>
              </a:rPr>
              <a:t>system of three coupled differential equations</a:t>
            </a:r>
          </a:p>
        </p:txBody>
      </p:sp>
      <p:sp>
        <p:nvSpPr>
          <p:cNvPr id="7" name="Gleichschenkliges Dreieck 6"/>
          <p:cNvSpPr/>
          <p:nvPr/>
        </p:nvSpPr>
        <p:spPr>
          <a:xfrm rot="10800000">
            <a:off x="5472100" y="4443958"/>
            <a:ext cx="1440160" cy="144016"/>
          </a:xfrm>
          <a:prstGeom prst="triangle">
            <a:avLst/>
          </a:pr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leads to a three dimensional differential equation model for the </a:t>
            </a:r>
            <a:r>
              <a:rPr lang="en-US" dirty="0" err="1"/>
              <a:t>cAMP</a:t>
            </a:r>
            <a:r>
              <a:rPr lang="en-US" dirty="0"/>
              <a:t> dynamics in starving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endParaRPr lang="en-US" dirty="0"/>
          </a:p>
        </p:txBody>
      </p:sp>
      <p:pic>
        <p:nvPicPr>
          <p:cNvPr id="23" name="Grafik 2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639931" y="987574"/>
            <a:ext cx="2253201" cy="4032628"/>
          </a:xfrm>
          <a:prstGeom prst="rect">
            <a:avLst/>
          </a:prstGeom>
        </p:spPr>
      </p:pic>
      <p:sp>
        <p:nvSpPr>
          <p:cNvPr id="4" name="Abgerundetes Rechteck 3"/>
          <p:cNvSpPr/>
          <p:nvPr/>
        </p:nvSpPr>
        <p:spPr>
          <a:xfrm>
            <a:off x="755576" y="1347614"/>
            <a:ext cx="4320480" cy="2808312"/>
          </a:xfrm>
          <a:prstGeom prst="roundRect">
            <a:avLst>
              <a:gd name="adj" fmla="val 3880"/>
            </a:avLst>
          </a:prstGeom>
          <a:solidFill>
            <a:srgbClr val="FFFF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bgerundetes Rechteck 4"/>
          <p:cNvSpPr/>
          <p:nvPr/>
        </p:nvSpPr>
        <p:spPr>
          <a:xfrm>
            <a:off x="251520" y="987574"/>
            <a:ext cx="5328592" cy="4104456"/>
          </a:xfrm>
          <a:prstGeom prst="roundRect">
            <a:avLst>
              <a:gd name="adj" fmla="val 201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fik 20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23527" y="1059580"/>
            <a:ext cx="4977862" cy="3426391"/>
          </a:xfrm>
          <a:prstGeom prst="rect">
            <a:avLst/>
          </a:prstGeom>
        </p:spPr>
      </p:pic>
      <p:grpSp>
        <p:nvGrpSpPr>
          <p:cNvPr id="3" name="Gruppieren 41"/>
          <p:cNvGrpSpPr/>
          <p:nvPr/>
        </p:nvGrpSpPr>
        <p:grpSpPr>
          <a:xfrm>
            <a:off x="1259632" y="1828810"/>
            <a:ext cx="3430394" cy="2187317"/>
            <a:chOff x="1259632" y="2109996"/>
            <a:chExt cx="3430394" cy="2187317"/>
          </a:xfrm>
        </p:grpSpPr>
        <p:sp>
          <p:nvSpPr>
            <p:cNvPr id="8" name="Geschweifte Klammer rechts 7"/>
            <p:cNvSpPr/>
            <p:nvPr/>
          </p:nvSpPr>
          <p:spPr>
            <a:xfrm rot="5400000">
              <a:off x="2303748" y="3511612"/>
              <a:ext cx="144016" cy="50405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Geschweifte Klammer rechts 8"/>
            <p:cNvSpPr/>
            <p:nvPr/>
          </p:nvSpPr>
          <p:spPr>
            <a:xfrm rot="5400000">
              <a:off x="2951820" y="3511612"/>
              <a:ext cx="144016" cy="50405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2730617" y="3835648"/>
              <a:ext cx="5934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decay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1259632" y="3835648"/>
              <a:ext cx="13644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transport of intra-</a:t>
              </a:r>
            </a:p>
            <a:p>
              <a:r>
                <a:rPr lang="en-US" sz="1200" dirty="0"/>
                <a:t>cellular </a:t>
              </a:r>
              <a:r>
                <a:rPr lang="en-US" sz="1200" dirty="0" err="1"/>
                <a:t>cAMP</a:t>
              </a:r>
              <a:endParaRPr lang="en-US" sz="1200" dirty="0"/>
            </a:p>
          </p:txBody>
        </p:sp>
        <p:sp>
          <p:nvSpPr>
            <p:cNvPr id="12" name="Geschweifte Klammer rechts 11"/>
            <p:cNvSpPr/>
            <p:nvPr/>
          </p:nvSpPr>
          <p:spPr>
            <a:xfrm rot="5400000">
              <a:off x="2555776" y="1749956"/>
              <a:ext cx="144016" cy="86409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Geschweifte Klammer rechts 12"/>
            <p:cNvSpPr/>
            <p:nvPr/>
          </p:nvSpPr>
          <p:spPr>
            <a:xfrm rot="5400000">
              <a:off x="3779912" y="1605940"/>
              <a:ext cx="144016" cy="1152128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1894654" y="2269252"/>
              <a:ext cx="14718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binding to receptor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3429641" y="2276872"/>
              <a:ext cx="846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unbinding</a:t>
              </a:r>
            </a:p>
          </p:txBody>
        </p:sp>
        <p:sp>
          <p:nvSpPr>
            <p:cNvPr id="16" name="Geschweifte Klammer rechts 15"/>
            <p:cNvSpPr/>
            <p:nvPr/>
          </p:nvSpPr>
          <p:spPr>
            <a:xfrm rot="5400000">
              <a:off x="3779912" y="2534424"/>
              <a:ext cx="144016" cy="86409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3275856" y="3053720"/>
              <a:ext cx="14141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decay &amp; transport</a:t>
              </a:r>
            </a:p>
          </p:txBody>
        </p:sp>
        <p:sp>
          <p:nvSpPr>
            <p:cNvPr id="18" name="Geschweifte Klammer rechts 17"/>
            <p:cNvSpPr/>
            <p:nvPr/>
          </p:nvSpPr>
          <p:spPr>
            <a:xfrm rot="5400000">
              <a:off x="2557876" y="2498420"/>
              <a:ext cx="144016" cy="936104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2126437" y="3053720"/>
              <a:ext cx="1005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“production”</a:t>
              </a:r>
            </a:p>
          </p:txBody>
        </p:sp>
      </p:grpSp>
      <p:pic>
        <p:nvPicPr>
          <p:cNvPr id="22" name="Grafik 21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62252" y="4620864"/>
            <a:ext cx="4907128" cy="4136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order to compare the model with reality, we require experimentally justified values for the parameters and constants … 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1029122"/>
            <a:ext cx="2592288" cy="1152128"/>
          </a:xfrm>
          <a:prstGeom prst="roundRect">
            <a:avLst>
              <a:gd name="adj" fmla="val 8154"/>
            </a:avLst>
          </a:prstGeom>
          <a:solidFill>
            <a:srgbClr val="FFFF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915567"/>
            <a:ext cx="4464496" cy="4135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88288" y="1137134"/>
            <a:ext cx="2318753" cy="936104"/>
          </a:xfrm>
          <a:prstGeom prst="rect">
            <a:avLst/>
          </a:prstGeom>
        </p:spPr>
      </p:pic>
      <p:sp>
        <p:nvSpPr>
          <p:cNvPr id="6" name="Freeform 37"/>
          <p:cNvSpPr>
            <a:spLocks/>
          </p:cNvSpPr>
          <p:nvPr/>
        </p:nvSpPr>
        <p:spPr bwMode="auto">
          <a:xfrm rot="18573364" flipH="1" flipV="1">
            <a:off x="1905007" y="1920591"/>
            <a:ext cx="800334" cy="1490733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hteck 6"/>
          <p:cNvSpPr/>
          <p:nvPr/>
        </p:nvSpPr>
        <p:spPr>
          <a:xfrm>
            <a:off x="611560" y="4370988"/>
            <a:ext cx="2520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de-DE" sz="1000" dirty="0"/>
              <a:t>J.L. </a:t>
            </a:r>
            <a:r>
              <a:rPr lang="de-DE" sz="1000" dirty="0" err="1"/>
              <a:t>Martiel</a:t>
            </a:r>
            <a:r>
              <a:rPr lang="de-DE" sz="1000" dirty="0"/>
              <a:t> &amp; A. Goldbeter (1987): A model </a:t>
            </a:r>
            <a:r>
              <a:rPr lang="de-DE" sz="1000" dirty="0" err="1"/>
              <a:t>based</a:t>
            </a:r>
            <a:r>
              <a:rPr lang="de-DE" sz="1000" dirty="0"/>
              <a:t> on </a:t>
            </a:r>
            <a:r>
              <a:rPr lang="de-DE" sz="1000" dirty="0" err="1"/>
              <a:t>receptor</a:t>
            </a:r>
            <a:r>
              <a:rPr lang="de-DE" sz="1000" dirty="0"/>
              <a:t> </a:t>
            </a:r>
            <a:r>
              <a:rPr lang="de-DE" sz="1000" dirty="0" err="1"/>
              <a:t>desensitization</a:t>
            </a:r>
            <a:r>
              <a:rPr lang="de-DE" sz="1000" dirty="0"/>
              <a:t> </a:t>
            </a:r>
            <a:r>
              <a:rPr lang="de-DE" sz="1000" dirty="0" err="1"/>
              <a:t>for</a:t>
            </a:r>
            <a:r>
              <a:rPr lang="de-DE" sz="1000" dirty="0"/>
              <a:t> </a:t>
            </a:r>
            <a:r>
              <a:rPr lang="de-DE" sz="1000" dirty="0" err="1"/>
              <a:t>cyclic</a:t>
            </a:r>
            <a:r>
              <a:rPr lang="de-DE" sz="1000" dirty="0"/>
              <a:t> AMO </a:t>
            </a:r>
            <a:r>
              <a:rPr lang="de-DE" sz="1000" dirty="0" err="1"/>
              <a:t>signalling</a:t>
            </a:r>
            <a:r>
              <a:rPr lang="de-DE" sz="1000" dirty="0"/>
              <a:t> in </a:t>
            </a:r>
            <a:r>
              <a:rPr lang="de-DE" sz="1000" dirty="0" err="1"/>
              <a:t>Dictyostelium</a:t>
            </a:r>
            <a:r>
              <a:rPr lang="de-DE" sz="1000" dirty="0"/>
              <a:t> </a:t>
            </a:r>
            <a:r>
              <a:rPr lang="de-DE" sz="1000" dirty="0" err="1"/>
              <a:t>cells</a:t>
            </a:r>
            <a:r>
              <a:rPr lang="de-DE" sz="1000" dirty="0"/>
              <a:t>, </a:t>
            </a:r>
            <a:r>
              <a:rPr lang="de-DE" sz="1000" dirty="0" err="1"/>
              <a:t>Biophysical</a:t>
            </a:r>
            <a:r>
              <a:rPr lang="de-DE" sz="1000" dirty="0"/>
              <a:t> Journal, 52, p. 802-828.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as well as assumptions for numerical simulations 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1029122"/>
            <a:ext cx="2592288" cy="1152128"/>
          </a:xfrm>
          <a:prstGeom prst="roundRect">
            <a:avLst>
              <a:gd name="adj" fmla="val 8154"/>
            </a:avLst>
          </a:prstGeom>
          <a:solidFill>
            <a:srgbClr val="FFFF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8288" y="1137134"/>
            <a:ext cx="2318753" cy="936104"/>
          </a:xfrm>
          <a:prstGeom prst="rect">
            <a:avLst/>
          </a:prstGeom>
        </p:spPr>
      </p:pic>
      <p:sp>
        <p:nvSpPr>
          <p:cNvPr id="6" name="Freeform 37"/>
          <p:cNvSpPr>
            <a:spLocks/>
          </p:cNvSpPr>
          <p:nvPr/>
        </p:nvSpPr>
        <p:spPr bwMode="auto">
          <a:xfrm rot="18573364" flipH="1" flipV="1">
            <a:off x="1905007" y="1920591"/>
            <a:ext cx="800334" cy="1490733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hteck 6"/>
          <p:cNvSpPr/>
          <p:nvPr/>
        </p:nvSpPr>
        <p:spPr>
          <a:xfrm>
            <a:off x="611560" y="4370988"/>
            <a:ext cx="2520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de-DE" sz="1000" dirty="0"/>
              <a:t>J.L. </a:t>
            </a:r>
            <a:r>
              <a:rPr lang="de-DE" sz="1000" dirty="0" err="1"/>
              <a:t>Martiel</a:t>
            </a:r>
            <a:r>
              <a:rPr lang="de-DE" sz="1000" dirty="0"/>
              <a:t> &amp; A. Goldbeter (1987): A model </a:t>
            </a:r>
            <a:r>
              <a:rPr lang="de-DE" sz="1000" dirty="0" err="1"/>
              <a:t>based</a:t>
            </a:r>
            <a:r>
              <a:rPr lang="de-DE" sz="1000" dirty="0"/>
              <a:t> on </a:t>
            </a:r>
            <a:r>
              <a:rPr lang="de-DE" sz="1000" dirty="0" err="1"/>
              <a:t>receptor</a:t>
            </a:r>
            <a:r>
              <a:rPr lang="de-DE" sz="1000" dirty="0"/>
              <a:t> </a:t>
            </a:r>
            <a:r>
              <a:rPr lang="de-DE" sz="1000" dirty="0" err="1"/>
              <a:t>desensitization</a:t>
            </a:r>
            <a:r>
              <a:rPr lang="de-DE" sz="1000" dirty="0"/>
              <a:t> </a:t>
            </a:r>
            <a:r>
              <a:rPr lang="de-DE" sz="1000" dirty="0" err="1"/>
              <a:t>for</a:t>
            </a:r>
            <a:r>
              <a:rPr lang="de-DE" sz="1000" dirty="0"/>
              <a:t> </a:t>
            </a:r>
            <a:r>
              <a:rPr lang="de-DE" sz="1000" dirty="0" err="1"/>
              <a:t>cyclic</a:t>
            </a:r>
            <a:r>
              <a:rPr lang="de-DE" sz="1000" dirty="0"/>
              <a:t> AMO </a:t>
            </a:r>
            <a:r>
              <a:rPr lang="de-DE" sz="1000" dirty="0" err="1"/>
              <a:t>signalling</a:t>
            </a:r>
            <a:r>
              <a:rPr lang="de-DE" sz="1000" dirty="0"/>
              <a:t> in </a:t>
            </a:r>
            <a:r>
              <a:rPr lang="de-DE" sz="1000" dirty="0" err="1"/>
              <a:t>Dictyostelium</a:t>
            </a:r>
            <a:r>
              <a:rPr lang="de-DE" sz="1000" dirty="0"/>
              <a:t> </a:t>
            </a:r>
            <a:r>
              <a:rPr lang="de-DE" sz="1000" dirty="0" err="1"/>
              <a:t>cells</a:t>
            </a:r>
            <a:r>
              <a:rPr lang="de-DE" sz="1000" dirty="0"/>
              <a:t>, </a:t>
            </a:r>
            <a:r>
              <a:rPr lang="de-DE" sz="1000" dirty="0" err="1"/>
              <a:t>Biophysical</a:t>
            </a:r>
            <a:r>
              <a:rPr lang="de-DE" sz="1000" dirty="0"/>
              <a:t> Journal, 52, p. 802-828.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5" y="915568"/>
            <a:ext cx="4922159" cy="4104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755576" y="1347614"/>
            <a:ext cx="4320480" cy="2808312"/>
          </a:xfrm>
          <a:prstGeom prst="roundRect">
            <a:avLst>
              <a:gd name="adj" fmla="val 3880"/>
            </a:avLst>
          </a:prstGeom>
          <a:solidFill>
            <a:srgbClr val="FFFF6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fik 3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23527" y="1059579"/>
            <a:ext cx="4979155" cy="3427361"/>
          </a:xfrm>
          <a:prstGeom prst="rect">
            <a:avLst/>
          </a:prstGeom>
        </p:spPr>
      </p:pic>
      <p:grpSp>
        <p:nvGrpSpPr>
          <p:cNvPr id="6" name="Gruppieren 41"/>
          <p:cNvGrpSpPr/>
          <p:nvPr/>
        </p:nvGrpSpPr>
        <p:grpSpPr>
          <a:xfrm>
            <a:off x="1259632" y="1824593"/>
            <a:ext cx="3430394" cy="2187317"/>
            <a:chOff x="1259632" y="2109996"/>
            <a:chExt cx="3430394" cy="2187317"/>
          </a:xfrm>
        </p:grpSpPr>
        <p:sp>
          <p:nvSpPr>
            <p:cNvPr id="25" name="Geschweifte Klammer rechts 24"/>
            <p:cNvSpPr/>
            <p:nvPr/>
          </p:nvSpPr>
          <p:spPr>
            <a:xfrm rot="5400000">
              <a:off x="2303748" y="3511612"/>
              <a:ext cx="144016" cy="50405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Geschweifte Klammer rechts 25"/>
            <p:cNvSpPr/>
            <p:nvPr/>
          </p:nvSpPr>
          <p:spPr>
            <a:xfrm rot="5400000">
              <a:off x="2951820" y="3511612"/>
              <a:ext cx="144016" cy="50405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Geschweifte Klammer rechts 26"/>
            <p:cNvSpPr/>
            <p:nvPr/>
          </p:nvSpPr>
          <p:spPr>
            <a:xfrm rot="5400000">
              <a:off x="3599892" y="3511612"/>
              <a:ext cx="144016" cy="50405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feld 27"/>
            <p:cNvSpPr txBox="1"/>
            <p:nvPr/>
          </p:nvSpPr>
          <p:spPr>
            <a:xfrm>
              <a:off x="3419872" y="3835648"/>
              <a:ext cx="752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diffusion</a:t>
              </a:r>
            </a:p>
          </p:txBody>
        </p:sp>
        <p:sp>
          <p:nvSpPr>
            <p:cNvPr id="29" name="Textfeld 28"/>
            <p:cNvSpPr txBox="1"/>
            <p:nvPr/>
          </p:nvSpPr>
          <p:spPr>
            <a:xfrm>
              <a:off x="2730617" y="3835648"/>
              <a:ext cx="5934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decay</a:t>
              </a:r>
            </a:p>
          </p:txBody>
        </p:sp>
        <p:sp>
          <p:nvSpPr>
            <p:cNvPr id="30" name="Textfeld 29"/>
            <p:cNvSpPr txBox="1"/>
            <p:nvPr/>
          </p:nvSpPr>
          <p:spPr>
            <a:xfrm>
              <a:off x="1259632" y="3835648"/>
              <a:ext cx="13644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transport of intra-</a:t>
              </a:r>
            </a:p>
            <a:p>
              <a:r>
                <a:rPr lang="en-US" sz="1200" dirty="0"/>
                <a:t>cellular </a:t>
              </a:r>
              <a:r>
                <a:rPr lang="en-US" sz="1200" dirty="0" err="1"/>
                <a:t>cAMP</a:t>
              </a:r>
              <a:endParaRPr lang="en-US" sz="1200" dirty="0"/>
            </a:p>
          </p:txBody>
        </p:sp>
        <p:sp>
          <p:nvSpPr>
            <p:cNvPr id="31" name="Geschweifte Klammer rechts 30"/>
            <p:cNvSpPr/>
            <p:nvPr/>
          </p:nvSpPr>
          <p:spPr>
            <a:xfrm rot="5400000">
              <a:off x="2555776" y="1749956"/>
              <a:ext cx="144016" cy="86409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Geschweifte Klammer rechts 31"/>
            <p:cNvSpPr/>
            <p:nvPr/>
          </p:nvSpPr>
          <p:spPr>
            <a:xfrm rot="5400000">
              <a:off x="3779912" y="1605940"/>
              <a:ext cx="144016" cy="1152128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1894654" y="2269252"/>
              <a:ext cx="14718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binding to receptor</a:t>
              </a:r>
            </a:p>
          </p:txBody>
        </p:sp>
        <p:sp>
          <p:nvSpPr>
            <p:cNvPr id="34" name="Textfeld 33"/>
            <p:cNvSpPr txBox="1"/>
            <p:nvPr/>
          </p:nvSpPr>
          <p:spPr>
            <a:xfrm>
              <a:off x="3429641" y="2276872"/>
              <a:ext cx="846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unbinding</a:t>
              </a:r>
            </a:p>
          </p:txBody>
        </p:sp>
        <p:sp>
          <p:nvSpPr>
            <p:cNvPr id="35" name="Geschweifte Klammer rechts 34"/>
            <p:cNvSpPr/>
            <p:nvPr/>
          </p:nvSpPr>
          <p:spPr>
            <a:xfrm rot="5400000">
              <a:off x="3779912" y="2534424"/>
              <a:ext cx="144016" cy="864096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feld 35"/>
            <p:cNvSpPr txBox="1"/>
            <p:nvPr/>
          </p:nvSpPr>
          <p:spPr>
            <a:xfrm>
              <a:off x="3275856" y="3053720"/>
              <a:ext cx="14141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decay &amp; transport</a:t>
              </a:r>
            </a:p>
          </p:txBody>
        </p:sp>
        <p:sp>
          <p:nvSpPr>
            <p:cNvPr id="37" name="Geschweifte Klammer rechts 36"/>
            <p:cNvSpPr/>
            <p:nvPr/>
          </p:nvSpPr>
          <p:spPr>
            <a:xfrm rot="5400000">
              <a:off x="2557876" y="2498420"/>
              <a:ext cx="144016" cy="936104"/>
            </a:xfrm>
            <a:prstGeom prst="rightBrace">
              <a:avLst>
                <a:gd name="adj1" fmla="val 40893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feld 37"/>
            <p:cNvSpPr txBox="1"/>
            <p:nvPr/>
          </p:nvSpPr>
          <p:spPr>
            <a:xfrm>
              <a:off x="2126437" y="3053720"/>
              <a:ext cx="1005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“production”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Finally, the ODE model for </a:t>
            </a:r>
            <a:r>
              <a:rPr lang="en-US" dirty="0" err="1"/>
              <a:t>cAMP</a:t>
            </a:r>
            <a:r>
              <a:rPr lang="en-US" dirty="0"/>
              <a:t> dynamics can easily be extended to a PDE model that includes spatial effects</a:t>
            </a:r>
          </a:p>
        </p:txBody>
      </p:sp>
      <p:pic>
        <p:nvPicPr>
          <p:cNvPr id="3" name="Grafik 2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6639931" y="987574"/>
            <a:ext cx="2253165" cy="4032447"/>
          </a:xfrm>
          <a:prstGeom prst="rect">
            <a:avLst/>
          </a:prstGeom>
        </p:spPr>
      </p:pic>
      <p:sp>
        <p:nvSpPr>
          <p:cNvPr id="5" name="Abgerundetes Rechteck 4"/>
          <p:cNvSpPr/>
          <p:nvPr/>
        </p:nvSpPr>
        <p:spPr>
          <a:xfrm>
            <a:off x="251520" y="987574"/>
            <a:ext cx="5328592" cy="4104456"/>
          </a:xfrm>
          <a:prstGeom prst="roundRect">
            <a:avLst>
              <a:gd name="adj" fmla="val 201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fik 21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62252" y="4620864"/>
            <a:ext cx="4907128" cy="413605"/>
          </a:xfrm>
          <a:prstGeom prst="rect">
            <a:avLst/>
          </a:prstGeom>
        </p:spPr>
      </p:pic>
      <p:sp>
        <p:nvSpPr>
          <p:cNvPr id="40" name="Abgerundetes Rechteck 39"/>
          <p:cNvSpPr/>
          <p:nvPr/>
        </p:nvSpPr>
        <p:spPr>
          <a:xfrm>
            <a:off x="3275856" y="3075806"/>
            <a:ext cx="720080" cy="36004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4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stability diagram in the space of two essential parameters allows the determination of specific stability/ instability regions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251520" y="47433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de-DE" sz="1000" dirty="0"/>
              <a:t>J. </a:t>
            </a:r>
            <a:r>
              <a:rPr lang="de-DE" sz="1000" dirty="0" err="1"/>
              <a:t>Lauzeral</a:t>
            </a:r>
            <a:r>
              <a:rPr lang="de-DE" sz="1000" dirty="0"/>
              <a:t>, J. </a:t>
            </a:r>
            <a:r>
              <a:rPr lang="de-DE" sz="1000" dirty="0" err="1"/>
              <a:t>Halloy</a:t>
            </a:r>
            <a:r>
              <a:rPr lang="de-DE" sz="1000" dirty="0"/>
              <a:t> &amp; A. Goldbeter (1997): </a:t>
            </a:r>
            <a:r>
              <a:rPr lang="en-US" sz="1000" dirty="0" err="1"/>
              <a:t>Desynchronization</a:t>
            </a:r>
            <a:r>
              <a:rPr lang="en-US" sz="1000" dirty="0"/>
              <a:t> of cells on the developmental path triggers the formation of spiral waves of </a:t>
            </a:r>
            <a:r>
              <a:rPr lang="en-US" sz="1000" dirty="0" err="1"/>
              <a:t>cAMP</a:t>
            </a:r>
            <a:r>
              <a:rPr lang="en-US" sz="1000" dirty="0"/>
              <a:t> during </a:t>
            </a:r>
            <a:r>
              <a:rPr lang="en-US" sz="1000" dirty="0" err="1"/>
              <a:t>Dictyostelium</a:t>
            </a:r>
            <a:r>
              <a:rPr lang="en-US" sz="1000" dirty="0"/>
              <a:t> aggregation, Developmental Biology, </a:t>
            </a:r>
            <a:r>
              <a:rPr lang="pl-PL" sz="1000" dirty="0"/>
              <a:t>Proc. Natl. Acad. Sci. USA</a:t>
            </a:r>
            <a:r>
              <a:rPr lang="de-DE" sz="1000" dirty="0"/>
              <a:t>, </a:t>
            </a:r>
            <a:r>
              <a:rPr lang="en-US" sz="1000" dirty="0"/>
              <a:t>94, pp. 9153-9158.</a:t>
            </a:r>
            <a:endParaRPr lang="de-DE" sz="1000" dirty="0"/>
          </a:p>
        </p:txBody>
      </p:sp>
      <p:grpSp>
        <p:nvGrpSpPr>
          <p:cNvPr id="4" name="Gruppieren 6"/>
          <p:cNvGrpSpPr/>
          <p:nvPr/>
        </p:nvGrpSpPr>
        <p:grpSpPr>
          <a:xfrm>
            <a:off x="179512" y="915566"/>
            <a:ext cx="5137794" cy="3775177"/>
            <a:chOff x="1815950" y="1257744"/>
            <a:chExt cx="5137794" cy="3775177"/>
          </a:xfrm>
        </p:grpSpPr>
        <p:pic>
          <p:nvPicPr>
            <p:cNvPr id="5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90256" y="1257744"/>
              <a:ext cx="4763488" cy="3412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feld 5"/>
            <p:cNvSpPr txBox="1"/>
            <p:nvPr/>
          </p:nvSpPr>
          <p:spPr>
            <a:xfrm rot="16200000">
              <a:off x="275304" y="2809406"/>
              <a:ext cx="33890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maximum activity </a:t>
              </a:r>
              <a:r>
                <a:rPr lang="en-US" sz="1400" dirty="0">
                  <a:sym typeface="Symbol"/>
                </a:rPr>
                <a:t></a:t>
              </a:r>
              <a:r>
                <a:rPr lang="en-US" sz="1400" dirty="0"/>
                <a:t> of </a:t>
              </a:r>
              <a:r>
                <a:rPr lang="en-US" sz="1400" dirty="0" err="1"/>
                <a:t>adenylate</a:t>
              </a:r>
              <a:r>
                <a:rPr lang="en-US" sz="1400" dirty="0"/>
                <a:t> </a:t>
              </a:r>
              <a:r>
                <a:rPr lang="en-US" sz="1400" dirty="0" err="1"/>
                <a:t>cyclase</a:t>
              </a:r>
              <a:endParaRPr lang="en-US" sz="1400" dirty="0"/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602989" y="4725144"/>
              <a:ext cx="43027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rate constant </a:t>
              </a:r>
              <a:r>
                <a:rPr lang="en-US" sz="1400" dirty="0" err="1"/>
                <a:t>k</a:t>
              </a:r>
              <a:r>
                <a:rPr lang="en-US" sz="1400" baseline="-25000" dirty="0" err="1"/>
                <a:t>e</a:t>
              </a:r>
              <a:r>
                <a:rPr lang="en-US" sz="1400" dirty="0"/>
                <a:t> of extracellular </a:t>
              </a:r>
              <a:r>
                <a:rPr lang="en-US" sz="1400" dirty="0" err="1"/>
                <a:t>phosphodiesterase</a:t>
              </a:r>
              <a:endParaRPr lang="en-US" sz="1400" dirty="0"/>
            </a:p>
          </p:txBody>
        </p:sp>
      </p:grpSp>
      <p:sp>
        <p:nvSpPr>
          <p:cNvPr id="8" name="Textfeld 7"/>
          <p:cNvSpPr txBox="1"/>
          <p:nvPr/>
        </p:nvSpPr>
        <p:spPr>
          <a:xfrm>
            <a:off x="5508104" y="980996"/>
            <a:ext cx="3384376" cy="3693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Domains in the parameter space</a:t>
            </a:r>
            <a:r>
              <a:rPr lang="en-US" sz="1200" dirty="0"/>
              <a:t>: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S:	one non-excitable stable steady states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	excitability is the capability of the system to propagate/ sustain without attenuation a wave of </a:t>
            </a:r>
            <a:r>
              <a:rPr lang="en-US" sz="1200" dirty="0" err="1"/>
              <a:t>cAMP</a:t>
            </a:r>
            <a:r>
              <a:rPr lang="en-US" sz="1200" dirty="0"/>
              <a:t> </a:t>
            </a:r>
            <a:r>
              <a:rPr lang="en-US" sz="1200" dirty="0" err="1"/>
              <a:t>initated</a:t>
            </a:r>
            <a:r>
              <a:rPr lang="en-US" sz="1200" dirty="0"/>
              <a:t> by a </a:t>
            </a:r>
            <a:r>
              <a:rPr lang="en-US" sz="1200" dirty="0" err="1"/>
              <a:t>suprathreshold</a:t>
            </a:r>
            <a:r>
              <a:rPr lang="en-US" sz="1200" dirty="0"/>
              <a:t> extracellular </a:t>
            </a:r>
            <a:r>
              <a:rPr lang="en-US" sz="1200" dirty="0" err="1"/>
              <a:t>cAMP</a:t>
            </a:r>
            <a:r>
              <a:rPr lang="en-US" sz="1200" dirty="0"/>
              <a:t> pulse applied at the center of the spatially distributed system – this can be imagined as trigger waves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	a </a:t>
            </a:r>
            <a:r>
              <a:rPr lang="en-US" sz="1200" dirty="0" err="1"/>
              <a:t>Hopf</a:t>
            </a:r>
            <a:r>
              <a:rPr lang="en-US" sz="1200" dirty="0"/>
              <a:t>-bifurcation occurs at the boundary from S to O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E:	coexistence of three steady states, one of which is excitable (spiral waves)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B:	</a:t>
            </a:r>
            <a:r>
              <a:rPr lang="en-US" sz="1200" dirty="0" err="1"/>
              <a:t>bistability</a:t>
            </a:r>
            <a:r>
              <a:rPr lang="en-US" sz="1200" dirty="0"/>
              <a:t> – coexistence of two stable steady states and one unstable steady state</a:t>
            </a:r>
          </a:p>
          <a:p>
            <a:pPr marL="273050" indent="-273050">
              <a:spcAft>
                <a:spcPts val="600"/>
              </a:spcAft>
            </a:pPr>
            <a:r>
              <a:rPr lang="en-US" sz="1200" dirty="0"/>
              <a:t>O:	one unstable steady state surrounded by a limit cycle, i.e. sustained autonomous oscillations of </a:t>
            </a:r>
            <a:r>
              <a:rPr lang="en-US" sz="1200" dirty="0" err="1"/>
              <a:t>cAMP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15515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spatial distribution of </a:t>
            </a:r>
            <a:r>
              <a:rPr lang="en-US" dirty="0" err="1"/>
              <a:t>cAMP</a:t>
            </a:r>
            <a:r>
              <a:rPr lang="en-US" dirty="0"/>
              <a:t> at the indicated times resulting from the progression of cells along a developmental path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7614"/>
            <a:ext cx="8488592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3</a:t>
            </a:r>
          </a:p>
        </p:txBody>
      </p:sp>
      <p:sp>
        <p:nvSpPr>
          <p:cNvPr id="7" name="Rechteck 6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5477520" y="915566"/>
            <a:ext cx="3382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3A</a:t>
            </a:r>
          </a:p>
        </p:txBody>
      </p:sp>
    </p:spTree>
    <p:extLst>
      <p:ext uri="{BB962C8B-B14F-4D97-AF65-F5344CB8AC3E}">
        <p14:creationId xmlns:p14="http://schemas.microsoft.com/office/powerpoint/2010/main" val="1291244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spatial distribution of </a:t>
            </a:r>
            <a:r>
              <a:rPr lang="en-US" dirty="0" err="1"/>
              <a:t>cAMP</a:t>
            </a:r>
            <a:r>
              <a:rPr lang="en-US" dirty="0"/>
              <a:t> at the indicated times resulting from the progression of cells along a developmental path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7613"/>
            <a:ext cx="4258502" cy="1481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3</a:t>
            </a:r>
          </a:p>
        </p:txBody>
      </p:sp>
      <p:sp>
        <p:nvSpPr>
          <p:cNvPr id="7" name="Rechteck 6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5477520" y="915566"/>
            <a:ext cx="3382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3A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51520" y="3150279"/>
            <a:ext cx="8640960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 dirty="0"/>
              <a:t>Developmental paths and wavelike patterns of </a:t>
            </a:r>
            <a:r>
              <a:rPr lang="en-US" sz="1200" b="1" dirty="0" err="1"/>
              <a:t>cAMP</a:t>
            </a:r>
            <a:r>
              <a:rPr lang="en-US" sz="1200" b="1" dirty="0"/>
              <a:t>. </a:t>
            </a:r>
            <a:r>
              <a:rPr lang="en-US" sz="1200" dirty="0"/>
              <a:t>Shown is the two-dimensional spatial distribution of </a:t>
            </a:r>
            <a:r>
              <a:rPr lang="en-US" sz="1200" dirty="0" err="1"/>
              <a:t>cAMP</a:t>
            </a:r>
            <a:r>
              <a:rPr lang="en-US" sz="1200" dirty="0"/>
              <a:t> (Upper) at indicated times (in min) resulting from the progression of cells along the developmental path 1 (Lower), for a </a:t>
            </a:r>
            <a:r>
              <a:rPr lang="en-US" sz="1200" dirty="0" err="1"/>
              <a:t>desynchronization</a:t>
            </a:r>
            <a:r>
              <a:rPr lang="en-US" sz="1200" dirty="0"/>
              <a:t> factor of 50.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For the cell distribution along the developmental path, each circle represents a 5% fraction of the total amount of cells considered.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The spatiotemporal evolution of the system is obtained by integrating the governing equations by means of an explicit Euler method with finite differences for the spatial term.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The resulting </a:t>
            </a:r>
            <a:r>
              <a:rPr lang="en-US" sz="1200" dirty="0" err="1"/>
              <a:t>desynchronization</a:t>
            </a:r>
            <a:r>
              <a:rPr lang="en-US" sz="1200" dirty="0"/>
              <a:t> of cells on the developmental path creates a spatial heterogeneity in the parameter(s) that vary on this path.</a:t>
            </a:r>
          </a:p>
        </p:txBody>
      </p:sp>
    </p:spTree>
    <p:extLst>
      <p:ext uri="{BB962C8B-B14F-4D97-AF65-F5344CB8AC3E}">
        <p14:creationId xmlns:p14="http://schemas.microsoft.com/office/powerpoint/2010/main" val="409524755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7" y="1347614"/>
            <a:ext cx="8487943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3</a:t>
            </a:r>
          </a:p>
        </p:txBody>
      </p:sp>
      <p:sp>
        <p:nvSpPr>
          <p:cNvPr id="7" name="Rechteck 6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5477520" y="915566"/>
            <a:ext cx="3382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3B</a:t>
            </a:r>
          </a:p>
        </p:txBody>
      </p:sp>
    </p:spTree>
    <p:extLst>
      <p:ext uri="{BB962C8B-B14F-4D97-AF65-F5344CB8AC3E}">
        <p14:creationId xmlns:p14="http://schemas.microsoft.com/office/powerpoint/2010/main" val="32899762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spatial distribution of </a:t>
            </a:r>
            <a:r>
              <a:rPr lang="en-US" dirty="0" err="1"/>
              <a:t>cAMP</a:t>
            </a:r>
            <a:r>
              <a:rPr lang="en-US" dirty="0"/>
              <a:t> at the indicated times resulting from the progression of cells along a developmental path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7" y="1347613"/>
            <a:ext cx="4268208" cy="148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3</a:t>
            </a:r>
          </a:p>
        </p:txBody>
      </p:sp>
      <p:sp>
        <p:nvSpPr>
          <p:cNvPr id="7" name="Rechteck 6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5477520" y="915566"/>
            <a:ext cx="3382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3B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51520" y="3147814"/>
            <a:ext cx="8640960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 dirty="0"/>
              <a:t>Developmental paths and wavelike patterns of </a:t>
            </a:r>
            <a:r>
              <a:rPr lang="en-US" sz="1200" b="1" dirty="0" err="1"/>
              <a:t>cAMP</a:t>
            </a:r>
            <a:r>
              <a:rPr lang="en-US" sz="1200" b="1" dirty="0"/>
              <a:t>. </a:t>
            </a:r>
            <a:r>
              <a:rPr lang="en-US" sz="1200" dirty="0"/>
              <a:t>Shown is the two-dimensional spatial distribution of </a:t>
            </a:r>
            <a:r>
              <a:rPr lang="en-US" sz="1200" dirty="0" err="1"/>
              <a:t>cAMP</a:t>
            </a:r>
            <a:r>
              <a:rPr lang="en-US" sz="1200" dirty="0"/>
              <a:t> (Upper) at indicated times (in min) resulting from the progression of cells along the developmental path 1 (Lower), for a </a:t>
            </a:r>
            <a:r>
              <a:rPr lang="en-US" sz="1200" dirty="0" err="1"/>
              <a:t>desynchronization</a:t>
            </a:r>
            <a:r>
              <a:rPr lang="en-US" sz="1200" dirty="0"/>
              <a:t> factor of 100.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For the cell distribution along the developmental path, each circle represents a 5% fraction of the total amount of cells considered.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The spatiotemporal evolution of the system is obtained by integrating the governing equations by means of an explicit Euler method with finite differences for the spatial term.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The resulting </a:t>
            </a:r>
            <a:r>
              <a:rPr lang="en-US" sz="1200" dirty="0" err="1"/>
              <a:t>desynchronization</a:t>
            </a:r>
            <a:r>
              <a:rPr lang="en-US" sz="1200" dirty="0"/>
              <a:t> of cells on the developmental path creates a spatial heterogeneity in the parameter(s) that vary on this path.</a:t>
            </a:r>
          </a:p>
        </p:txBody>
      </p:sp>
    </p:spTree>
    <p:extLst>
      <p:ext uri="{BB962C8B-B14F-4D97-AF65-F5344CB8AC3E}">
        <p14:creationId xmlns:p14="http://schemas.microsoft.com/office/powerpoint/2010/main" val="3750961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spatial distribution of </a:t>
            </a:r>
            <a:r>
              <a:rPr lang="en-US" dirty="0" err="1"/>
              <a:t>cAMP</a:t>
            </a:r>
            <a:r>
              <a:rPr lang="en-US" dirty="0"/>
              <a:t> at the indicated times resulting from the progression of cells along a developmental path</a:t>
            </a:r>
          </a:p>
        </p:txBody>
      </p:sp>
      <p:sp>
        <p:nvSpPr>
          <p:cNvPr id="3" name="Auf der gleichen Seite des Rechtecks liegende Ecken abrunden 2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1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2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3</a:t>
            </a:r>
          </a:p>
        </p:txBody>
      </p:sp>
      <p:sp>
        <p:nvSpPr>
          <p:cNvPr id="6" name="Rechteck 5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7614"/>
            <a:ext cx="8481864" cy="280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5580112" y="915566"/>
            <a:ext cx="3280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6</a:t>
            </a:r>
          </a:p>
        </p:txBody>
      </p:sp>
    </p:spTree>
    <p:extLst>
      <p:ext uri="{BB962C8B-B14F-4D97-AF65-F5344CB8AC3E}">
        <p14:creationId xmlns:p14="http://schemas.microsoft.com/office/powerpoint/2010/main" val="22324816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the spatial distribution of </a:t>
            </a:r>
            <a:r>
              <a:rPr lang="en-US" dirty="0" err="1"/>
              <a:t>cAMP</a:t>
            </a:r>
            <a:r>
              <a:rPr lang="en-US" dirty="0"/>
              <a:t> at the indicated times resulting from the progression of cells along a developmental path</a:t>
            </a:r>
          </a:p>
        </p:txBody>
      </p:sp>
      <p:sp>
        <p:nvSpPr>
          <p:cNvPr id="3" name="Auf der gleichen Seite des Rechtecks liegende Ecken abrunden 2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1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2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Example 3</a:t>
            </a:r>
          </a:p>
        </p:txBody>
      </p:sp>
      <p:sp>
        <p:nvSpPr>
          <p:cNvPr id="6" name="Rechteck 5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7615"/>
            <a:ext cx="4273812" cy="141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5580112" y="915566"/>
            <a:ext cx="3280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Lauzeral</a:t>
            </a:r>
            <a:r>
              <a:rPr lang="en-US" sz="1200" dirty="0"/>
              <a:t>, </a:t>
            </a:r>
            <a:r>
              <a:rPr lang="en-US" sz="1200" dirty="0" err="1"/>
              <a:t>Halloy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r>
              <a:rPr lang="en-US" sz="1200" dirty="0"/>
              <a:t> (1997), Figure 6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51521" y="3147814"/>
            <a:ext cx="5400599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 dirty="0"/>
              <a:t>Fully developed spiral waves of </a:t>
            </a:r>
            <a:r>
              <a:rPr lang="en-US" sz="1200" b="1" dirty="0" err="1"/>
              <a:t>cAMP</a:t>
            </a:r>
            <a:r>
              <a:rPr lang="en-US" sz="1200" b="1" dirty="0"/>
              <a:t> triggered by the desynchronized progression of cells along the developmental path. </a:t>
            </a:r>
            <a:r>
              <a:rPr lang="en-US" sz="1200" dirty="0"/>
              <a:t>Shown is the two-dimensional spatial distribution of </a:t>
            </a:r>
            <a:r>
              <a:rPr lang="en-US" sz="1200" dirty="0" err="1"/>
              <a:t>cAMP</a:t>
            </a:r>
            <a:r>
              <a:rPr lang="en-US" sz="1200" dirty="0"/>
              <a:t> (Upper) at indicated times (in min) resulting from the evolution of cells along the developmental path 3.</a:t>
            </a:r>
          </a:p>
          <a:p>
            <a:pPr>
              <a:spcAft>
                <a:spcPts val="300"/>
              </a:spcAft>
            </a:pPr>
            <a:r>
              <a:rPr lang="en-US" sz="1200" dirty="0"/>
              <a:t>Here again each circle represents a 5% fraction of the total amount of cells considered. The </a:t>
            </a:r>
            <a:r>
              <a:rPr lang="en-US" sz="1200" dirty="0" err="1"/>
              <a:t>desynchronization</a:t>
            </a:r>
            <a:r>
              <a:rPr lang="en-US" sz="1200" dirty="0"/>
              <a:t> factor is equal to 25. The color scale indicates the level of the normalized concentration of extracellular </a:t>
            </a:r>
            <a:r>
              <a:rPr lang="en-US" sz="1200" dirty="0" err="1"/>
              <a:t>cAMP</a:t>
            </a:r>
            <a:endParaRPr lang="en-US" sz="1200" dirty="0"/>
          </a:p>
        </p:txBody>
      </p:sp>
      <p:pic>
        <p:nvPicPr>
          <p:cNvPr id="10" name="Picture 2" descr="http://www.math.utah.edu/~epalsson/kyoung6.jpg"/>
          <p:cNvPicPr>
            <a:picLocks noChangeAspect="1" noChangeArrowheads="1"/>
          </p:cNvPicPr>
          <p:nvPr/>
        </p:nvPicPr>
        <p:blipFill>
          <a:blip r:embed="rId3" cstate="print"/>
          <a:srcRect l="66810" t="50018"/>
          <a:stretch>
            <a:fillRect/>
          </a:stretch>
        </p:blipFill>
        <p:spPr bwMode="auto">
          <a:xfrm>
            <a:off x="6873647" y="3003798"/>
            <a:ext cx="1964519" cy="195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hteck 10"/>
          <p:cNvSpPr/>
          <p:nvPr/>
        </p:nvSpPr>
        <p:spPr>
          <a:xfrm>
            <a:off x="6012160" y="2931790"/>
            <a:ext cx="2880320" cy="20882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feld 11"/>
          <p:cNvSpPr txBox="1"/>
          <p:nvPr/>
        </p:nvSpPr>
        <p:spPr>
          <a:xfrm rot="16200000">
            <a:off x="5297737" y="3646213"/>
            <a:ext cx="2075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comparison: photograph of </a:t>
            </a:r>
            <a:r>
              <a:rPr lang="en-US" sz="1200" i="1" dirty="0" err="1"/>
              <a:t>dictyostelium</a:t>
            </a:r>
            <a:r>
              <a:rPr lang="en-US" sz="1200" i="1" dirty="0"/>
              <a:t> </a:t>
            </a:r>
            <a:r>
              <a:rPr lang="en-US" sz="1200" i="1" dirty="0" err="1"/>
              <a:t>discoideum</a:t>
            </a:r>
            <a:r>
              <a:rPr lang="en-US" sz="1200" dirty="0"/>
              <a:t> aggregation</a:t>
            </a:r>
          </a:p>
        </p:txBody>
      </p:sp>
    </p:spTree>
    <p:extLst>
      <p:ext uri="{BB962C8B-B14F-4D97-AF65-F5344CB8AC3E}">
        <p14:creationId xmlns:p14="http://schemas.microsoft.com/office/powerpoint/2010/main" val="3275237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7,282"/>
  <p:tag name="ORIGINALWIDTH" val="4458,193"/>
  <p:tag name="LATEXADDIN" val="\documentclass{article}\pagestyle{empty}&#10;\usepackage{amsmath}&#10;\usepackage{amsfonts}&#10;\usepackage{amssymb}&#10;\begin{document}&#10;\begin{minipage}{12.6 cm}&#10;{\sffamily{&#10;Random mixing tends to homogenize any heterogeneities that arise in space. Therefore, (random) diffusion was generally thought to give rise to spatially&#10;homogeneous solutions.\\[2mm]&#10;However, Alan Turing discovered that diffusion may have the opposite effect. Diffusion may cause inhomogeneous patterns or spatial non-uniformities referred&#10;to as {\bf{diffusive instahilities}} or {\bf{Turing instabilities}}. There are numerous biological applications demonstrating the formation of pattern in&#10;space due to Turing instabilities.\\[2mm]&#10;To show how diffusive instabilities arise, we consider two quantities that can be considered as two species, two chemicals, or two morphogens that interact&#10;and diffuse. {\bf{Morphogens}} are substances present in embryonic development that are believed to control growth patterns.&#10;}}&#10;\end{minipage}&#10;\end{document}"/>
  <p:tag name="IGUANATEXSIZE" val="20"/>
  <p:tag name="IGUANATEXCURSOR" val="93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6,734"/>
  <p:tag name="ORIGINALWIDTH" val="4459,693"/>
  <p:tag name="LATEXADDIN" val="\documentclass{article}\pagestyle{empty}&#10;\usepackage{amsmath}&#10;\usepackage{amsfonts}&#10;\usepackage{amssymb}&#10;\begin{document}&#10;\begin{minipage}{12.6 cm}&#10;{\sffamily{&#10;Let $N_1(t,x)$ and $N_2(t,x)$ denote two quantities satisfying the following reaction-diffusion equations:\\[-6mm]&#10;\begin{eqnarray*}&#10;\tfrac{\partial}{\partial t} N_1 &amp; = &amp; f(N_1, N_2) + D_1 \tfrac{\partial^2}{\partial x^2} N_1 \, ,\\[1mm]&#10;\tfrac{\partial}{\partial t} N_2 &amp; = &amp; g(N_1, N_2) + D_2 \tfrac{\partial^2}{\partial x^2} N_2 \, ,&#10;\end{eqnarray*}&#10;where the diffusion coefficients $D_1$ and $D_2$ are positive. At this point we make no assumptions about the boundary conditions (BC).&#10;However, the domain $\Omega$ is finite, and generally, the boundary conditions are zero flux. We shall see that various patterns&#10;are generated because of the shape of the domain.\\[2mm]&#10;We assume there exists a constant equilibrium solution $N_1^*$ and $N_2^*$ satisfying\\[-2mm]&#10;$$&#10;f(N_1, N_2) \, \, = \, \, 0 \qquad \text{and} \qquad g(N_1, N_2) \, \, = \, \, 0 \, .&#10;$$&#10;Note that constant equilibrium solutions are consistent with zero flux BC.}}&#10;\end{minipage}&#10;\end{document}"/>
  <p:tag name="IGUANATEXSIZE" val="20"/>
  <p:tag name="IGUANATEXCURSOR" val="1095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5,767"/>
  <p:tag name="ORIGINALWIDTH" val="4454,443"/>
  <p:tag name="LATEXADDIN" val="\documentclass{article}\pagestyle{empty}&#10;\usepackage{amsmath}&#10;\usepackage{amsfonts}&#10;\usepackage{amssymb}&#10;\begin{document}&#10;\begin{minipage}{12.6 cm}&#10;{\sffamily{&#10;Turing's idea simply stated is as follows: {\bf{If the spatially homogeneous equilibrium $(N_1^*, N_2^*)$ is stable in the absence of&#10;diffusion but becomes unstable in the presence of diffusion, then spatially non-homogeneous patterns may evolve.}}\\[2mm]&#10;Therefore, the conditions for diffusive instability require that the equilibrium $(N_1^*, N_2^*)$ be locally asymptotically stable&#10;in the reaction part of the system ({\bf{reaction system}}):&#10;\begin{eqnarray*}&#10;\tfrac{\textrm{d}}{\textrm{d} t} N_1 &amp; = &amp; f(N_1, N_2) \, ,\\[1mm]&#10;\tfrac{\textrm{d}}{\textrm{d} t} N_2 &amp; = &amp; g(N_1, N_2) \, .&#10;\end{eqnarray*}&#10;But with diffusion, the stability changes. The equilibrium is unstable in the reaction diffusion system.}}&#10;\end{minipage}&#10;\end{document}"/>
  <p:tag name="IGUANATEXSIZE" val="20"/>
  <p:tag name="IGUANATEXCURSOR" val="607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3,015"/>
  <p:tag name="ORIGINALWIDTH" val="4467,192"/>
  <p:tag name="LATEXADDIN" val="\documentclass{article}\pagestyle{empty}&#10;\usepackage{amsmath}&#10;\usepackage{amsfonts}&#10;\usepackage{amssymb}&#10;\begin{document}&#10;\begin{minipage}{12.6 cm}&#10;{\sffamily{&#10;First, we derive conditions for local asymptotic stability of $(N_1^*, N_2^*)$ in the reaction system. Linearizing the system about the&#10;equilibrium $(N_l^*, N_2^*)$ leads to&#10;$$&#10;\dot{u}_1 \, \, = \, \, a_{11} u_1 + a_{12} u_2 \qquad \text{and} \qquad \dot{u}_2 \, \, = \, \, a_{21} u_1 + a_{22} u_2 \, ,&#10;$$&#10;where $u_i = N_i - N_i^*$, $i = 1, 2$. The matrix $J = (a_{ij})$ is the Jacobian matrix for reaction system evaluated at the equilibrium&#10;$(N_1^*, N_2^*)$.\\[2mm]&#10;The eigenvalues of $J$ have negative real parts and the linear solutions approach zero if and only if, $\textrm{tr}(J) &lt; 0$ and&#10;$\det(J) &gt; 0$ or, equivalently,&#10;$$&#10;a_{11} + a_{22} \, \, &lt; \, \, 0 \qquad \text{and} \qquad a_{11} a_{22} - a_{12} a_{21} \, \, &gt; \, \, 0 \, .&#10;$$&#10;These latter conditions are necessary for diffusive instability.}}&#10;\end{minipage}&#10;\end{document}"/>
  <p:tag name="IGUANATEXSIZE" val="20"/>
  <p:tag name="IGUANATEXCURSOR" val="79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1,267"/>
  <p:tag name="ORIGINALWIDTH" val="4458,943"/>
  <p:tag name="LATEXADDIN" val="\documentclass{article}\pagestyle{empty}&#10;\usepackage{amsmath}&#10;\usepackage{amsfonts}&#10;\usepackage{amssymb}&#10;\begin{document}&#10;\begin{minipage}{12.6 cm}&#10;{\sffamily{&#10;Next, in the complete reaction-diffusion system, we linearize about the equilibrium.&#10;Let $v_i := N_i - N_i^*$, for $i = 1, 2$. Linearizing the system leads to&#10;\begin{eqnarray*}&#10;\tfrac{\partial}{\partial t} v_1 \, \, = \, \, a_{11} v_1 + a_{12} v_2 + D_1 \tfrac{\partial^2}{\partial x^2} v_1 \, , \\[1mm]&#10;\tfrac{\partial}{\partial t} v_2 \, \, = \, \, a_{21} v_1 + a_{22} v_2 + D_2 \tfrac{\partial^2}{\partial x^2} v_2 \, , &#10;\end{eqnarray*}&#10;where $J = (a_{ij})$ denotes again the Jacobian matrix for the reaction system.\\[2mm]&#10;In matrix notation, this linear reaction-diffusion system can be expressed as&#10;$$&#10;\tfrac{\partial}{\partial t} V \, \, = \, \, J \, V + D \tfrac{\partial}{\partial x^2} V \, ,&#10;$$&#10;where $V = (v_1, v_2)^T$ and $D = \textrm{diag}(D_1,D_2)$.}}&#10;\end{minipage}&#10;\end{document}"/>
  <p:tag name="IGUANATEXSIZE" val="20"/>
  <p:tag name="IGUANATEXCURSOR" val="73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7,735"/>
  <p:tag name="ORIGINALWIDTH" val="4458,943"/>
  <p:tag name="LATEXADDIN" val="\documentclass{article}\pagestyle{empty}&#10;\usepackage{amsmath}&#10;\usepackage{amsfonts}&#10;\usepackage{amssymb}&#10;\begin{document}&#10;\begin{minipage}{12.6 cm}&#10;{\sffamily{&#10;We assume that a speparation of variables ansatz works for the linearized reaction-diffusion system and that its solutions can be written as sums of&#10;the form $\sum_{n=1}^{\infty} W_n(x) T_n(t)$, with time-independent parts $W_n(x)$ and $T_n(t) = {\rm{e}}^{\sigma_n t}$. This exponential assumption&#10;in time is reasonable because the linearized reaction system $V' = JV$ has exponential solutions.\\[1mm]&#10;Assume the time-independent parts $W_n(x)$ satisfies the following eigenvalue problem:&#10;$$&#10;W_n'' + k^2 W_n \, \, = \, \, 0 \, , \qquad \text{for $x \in \Omega$} \, ,&#10;$$&#10;with associated BCs defined on $\partial \Omega$.\\[1mm]&#10;There is a set of eigenvalues $k^2_n$ and associated eigenfunctions $W_n$. Here we have used a constant $k^2_n$&#10;rather than $k_n$. (Generally, $k^2_n &gt; 0$ is used for nontrivial solutions to the eigenvalue problem.)\\[1mm]&#10;We assume that for $T_n(t) = {\rm{e}}^{\sigma_n t}$ the value of $\sigma_n$ depends on $k_n$.&#10;}}&#10;\end{minipage}&#10;\end{document}"/>
  <p:tag name="IGUANATEXSIZE" val="20"/>
  <p:tag name="IGUANATEXCURSOR" val="78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3,03"/>
  <p:tag name="ORIGINALWIDTH" val="4454,443"/>
  <p:tag name="LATEXADDIN" val="\documentclass{article}\pagestyle{empty}&#10;\usepackage{amsmath}&#10;\usepackage{amsfonts}&#10;\usepackage{amssymb}&#10;\begin{document}&#10;\begin{minipage}{12.6 cm}&#10;{\sffamily{&#10;Therefore, in summary we assume solutions satisfy&#10;$$&#10;\sum^{\infty}_{n=1} A_n {\rm{e}}^{\sigma_n t} W_n(x) \, .&#10;$$&#10;The equilibrium $(N_1^*, N_2^*)$ of the linearized reaction-diffusion system is locally asymptotically stable if the eigenvalues&#10;$\sigma_n$ have negative real parts.\\[2mm]&#10;However, for diffusive instabilities, we want the equilibrium to be unstable in the presence of diffusion.\\[2mm]&#10;Therefore, there should be at least one eigenvalue that is positive or has positive real part. The value of $\sigma_n$ depends&#10;on $k_n$, $\sigma_n \equiv \sigma(k_n^2)$.}}&#10;\end{minipage}&#10;\end{document}"/>
  <p:tag name="IGUANATEXSIZE" val="20"/>
  <p:tag name="IGUANATEXCURSOR" val="68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6,749"/>
  <p:tag name="ORIGINALWIDTH" val="4455,193"/>
  <p:tag name="LATEXADDIN" val="\documentclass{article}\pagestyle{empty}&#10;\usepackage{amsmath}&#10;\usepackage{amsfonts}&#10;\usepackage{amssymb}&#10;\begin{document}&#10;\begin{minipage}{12.6 cm}&#10;{\sffamily{&#10;Substituting the solution ansatz $v_i = c_i {\rm{e}}^{\sigma t} w_i(x)$, $i = 1, 2$, into the linearized reacation-diffusion system&#10;leads to&#10;$$&#10;\tfrac{\partial}{\partial t} v_i \, \, = \, \, c_i \sigma {\rm{e}}^{\sigma t} w_i(x) \, \, = \, \, \sigma v_i&#10;$$&#10;and&#10;$$&#10;\tfrac{\partial^2}{\partial x^2} v_i \, \, = \, \, - c_i k^2 {\rm{e}}^{\sigma t} w_i(x) \, \, = \, \, -k^2 v_i \, .&#10;$$&#10;The latter identity follows from the previously discussed eigenvalue problem $W'' + k^2 W = 0$.\\[2mm]&#10;We express the preceding derivatives for the linearized reaction-diffusion system in matrix form as $\sigma V = JV - k^2 D V$ or, equivalently,&#10;as&#10;$$&#10;\left( J - k^2 D - \sigma \mathbb{I} \right) V \, \, = \, \, 0 \, .&#10;$$&#10;}}&#10;\end{minipage}&#10;\end{document}"/>
  <p:tag name="IGUANATEXSIZE" val="20"/>
  <p:tag name="IGUANATEXCURSOR" val="863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9,01"/>
  <p:tag name="ORIGINALWIDTH" val="4458,943"/>
  <p:tag name="LATEXADDIN" val="\documentclass{article}\pagestyle{empty}&#10;\usepackage{amsmath}&#10;\usepackage{amsfonts}&#10;\usepackage{amssymb}&#10;\begin{document}&#10;\begin{minipage}{12.6 cm}&#10;{\sffamily{&#10;The values of $\sigma$ are the eigenvalucs of the matrix $J - k^2 D$. They are negative&#10;or have negative real part if and only if $\textrm{tr}(J - k^2D) &lt; 0$ and $\det(J - k^2D) &gt; 0$.\\[2mm]&#10;However, for diffusive instabilities, we require that at least one of the inequalities be&#10;reversed.\\[2mm]&#10;Thus, $\textrm{tr}(J - k^2D) &gt; 0$ or $\det(J - k^2 D) &lt; 0$, or, expressed in terms of the&#10;elements of matrices $J = (a_{ij})$ and $D = \textrm{diag}(D_1, D_2)$, this means&#10;\begin{itemize}&#10;\item[(i)]  $0 &lt; a_{11} + a_{22} - D_1 k^2 - D_2 k^2$.&#10;\item[(ii)] $0 &gt; (a_{11} - D_1 k^2) (a_{22} - D_2 k^2) - a_{12} a_{21}$.&#10;\end{itemize}&#10;Condition (1) is never satisfied because $\textrm{tr}(J) &lt; 0$ and as $D_i, k^2 \geq 0$.&#10;(Here, we used the assumption $k^2 \geq 0$.)}}&#10;\end{minipage}&#10;\end{document}"/>
  <p:tag name="IGUANATEXSIZE" val="20"/>
  <p:tag name="IGUANATEXCURSOR" val="920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59,993"/>
  <p:tag name="ORIGINALWIDTH" val="4460,443"/>
  <p:tag name="LATEXADDIN" val="\documentclass{article}\pagestyle{empty}&#10;\usepackage{amsmath}&#10;\usepackage{amsfonts}&#10;\usepackage{amssymb}&#10;\begin{document}&#10;\begin{minipage}{12.6 cm}&#10;{\sffamily{&#10;Thus, condition (2) must he satisfied. Denote the quantity in condition (2) as $B(k^2)$. That is,\\[-3mm]&#10;$$&#10;B(k^2) \, \, = D_1 D_2 k^4 - \left(D_1 a_{22} + D_2 a_{11}) k^2 + (a_{11} a_{22} - a_{12} a_{21} \right),&#10;$$&#10;a quadratic function of $k^2$.\\[2mm]&#10;Therefore, in order for $B$ to take negative values it is necessary that its vertex $(k^2_{\min}, B(k^2_{\min}))$&#10;lies below the $k^2$-axis. Then, diffusive instability requires&#10;$$&#10;B(k^2_{\min}) \, \, &lt; \, \, 0 \, .&#10;$$&#10;The coordinates of the vertex $(k^2_{\min}, B(k^2_{\min}))$ are given by&#10;$$&#10;\left( \frac{1}{2} \left( \frac{a_{22}}{D_2} + \frac{a_{11}}{D_1} \right) \, , \, a_{11} a_{22} - a_{12} a_{21} -&#10;\frac{(D_1 a_{22} + D_2 a_{11})^2}{4 D_1 D_2} \right) \, .&#10;$$&#10;}}&#10;\end{minipage}&#10;\end{document}"/>
  <p:tag name="IGUANATEXSIZE" val="20"/>
  <p:tag name="IGUANATEXCURSOR" val="72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8,83"/>
  <p:tag name="ORIGINALWIDTH" val="3496,813"/>
  <p:tag name="LATEXADDIN" val="\documentclass{article}\pagestyle{empty}&#10;\usepackage{amsmath}&#10;\usepackage{amsfonts}&#10;\usepackage{amssymb}&#10;\begin{document}&#10;\begin{minipage}{12.6 cm}&#10;{\sffamily{&#10;Thus, $B(k^2_{\min}) &lt; 0$, if&#10;$$&#10;a_{11} a_{22} - a_{12} a_{21} - \frac{(D_1 a_{22} + D_2 a_{11})^2}{4 D_1 D_2} \, \, &lt; \, \, 0 \, ,&#10;$$&#10;or, equivalently,&#10;$$&#10;a_{22} D_1 + a_{11} D_2 \, \, &gt; \, \, 2 \sqrt{ D_1 D_2 (a_{11} a_{22} - a_{12} a_{21}) } \, .&#10;$$&#10;We summarize these results in the following theorem.}}&#10;\end{minipage}&#10;\end{document}"/>
  <p:tag name="IGUANATEXSIZE" val="20"/>
  <p:tag name="IGUANATEXCURSOR" val="31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4,803"/>
  <p:tag name="ORIGINALWIDTH" val="4456,693"/>
  <p:tag name="LATEXADDIN" val="\documentclass{article}\pagestyle{empty}&#10;\usepackage{amsmath}&#10;\usepackage{amsfonts}&#10;\usepackage{amssymb}&#10;\begin{document}&#10;\begin{minipage}{12.6 cm}&#10;{\sffamily{&#10;{\bf{Turing Instability Theorem:}}\\[1mm]&#10;Suppose the reaction system  linearized about the equilibrium $(N_1^*, N_2^*)$ has a Jacobian matrix $J = (a_{ij})$.\\[2mm]&#10;Then the&#10;minimal requirements for the reaction-diffusion system to exhibit diffusive instabilities (Turing instabilities) are the following three conditions.&#10;\begin{itemize}&#10;\item[(i)] $a_{11} + a_{22} &lt; 0$,&#10;\item[(ii)] $a_{11} a_{22} - a_{12} a_{21} &gt; 0$, and&#10;\item[(iii)] $a_{22} D_1 + a_{11} D_2 &gt; 2 \sqrt{ D_1 D_2 (a_{11} a_{22} - a_{12} a_{21}) } $&#10;\end{itemize}&#10;}}&#10;\end{minipage}&#10;\end{document}"/>
  <p:tag name="IGUANATEXSIZE" val="20"/>
  <p:tag name="IGUANATEXCURSOR" val="32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,4673"/>
  <p:tag name="ORIGINALWIDTH" val="4446,944"/>
  <p:tag name="LATEXADDIN" val="\documentclass{article}\pagestyle{empty}&#10;\usepackage{amsmath}&#10;\usepackage{amsfonts}&#10;\usepackage{amssymb}&#10;\begin{document}&#10;\begin{minipage}{12.6 cm}&#10;{\sffamily{&#10;It is straightforward to derive some additional necessary conditions for&#10;diffusive instability from the Turing instability theorem:}}&#10;\end{minipage}&#10;\end{document}"/>
  <p:tag name="IGUANATEXSIZE" val="20"/>
  <p:tag name="IGUANATEXCURSOR" val="291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9,85"/>
  <p:tag name="ORIGINALWIDTH" val="4448,444"/>
  <p:tag name="LATEXADDIN" val="\documentclass{article}\pagestyle{empty}&#10;\usepackage{amsmath}&#10;\usepackage{amsfonts}&#10;\usepackage{amssymb}&#10;\begin{document}&#10;\begin{minipage}{12.6 cm}&#10;{\sffamily{&#10;{\bf{Corollary:}}\\[1mm]&#10;Suppose the reaction system linearized about the equilibrium $(N_1^*, N_2^*)$ has a&#10;Jacobian matrix $J = (a_{ij})$. If the reaction-diffusion system exhibits diffusive&#10;instabilities, then&#10;\begin{itemize}&#10;\item[(a)] $a_{11} a_{22} &lt; 0$,&#10;\item[(b)] $a_{12} a_{21} &lt; 0$, and&#10;\item[(c)] $D_1 \neq D_2$.&#10;\end{itemize}&#10;}}&#10;\end{minipage}&#10;\end{document}"/>
  <p:tag name="IGUANATEXSIZE" val="20"/>
  <p:tag name="IGUANATEXCURSOR" val="16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5,332"/>
  <p:tag name="ORIGINALWIDTH" val="4455,943"/>
  <p:tag name="LATEXADDIN" val="\documentclass{article}\pagestyle{empty}&#10;\usepackage{amsmath}&#10;\usepackage{amsfonts}&#10;\usepackage{amssymb}&#10;\begin{document}&#10;\begin{minipage}{12.6 cm}&#10;{\sffamily{&#10;{\bf{Proof:}}\\[1mm]&#10;Condition (a) follows from the conditions (i) and (iii) in the Turing instability theorem: $a_{11} + a_{22} &lt; 0$ and $a_{11} D_2 + a_{22} D_1 &gt; 0$.\\[2mm]&#10;Condition (b) follows from condition (ii) in the theorem together with condition (a): $a_{11} a_{22} - a_{12} a_{21} &gt; 0$.\\[2mm]&#10;Suppose $D_1 = D_2 = D$. From condition (iii) in the theorem, it then follows that $a_{1l} D_2 + a_{22} D_1 = (a_{11} + a_{22}) D &gt; 0$.&#10;But this contradicts condition (i).\\[1mm]&#10;{\phantom{u}} \hfill $\square$&#10;}}&#10;\end{minipage}&#10;\end{document}"/>
  <p:tag name="IGUANATEXSIZE" val="20"/>
  <p:tag name="IGUANATEXCURSOR" val="65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55,568"/>
  <p:tag name="ORIGINALWIDTH" val="3397,076"/>
  <p:tag name="LATEXADDIN" val="\documentclass{article}\pagestyle{empty}&#10;\usepackage{amsmath}&#10;\usepackage{amsfonts}&#10;\usepackage{amssymb}&#10;\begin{document}&#10;\begin{minipage}{9.6 cm}&#10;{\sffamily{&#10;It follows from the corollary that the signed matrix $Q = \textrm{sign}(J)$ corresponding to the&#10;Jacobian matrix $J$ must have a particular form.\\[2mm]&#10;For diffusive instabilities to occur, the signs of matrix $Q$ must have one of the forms shown on the left-hand side.\\[2mm]&#10;Reaction-diffusion systems whose matrices $J$ have signs as in the top row are referred&#10;to {\bf{activator-inhibitor systems}} whereas matrices as in the botom row are referred to as&#10;{\bf{positive feedback systems}}, see exercises.}}&#10;\end{minipage}&#10;\end{document}"/>
  <p:tag name="IGUANATEXSIZE" val="20"/>
  <p:tag name="IGUANATEXCURSOR" val="667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,2126"/>
  <p:tag name="ORIGINALWIDTH" val="1172,854"/>
  <p:tag name="LATEXADDIN" val="\documentclass{article}\pagestyle{empty}&#10;\usepackage{amsmath}&#10;\usepackage{amsfonts}&#10;\usepackage{amssymb}&#10;\begin{document}&#10;\begin{minipage}{9.6 cm}&#10;{\sffamily{&#10;$$&#10;\begin{pmatrix} + &amp; - \\ + &amp; - \end{pmatrix} \, , \quad \begin{pmatrix} - &amp; + \\ - &amp; + \end{pmatrix}&#10;$$&#10;}}&#10;\end{minipage}&#10;\end{document}"/>
  <p:tag name="IGUANATEXSIZE" val="20"/>
  <p:tag name="IGUANATEXCURSOR" val="203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,2126"/>
  <p:tag name="ORIGINALWIDTH" val="1172,854"/>
  <p:tag name="LATEXADDIN" val="\documentclass{article}\pagestyle{empty}&#10;\usepackage{amsmath}&#10;\usepackage{amsfonts}&#10;\usepackage{amssymb}&#10;\begin{document}&#10;\begin{minipage}{9.6 cm}&#10;{\sffamily{&#10;$$&#10;\begin{pmatrix} + &amp; + \\ - &amp; - \end{pmatrix} \, , \quad \begin{pmatrix} - &amp; - \\ + &amp; + \end{pmatrix}&#10;$$&#10;}}&#10;\end{minipage}&#10;\end{document}"/>
  <p:tag name="IGUANATEXSIZE" val="20"/>
  <p:tag name="IGUANATEXCURSOR" val="24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37,233"/>
  <p:tag name="ORIGINALWIDTH" val="4458,943"/>
  <p:tag name="LATEXADDIN" val="\documentclass{article}\pagestyle{empty}&#10;\usepackage{amsmath}&#10;\usepackage{amsfonts}&#10;\usepackage{amssymb}&#10;\begin{document}&#10;\begin{minipage}{12.6 cm}&#10;{\sffamily{&#10;{\bf{Example:}}\\[1mm]&#10;Suppose in the eigenvalue problem\\[-2mm]&#10;$$&#10;w''_n(x) + k^2 w(x) \, \, = \, \, 0 \, , \qquad \text{for $x \in (0, L)$} \, ,&#10;$$&#10;the BCs are zero flux BCs: $\partial_x N_i(t,0) = 0$ $\partial_x N_i(t,L) = 0$. Then the solution to this eigenvalue problem&#10;has eigenvalues $k_n^2 = (n \pi/L)^2$, $n = 0, 1, 2, \dots$ and eigenfunctions of the form $w_i(x) = \cos(k_n x)$,&#10;$n = 0, 1, 2, \dots$.\\[2mm]&#10;Hence, the solution to the linear system \\[-2mm]&#10;$$&#10;\tfrac{\partial}{\partial t} v_1 \, \, = \, \, a_{11} v_1 + a_{12} v_2 + D_1 \tfrac{\partial^2}{\partial x^2} v_1 \quad \text{and} \quad&#10;\tfrac{\partial}{\partial t} v_2 \, \, = \, \, a_{21} v_1 + a_{22} v_2 + D_2 \tfrac{\partial^2}{\partial x^2} v_2&#10;$$&#10;has, with $\sigma = \sigma(k^2_n)$ and $k_n = n \pi/ L$, the form\\[-2mm]&#10;$$&#10;v_i(t, x) \, \, = \, \, \sum^{\infty}_{n=0} A_n {\rm{e}}^{\sigma t} \cos(k_n x) \, \, \approx \, \, N_i(t,x) - N_i^* \, .&#10;\qquad \text{for $i = 1,2$} \, ,&#10;$$&#10;}}&#10;\end{minipage}&#10;\end{document}"/>
  <p:tag name="IGUANATEXSIZE" val="20"/>
  <p:tag name="IGUANATEXCURSOR" val="95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09,974"/>
  <p:tag name="ORIGINALWIDTH" val="3395,576"/>
  <p:tag name="LATEXADDIN" val="\documentclass{article}\pagestyle{empty}&#10;\usepackage{amsmath}&#10;\usepackage{amsfonts}&#10;\usepackage{amssymb}&#10;\begin{document}&#10;\begin{minipage}{9.6 cm}&#10;{\sffamily{&#10;If for some mode $n$, $B(k^2_n) &lt; 0$, then $\sigma(k^2_n)$ will be positive or have positive real part.\\[2mm]&#10;Then solutions will be amplified at this particular wave number. Patterns&#10;will appear with a period approximately $2\pi/k_n$.\\[2mm]&#10;The solution $N_i(t,x)$ is above or below the equilibrium value $N_i^*$ if the components of the eigenfunction $w$ are&#10;positive or negative, respectively.\\[2mm]&#10;Patterns where $\cos(n \pi x/L) &gt; 0$ are different from those where $\cos(n \pi x/L) &lt; 0$.\\[2mm] Patterns generated from&#10;solutions where diffusive instability occurs at modes $n = 2$ and $n = 4$ are graphed in the figure for $L = 1$. For example,&#10;when $\cos(n \pi x) &gt; 0$, the pattern is dark, and when $\cos(n \pi x) &lt; 0$, the pattern is light.}}&#10;\end{minipage}&#10;\end{document}"/>
  <p:tag name="IGUANATEXSIZE" val="20"/>
  <p:tag name="IGUANATEXCURSOR" val="871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00,488"/>
  <p:tag name="ORIGINALWIDTH" val="4449,944"/>
  <p:tag name="LATEXADDIN" val="\documentclass{article}\pagestyle{empty}&#10;\usepackage{amsmath}&#10;\usepackage{amsfonts}&#10;\usepackage{amssymb}&#10;\begin{document}&#10;\begin{minipage}{12.6 cm}&#10;{\sffamily{&#10;{\bf{Example:}}\\[1mm]&#10;Consider a system with two species or chemicals in a rectangular spatial domain, $[0, L_x] \times [0, L_y]$. Suppose the &#10;reaction-diffusion system satisfies&#10;$$&#10;\tfrac{\partial}{\partial t} N_1 \, \, = \, \, f(N_1, N_2) + D_1 \Delta N_1 \qquad \text{and} \qquad&#10;\tfrac{\partial}{\partial t} N_2 \, \, = \, \, g(N_1, N_2) + D_2 \Delta N_2 &#10;$$&#10;where $N_i = N_i(t,x,y)$, $i = 1,2$, with zero flux BCs:&#10;$$&#10;\partial_x N_i(t,0) \, \, = \, \, \partial_x N_i(t,L_x) \, \, = \, \, \partial_y N_i(t,0) \, \, = \, \, \partial_y N_i(t,L_y) \, \, = \, \, 0 \,  .&#10;$$&#10;The eigenvalue problem has the following form:&#10;$$&#10;\Delta W + k^2 W \, \, = \, \, 0&#10;$$&#10;with zero flux BCs: $\partial_x W_i(t,0) = \partial_x W_i(t,L_x) = \partial_y W_i(t,0) = \partial_y W_i(t,L_y) = 0$.&#10;}}&#10;\end{minipage}&#10;\end{document}"/>
  <p:tag name="IGUANATEXSIZE" val="20"/>
  <p:tag name="IGUANATEXCURSOR" val="822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7,567"/>
  <p:tag name="ORIGINALWIDTH" val="4451,444"/>
  <p:tag name="LATEXADDIN" val="\documentclass{article}\pagestyle{empty}&#10;\usepackage{amsmath}&#10;\usepackage{amsfonts}&#10;\usepackage{amssymb}&#10;\begin{document}&#10;\begin{minipage}{12.6 cm}&#10;{\sffamily{&#10;For this rectangular domain the eigenvalues and eigenfunctions can be found&#10;explicitly:&#10;\begin{itemize}&#10;\item The eigenfunctions are\\[-2mm]&#10;      $$&#10;      W \, \, = \, \, (c_1, c_2)^T \cos(q_{1n} x) \cos(q_{2m} y) \, ,&#10;      $$&#10;      where $q_{1n} = n \pi/L_x$ and $q_{2m} = m\pi/L_y$, $m, n = 0, 1, 2, \dots$.&#10;\item The eigenvalues are $k^2_{nm} = k^2_{1n} + k^2_{2m}$, $m, n = 0, 1, 2, \dots$.&#10;\end{itemize}&#10;When there are diffusive instabilities, the double cosine series generates a checkerboard pattern, $\cos(q_{1n}x)\cos(q_{2m}y) &gt; 0$,&#10;versus $\cos(q_{1n}x)\cos(q_{2m}y) &lt; 0$.}}&#10;\end{minipage}&#10;\end{document}"/>
  <p:tag name="IGUANATEXSIZE" val="20"/>
  <p:tag name="IGUANATEXCURSOR" val="74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3,315"/>
  <p:tag name="ORIGINALWIDTH" val="4068,992"/>
  <p:tag name="LATEXADDIN" val="\documentclass{article}&#10;\usepackage{amsmath}&#10;\usepackage{amssymb}&#10;\pagestyle{empty}&#10;\begin{document}&#10;\begin{minipage}{11.5 cm}&#10;{\sffamily{&#10;Concentric waves can be explained by assuming the existence of a pacemaker generating periodic pulses of cAMP in the midst of a filed of excitable cells, see, e.g.&#10;\begin{itemize}&#10;\item J.L. Martiel \&amp; A. Goldbeter (1978): A model based on receptor desensitization for cyclic AMP signalling in Dictyostelium cells, Biophysical Journal, 52, p. 802-828.&#10;\item A. Goldbeter (1996): Biochemical Oscilations and Cellular Rhythms - The Molecular Bases of Periodic and Chaotic Behavior, Cambridge University Press.&#10;\end{itemize}&#10;}}&#10;\end{minipage}&#10;\end{document}"/>
  <p:tag name="IGUANATEXSIZE" val="20"/>
  <p:tag name="IGUANATEXCURSOR" val="122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6,854"/>
  <p:tag name="ORIGINALWIDTH" val="4062,992"/>
  <p:tag name="LATEXADDIN" val="\documentclass{article}&#10;\usepackage{amsmath}&#10;\usepackage{amssymb}&#10;\pagestyle{empty}&#10;\begin{document}&#10;\begin{minipage}{11.5 cm}&#10;{\sffamily{&#10;The occurence of more complicated waves (temporal patters) can be explained by a pysiological mechanism that takes the following three components into account (cf. our description of cAMP-Phosphodiesterase regulated chemotaxis):&#10;\begin{itemize}&#10;\item the total fraction of active cAMP receptors $\rho$,&#10;\item the normalized concentration of intracellular cAMP $\beta$, and&#10;\item the normalized concentration of extracellular cAMP $\gamma$.&#10;\end{itemize}&#10;}}&#10;\end{minipage}&#10;\end{document}"/>
  <p:tag name="IGUANATEXSIZE" val="20"/>
  <p:tag name="IGUANATEXCURSOR" val="55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53,243"/>
  <p:tag name="ORIGINALWIDTH" val="3178,103"/>
  <p:tag name="LATEXADDIN" val="\documentclass{article}&#10;\usepackage{amsmath}&#10;\usepackage{amssymb}&#10;\usepackage{mhchem}&#10;\pagestyle{empty}&#10;\begin{document}&#10;\begin{minipage}{9 cm}&#10;{\sffamily{&#10;Receptor transitions from active $\ce{R}$ ($\ce{cAMP}$-producing) to desensitized state $\ce{D}$:&#10;$$&#10;\ce{ R &lt;=&gt;[\ce{k_1}][\ce{k_{-1}}] D}&#10;$$&#10;Binding of extracellular $\ce{cAMP}$ ($\ce{P}$) to active receptors:&#10;$$&#10;\ce{ R + P &lt;=&gt;[\ce{a_1}][\ce{d_1}] RP}&#10;$$&#10;Binding of extracellular $\ce{cAMP}$ ($\ce{P}$) to desensitized receptors:&#10;$$&#10;\ce{ D + P &lt;=&gt;[\ce{a_2}][\ce{d_2}] DP}&#10;$$&#10;[\dots]&#10;}}&#10;\end{minipage}&#10;\end{document}"/>
  <p:tag name="IGUANATEXSIZE" val="20"/>
  <p:tag name="IGUANATEXCURSOR" val="53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2,107"/>
  <p:tag name="ORIGINALWIDTH" val="3176,603"/>
  <p:tag name="LATEXADDIN" val="\documentclass{article}&#10;\usepackage{amsmath}&#10;\usepackage{amssymb}&#10;\usepackage{mhchem}&#10;\pagestyle{empty}&#10;\begin{document}&#10;\begin{minipage}{9 cm}&#10;{\sffamily{&#10;Resceptor transitions in the bound state:&#10;$$&#10;\ce{ RP &lt;=&gt;[\ce{k_2}][\ce{k_{-2}}] DP}&#10;$$&#10;We assume that the total number of receptors is conserved (i.e. stays unchanged)\\[2mm]&#10;[\dots]&#10;}}&#10;\end{minipage}&#10;\end{document}"/>
  <p:tag name="IGUANATEXSIZE" val="20"/>
  <p:tag name="IGUANATEXCURSOR" val="312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4,016"/>
  <p:tag name="ORIGINALWIDTH" val="3181,853"/>
  <p:tag name="LATEXADDIN" val="\documentclass{article}&#10;\usepackage{amsmath}&#10;\usepackage{amssymb}&#10;\usepackage{mhchem}&#10;\pagestyle{empty}&#10;\begin{document}&#10;\begin{minipage}{9 cm}&#10;{\sffamily{&#10;Assumtion that two active complexes $\ce{RP}$ bind to the inactive state $\ce{C}$ enzyme adenylate cayclase and activiate it to state $\ce{C}$ (sponatenous deactiviation without the complex $\ce{RP}$):&#10;$$&#10;\ce{ 2 RP + C &lt;=&gt;[\ce{a_3}][\ce{d_3}] E}&#10;$$&#10;Activated adenylate cayclase binding with the substrate $\ce{ATP}$ ($\ce{S}$) to produce intracellular $\ce{cAMP}$ ($\ce{P_i}$):&#10;$$&#10;\ce{ E + S &lt;=&gt;[\ce{a_4}][\ce{d_4}] ES -&gt;[\ce{k_4}] E + P_i }&#10;$$&#10;[\dots]&#10;}}&#10;\end{minipage}&#10;\end{document}"/>
  <p:tag name="IGUANATEXSIZE" val="20"/>
  <p:tag name="IGUANATEXCURSOR" val="60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0,84"/>
  <p:tag name="ORIGINALWIDTH" val="3183,352"/>
  <p:tag name="LATEXADDIN" val="\documentclass{article}&#10;\usepackage{amsmath}&#10;\usepackage{amssymb}&#10;\usepackage{mhchem}&#10;\pagestyle{empty}&#10;\begin{document}&#10;\begin{minipage}{9 cm}&#10;{\sffamily{&#10;To a lesser extend inactivated adenylate cayclase binds with the substrate to produce intracellular $\ce{cAMP}$:&#10;$$&#10;\ce{ C + S &lt;=&gt;[\ce{a_5}][\ce{d_5}] CS -&gt;[\ce{k_5}] C + P_i }&#10;$$&#10;We assume that the total amount of the enzyme adenylate cyclase is conserved (i.e. stays unchanged)\\[2mm]&#10;[\dots]&#10;}}&#10;\end{minipage}&#10;\end{document}"/>
  <p:tag name="IGUANATEXSIZE" val="20"/>
  <p:tag name="IGUANATEXCURSOR" val="424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,776"/>
  <p:tag name="ORIGINALWIDTH" val="3179,603"/>
  <p:tag name="LATEXADDIN" val="\documentclass{article}&#10;\usepackage{amsmath}&#10;\usepackage{amssymb}&#10;\usepackage{mhchem}&#10;\pagestyle{empty}&#10;\begin{document}&#10;\begin{minipage}{9&#10; cm}&#10;{\sffamily{&#10;Decay of intracellular $\ce{cAMP}$ (via intracellular phosphodiestrase):&#10;$$&#10;\ce{ P_i -&gt;[\ce{k_i}] }&#10;$$&#10;Transport of intracellular $\ce{cAMP}$ into the extracellular medium and decay&#10;of extracellular $\ce{cAMP}$ (via extracellular phosphodiestrase):&#10;$$&#10;\ce{ P_i -&gt;[\ce{k_t}] P -&gt;[\ce{k_e}] }&#10;$$&#10;Besides these reactions the substrate $\ce{ATP}$ is produced at a constant rate and used in other intracellular reactions as well:&#10;$$&#10;\ce{ -&gt;[\ce{\nu_i}] S -&gt;[\ce{k_'}] }&#10;$$}}&#10;\end{minipage}&#10;\end{document}"/>
  <p:tag name="IGUANATEXSIZE" val="20"/>
  <p:tag name="IGUANATEXCURSOR" val="624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4,905"/>
  <p:tag name="ORIGINALWIDTH" val="2665,167"/>
  <p:tag name="LATEXADDIN" val="\documentclass{article}&#10;\usepackage{amsmath}&#10;\usepackage{amssymb}&#10;\pagestyle{empty}&#10;\begin{document}&#10;\begin{minipage}{8 cm}&#10;{\sffamily{&#10;{\bf{ODE-system of governing equations:}}&#10;\begin{eqnarray*}&#10;\rho_t   &amp; = &amp; k_1 (-\rho + L_1 \delta) + d_1 (-\rho \gamma + x)    \\[1mm]&#10;\delta_t &amp; = &amp; k_1 (\rho - L_1 \delta) + d_2 (-\delta c \gamma + y) \\[1mm]&#10;x_t &amp; = &amp; k_2 (-x + L_2 y) + d_1 (\rho \gamma - x)\\&#10;&amp; &amp; + (2 \mu/ h) d_3 (-\varepsilon x^2 \overline{c} + \overline{e}) \\[1mm]&#10;\overline{c}_t &amp; = &amp; d_3 (-\varepsilon x^2 \overline{c} + \overline{e})&#10;+ (d_5 + k_5)(-\overline{c} \alpha \theta + \overline{cs}) \\[1mm]&#10;\overline{e}_t &amp; = &amp; d_3 (\varepsilon x^2 \overline{c} - \overline{e})&#10;+ (d_4 + k_4)(-\overline{e} \alpha + \overline{es})\\[2mm]&#10;\overline{es}_t &amp; = &amp; (d_4 + k_4)(\overline{e} \alpha - \overline{es})\\[1mm]&#10;\alpha_t &amp; = &amp; v - k' \alpha - \sigma(\overline{es} + \lambda \overline{cs})&#10;+ \theta_E \left[(d_4+k_4)\cdot \right.\\&#10;&amp; &amp; \left. \cdot (-\overline{e} \alpha + \overline{es})&#10;+ (d_5 + k_5)(-\overline{c} \alpha \theta + \overline{cs}) \right]\\[1mm]&#10;\beta_t &amp; = &amp; q \sigma (\overline{es} + \lambda \overline{cs}) - (k_i + k_t) \beta\\[1mm]&#10;\gamma_t &amp; = &amp; (k_t \beta/ h) - k_e \gamma + \eta\left[ d_1 (-\rho \gamma + x) \right.\\&#10;&amp; &amp; \left. + d_2(-\delta c \gamma + y) \right]&#10;\end{eqnarray*}&#10;}}&#10;\end{minipage}&#10;\end{document}"/>
  <p:tag name="IGUANATEXSIZE" val="20"/>
  <p:tag name="IGUANATEXCURSOR" val="115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96,401"/>
  <p:tag name="ORIGINALWIDTH" val="1607,799"/>
  <p:tag name="LATEXADDIN" val="\documentclass{article}&#10;\usepackage{amsmath}&#10;\usepackage{amssymb}&#10;\usepackage{mhchem}&#10;\pagestyle{empty}&#10;\begin{document}&#10;\begin{minipage}{5cm}&#10;{\sffamily{&#10;{\bf{Bio-chemical reactions:}}&#10;$$&#10;\begin{array}{c}&#10;\ce{ R &lt;=&gt;[\ce{k_1}][\ce{k_{-1}}] D}   \\[2mm]&#10;\ce{ R + P &lt;=&gt;[\ce{a_1}][\ce{d_1}] RP} \\[2mm]&#10;\ce{ D + P &lt;=&gt;[\ce{a_2}][\ce{d_2}] DP} \\[2mm]&#10;\ce{ RP &lt;=&gt;[\ce{k_2}][\ce{k_{-2}}] DP} \\[2mm]&#10;\ce{ 2 RP + C &lt;=&gt;[\ce{a_3}][\ce{d_3}] E} \\[2mm]&#10;\ce{ E + S &lt;=&gt;[\ce{a_4}][\ce{d_4}] ES -&gt;[\ce{k_4}] E + P_i } \\[2mm]&#10;\ce{ C + S &lt;=&gt;[\ce{a_5}][\ce{d_5}] CS -&gt;[\ce{k_5}] C + P_i } \\[2mm]&#10;\ce{ P_i -&gt;[\ce{k_i}] } \\[2mm]&#10;\ce{ P_i -&gt;[\ce{k_t}] P -&gt;[\ce{k_e}] } \\[2mm]&#10;\ce{ -&gt;[\ce{\nu_i}] S -&gt;[\ce{k_'}] }&#10;\end{array}&#10;$$&#10;}}&#10;\end{minipage}&#10;\end{document}"/>
  <p:tag name="IGUANATEXSIZE" val="20"/>
  <p:tag name="IGUANATEXCURSOR" val="68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4,905"/>
  <p:tag name="ORIGINALWIDTH" val="2665,167"/>
  <p:tag name="LATEXADDIN" val="\documentclass{article}&#10;\usepackage{amsmath}&#10;\usepackage{amssymb}&#10;\pagestyle{empty}&#10;\begin{document}&#10;\begin{minipage}{8 cm}&#10;{\sffamily{&#10;{\bf{ODE-system of governing equations:}}&#10;\begin{eqnarray*}&#10;\rho_t   &amp; = &amp; k_1 (-\rho + L_1 \delta) + d_1 (-\rho \gamma + x)    \\[1mm]&#10;\delta_t &amp; = &amp; k_1 (\rho - L_1 \delta) + d_2 (-\delta c \gamma + y) \\[1mm]&#10;x_t &amp; = &amp; k_2 (-x + L_2 y) + d_1 (\rho \gamma - x)\\&#10;&amp; &amp; + (2 \mu/ h) d_3 (-\varepsilon x^2 \overline{c} + \overline{e}) \\[1mm]&#10;\overline{c}_t &amp; = &amp; d_3 (-\varepsilon x^2 \overline{c} + \overline{e})&#10;+ (d_5 + k_5)(-\overline{c} \alpha \theta + \overline{cs}) \\[1mm]&#10;\overline{e}_t &amp; = &amp; d_3 (\varepsilon x^2 \overline{c} - \overline{e})&#10;+ (d_4 + k_4)(-\overline{e} \alpha + \overline{es})\\[2mm]&#10;\overline{es}_t &amp; = &amp; (d_4 + k_4)(\overline{e} \alpha - \overline{es})\\[1mm]&#10;\alpha_t &amp; = &amp; v - k' \alpha - \sigma(\overline{es} + \lambda \overline{cs})&#10;+ \theta_E \left[(d_4+k_4)\cdot \right.\\&#10;&amp; &amp; \left. \cdot (-\overline{e} \alpha + \overline{es})&#10;+ (d_5 + k_5)(-\overline{c} \alpha \theta + \overline{cs}) \right]\\[1mm]&#10;\beta_t &amp; = &amp; q \sigma (\overline{es} + \lambda \overline{cs}) - (k_i + k_t) \beta\\[1mm]&#10;\gamma_t &amp; = &amp; (k_t \beta/ h) - k_e \gamma + \eta\left[ d_1 (-\rho \gamma + x) \right.\\&#10;&amp; &amp; \left. + d_2(-\delta c \gamma + y) \right]&#10;\end{eqnarray*}&#10;}}&#10;\end{minipage}&#10;\end{document}"/>
  <p:tag name="IGUANATEXSIZE" val="20"/>
  <p:tag name="IGUANATEXCURSOR" val="115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96,401"/>
  <p:tag name="ORIGINALWIDTH" val="1607,799"/>
  <p:tag name="LATEXADDIN" val="\documentclass{article}&#10;\usepackage{amsmath}&#10;\usepackage{amssymb}&#10;\usepackage{mhchem}&#10;\pagestyle{empty}&#10;\begin{document}&#10;\begin{minipage}{5cm}&#10;{\sffamily{&#10;{\bf{Bio-chemical reactions:}}&#10;$$&#10;\begin{array}{c}&#10;\ce{ R &lt;=&gt;[\ce{k_1}][\ce{k_{-1}}] D}   \\[2mm]&#10;\ce{ R + P &lt;=&gt;[\ce{a_1}][\ce{d_1}] RP} \\[2mm]&#10;\ce{ D + P &lt;=&gt;[\ce{a_2}][\ce{d_2}] DP} \\[2mm]&#10;\ce{ RP &lt;=&gt;[\ce{k_2}][\ce{k_{-2}}] DP} \\[2mm]&#10;\ce{ 2 RP + C &lt;=&gt;[\ce{a_3}][\ce{d_3}] E} \\[2mm]&#10;\ce{ E + S &lt;=&gt;[\ce{a_4}][\ce{d_4}] ES -&gt;[\ce{k_4}] E + P_i } \\[2mm]&#10;\ce{ C + S &lt;=&gt;[\ce{a_5}][\ce{d_5}] CS -&gt;[\ce{k_5}] C + P_i } \\[2mm]&#10;\ce{ P_i -&gt;[\ce{k_i}] } \\[2mm]&#10;\ce{ P_i -&gt;[\ce{k_t}] P -&gt;[\ce{k_e}] } \\[2mm]&#10;\ce{ -&gt;[\ce{\nu_i}] S -&gt;[\ce{k_'}] }&#10;\end{array}&#10;$$&#10;}}&#10;\end{minipage}&#10;\end{document}"/>
  <p:tag name="IGUANATEXSIZE" val="20"/>
  <p:tag name="IGUANATEXCURSOR" val="68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4,905"/>
  <p:tag name="ORIGINALWIDTH" val="2665,167"/>
  <p:tag name="LATEXADDIN" val="\documentclass{article}&#10;\usepackage{amsmath}&#10;\usepackage{amssymb}&#10;\pagestyle{empty}&#10;\begin{document}&#10;\begin{minipage}{8 cm}&#10;{\sffamily{&#10;{\bf{ODE-system of governing equations:}}&#10;\begin{eqnarray*}&#10;\rho_t   &amp; = &amp; k_1 (-\rho + L_1 \delta) + d_1 (-\rho \gamma + x)    \\[1mm]&#10;\delta_t &amp; = &amp; k_1 (\rho - L_1 \delta) + d_2 (-\delta c \gamma + y) \\[1mm]&#10;x_t &amp; = &amp; k_2 (-x + L_2 y) + d_1 (\rho \gamma - x)\\&#10;&amp; &amp; + (2 \mu/ h) d_3 (-\varepsilon x^2 \overline{c} + \overline{e}) \\[1mm]&#10;\overline{c}_t &amp; = &amp; d_3 (-\varepsilon x^2 \overline{c} + \overline{e})&#10;+ (d_5 + k_5)(-\overline{c} \alpha \theta + \overline{cs}) \\[1mm]&#10;\overline{e}_t &amp; = &amp; d_3 (\varepsilon x^2 \overline{c} - \overline{e})&#10;+ (d_4 + k_4)(-\overline{e} \alpha + \overline{es})\\[2mm]&#10;\overline{es}_t &amp; = &amp; (d_4 + k_4)(\overline{e} \alpha - \overline{es})\\[1mm]&#10;\alpha_t &amp; = &amp; v - k' \alpha - \sigma(\overline{es} + \lambda \overline{cs})&#10;+ \theta_E \left[(d_4+k_4)\cdot \right.\\&#10;&amp; &amp; \left. \cdot (-\overline{e} \alpha + \overline{es})&#10;+ (d_5 + k_5)(-\overline{c} \alpha \theta + \overline{cs}) \right]\\[1mm]&#10;\beta_t &amp; = &amp; q \sigma (\overline{es} + \lambda \overline{cs}) - (k_i + k_t) \beta\\[1mm]&#10;\gamma_t &amp; = &amp; (k_t \beta/ h) - k_e \gamma + \eta\left[ d_1 (-\rho \gamma + x) \right.\\&#10;&amp; &amp; \left. + d_2(-\delta c \gamma + y) \right]&#10;\end{eqnarray*}&#10;}}&#10;\end{minipage}&#10;\end{document}"/>
  <p:tag name="IGUANATEXSIZE" val="20"/>
  <p:tag name="IGUANATEXCURSOR" val="115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4,132"/>
  <p:tag name="ORIGINALWIDTH" val="1775,028"/>
  <p:tag name="LATEXADDIN" val="\documentclass{article}&#10;\usepackage{amsmath}&#10;\usepackage{amssymb}&#10;\pagestyle{empty}&#10;\begin{document}&#10;\begin{minipage}{5 cm}&#10;{\sffamily{&#10;Variables and parameters:&#10;\begin{itemize}&#10;\item (normalized) total fraction of active cAMP receptors $\rho$&#10;\item normalized concentration of intracellular cAMP $\beta$&#10;\item normalized concentration of extracellular cAMP $\gamma$&#10;\item constants for the recepor-cAMP binding and unbinding: $k_1$, $k_2$, $c$, $L_1$, $L_2$&#10;\item growth/ decline constants for intracellular cAMP: $q$, $\sigma$, $k_i$, $k_t$, $\alpha$, $\lambda$, $\theta$, $\varepsilon$&#10;\item growth/ decline constants for extracellular cAMP: $h$, $k_e$&#10;\end{itemize}&#10;}}&#10;\end{minipage}&#10;\end{document}"/>
  <p:tag name="IGUANATEXSIZE" val="20"/>
  <p:tag name="IGUANATEXCURSOR" val="655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6,266"/>
  <p:tag name="ORIGINALWIDTH" val="2943,382"/>
  <p:tag name="LATEXADDIN" val="\documentclass{article}&#10;\usepackage{amsmath}&#10;\usepackage{amssymb}&#10;\pagestyle{empty}&#10;\begin{document}&#10;\begin{minipage}{8.7 cm}&#10;{\sffamily{&#10;{\bf{Model for cAMP Dynamics}} (Martiel \&amp; Goldbeter):&#10;\begin{eqnarray*}&#10;\rho_t &amp; = &amp; -f_1(\gamma) \rho \, + \, f_2(\gamma) (1-\rho)\\[7mm]&#10;\beta_t &amp; = &amp; q \sigma \Phi(\rho,\gamma) \, - \, (k_i+k_t) \beta\\[7mm]&#10;\gamma_t &amp; = &amp; \tfrac{k_t}{h} \beta \, - \, k_{e} \gamma\\[5mm]&#10;\end{eqnarray*}&#10;where&#10;}}&#10;\end{minipage}&#10;\end{document}"/>
  <p:tag name="IGUANATEXSIZE" val="20"/>
  <p:tag name="IGUANATEXCURSOR" val="436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9,4564"/>
  <p:tag name="ORIGINALWIDTH" val="4476,941"/>
  <p:tag name="LATEXADDIN" val="\documentclass{article}&#10;\usepackage{amsmath}&#10;\usepackage{amssymb}&#10;\pagestyle{empty}&#10;\begin{document}&#10;\begin{minipage}{8.7 cm}&#10;{\sffamily{&#10;$$&#10;f_1(\gamma) \, = \, \frac{k_1 + k_2 \gamma}{1 + \gamma} \, , \quad&#10;f_2(\gamma) \, = \, \frac{k_1 L_1 + k_2 L_2 c \gamma}{1 + c \gamma} \, , \quad&#10;\Phi(\rho,\gamma) \, = \, \frac{\alpha \theta \lambda + \varepsilon \frac{\rho \gamma}{1 + \gamma} }{1 + \alpha \theta + (1+\alpha) \varepsilon \frac{\rho \gamma}{1 + \gamma} }&#10;$$&#10;}}&#10;\end{minipage}&#10;\end{document}"/>
  <p:tag name="IGUANATEXSIZE" val="20"/>
  <p:tag name="IGUANATEXCURSOR" val="286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2,4185"/>
  <p:tag name="ORIGINALWIDTH" val="1745,032"/>
  <p:tag name="LATEXADDIN" val="\documentclass{article}&#10;\usepackage{amsmath}&#10;\usepackage{amssymb}&#10;\pagestyle{empty}&#10;\begin{document}&#10;\begin{minipage}{8.7 cm}&#10;{\sffamily{&#10;\begin{eqnarray*}&#10;\rho_t &amp; = &amp; -f_1(\gamma) \rho \, + \, f_2(\gamma) (1-\rho)\\[2mm]&#10;\beta_t &amp; = &amp; q \sigma \Phi(\rho,\gamma) \, - \, (k_i+k_t) \beta\\[2mm]&#10;\gamma_t &amp; = &amp; \tfrac{k_t}{h} \beta \, - \, k_{e} \gamma&#10;\end{eqnarray*}&#10;}}&#10;\end{minipage}&#10;\end{document}"/>
  <p:tag name="IGUANATEXSIZE" val="20"/>
  <p:tag name="IGUANATEXCURSOR" val="13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2,4185"/>
  <p:tag name="ORIGINALWIDTH" val="1745,032"/>
  <p:tag name="LATEXADDIN" val="\documentclass{article}&#10;\usepackage{amsmath}&#10;\usepackage{amssymb}&#10;\pagestyle{empty}&#10;\begin{document}&#10;\begin{minipage}{8.7 cm}&#10;{\sffamily{&#10;\begin{eqnarray*}&#10;\rho_t &amp; = &amp; -f_1(\gamma) \rho \, + \, f_2(\gamma) (1-\rho)\\[2mm]&#10;\beta_t &amp; = &amp; q \sigma \Phi(\rho,\gamma) \, - \, (k_i+k_t) \beta\\[2mm]&#10;\gamma_t &amp; = &amp; \tfrac{k_t}{h} \beta \, - \, k_{e} \gamma&#10;\end{eqnarray*}&#10;}}&#10;\end{minipage}&#10;\end{document}"/>
  <p:tag name="IGUANATEXSIZE" val="20"/>
  <p:tag name="IGUANATEXCURSOR" val="13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6,266"/>
  <p:tag name="ORIGINALWIDTH" val="2943,382"/>
  <p:tag name="LATEXADDIN" val="\documentclass{article}&#10;\usepackage{amsmath}&#10;\usepackage{amssymb}&#10;\pagestyle{empty}&#10;\begin{document}&#10;\begin{minipage}{8.7 cm}&#10;{\sffamily{&#10;{\bf{Model for cAMP Dynamics}} (Martiel \&amp; Goldbeter):&#10;\begin{eqnarray*}&#10;\rho_t &amp; = &amp; -f_1(\gamma) \rho \, + \, f_2(\gamma) (1-\rho)\\[7mm]&#10;\beta_t &amp; = &amp; q \sigma \Phi(\rho,\gamma) \, - \, (k_i+k_t) \beta\\[7mm]&#10;\gamma_t &amp; = &amp; \tfrac{k_t}{h} \beta \, - \, k_{e} \gamma \, + \, d \Delta \gamma\\[5mm]&#10;\end{eqnarray*}&#10;where&#10;}}&#10;\end{minipage}&#10;\end{document}"/>
  <p:tag name="IGUANATEXSIZE" val="20"/>
  <p:tag name="IGUANATEXCURSOR" val="43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4,132"/>
  <p:tag name="ORIGINALWIDTH" val="1775,028"/>
  <p:tag name="LATEXADDIN" val="\documentclass{article}&#10;\usepackage{amsmath}&#10;\usepackage{amssymb}&#10;\pagestyle{empty}&#10;\begin{document}&#10;\begin{minipage}{5 cm}&#10;{\sffamily{&#10;Variables and parameters:&#10;\begin{itemize}&#10;\item (normalized) total fraction of active cAMP receptors $\rho$&#10;\item normalized concentration of intracellular cAMP $\beta$&#10;\item normalized concentration of extracellular cAMP $\gamma$&#10;\item constants for the recepor-cAMP binding and unbinding: $k_1$, $k_2$, $c$, $L_1$, $L_2$&#10;\item growth/ decline constants for intracellular cAMP: $q$, $\sigma$, $k_i$, $k_t$, $\alpha$, $\lambda$, $\theta$, $\varepsilon$&#10;\item growth/ decline constants for extracellular cAMP: $h$, $k_e$, $d$&#10;\end{itemize}&#10;}}&#10;\end{minipage}&#10;\end{document}"/>
  <p:tag name="IGUANATEXSIZE" val="20"/>
  <p:tag name="IGUANATEXCURSOR" val="185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9,4564"/>
  <p:tag name="ORIGINALWIDTH" val="4476,941"/>
  <p:tag name="LATEXADDIN" val="\documentclass{article}&#10;\usepackage{amsmath}&#10;\usepackage{amssymb}&#10;\pagestyle{empty}&#10;\begin{document}&#10;\begin{minipage}{8.7 cm}&#10;{\sffamily{&#10;$$&#10;f_1(\gamma) \, = \, \frac{k_1 + k_2 \gamma}{1 + \gamma} \, , \quad&#10;f_2(\gamma) \, = \, \frac{k_1 L_1 + k_2 L_2 c \gamma}{1 + c \gamma} \, , \quad&#10;\Phi(\rho,\gamma) \, = \, \frac{\alpha \theta \lambda + \varepsilon \frac{\rho \gamma}{1 + \gamma} }{1 + \alpha \theta + (1+\alpha) \varepsilon \frac{\rho \gamma}{1 + \gamma} }&#10;$$&#10;}}&#10;\end{minipage}&#10;\end{document}"/>
  <p:tag name="IGUANATEXSIZE" val="20"/>
  <p:tag name="IGUANATEXCURSOR" val="286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2146</Words>
  <Application>Microsoft Office PowerPoint</Application>
  <PresentationFormat>Bildschirmpräsentation (16:9)</PresentationFormat>
  <Paragraphs>170</Paragraphs>
  <Slides>49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4" baseType="lpstr">
      <vt:lpstr>Symbol</vt:lpstr>
      <vt:lpstr>Calibri</vt:lpstr>
      <vt:lpstr>Sylfaen</vt:lpstr>
      <vt:lpstr>Arial</vt:lpstr>
      <vt:lpstr>Larissa-Design</vt:lpstr>
      <vt:lpstr>Computational Biomathematics</vt:lpstr>
      <vt:lpstr>PowerPoint-Präsentation</vt:lpstr>
      <vt:lpstr>Diffusion may cause inhomogeneous patterns or spatial non-uniformities referred to as Turing instabilities</vt:lpstr>
      <vt:lpstr>The starting point of our considerations is two-dimensional reaction diffusion system on a finite domain with zero flux boundary conditions</vt:lpstr>
      <vt:lpstr>Step 1: There is an asymptotically stable equilibrium in the reaction system (1/ 2)</vt:lpstr>
      <vt:lpstr>Step 1: There is an asymptotically stable equilibrium in the reaction system (2/ 2)</vt:lpstr>
      <vt:lpstr>Step 2: This equilibrium is unstable when diffusion is present (1/ 7)</vt:lpstr>
      <vt:lpstr>Step 2: This equilibrium is unstable when diffusion is present (2/ 7)</vt:lpstr>
      <vt:lpstr>Step 2: This equilibrium is unstable when diffusion is present (3/ 7)</vt:lpstr>
      <vt:lpstr>Step 2: This equilibrium is unstable when diffusion is present (4/ 7)</vt:lpstr>
      <vt:lpstr>Step 2: This equilibrium is unstable when diffusion is present (5/ 7)</vt:lpstr>
      <vt:lpstr>Step 2: This equilibrium is unstable when diffusion is present (6/ 7)</vt:lpstr>
      <vt:lpstr>Step 2: This equilibrium is unstable when diffusion is present (7/ 7)</vt:lpstr>
      <vt:lpstr>Theorem: Turing Instability Theorem</vt:lpstr>
      <vt:lpstr>Corollary: Necessary conditions for Turing instability</vt:lpstr>
      <vt:lpstr>Proof: Corollary to Turing’s Instability Theorem</vt:lpstr>
      <vt:lpstr>For diffusive instabilities to occur the signs of the Jacobian must follow a certain rule</vt:lpstr>
      <vt:lpstr>Example: Applying Turing’s Instability Theorem in 1D</vt:lpstr>
      <vt:lpstr>Example: Applying Turing’s Instability Theorem in 1D</vt:lpstr>
      <vt:lpstr>Example: Applying Turing’s Instability Theorem in 2D</vt:lpstr>
      <vt:lpstr>Example: Applying Turing’s Instability Theorem in 2D</vt:lpstr>
      <vt:lpstr>There are several applets available to illustrate pattern formation in two-dimensional reaction-diffusion systems</vt:lpstr>
      <vt:lpstr>PowerPoint-Präsentation</vt:lpstr>
      <vt:lpstr>Spiral and concentric waves in a dictyostelium discoideum aggregation field (dark bands correspond to amoebaes) – 1/ 2</vt:lpstr>
      <vt:lpstr>Spiral and concentric waves in a dictyostelium discoideum aggregation field (dark bands correspond to amoebaes) – 2/ 2</vt:lpstr>
      <vt:lpstr>The dynamics of cAMP receptors are key to explain concentric and spiral waves in dictyostelium discoideum (1/ 2)</vt:lpstr>
      <vt:lpstr>The dynamics of cAMP receptors are key to explain concentric and spiral waves in dictyostelium discoideum (2a/ 2)</vt:lpstr>
      <vt:lpstr>The dynamics of cAMP receptors are key to explain concentric and spiral waves in dictyostelium discoideum (2b/ 2)</vt:lpstr>
      <vt:lpstr>Starting from “first principles” the cAMP dynamics are governed by several main bio-chemical equations (1a/ 3) …</vt:lpstr>
      <vt:lpstr>Starting from “first principles” the cAMP dynamics are governed by several main bio-chemical equations (1b/ 3) …</vt:lpstr>
      <vt:lpstr>Starting from “first principles” the cAMP dynamics are governed by several main bio-chemical equations (1c/ 3) …</vt:lpstr>
      <vt:lpstr>Starting from “first principles” the cAMP dynamics are governed by several main bio-chemical equations (2a/ 3) …</vt:lpstr>
      <vt:lpstr>Starting from “first principles” the cAMP dynamics are governed by several main bio-chemical equations (2b/ 3) …</vt:lpstr>
      <vt:lpstr>Starting from “first principles” the cAMP dynamics are governed by several main bio-chemical equations (3/ 3) …</vt:lpstr>
      <vt:lpstr>… resulting in a system of ordinary differential equations (see Martiel &amp; Goldbeter (1987) for details)</vt:lpstr>
      <vt:lpstr>… resulting in a system of ordinary differential equations (see Martiel &amp; Goldbeter (1987) for details)</vt:lpstr>
      <vt:lpstr>Next, certain simplifying assumptions are made in order to reduce this 9-dimensional system</vt:lpstr>
      <vt:lpstr>This leads to a three dimensional differential equation model for the cAMP dynamics in starving dictyostelium discoideum</vt:lpstr>
      <vt:lpstr>In order to compare the model with reality, we require experimentally justified values for the parameters and constants … </vt:lpstr>
      <vt:lpstr>… as well as assumptions for numerical simulations </vt:lpstr>
      <vt:lpstr>Finally, the ODE model for cAMP dynamics can easily be extended to a PDE model that includes spatial effects</vt:lpstr>
      <vt:lpstr>The stability diagram in the space of two essential parameters allows the determination of specific stability/ instability regions</vt:lpstr>
      <vt:lpstr>Simulation of the spatial distribution of cAMP at the indicated times resulting from the progression of cells along a developmental path</vt:lpstr>
      <vt:lpstr>Simulation of the spatial distribution of cAMP at the indicated times resulting from the progression of cells along a developmental path</vt:lpstr>
      <vt:lpstr>PowerPoint-Präsentation</vt:lpstr>
      <vt:lpstr>Simulation of the spatial distribution of cAMP at the indicated times resulting from the progression of cells along a developmental path</vt:lpstr>
      <vt:lpstr>Simulation of the spatial distribution of cAMP at the indicated times resulting from the progression of cells along a developmental path</vt:lpstr>
      <vt:lpstr>Simulation of the spatial distribution of cAMP at the indicated times resulting from the progression of cells along a developmental path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218</cp:revision>
  <dcterms:created xsi:type="dcterms:W3CDTF">2020-04-04T18:50:50Z</dcterms:created>
  <dcterms:modified xsi:type="dcterms:W3CDTF">2026-04-06T17:56:44Z</dcterms:modified>
</cp:coreProperties>
</file>
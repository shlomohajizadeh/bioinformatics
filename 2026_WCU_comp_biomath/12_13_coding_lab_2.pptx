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410" r:id="rId2"/>
    <p:sldId id="446" r:id="rId3"/>
    <p:sldId id="445" r:id="rId4"/>
    <p:sldId id="468" r:id="rId5"/>
    <p:sldId id="472" r:id="rId6"/>
    <p:sldId id="473" r:id="rId7"/>
    <p:sldId id="474" r:id="rId8"/>
    <p:sldId id="475" r:id="rId9"/>
    <p:sldId id="444" r:id="rId10"/>
    <p:sldId id="447" r:id="rId11"/>
    <p:sldId id="477" r:id="rId12"/>
    <p:sldId id="478" r:id="rId13"/>
    <p:sldId id="479" r:id="rId14"/>
    <p:sldId id="411" r:id="rId1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7356" autoAdjust="0"/>
  </p:normalViewPr>
  <p:slideViewPr>
    <p:cSldViewPr>
      <p:cViewPr varScale="1">
        <p:scale>
          <a:sx n="123" d="100"/>
          <a:sy n="123" d="100"/>
        </p:scale>
        <p:origin x="138" y="3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Coding Lab 2 (2x 90 min)</a:t>
            </a:r>
          </a:p>
          <a:p>
            <a:endParaRPr lang="en-US" sz="500" noProof="0" dirty="0"/>
          </a:p>
          <a:p>
            <a:r>
              <a:rPr lang="en-US" noProof="0" dirty="0"/>
              <a:t>Lesson 12 &amp; 13</a:t>
            </a:r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Overview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Structure of the lab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endParaRPr lang="en-US" sz="1200" noProof="0" dirty="0">
              <a:solidFill>
                <a:schemeClr val="tx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4717A2B-924D-65AE-AD8C-99125FE846F1}"/>
              </a:ext>
            </a:extLst>
          </p:cNvPr>
          <p:cNvSpPr txBox="1"/>
          <p:nvPr/>
        </p:nvSpPr>
        <p:spPr>
          <a:xfrm>
            <a:off x="5292080" y="472534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generated</a:t>
            </a:r>
          </a:p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ChatGPT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DCE2193-B023-002D-F9C0-DF833DBD4C5D}"/>
              </a:ext>
            </a:extLst>
          </p:cNvPr>
          <p:cNvGrpSpPr/>
          <p:nvPr/>
        </p:nvGrpSpPr>
        <p:grpSpPr>
          <a:xfrm>
            <a:off x="251520" y="1110330"/>
            <a:ext cx="4944600" cy="3953564"/>
            <a:chOff x="2843808" y="1635646"/>
            <a:chExt cx="4944600" cy="3953564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AAABF416-0242-0BB6-3B83-38D0CB691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1635646"/>
              <a:ext cx="4944600" cy="3953564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1E157448-9B1A-757E-7572-9551894B3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106" t="42715" r="84219" b="55312"/>
            <a:stretch>
              <a:fillRect/>
            </a:stretch>
          </p:blipFill>
          <p:spPr>
            <a:xfrm>
              <a:off x="2987824" y="3300412"/>
              <a:ext cx="432048" cy="84137"/>
            </a:xfrm>
            <a:prstGeom prst="rect">
              <a:avLst/>
            </a:prstGeom>
          </p:spPr>
        </p:pic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8466EC33-9EBB-C027-1F5C-D4013C781084}"/>
              </a:ext>
            </a:extLst>
          </p:cNvPr>
          <p:cNvSpPr txBox="1"/>
          <p:nvPr/>
        </p:nvSpPr>
        <p:spPr>
          <a:xfrm>
            <a:off x="5508104" y="1131590"/>
            <a:ext cx="3384376" cy="738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400" noProof="0" dirty="0"/>
              <a:t>Complex collective behavior in biology often emerges from simple local interaction rules; no central control is needed.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652CA8-D023-7386-2B86-0B418360E97A}"/>
              </a:ext>
            </a:extLst>
          </p:cNvPr>
          <p:cNvSpPr txBox="1"/>
          <p:nvPr/>
        </p:nvSpPr>
        <p:spPr>
          <a:xfrm>
            <a:off x="5508104" y="1995686"/>
            <a:ext cx="3384376" cy="252028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algn="just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b="1" noProof="0" dirty="0"/>
              <a:t>Take home messages:</a:t>
            </a:r>
          </a:p>
          <a:p>
            <a:pPr marL="177800" indent="-177800" algn="l">
              <a:buFont typeface="+mj-lt"/>
              <a:buAutoNum type="arabicPeriod"/>
            </a:pPr>
            <a:r>
              <a:rPr lang="en-US" b="1" noProof="0" dirty="0"/>
              <a:t>Modeling:</a:t>
            </a:r>
            <a:br>
              <a:rPr lang="en-US" noProof="0" dirty="0"/>
            </a:br>
            <a:r>
              <a:rPr lang="en-US" noProof="0" dirty="0"/>
              <a:t>very easy local rules lead to complex global behavior </a:t>
            </a:r>
          </a:p>
          <a:p>
            <a:pPr marL="177800" indent="-177800" algn="l">
              <a:buFont typeface="+mj-lt"/>
              <a:buAutoNum type="arabicPeriod"/>
            </a:pPr>
            <a:r>
              <a:rPr lang="en-US" b="1" noProof="0" dirty="0"/>
              <a:t>AI usage:</a:t>
            </a:r>
            <a:br>
              <a:rPr lang="en-US" b="1" noProof="0" dirty="0"/>
            </a:br>
            <a:r>
              <a:rPr lang="en-US" noProof="0" dirty="0"/>
              <a:t>prompt design for code and tests</a:t>
            </a:r>
          </a:p>
          <a:p>
            <a:pPr marL="177800" indent="-177800">
              <a:buFont typeface="+mj-lt"/>
              <a:buAutoNum type="arabicPeriod"/>
            </a:pPr>
            <a:r>
              <a:rPr lang="en-US" b="1" noProof="0" dirty="0"/>
              <a:t>Scientific computing mindset:</a:t>
            </a:r>
          </a:p>
          <a:p>
            <a:pPr marL="357188" indent="-179388">
              <a:buFont typeface="Arial" panose="020B0604020202020204" pitchFamily="34" charset="0"/>
              <a:buChar char="•"/>
            </a:pPr>
            <a:r>
              <a:rPr lang="en-US" noProof="0" dirty="0"/>
              <a:t>“what should be true?” </a:t>
            </a:r>
          </a:p>
          <a:p>
            <a:pPr marL="357188" indent="-179388">
              <a:buFont typeface="Arial" panose="020B0604020202020204" pitchFamily="34" charset="0"/>
              <a:buChar char="•"/>
            </a:pPr>
            <a:r>
              <a:rPr lang="en-US" noProof="0" dirty="0"/>
              <a:t>not just “Does it run?”</a:t>
            </a:r>
          </a:p>
        </p:txBody>
      </p:sp>
    </p:spTree>
    <p:extLst>
      <p:ext uri="{BB962C8B-B14F-4D97-AF65-F5344CB8AC3E}">
        <p14:creationId xmlns:p14="http://schemas.microsoft.com/office/powerpoint/2010/main" val="100979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0A4C-AEFC-55DE-0AF3-02043F63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CE00983-AF02-4788-0EF0-07DAF13A5854}"/>
              </a:ext>
            </a:extLst>
          </p:cNvPr>
          <p:cNvSpPr/>
          <p:nvPr/>
        </p:nvSpPr>
        <p:spPr>
          <a:xfrm>
            <a:off x="971600" y="1584740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62DEAD-8F66-5914-A3BD-BAF4AE89A30D}"/>
              </a:ext>
            </a:extLst>
          </p:cNvPr>
          <p:cNvSpPr txBox="1"/>
          <p:nvPr/>
        </p:nvSpPr>
        <p:spPr>
          <a:xfrm>
            <a:off x="971600" y="1131590"/>
            <a:ext cx="251562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Topics</a:t>
            </a:r>
          </a:p>
          <a:p>
            <a:endParaRPr lang="en-US" sz="1000" noProof="0" dirty="0"/>
          </a:p>
          <a:p>
            <a:pPr lvl="1"/>
            <a:r>
              <a:rPr lang="en-US" b="1" noProof="0" dirty="0"/>
              <a:t>Overview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Structure of the Lab</a:t>
            </a:r>
          </a:p>
        </p:txBody>
      </p:sp>
    </p:spTree>
    <p:extLst>
      <p:ext uri="{BB962C8B-B14F-4D97-AF65-F5344CB8AC3E}">
        <p14:creationId xmlns:p14="http://schemas.microsoft.com/office/powerpoint/2010/main" val="389600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9CB03-27BD-694C-67CD-EF6A668A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A:</a:t>
            </a:r>
            <a:br>
              <a:rPr lang="en-US" noProof="0" dirty="0"/>
            </a:br>
            <a:r>
              <a:rPr lang="en-US" noProof="0" dirty="0"/>
              <a:t>Chemotaxis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5FBF83A-EB38-EBE1-5A4D-E629DABD79EE}"/>
              </a:ext>
            </a:extLst>
          </p:cNvPr>
          <p:cNvSpPr/>
          <p:nvPr/>
        </p:nvSpPr>
        <p:spPr>
          <a:xfrm>
            <a:off x="3347864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Quick summary: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Idea: movement toward higher concentration of a chemical signal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Rule: random movement and bias toward gradient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Outcome: clustering at source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6E5800-9EC4-1FA2-5A07-FCE503EAF579}"/>
              </a:ext>
            </a:extLst>
          </p:cNvPr>
          <p:cNvSpPr/>
          <p:nvPr/>
        </p:nvSpPr>
        <p:spPr>
          <a:xfrm>
            <a:off x="3347864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Details:</a:t>
            </a:r>
          </a:p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chemical signal diffuses from the source throughout the simulation plane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617BF9-5D14-089F-9AAD-279850751BB1}"/>
              </a:ext>
            </a:extLst>
          </p:cNvPr>
          <p:cNvSpPr/>
          <p:nvPr/>
        </p:nvSpPr>
        <p:spPr>
          <a:xfrm>
            <a:off x="6206199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Extensions: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moving source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noise level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D880C8F-B21D-AB96-AB93-368EEF32B67F}"/>
              </a:ext>
            </a:extLst>
          </p:cNvPr>
          <p:cNvSpPr/>
          <p:nvPr/>
        </p:nvSpPr>
        <p:spPr>
          <a:xfrm>
            <a:off x="6206199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Reference: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Recall the lectures on slime molds and adapt the concepts discussed there. Use word descriptions to design the program.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86DEF87-B2DA-2C95-372D-ACFE764E81DA}"/>
              </a:ext>
            </a:extLst>
          </p:cNvPr>
          <p:cNvGrpSpPr/>
          <p:nvPr/>
        </p:nvGrpSpPr>
        <p:grpSpPr>
          <a:xfrm>
            <a:off x="251519" y="1131590"/>
            <a:ext cx="2902305" cy="2252960"/>
            <a:chOff x="251519" y="1131590"/>
            <a:chExt cx="2902305" cy="225296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B131B465-9150-BC65-B8A9-FA50130EC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630" b="52069"/>
            <a:stretch>
              <a:fillRect/>
            </a:stretch>
          </p:blipFill>
          <p:spPr>
            <a:xfrm>
              <a:off x="251519" y="1131590"/>
              <a:ext cx="2902305" cy="2252960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60E0E974-0B5D-8F55-4CED-533FA9680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106" t="42715" r="84219" b="55312"/>
            <a:stretch>
              <a:fillRect/>
            </a:stretch>
          </p:blipFill>
          <p:spPr>
            <a:xfrm>
              <a:off x="395536" y="3147814"/>
              <a:ext cx="504056" cy="92720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40366D60-C2E7-C2FE-5C9C-451E587A2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106" t="42715" r="84219" b="55312"/>
            <a:stretch>
              <a:fillRect/>
            </a:stretch>
          </p:blipFill>
          <p:spPr>
            <a:xfrm>
              <a:off x="671873" y="3101454"/>
              <a:ext cx="227719" cy="92720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D42C1CDF-5961-6D2C-4D2E-65AD3D232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106" t="42715" r="84219" b="55312"/>
            <a:stretch>
              <a:fillRect/>
            </a:stretch>
          </p:blipFill>
          <p:spPr>
            <a:xfrm>
              <a:off x="471987" y="3124634"/>
              <a:ext cx="227719" cy="92720"/>
            </a:xfrm>
            <a:prstGeom prst="rect">
              <a:avLst/>
            </a:prstGeom>
          </p:spPr>
        </p:pic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FB7492C0-067E-3D54-6365-1E4003017695}"/>
              </a:ext>
            </a:extLst>
          </p:cNvPr>
          <p:cNvSpPr txBox="1"/>
          <p:nvPr/>
        </p:nvSpPr>
        <p:spPr>
          <a:xfrm>
            <a:off x="251520" y="472534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generated</a:t>
            </a:r>
          </a:p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ChatGPT</a:t>
            </a:r>
          </a:p>
        </p:txBody>
      </p:sp>
    </p:spTree>
    <p:extLst>
      <p:ext uri="{BB962C8B-B14F-4D97-AF65-F5344CB8AC3E}">
        <p14:creationId xmlns:p14="http://schemas.microsoft.com/office/powerpoint/2010/main" val="3128478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2634B-EAAF-26FD-9D8B-900D98BC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B:</a:t>
            </a:r>
            <a:br>
              <a:rPr lang="en-US" noProof="0" dirty="0"/>
            </a:br>
            <a:r>
              <a:rPr lang="en-US" noProof="0" dirty="0"/>
              <a:t>Schooling with Repulsion, Alignment &amp; Attraction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45C9B6B-A28F-9491-4792-ADACAC6DB706}"/>
              </a:ext>
            </a:extLst>
          </p:cNvPr>
          <p:cNvSpPr/>
          <p:nvPr/>
        </p:nvSpPr>
        <p:spPr>
          <a:xfrm>
            <a:off x="3347864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Quick summary: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Idea: staying together but maintaining distance; i.e., coordination via neighbors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Rules: alignment, attraction, repulsion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Outcome: coherent motion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8D3352E-C0E1-1E19-2125-45C1E1A289CA}"/>
              </a:ext>
            </a:extLst>
          </p:cNvPr>
          <p:cNvSpPr/>
          <p:nvPr/>
        </p:nvSpPr>
        <p:spPr>
          <a:xfrm>
            <a:off x="3347864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Details (3 zones):</a:t>
            </a:r>
          </a:p>
          <a:p>
            <a:pPr marL="177800" indent="-1778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short distance: repulsion </a:t>
            </a:r>
          </a:p>
          <a:p>
            <a:pPr marL="177800" indent="-1778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medium: alignment </a:t>
            </a:r>
          </a:p>
          <a:p>
            <a:pPr marL="177800" indent="-1778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long: attraction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7FDFC7D-3B12-E29C-330E-19B525C0E667}"/>
              </a:ext>
            </a:extLst>
          </p:cNvPr>
          <p:cNvSpPr/>
          <p:nvPr/>
        </p:nvSpPr>
        <p:spPr>
          <a:xfrm>
            <a:off x="6206199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Extensions: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zone radii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weight of forces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B764D91-DA09-BA77-8751-DE0CBA9A2E4B}"/>
              </a:ext>
            </a:extLst>
          </p:cNvPr>
          <p:cNvSpPr/>
          <p:nvPr/>
        </p:nvSpPr>
        <p:spPr>
          <a:xfrm>
            <a:off x="6206199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Reference: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Recall the lectures on the Vicsek model and adapt the concepts discussed there. Use word descriptions to design the program.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EB3F759-41DC-A642-37D1-10425781B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62" r="110" b="51964"/>
          <a:stretch>
            <a:fillRect/>
          </a:stretch>
        </p:blipFill>
        <p:spPr>
          <a:xfrm>
            <a:off x="251520" y="1131589"/>
            <a:ext cx="2885916" cy="218504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0AF5F9F-8DF6-EFF7-4138-851A0BE43E09}"/>
              </a:ext>
            </a:extLst>
          </p:cNvPr>
          <p:cNvSpPr txBox="1"/>
          <p:nvPr/>
        </p:nvSpPr>
        <p:spPr>
          <a:xfrm>
            <a:off x="251520" y="472534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generated</a:t>
            </a:r>
          </a:p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ChatGPT</a:t>
            </a:r>
          </a:p>
        </p:txBody>
      </p:sp>
    </p:spTree>
    <p:extLst>
      <p:ext uri="{BB962C8B-B14F-4D97-AF65-F5344CB8AC3E}">
        <p14:creationId xmlns:p14="http://schemas.microsoft.com/office/powerpoint/2010/main" val="333028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4C0E8-523E-0FFA-6031-7990058C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C:</a:t>
            </a:r>
            <a:br>
              <a:rPr lang="en-US" noProof="0" dirty="0"/>
            </a:br>
            <a:r>
              <a:rPr lang="en-US" noProof="0" dirty="0"/>
              <a:t>Ant Trail Formation (Environment-Agent Coupling)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3A2ED2A-9963-2033-07ED-E722AA640251}"/>
              </a:ext>
            </a:extLst>
          </p:cNvPr>
          <p:cNvSpPr/>
          <p:nvPr/>
        </p:nvSpPr>
        <p:spPr>
          <a:xfrm>
            <a:off x="3347864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Quick summary: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Idea: indirect communication via environment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Rule: follow pheromone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Outcome: trail formation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84F1BBC-9CBC-1A95-2428-A320F0C0B4CB}"/>
              </a:ext>
            </a:extLst>
          </p:cNvPr>
          <p:cNvSpPr/>
          <p:nvPr/>
        </p:nvSpPr>
        <p:spPr>
          <a:xfrm>
            <a:off x="3347864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Details:</a:t>
            </a:r>
          </a:p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random walk and bias toward pheromone </a:t>
            </a:r>
          </a:p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pheromone field diffuses and decays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C1368C-3B7E-45F2-8B6E-B7E259D9211D}"/>
              </a:ext>
            </a:extLst>
          </p:cNvPr>
          <p:cNvSpPr/>
          <p:nvPr/>
        </p:nvSpPr>
        <p:spPr>
          <a:xfrm>
            <a:off x="6206199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Extensions: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pheromone decay rate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food source location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6611EC6-7CDD-DFCC-D528-2B235535BF72}"/>
              </a:ext>
            </a:extLst>
          </p:cNvPr>
          <p:cNvSpPr/>
          <p:nvPr/>
        </p:nvSpPr>
        <p:spPr>
          <a:xfrm>
            <a:off x="6206199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Reference: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Recall the lectures on slime molds and adapt the concepts discussed there. Use word descriptions to design the program.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0F383A-8C30-36C1-75BF-B1A2CEE8E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" t="47831" r="50701" b="130"/>
          <a:stretch>
            <a:fillRect/>
          </a:stretch>
        </p:blipFill>
        <p:spPr>
          <a:xfrm>
            <a:off x="259728" y="1146841"/>
            <a:ext cx="2872111" cy="242967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2CC5871-D233-9298-967A-643816586CED}"/>
              </a:ext>
            </a:extLst>
          </p:cNvPr>
          <p:cNvSpPr txBox="1"/>
          <p:nvPr/>
        </p:nvSpPr>
        <p:spPr>
          <a:xfrm>
            <a:off x="251520" y="472534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generated</a:t>
            </a:r>
          </a:p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ChatGPT</a:t>
            </a:r>
          </a:p>
        </p:txBody>
      </p:sp>
    </p:spTree>
    <p:extLst>
      <p:ext uri="{BB962C8B-B14F-4D97-AF65-F5344CB8AC3E}">
        <p14:creationId xmlns:p14="http://schemas.microsoft.com/office/powerpoint/2010/main" val="297001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3D5D-5570-293D-1904-01FFE240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CCC64-CA4F-2CC9-12BB-4E7431E3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 D:</a:t>
            </a:r>
            <a:br>
              <a:rPr lang="en-US" noProof="0" dirty="0"/>
            </a:br>
            <a:r>
              <a:rPr lang="en-US" noProof="0" dirty="0"/>
              <a:t>Crowd Dynamics/ Escape Behavior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748E366-7D3C-1270-DBB2-B6EA583D7209}"/>
              </a:ext>
            </a:extLst>
          </p:cNvPr>
          <p:cNvSpPr/>
          <p:nvPr/>
        </p:nvSpPr>
        <p:spPr>
          <a:xfrm>
            <a:off x="3347864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Quick summary: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Idea: reaching a goal (e.g., exit) while avoiding collisions/ obstacles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Rule: move to goal and avoid nearby specimen/ obstacles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Outcome: bottlenecks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36F1C18-CDE9-28C3-1FF7-BFB218807C5F}"/>
              </a:ext>
            </a:extLst>
          </p:cNvPr>
          <p:cNvSpPr/>
          <p:nvPr/>
        </p:nvSpPr>
        <p:spPr>
          <a:xfrm>
            <a:off x="6206199" y="1131590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Extensions: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Bottlenecks</a:t>
            </a:r>
          </a:p>
          <a:p>
            <a:pPr marL="182563" indent="-182563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panic (noise)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05EE69F-1E1A-D95C-24C2-F448D71BA1DE}"/>
              </a:ext>
            </a:extLst>
          </p:cNvPr>
          <p:cNvSpPr/>
          <p:nvPr/>
        </p:nvSpPr>
        <p:spPr>
          <a:xfrm>
            <a:off x="6206199" y="3147814"/>
            <a:ext cx="2686281" cy="1872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Aft>
                <a:spcPts val="600"/>
              </a:spcAft>
            </a:pPr>
            <a:r>
              <a:rPr lang="en-US" sz="1400" b="1" noProof="0" dirty="0">
                <a:solidFill>
                  <a:schemeClr val="tx1"/>
                </a:solidFill>
              </a:rPr>
              <a:t>Reference:</a:t>
            </a:r>
          </a:p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Recall the lectures on the Vicsek model and adapt the concepts discussed there. Use word descriptions to design the program.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87436C0-8857-5425-6BA4-203A73B8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62" t="47831" r="110" b="130"/>
          <a:stretch>
            <a:fillRect/>
          </a:stretch>
        </p:blipFill>
        <p:spPr>
          <a:xfrm>
            <a:off x="251520" y="1131590"/>
            <a:ext cx="2880320" cy="236259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C76154B-899C-E8E4-99B2-C323127DE2F8}"/>
              </a:ext>
            </a:extLst>
          </p:cNvPr>
          <p:cNvSpPr txBox="1"/>
          <p:nvPr/>
        </p:nvSpPr>
        <p:spPr>
          <a:xfrm>
            <a:off x="251520" y="472534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generated</a:t>
            </a:r>
          </a:p>
          <a:p>
            <a:r>
              <a:rPr lang="en-US" sz="8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ChatGPT</a:t>
            </a:r>
          </a:p>
        </p:txBody>
      </p:sp>
    </p:spTree>
    <p:extLst>
      <p:ext uri="{BB962C8B-B14F-4D97-AF65-F5344CB8AC3E}">
        <p14:creationId xmlns:p14="http://schemas.microsoft.com/office/powerpoint/2010/main" val="347028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04D48-29FA-B753-2F0F-242BD34E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Note, all models have a very similar internal structure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0692550-46E6-9B9B-81AB-2EC4E08C2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08155"/>
              </p:ext>
            </p:extLst>
          </p:nvPr>
        </p:nvGraphicFramePr>
        <p:xfrm>
          <a:off x="969432" y="1131590"/>
          <a:ext cx="72029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484">
                  <a:extLst>
                    <a:ext uri="{9D8B030D-6E8A-4147-A177-3AD203B41FA5}">
                      <a16:colId xmlns:a16="http://schemas.microsoft.com/office/drawing/2014/main" val="695250934"/>
                    </a:ext>
                  </a:extLst>
                </a:gridCol>
                <a:gridCol w="3601484">
                  <a:extLst>
                    <a:ext uri="{9D8B030D-6E8A-4147-A177-3AD203B41FA5}">
                      <a16:colId xmlns:a16="http://schemas.microsoft.com/office/drawing/2014/main" val="3560279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172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points in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4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local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individual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11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neighbors or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640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 evolution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80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emergence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global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129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12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4138-1540-6BED-2497-7D82A4D3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11D2C19-0BCF-B8A7-1628-B709FCEC8084}"/>
              </a:ext>
            </a:extLst>
          </p:cNvPr>
          <p:cNvSpPr/>
          <p:nvPr/>
        </p:nvSpPr>
        <p:spPr>
          <a:xfrm>
            <a:off x="971600" y="2118600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6E2208D-9F59-E9AC-FADA-844F20F78242}"/>
              </a:ext>
            </a:extLst>
          </p:cNvPr>
          <p:cNvSpPr txBox="1"/>
          <p:nvPr/>
        </p:nvSpPr>
        <p:spPr>
          <a:xfrm>
            <a:off x="971600" y="1131590"/>
            <a:ext cx="254492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Topics</a:t>
            </a:r>
          </a:p>
          <a:p>
            <a:endParaRPr lang="en-US" sz="1000" noProof="0" dirty="0"/>
          </a:p>
          <a:p>
            <a:pPr lvl="1"/>
            <a:r>
              <a:rPr lang="en-US" noProof="0" dirty="0"/>
              <a:t>Overview</a:t>
            </a:r>
          </a:p>
          <a:p>
            <a:pPr lvl="1"/>
            <a:endParaRPr lang="en-US" noProof="0" dirty="0"/>
          </a:p>
          <a:p>
            <a:pPr lvl="1"/>
            <a:r>
              <a:rPr lang="en-US" b="1" noProof="0" dirty="0"/>
              <a:t>Structure of the Lab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544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F8303-B1F7-662D-B5C3-FECE630A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  <a:br>
              <a:rPr lang="en-US" noProof="0" dirty="0"/>
            </a:br>
            <a:r>
              <a:rPr lang="en-US" noProof="0" dirty="0"/>
              <a:t>A) Session 1: “Build &amp; Understand” – 1/ 2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7723B5F-4800-2ED2-0F1E-625231058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363000"/>
              </p:ext>
            </p:extLst>
          </p:nvPr>
        </p:nvGraphicFramePr>
        <p:xfrm>
          <a:off x="251520" y="1491630"/>
          <a:ext cx="864096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0 – 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1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15 –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Phase 1: Model understanding (no coding)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Groups define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How does space look like and what are the agents?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What are the rules? (initialization, movement, interaction, dynamics, …)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What is expected to happen qualitatively? What should happen after many steps?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15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45 – 65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noProof="0" dirty="0"/>
                        <a:t>Phase 2:  Architecture &amp; AI prompt design (code)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noProof="0" dirty="0"/>
                        <a:t>Groups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design program architecture (which routines are needed)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write and refine prompts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take care of modular code, simple structure,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0891"/>
                  </a:ext>
                </a:extLst>
              </a:tr>
            </a:tbl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4FC4F1FB-72B4-1D0F-3E2B-EEE8992E03D1}"/>
              </a:ext>
            </a:extLst>
          </p:cNvPr>
          <p:cNvSpPr/>
          <p:nvPr/>
        </p:nvSpPr>
        <p:spPr>
          <a:xfrm>
            <a:off x="251520" y="1131590"/>
            <a:ext cx="8640960" cy="2880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Session 1: “build &amp; understand” (architecture &amp; first AI interaction)</a:t>
            </a:r>
          </a:p>
        </p:txBody>
      </p:sp>
    </p:spTree>
    <p:extLst>
      <p:ext uri="{BB962C8B-B14F-4D97-AF65-F5344CB8AC3E}">
        <p14:creationId xmlns:p14="http://schemas.microsoft.com/office/powerpoint/2010/main" val="97123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3F0E5-6691-51C5-D183-2519AB9B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5EDD9-E221-08A0-90BA-D3BC9CCC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  <a:br>
              <a:rPr lang="en-US" noProof="0" dirty="0"/>
            </a:br>
            <a:r>
              <a:rPr lang="en-US" noProof="0" dirty="0"/>
              <a:t>A) Session 1: “Build &amp; Understand” – 2/ 2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81136DA-D121-0C22-3E55-2093696A1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4635"/>
              </p:ext>
            </p:extLst>
          </p:nvPr>
        </p:nvGraphicFramePr>
        <p:xfrm>
          <a:off x="251520" y="1131590"/>
          <a:ext cx="8640960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65 – 90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Phase 3: First implementation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0" noProof="0" dirty="0"/>
                        <a:t>Groups (</a:t>
                      </a:r>
                      <a:r>
                        <a:rPr lang="en-US" sz="1400" noProof="0" dirty="0"/>
                        <a:t>focus on thinking, not fixing everything</a:t>
                      </a:r>
                      <a:r>
                        <a:rPr lang="en-US" sz="1400" b="0" noProof="0" dirty="0"/>
                        <a:t>)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generate code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run simulation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debug basic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14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144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DE15-B7B9-A350-FF69-2D50AEBB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C747D-6FD1-70A6-B00A-FEF07C57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  <a:br>
              <a:rPr lang="en-US" noProof="0" dirty="0"/>
            </a:br>
            <a:r>
              <a:rPr lang="en-US" noProof="0" dirty="0"/>
              <a:t>B) Session 2: “Test, Explore &amp; Present” – 1/ 2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38BEECA-8954-A3D5-9AE2-986B17B86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653314"/>
              </p:ext>
            </p:extLst>
          </p:nvPr>
        </p:nvGraphicFramePr>
        <p:xfrm>
          <a:off x="251520" y="1491630"/>
          <a:ext cx="86409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0 –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Quick Recap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“What worked?”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“What didn’t?”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1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10 – 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Phase 4: Testing (AI + </a:t>
                      </a:r>
                      <a:r>
                        <a:rPr lang="en-US" sz="1400" b="1" noProof="0" dirty="0" err="1"/>
                        <a:t>pytest</a:t>
                      </a:r>
                      <a:r>
                        <a:rPr lang="en-US" sz="1400" b="1" noProof="0" dirty="0"/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Groups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think “What must always be true?” 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write prompt for AI to generate tests (not just code sanity tests)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noProof="0" dirty="0"/>
                        <a:t>run </a:t>
                      </a:r>
                      <a:r>
                        <a:rPr lang="en-US" sz="1400" noProof="0" dirty="0" err="1"/>
                        <a:t>pytest</a:t>
                      </a:r>
                      <a:endParaRPr lang="en-US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15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30 – 55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noProof="0" dirty="0"/>
                        <a:t>Phase 5: Model improvement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noProof="0" dirty="0"/>
                        <a:t>Groups refine rules, fix bugs, and improve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0891"/>
                  </a:ext>
                </a:extLst>
              </a:tr>
            </a:tbl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809C4F6C-26CE-9526-8049-AB8ED0AAE8A7}"/>
              </a:ext>
            </a:extLst>
          </p:cNvPr>
          <p:cNvSpPr/>
          <p:nvPr/>
        </p:nvSpPr>
        <p:spPr>
          <a:xfrm>
            <a:off x="251520" y="1131590"/>
            <a:ext cx="8640960" cy="2880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Session 2: “test, explore &amp; present” (texting, improvement &amp; reflection)</a:t>
            </a:r>
          </a:p>
        </p:txBody>
      </p:sp>
    </p:spTree>
    <p:extLst>
      <p:ext uri="{BB962C8B-B14F-4D97-AF65-F5344CB8AC3E}">
        <p14:creationId xmlns:p14="http://schemas.microsoft.com/office/powerpoint/2010/main" val="410813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90BC6-9B33-5B05-E60E-D6FBD9B4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E0DF5-EF03-85DE-5EE2-8DA145C1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Roadmap</a:t>
            </a:r>
            <a:br>
              <a:rPr lang="en-US" noProof="0" dirty="0"/>
            </a:br>
            <a:r>
              <a:rPr lang="en-US" noProof="0" dirty="0"/>
              <a:t>B) Session 2: “Test, Explore &amp; Present” – 2/ 2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6D45D95-1FEA-F575-93DD-CF8A1EEF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23180"/>
              </p:ext>
            </p:extLst>
          </p:nvPr>
        </p:nvGraphicFramePr>
        <p:xfrm>
          <a:off x="251520" y="1131590"/>
          <a:ext cx="864096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836268514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139590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8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55 – 70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/>
                        <a:t>Phase 6: Exploration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0" noProof="0" dirty="0"/>
                        <a:t>Groups </a:t>
                      </a:r>
                      <a:r>
                        <a:rPr lang="en-US" sz="1400" noProof="0" dirty="0"/>
                        <a:t>vary parameters and observe behavior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0" noProof="0" dirty="0"/>
                        <a:t>Examples: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noise level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interaction radius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strength of forces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1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400" noProof="0" dirty="0"/>
                        <a:t>70 – 90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noProof="0" dirty="0"/>
                        <a:t>Phase 7: Presentations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noProof="0" dirty="0"/>
                        <a:t>Each group (approx. 4–5 min):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Model ideas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Local rules - </a:t>
                      </a:r>
                      <a:r>
                        <a:rPr lang="en-US" sz="1400" dirty="0"/>
                        <a:t>Which rule had the biggest effect on behavior?</a:t>
                      </a:r>
                      <a:endParaRPr lang="en-US" sz="1400" b="0" noProof="0" dirty="0"/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Test they designed</a:t>
                      </a:r>
                    </a:p>
                    <a:p>
                      <a:pPr marL="177800" indent="-1778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 dirty="0"/>
                        <a:t>Results and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929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67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822</Words>
  <Application>Microsoft Office PowerPoint</Application>
  <PresentationFormat>Bildschirmpräsentation (16:9)</PresentationFormat>
  <Paragraphs>160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Calibri</vt:lpstr>
      <vt:lpstr>Arial</vt:lpstr>
      <vt:lpstr>Larissa-Design</vt:lpstr>
      <vt:lpstr>Computational Biomathematics</vt:lpstr>
      <vt:lpstr>PowerPoint-Präsentation</vt:lpstr>
      <vt:lpstr>PowerPoint-Präsentation</vt:lpstr>
      <vt:lpstr>Group A: Chemotaxis</vt:lpstr>
      <vt:lpstr>Group B: Schooling with Repulsion, Alignment &amp; Attraction</vt:lpstr>
      <vt:lpstr>Group C: Ant Trail Formation (Environment-Agent Coupling)</vt:lpstr>
      <vt:lpstr>Group D: Crowd Dynamics/ Escape Behavior</vt:lpstr>
      <vt:lpstr>Note, all models have a very similar internal structure</vt:lpstr>
      <vt:lpstr>PowerPoint-Präsentation</vt:lpstr>
      <vt:lpstr>Roadmap A) Session 1: “Build &amp; Understand” – 1/ 2</vt:lpstr>
      <vt:lpstr>Roadmap A) Session 1: “Build &amp; Understand” – 2/ 2</vt:lpstr>
      <vt:lpstr>Roadmap B) Session 2: “Test, Explore &amp; Present” – 1/ 2</vt:lpstr>
      <vt:lpstr>Roadmap B) Session 2: “Test, Explore &amp; Present” – 2/ 2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218</cp:revision>
  <dcterms:created xsi:type="dcterms:W3CDTF">2020-04-04T18:50:50Z</dcterms:created>
  <dcterms:modified xsi:type="dcterms:W3CDTF">2026-04-06T20:05:34Z</dcterms:modified>
</cp:coreProperties>
</file>
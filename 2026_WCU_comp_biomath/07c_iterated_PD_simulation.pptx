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heme/theme2.xml" ContentType="application/vnd.openxmlformats-officedocument.them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3"/>
  </p:notesMasterIdLst>
  <p:sldIdLst>
    <p:sldId id="410" r:id="rId2"/>
    <p:sldId id="446" r:id="rId3"/>
    <p:sldId id="445" r:id="rId4"/>
    <p:sldId id="447" r:id="rId5"/>
    <p:sldId id="448" r:id="rId6"/>
    <p:sldId id="456" r:id="rId7"/>
    <p:sldId id="449" r:id="rId8"/>
    <p:sldId id="461" r:id="rId9"/>
    <p:sldId id="462" r:id="rId10"/>
    <p:sldId id="451" r:id="rId11"/>
    <p:sldId id="464" r:id="rId12"/>
    <p:sldId id="465" r:id="rId13"/>
    <p:sldId id="454" r:id="rId14"/>
    <p:sldId id="466" r:id="rId15"/>
    <p:sldId id="467" r:id="rId16"/>
    <p:sldId id="468" r:id="rId17"/>
    <p:sldId id="472" r:id="rId18"/>
    <p:sldId id="469" r:id="rId19"/>
    <p:sldId id="475" r:id="rId20"/>
    <p:sldId id="470" r:id="rId21"/>
    <p:sldId id="474" r:id="rId22"/>
    <p:sldId id="479" r:id="rId23"/>
    <p:sldId id="481" r:id="rId24"/>
    <p:sldId id="499" r:id="rId25"/>
    <p:sldId id="486" r:id="rId26"/>
    <p:sldId id="480" r:id="rId27"/>
    <p:sldId id="471" r:id="rId28"/>
    <p:sldId id="488" r:id="rId29"/>
    <p:sldId id="489" r:id="rId30"/>
    <p:sldId id="490" r:id="rId31"/>
    <p:sldId id="500" r:id="rId32"/>
    <p:sldId id="482" r:id="rId33"/>
    <p:sldId id="484" r:id="rId34"/>
    <p:sldId id="487" r:id="rId35"/>
    <p:sldId id="483" r:id="rId36"/>
    <p:sldId id="485" r:id="rId37"/>
    <p:sldId id="473" r:id="rId38"/>
    <p:sldId id="496" r:id="rId39"/>
    <p:sldId id="497" r:id="rId40"/>
    <p:sldId id="498" r:id="rId41"/>
    <p:sldId id="411" r:id="rId42"/>
  </p:sldIdLst>
  <p:sldSz cx="9144000" cy="5143500" type="screen16x9"/>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488" autoAdjust="0"/>
    <p:restoredTop sz="97356" autoAdjust="0"/>
  </p:normalViewPr>
  <p:slideViewPr>
    <p:cSldViewPr>
      <p:cViewPr varScale="1">
        <p:scale>
          <a:sx n="136" d="100"/>
          <a:sy n="136" d="100"/>
        </p:scale>
        <p:origin x="594" y="132"/>
      </p:cViewPr>
      <p:guideLst>
        <p:guide orient="horz" pos="162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95D514-7346-4F82-AE13-C6D6741739D2}" type="datetimeFigureOut">
              <a:rPr lang="en-US" smtClean="0"/>
              <a:t>4/17/2026</a:t>
            </a:fld>
            <a:endParaRPr lang="en-US"/>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EF3066-70EE-4F3C-99F9-465CA6AFB6FD}" type="slidenum">
              <a:rPr lang="en-US" smtClean="0"/>
              <a:t>‹Nr.›</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4.jpe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3.jpeg"/><Relationship Id="rId17" Type="http://schemas.openxmlformats.org/officeDocument/2006/relationships/image" Target="../media/image8.jpeg"/><Relationship Id="rId2" Type="http://schemas.openxmlformats.org/officeDocument/2006/relationships/tags" Target="../tags/tag2.xml"/><Relationship Id="rId16" Type="http://schemas.openxmlformats.org/officeDocument/2006/relationships/image" Target="../media/image7.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2.jpeg"/><Relationship Id="rId5" Type="http://schemas.openxmlformats.org/officeDocument/2006/relationships/tags" Target="../tags/tag5.xml"/><Relationship Id="rId15" Type="http://schemas.openxmlformats.org/officeDocument/2006/relationships/image" Target="../media/image6.jpeg"/><Relationship Id="rId10" Type="http://schemas.openxmlformats.org/officeDocument/2006/relationships/slideMaster" Target="../slideMasters/slideMaster1.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17.xml"/><Relationship Id="rId13" Type="http://schemas.openxmlformats.org/officeDocument/2006/relationships/image" Target="../media/image11.jpeg"/><Relationship Id="rId3" Type="http://schemas.openxmlformats.org/officeDocument/2006/relationships/tags" Target="../tags/tag12.xml"/><Relationship Id="rId7" Type="http://schemas.openxmlformats.org/officeDocument/2006/relationships/tags" Target="../tags/tag16.xml"/><Relationship Id="rId12" Type="http://schemas.openxmlformats.org/officeDocument/2006/relationships/image" Target="../media/image10.jpe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image" Target="../media/image9.jpeg"/><Relationship Id="rId5" Type="http://schemas.openxmlformats.org/officeDocument/2006/relationships/tags" Target="../tags/tag14.xml"/><Relationship Id="rId15" Type="http://schemas.openxmlformats.org/officeDocument/2006/relationships/image" Target="../media/image13.jpeg"/><Relationship Id="rId10" Type="http://schemas.openxmlformats.org/officeDocument/2006/relationships/slideMaster" Target="../slideMasters/slideMaster1.xml"/><Relationship Id="rId4" Type="http://schemas.openxmlformats.org/officeDocument/2006/relationships/tags" Target="../tags/tag13.xml"/><Relationship Id="rId9" Type="http://schemas.openxmlformats.org/officeDocument/2006/relationships/tags" Target="../tags/tag18.xml"/><Relationship Id="rId14" Type="http://schemas.openxmlformats.org/officeDocument/2006/relationships/image" Target="../media/image12.jpeg"/></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image" Target="../media/image3.jpeg"/><Relationship Id="rId18" Type="http://schemas.openxmlformats.org/officeDocument/2006/relationships/image" Target="../media/image8.jpeg"/><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image" Target="../media/image2.jpeg"/><Relationship Id="rId17" Type="http://schemas.openxmlformats.org/officeDocument/2006/relationships/image" Target="../media/image7.png"/><Relationship Id="rId2" Type="http://schemas.openxmlformats.org/officeDocument/2006/relationships/tags" Target="../tags/tag20.xml"/><Relationship Id="rId16" Type="http://schemas.openxmlformats.org/officeDocument/2006/relationships/image" Target="../media/image6.jpeg"/><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slideMaster" Target="../slideMasters/slideMaster1.xml"/><Relationship Id="rId5" Type="http://schemas.openxmlformats.org/officeDocument/2006/relationships/tags" Target="../tags/tag23.xml"/><Relationship Id="rId15" Type="http://schemas.openxmlformats.org/officeDocument/2006/relationships/image" Target="../media/image5.jpeg"/><Relationship Id="rId10" Type="http://schemas.openxmlformats.org/officeDocument/2006/relationships/tags" Target="../tags/tag28.xml"/><Relationship Id="rId19" Type="http://schemas.openxmlformats.org/officeDocument/2006/relationships/image" Target="../media/image14.jpeg"/><Relationship Id="rId4" Type="http://schemas.openxmlformats.org/officeDocument/2006/relationships/tags" Target="../tags/tag22.xml"/><Relationship Id="rId9" Type="http://schemas.openxmlformats.org/officeDocument/2006/relationships/tags" Target="../tags/tag27.xml"/><Relationship Id="rId14" Type="http://schemas.openxmlformats.org/officeDocument/2006/relationships/image" Target="../media/image4.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pic>
        <p:nvPicPr>
          <p:cNvPr id="9" name="Picture 8" descr="https://cdn.pixabay.com/photo/2016/04/13/19/23/binary-1327501_960_720.jpg"/>
          <p:cNvPicPr>
            <a:picLocks noChangeAspect="1" noChangeArrowheads="1"/>
          </p:cNvPicPr>
          <p:nvPr/>
        </p:nvPicPr>
        <p:blipFill>
          <a:blip r:embed="rId11" cstate="print"/>
          <a:srcRect/>
          <a:stretch>
            <a:fillRect/>
          </a:stretch>
        </p:blipFill>
        <p:spPr bwMode="auto">
          <a:xfrm>
            <a:off x="395536" y="0"/>
            <a:ext cx="2828754" cy="1152128"/>
          </a:xfrm>
          <a:prstGeom prst="rect">
            <a:avLst/>
          </a:prstGeom>
          <a:noFill/>
        </p:spPr>
      </p:pic>
      <p:grpSp>
        <p:nvGrpSpPr>
          <p:cNvPr id="28" name="Gruppieren 27"/>
          <p:cNvGrpSpPr/>
          <p:nvPr userDrawn="1"/>
        </p:nvGrpSpPr>
        <p:grpSpPr>
          <a:xfrm>
            <a:off x="3059832" y="0"/>
            <a:ext cx="3312368" cy="1152525"/>
            <a:chOff x="3059832" y="0"/>
            <a:chExt cx="3312368" cy="1152525"/>
          </a:xfrm>
        </p:grpSpPr>
        <p:pic>
          <p:nvPicPr>
            <p:cNvPr id="10244" name="Picture 4" descr="https://scontent-muc2-1.xx.fbcdn.net/v/t1.0-9/105047738_302269647821182_6536006559647297022_o.jpg?_nc_cat=105&amp;_nc_sid=730e14&amp;_nc_ohc=TQF0ZCkImkEAX_9ZuvG&amp;_nc_ht=scontent-muc2-1.xx&amp;oh=0be3c9382f21dded80330d22b968e298&amp;oe=5F833F90"/>
            <p:cNvPicPr>
              <a:picLocks noChangeAspect="1" noChangeArrowheads="1"/>
            </p:cNvPicPr>
            <p:nvPr userDrawn="1"/>
          </p:nvPicPr>
          <p:blipFill>
            <a:blip r:embed="rId12" cstate="print"/>
            <a:srcRect/>
            <a:stretch>
              <a:fillRect/>
            </a:stretch>
          </p:blipFill>
          <p:spPr bwMode="auto">
            <a:xfrm>
              <a:off x="3059832" y="0"/>
              <a:ext cx="1728192" cy="1152128"/>
            </a:xfrm>
            <a:prstGeom prst="rect">
              <a:avLst/>
            </a:prstGeom>
            <a:noFill/>
          </p:spPr>
        </p:pic>
        <p:grpSp>
          <p:nvGrpSpPr>
            <p:cNvPr id="27" name="Gruppieren 26"/>
            <p:cNvGrpSpPr/>
            <p:nvPr userDrawn="1"/>
          </p:nvGrpSpPr>
          <p:grpSpPr>
            <a:xfrm>
              <a:off x="4427984" y="0"/>
              <a:ext cx="1944216" cy="1152525"/>
              <a:chOff x="4427984" y="0"/>
              <a:chExt cx="1944216" cy="1152525"/>
            </a:xfrm>
          </p:grpSpPr>
          <p:pic>
            <p:nvPicPr>
              <p:cNvPr id="10242" name="Picture 2" descr="Banner, Header, Mathematik, Formel, Physik, Schule"/>
              <p:cNvPicPr>
                <a:picLocks noChangeAspect="1" noChangeArrowheads="1"/>
              </p:cNvPicPr>
              <p:nvPr userDrawn="1"/>
            </p:nvPicPr>
            <p:blipFill>
              <a:blip r:embed="rId13" cstate="print"/>
              <a:srcRect/>
              <a:stretch>
                <a:fillRect/>
              </a:stretch>
            </p:blipFill>
            <p:spPr bwMode="auto">
              <a:xfrm>
                <a:off x="4427984" y="0"/>
                <a:ext cx="1944216" cy="267494"/>
              </a:xfrm>
              <a:prstGeom prst="rect">
                <a:avLst/>
              </a:prstGeom>
              <a:noFill/>
            </p:spPr>
          </p:pic>
          <p:pic>
            <p:nvPicPr>
              <p:cNvPr id="23" name="Picture 2" descr="Banner, Header, Mathematik, Formel, Physik, Schule"/>
              <p:cNvPicPr>
                <a:picLocks noChangeAspect="1" noChangeArrowheads="1"/>
              </p:cNvPicPr>
              <p:nvPr userDrawn="1"/>
            </p:nvPicPr>
            <p:blipFill>
              <a:blip r:embed="rId14" cstate="print"/>
              <a:srcRect/>
              <a:stretch>
                <a:fillRect/>
              </a:stretch>
            </p:blipFill>
            <p:spPr bwMode="auto">
              <a:xfrm>
                <a:off x="4572000" y="267494"/>
                <a:ext cx="1656184" cy="432048"/>
              </a:xfrm>
              <a:prstGeom prst="rect">
                <a:avLst/>
              </a:prstGeom>
              <a:noFill/>
            </p:spPr>
          </p:pic>
          <p:pic>
            <p:nvPicPr>
              <p:cNvPr id="26" name="Picture 2" descr="Banner, Header, Mathematik, Formel, Physik, Schule"/>
              <p:cNvPicPr>
                <a:picLocks noChangeAspect="1" noChangeArrowheads="1"/>
              </p:cNvPicPr>
              <p:nvPr userDrawn="1"/>
            </p:nvPicPr>
            <p:blipFill>
              <a:blip r:embed="rId15" cstate="print"/>
              <a:srcRect/>
              <a:stretch>
                <a:fillRect/>
              </a:stretch>
            </p:blipFill>
            <p:spPr bwMode="auto">
              <a:xfrm>
                <a:off x="4716016" y="689073"/>
                <a:ext cx="1368152" cy="463452"/>
              </a:xfrm>
              <a:prstGeom prst="rect">
                <a:avLst/>
              </a:prstGeom>
              <a:noFill/>
            </p:spPr>
          </p:pic>
        </p:grpSp>
      </p:grpSp>
      <p:sp>
        <p:nvSpPr>
          <p:cNvPr id="2" name="Titel 1"/>
          <p:cNvSpPr>
            <a:spLocks noGrp="1"/>
          </p:cNvSpPr>
          <p:nvPr userDrawn="1">
            <p:ph type="ctrTitle"/>
          </p:nvPr>
        </p:nvSpPr>
        <p:spPr>
          <a:xfrm>
            <a:off x="685800" y="1347614"/>
            <a:ext cx="7772400" cy="864095"/>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ctr">
              <a:defRPr/>
            </a:lvl1pPr>
          </a:lstStyle>
          <a:p>
            <a:r>
              <a:rPr lang="de-DE" dirty="0"/>
              <a:t>Titelmasterformat durch Klicken bearbeiten</a:t>
            </a:r>
          </a:p>
        </p:txBody>
      </p:sp>
      <p:sp>
        <p:nvSpPr>
          <p:cNvPr id="3" name="Untertitel 2"/>
          <p:cNvSpPr>
            <a:spLocks noGrp="1"/>
          </p:cNvSpPr>
          <p:nvPr userDrawn="1">
            <p:ph type="subTitle" idx="1"/>
          </p:nvPr>
        </p:nvSpPr>
        <p:spPr>
          <a:xfrm>
            <a:off x="1371600" y="2355726"/>
            <a:ext cx="6400800" cy="1314450"/>
          </a:xfrm>
          <a:prstGeom prst="rect">
            <a:avLst/>
          </a:prstGeom>
        </p:spPr>
        <p:txBody>
          <a:bodyPr/>
          <a:lstStyle>
            <a:lvl1pPr marL="0" indent="0" algn="ctr">
              <a:buNone/>
              <a:defRPr sz="1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dirty="0"/>
              <a:t>Formatvorlage des Untertitelmasters durch Klicken bearbeiten</a:t>
            </a:r>
          </a:p>
        </p:txBody>
      </p:sp>
      <p:sp>
        <p:nvSpPr>
          <p:cNvPr id="13" name="Textfeld 12"/>
          <p:cNvSpPr txBox="1"/>
          <p:nvPr userDrawn="1">
            <p:custDataLst>
              <p:tags r:id="rId1"/>
            </p:custDataLst>
          </p:nvPr>
        </p:nvSpPr>
        <p:spPr>
          <a:xfrm>
            <a:off x="7543657" y="720080"/>
            <a:ext cx="150554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Florian Rupp</a:t>
            </a:r>
          </a:p>
        </p:txBody>
      </p:sp>
      <p:sp>
        <p:nvSpPr>
          <p:cNvPr id="14" name="Freihandform 13"/>
          <p:cNvSpPr/>
          <p:nvPr userDrawn="1">
            <p:custDataLst>
              <p:tags r:id="rId2"/>
            </p:custDataLst>
          </p:nvPr>
        </p:nvSpPr>
        <p:spPr>
          <a:xfrm flipH="1">
            <a:off x="6024860" y="447"/>
            <a:ext cx="313184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1955800"/>
              <a:gd name="connsiteY0" fmla="*/ 0 h 1143000"/>
              <a:gd name="connsiteX1" fmla="*/ 1641023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641023"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5" name="Parallelogramm 14"/>
          <p:cNvSpPr/>
          <p:nvPr userDrawn="1">
            <p:custDataLst>
              <p:tags r:id="rId3"/>
            </p:custDataLst>
          </p:nvPr>
        </p:nvSpPr>
        <p:spPr>
          <a:xfrm>
            <a:off x="5808836" y="1"/>
            <a:ext cx="792088" cy="1152128"/>
          </a:xfrm>
          <a:prstGeom prst="parallelogram">
            <a:avLst>
              <a:gd name="adj" fmla="val 63481"/>
            </a:avLst>
          </a:pr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6" name="Parallelogramm 15"/>
          <p:cNvSpPr/>
          <p:nvPr userDrawn="1">
            <p:custDataLst>
              <p:tags r:id="rId4"/>
            </p:custDataLst>
          </p:nvPr>
        </p:nvSpPr>
        <p:spPr>
          <a:xfrm>
            <a:off x="2568476" y="1"/>
            <a:ext cx="1152128" cy="1152128"/>
          </a:xfrm>
          <a:prstGeom prst="parallelogram">
            <a:avLst>
              <a:gd name="adj" fmla="val 52628"/>
            </a:avLst>
          </a:prstGeom>
          <a:solidFill>
            <a:srgbClr val="1F497D">
              <a:lumMod val="60000"/>
              <a:lumOff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7" name="Parallelogramm 16"/>
          <p:cNvSpPr/>
          <p:nvPr userDrawn="1">
            <p:custDataLst>
              <p:tags r:id="rId5"/>
            </p:custDataLst>
          </p:nvPr>
        </p:nvSpPr>
        <p:spPr>
          <a:xfrm flipH="1">
            <a:off x="4296668" y="1"/>
            <a:ext cx="648072" cy="1152128"/>
          </a:xfrm>
          <a:prstGeom prst="parallelogram">
            <a:avLst>
              <a:gd name="adj" fmla="val 68305"/>
            </a:avLst>
          </a:prstGeom>
          <a:solidFill>
            <a:srgbClr val="F79646"/>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8" name="Parallelogramm 17"/>
          <p:cNvSpPr/>
          <p:nvPr userDrawn="1">
            <p:custDataLst>
              <p:tags r:id="rId6"/>
            </p:custDataLst>
          </p:nvPr>
        </p:nvSpPr>
        <p:spPr>
          <a:xfrm>
            <a:off x="2568476" y="1"/>
            <a:ext cx="1008112" cy="1152128"/>
          </a:xfrm>
          <a:prstGeom prst="parallelogram">
            <a:avLst>
              <a:gd name="adj" fmla="val 88390"/>
            </a:avLst>
          </a:prstGeom>
          <a:solidFill>
            <a:srgbClr val="4F81BD">
              <a:lumMod val="20000"/>
              <a:lumOff val="8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9" name="Freihandform 18"/>
          <p:cNvSpPr/>
          <p:nvPr userDrawn="1">
            <p:custDataLst>
              <p:tags r:id="rId7"/>
            </p:custDataLst>
          </p:nvPr>
        </p:nvSpPr>
        <p:spPr>
          <a:xfrm>
            <a:off x="0" y="0"/>
            <a:ext cx="195580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485900"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0" name="Freihandform 19"/>
          <p:cNvSpPr/>
          <p:nvPr userDrawn="1">
            <p:custDataLst>
              <p:tags r:id="rId8"/>
            </p:custDataLst>
          </p:nvPr>
        </p:nvSpPr>
        <p:spPr>
          <a:xfrm>
            <a:off x="2580060" y="1"/>
            <a:ext cx="92452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0 w 2880320"/>
              <a:gd name="connsiteY4" fmla="*/ 0 h 1143000"/>
              <a:gd name="connsiteX0" fmla="*/ 216024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2160240 w 28803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132432 w 924520"/>
              <a:gd name="connsiteY3" fmla="*/ 643436 h 1143000"/>
              <a:gd name="connsiteX4" fmla="*/ 204440 w 9245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204440 w 924520"/>
              <a:gd name="connsiteY4" fmla="*/ 0 h 1143000"/>
              <a:gd name="connsiteX0" fmla="*/ 348456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348456 w 924520"/>
              <a:gd name="connsiteY4" fmla="*/ 0 h 1143000"/>
              <a:gd name="connsiteX0" fmla="*/ 348456 w 924520"/>
              <a:gd name="connsiteY0" fmla="*/ 571943 h 1143000"/>
              <a:gd name="connsiteX1" fmla="*/ 924520 w 924520"/>
              <a:gd name="connsiteY1" fmla="*/ 0 h 1143000"/>
              <a:gd name="connsiteX2" fmla="*/ 0 w 924520"/>
              <a:gd name="connsiteY2" fmla="*/ 1143000 h 1143000"/>
              <a:gd name="connsiteX3" fmla="*/ 348456 w 924520"/>
              <a:gd name="connsiteY3" fmla="*/ 571943 h 1143000"/>
              <a:gd name="connsiteX0" fmla="*/ 420464 w 924520"/>
              <a:gd name="connsiteY0" fmla="*/ 0 h 1143000"/>
              <a:gd name="connsiteX1" fmla="*/ 924520 w 924520"/>
              <a:gd name="connsiteY1" fmla="*/ 0 h 1143000"/>
              <a:gd name="connsiteX2" fmla="*/ 0 w 924520"/>
              <a:gd name="connsiteY2" fmla="*/ 1143000 h 1143000"/>
              <a:gd name="connsiteX3" fmla="*/ 420464 w 924520"/>
              <a:gd name="connsiteY3" fmla="*/ 0 h 1143000"/>
            </a:gdLst>
            <a:ahLst/>
            <a:cxnLst>
              <a:cxn ang="0">
                <a:pos x="connsiteX0" y="connsiteY0"/>
              </a:cxn>
              <a:cxn ang="0">
                <a:pos x="connsiteX1" y="connsiteY1"/>
              </a:cxn>
              <a:cxn ang="0">
                <a:pos x="connsiteX2" y="connsiteY2"/>
              </a:cxn>
              <a:cxn ang="0">
                <a:pos x="connsiteX3" y="connsiteY3"/>
              </a:cxn>
            </a:cxnLst>
            <a:rect l="l" t="t" r="r" b="b"/>
            <a:pathLst>
              <a:path w="924520" h="1143000">
                <a:moveTo>
                  <a:pt x="420464" y="0"/>
                </a:moveTo>
                <a:lnTo>
                  <a:pt x="924520" y="0"/>
                </a:lnTo>
                <a:lnTo>
                  <a:pt x="0" y="1143000"/>
                </a:lnTo>
                <a:lnTo>
                  <a:pt x="420464" y="0"/>
                </a:lnTo>
                <a:close/>
              </a:path>
            </a:pathLst>
          </a:cu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1" name="Rechteck 20"/>
          <p:cNvSpPr/>
          <p:nvPr userDrawn="1">
            <p:custDataLst>
              <p:tags r:id="rId9"/>
            </p:custDataLst>
          </p:nvPr>
        </p:nvSpPr>
        <p:spPr>
          <a:xfrm>
            <a:off x="795" y="648469"/>
            <a:ext cx="9155906" cy="504056"/>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2" name="Rectangle 3"/>
          <p:cNvSpPr txBox="1">
            <a:spLocks noChangeArrowheads="1"/>
          </p:cNvSpPr>
          <p:nvPr userDrawn="1"/>
        </p:nvSpPr>
        <p:spPr bwMode="auto">
          <a:xfrm>
            <a:off x="845840" y="4240838"/>
            <a:ext cx="7452320" cy="851192"/>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p>
            <a:pPr lvl="0" algn="ctr">
              <a:spcBef>
                <a:spcPct val="20000"/>
              </a:spcBef>
              <a:defRPr/>
            </a:pPr>
            <a:r>
              <a:rPr lang="en-US" sz="1400" b="1" kern="0" dirty="0">
                <a:latin typeface="+mn-lt"/>
              </a:rPr>
              <a:t>Prof. Dr. Dr. </a:t>
            </a:r>
            <a:r>
              <a:rPr lang="en-US" sz="1400" b="1" kern="0" dirty="0" err="1">
                <a:latin typeface="+mn-lt"/>
              </a:rPr>
              <a:t>h.c</a:t>
            </a:r>
            <a:r>
              <a:rPr lang="en-US" sz="1400" b="1" kern="0" dirty="0">
                <a:latin typeface="+mn-lt"/>
              </a:rPr>
              <a:t>. Florian Rupp</a:t>
            </a:r>
            <a:endParaRPr kumimoji="0" lang="en-US" sz="1400" b="1" i="0" u="none" strike="noStrike" kern="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endParaRPr lang="en-US" sz="500" dirty="0"/>
          </a:p>
          <a:p>
            <a:pPr algn="ctr" eaLnBrk="1" hangingPunct="1"/>
            <a:r>
              <a:rPr lang="en-US" sz="1400" baseline="0" dirty="0"/>
              <a:t>Western Caspian University &amp; </a:t>
            </a:r>
            <a:r>
              <a:rPr lang="en-US" sz="1400" dirty="0"/>
              <a:t>Kutaisi International</a:t>
            </a:r>
            <a:r>
              <a:rPr lang="en-US" sz="1400" baseline="0" dirty="0"/>
              <a:t> University</a:t>
            </a:r>
            <a:endParaRPr lang="en-US" sz="1400" dirty="0"/>
          </a:p>
        </p:txBody>
      </p:sp>
      <p:pic>
        <p:nvPicPr>
          <p:cNvPr id="24" name="Grafik 23" descr="index.png"/>
          <p:cNvPicPr>
            <a:picLocks noChangeAspect="1"/>
          </p:cNvPicPr>
          <p:nvPr userDrawn="1"/>
        </p:nvPicPr>
        <p:blipFill>
          <a:blip r:embed="rId16" cstate="print"/>
          <a:stretch>
            <a:fillRect/>
          </a:stretch>
        </p:blipFill>
        <p:spPr>
          <a:xfrm>
            <a:off x="179513" y="4437868"/>
            <a:ext cx="1872207" cy="582154"/>
          </a:xfrm>
          <a:prstGeom prst="rect">
            <a:avLst/>
          </a:prstGeom>
        </p:spPr>
      </p:pic>
      <p:pic>
        <p:nvPicPr>
          <p:cNvPr id="27650" name="Picture 2" descr="https://www.iau-hesd.net/sites/default/files/styles/medium/public/media_logo/western_caspian_university.jpg?itok=s4WTrk6k"/>
          <p:cNvPicPr>
            <a:picLocks noChangeAspect="1" noChangeArrowheads="1"/>
          </p:cNvPicPr>
          <p:nvPr userDrawn="1"/>
        </p:nvPicPr>
        <p:blipFill>
          <a:blip r:embed="rId17" cstate="print"/>
          <a:srcRect/>
          <a:stretch>
            <a:fillRect/>
          </a:stretch>
        </p:blipFill>
        <p:spPr bwMode="auto">
          <a:xfrm>
            <a:off x="251520" y="3219822"/>
            <a:ext cx="1013731" cy="1054898"/>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71600" y="52707"/>
            <a:ext cx="8064896" cy="7096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de-DE" dirty="0"/>
              <a:t>Titelmasterformat durch Klicken bearbeiten</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0" name="Rechteck 19"/>
          <p:cNvSpPr/>
          <p:nvPr userDrawn="1"/>
        </p:nvSpPr>
        <p:spPr>
          <a:xfrm>
            <a:off x="6084168" y="0"/>
            <a:ext cx="3059832" cy="810000"/>
          </a:xfrm>
          <a:prstGeom prst="rect">
            <a:avLst/>
          </a:prstGeom>
          <a:solidFill>
            <a:schemeClr val="tx2"/>
          </a:solidFill>
          <a:ln w="25400" cap="rnd"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9" name="Rechteck 18"/>
          <p:cNvSpPr/>
          <p:nvPr>
            <p:custDataLst>
              <p:tags r:id="rId1"/>
            </p:custDataLst>
          </p:nvPr>
        </p:nvSpPr>
        <p:spPr>
          <a:xfrm>
            <a:off x="560" y="456093"/>
            <a:ext cx="9143440" cy="354739"/>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nvGrpSpPr>
          <p:cNvPr id="43" name="Gruppieren 42"/>
          <p:cNvGrpSpPr/>
          <p:nvPr userDrawn="1"/>
        </p:nvGrpSpPr>
        <p:grpSpPr>
          <a:xfrm>
            <a:off x="0" y="0"/>
            <a:ext cx="6444207" cy="811112"/>
            <a:chOff x="0" y="0"/>
            <a:chExt cx="9156701" cy="1152525"/>
          </a:xfrm>
        </p:grpSpPr>
        <p:pic>
          <p:nvPicPr>
            <p:cNvPr id="28" name="Picture 8" descr="https://cdn.pixabay.com/photo/2016/04/13/19/23/binary-1327501_960_720.jpg"/>
            <p:cNvPicPr>
              <a:picLocks noChangeAspect="1" noChangeArrowheads="1"/>
            </p:cNvPicPr>
            <p:nvPr userDrawn="1"/>
          </p:nvPicPr>
          <p:blipFill>
            <a:blip r:embed="rId11" cstate="print"/>
            <a:srcRect/>
            <a:stretch>
              <a:fillRect/>
            </a:stretch>
          </p:blipFill>
          <p:spPr bwMode="auto">
            <a:xfrm>
              <a:off x="395536" y="0"/>
              <a:ext cx="2828754" cy="1152128"/>
            </a:xfrm>
            <a:prstGeom prst="rect">
              <a:avLst/>
            </a:prstGeom>
            <a:noFill/>
          </p:spPr>
        </p:pic>
        <p:grpSp>
          <p:nvGrpSpPr>
            <p:cNvPr id="29" name="Gruppieren 28"/>
            <p:cNvGrpSpPr/>
            <p:nvPr userDrawn="1"/>
          </p:nvGrpSpPr>
          <p:grpSpPr>
            <a:xfrm>
              <a:off x="3059832" y="0"/>
              <a:ext cx="3312368" cy="1152525"/>
              <a:chOff x="3059832" y="0"/>
              <a:chExt cx="3312368" cy="1152525"/>
            </a:xfrm>
          </p:grpSpPr>
          <p:pic>
            <p:nvPicPr>
              <p:cNvPr id="30" name="Picture 4" descr="https://scontent-muc2-1.xx.fbcdn.net/v/t1.0-9/105047738_302269647821182_6536006559647297022_o.jpg?_nc_cat=105&amp;_nc_sid=730e14&amp;_nc_ohc=TQF0ZCkImkEAX_9ZuvG&amp;_nc_ht=scontent-muc2-1.xx&amp;oh=0be3c9382f21dded80330d22b968e298&amp;oe=5F833F90"/>
              <p:cNvPicPr>
                <a:picLocks noChangeAspect="1" noChangeArrowheads="1"/>
              </p:cNvPicPr>
              <p:nvPr userDrawn="1"/>
            </p:nvPicPr>
            <p:blipFill>
              <a:blip r:embed="rId12" cstate="print"/>
              <a:srcRect/>
              <a:stretch>
                <a:fillRect/>
              </a:stretch>
            </p:blipFill>
            <p:spPr bwMode="auto">
              <a:xfrm>
                <a:off x="3059832" y="0"/>
                <a:ext cx="1728192" cy="1152128"/>
              </a:xfrm>
              <a:prstGeom prst="rect">
                <a:avLst/>
              </a:prstGeom>
              <a:noFill/>
            </p:spPr>
          </p:pic>
          <p:grpSp>
            <p:nvGrpSpPr>
              <p:cNvPr id="31" name="Gruppieren 26"/>
              <p:cNvGrpSpPr/>
              <p:nvPr userDrawn="1"/>
            </p:nvGrpSpPr>
            <p:grpSpPr>
              <a:xfrm>
                <a:off x="4427984" y="0"/>
                <a:ext cx="1944216" cy="1152525"/>
                <a:chOff x="4427984" y="0"/>
                <a:chExt cx="1944216" cy="1152525"/>
              </a:xfrm>
            </p:grpSpPr>
            <p:pic>
              <p:nvPicPr>
                <p:cNvPr id="32" name="Picture 2" descr="Banner, Header, Mathematik, Formel, Physik, Schule"/>
                <p:cNvPicPr>
                  <a:picLocks noChangeAspect="1" noChangeArrowheads="1"/>
                </p:cNvPicPr>
                <p:nvPr userDrawn="1"/>
              </p:nvPicPr>
              <p:blipFill>
                <a:blip r:embed="rId13" cstate="print"/>
                <a:srcRect/>
                <a:stretch>
                  <a:fillRect/>
                </a:stretch>
              </p:blipFill>
              <p:spPr bwMode="auto">
                <a:xfrm>
                  <a:off x="4427984" y="0"/>
                  <a:ext cx="1944216" cy="267494"/>
                </a:xfrm>
                <a:prstGeom prst="rect">
                  <a:avLst/>
                </a:prstGeom>
                <a:noFill/>
              </p:spPr>
            </p:pic>
            <p:pic>
              <p:nvPicPr>
                <p:cNvPr id="33" name="Picture 2" descr="Banner, Header, Mathematik, Formel, Physik, Schule"/>
                <p:cNvPicPr>
                  <a:picLocks noChangeAspect="1" noChangeArrowheads="1"/>
                </p:cNvPicPr>
                <p:nvPr userDrawn="1"/>
              </p:nvPicPr>
              <p:blipFill>
                <a:blip r:embed="rId14" cstate="print"/>
                <a:srcRect/>
                <a:stretch>
                  <a:fillRect/>
                </a:stretch>
              </p:blipFill>
              <p:spPr bwMode="auto">
                <a:xfrm>
                  <a:off x="4572000" y="267494"/>
                  <a:ext cx="1656184" cy="432048"/>
                </a:xfrm>
                <a:prstGeom prst="rect">
                  <a:avLst/>
                </a:prstGeom>
                <a:noFill/>
              </p:spPr>
            </p:pic>
            <p:pic>
              <p:nvPicPr>
                <p:cNvPr id="34" name="Picture 2" descr="Banner, Header, Mathematik, Formel, Physik, Schule"/>
                <p:cNvPicPr>
                  <a:picLocks noChangeAspect="1" noChangeArrowheads="1"/>
                </p:cNvPicPr>
                <p:nvPr userDrawn="1"/>
              </p:nvPicPr>
              <p:blipFill>
                <a:blip r:embed="rId15" cstate="print"/>
                <a:srcRect/>
                <a:stretch>
                  <a:fillRect/>
                </a:stretch>
              </p:blipFill>
              <p:spPr bwMode="auto">
                <a:xfrm>
                  <a:off x="4716016" y="689073"/>
                  <a:ext cx="1368152" cy="463452"/>
                </a:xfrm>
                <a:prstGeom prst="rect">
                  <a:avLst/>
                </a:prstGeom>
                <a:noFill/>
              </p:spPr>
            </p:pic>
          </p:grpSp>
        </p:grpSp>
        <p:sp>
          <p:nvSpPr>
            <p:cNvPr id="35" name="Freihandform 34"/>
            <p:cNvSpPr/>
            <p:nvPr userDrawn="1">
              <p:custDataLst>
                <p:tags r:id="rId2"/>
              </p:custDataLst>
            </p:nvPr>
          </p:nvSpPr>
          <p:spPr>
            <a:xfrm flipH="1">
              <a:off x="6024860" y="447"/>
              <a:ext cx="313184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1955800"/>
                <a:gd name="connsiteY0" fmla="*/ 0 h 1143000"/>
                <a:gd name="connsiteX1" fmla="*/ 1641023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641023"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6" name="Parallelogramm 35"/>
            <p:cNvSpPr/>
            <p:nvPr userDrawn="1">
              <p:custDataLst>
                <p:tags r:id="rId3"/>
              </p:custDataLst>
            </p:nvPr>
          </p:nvSpPr>
          <p:spPr>
            <a:xfrm>
              <a:off x="5808836" y="1"/>
              <a:ext cx="792088" cy="1152128"/>
            </a:xfrm>
            <a:prstGeom prst="parallelogram">
              <a:avLst>
                <a:gd name="adj" fmla="val 63481"/>
              </a:avLst>
            </a:pr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7" name="Parallelogramm 36"/>
            <p:cNvSpPr/>
            <p:nvPr userDrawn="1">
              <p:custDataLst>
                <p:tags r:id="rId4"/>
              </p:custDataLst>
            </p:nvPr>
          </p:nvSpPr>
          <p:spPr>
            <a:xfrm>
              <a:off x="2568476" y="1"/>
              <a:ext cx="1152128" cy="1152128"/>
            </a:xfrm>
            <a:prstGeom prst="parallelogram">
              <a:avLst>
                <a:gd name="adj" fmla="val 52628"/>
              </a:avLst>
            </a:prstGeom>
            <a:solidFill>
              <a:srgbClr val="1F497D">
                <a:lumMod val="60000"/>
                <a:lumOff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8" name="Parallelogramm 37"/>
            <p:cNvSpPr/>
            <p:nvPr userDrawn="1">
              <p:custDataLst>
                <p:tags r:id="rId5"/>
              </p:custDataLst>
            </p:nvPr>
          </p:nvSpPr>
          <p:spPr>
            <a:xfrm flipH="1">
              <a:off x="4296668" y="1"/>
              <a:ext cx="648072" cy="1152128"/>
            </a:xfrm>
            <a:prstGeom prst="parallelogram">
              <a:avLst>
                <a:gd name="adj" fmla="val 68305"/>
              </a:avLst>
            </a:prstGeom>
            <a:solidFill>
              <a:srgbClr val="F79646"/>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9" name="Parallelogramm 38"/>
            <p:cNvSpPr/>
            <p:nvPr userDrawn="1">
              <p:custDataLst>
                <p:tags r:id="rId6"/>
              </p:custDataLst>
            </p:nvPr>
          </p:nvSpPr>
          <p:spPr>
            <a:xfrm>
              <a:off x="2568476" y="1"/>
              <a:ext cx="1008112" cy="1152128"/>
            </a:xfrm>
            <a:prstGeom prst="parallelogram">
              <a:avLst>
                <a:gd name="adj" fmla="val 88390"/>
              </a:avLst>
            </a:prstGeom>
            <a:solidFill>
              <a:srgbClr val="4F81BD">
                <a:lumMod val="20000"/>
                <a:lumOff val="8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0" name="Freihandform 39"/>
            <p:cNvSpPr/>
            <p:nvPr userDrawn="1">
              <p:custDataLst>
                <p:tags r:id="rId7"/>
              </p:custDataLst>
            </p:nvPr>
          </p:nvSpPr>
          <p:spPr>
            <a:xfrm>
              <a:off x="0" y="0"/>
              <a:ext cx="195580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485900"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1" name="Freihandform 40"/>
            <p:cNvSpPr/>
            <p:nvPr userDrawn="1">
              <p:custDataLst>
                <p:tags r:id="rId8"/>
              </p:custDataLst>
            </p:nvPr>
          </p:nvSpPr>
          <p:spPr>
            <a:xfrm>
              <a:off x="2580060" y="1"/>
              <a:ext cx="92452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0 w 2880320"/>
                <a:gd name="connsiteY4" fmla="*/ 0 h 1143000"/>
                <a:gd name="connsiteX0" fmla="*/ 216024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2160240 w 28803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132432 w 924520"/>
                <a:gd name="connsiteY3" fmla="*/ 643436 h 1143000"/>
                <a:gd name="connsiteX4" fmla="*/ 204440 w 9245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204440 w 924520"/>
                <a:gd name="connsiteY4" fmla="*/ 0 h 1143000"/>
                <a:gd name="connsiteX0" fmla="*/ 348456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348456 w 924520"/>
                <a:gd name="connsiteY4" fmla="*/ 0 h 1143000"/>
                <a:gd name="connsiteX0" fmla="*/ 348456 w 924520"/>
                <a:gd name="connsiteY0" fmla="*/ 571943 h 1143000"/>
                <a:gd name="connsiteX1" fmla="*/ 924520 w 924520"/>
                <a:gd name="connsiteY1" fmla="*/ 0 h 1143000"/>
                <a:gd name="connsiteX2" fmla="*/ 0 w 924520"/>
                <a:gd name="connsiteY2" fmla="*/ 1143000 h 1143000"/>
                <a:gd name="connsiteX3" fmla="*/ 348456 w 924520"/>
                <a:gd name="connsiteY3" fmla="*/ 571943 h 1143000"/>
                <a:gd name="connsiteX0" fmla="*/ 420464 w 924520"/>
                <a:gd name="connsiteY0" fmla="*/ 0 h 1143000"/>
                <a:gd name="connsiteX1" fmla="*/ 924520 w 924520"/>
                <a:gd name="connsiteY1" fmla="*/ 0 h 1143000"/>
                <a:gd name="connsiteX2" fmla="*/ 0 w 924520"/>
                <a:gd name="connsiteY2" fmla="*/ 1143000 h 1143000"/>
                <a:gd name="connsiteX3" fmla="*/ 420464 w 924520"/>
                <a:gd name="connsiteY3" fmla="*/ 0 h 1143000"/>
              </a:gdLst>
              <a:ahLst/>
              <a:cxnLst>
                <a:cxn ang="0">
                  <a:pos x="connsiteX0" y="connsiteY0"/>
                </a:cxn>
                <a:cxn ang="0">
                  <a:pos x="connsiteX1" y="connsiteY1"/>
                </a:cxn>
                <a:cxn ang="0">
                  <a:pos x="connsiteX2" y="connsiteY2"/>
                </a:cxn>
                <a:cxn ang="0">
                  <a:pos x="connsiteX3" y="connsiteY3"/>
                </a:cxn>
              </a:cxnLst>
              <a:rect l="l" t="t" r="r" b="b"/>
              <a:pathLst>
                <a:path w="924520" h="1143000">
                  <a:moveTo>
                    <a:pt x="420464" y="0"/>
                  </a:moveTo>
                  <a:lnTo>
                    <a:pt x="924520" y="0"/>
                  </a:lnTo>
                  <a:lnTo>
                    <a:pt x="0" y="1143000"/>
                  </a:lnTo>
                  <a:lnTo>
                    <a:pt x="420464" y="0"/>
                  </a:lnTo>
                  <a:close/>
                </a:path>
              </a:pathLst>
            </a:cu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2" name="Rechteck 41"/>
            <p:cNvSpPr/>
            <p:nvPr userDrawn="1">
              <p:custDataLst>
                <p:tags r:id="rId9"/>
              </p:custDataLst>
            </p:nvPr>
          </p:nvSpPr>
          <p:spPr>
            <a:xfrm>
              <a:off x="795" y="648072"/>
              <a:ext cx="9155906" cy="504056"/>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sp>
        <p:nvSpPr>
          <p:cNvPr id="21" name="Line 12"/>
          <p:cNvSpPr>
            <a:spLocks noChangeShapeType="1"/>
          </p:cNvSpPr>
          <p:nvPr userDrawn="1"/>
        </p:nvSpPr>
        <p:spPr bwMode="auto">
          <a:xfrm>
            <a:off x="0" y="824640"/>
            <a:ext cx="9144000" cy="0"/>
          </a:xfrm>
          <a:prstGeom prst="line">
            <a:avLst/>
          </a:prstGeom>
          <a:noFill/>
          <a:ln w="38100">
            <a:solidFill>
              <a:schemeClr val="tx2">
                <a:lumMod val="20000"/>
                <a:lumOff val="80000"/>
              </a:schemeClr>
            </a:solidFill>
            <a:round/>
            <a:headEnd/>
            <a:tailEnd/>
          </a:ln>
          <a:effectLst/>
        </p:spPr>
        <p:txBody>
          <a:bodyPr/>
          <a:lstStyle/>
          <a:p>
            <a:pPr>
              <a:defRPr/>
            </a:pPr>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Leer">
    <p:spTree>
      <p:nvGrpSpPr>
        <p:cNvPr id="1" name=""/>
        <p:cNvGrpSpPr/>
        <p:nvPr/>
      </p:nvGrpSpPr>
      <p:grpSpPr>
        <a:xfrm>
          <a:off x="0" y="0"/>
          <a:ext cx="0" cy="0"/>
          <a:chOff x="0" y="0"/>
          <a:chExt cx="0" cy="0"/>
        </a:xfrm>
      </p:grpSpPr>
      <p:pic>
        <p:nvPicPr>
          <p:cNvPr id="7" name="Picture 8" descr="https://cdn.pixabay.com/photo/2016/04/13/19/23/binary-1327501_960_720.jpg"/>
          <p:cNvPicPr>
            <a:picLocks noChangeAspect="1" noChangeArrowheads="1"/>
          </p:cNvPicPr>
          <p:nvPr/>
        </p:nvPicPr>
        <p:blipFill>
          <a:blip r:embed="rId12" cstate="print"/>
          <a:srcRect/>
          <a:stretch>
            <a:fillRect/>
          </a:stretch>
        </p:blipFill>
        <p:spPr bwMode="auto">
          <a:xfrm>
            <a:off x="395536" y="0"/>
            <a:ext cx="2828754" cy="1152128"/>
          </a:xfrm>
          <a:prstGeom prst="rect">
            <a:avLst/>
          </a:prstGeom>
          <a:noFill/>
        </p:spPr>
      </p:pic>
      <p:grpSp>
        <p:nvGrpSpPr>
          <p:cNvPr id="26" name="Gruppieren 25"/>
          <p:cNvGrpSpPr/>
          <p:nvPr userDrawn="1"/>
        </p:nvGrpSpPr>
        <p:grpSpPr>
          <a:xfrm>
            <a:off x="3059832" y="0"/>
            <a:ext cx="3312368" cy="1152525"/>
            <a:chOff x="3059832" y="0"/>
            <a:chExt cx="3312368" cy="1152525"/>
          </a:xfrm>
        </p:grpSpPr>
        <p:pic>
          <p:nvPicPr>
            <p:cNvPr id="27" name="Picture 4" descr="https://scontent-muc2-1.xx.fbcdn.net/v/t1.0-9/105047738_302269647821182_6536006559647297022_o.jpg?_nc_cat=105&amp;_nc_sid=730e14&amp;_nc_ohc=TQF0ZCkImkEAX_9ZuvG&amp;_nc_ht=scontent-muc2-1.xx&amp;oh=0be3c9382f21dded80330d22b968e298&amp;oe=5F833F90"/>
            <p:cNvPicPr>
              <a:picLocks noChangeAspect="1" noChangeArrowheads="1"/>
            </p:cNvPicPr>
            <p:nvPr userDrawn="1"/>
          </p:nvPicPr>
          <p:blipFill>
            <a:blip r:embed="rId13" cstate="print"/>
            <a:srcRect/>
            <a:stretch>
              <a:fillRect/>
            </a:stretch>
          </p:blipFill>
          <p:spPr bwMode="auto">
            <a:xfrm>
              <a:off x="3059832" y="0"/>
              <a:ext cx="1728192" cy="1152128"/>
            </a:xfrm>
            <a:prstGeom prst="rect">
              <a:avLst/>
            </a:prstGeom>
            <a:noFill/>
          </p:spPr>
        </p:pic>
        <p:grpSp>
          <p:nvGrpSpPr>
            <p:cNvPr id="28" name="Gruppieren 26"/>
            <p:cNvGrpSpPr/>
            <p:nvPr userDrawn="1"/>
          </p:nvGrpSpPr>
          <p:grpSpPr>
            <a:xfrm>
              <a:off x="4427984" y="0"/>
              <a:ext cx="1944216" cy="1152525"/>
              <a:chOff x="4427984" y="0"/>
              <a:chExt cx="1944216" cy="1152525"/>
            </a:xfrm>
          </p:grpSpPr>
          <p:pic>
            <p:nvPicPr>
              <p:cNvPr id="29" name="Picture 2" descr="Banner, Header, Mathematik, Formel, Physik, Schule"/>
              <p:cNvPicPr>
                <a:picLocks noChangeAspect="1" noChangeArrowheads="1"/>
              </p:cNvPicPr>
              <p:nvPr userDrawn="1"/>
            </p:nvPicPr>
            <p:blipFill>
              <a:blip r:embed="rId14" cstate="print"/>
              <a:srcRect/>
              <a:stretch>
                <a:fillRect/>
              </a:stretch>
            </p:blipFill>
            <p:spPr bwMode="auto">
              <a:xfrm>
                <a:off x="4427984" y="0"/>
                <a:ext cx="1944216" cy="267494"/>
              </a:xfrm>
              <a:prstGeom prst="rect">
                <a:avLst/>
              </a:prstGeom>
              <a:noFill/>
            </p:spPr>
          </p:pic>
          <p:pic>
            <p:nvPicPr>
              <p:cNvPr id="30" name="Picture 2" descr="Banner, Header, Mathematik, Formel, Physik, Schule"/>
              <p:cNvPicPr>
                <a:picLocks noChangeAspect="1" noChangeArrowheads="1"/>
              </p:cNvPicPr>
              <p:nvPr userDrawn="1"/>
            </p:nvPicPr>
            <p:blipFill>
              <a:blip r:embed="rId15" cstate="print"/>
              <a:srcRect/>
              <a:stretch>
                <a:fillRect/>
              </a:stretch>
            </p:blipFill>
            <p:spPr bwMode="auto">
              <a:xfrm>
                <a:off x="4572000" y="267494"/>
                <a:ext cx="1656184" cy="432048"/>
              </a:xfrm>
              <a:prstGeom prst="rect">
                <a:avLst/>
              </a:prstGeom>
              <a:noFill/>
            </p:spPr>
          </p:pic>
          <p:pic>
            <p:nvPicPr>
              <p:cNvPr id="31" name="Picture 2" descr="Banner, Header, Mathematik, Formel, Physik, Schule"/>
              <p:cNvPicPr>
                <a:picLocks noChangeAspect="1" noChangeArrowheads="1"/>
              </p:cNvPicPr>
              <p:nvPr userDrawn="1"/>
            </p:nvPicPr>
            <p:blipFill>
              <a:blip r:embed="rId16" cstate="print"/>
              <a:srcRect/>
              <a:stretch>
                <a:fillRect/>
              </a:stretch>
            </p:blipFill>
            <p:spPr bwMode="auto">
              <a:xfrm>
                <a:off x="4716016" y="689073"/>
                <a:ext cx="1368152" cy="463452"/>
              </a:xfrm>
              <a:prstGeom prst="rect">
                <a:avLst/>
              </a:prstGeom>
              <a:noFill/>
            </p:spPr>
          </p:pic>
        </p:grpSp>
      </p:grpSp>
      <p:sp>
        <p:nvSpPr>
          <p:cNvPr id="24" name="Rechteck 23"/>
          <p:cNvSpPr/>
          <p:nvPr userDrawn="1"/>
        </p:nvSpPr>
        <p:spPr>
          <a:xfrm>
            <a:off x="179512" y="1275606"/>
            <a:ext cx="3240360" cy="37444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feld 10"/>
          <p:cNvSpPr txBox="1"/>
          <p:nvPr>
            <p:custDataLst>
              <p:tags r:id="rId1"/>
            </p:custDataLst>
          </p:nvPr>
        </p:nvSpPr>
        <p:spPr>
          <a:xfrm>
            <a:off x="7543657" y="720080"/>
            <a:ext cx="150554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Florian Rupp</a:t>
            </a:r>
          </a:p>
        </p:txBody>
      </p:sp>
      <p:sp>
        <p:nvSpPr>
          <p:cNvPr id="12" name="Freihandform 11"/>
          <p:cNvSpPr/>
          <p:nvPr>
            <p:custDataLst>
              <p:tags r:id="rId2"/>
            </p:custDataLst>
          </p:nvPr>
        </p:nvSpPr>
        <p:spPr>
          <a:xfrm flipH="1">
            <a:off x="6024860" y="447"/>
            <a:ext cx="313184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1955800"/>
              <a:gd name="connsiteY0" fmla="*/ 0 h 1143000"/>
              <a:gd name="connsiteX1" fmla="*/ 1641023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641023"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3" name="Parallelogramm 12"/>
          <p:cNvSpPr/>
          <p:nvPr>
            <p:custDataLst>
              <p:tags r:id="rId3"/>
            </p:custDataLst>
          </p:nvPr>
        </p:nvSpPr>
        <p:spPr>
          <a:xfrm>
            <a:off x="5808836" y="1"/>
            <a:ext cx="792088" cy="1152128"/>
          </a:xfrm>
          <a:prstGeom prst="parallelogram">
            <a:avLst>
              <a:gd name="adj" fmla="val 63481"/>
            </a:avLst>
          </a:pr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4" name="Parallelogramm 13"/>
          <p:cNvSpPr/>
          <p:nvPr>
            <p:custDataLst>
              <p:tags r:id="rId4"/>
            </p:custDataLst>
          </p:nvPr>
        </p:nvSpPr>
        <p:spPr>
          <a:xfrm>
            <a:off x="2568476" y="1"/>
            <a:ext cx="1152128" cy="1152128"/>
          </a:xfrm>
          <a:prstGeom prst="parallelogram">
            <a:avLst>
              <a:gd name="adj" fmla="val 52628"/>
            </a:avLst>
          </a:prstGeom>
          <a:solidFill>
            <a:srgbClr val="1F497D">
              <a:lumMod val="60000"/>
              <a:lumOff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5" name="Parallelogramm 14"/>
          <p:cNvSpPr/>
          <p:nvPr>
            <p:custDataLst>
              <p:tags r:id="rId5"/>
            </p:custDataLst>
          </p:nvPr>
        </p:nvSpPr>
        <p:spPr>
          <a:xfrm flipH="1">
            <a:off x="4296668" y="1"/>
            <a:ext cx="648072" cy="1152128"/>
          </a:xfrm>
          <a:prstGeom prst="parallelogram">
            <a:avLst>
              <a:gd name="adj" fmla="val 68305"/>
            </a:avLst>
          </a:prstGeom>
          <a:solidFill>
            <a:srgbClr val="F79646"/>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6" name="Parallelogramm 15"/>
          <p:cNvSpPr/>
          <p:nvPr>
            <p:custDataLst>
              <p:tags r:id="rId6"/>
            </p:custDataLst>
          </p:nvPr>
        </p:nvSpPr>
        <p:spPr>
          <a:xfrm>
            <a:off x="2568476" y="1"/>
            <a:ext cx="1008112" cy="1152128"/>
          </a:xfrm>
          <a:prstGeom prst="parallelogram">
            <a:avLst>
              <a:gd name="adj" fmla="val 88390"/>
            </a:avLst>
          </a:prstGeom>
          <a:solidFill>
            <a:srgbClr val="4F81BD">
              <a:lumMod val="20000"/>
              <a:lumOff val="8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7" name="Freihandform 16"/>
          <p:cNvSpPr/>
          <p:nvPr>
            <p:custDataLst>
              <p:tags r:id="rId7"/>
            </p:custDataLst>
          </p:nvPr>
        </p:nvSpPr>
        <p:spPr>
          <a:xfrm>
            <a:off x="0" y="0"/>
            <a:ext cx="195580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485900"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8" name="Freihandform 17"/>
          <p:cNvSpPr/>
          <p:nvPr>
            <p:custDataLst>
              <p:tags r:id="rId8"/>
            </p:custDataLst>
          </p:nvPr>
        </p:nvSpPr>
        <p:spPr>
          <a:xfrm>
            <a:off x="2580060" y="1"/>
            <a:ext cx="92452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0 w 2880320"/>
              <a:gd name="connsiteY4" fmla="*/ 0 h 1143000"/>
              <a:gd name="connsiteX0" fmla="*/ 216024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2160240 w 28803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132432 w 924520"/>
              <a:gd name="connsiteY3" fmla="*/ 643436 h 1143000"/>
              <a:gd name="connsiteX4" fmla="*/ 204440 w 9245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204440 w 924520"/>
              <a:gd name="connsiteY4" fmla="*/ 0 h 1143000"/>
              <a:gd name="connsiteX0" fmla="*/ 348456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348456 w 924520"/>
              <a:gd name="connsiteY4" fmla="*/ 0 h 1143000"/>
              <a:gd name="connsiteX0" fmla="*/ 348456 w 924520"/>
              <a:gd name="connsiteY0" fmla="*/ 571943 h 1143000"/>
              <a:gd name="connsiteX1" fmla="*/ 924520 w 924520"/>
              <a:gd name="connsiteY1" fmla="*/ 0 h 1143000"/>
              <a:gd name="connsiteX2" fmla="*/ 0 w 924520"/>
              <a:gd name="connsiteY2" fmla="*/ 1143000 h 1143000"/>
              <a:gd name="connsiteX3" fmla="*/ 348456 w 924520"/>
              <a:gd name="connsiteY3" fmla="*/ 571943 h 1143000"/>
              <a:gd name="connsiteX0" fmla="*/ 420464 w 924520"/>
              <a:gd name="connsiteY0" fmla="*/ 0 h 1143000"/>
              <a:gd name="connsiteX1" fmla="*/ 924520 w 924520"/>
              <a:gd name="connsiteY1" fmla="*/ 0 h 1143000"/>
              <a:gd name="connsiteX2" fmla="*/ 0 w 924520"/>
              <a:gd name="connsiteY2" fmla="*/ 1143000 h 1143000"/>
              <a:gd name="connsiteX3" fmla="*/ 420464 w 924520"/>
              <a:gd name="connsiteY3" fmla="*/ 0 h 1143000"/>
            </a:gdLst>
            <a:ahLst/>
            <a:cxnLst>
              <a:cxn ang="0">
                <a:pos x="connsiteX0" y="connsiteY0"/>
              </a:cxn>
              <a:cxn ang="0">
                <a:pos x="connsiteX1" y="connsiteY1"/>
              </a:cxn>
              <a:cxn ang="0">
                <a:pos x="connsiteX2" y="connsiteY2"/>
              </a:cxn>
              <a:cxn ang="0">
                <a:pos x="connsiteX3" y="connsiteY3"/>
              </a:cxn>
            </a:cxnLst>
            <a:rect l="l" t="t" r="r" b="b"/>
            <a:pathLst>
              <a:path w="924520" h="1143000">
                <a:moveTo>
                  <a:pt x="420464" y="0"/>
                </a:moveTo>
                <a:lnTo>
                  <a:pt x="924520" y="0"/>
                </a:lnTo>
                <a:lnTo>
                  <a:pt x="0" y="1143000"/>
                </a:lnTo>
                <a:lnTo>
                  <a:pt x="420464" y="0"/>
                </a:lnTo>
                <a:close/>
              </a:path>
            </a:pathLst>
          </a:cu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9" name="Rechteck 18"/>
          <p:cNvSpPr/>
          <p:nvPr>
            <p:custDataLst>
              <p:tags r:id="rId9"/>
            </p:custDataLst>
          </p:nvPr>
        </p:nvSpPr>
        <p:spPr>
          <a:xfrm>
            <a:off x="795" y="648072"/>
            <a:ext cx="9155906" cy="504056"/>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0" name="Titel 1"/>
          <p:cNvSpPr>
            <a:spLocks noGrp="1"/>
          </p:cNvSpPr>
          <p:nvPr userDrawn="1">
            <p:ph type="ctrTitle"/>
          </p:nvPr>
        </p:nvSpPr>
        <p:spPr>
          <a:xfrm>
            <a:off x="3851920" y="1275606"/>
            <a:ext cx="5112568" cy="864095"/>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ctr">
              <a:defRPr/>
            </a:lvl1pPr>
          </a:lstStyle>
          <a:p>
            <a:r>
              <a:rPr lang="de-DE" dirty="0"/>
              <a:t>Titelmasterformat durch Klicken bearbeiten</a:t>
            </a:r>
          </a:p>
        </p:txBody>
      </p:sp>
      <p:sp>
        <p:nvSpPr>
          <p:cNvPr id="23" name="Rectangle 5"/>
          <p:cNvSpPr>
            <a:spLocks noChangeArrowheads="1"/>
          </p:cNvSpPr>
          <p:nvPr userDrawn="1">
            <p:custDataLst>
              <p:tags r:id="rId10"/>
            </p:custDataLst>
          </p:nvPr>
        </p:nvSpPr>
        <p:spPr bwMode="auto">
          <a:xfrm>
            <a:off x="4752020" y="4299942"/>
            <a:ext cx="3240360" cy="720080"/>
          </a:xfrm>
          <a:prstGeom prst="rect">
            <a:avLst/>
          </a:prstGeom>
          <a:noFill/>
          <a:ln w="9525">
            <a:noFill/>
            <a:miter lim="800000"/>
            <a:headEnd/>
            <a:tailEnd/>
          </a:ln>
        </p:spPr>
        <p:txBody>
          <a:bodyPr anchor="b"/>
          <a:lstStyle/>
          <a:p>
            <a:pPr algn="ctr">
              <a:spcBef>
                <a:spcPct val="20000"/>
              </a:spcBef>
            </a:pPr>
            <a:endParaRPr lang="en-US" sz="1400" dirty="0"/>
          </a:p>
        </p:txBody>
      </p:sp>
      <p:sp>
        <p:nvSpPr>
          <p:cNvPr id="25" name="Textfeld 24"/>
          <p:cNvSpPr txBox="1"/>
          <p:nvPr userDrawn="1"/>
        </p:nvSpPr>
        <p:spPr>
          <a:xfrm>
            <a:off x="3851920" y="2355726"/>
            <a:ext cx="5040560" cy="1631216"/>
          </a:xfrm>
          <a:prstGeom prst="rect">
            <a:avLst/>
          </a:prstGeom>
          <a:noFill/>
        </p:spPr>
        <p:txBody>
          <a:bodyPr wrap="square" rtlCol="0">
            <a:spAutoFit/>
          </a:bodyPr>
          <a:lstStyle/>
          <a:p>
            <a:pPr algn="ctr"/>
            <a:r>
              <a:rPr lang="en-US" sz="2000" dirty="0"/>
              <a:t>Questions &amp; Remarks?</a:t>
            </a:r>
          </a:p>
          <a:p>
            <a:pPr algn="ctr"/>
            <a:endParaRPr lang="en-US" sz="2000" dirty="0"/>
          </a:p>
          <a:p>
            <a:pPr algn="ctr"/>
            <a:endParaRPr lang="en-US" sz="2000" dirty="0"/>
          </a:p>
          <a:p>
            <a:pPr algn="ctr"/>
            <a:endParaRPr lang="en-US" sz="2000" dirty="0"/>
          </a:p>
          <a:p>
            <a:pPr algn="ctr"/>
            <a:r>
              <a:rPr lang="en-US" sz="2000" dirty="0"/>
              <a:t>Thank You Very Much</a:t>
            </a:r>
          </a:p>
        </p:txBody>
      </p:sp>
      <p:pic>
        <p:nvPicPr>
          <p:cNvPr id="22" name="Grafik 21" descr="index.png"/>
          <p:cNvPicPr>
            <a:picLocks noChangeAspect="1"/>
          </p:cNvPicPr>
          <p:nvPr userDrawn="1"/>
        </p:nvPicPr>
        <p:blipFill>
          <a:blip r:embed="rId17" cstate="print"/>
          <a:stretch>
            <a:fillRect/>
          </a:stretch>
        </p:blipFill>
        <p:spPr>
          <a:xfrm>
            <a:off x="3798963" y="4578133"/>
            <a:ext cx="1421109" cy="441887"/>
          </a:xfrm>
          <a:prstGeom prst="rect">
            <a:avLst/>
          </a:prstGeom>
        </p:spPr>
      </p:pic>
      <p:pic>
        <p:nvPicPr>
          <p:cNvPr id="32" name="Picture 2" descr="https://www.iau-hesd.net/sites/default/files/styles/medium/public/media_logo/western_caspian_university.jpg?itok=s4WTrk6k"/>
          <p:cNvPicPr>
            <a:picLocks noChangeAspect="1" noChangeArrowheads="1"/>
          </p:cNvPicPr>
          <p:nvPr userDrawn="1"/>
        </p:nvPicPr>
        <p:blipFill>
          <a:blip r:embed="rId18" cstate="print"/>
          <a:srcRect/>
          <a:stretch>
            <a:fillRect/>
          </a:stretch>
        </p:blipFill>
        <p:spPr bwMode="auto">
          <a:xfrm>
            <a:off x="3851920" y="3718029"/>
            <a:ext cx="720080" cy="749323"/>
          </a:xfrm>
          <a:prstGeom prst="rect">
            <a:avLst/>
          </a:prstGeom>
          <a:noFill/>
        </p:spPr>
      </p:pic>
      <p:pic>
        <p:nvPicPr>
          <p:cNvPr id="33" name="Picture 2" descr="https://avatars.mds.yandex.net/get-altay/11886651/2a0000018defa513b9203394e9330d10fd54/XXL_height"/>
          <p:cNvPicPr>
            <a:picLocks noChangeAspect="1" noChangeArrowheads="1"/>
          </p:cNvPicPr>
          <p:nvPr userDrawn="1"/>
        </p:nvPicPr>
        <p:blipFill>
          <a:blip r:embed="rId19" cstate="print"/>
          <a:srcRect l="11628" r="27907" b="6378"/>
          <a:stretch>
            <a:fillRect/>
          </a:stretch>
        </p:blipFill>
        <p:spPr bwMode="auto">
          <a:xfrm>
            <a:off x="251520" y="1347613"/>
            <a:ext cx="3096344" cy="3600401"/>
          </a:xfrm>
          <a:prstGeom prst="rect">
            <a:avLst/>
          </a:prstGeom>
          <a:noFill/>
          <a:effectLst>
            <a:softEdge rad="31750"/>
          </a:effectLst>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Line 12"/>
          <p:cNvSpPr>
            <a:spLocks noChangeShapeType="1"/>
          </p:cNvSpPr>
          <p:nvPr userDrawn="1"/>
        </p:nvSpPr>
        <p:spPr bwMode="auto">
          <a:xfrm>
            <a:off x="0" y="824640"/>
            <a:ext cx="9144000" cy="0"/>
          </a:xfrm>
          <a:prstGeom prst="line">
            <a:avLst/>
          </a:prstGeom>
          <a:noFill/>
          <a:ln w="38100">
            <a:solidFill>
              <a:schemeClr val="tx2">
                <a:lumMod val="20000"/>
                <a:lumOff val="80000"/>
              </a:schemeClr>
            </a:solidFill>
            <a:round/>
            <a:headEnd/>
            <a:tailEnd/>
          </a:ln>
          <a:effectLst/>
        </p:spPr>
        <p:txBody>
          <a:bodyPr/>
          <a:lstStyle/>
          <a:p>
            <a:pPr>
              <a:defRPr/>
            </a:pPr>
            <a:endParaRPr lang="de-DE"/>
          </a:p>
        </p:txBody>
      </p:sp>
      <p:sp>
        <p:nvSpPr>
          <p:cNvPr id="7" name="Rectangle 7"/>
          <p:cNvSpPr>
            <a:spLocks noChangeArrowheads="1"/>
          </p:cNvSpPr>
          <p:nvPr userDrawn="1"/>
        </p:nvSpPr>
        <p:spPr bwMode="invGray">
          <a:xfrm>
            <a:off x="0" y="1"/>
            <a:ext cx="9144000" cy="815024"/>
          </a:xfrm>
          <a:prstGeom prst="rect">
            <a:avLst/>
          </a:prstGeom>
          <a:solidFill>
            <a:schemeClr val="tx2"/>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prst="coolSlant"/>
          </a:sp3d>
        </p:spPr>
        <p:txBody>
          <a:bodyPr wrap="none" anchor="ctr"/>
          <a:lstStyle/>
          <a:p>
            <a:pPr>
              <a:defRPr/>
            </a:pPr>
            <a:endParaRPr lang="de-DE"/>
          </a:p>
        </p:txBody>
      </p:sp>
      <p:sp>
        <p:nvSpPr>
          <p:cNvPr id="9" name="Abgerundetes Rechteck 8"/>
          <p:cNvSpPr/>
          <p:nvPr userDrawn="1"/>
        </p:nvSpPr>
        <p:spPr>
          <a:xfrm>
            <a:off x="118693" y="105507"/>
            <a:ext cx="667317" cy="598738"/>
          </a:xfrm>
          <a:prstGeom prst="roundRect">
            <a:avLst>
              <a:gd name="adj" fmla="val 917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2"/>
          <p:cNvSpPr>
            <a:spLocks noGrp="1" noChangeArrowheads="1"/>
          </p:cNvSpPr>
          <p:nvPr userDrawn="1">
            <p:ph type="title"/>
          </p:nvPr>
        </p:nvSpPr>
        <p:spPr bwMode="auto">
          <a:xfrm>
            <a:off x="971600" y="52707"/>
            <a:ext cx="8064896" cy="7096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de-DE" dirty="0"/>
              <a:t>Titelmasterformat durch Klicken bearbeiten</a:t>
            </a:r>
          </a:p>
        </p:txBody>
      </p:sp>
      <p:pic>
        <p:nvPicPr>
          <p:cNvPr id="28674" name="Picture 2" descr="https://cdn-static.bizzabo.com/bizzabo.users.files/zG7zRd0nS5WvqOWKrgQP_Western%20Caspian%20University%20black.png"/>
          <p:cNvPicPr>
            <a:picLocks noChangeAspect="1" noChangeArrowheads="1"/>
          </p:cNvPicPr>
          <p:nvPr userDrawn="1"/>
        </p:nvPicPr>
        <p:blipFill>
          <a:blip r:embed="rId6" cstate="print"/>
          <a:srcRect r="81904"/>
          <a:stretch>
            <a:fillRect/>
          </a:stretch>
        </p:blipFill>
        <p:spPr bwMode="auto">
          <a:xfrm>
            <a:off x="200323" y="176258"/>
            <a:ext cx="504056" cy="457237"/>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4" r:id="rId2"/>
    <p:sldLayoutId id="2147483655" r:id="rId3"/>
    <p:sldLayoutId id="2147483656" r:id="rId4"/>
  </p:sldLayoutIdLst>
  <p:txStyles>
    <p:titleStyle>
      <a:lvl1pPr algn="l" defTabSz="914400" rtl="0" eaLnBrk="1" latinLnBrk="0" hangingPunct="1">
        <a:spcBef>
          <a:spcPct val="0"/>
        </a:spcBef>
        <a:buNone/>
        <a:defRPr sz="2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31.xml"/><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1.gif"/><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5.gif"/><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9.gif"/><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US" noProof="0" dirty="0"/>
              <a:t>Computational Biomathematics</a:t>
            </a:r>
          </a:p>
        </p:txBody>
      </p:sp>
      <p:sp>
        <p:nvSpPr>
          <p:cNvPr id="3" name="Untertitel 2"/>
          <p:cNvSpPr>
            <a:spLocks noGrp="1"/>
          </p:cNvSpPr>
          <p:nvPr>
            <p:ph type="subTitle" idx="1"/>
          </p:nvPr>
        </p:nvSpPr>
        <p:spPr/>
        <p:txBody>
          <a:bodyPr/>
          <a:lstStyle/>
          <a:p>
            <a:endParaRPr lang="en-US" noProof="0" dirty="0"/>
          </a:p>
          <a:p>
            <a:r>
              <a:rPr lang="en-US" noProof="0" dirty="0"/>
              <a:t>Implementation of the Iterated Prisoner’s Dilemma</a:t>
            </a:r>
            <a:br>
              <a:rPr lang="en-US" noProof="0" dirty="0"/>
            </a:br>
            <a:r>
              <a:rPr lang="en-US" noProof="0" dirty="0"/>
              <a:t>(Replaying Axelrod’s Tournaments)</a:t>
            </a:r>
          </a:p>
          <a:p>
            <a:endParaRPr lang="en-US" sz="500" noProof="0" dirty="0"/>
          </a:p>
          <a:p>
            <a:r>
              <a:rPr lang="en-US" noProof="0" dirty="0"/>
              <a:t>Lesson 7</a:t>
            </a:r>
          </a:p>
        </p:txBody>
      </p:sp>
      <p:sp>
        <p:nvSpPr>
          <p:cNvPr id="4" name="Rechteck 3"/>
          <p:cNvSpPr/>
          <p:nvPr/>
        </p:nvSpPr>
        <p:spPr>
          <a:xfrm>
            <a:off x="7092280" y="3291830"/>
            <a:ext cx="1800200" cy="171715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7800" lvl="1" indent="-177800">
              <a:spcAft>
                <a:spcPts val="400"/>
              </a:spcAft>
              <a:buFont typeface="Arial" pitchFamily="34" charset="0"/>
              <a:buChar char="•"/>
            </a:pPr>
            <a:r>
              <a:rPr lang="en-US" sz="1200" noProof="0" dirty="0">
                <a:solidFill>
                  <a:schemeClr val="tx1"/>
                </a:solidFill>
              </a:rPr>
              <a:t>Setting-up the computerized model</a:t>
            </a:r>
          </a:p>
          <a:p>
            <a:pPr marL="177800" lvl="1" indent="-177800">
              <a:spcAft>
                <a:spcPts val="400"/>
              </a:spcAft>
              <a:buFont typeface="Arial" pitchFamily="34" charset="0"/>
              <a:buChar char="•"/>
            </a:pPr>
            <a:r>
              <a:rPr lang="en-US" sz="1200" noProof="0" dirty="0">
                <a:solidFill>
                  <a:schemeClr val="tx1"/>
                </a:solidFill>
              </a:rPr>
              <a:t>Phase 1: baseline tournament </a:t>
            </a:r>
          </a:p>
          <a:p>
            <a:pPr marL="177800" lvl="1" indent="-177800">
              <a:spcAft>
                <a:spcPts val="400"/>
              </a:spcAft>
              <a:buFont typeface="Arial" pitchFamily="34" charset="0"/>
              <a:buChar char="•"/>
            </a:pPr>
            <a:r>
              <a:rPr lang="en-US" sz="1200" noProof="0" dirty="0">
                <a:solidFill>
                  <a:schemeClr val="tx1"/>
                </a:solidFill>
              </a:rPr>
              <a:t>Phase 2: evolution</a:t>
            </a:r>
          </a:p>
          <a:p>
            <a:pPr marL="177800" lvl="1" indent="-177800">
              <a:spcAft>
                <a:spcPts val="400"/>
              </a:spcAft>
              <a:buFont typeface="Arial" pitchFamily="34" charset="0"/>
              <a:buChar char="•"/>
            </a:pPr>
            <a:r>
              <a:rPr lang="en-US" sz="1200" noProof="0" dirty="0">
                <a:solidFill>
                  <a:schemeClr val="tx1"/>
                </a:solidFill>
              </a:rPr>
              <a:t>Phase 3: environments</a:t>
            </a:r>
          </a:p>
        </p:txBody>
      </p:sp>
      <p:sp>
        <p:nvSpPr>
          <p:cNvPr id="5" name="Rechteck 4"/>
          <p:cNvSpPr/>
          <p:nvPr/>
        </p:nvSpPr>
        <p:spPr>
          <a:xfrm>
            <a:off x="7092280" y="2931790"/>
            <a:ext cx="1800200" cy="288032"/>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Lecture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Kreis: nicht ausgefüllt 6">
            <a:extLst>
              <a:ext uri="{FF2B5EF4-FFF2-40B4-BE49-F238E27FC236}">
                <a16:creationId xmlns:a16="http://schemas.microsoft.com/office/drawing/2014/main" id="{9B476046-FD43-8FA6-10AE-163C51DF551D}"/>
              </a:ext>
            </a:extLst>
          </p:cNvPr>
          <p:cNvSpPr/>
          <p:nvPr/>
        </p:nvSpPr>
        <p:spPr>
          <a:xfrm>
            <a:off x="971600" y="1203598"/>
            <a:ext cx="7200800" cy="3744416"/>
          </a:xfrm>
          <a:prstGeom prst="donu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endParaRPr>
          </a:p>
        </p:txBody>
      </p:sp>
      <p:sp>
        <p:nvSpPr>
          <p:cNvPr id="2" name="Titel 1">
            <a:extLst>
              <a:ext uri="{FF2B5EF4-FFF2-40B4-BE49-F238E27FC236}">
                <a16:creationId xmlns:a16="http://schemas.microsoft.com/office/drawing/2014/main" id="{2E72EF5D-EFB4-1B46-FF86-C36480438D88}"/>
              </a:ext>
            </a:extLst>
          </p:cNvPr>
          <p:cNvSpPr>
            <a:spLocks noGrp="1"/>
          </p:cNvSpPr>
          <p:nvPr>
            <p:ph type="title"/>
          </p:nvPr>
        </p:nvSpPr>
        <p:spPr/>
        <p:txBody>
          <a:bodyPr/>
          <a:lstStyle/>
          <a:p>
            <a:r>
              <a:rPr lang="en-US" noProof="0" dirty="0"/>
              <a:t>The four dimensions of good utilization of AI</a:t>
            </a:r>
          </a:p>
        </p:txBody>
      </p:sp>
      <p:sp>
        <p:nvSpPr>
          <p:cNvPr id="3" name="Rechteck 2">
            <a:extLst>
              <a:ext uri="{FF2B5EF4-FFF2-40B4-BE49-F238E27FC236}">
                <a16:creationId xmlns:a16="http://schemas.microsoft.com/office/drawing/2014/main" id="{FDE2891D-01DF-4EB2-01B4-470457EEE114}"/>
              </a:ext>
            </a:extLst>
          </p:cNvPr>
          <p:cNvSpPr/>
          <p:nvPr/>
        </p:nvSpPr>
        <p:spPr>
          <a:xfrm>
            <a:off x="2051720" y="1131590"/>
            <a:ext cx="5040312" cy="1080120"/>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sz="1400" b="1" noProof="0" dirty="0">
                <a:solidFill>
                  <a:schemeClr val="tx1"/>
                </a:solidFill>
              </a:rPr>
              <a:t>Purpose</a:t>
            </a:r>
          </a:p>
          <a:p>
            <a:pPr algn="ctr">
              <a:spcAft>
                <a:spcPts val="600"/>
              </a:spcAft>
            </a:pPr>
            <a:r>
              <a:rPr lang="en-US" sz="1400" noProof="0" dirty="0">
                <a:solidFill>
                  <a:schemeClr val="tx1"/>
                </a:solidFill>
              </a:rPr>
              <a:t>clear goals, directions, and requirements</a:t>
            </a:r>
          </a:p>
        </p:txBody>
      </p:sp>
      <p:sp>
        <p:nvSpPr>
          <p:cNvPr id="4" name="Rechteck 3">
            <a:extLst>
              <a:ext uri="{FF2B5EF4-FFF2-40B4-BE49-F238E27FC236}">
                <a16:creationId xmlns:a16="http://schemas.microsoft.com/office/drawing/2014/main" id="{A8006949-3055-475E-360B-E7E1795AFE07}"/>
              </a:ext>
            </a:extLst>
          </p:cNvPr>
          <p:cNvSpPr/>
          <p:nvPr/>
        </p:nvSpPr>
        <p:spPr>
          <a:xfrm>
            <a:off x="2051720" y="3939902"/>
            <a:ext cx="5040312" cy="1067038"/>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sz="1400" b="1" noProof="0" dirty="0">
                <a:solidFill>
                  <a:schemeClr val="tx1"/>
                </a:solidFill>
              </a:rPr>
              <a:t>KI Competency (Tool Competency)</a:t>
            </a:r>
          </a:p>
          <a:p>
            <a:pPr algn="ctr">
              <a:spcAft>
                <a:spcPts val="600"/>
              </a:spcAft>
            </a:pPr>
            <a:r>
              <a:rPr lang="en-US" sz="1400" noProof="0" dirty="0">
                <a:solidFill>
                  <a:schemeClr val="tx1"/>
                </a:solidFill>
              </a:rPr>
              <a:t>prompting, iterating, steering context</a:t>
            </a:r>
          </a:p>
        </p:txBody>
      </p:sp>
      <p:sp>
        <p:nvSpPr>
          <p:cNvPr id="5" name="Rechteck 4">
            <a:extLst>
              <a:ext uri="{FF2B5EF4-FFF2-40B4-BE49-F238E27FC236}">
                <a16:creationId xmlns:a16="http://schemas.microsoft.com/office/drawing/2014/main" id="{8D21924B-7517-1C73-2051-132106916A54}"/>
              </a:ext>
            </a:extLst>
          </p:cNvPr>
          <p:cNvSpPr/>
          <p:nvPr/>
        </p:nvSpPr>
        <p:spPr>
          <a:xfrm>
            <a:off x="2051720" y="2355726"/>
            <a:ext cx="2448272" cy="1440160"/>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sz="1400" b="1" noProof="0" dirty="0">
                <a:solidFill>
                  <a:schemeClr val="tx1"/>
                </a:solidFill>
              </a:rPr>
              <a:t>Methodology</a:t>
            </a:r>
          </a:p>
          <a:p>
            <a:pPr algn="ctr">
              <a:spcAft>
                <a:spcPts val="600"/>
              </a:spcAft>
            </a:pPr>
            <a:r>
              <a:rPr lang="en-US" sz="1400" noProof="0" dirty="0">
                <a:solidFill>
                  <a:schemeClr val="tx1"/>
                </a:solidFill>
              </a:rPr>
              <a:t>structure and segment complex task, examine intermediate steps</a:t>
            </a:r>
          </a:p>
        </p:txBody>
      </p:sp>
      <p:sp>
        <p:nvSpPr>
          <p:cNvPr id="6" name="Rechteck 5">
            <a:extLst>
              <a:ext uri="{FF2B5EF4-FFF2-40B4-BE49-F238E27FC236}">
                <a16:creationId xmlns:a16="http://schemas.microsoft.com/office/drawing/2014/main" id="{DCB9AE80-4F3B-DC0F-AF4A-8DFAB83D315A}"/>
              </a:ext>
            </a:extLst>
          </p:cNvPr>
          <p:cNvSpPr/>
          <p:nvPr/>
        </p:nvSpPr>
        <p:spPr>
          <a:xfrm>
            <a:off x="4643760" y="2355726"/>
            <a:ext cx="2448272" cy="1440160"/>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sz="1400" b="1" noProof="0" dirty="0">
                <a:solidFill>
                  <a:schemeClr val="tx1"/>
                </a:solidFill>
              </a:rPr>
              <a:t>Domain Knowledge</a:t>
            </a:r>
          </a:p>
          <a:p>
            <a:pPr algn="ctr">
              <a:spcAft>
                <a:spcPts val="600"/>
              </a:spcAft>
            </a:pPr>
            <a:r>
              <a:rPr lang="en-US" sz="1400" noProof="0" dirty="0">
                <a:solidFill>
                  <a:schemeClr val="tx1"/>
                </a:solidFill>
              </a:rPr>
              <a:t>check facts, identify gaps, assess outputs (qualification, validation, verification)</a:t>
            </a:r>
          </a:p>
        </p:txBody>
      </p:sp>
      <p:sp>
        <p:nvSpPr>
          <p:cNvPr id="8" name="Rechteck 7">
            <a:extLst>
              <a:ext uri="{FF2B5EF4-FFF2-40B4-BE49-F238E27FC236}">
                <a16:creationId xmlns:a16="http://schemas.microsoft.com/office/drawing/2014/main" id="{D0FDD079-CEE9-69FC-64BF-E33D688364C2}"/>
              </a:ext>
            </a:extLst>
          </p:cNvPr>
          <p:cNvSpPr/>
          <p:nvPr/>
        </p:nvSpPr>
        <p:spPr>
          <a:xfrm>
            <a:off x="251520" y="1131590"/>
            <a:ext cx="1296144" cy="881577"/>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1. Understand the Problem</a:t>
            </a:r>
          </a:p>
        </p:txBody>
      </p:sp>
      <p:sp>
        <p:nvSpPr>
          <p:cNvPr id="9" name="Rechteck 8">
            <a:extLst>
              <a:ext uri="{FF2B5EF4-FFF2-40B4-BE49-F238E27FC236}">
                <a16:creationId xmlns:a16="http://schemas.microsoft.com/office/drawing/2014/main" id="{A4F64CFA-945A-B2E2-5457-E8DCB98DAE9E}"/>
              </a:ext>
            </a:extLst>
          </p:cNvPr>
          <p:cNvSpPr/>
          <p:nvPr/>
        </p:nvSpPr>
        <p:spPr>
          <a:xfrm>
            <a:off x="251520" y="2129514"/>
            <a:ext cx="1296144" cy="881577"/>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2. Plan</a:t>
            </a:r>
          </a:p>
        </p:txBody>
      </p:sp>
      <p:sp>
        <p:nvSpPr>
          <p:cNvPr id="10" name="Rechteck 9">
            <a:extLst>
              <a:ext uri="{FF2B5EF4-FFF2-40B4-BE49-F238E27FC236}">
                <a16:creationId xmlns:a16="http://schemas.microsoft.com/office/drawing/2014/main" id="{D6C0FBF3-12AE-8517-5BF2-87428FDD8C3B}"/>
              </a:ext>
            </a:extLst>
          </p:cNvPr>
          <p:cNvSpPr/>
          <p:nvPr/>
        </p:nvSpPr>
        <p:spPr>
          <a:xfrm>
            <a:off x="251520" y="4125363"/>
            <a:ext cx="1296144" cy="881577"/>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4. Look Back</a:t>
            </a:r>
          </a:p>
        </p:txBody>
      </p:sp>
      <p:sp>
        <p:nvSpPr>
          <p:cNvPr id="11" name="Rechteck 10">
            <a:extLst>
              <a:ext uri="{FF2B5EF4-FFF2-40B4-BE49-F238E27FC236}">
                <a16:creationId xmlns:a16="http://schemas.microsoft.com/office/drawing/2014/main" id="{8E944823-17E7-D393-7F7A-E65081276B23}"/>
              </a:ext>
            </a:extLst>
          </p:cNvPr>
          <p:cNvSpPr/>
          <p:nvPr/>
        </p:nvSpPr>
        <p:spPr>
          <a:xfrm>
            <a:off x="251520" y="3127438"/>
            <a:ext cx="1296144" cy="881577"/>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3. Execute</a:t>
            </a:r>
          </a:p>
        </p:txBody>
      </p:sp>
      <p:sp>
        <p:nvSpPr>
          <p:cNvPr id="19" name="Rechteck 18">
            <a:extLst>
              <a:ext uri="{FF2B5EF4-FFF2-40B4-BE49-F238E27FC236}">
                <a16:creationId xmlns:a16="http://schemas.microsoft.com/office/drawing/2014/main" id="{CF5156FA-A06C-2E30-6556-0AB10F6772D5}"/>
              </a:ext>
            </a:extLst>
          </p:cNvPr>
          <p:cNvSpPr/>
          <p:nvPr/>
        </p:nvSpPr>
        <p:spPr>
          <a:xfrm>
            <a:off x="7596336" y="2142596"/>
            <a:ext cx="1296144" cy="881577"/>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Biology</a:t>
            </a:r>
          </a:p>
        </p:txBody>
      </p:sp>
      <p:sp>
        <p:nvSpPr>
          <p:cNvPr id="20" name="Rechteck 19">
            <a:extLst>
              <a:ext uri="{FF2B5EF4-FFF2-40B4-BE49-F238E27FC236}">
                <a16:creationId xmlns:a16="http://schemas.microsoft.com/office/drawing/2014/main" id="{3C021FFA-27EE-0E4E-C054-3BBA471F06A2}"/>
              </a:ext>
            </a:extLst>
          </p:cNvPr>
          <p:cNvSpPr/>
          <p:nvPr/>
        </p:nvSpPr>
        <p:spPr>
          <a:xfrm>
            <a:off x="7596336" y="4138445"/>
            <a:ext cx="1296144" cy="881577"/>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Mathematics</a:t>
            </a:r>
          </a:p>
        </p:txBody>
      </p:sp>
      <p:sp>
        <p:nvSpPr>
          <p:cNvPr id="21" name="Rechteck 20">
            <a:extLst>
              <a:ext uri="{FF2B5EF4-FFF2-40B4-BE49-F238E27FC236}">
                <a16:creationId xmlns:a16="http://schemas.microsoft.com/office/drawing/2014/main" id="{966273A7-99CD-7028-2CD2-5BFC207084D3}"/>
              </a:ext>
            </a:extLst>
          </p:cNvPr>
          <p:cNvSpPr/>
          <p:nvPr/>
        </p:nvSpPr>
        <p:spPr>
          <a:xfrm>
            <a:off x="7596336" y="3140520"/>
            <a:ext cx="1296144" cy="881577"/>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Scientific Computing</a:t>
            </a:r>
          </a:p>
        </p:txBody>
      </p:sp>
      <p:cxnSp>
        <p:nvCxnSpPr>
          <p:cNvPr id="23" name="Verbinder: gewinkelt 22">
            <a:extLst>
              <a:ext uri="{FF2B5EF4-FFF2-40B4-BE49-F238E27FC236}">
                <a16:creationId xmlns:a16="http://schemas.microsoft.com/office/drawing/2014/main" id="{7591115F-50FA-B0A4-093C-C9E0F79061AF}"/>
              </a:ext>
            </a:extLst>
          </p:cNvPr>
          <p:cNvCxnSpPr>
            <a:stCxn id="6" idx="3"/>
          </p:cNvCxnSpPr>
          <p:nvPr/>
        </p:nvCxnSpPr>
        <p:spPr>
          <a:xfrm flipV="1">
            <a:off x="7092032" y="2571750"/>
            <a:ext cx="504304" cy="504056"/>
          </a:xfrm>
          <a:prstGeom prst="bentConnector3">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5" name="Verbinder: gewinkelt 24">
            <a:extLst>
              <a:ext uri="{FF2B5EF4-FFF2-40B4-BE49-F238E27FC236}">
                <a16:creationId xmlns:a16="http://schemas.microsoft.com/office/drawing/2014/main" id="{5952C3DE-209A-1525-1701-48E7C5D0E782}"/>
              </a:ext>
            </a:extLst>
          </p:cNvPr>
          <p:cNvCxnSpPr>
            <a:stCxn id="6" idx="3"/>
            <a:endCxn id="21" idx="1"/>
          </p:cNvCxnSpPr>
          <p:nvPr/>
        </p:nvCxnSpPr>
        <p:spPr>
          <a:xfrm>
            <a:off x="7092032" y="3075806"/>
            <a:ext cx="504304" cy="505503"/>
          </a:xfrm>
          <a:prstGeom prst="bentConnector3">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7" name="Verbinder: gewinkelt 26">
            <a:extLst>
              <a:ext uri="{FF2B5EF4-FFF2-40B4-BE49-F238E27FC236}">
                <a16:creationId xmlns:a16="http://schemas.microsoft.com/office/drawing/2014/main" id="{E870625E-38A4-CE1B-02BF-C486D91D7A4D}"/>
              </a:ext>
            </a:extLst>
          </p:cNvPr>
          <p:cNvCxnSpPr>
            <a:stCxn id="6" idx="3"/>
            <a:endCxn id="20" idx="1"/>
          </p:cNvCxnSpPr>
          <p:nvPr/>
        </p:nvCxnSpPr>
        <p:spPr>
          <a:xfrm>
            <a:off x="7092032" y="3075806"/>
            <a:ext cx="504304" cy="1503428"/>
          </a:xfrm>
          <a:prstGeom prst="bentConnector3">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
        <p:nvSpPr>
          <p:cNvPr id="28" name="Textfeld 27">
            <a:extLst>
              <a:ext uri="{FF2B5EF4-FFF2-40B4-BE49-F238E27FC236}">
                <a16:creationId xmlns:a16="http://schemas.microsoft.com/office/drawing/2014/main" id="{8C51A4E9-861A-7B74-726A-437A60314610}"/>
              </a:ext>
            </a:extLst>
          </p:cNvPr>
          <p:cNvSpPr txBox="1"/>
          <p:nvPr/>
        </p:nvSpPr>
        <p:spPr>
          <a:xfrm>
            <a:off x="7605385" y="1773816"/>
            <a:ext cx="567015" cy="307777"/>
          </a:xfrm>
          <a:prstGeom prst="rect">
            <a:avLst/>
          </a:prstGeom>
          <a:noFill/>
        </p:spPr>
        <p:txBody>
          <a:bodyPr wrap="none" rtlCol="0">
            <a:spAutoFit/>
          </a:bodyPr>
          <a:lstStyle/>
          <a:p>
            <a:r>
              <a:rPr lang="en-US" sz="1400" noProof="0" dirty="0"/>
              <a:t>here:</a:t>
            </a:r>
          </a:p>
        </p:txBody>
      </p:sp>
    </p:spTree>
    <p:extLst>
      <p:ext uri="{BB962C8B-B14F-4D97-AF65-F5344CB8AC3E}">
        <p14:creationId xmlns:p14="http://schemas.microsoft.com/office/powerpoint/2010/main" val="2363828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90A4C-AEFC-55DE-0AF3-02043F635578}"/>
            </a:ext>
          </a:extLst>
        </p:cNvPr>
        <p:cNvGrpSpPr/>
        <p:nvPr/>
      </p:nvGrpSpPr>
      <p:grpSpPr>
        <a:xfrm>
          <a:off x="0" y="0"/>
          <a:ext cx="0" cy="0"/>
          <a:chOff x="0" y="0"/>
          <a:chExt cx="0" cy="0"/>
        </a:xfrm>
      </p:grpSpPr>
      <p:sp>
        <p:nvSpPr>
          <p:cNvPr id="2" name="Abgerundetes Rechteck 1">
            <a:extLst>
              <a:ext uri="{FF2B5EF4-FFF2-40B4-BE49-F238E27FC236}">
                <a16:creationId xmlns:a16="http://schemas.microsoft.com/office/drawing/2014/main" id="{8CE00983-AF02-4788-0EF0-07DAF13A5854}"/>
              </a:ext>
            </a:extLst>
          </p:cNvPr>
          <p:cNvSpPr/>
          <p:nvPr/>
        </p:nvSpPr>
        <p:spPr>
          <a:xfrm>
            <a:off x="971600" y="1563638"/>
            <a:ext cx="720080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feld 2">
            <a:extLst>
              <a:ext uri="{FF2B5EF4-FFF2-40B4-BE49-F238E27FC236}">
                <a16:creationId xmlns:a16="http://schemas.microsoft.com/office/drawing/2014/main" id="{8262DEAD-8F66-5914-A3BD-BAF4AE89A30D}"/>
              </a:ext>
            </a:extLst>
          </p:cNvPr>
          <p:cNvSpPr txBox="1"/>
          <p:nvPr/>
        </p:nvSpPr>
        <p:spPr>
          <a:xfrm>
            <a:off x="971600" y="1131590"/>
            <a:ext cx="4066947" cy="2462213"/>
          </a:xfrm>
          <a:prstGeom prst="rect">
            <a:avLst/>
          </a:prstGeom>
          <a:noFill/>
        </p:spPr>
        <p:txBody>
          <a:bodyPr wrap="none" rtlCol="0">
            <a:spAutoFit/>
          </a:bodyPr>
          <a:lstStyle/>
          <a:p>
            <a:r>
              <a:rPr lang="en-US" b="1" noProof="0" dirty="0"/>
              <a:t>Topics</a:t>
            </a:r>
          </a:p>
          <a:p>
            <a:endParaRPr lang="en-US" sz="1000" noProof="0" dirty="0"/>
          </a:p>
          <a:p>
            <a:pPr lvl="1"/>
            <a:r>
              <a:rPr lang="en-US" b="1" noProof="0" dirty="0"/>
              <a:t>Setting-up the Computerized Model</a:t>
            </a:r>
          </a:p>
          <a:p>
            <a:pPr lvl="1"/>
            <a:endParaRPr lang="en-US" b="1" noProof="0" dirty="0"/>
          </a:p>
          <a:p>
            <a:pPr lvl="1"/>
            <a:r>
              <a:rPr lang="en-US" noProof="0" dirty="0"/>
              <a:t>Phase 1: Baseline Tournament </a:t>
            </a:r>
          </a:p>
          <a:p>
            <a:pPr lvl="1"/>
            <a:endParaRPr lang="en-US" b="1" noProof="0" dirty="0"/>
          </a:p>
          <a:p>
            <a:pPr lvl="1"/>
            <a:r>
              <a:rPr lang="en-US" noProof="0" dirty="0"/>
              <a:t>Phase 2: Evolution</a:t>
            </a:r>
          </a:p>
          <a:p>
            <a:pPr lvl="1"/>
            <a:endParaRPr lang="en-US" noProof="0" dirty="0"/>
          </a:p>
          <a:p>
            <a:pPr lvl="1"/>
            <a:r>
              <a:rPr lang="en-US" noProof="0" dirty="0"/>
              <a:t>Phase 3: Environments</a:t>
            </a:r>
          </a:p>
        </p:txBody>
      </p:sp>
    </p:spTree>
    <p:extLst>
      <p:ext uri="{BB962C8B-B14F-4D97-AF65-F5344CB8AC3E}">
        <p14:creationId xmlns:p14="http://schemas.microsoft.com/office/powerpoint/2010/main" val="3896007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0C91700-145C-DDC6-95BB-05B638C8AFE1}"/>
              </a:ext>
            </a:extLst>
          </p:cNvPr>
          <p:cNvSpPr>
            <a:spLocks noGrp="1"/>
          </p:cNvSpPr>
          <p:nvPr>
            <p:ph type="title"/>
          </p:nvPr>
        </p:nvSpPr>
        <p:spPr/>
        <p:txBody>
          <a:bodyPr/>
          <a:lstStyle/>
          <a:p>
            <a:r>
              <a:rPr lang="en-US" noProof="0" dirty="0"/>
              <a:t>AI-enhanced coding:</a:t>
            </a:r>
            <a:br>
              <a:rPr lang="en-US" noProof="0" dirty="0"/>
            </a:br>
            <a:r>
              <a:rPr lang="en-US" noProof="0" dirty="0"/>
              <a:t>1) Specify computational work in layers</a:t>
            </a:r>
          </a:p>
        </p:txBody>
      </p:sp>
      <p:sp>
        <p:nvSpPr>
          <p:cNvPr id="3" name="Rechteck 2">
            <a:extLst>
              <a:ext uri="{FF2B5EF4-FFF2-40B4-BE49-F238E27FC236}">
                <a16:creationId xmlns:a16="http://schemas.microsoft.com/office/drawing/2014/main" id="{6E248E41-329E-236A-C81D-57FAF213A6C7}"/>
              </a:ext>
            </a:extLst>
          </p:cNvPr>
          <p:cNvSpPr/>
          <p:nvPr/>
        </p:nvSpPr>
        <p:spPr>
          <a:xfrm>
            <a:off x="251520" y="1131590"/>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1. Understand the Problem</a:t>
            </a:r>
          </a:p>
        </p:txBody>
      </p:sp>
      <p:sp>
        <p:nvSpPr>
          <p:cNvPr id="4" name="Rechteck 3">
            <a:extLst>
              <a:ext uri="{FF2B5EF4-FFF2-40B4-BE49-F238E27FC236}">
                <a16:creationId xmlns:a16="http://schemas.microsoft.com/office/drawing/2014/main" id="{4498E2F1-E87B-FA67-8A7D-F017C117BEE8}"/>
              </a:ext>
            </a:extLst>
          </p:cNvPr>
          <p:cNvSpPr/>
          <p:nvPr/>
        </p:nvSpPr>
        <p:spPr>
          <a:xfrm>
            <a:off x="251520" y="1952061"/>
            <a:ext cx="1296144" cy="709613"/>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2. Plan</a:t>
            </a:r>
          </a:p>
        </p:txBody>
      </p:sp>
      <p:sp>
        <p:nvSpPr>
          <p:cNvPr id="5" name="Rechteck 4">
            <a:extLst>
              <a:ext uri="{FF2B5EF4-FFF2-40B4-BE49-F238E27FC236}">
                <a16:creationId xmlns:a16="http://schemas.microsoft.com/office/drawing/2014/main" id="{C01824A8-DCA3-45F7-459F-65EA24A8921B}"/>
              </a:ext>
            </a:extLst>
          </p:cNvPr>
          <p:cNvSpPr/>
          <p:nvPr/>
        </p:nvSpPr>
        <p:spPr>
          <a:xfrm>
            <a:off x="251520" y="3634389"/>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4. Look Back</a:t>
            </a:r>
          </a:p>
        </p:txBody>
      </p:sp>
      <p:sp>
        <p:nvSpPr>
          <p:cNvPr id="6" name="Rechteck 5">
            <a:extLst>
              <a:ext uri="{FF2B5EF4-FFF2-40B4-BE49-F238E27FC236}">
                <a16:creationId xmlns:a16="http://schemas.microsoft.com/office/drawing/2014/main" id="{83C71A12-B6F2-429E-7B42-49996A9CDF6A}"/>
              </a:ext>
            </a:extLst>
          </p:cNvPr>
          <p:cNvSpPr/>
          <p:nvPr/>
        </p:nvSpPr>
        <p:spPr>
          <a:xfrm>
            <a:off x="251520" y="2793225"/>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3. Execute</a:t>
            </a:r>
          </a:p>
        </p:txBody>
      </p:sp>
      <p:sp>
        <p:nvSpPr>
          <p:cNvPr id="7" name="Rechteck 6">
            <a:extLst>
              <a:ext uri="{FF2B5EF4-FFF2-40B4-BE49-F238E27FC236}">
                <a16:creationId xmlns:a16="http://schemas.microsoft.com/office/drawing/2014/main" id="{7FEB82D1-0AEA-7ECB-E44D-8745020A4BC9}"/>
              </a:ext>
            </a:extLst>
          </p:cNvPr>
          <p:cNvSpPr/>
          <p:nvPr/>
        </p:nvSpPr>
        <p:spPr>
          <a:xfrm>
            <a:off x="1691680" y="1131590"/>
            <a:ext cx="7200800" cy="3888432"/>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noProof="0" dirty="0">
                <a:solidFill>
                  <a:schemeClr val="tx1"/>
                </a:solidFill>
              </a:rPr>
              <a:t>The simulation of the iterated Prisoner’s Dilemma tournaments is quite a complex endeavor. As you may have already recognized, it does not help much to merely ask AI:</a:t>
            </a:r>
          </a:p>
          <a:p>
            <a:pPr algn="ctr">
              <a:spcAft>
                <a:spcPts val="600"/>
              </a:spcAft>
            </a:pPr>
            <a:r>
              <a:rPr lang="en-US" sz="1400" noProof="0" dirty="0">
                <a:solidFill>
                  <a:schemeClr val="tx1"/>
                </a:solidFill>
              </a:rPr>
              <a:t>“write me a big program.”</a:t>
            </a:r>
          </a:p>
          <a:p>
            <a:pPr>
              <a:spcAft>
                <a:spcPts val="600"/>
              </a:spcAft>
            </a:pPr>
            <a:r>
              <a:rPr lang="en-US" sz="1400" noProof="0" dirty="0">
                <a:solidFill>
                  <a:schemeClr val="tx1"/>
                </a:solidFill>
              </a:rPr>
              <a:t>Instead, we must specify computational work in layers:</a:t>
            </a:r>
          </a:p>
          <a:p>
            <a:pPr marL="266700" indent="-266700">
              <a:spcAft>
                <a:spcPts val="600"/>
              </a:spcAft>
              <a:buFont typeface="+mj-lt"/>
              <a:buAutoNum type="arabicPeriod"/>
            </a:pPr>
            <a:r>
              <a:rPr lang="en-US" sz="1400" noProof="0" dirty="0">
                <a:solidFill>
                  <a:schemeClr val="tx1"/>
                </a:solidFill>
              </a:rPr>
              <a:t>Rules</a:t>
            </a:r>
          </a:p>
          <a:p>
            <a:pPr marL="266700" indent="-266700">
              <a:spcAft>
                <a:spcPts val="600"/>
              </a:spcAft>
              <a:buFont typeface="+mj-lt"/>
              <a:buAutoNum type="arabicPeriod"/>
            </a:pPr>
            <a:r>
              <a:rPr lang="en-US" sz="1400" noProof="0" dirty="0">
                <a:solidFill>
                  <a:schemeClr val="tx1"/>
                </a:solidFill>
              </a:rPr>
              <a:t>Software design requirements</a:t>
            </a:r>
          </a:p>
          <a:p>
            <a:pPr marL="266700" indent="-266700">
              <a:spcAft>
                <a:spcPts val="600"/>
              </a:spcAft>
              <a:buFont typeface="+mj-lt"/>
              <a:buAutoNum type="arabicPeriod"/>
            </a:pPr>
            <a:r>
              <a:rPr lang="en-US" sz="1400" noProof="0" dirty="0">
                <a:solidFill>
                  <a:schemeClr val="tx1"/>
                </a:solidFill>
              </a:rPr>
              <a:t>Project structure</a:t>
            </a:r>
          </a:p>
          <a:p>
            <a:pPr marL="266700" indent="-266700">
              <a:spcAft>
                <a:spcPts val="600"/>
              </a:spcAft>
              <a:buFont typeface="+mj-lt"/>
              <a:buAutoNum type="arabicPeriod"/>
            </a:pPr>
            <a:r>
              <a:rPr lang="en-US" sz="1400" noProof="0" dirty="0">
                <a:solidFill>
                  <a:schemeClr val="tx1"/>
                </a:solidFill>
              </a:rPr>
              <a:t>Output requirements</a:t>
            </a:r>
          </a:p>
          <a:p>
            <a:pPr marL="266700" indent="-266700">
              <a:spcAft>
                <a:spcPts val="600"/>
              </a:spcAft>
              <a:buFont typeface="+mj-lt"/>
              <a:buAutoNum type="arabicPeriod"/>
            </a:pPr>
            <a:r>
              <a:rPr lang="en-US" sz="1400" noProof="0" dirty="0">
                <a:solidFill>
                  <a:schemeClr val="tx1"/>
                </a:solidFill>
              </a:rPr>
              <a:t>File-by-file code generation</a:t>
            </a:r>
          </a:p>
          <a:p>
            <a:pPr>
              <a:spcAft>
                <a:spcPts val="600"/>
              </a:spcAft>
            </a:pPr>
            <a:endParaRPr lang="en-US" sz="1400" noProof="0" dirty="0">
              <a:solidFill>
                <a:schemeClr val="tx1"/>
              </a:solidFill>
            </a:endParaRPr>
          </a:p>
          <a:p>
            <a:pPr>
              <a:spcAft>
                <a:spcPts val="600"/>
              </a:spcAft>
            </a:pPr>
            <a:r>
              <a:rPr lang="en-US" sz="1400" noProof="0" dirty="0">
                <a:solidFill>
                  <a:schemeClr val="tx1"/>
                </a:solidFill>
              </a:rPr>
              <a:t>This has two advantages:</a:t>
            </a:r>
          </a:p>
          <a:p>
            <a:pPr marL="182563" indent="-182563">
              <a:spcAft>
                <a:spcPts val="600"/>
              </a:spcAft>
              <a:buFont typeface="Arial" panose="020B0604020202020204" pitchFamily="34" charset="0"/>
              <a:buChar char="•"/>
            </a:pPr>
            <a:r>
              <a:rPr lang="en-US" sz="1400" noProof="0" dirty="0">
                <a:solidFill>
                  <a:schemeClr val="tx1"/>
                </a:solidFill>
              </a:rPr>
              <a:t>it teaches computational thinking, and</a:t>
            </a:r>
          </a:p>
          <a:p>
            <a:pPr marL="182563" indent="-182563">
              <a:spcAft>
                <a:spcPts val="600"/>
              </a:spcAft>
              <a:buFont typeface="Arial" panose="020B0604020202020204" pitchFamily="34" charset="0"/>
              <a:buChar char="•"/>
            </a:pPr>
            <a:r>
              <a:rPr lang="en-US" sz="1400" noProof="0" dirty="0">
                <a:solidFill>
                  <a:schemeClr val="tx1"/>
                </a:solidFill>
              </a:rPr>
              <a:t>it teaches good AI prompting practice</a:t>
            </a:r>
          </a:p>
        </p:txBody>
      </p:sp>
      <p:sp>
        <p:nvSpPr>
          <p:cNvPr id="55" name="Rechteck 54">
            <a:extLst>
              <a:ext uri="{FF2B5EF4-FFF2-40B4-BE49-F238E27FC236}">
                <a16:creationId xmlns:a16="http://schemas.microsoft.com/office/drawing/2014/main" id="{F0350C8B-88BB-67DD-E77D-C5A72B527204}"/>
              </a:ext>
            </a:extLst>
          </p:cNvPr>
          <p:cNvSpPr/>
          <p:nvPr/>
        </p:nvSpPr>
        <p:spPr>
          <a:xfrm>
            <a:off x="5292080" y="2427734"/>
            <a:ext cx="3528392" cy="2520280"/>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Architecture overview:</a:t>
            </a:r>
          </a:p>
          <a:p>
            <a:pPr marL="182563" indent="-182563">
              <a:spcAft>
                <a:spcPts val="600"/>
              </a:spcAft>
              <a:buFont typeface="Arial" panose="020B0604020202020204" pitchFamily="34" charset="0"/>
              <a:buChar char="•"/>
            </a:pPr>
            <a:r>
              <a:rPr lang="en-US" sz="1400" noProof="0" dirty="0">
                <a:solidFill>
                  <a:schemeClr val="tx1"/>
                </a:solidFill>
              </a:rPr>
              <a:t>easy addition of strategies</a:t>
            </a:r>
          </a:p>
          <a:p>
            <a:pPr marL="182563" indent="-182563">
              <a:spcAft>
                <a:spcPts val="600"/>
              </a:spcAft>
              <a:buFont typeface="Arial" panose="020B0604020202020204" pitchFamily="34" charset="0"/>
              <a:buChar char="•"/>
            </a:pPr>
            <a:r>
              <a:rPr lang="en-US" sz="1400" noProof="0" dirty="0">
                <a:solidFill>
                  <a:schemeClr val="tx1"/>
                </a:solidFill>
              </a:rPr>
              <a:t>easy modification of payoff matrices</a:t>
            </a:r>
          </a:p>
          <a:p>
            <a:pPr marL="182563" indent="-182563">
              <a:spcAft>
                <a:spcPts val="600"/>
              </a:spcAft>
              <a:buFont typeface="Arial" panose="020B0604020202020204" pitchFamily="34" charset="0"/>
              <a:buChar char="•"/>
            </a:pPr>
            <a:r>
              <a:rPr lang="en-US" sz="1400" noProof="0" dirty="0">
                <a:solidFill>
                  <a:schemeClr val="tx1"/>
                </a:solidFill>
              </a:rPr>
              <a:t>competition between strategies</a:t>
            </a:r>
          </a:p>
          <a:p>
            <a:pPr marL="182563" indent="-182563">
              <a:spcAft>
                <a:spcPts val="600"/>
              </a:spcAft>
              <a:buFont typeface="Arial" panose="020B0604020202020204" pitchFamily="34" charset="0"/>
              <a:buChar char="•"/>
            </a:pPr>
            <a:r>
              <a:rPr lang="en-US" sz="1400" noProof="0" dirty="0">
                <a:solidFill>
                  <a:schemeClr val="tx1"/>
                </a:solidFill>
              </a:rPr>
              <a:t>evolutionary replacement of weak strategies by more successful ones</a:t>
            </a:r>
          </a:p>
          <a:p>
            <a:pPr marL="182563" indent="-182563">
              <a:spcAft>
                <a:spcPts val="600"/>
              </a:spcAft>
              <a:buFont typeface="Arial" panose="020B0604020202020204" pitchFamily="34" charset="0"/>
              <a:buChar char="•"/>
            </a:pPr>
            <a:r>
              <a:rPr lang="en-US" sz="1400" noProof="0" dirty="0">
                <a:solidFill>
                  <a:schemeClr val="tx1"/>
                </a:solidFill>
              </a:rPr>
              <a:t>small code files, so AI-generated output does not become too large</a:t>
            </a:r>
          </a:p>
          <a:p>
            <a:pPr marL="182563" indent="-182563">
              <a:spcAft>
                <a:spcPts val="600"/>
              </a:spcAft>
              <a:buFont typeface="Arial" panose="020B0604020202020204" pitchFamily="34" charset="0"/>
              <a:buChar char="•"/>
            </a:pPr>
            <a:r>
              <a:rPr lang="en-US" sz="1400" noProof="0" dirty="0">
                <a:solidFill>
                  <a:schemeClr val="tx1"/>
                </a:solidFill>
              </a:rPr>
              <a:t>a design that is simple and modular</a:t>
            </a:r>
          </a:p>
        </p:txBody>
      </p:sp>
    </p:spTree>
    <p:extLst>
      <p:ext uri="{BB962C8B-B14F-4D97-AF65-F5344CB8AC3E}">
        <p14:creationId xmlns:p14="http://schemas.microsoft.com/office/powerpoint/2010/main" val="3683256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6987C-AF35-F97C-78C8-9AF5F7873F8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3FF6A3A-B8B4-FE50-07AA-AC399710EF5D}"/>
              </a:ext>
            </a:extLst>
          </p:cNvPr>
          <p:cNvSpPr>
            <a:spLocks noGrp="1"/>
          </p:cNvSpPr>
          <p:nvPr>
            <p:ph type="title"/>
          </p:nvPr>
        </p:nvSpPr>
        <p:spPr/>
        <p:txBody>
          <a:bodyPr/>
          <a:lstStyle/>
          <a:p>
            <a:r>
              <a:rPr lang="en-US" noProof="0" dirty="0"/>
              <a:t>AI-enhanced coding:</a:t>
            </a:r>
            <a:br>
              <a:rPr lang="en-US" noProof="0" dirty="0"/>
            </a:br>
            <a:r>
              <a:rPr lang="en-US" noProof="0" dirty="0"/>
              <a:t>2) Program structure</a:t>
            </a:r>
          </a:p>
        </p:txBody>
      </p:sp>
      <p:sp>
        <p:nvSpPr>
          <p:cNvPr id="3" name="Rechteck 2">
            <a:extLst>
              <a:ext uri="{FF2B5EF4-FFF2-40B4-BE49-F238E27FC236}">
                <a16:creationId xmlns:a16="http://schemas.microsoft.com/office/drawing/2014/main" id="{CF4BEDC3-87FC-4E87-DED2-2A2E536FA6B1}"/>
              </a:ext>
            </a:extLst>
          </p:cNvPr>
          <p:cNvSpPr/>
          <p:nvPr/>
        </p:nvSpPr>
        <p:spPr>
          <a:xfrm>
            <a:off x="251520" y="1131590"/>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1. Understand the Problem</a:t>
            </a:r>
          </a:p>
        </p:txBody>
      </p:sp>
      <p:sp>
        <p:nvSpPr>
          <p:cNvPr id="4" name="Rechteck 3">
            <a:extLst>
              <a:ext uri="{FF2B5EF4-FFF2-40B4-BE49-F238E27FC236}">
                <a16:creationId xmlns:a16="http://schemas.microsoft.com/office/drawing/2014/main" id="{EBF3C45C-2280-7B95-C3D8-63A02E916DC2}"/>
              </a:ext>
            </a:extLst>
          </p:cNvPr>
          <p:cNvSpPr/>
          <p:nvPr/>
        </p:nvSpPr>
        <p:spPr>
          <a:xfrm>
            <a:off x="251520" y="1952061"/>
            <a:ext cx="1296144" cy="709613"/>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2. Plan</a:t>
            </a:r>
          </a:p>
        </p:txBody>
      </p:sp>
      <p:sp>
        <p:nvSpPr>
          <p:cNvPr id="5" name="Rechteck 4">
            <a:extLst>
              <a:ext uri="{FF2B5EF4-FFF2-40B4-BE49-F238E27FC236}">
                <a16:creationId xmlns:a16="http://schemas.microsoft.com/office/drawing/2014/main" id="{02673748-106C-F4E6-76CA-8AB3C07B1F9A}"/>
              </a:ext>
            </a:extLst>
          </p:cNvPr>
          <p:cNvSpPr/>
          <p:nvPr/>
        </p:nvSpPr>
        <p:spPr>
          <a:xfrm>
            <a:off x="251520" y="3634389"/>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4. Look Back</a:t>
            </a:r>
          </a:p>
        </p:txBody>
      </p:sp>
      <p:sp>
        <p:nvSpPr>
          <p:cNvPr id="6" name="Rechteck 5">
            <a:extLst>
              <a:ext uri="{FF2B5EF4-FFF2-40B4-BE49-F238E27FC236}">
                <a16:creationId xmlns:a16="http://schemas.microsoft.com/office/drawing/2014/main" id="{270E890B-9FC7-3612-5BD7-EAB6B6F76E2F}"/>
              </a:ext>
            </a:extLst>
          </p:cNvPr>
          <p:cNvSpPr/>
          <p:nvPr/>
        </p:nvSpPr>
        <p:spPr>
          <a:xfrm>
            <a:off x="251520" y="2793225"/>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3. Execute</a:t>
            </a:r>
          </a:p>
        </p:txBody>
      </p:sp>
      <p:sp>
        <p:nvSpPr>
          <p:cNvPr id="7" name="Rechteck 6">
            <a:extLst>
              <a:ext uri="{FF2B5EF4-FFF2-40B4-BE49-F238E27FC236}">
                <a16:creationId xmlns:a16="http://schemas.microsoft.com/office/drawing/2014/main" id="{377BBDA7-6EA6-536C-115E-32CD54D6607D}"/>
              </a:ext>
            </a:extLst>
          </p:cNvPr>
          <p:cNvSpPr/>
          <p:nvPr/>
        </p:nvSpPr>
        <p:spPr>
          <a:xfrm>
            <a:off x="1691680" y="1131590"/>
            <a:ext cx="1440160" cy="38884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noProof="0" dirty="0">
                <a:solidFill>
                  <a:schemeClr val="tx1"/>
                </a:solidFill>
              </a:rPr>
              <a:t>main.py</a:t>
            </a:r>
          </a:p>
          <a:p>
            <a:pPr algn="ctr"/>
            <a:endParaRPr lang="en-US" sz="1400" noProof="0" dirty="0">
              <a:solidFill>
                <a:schemeClr val="tx1"/>
              </a:solidFill>
            </a:endParaRPr>
          </a:p>
          <a:p>
            <a:r>
              <a:rPr lang="en-US" sz="1400" noProof="0" dirty="0">
                <a:solidFill>
                  <a:schemeClr val="tx1"/>
                </a:solidFill>
              </a:rPr>
              <a:t>seed</a:t>
            </a:r>
          </a:p>
        </p:txBody>
      </p:sp>
      <p:sp>
        <p:nvSpPr>
          <p:cNvPr id="8" name="Pfeil: Fünfeck 7">
            <a:extLst>
              <a:ext uri="{FF2B5EF4-FFF2-40B4-BE49-F238E27FC236}">
                <a16:creationId xmlns:a16="http://schemas.microsoft.com/office/drawing/2014/main" id="{60E9C0D9-7F3E-F69A-5E23-3D1C67B5116A}"/>
              </a:ext>
            </a:extLst>
          </p:cNvPr>
          <p:cNvSpPr/>
          <p:nvPr/>
        </p:nvSpPr>
        <p:spPr>
          <a:xfrm rot="10800000" flipV="1">
            <a:off x="2505824" y="1419622"/>
            <a:ext cx="4226416" cy="651020"/>
          </a:xfrm>
          <a:prstGeom prst="homePlat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noProof="0" dirty="0">
                <a:solidFill>
                  <a:schemeClr val="tx1"/>
                </a:solidFill>
              </a:rPr>
              <a:t>config.py</a:t>
            </a:r>
          </a:p>
          <a:p>
            <a:pPr algn="ctr"/>
            <a:r>
              <a:rPr lang="en-US" sz="1200" noProof="0" dirty="0">
                <a:solidFill>
                  <a:schemeClr val="tx1"/>
                </a:solidFill>
              </a:rPr>
              <a:t>(contains parameters: payoff matrix, number of rounds, number of generations, mutation/copy rules, list of strategies)</a:t>
            </a:r>
          </a:p>
        </p:txBody>
      </p:sp>
      <p:sp>
        <p:nvSpPr>
          <p:cNvPr id="10" name="Pfeil: Fünfeck 9">
            <a:extLst>
              <a:ext uri="{FF2B5EF4-FFF2-40B4-BE49-F238E27FC236}">
                <a16:creationId xmlns:a16="http://schemas.microsoft.com/office/drawing/2014/main" id="{3EEE7817-7DD7-C242-634B-72274DD641A4}"/>
              </a:ext>
            </a:extLst>
          </p:cNvPr>
          <p:cNvSpPr/>
          <p:nvPr/>
        </p:nvSpPr>
        <p:spPr>
          <a:xfrm rot="10800000" flipV="1">
            <a:off x="2505824" y="4299943"/>
            <a:ext cx="4226416" cy="651020"/>
          </a:xfrm>
          <a:prstGeom prst="homePlat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noProof="0" dirty="0">
                <a:solidFill>
                  <a:schemeClr val="tx1"/>
                </a:solidFill>
              </a:rPr>
              <a:t>visualization.py</a:t>
            </a:r>
          </a:p>
          <a:p>
            <a:pPr algn="ctr"/>
            <a:r>
              <a:rPr lang="en-US" sz="1200" noProof="0" dirty="0">
                <a:solidFill>
                  <a:schemeClr val="tx1"/>
                </a:solidFill>
              </a:rPr>
              <a:t>(implements the visualization of the output statistics, graphs over time)</a:t>
            </a:r>
          </a:p>
          <a:p>
            <a:pPr algn="ctr"/>
            <a:endParaRPr lang="en-US" sz="1400" b="1" noProof="0" dirty="0">
              <a:solidFill>
                <a:schemeClr val="tx1"/>
              </a:solidFill>
            </a:endParaRPr>
          </a:p>
        </p:txBody>
      </p:sp>
      <p:sp>
        <p:nvSpPr>
          <p:cNvPr id="11" name="Pfeil: gebogen 10">
            <a:extLst>
              <a:ext uri="{FF2B5EF4-FFF2-40B4-BE49-F238E27FC236}">
                <a16:creationId xmlns:a16="http://schemas.microsoft.com/office/drawing/2014/main" id="{3FFC4D90-3594-48ED-B4EE-788E274AA116}"/>
              </a:ext>
            </a:extLst>
          </p:cNvPr>
          <p:cNvSpPr/>
          <p:nvPr/>
        </p:nvSpPr>
        <p:spPr>
          <a:xfrm rot="2288521" flipV="1">
            <a:off x="1892483" y="2827408"/>
            <a:ext cx="720080" cy="720080"/>
          </a:xfrm>
          <a:prstGeom prst="circularArrow">
            <a:avLst>
              <a:gd name="adj1" fmla="val 12500"/>
              <a:gd name="adj2" fmla="val 1142319"/>
              <a:gd name="adj3" fmla="val 20457681"/>
              <a:gd name="adj4" fmla="val 4349517"/>
              <a:gd name="adj5" fmla="val 12500"/>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endParaRPr>
          </a:p>
        </p:txBody>
      </p:sp>
      <p:sp>
        <p:nvSpPr>
          <p:cNvPr id="12" name="Rechteck 11">
            <a:extLst>
              <a:ext uri="{FF2B5EF4-FFF2-40B4-BE49-F238E27FC236}">
                <a16:creationId xmlns:a16="http://schemas.microsoft.com/office/drawing/2014/main" id="{1398F932-8220-4BAB-47C0-6B13D558D4DD}"/>
              </a:ext>
            </a:extLst>
          </p:cNvPr>
          <p:cNvSpPr/>
          <p:nvPr/>
        </p:nvSpPr>
        <p:spPr>
          <a:xfrm>
            <a:off x="6804248" y="1423741"/>
            <a:ext cx="2088232" cy="651021"/>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noProof="0" dirty="0">
                <a:solidFill>
                  <a:schemeClr val="tx1"/>
                </a:solidFill>
              </a:rPr>
              <a:t>utils.py</a:t>
            </a:r>
          </a:p>
          <a:p>
            <a:pPr algn="ctr"/>
            <a:r>
              <a:rPr lang="en-US" sz="1200" noProof="0" dirty="0">
                <a:solidFill>
                  <a:schemeClr val="tx1"/>
                </a:solidFill>
              </a:rPr>
              <a:t>(small helper functions for formatting and saving outputs)</a:t>
            </a:r>
          </a:p>
        </p:txBody>
      </p:sp>
      <p:sp>
        <p:nvSpPr>
          <p:cNvPr id="13" name="Rechteck 12">
            <a:extLst>
              <a:ext uri="{FF2B5EF4-FFF2-40B4-BE49-F238E27FC236}">
                <a16:creationId xmlns:a16="http://schemas.microsoft.com/office/drawing/2014/main" id="{CAAAD7DC-A3AB-1F08-FD25-68EF5B0B4921}"/>
              </a:ext>
            </a:extLst>
          </p:cNvPr>
          <p:cNvSpPr/>
          <p:nvPr/>
        </p:nvSpPr>
        <p:spPr>
          <a:xfrm>
            <a:off x="4211961" y="2178654"/>
            <a:ext cx="4680515" cy="573116"/>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noProof="0" dirty="0">
                <a:solidFill>
                  <a:schemeClr val="tx1"/>
                </a:solidFill>
              </a:rPr>
              <a:t>tournament.py</a:t>
            </a:r>
          </a:p>
          <a:p>
            <a:pPr algn="ctr"/>
            <a:r>
              <a:rPr lang="en-US" sz="1200" noProof="0" dirty="0">
                <a:solidFill>
                  <a:schemeClr val="tx1"/>
                </a:solidFill>
              </a:rPr>
              <a:t>(runs pairwise encounters and computes scores)</a:t>
            </a:r>
          </a:p>
        </p:txBody>
      </p:sp>
      <p:cxnSp>
        <p:nvCxnSpPr>
          <p:cNvPr id="15" name="Gerader Verbinder 14">
            <a:extLst>
              <a:ext uri="{FF2B5EF4-FFF2-40B4-BE49-F238E27FC236}">
                <a16:creationId xmlns:a16="http://schemas.microsoft.com/office/drawing/2014/main" id="{E162D6C0-5F83-D72C-D8ED-84642EE9678D}"/>
              </a:ext>
            </a:extLst>
          </p:cNvPr>
          <p:cNvCxnSpPr>
            <a:cxnSpLocks/>
            <a:stCxn id="13" idx="1"/>
          </p:cNvCxnSpPr>
          <p:nvPr/>
        </p:nvCxnSpPr>
        <p:spPr>
          <a:xfrm flipH="1">
            <a:off x="3851920" y="2465212"/>
            <a:ext cx="360041" cy="0"/>
          </a:xfrm>
          <a:prstGeom prst="lin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7" name="Gerader Verbinder 16">
            <a:extLst>
              <a:ext uri="{FF2B5EF4-FFF2-40B4-BE49-F238E27FC236}">
                <a16:creationId xmlns:a16="http://schemas.microsoft.com/office/drawing/2014/main" id="{BE11B823-E330-D026-3F3F-2765BE5700B7}"/>
              </a:ext>
            </a:extLst>
          </p:cNvPr>
          <p:cNvCxnSpPr>
            <a:cxnSpLocks/>
          </p:cNvCxnSpPr>
          <p:nvPr/>
        </p:nvCxnSpPr>
        <p:spPr>
          <a:xfrm>
            <a:off x="3851920" y="2465212"/>
            <a:ext cx="0" cy="404595"/>
          </a:xfrm>
          <a:prstGeom prst="lin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
        <p:nvSpPr>
          <p:cNvPr id="20" name="Rechteck 19">
            <a:extLst>
              <a:ext uri="{FF2B5EF4-FFF2-40B4-BE49-F238E27FC236}">
                <a16:creationId xmlns:a16="http://schemas.microsoft.com/office/drawing/2014/main" id="{E0A43B76-E4CA-9475-61AE-E1BEC9E2035B}"/>
              </a:ext>
            </a:extLst>
          </p:cNvPr>
          <p:cNvSpPr/>
          <p:nvPr/>
        </p:nvSpPr>
        <p:spPr>
          <a:xfrm>
            <a:off x="4211963" y="3618814"/>
            <a:ext cx="2520280" cy="573116"/>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noProof="0" dirty="0">
                <a:solidFill>
                  <a:schemeClr val="tx1"/>
                </a:solidFill>
              </a:rPr>
              <a:t>base_strategy.py</a:t>
            </a:r>
          </a:p>
          <a:p>
            <a:pPr algn="ctr"/>
            <a:r>
              <a:rPr lang="en-US" sz="1200" noProof="0" dirty="0">
                <a:solidFill>
                  <a:schemeClr val="tx1"/>
                </a:solidFill>
              </a:rPr>
              <a:t>(abstract interface for all strategies)</a:t>
            </a:r>
          </a:p>
        </p:txBody>
      </p:sp>
      <p:cxnSp>
        <p:nvCxnSpPr>
          <p:cNvPr id="21" name="Gerader Verbinder 20">
            <a:extLst>
              <a:ext uri="{FF2B5EF4-FFF2-40B4-BE49-F238E27FC236}">
                <a16:creationId xmlns:a16="http://schemas.microsoft.com/office/drawing/2014/main" id="{47EA410F-2FB3-D506-1B7E-A066C5A1932F}"/>
              </a:ext>
            </a:extLst>
          </p:cNvPr>
          <p:cNvCxnSpPr>
            <a:cxnSpLocks/>
            <a:stCxn id="20" idx="1"/>
          </p:cNvCxnSpPr>
          <p:nvPr/>
        </p:nvCxnSpPr>
        <p:spPr>
          <a:xfrm flipH="1">
            <a:off x="3851920" y="3905372"/>
            <a:ext cx="360043" cy="0"/>
          </a:xfrm>
          <a:prstGeom prst="lin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4" name="Gerader Verbinder 23">
            <a:extLst>
              <a:ext uri="{FF2B5EF4-FFF2-40B4-BE49-F238E27FC236}">
                <a16:creationId xmlns:a16="http://schemas.microsoft.com/office/drawing/2014/main" id="{94CBEABC-A2A6-633D-230B-92CC68262C94}"/>
              </a:ext>
            </a:extLst>
          </p:cNvPr>
          <p:cNvCxnSpPr>
            <a:cxnSpLocks/>
          </p:cNvCxnSpPr>
          <p:nvPr/>
        </p:nvCxnSpPr>
        <p:spPr>
          <a:xfrm>
            <a:off x="3851920" y="3502838"/>
            <a:ext cx="0" cy="402534"/>
          </a:xfrm>
          <a:prstGeom prst="lin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
        <p:nvSpPr>
          <p:cNvPr id="9" name="Pfeil: Fünfeck 8">
            <a:extLst>
              <a:ext uri="{FF2B5EF4-FFF2-40B4-BE49-F238E27FC236}">
                <a16:creationId xmlns:a16="http://schemas.microsoft.com/office/drawing/2014/main" id="{ED980A3E-4121-7F7C-38EA-4507EEF7F2FA}"/>
              </a:ext>
            </a:extLst>
          </p:cNvPr>
          <p:cNvSpPr/>
          <p:nvPr/>
        </p:nvSpPr>
        <p:spPr>
          <a:xfrm rot="10800000" flipV="1">
            <a:off x="2505823" y="2859782"/>
            <a:ext cx="6386651" cy="651020"/>
          </a:xfrm>
          <a:prstGeom prst="homePlat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noProof="0" dirty="0">
                <a:solidFill>
                  <a:schemeClr val="tx1"/>
                </a:solidFill>
              </a:rPr>
              <a:t>evolution.py</a:t>
            </a:r>
          </a:p>
          <a:p>
            <a:pPr algn="ctr"/>
            <a:r>
              <a:rPr lang="en-US" sz="1200" noProof="0" dirty="0">
                <a:solidFill>
                  <a:schemeClr val="tx1"/>
                </a:solidFill>
              </a:rPr>
              <a:t>(implements the replacement process: worst strategies decrease, successful ones reproduce)</a:t>
            </a:r>
          </a:p>
        </p:txBody>
      </p:sp>
      <p:grpSp>
        <p:nvGrpSpPr>
          <p:cNvPr id="37" name="Gruppieren 36">
            <a:extLst>
              <a:ext uri="{FF2B5EF4-FFF2-40B4-BE49-F238E27FC236}">
                <a16:creationId xmlns:a16="http://schemas.microsoft.com/office/drawing/2014/main" id="{0380427C-E272-278A-EF8B-22F50F5C1A17}"/>
              </a:ext>
            </a:extLst>
          </p:cNvPr>
          <p:cNvGrpSpPr/>
          <p:nvPr/>
        </p:nvGrpSpPr>
        <p:grpSpPr>
          <a:xfrm>
            <a:off x="7020272" y="3618814"/>
            <a:ext cx="1872208" cy="858200"/>
            <a:chOff x="7020272" y="3622066"/>
            <a:chExt cx="1872208" cy="858200"/>
          </a:xfrm>
        </p:grpSpPr>
        <p:sp>
          <p:nvSpPr>
            <p:cNvPr id="30" name="Rechteck 29">
              <a:extLst>
                <a:ext uri="{FF2B5EF4-FFF2-40B4-BE49-F238E27FC236}">
                  <a16:creationId xmlns:a16="http://schemas.microsoft.com/office/drawing/2014/main" id="{CB62B8B4-6DAB-3AC1-5859-47A677834E2F}"/>
                </a:ext>
              </a:extLst>
            </p:cNvPr>
            <p:cNvSpPr/>
            <p:nvPr/>
          </p:nvSpPr>
          <p:spPr>
            <a:xfrm>
              <a:off x="7164294" y="3907150"/>
              <a:ext cx="1728186" cy="573116"/>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1200" noProof="0" dirty="0">
                <a:solidFill>
                  <a:schemeClr val="tx1"/>
                </a:solidFill>
              </a:endParaRPr>
            </a:p>
          </p:txBody>
        </p:sp>
        <p:sp>
          <p:nvSpPr>
            <p:cNvPr id="29" name="Rechteck 28">
              <a:extLst>
                <a:ext uri="{FF2B5EF4-FFF2-40B4-BE49-F238E27FC236}">
                  <a16:creationId xmlns:a16="http://schemas.microsoft.com/office/drawing/2014/main" id="{36B34D75-DE4F-33DA-8CE3-933A637A0ED2}"/>
                </a:ext>
              </a:extLst>
            </p:cNvPr>
            <p:cNvSpPr/>
            <p:nvPr/>
          </p:nvSpPr>
          <p:spPr>
            <a:xfrm>
              <a:off x="7092286" y="3766082"/>
              <a:ext cx="1728186" cy="573116"/>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1200" noProof="0" dirty="0">
                <a:solidFill>
                  <a:schemeClr val="tx1"/>
                </a:solidFill>
              </a:endParaRPr>
            </a:p>
          </p:txBody>
        </p:sp>
        <p:sp>
          <p:nvSpPr>
            <p:cNvPr id="26" name="Rechteck 25">
              <a:extLst>
                <a:ext uri="{FF2B5EF4-FFF2-40B4-BE49-F238E27FC236}">
                  <a16:creationId xmlns:a16="http://schemas.microsoft.com/office/drawing/2014/main" id="{5C017131-105C-4E6B-050D-F5A187D4AF23}"/>
                </a:ext>
              </a:extLst>
            </p:cNvPr>
            <p:cNvSpPr/>
            <p:nvPr/>
          </p:nvSpPr>
          <p:spPr>
            <a:xfrm>
              <a:off x="7020272" y="3622066"/>
              <a:ext cx="1728186" cy="573116"/>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noProof="0" dirty="0">
                  <a:solidFill>
                    <a:schemeClr val="tx1"/>
                  </a:solidFill>
                </a:rPr>
                <a:t>individual strategies </a:t>
              </a:r>
              <a:r>
                <a:rPr lang="en-US" sz="1200" noProof="0" dirty="0">
                  <a:solidFill>
                    <a:schemeClr val="tx1"/>
                  </a:solidFill>
                </a:rPr>
                <a:t>(one per file)</a:t>
              </a:r>
            </a:p>
          </p:txBody>
        </p:sp>
      </p:grpSp>
      <p:cxnSp>
        <p:nvCxnSpPr>
          <p:cNvPr id="36" name="Gerader Verbinder 35">
            <a:extLst>
              <a:ext uri="{FF2B5EF4-FFF2-40B4-BE49-F238E27FC236}">
                <a16:creationId xmlns:a16="http://schemas.microsoft.com/office/drawing/2014/main" id="{E7B7CAE8-1C6C-B9EB-041C-5046F58ECD18}"/>
              </a:ext>
            </a:extLst>
          </p:cNvPr>
          <p:cNvCxnSpPr>
            <a:stCxn id="20" idx="3"/>
            <a:endCxn id="26" idx="1"/>
          </p:cNvCxnSpPr>
          <p:nvPr/>
        </p:nvCxnSpPr>
        <p:spPr>
          <a:xfrm>
            <a:off x="6732243" y="3905372"/>
            <a:ext cx="288029" cy="0"/>
          </a:xfrm>
          <a:prstGeom prst="lin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1154431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41EC12-6171-07CE-FC84-786CD99F2639}"/>
              </a:ext>
            </a:extLst>
          </p:cNvPr>
          <p:cNvSpPr>
            <a:spLocks noGrp="1"/>
          </p:cNvSpPr>
          <p:nvPr>
            <p:ph type="title"/>
          </p:nvPr>
        </p:nvSpPr>
        <p:spPr/>
        <p:txBody>
          <a:bodyPr/>
          <a:lstStyle/>
          <a:p>
            <a:r>
              <a:rPr lang="en-US" noProof="0" dirty="0"/>
              <a:t>AI-enhanced coding:</a:t>
            </a:r>
            <a:br>
              <a:rPr lang="en-US" noProof="0" dirty="0"/>
            </a:br>
            <a:r>
              <a:rPr lang="en-US" noProof="0" dirty="0"/>
              <a:t>3) Consecutive execution</a:t>
            </a:r>
          </a:p>
        </p:txBody>
      </p:sp>
      <p:sp>
        <p:nvSpPr>
          <p:cNvPr id="5" name="Rechteck 4">
            <a:extLst>
              <a:ext uri="{FF2B5EF4-FFF2-40B4-BE49-F238E27FC236}">
                <a16:creationId xmlns:a16="http://schemas.microsoft.com/office/drawing/2014/main" id="{21FF3468-7F2F-FEDF-0823-24606D5E7B65}"/>
              </a:ext>
            </a:extLst>
          </p:cNvPr>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noProof="0" dirty="0">
                <a:solidFill>
                  <a:sysClr val="windowText" lastClr="000000"/>
                </a:solidFill>
              </a:rPr>
              <a:t>Next, we use AI to build a modular Python simulator for the evolution of cooperation. We proceed our AI interaction (execution phase) in two steps:</a:t>
            </a:r>
          </a:p>
          <a:p>
            <a:pPr algn="just">
              <a:spcAft>
                <a:spcPts val="600"/>
              </a:spcAft>
            </a:pPr>
            <a:endParaRPr lang="en-US" sz="500" noProof="0" dirty="0">
              <a:solidFill>
                <a:sysClr val="windowText" lastClr="000000"/>
              </a:solidFill>
            </a:endParaRPr>
          </a:p>
          <a:p>
            <a:pPr>
              <a:spcAft>
                <a:spcPts val="600"/>
              </a:spcAft>
            </a:pPr>
            <a:r>
              <a:rPr lang="en-US" sz="1400" b="1" noProof="0" dirty="0">
                <a:solidFill>
                  <a:sysClr val="windowText" lastClr="000000"/>
                </a:solidFill>
              </a:rPr>
              <a:t>Step 1: Think about the model before coding</a:t>
            </a:r>
          </a:p>
          <a:p>
            <a:pPr marL="285750" indent="-285750">
              <a:spcAft>
                <a:spcPts val="600"/>
              </a:spcAft>
              <a:buFont typeface="Arial" panose="020B0604020202020204" pitchFamily="34" charset="0"/>
              <a:buChar char="•"/>
            </a:pPr>
            <a:r>
              <a:rPr lang="en-US" sz="1400" noProof="0" dirty="0">
                <a:solidFill>
                  <a:sysClr val="windowText" lastClr="000000"/>
                </a:solidFill>
              </a:rPr>
              <a:t>Rules: We ask AI to formulate clear simulation rules for an iterated Prisoner’s Dilemma tournament with evolutionary updating.</a:t>
            </a:r>
          </a:p>
          <a:p>
            <a:pPr marL="285750" indent="-285750">
              <a:spcAft>
                <a:spcPts val="600"/>
              </a:spcAft>
              <a:buFont typeface="Arial" panose="020B0604020202020204" pitchFamily="34" charset="0"/>
              <a:buChar char="•"/>
            </a:pPr>
            <a:r>
              <a:rPr lang="en-US" sz="1400" noProof="0" dirty="0">
                <a:solidFill>
                  <a:sysClr val="windowText" lastClr="000000"/>
                </a:solidFill>
              </a:rPr>
              <a:t>Software design requirements: We ask AI to define a simple modular software design with strategy classes, tournament logic, evolution logic, configuration, and execution.</a:t>
            </a:r>
          </a:p>
          <a:p>
            <a:pPr marL="285750" indent="-285750">
              <a:spcAft>
                <a:spcPts val="600"/>
              </a:spcAft>
              <a:buFont typeface="Arial" panose="020B0604020202020204" pitchFamily="34" charset="0"/>
              <a:buChar char="•"/>
            </a:pPr>
            <a:r>
              <a:rPr lang="en-US" sz="1400" noProof="0" dirty="0">
                <a:solidFill>
                  <a:sysClr val="windowText" lastClr="000000"/>
                </a:solidFill>
              </a:rPr>
              <a:t>Project structure: We ask AI to propose a file structure with short files and one strategy per file.</a:t>
            </a:r>
          </a:p>
          <a:p>
            <a:pPr>
              <a:spcAft>
                <a:spcPts val="600"/>
              </a:spcAft>
            </a:pPr>
            <a:r>
              <a:rPr lang="en-US" sz="1400" b="1" noProof="0" dirty="0">
                <a:solidFill>
                  <a:sysClr val="windowText" lastClr="000000"/>
                </a:solidFill>
              </a:rPr>
              <a:t>Step 2: File-by-file code generation</a:t>
            </a:r>
          </a:p>
          <a:p>
            <a:pPr marL="285750" indent="-285750">
              <a:spcAft>
                <a:spcPts val="600"/>
              </a:spcAft>
              <a:buFont typeface="Arial" panose="020B0604020202020204" pitchFamily="34" charset="0"/>
              <a:buChar char="•"/>
            </a:pPr>
            <a:r>
              <a:rPr lang="en-US" sz="1400" noProof="0" dirty="0">
                <a:solidFill>
                  <a:sysClr val="windowText" lastClr="000000"/>
                </a:solidFill>
              </a:rPr>
              <a:t>Successive code generation: We ask AI to generate the files one by one, not all at once, and to keep the design simple and modular.</a:t>
            </a:r>
          </a:p>
          <a:p>
            <a:pPr marL="285750" indent="-285750">
              <a:spcAft>
                <a:spcPts val="600"/>
              </a:spcAft>
              <a:buFont typeface="Arial" panose="020B0604020202020204" pitchFamily="34" charset="0"/>
              <a:buChar char="•"/>
            </a:pPr>
            <a:r>
              <a:rPr lang="en-US" sz="1400" noProof="0" dirty="0">
                <a:solidFill>
                  <a:sysClr val="windowText" lastClr="000000"/>
                </a:solidFill>
              </a:rPr>
              <a:t>Output requirements: We ask AI to include rankings, scores, and population changes across generations.</a:t>
            </a:r>
          </a:p>
          <a:p>
            <a:pPr>
              <a:spcAft>
                <a:spcPts val="600"/>
              </a:spcAft>
            </a:pPr>
            <a:endParaRPr lang="en-US" sz="1400" noProof="0" dirty="0">
              <a:solidFill>
                <a:sysClr val="windowText" lastClr="000000"/>
              </a:solidFill>
            </a:endParaRPr>
          </a:p>
        </p:txBody>
      </p:sp>
      <p:sp>
        <p:nvSpPr>
          <p:cNvPr id="6" name="Rechteck 5">
            <a:extLst>
              <a:ext uri="{FF2B5EF4-FFF2-40B4-BE49-F238E27FC236}">
                <a16:creationId xmlns:a16="http://schemas.microsoft.com/office/drawing/2014/main" id="{77CFEFEE-329E-664B-39F5-19E3D742DD3F}"/>
              </a:ext>
            </a:extLst>
          </p:cNvPr>
          <p:cNvSpPr/>
          <p:nvPr/>
        </p:nvSpPr>
        <p:spPr>
          <a:xfrm>
            <a:off x="251520" y="1131590"/>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1. Understand the Problem</a:t>
            </a:r>
          </a:p>
        </p:txBody>
      </p:sp>
      <p:sp>
        <p:nvSpPr>
          <p:cNvPr id="7" name="Rechteck 6">
            <a:extLst>
              <a:ext uri="{FF2B5EF4-FFF2-40B4-BE49-F238E27FC236}">
                <a16:creationId xmlns:a16="http://schemas.microsoft.com/office/drawing/2014/main" id="{AA93B449-33A1-B8C1-0DB9-D3A8305D3D6F}"/>
              </a:ext>
            </a:extLst>
          </p:cNvPr>
          <p:cNvSpPr/>
          <p:nvPr/>
        </p:nvSpPr>
        <p:spPr>
          <a:xfrm>
            <a:off x="251520" y="1952061"/>
            <a:ext cx="1296144" cy="709613"/>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2. Plan</a:t>
            </a:r>
          </a:p>
        </p:txBody>
      </p:sp>
      <p:sp>
        <p:nvSpPr>
          <p:cNvPr id="8" name="Rechteck 7">
            <a:extLst>
              <a:ext uri="{FF2B5EF4-FFF2-40B4-BE49-F238E27FC236}">
                <a16:creationId xmlns:a16="http://schemas.microsoft.com/office/drawing/2014/main" id="{B36C56E4-BB39-40E3-BFEB-7B7A73E9A7A9}"/>
              </a:ext>
            </a:extLst>
          </p:cNvPr>
          <p:cNvSpPr/>
          <p:nvPr/>
        </p:nvSpPr>
        <p:spPr>
          <a:xfrm>
            <a:off x="251520" y="3634389"/>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4. Look Back</a:t>
            </a:r>
          </a:p>
        </p:txBody>
      </p:sp>
      <p:sp>
        <p:nvSpPr>
          <p:cNvPr id="9" name="Rechteck 8">
            <a:extLst>
              <a:ext uri="{FF2B5EF4-FFF2-40B4-BE49-F238E27FC236}">
                <a16:creationId xmlns:a16="http://schemas.microsoft.com/office/drawing/2014/main" id="{BD2AD9CF-394A-D6C6-088B-15B982EDED15}"/>
              </a:ext>
            </a:extLst>
          </p:cNvPr>
          <p:cNvSpPr/>
          <p:nvPr/>
        </p:nvSpPr>
        <p:spPr>
          <a:xfrm>
            <a:off x="251520" y="2793225"/>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3. Execute</a:t>
            </a:r>
          </a:p>
        </p:txBody>
      </p:sp>
    </p:spTree>
    <p:extLst>
      <p:ext uri="{BB962C8B-B14F-4D97-AF65-F5344CB8AC3E}">
        <p14:creationId xmlns:p14="http://schemas.microsoft.com/office/powerpoint/2010/main" val="1409459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50D85-7F11-DDD3-0780-ACA6C2CD03F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DB1F098-7113-6AE4-17C9-C886BB7BD419}"/>
              </a:ext>
            </a:extLst>
          </p:cNvPr>
          <p:cNvSpPr>
            <a:spLocks noGrp="1"/>
          </p:cNvSpPr>
          <p:nvPr>
            <p:ph type="title"/>
          </p:nvPr>
        </p:nvSpPr>
        <p:spPr/>
        <p:txBody>
          <a:bodyPr/>
          <a:lstStyle/>
          <a:p>
            <a:r>
              <a:rPr lang="en-US" noProof="0" dirty="0"/>
              <a:t>Step 1: Think about the model before coding</a:t>
            </a:r>
            <a:br>
              <a:rPr lang="en-US" noProof="0" dirty="0"/>
            </a:br>
            <a:r>
              <a:rPr lang="en-US" noProof="0" dirty="0"/>
              <a:t>a) Rules specification</a:t>
            </a:r>
          </a:p>
        </p:txBody>
      </p:sp>
      <p:grpSp>
        <p:nvGrpSpPr>
          <p:cNvPr id="7" name="Gruppieren 6">
            <a:extLst>
              <a:ext uri="{FF2B5EF4-FFF2-40B4-BE49-F238E27FC236}">
                <a16:creationId xmlns:a16="http://schemas.microsoft.com/office/drawing/2014/main" id="{94C26D2F-ED73-BC96-8476-C80F025E261E}"/>
              </a:ext>
            </a:extLst>
          </p:cNvPr>
          <p:cNvGrpSpPr/>
          <p:nvPr/>
        </p:nvGrpSpPr>
        <p:grpSpPr>
          <a:xfrm>
            <a:off x="264220" y="1131590"/>
            <a:ext cx="1296144" cy="1296144"/>
            <a:chOff x="5258172" y="1563638"/>
            <a:chExt cx="2736304" cy="2736304"/>
          </a:xfrm>
        </p:grpSpPr>
        <p:sp>
          <p:nvSpPr>
            <p:cNvPr id="8" name="Freihandform 3">
              <a:extLst>
                <a:ext uri="{FF2B5EF4-FFF2-40B4-BE49-F238E27FC236}">
                  <a16:creationId xmlns:a16="http://schemas.microsoft.com/office/drawing/2014/main" id="{69839877-BD36-D56E-8BAF-9580A11D5605}"/>
                </a:ext>
              </a:extLst>
            </p:cNvPr>
            <p:cNvSpPr/>
            <p:nvPr/>
          </p:nvSpPr>
          <p:spPr>
            <a:xfrm>
              <a:off x="5713090" y="1964690"/>
              <a:ext cx="2066290" cy="1971040"/>
            </a:xfrm>
            <a:custGeom>
              <a:avLst/>
              <a:gdLst>
                <a:gd name="connsiteX0" fmla="*/ 95250 w 2066290"/>
                <a:gd name="connsiteY0" fmla="*/ 1037590 h 1971040"/>
                <a:gd name="connsiteX1" fmla="*/ 34290 w 2066290"/>
                <a:gd name="connsiteY1" fmla="*/ 626110 h 1971040"/>
                <a:gd name="connsiteX2" fmla="*/ 300990 w 2066290"/>
                <a:gd name="connsiteY2" fmla="*/ 222250 h 1971040"/>
                <a:gd name="connsiteX3" fmla="*/ 674370 w 2066290"/>
                <a:gd name="connsiteY3" fmla="*/ 283210 h 1971040"/>
                <a:gd name="connsiteX4" fmla="*/ 986790 w 2066290"/>
                <a:gd name="connsiteY4" fmla="*/ 351790 h 1971040"/>
                <a:gd name="connsiteX5" fmla="*/ 1261110 w 2066290"/>
                <a:gd name="connsiteY5" fmla="*/ 39370 h 1971040"/>
                <a:gd name="connsiteX6" fmla="*/ 1482090 w 2066290"/>
                <a:gd name="connsiteY6" fmla="*/ 115570 h 1971040"/>
                <a:gd name="connsiteX7" fmla="*/ 1695450 w 2066290"/>
                <a:gd name="connsiteY7" fmla="*/ 351790 h 1971040"/>
                <a:gd name="connsiteX8" fmla="*/ 2007870 w 2066290"/>
                <a:gd name="connsiteY8" fmla="*/ 443230 h 1971040"/>
                <a:gd name="connsiteX9" fmla="*/ 2023110 w 2066290"/>
                <a:gd name="connsiteY9" fmla="*/ 740410 h 1971040"/>
                <a:gd name="connsiteX10" fmla="*/ 1748790 w 2066290"/>
                <a:gd name="connsiteY10" fmla="*/ 839470 h 1971040"/>
                <a:gd name="connsiteX11" fmla="*/ 1604010 w 2066290"/>
                <a:gd name="connsiteY11" fmla="*/ 1014730 h 1971040"/>
                <a:gd name="connsiteX12" fmla="*/ 1741170 w 2066290"/>
                <a:gd name="connsiteY12" fmla="*/ 1258570 h 1971040"/>
                <a:gd name="connsiteX13" fmla="*/ 1916430 w 2066290"/>
                <a:gd name="connsiteY13" fmla="*/ 1532890 h 1971040"/>
                <a:gd name="connsiteX14" fmla="*/ 1809750 w 2066290"/>
                <a:gd name="connsiteY14" fmla="*/ 1830070 h 1971040"/>
                <a:gd name="connsiteX15" fmla="*/ 1535430 w 2066290"/>
                <a:gd name="connsiteY15" fmla="*/ 1951990 h 1971040"/>
                <a:gd name="connsiteX16" fmla="*/ 1223010 w 2066290"/>
                <a:gd name="connsiteY16" fmla="*/ 1715770 h 1971040"/>
                <a:gd name="connsiteX17" fmla="*/ 956310 w 2066290"/>
                <a:gd name="connsiteY17" fmla="*/ 1708150 h 1971040"/>
                <a:gd name="connsiteX18" fmla="*/ 826770 w 2066290"/>
                <a:gd name="connsiteY18" fmla="*/ 1784350 h 1971040"/>
                <a:gd name="connsiteX19" fmla="*/ 224790 w 2066290"/>
                <a:gd name="connsiteY19" fmla="*/ 1814830 h 1971040"/>
                <a:gd name="connsiteX20" fmla="*/ 590550 w 2066290"/>
                <a:gd name="connsiteY20" fmla="*/ 1250950 h 1971040"/>
                <a:gd name="connsiteX21" fmla="*/ 95250 w 2066290"/>
                <a:gd name="connsiteY21" fmla="*/ 1037590 h 1971040"/>
                <a:gd name="connsiteX0" fmla="*/ 95250 w 2066290"/>
                <a:gd name="connsiteY0" fmla="*/ 1037590 h 1971040"/>
                <a:gd name="connsiteX1" fmla="*/ 34290 w 2066290"/>
                <a:gd name="connsiteY1" fmla="*/ 626110 h 1971040"/>
                <a:gd name="connsiteX2" fmla="*/ 300990 w 2066290"/>
                <a:gd name="connsiteY2" fmla="*/ 222250 h 1971040"/>
                <a:gd name="connsiteX3" fmla="*/ 674370 w 2066290"/>
                <a:gd name="connsiteY3" fmla="*/ 283210 h 1971040"/>
                <a:gd name="connsiteX4" fmla="*/ 986790 w 2066290"/>
                <a:gd name="connsiteY4" fmla="*/ 351790 h 1971040"/>
                <a:gd name="connsiteX5" fmla="*/ 1261110 w 2066290"/>
                <a:gd name="connsiteY5" fmla="*/ 39370 h 1971040"/>
                <a:gd name="connsiteX6" fmla="*/ 1482090 w 2066290"/>
                <a:gd name="connsiteY6" fmla="*/ 115570 h 1971040"/>
                <a:gd name="connsiteX7" fmla="*/ 1695450 w 2066290"/>
                <a:gd name="connsiteY7" fmla="*/ 351790 h 1971040"/>
                <a:gd name="connsiteX8" fmla="*/ 2007870 w 2066290"/>
                <a:gd name="connsiteY8" fmla="*/ 443230 h 1971040"/>
                <a:gd name="connsiteX9" fmla="*/ 2023110 w 2066290"/>
                <a:gd name="connsiteY9" fmla="*/ 740410 h 1971040"/>
                <a:gd name="connsiteX10" fmla="*/ 1748790 w 2066290"/>
                <a:gd name="connsiteY10" fmla="*/ 839470 h 1971040"/>
                <a:gd name="connsiteX11" fmla="*/ 1604010 w 2066290"/>
                <a:gd name="connsiteY11" fmla="*/ 1014730 h 1971040"/>
                <a:gd name="connsiteX12" fmla="*/ 1741170 w 2066290"/>
                <a:gd name="connsiteY12" fmla="*/ 1258570 h 1971040"/>
                <a:gd name="connsiteX13" fmla="*/ 1916430 w 2066290"/>
                <a:gd name="connsiteY13" fmla="*/ 1532890 h 1971040"/>
                <a:gd name="connsiteX14" fmla="*/ 1809750 w 2066290"/>
                <a:gd name="connsiteY14" fmla="*/ 1830070 h 1971040"/>
                <a:gd name="connsiteX15" fmla="*/ 1535430 w 2066290"/>
                <a:gd name="connsiteY15" fmla="*/ 1951990 h 1971040"/>
                <a:gd name="connsiteX16" fmla="*/ 1223010 w 2066290"/>
                <a:gd name="connsiteY16" fmla="*/ 1715770 h 1971040"/>
                <a:gd name="connsiteX17" fmla="*/ 826770 w 2066290"/>
                <a:gd name="connsiteY17" fmla="*/ 1784350 h 1971040"/>
                <a:gd name="connsiteX18" fmla="*/ 224790 w 2066290"/>
                <a:gd name="connsiteY18" fmla="*/ 1814830 h 1971040"/>
                <a:gd name="connsiteX19" fmla="*/ 590550 w 2066290"/>
                <a:gd name="connsiteY19" fmla="*/ 1250950 h 1971040"/>
                <a:gd name="connsiteX20" fmla="*/ 95250 w 2066290"/>
                <a:gd name="connsiteY20" fmla="*/ 1037590 h 197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66290" h="1971040">
                  <a:moveTo>
                    <a:pt x="95250" y="1037590"/>
                  </a:moveTo>
                  <a:cubicBezTo>
                    <a:pt x="2540" y="933450"/>
                    <a:pt x="0" y="762000"/>
                    <a:pt x="34290" y="626110"/>
                  </a:cubicBezTo>
                  <a:cubicBezTo>
                    <a:pt x="68580" y="490220"/>
                    <a:pt x="194310" y="279400"/>
                    <a:pt x="300990" y="222250"/>
                  </a:cubicBezTo>
                  <a:cubicBezTo>
                    <a:pt x="407670" y="165100"/>
                    <a:pt x="560070" y="261620"/>
                    <a:pt x="674370" y="283210"/>
                  </a:cubicBezTo>
                  <a:cubicBezTo>
                    <a:pt x="788670" y="304800"/>
                    <a:pt x="889000" y="392430"/>
                    <a:pt x="986790" y="351790"/>
                  </a:cubicBezTo>
                  <a:cubicBezTo>
                    <a:pt x="1084580" y="311150"/>
                    <a:pt x="1178560" y="78740"/>
                    <a:pt x="1261110" y="39370"/>
                  </a:cubicBezTo>
                  <a:cubicBezTo>
                    <a:pt x="1343660" y="0"/>
                    <a:pt x="1409700" y="63500"/>
                    <a:pt x="1482090" y="115570"/>
                  </a:cubicBezTo>
                  <a:cubicBezTo>
                    <a:pt x="1554480" y="167640"/>
                    <a:pt x="1607820" y="297180"/>
                    <a:pt x="1695450" y="351790"/>
                  </a:cubicBezTo>
                  <a:cubicBezTo>
                    <a:pt x="1783080" y="406400"/>
                    <a:pt x="1953260" y="378460"/>
                    <a:pt x="2007870" y="443230"/>
                  </a:cubicBezTo>
                  <a:cubicBezTo>
                    <a:pt x="2062480" y="508000"/>
                    <a:pt x="2066290" y="674370"/>
                    <a:pt x="2023110" y="740410"/>
                  </a:cubicBezTo>
                  <a:cubicBezTo>
                    <a:pt x="1979930" y="806450"/>
                    <a:pt x="1818640" y="793750"/>
                    <a:pt x="1748790" y="839470"/>
                  </a:cubicBezTo>
                  <a:cubicBezTo>
                    <a:pt x="1678940" y="885190"/>
                    <a:pt x="1605280" y="944880"/>
                    <a:pt x="1604010" y="1014730"/>
                  </a:cubicBezTo>
                  <a:cubicBezTo>
                    <a:pt x="1602740" y="1084580"/>
                    <a:pt x="1689100" y="1172210"/>
                    <a:pt x="1741170" y="1258570"/>
                  </a:cubicBezTo>
                  <a:cubicBezTo>
                    <a:pt x="1793240" y="1344930"/>
                    <a:pt x="1905000" y="1437640"/>
                    <a:pt x="1916430" y="1532890"/>
                  </a:cubicBezTo>
                  <a:cubicBezTo>
                    <a:pt x="1927860" y="1628140"/>
                    <a:pt x="1873250" y="1760220"/>
                    <a:pt x="1809750" y="1830070"/>
                  </a:cubicBezTo>
                  <a:cubicBezTo>
                    <a:pt x="1746250" y="1899920"/>
                    <a:pt x="1633220" y="1971040"/>
                    <a:pt x="1535430" y="1951990"/>
                  </a:cubicBezTo>
                  <a:cubicBezTo>
                    <a:pt x="1437640" y="1932940"/>
                    <a:pt x="1341120" y="1743710"/>
                    <a:pt x="1223010" y="1715770"/>
                  </a:cubicBezTo>
                  <a:cubicBezTo>
                    <a:pt x="1104900" y="1687830"/>
                    <a:pt x="993140" y="1767840"/>
                    <a:pt x="826770" y="1784350"/>
                  </a:cubicBezTo>
                  <a:cubicBezTo>
                    <a:pt x="660400" y="1800860"/>
                    <a:pt x="264160" y="1903730"/>
                    <a:pt x="224790" y="1814830"/>
                  </a:cubicBezTo>
                  <a:cubicBezTo>
                    <a:pt x="185420" y="1725930"/>
                    <a:pt x="610870" y="1380490"/>
                    <a:pt x="590550" y="1250950"/>
                  </a:cubicBezTo>
                  <a:cubicBezTo>
                    <a:pt x="570230" y="1121410"/>
                    <a:pt x="187960" y="1141730"/>
                    <a:pt x="95250" y="1037590"/>
                  </a:cubicBez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Ellipse 8">
              <a:extLst>
                <a:ext uri="{FF2B5EF4-FFF2-40B4-BE49-F238E27FC236}">
                  <a16:creationId xmlns:a16="http://schemas.microsoft.com/office/drawing/2014/main" id="{865354F6-83D0-E722-5C65-B706897D3F45}"/>
                </a:ext>
              </a:extLst>
            </p:cNvPr>
            <p:cNvSpPr/>
            <p:nvPr/>
          </p:nvSpPr>
          <p:spPr>
            <a:xfrm>
              <a:off x="5402188" y="1707654"/>
              <a:ext cx="2592288" cy="259228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0" name="Gerade Verbindung 27">
              <a:extLst>
                <a:ext uri="{FF2B5EF4-FFF2-40B4-BE49-F238E27FC236}">
                  <a16:creationId xmlns:a16="http://schemas.microsoft.com/office/drawing/2014/main" id="{8B427FC5-970F-1C81-2AF0-8F37585FE631}"/>
                </a:ext>
              </a:extLst>
            </p:cNvPr>
            <p:cNvCxnSpPr/>
            <p:nvPr/>
          </p:nvCxnSpPr>
          <p:spPr>
            <a:xfrm>
              <a:off x="6698332" y="1563638"/>
              <a:ext cx="0" cy="1440160"/>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1" name="Gerade Verbindung 28">
              <a:extLst>
                <a:ext uri="{FF2B5EF4-FFF2-40B4-BE49-F238E27FC236}">
                  <a16:creationId xmlns:a16="http://schemas.microsoft.com/office/drawing/2014/main" id="{900BD69D-B845-E77D-2BC6-A54F64747062}"/>
                </a:ext>
              </a:extLst>
            </p:cNvPr>
            <p:cNvCxnSpPr/>
            <p:nvPr/>
          </p:nvCxnSpPr>
          <p:spPr>
            <a:xfrm>
              <a:off x="5258172" y="3003798"/>
              <a:ext cx="1440160" cy="0"/>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2" name="Gerade Verbindung 29">
              <a:extLst>
                <a:ext uri="{FF2B5EF4-FFF2-40B4-BE49-F238E27FC236}">
                  <a16:creationId xmlns:a16="http://schemas.microsoft.com/office/drawing/2014/main" id="{F61F4F09-9420-B02B-B7D9-2568DE126B3F}"/>
                </a:ext>
              </a:extLst>
            </p:cNvPr>
            <p:cNvCxnSpPr/>
            <p:nvPr/>
          </p:nvCxnSpPr>
          <p:spPr>
            <a:xfrm>
              <a:off x="6698332" y="3003798"/>
              <a:ext cx="1018347" cy="1018347"/>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Gerade Verbindung 30">
              <a:extLst>
                <a:ext uri="{FF2B5EF4-FFF2-40B4-BE49-F238E27FC236}">
                  <a16:creationId xmlns:a16="http://schemas.microsoft.com/office/drawing/2014/main" id="{0E6BCDBE-9AE7-6C02-CD9D-5152CFE58464}"/>
                </a:ext>
              </a:extLst>
            </p:cNvPr>
            <p:cNvCxnSpPr/>
            <p:nvPr/>
          </p:nvCxnSpPr>
          <p:spPr>
            <a:xfrm flipH="1">
              <a:off x="5679985" y="3003798"/>
              <a:ext cx="1018347" cy="1018347"/>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4" name="Gerade Verbindung 31">
              <a:extLst>
                <a:ext uri="{FF2B5EF4-FFF2-40B4-BE49-F238E27FC236}">
                  <a16:creationId xmlns:a16="http://schemas.microsoft.com/office/drawing/2014/main" id="{85B247E3-4A3C-9149-6C26-F6BA8413953F}"/>
                </a:ext>
              </a:extLst>
            </p:cNvPr>
            <p:cNvCxnSpPr/>
            <p:nvPr/>
          </p:nvCxnSpPr>
          <p:spPr>
            <a:xfrm flipV="1">
              <a:off x="6698333" y="1985451"/>
              <a:ext cx="1018346" cy="1018347"/>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5" name="Ellipse 14">
              <a:extLst>
                <a:ext uri="{FF2B5EF4-FFF2-40B4-BE49-F238E27FC236}">
                  <a16:creationId xmlns:a16="http://schemas.microsoft.com/office/drawing/2014/main" id="{D1E01A8E-7CC6-81E7-0F8E-8893489D1D9A}"/>
                </a:ext>
              </a:extLst>
            </p:cNvPr>
            <p:cNvSpPr/>
            <p:nvPr/>
          </p:nvSpPr>
          <p:spPr>
            <a:xfrm>
              <a:off x="6194276" y="2499742"/>
              <a:ext cx="1008112" cy="1008112"/>
            </a:xfrm>
            <a:prstGeom prst="ellipse">
              <a:avLst/>
            </a:prstGeom>
            <a:noFill/>
            <a:ln>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Ellipse 15">
              <a:extLst>
                <a:ext uri="{FF2B5EF4-FFF2-40B4-BE49-F238E27FC236}">
                  <a16:creationId xmlns:a16="http://schemas.microsoft.com/office/drawing/2014/main" id="{BF33E956-D956-47A3-8F22-D38BC7050F09}"/>
                </a:ext>
              </a:extLst>
            </p:cNvPr>
            <p:cNvSpPr/>
            <p:nvPr/>
          </p:nvSpPr>
          <p:spPr>
            <a:xfrm>
              <a:off x="5798232" y="2103698"/>
              <a:ext cx="1800200" cy="1800200"/>
            </a:xfrm>
            <a:prstGeom prst="ellipse">
              <a:avLst/>
            </a:prstGeom>
            <a:noFill/>
            <a:ln>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7" name="Rechteck 16">
            <a:extLst>
              <a:ext uri="{FF2B5EF4-FFF2-40B4-BE49-F238E27FC236}">
                <a16:creationId xmlns:a16="http://schemas.microsoft.com/office/drawing/2014/main" id="{786E2970-A7F7-C4CF-EE00-3DDE0024D4A1}"/>
              </a:ext>
            </a:extLst>
          </p:cNvPr>
          <p:cNvSpPr/>
          <p:nvPr/>
        </p:nvSpPr>
        <p:spPr>
          <a:xfrm>
            <a:off x="1691681" y="1131590"/>
            <a:ext cx="5040560"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200" b="1" noProof="0" dirty="0">
                <a:solidFill>
                  <a:schemeClr val="tx1"/>
                </a:solidFill>
              </a:rPr>
              <a:t>Prompt A (Rules Specification):</a:t>
            </a:r>
          </a:p>
          <a:p>
            <a:pPr>
              <a:spcAft>
                <a:spcPts val="600"/>
              </a:spcAft>
            </a:pPr>
            <a:r>
              <a:rPr lang="en-US" sz="1200" noProof="0" dirty="0">
                <a:solidFill>
                  <a:schemeClr val="tx1"/>
                </a:solidFill>
              </a:rPr>
              <a:t>Help me define the rules for a Python simulation of the evolution of cooperation based on the iterated prisoner’s dilemma (Axelrod’s tournament).</a:t>
            </a:r>
          </a:p>
          <a:p>
            <a:pPr>
              <a:spcAft>
                <a:spcPts val="600"/>
              </a:spcAft>
            </a:pPr>
            <a:r>
              <a:rPr lang="en-US" sz="1200" noProof="0" dirty="0">
                <a:solidFill>
                  <a:schemeClr val="tx1"/>
                </a:solidFill>
              </a:rPr>
              <a:t>Please, formulate the rules clearly and compactly. The simulation should include:</a:t>
            </a:r>
          </a:p>
          <a:p>
            <a:pPr marL="182563" indent="-182563">
              <a:spcAft>
                <a:spcPts val="600"/>
              </a:spcAft>
              <a:buFont typeface="Arial" panose="020B0604020202020204" pitchFamily="34" charset="0"/>
              <a:buChar char="•"/>
            </a:pPr>
            <a:r>
              <a:rPr lang="en-US" sz="1200" noProof="0" dirty="0">
                <a:solidFill>
                  <a:schemeClr val="tx1"/>
                </a:solidFill>
              </a:rPr>
              <a:t>repeated pairwise interactions,</a:t>
            </a:r>
          </a:p>
          <a:p>
            <a:pPr marL="182563" indent="-182563">
              <a:spcAft>
                <a:spcPts val="600"/>
              </a:spcAft>
              <a:buFont typeface="Arial" panose="020B0604020202020204" pitchFamily="34" charset="0"/>
              <a:buChar char="•"/>
            </a:pPr>
            <a:r>
              <a:rPr lang="en-US" sz="1200" noProof="0" dirty="0">
                <a:solidFill>
                  <a:schemeClr val="tx1"/>
                </a:solidFill>
              </a:rPr>
              <a:t>strategies with memory of previous moves,</a:t>
            </a:r>
          </a:p>
          <a:p>
            <a:pPr marL="182563" indent="-182563">
              <a:spcAft>
                <a:spcPts val="600"/>
              </a:spcAft>
              <a:buFont typeface="Arial" panose="020B0604020202020204" pitchFamily="34" charset="0"/>
              <a:buChar char="•"/>
            </a:pPr>
            <a:r>
              <a:rPr lang="en-US" sz="1200" noProof="0" dirty="0">
                <a:solidFill>
                  <a:schemeClr val="tx1"/>
                </a:solidFill>
              </a:rPr>
              <a:t>a configurable payoff matrix,</a:t>
            </a:r>
          </a:p>
          <a:p>
            <a:pPr marL="182563" indent="-182563">
              <a:spcAft>
                <a:spcPts val="600"/>
              </a:spcAft>
              <a:buFont typeface="Arial" panose="020B0604020202020204" pitchFamily="34" charset="0"/>
              <a:buChar char="•"/>
            </a:pPr>
            <a:r>
              <a:rPr lang="en-US" sz="1200" noProof="0" dirty="0">
                <a:solidFill>
                  <a:schemeClr val="tx1"/>
                </a:solidFill>
              </a:rPr>
              <a:t>a tournament among strategies,</a:t>
            </a:r>
          </a:p>
          <a:p>
            <a:pPr marL="182563" indent="-182563">
              <a:spcAft>
                <a:spcPts val="600"/>
              </a:spcAft>
              <a:buFont typeface="Arial" panose="020B0604020202020204" pitchFamily="34" charset="0"/>
              <a:buChar char="•"/>
            </a:pPr>
            <a:r>
              <a:rPr lang="en-US" sz="1200" noProof="0" dirty="0">
                <a:solidFill>
                  <a:schemeClr val="tx1"/>
                </a:solidFill>
              </a:rPr>
              <a:t>an evolutionary update step after each tournament,</a:t>
            </a:r>
          </a:p>
          <a:p>
            <a:pPr marL="182563" indent="-182563">
              <a:spcAft>
                <a:spcPts val="600"/>
              </a:spcAft>
              <a:buFont typeface="Arial" panose="020B0604020202020204" pitchFamily="34" charset="0"/>
              <a:buChar char="•"/>
            </a:pPr>
            <a:r>
              <a:rPr lang="en-US" sz="1200" noProof="0" dirty="0">
                <a:solidFill>
                  <a:schemeClr val="tx1"/>
                </a:solidFill>
              </a:rPr>
              <a:t>multiple generations.</a:t>
            </a:r>
          </a:p>
          <a:p>
            <a:pPr>
              <a:spcAft>
                <a:spcPts val="600"/>
              </a:spcAft>
            </a:pPr>
            <a:r>
              <a:rPr lang="en-US" sz="1200" noProof="0" dirty="0">
                <a:solidFill>
                  <a:schemeClr val="tx1"/>
                </a:solidFill>
              </a:rPr>
              <a:t>Please provide:</a:t>
            </a:r>
          </a:p>
          <a:p>
            <a:pPr marL="228600" indent="-228600">
              <a:spcAft>
                <a:spcPts val="600"/>
              </a:spcAft>
              <a:buFont typeface="+mj-lt"/>
              <a:buAutoNum type="arabicPeriod"/>
            </a:pPr>
            <a:r>
              <a:rPr lang="en-US" sz="1200" noProof="0" dirty="0">
                <a:solidFill>
                  <a:schemeClr val="tx1"/>
                </a:solidFill>
              </a:rPr>
              <a:t>a precise rule set,</a:t>
            </a:r>
          </a:p>
          <a:p>
            <a:pPr marL="228600" indent="-228600">
              <a:spcAft>
                <a:spcPts val="600"/>
              </a:spcAft>
              <a:buFont typeface="+mj-lt"/>
              <a:buAutoNum type="arabicPeriod"/>
            </a:pPr>
            <a:r>
              <a:rPr lang="en-US" sz="1200" noProof="0" dirty="0">
                <a:solidFill>
                  <a:schemeClr val="tx1"/>
                </a:solidFill>
              </a:rPr>
              <a:t>a list of configurable parameters,</a:t>
            </a:r>
          </a:p>
          <a:p>
            <a:pPr marL="228600" indent="-228600">
              <a:spcAft>
                <a:spcPts val="600"/>
              </a:spcAft>
              <a:buFont typeface="+mj-lt"/>
              <a:buAutoNum type="arabicPeriod"/>
            </a:pPr>
            <a:r>
              <a:rPr lang="en-US" sz="1200" noProof="0" dirty="0">
                <a:solidFill>
                  <a:schemeClr val="tx1"/>
                </a:solidFill>
              </a:rPr>
              <a:t>a short explanation of how the evolutionary replacement should.</a:t>
            </a:r>
          </a:p>
        </p:txBody>
      </p:sp>
      <p:sp>
        <p:nvSpPr>
          <p:cNvPr id="18" name="Gleichschenkliges Dreieck 17">
            <a:extLst>
              <a:ext uri="{FF2B5EF4-FFF2-40B4-BE49-F238E27FC236}">
                <a16:creationId xmlns:a16="http://schemas.microsoft.com/office/drawing/2014/main" id="{BC54AC9C-14D6-13EA-2AAE-38BD1895FF11}"/>
              </a:ext>
            </a:extLst>
          </p:cNvPr>
          <p:cNvSpPr/>
          <p:nvPr/>
        </p:nvSpPr>
        <p:spPr>
          <a:xfrm rot="5400000">
            <a:off x="6475094" y="1579745"/>
            <a:ext cx="920943" cy="144016"/>
          </a:xfrm>
          <a:prstGeom prst="triangle">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echteck 18">
            <a:extLst>
              <a:ext uri="{FF2B5EF4-FFF2-40B4-BE49-F238E27FC236}">
                <a16:creationId xmlns:a16="http://schemas.microsoft.com/office/drawing/2014/main" id="{42F08428-AF7B-7857-E151-A78B77CCBF9A}"/>
              </a:ext>
            </a:extLst>
          </p:cNvPr>
          <p:cNvSpPr/>
          <p:nvPr/>
        </p:nvSpPr>
        <p:spPr>
          <a:xfrm>
            <a:off x="7236296" y="1131590"/>
            <a:ext cx="1643484" cy="1040326"/>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2" name="Gruppieren 21">
            <a:extLst>
              <a:ext uri="{FF2B5EF4-FFF2-40B4-BE49-F238E27FC236}">
                <a16:creationId xmlns:a16="http://schemas.microsoft.com/office/drawing/2014/main" id="{56A50A21-6996-FD5B-3196-FC4AEA808A73}"/>
              </a:ext>
            </a:extLst>
          </p:cNvPr>
          <p:cNvGrpSpPr/>
          <p:nvPr/>
        </p:nvGrpSpPr>
        <p:grpSpPr>
          <a:xfrm>
            <a:off x="8379514" y="1191281"/>
            <a:ext cx="432048" cy="432048"/>
            <a:chOff x="7452320" y="2571750"/>
            <a:chExt cx="720080" cy="720080"/>
          </a:xfrm>
        </p:grpSpPr>
        <p:sp>
          <p:nvSpPr>
            <p:cNvPr id="20" name="Rechteck: abgerundete Ecken 19">
              <a:extLst>
                <a:ext uri="{FF2B5EF4-FFF2-40B4-BE49-F238E27FC236}">
                  <a16:creationId xmlns:a16="http://schemas.microsoft.com/office/drawing/2014/main" id="{F9602CF0-0B80-D6CB-8B17-B35F0BEE9909}"/>
                </a:ext>
              </a:extLst>
            </p:cNvPr>
            <p:cNvSpPr/>
            <p:nvPr/>
          </p:nvSpPr>
          <p:spPr>
            <a:xfrm>
              <a:off x="7452320" y="2571750"/>
              <a:ext cx="720080" cy="720080"/>
            </a:xfrm>
            <a:prstGeom prst="round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noProof="0" dirty="0">
                <a:solidFill>
                  <a:schemeClr val="tx1"/>
                </a:solidFill>
              </a:endParaRPr>
            </a:p>
          </p:txBody>
        </p:sp>
        <p:sp>
          <p:nvSpPr>
            <p:cNvPr id="21" name="Rechteck: abgerundete Ecken 20">
              <a:extLst>
                <a:ext uri="{FF2B5EF4-FFF2-40B4-BE49-F238E27FC236}">
                  <a16:creationId xmlns:a16="http://schemas.microsoft.com/office/drawing/2014/main" id="{E5230534-5709-1F54-0CC7-D226B4C47805}"/>
                </a:ext>
              </a:extLst>
            </p:cNvPr>
            <p:cNvSpPr/>
            <p:nvPr/>
          </p:nvSpPr>
          <p:spPr>
            <a:xfrm>
              <a:off x="7528520" y="2647950"/>
              <a:ext cx="571872" cy="571872"/>
            </a:xfrm>
            <a:prstGeom prst="round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noProof="0" dirty="0">
                  <a:solidFill>
                    <a:schemeClr val="tx1"/>
                  </a:solidFill>
                </a:rPr>
                <a:t>AI</a:t>
              </a:r>
            </a:p>
          </p:txBody>
        </p:sp>
      </p:grpSp>
      <p:cxnSp>
        <p:nvCxnSpPr>
          <p:cNvPr id="24" name="Gerader Verbinder 23">
            <a:extLst>
              <a:ext uri="{FF2B5EF4-FFF2-40B4-BE49-F238E27FC236}">
                <a16:creationId xmlns:a16="http://schemas.microsoft.com/office/drawing/2014/main" id="{428ED177-1DFE-E287-1D21-5C551D5E8A7C}"/>
              </a:ext>
            </a:extLst>
          </p:cNvPr>
          <p:cNvCxnSpPr/>
          <p:nvPr/>
        </p:nvCxnSpPr>
        <p:spPr>
          <a:xfrm>
            <a:off x="8595538" y="2171916"/>
            <a:ext cx="0" cy="399834"/>
          </a:xfrm>
          <a:prstGeom prst="lin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6" name="Gerader Verbinder 25">
            <a:extLst>
              <a:ext uri="{FF2B5EF4-FFF2-40B4-BE49-F238E27FC236}">
                <a16:creationId xmlns:a16="http://schemas.microsoft.com/office/drawing/2014/main" id="{DF97C723-2D9F-1017-57BB-E8F055B162EC}"/>
              </a:ext>
            </a:extLst>
          </p:cNvPr>
          <p:cNvCxnSpPr>
            <a:cxnSpLocks/>
          </p:cNvCxnSpPr>
          <p:nvPr/>
        </p:nvCxnSpPr>
        <p:spPr>
          <a:xfrm flipH="1">
            <a:off x="7534973" y="2571750"/>
            <a:ext cx="1060565" cy="0"/>
          </a:xfrm>
          <a:prstGeom prst="lin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7" name="Gerader Verbinder 26">
            <a:extLst>
              <a:ext uri="{FF2B5EF4-FFF2-40B4-BE49-F238E27FC236}">
                <a16:creationId xmlns:a16="http://schemas.microsoft.com/office/drawing/2014/main" id="{C208C42B-1D66-AFC2-1021-13B9EC47EBD7}"/>
              </a:ext>
            </a:extLst>
          </p:cNvPr>
          <p:cNvCxnSpPr>
            <a:cxnSpLocks/>
          </p:cNvCxnSpPr>
          <p:nvPr/>
        </p:nvCxnSpPr>
        <p:spPr>
          <a:xfrm>
            <a:off x="7534973" y="2240134"/>
            <a:ext cx="0" cy="331616"/>
          </a:xfrm>
          <a:prstGeom prst="line">
            <a:avLst/>
          </a:prstGeom>
          <a:solidFill>
            <a:schemeClr val="tx2">
              <a:lumMod val="20000"/>
              <a:lumOff val="80000"/>
            </a:schemeClr>
          </a:solidFill>
          <a:ln>
            <a:solidFill>
              <a:schemeClr val="tx2"/>
            </a:solidFill>
            <a:headEnd type="triangle" w="med" len="med"/>
            <a:tailEnd type="none" w="med" len="med"/>
          </a:ln>
        </p:spPr>
        <p:style>
          <a:lnRef idx="2">
            <a:schemeClr val="accent1">
              <a:shade val="15000"/>
            </a:schemeClr>
          </a:lnRef>
          <a:fillRef idx="1">
            <a:schemeClr val="accent1"/>
          </a:fillRef>
          <a:effectRef idx="0">
            <a:schemeClr val="accent1"/>
          </a:effectRef>
          <a:fontRef idx="minor">
            <a:schemeClr val="lt1"/>
          </a:fontRef>
        </p:style>
      </p:cxnSp>
      <p:sp>
        <p:nvSpPr>
          <p:cNvPr id="32" name="Textfeld 31">
            <a:extLst>
              <a:ext uri="{FF2B5EF4-FFF2-40B4-BE49-F238E27FC236}">
                <a16:creationId xmlns:a16="http://schemas.microsoft.com/office/drawing/2014/main" id="{F6C84A48-50BD-389C-88DD-2FAAD3E4AB60}"/>
              </a:ext>
            </a:extLst>
          </p:cNvPr>
          <p:cNvSpPr txBox="1"/>
          <p:nvPr/>
        </p:nvSpPr>
        <p:spPr>
          <a:xfrm>
            <a:off x="7231899" y="2715766"/>
            <a:ext cx="1643485" cy="830997"/>
          </a:xfrm>
          <a:prstGeom prst="rect">
            <a:avLst/>
          </a:prstGeom>
          <a:noFill/>
        </p:spPr>
        <p:txBody>
          <a:bodyPr wrap="square" rtlCol="0">
            <a:spAutoFit/>
          </a:bodyPr>
          <a:lstStyle/>
          <a:p>
            <a:pPr algn="ctr"/>
            <a:r>
              <a:rPr lang="en-US" sz="1200" noProof="0" dirty="0"/>
              <a:t>refine and specify with detailed information about the iterated Prisoner’s Dilemma</a:t>
            </a:r>
          </a:p>
        </p:txBody>
      </p:sp>
      <p:sp>
        <p:nvSpPr>
          <p:cNvPr id="3" name="Textfeld 2">
            <a:extLst>
              <a:ext uri="{FF2B5EF4-FFF2-40B4-BE49-F238E27FC236}">
                <a16:creationId xmlns:a16="http://schemas.microsoft.com/office/drawing/2014/main" id="{6BB6DCBB-A7D3-793D-0DAF-4D5F4B0376CA}"/>
              </a:ext>
            </a:extLst>
          </p:cNvPr>
          <p:cNvSpPr txBox="1"/>
          <p:nvPr/>
        </p:nvSpPr>
        <p:spPr>
          <a:xfrm>
            <a:off x="6799796" y="4554694"/>
            <a:ext cx="1728187" cy="461665"/>
          </a:xfrm>
          <a:prstGeom prst="rect">
            <a:avLst/>
          </a:prstGeom>
          <a:noFill/>
        </p:spPr>
        <p:txBody>
          <a:bodyPr wrap="square" rtlCol="0">
            <a:spAutoFit/>
          </a:bodyPr>
          <a:lstStyle/>
          <a:p>
            <a:r>
              <a:rPr lang="en-US" sz="1200" noProof="0" dirty="0"/>
              <a:t>prompt generated with the help pf AI</a:t>
            </a:r>
          </a:p>
        </p:txBody>
      </p:sp>
    </p:spTree>
    <p:extLst>
      <p:ext uri="{BB962C8B-B14F-4D97-AF65-F5344CB8AC3E}">
        <p14:creationId xmlns:p14="http://schemas.microsoft.com/office/powerpoint/2010/main" val="38944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242717-F186-958E-4551-6FF37D41DC22}"/>
              </a:ext>
            </a:extLst>
          </p:cNvPr>
          <p:cNvSpPr>
            <a:spLocks noGrp="1"/>
          </p:cNvSpPr>
          <p:nvPr>
            <p:ph type="title"/>
          </p:nvPr>
        </p:nvSpPr>
        <p:spPr/>
        <p:txBody>
          <a:bodyPr/>
          <a:lstStyle/>
          <a:p>
            <a:r>
              <a:rPr lang="en-US" noProof="0" dirty="0"/>
              <a:t>Example:</a:t>
            </a:r>
            <a:br>
              <a:rPr lang="en-US" noProof="0" dirty="0"/>
            </a:br>
            <a:r>
              <a:rPr lang="en-US" noProof="0" dirty="0"/>
              <a:t>a) Rules specification</a:t>
            </a:r>
          </a:p>
        </p:txBody>
      </p:sp>
      <p:sp>
        <p:nvSpPr>
          <p:cNvPr id="3" name="Rechteck 2">
            <a:extLst>
              <a:ext uri="{FF2B5EF4-FFF2-40B4-BE49-F238E27FC236}">
                <a16:creationId xmlns:a16="http://schemas.microsoft.com/office/drawing/2014/main" id="{437DEE1D-64D6-393E-8D60-3A532B0616B2}"/>
              </a:ext>
            </a:extLst>
          </p:cNvPr>
          <p:cNvSpPr/>
          <p:nvPr/>
        </p:nvSpPr>
        <p:spPr>
          <a:xfrm>
            <a:off x="251520" y="1131590"/>
            <a:ext cx="4248472" cy="3888432"/>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82563" indent="-182563">
              <a:spcAft>
                <a:spcPts val="600"/>
              </a:spcAft>
            </a:pPr>
            <a:r>
              <a:rPr lang="en-US" sz="1200" b="1" u="sng" noProof="0" dirty="0">
                <a:solidFill>
                  <a:schemeClr val="tx1"/>
                </a:solidFill>
              </a:rPr>
              <a:t>Example:</a:t>
            </a:r>
          </a:p>
          <a:p>
            <a:pPr marL="182563" indent="-182563">
              <a:spcAft>
                <a:spcPts val="600"/>
              </a:spcAft>
            </a:pPr>
            <a:r>
              <a:rPr lang="en-US" sz="1200" b="1" noProof="0" dirty="0">
                <a:solidFill>
                  <a:schemeClr val="tx1"/>
                </a:solidFill>
              </a:rPr>
              <a:t>Participants: </a:t>
            </a:r>
            <a:r>
              <a:rPr lang="en-US" sz="1200" noProof="0" dirty="0">
                <a:solidFill>
                  <a:schemeClr val="tx1"/>
                </a:solidFill>
              </a:rPr>
              <a:t>Each strategy is represented by an agent that can remember previous moves.</a:t>
            </a:r>
          </a:p>
          <a:p>
            <a:pPr marL="182563" indent="-182563">
              <a:spcAft>
                <a:spcPts val="600"/>
              </a:spcAft>
            </a:pPr>
            <a:r>
              <a:rPr lang="en-US" sz="1200" b="1" noProof="0" dirty="0">
                <a:solidFill>
                  <a:schemeClr val="tx1"/>
                </a:solidFill>
              </a:rPr>
              <a:t>Interactions: </a:t>
            </a:r>
            <a:r>
              <a:rPr lang="en-US" sz="1200" noProof="0" dirty="0">
                <a:solidFill>
                  <a:schemeClr val="tx1"/>
                </a:solidFill>
              </a:rPr>
              <a:t>Agents engage in repeated pairwise interactions, where each agent plays against every other agent a fixed number of times.</a:t>
            </a:r>
          </a:p>
          <a:p>
            <a:pPr marL="182563" indent="-182563">
              <a:spcAft>
                <a:spcPts val="600"/>
              </a:spcAft>
            </a:pPr>
            <a:r>
              <a:rPr lang="en-US" sz="1200" b="1" noProof="0" dirty="0">
                <a:solidFill>
                  <a:schemeClr val="tx1"/>
                </a:solidFill>
              </a:rPr>
              <a:t>Strategies: </a:t>
            </a:r>
            <a:r>
              <a:rPr lang="en-US" sz="1200" noProof="0" dirty="0">
                <a:solidFill>
                  <a:schemeClr val="tx1"/>
                </a:solidFill>
              </a:rPr>
              <a:t>Each agent employs a strategy that determines its action (cooperate or defect) based on its memory of previous interactions.</a:t>
            </a:r>
          </a:p>
          <a:p>
            <a:pPr marL="182563" indent="-182563">
              <a:spcAft>
                <a:spcPts val="600"/>
              </a:spcAft>
            </a:pPr>
            <a:r>
              <a:rPr lang="en-US" sz="1200" b="1" noProof="0" dirty="0">
                <a:solidFill>
                  <a:schemeClr val="tx1"/>
                </a:solidFill>
              </a:rPr>
              <a:t>Payoff Matrix: </a:t>
            </a:r>
            <a:r>
              <a:rPr lang="en-US" sz="1200" noProof="0" dirty="0">
                <a:solidFill>
                  <a:schemeClr val="tx1"/>
                </a:solidFill>
              </a:rPr>
              <a:t>Payoff values are configurable and define the rewards for the actions:</a:t>
            </a:r>
          </a:p>
          <a:p>
            <a:pPr marL="182563" lvl="2">
              <a:spcAft>
                <a:spcPts val="600"/>
              </a:spcAft>
            </a:pPr>
            <a:r>
              <a:rPr lang="en-US" sz="1200" b="1" noProof="0" dirty="0">
                <a:solidFill>
                  <a:schemeClr val="tx1"/>
                </a:solidFill>
              </a:rPr>
              <a:t>T </a:t>
            </a:r>
            <a:r>
              <a:rPr lang="en-US" sz="1200" noProof="0" dirty="0">
                <a:solidFill>
                  <a:schemeClr val="tx1"/>
                </a:solidFill>
              </a:rPr>
              <a:t>(temptation to defect)</a:t>
            </a:r>
          </a:p>
          <a:p>
            <a:pPr marL="182563" lvl="2">
              <a:spcAft>
                <a:spcPts val="600"/>
              </a:spcAft>
            </a:pPr>
            <a:r>
              <a:rPr lang="en-US" sz="1200" b="1" noProof="0" dirty="0">
                <a:solidFill>
                  <a:schemeClr val="tx1"/>
                </a:solidFill>
              </a:rPr>
              <a:t>R </a:t>
            </a:r>
            <a:r>
              <a:rPr lang="en-US" sz="1200" noProof="0" dirty="0">
                <a:solidFill>
                  <a:schemeClr val="tx1"/>
                </a:solidFill>
              </a:rPr>
              <a:t>(reward for mutual cooperation)</a:t>
            </a:r>
          </a:p>
          <a:p>
            <a:pPr marL="182563" lvl="2">
              <a:spcAft>
                <a:spcPts val="600"/>
              </a:spcAft>
            </a:pPr>
            <a:r>
              <a:rPr lang="en-US" sz="1200" b="1" noProof="0" dirty="0">
                <a:solidFill>
                  <a:schemeClr val="tx1"/>
                </a:solidFill>
              </a:rPr>
              <a:t>P </a:t>
            </a:r>
            <a:r>
              <a:rPr lang="en-US" sz="1200" noProof="0" dirty="0">
                <a:solidFill>
                  <a:schemeClr val="tx1"/>
                </a:solidFill>
              </a:rPr>
              <a:t>(punishment for mutual defection)</a:t>
            </a:r>
          </a:p>
          <a:p>
            <a:pPr marL="182563" lvl="2">
              <a:spcAft>
                <a:spcPts val="600"/>
              </a:spcAft>
            </a:pPr>
            <a:r>
              <a:rPr lang="en-US" sz="1200" b="1" noProof="0" dirty="0">
                <a:solidFill>
                  <a:schemeClr val="tx1"/>
                </a:solidFill>
              </a:rPr>
              <a:t>S </a:t>
            </a:r>
            <a:r>
              <a:rPr lang="en-US" sz="1200" noProof="0" dirty="0">
                <a:solidFill>
                  <a:schemeClr val="tx1"/>
                </a:solidFill>
              </a:rPr>
              <a:t>(sucker’s payoff)</a:t>
            </a:r>
          </a:p>
        </p:txBody>
      </p:sp>
      <p:sp>
        <p:nvSpPr>
          <p:cNvPr id="4" name="Rechteck 3">
            <a:extLst>
              <a:ext uri="{FF2B5EF4-FFF2-40B4-BE49-F238E27FC236}">
                <a16:creationId xmlns:a16="http://schemas.microsoft.com/office/drawing/2014/main" id="{6D07873F-B11E-E0F7-7B30-E5BFAA1291E7}"/>
              </a:ext>
            </a:extLst>
          </p:cNvPr>
          <p:cNvSpPr/>
          <p:nvPr/>
        </p:nvSpPr>
        <p:spPr>
          <a:xfrm>
            <a:off x="4644008" y="1131590"/>
            <a:ext cx="4248472" cy="3888432"/>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200" noProof="0" dirty="0">
                <a:solidFill>
                  <a:schemeClr val="tx1"/>
                </a:solidFill>
              </a:rPr>
              <a:t>Example matrix/ payoffs from point of view of the column player:</a:t>
            </a:r>
          </a:p>
          <a:p>
            <a:pPr>
              <a:spcAft>
                <a:spcPts val="600"/>
              </a:spcAft>
            </a:pPr>
            <a:endParaRPr lang="en-US" sz="1200" b="1" noProof="0" dirty="0">
              <a:solidFill>
                <a:schemeClr val="tx1"/>
              </a:solidFill>
            </a:endParaRPr>
          </a:p>
          <a:p>
            <a:pPr>
              <a:spcAft>
                <a:spcPts val="600"/>
              </a:spcAft>
            </a:pPr>
            <a:endParaRPr lang="en-US" sz="1200" b="1" noProof="0" dirty="0">
              <a:solidFill>
                <a:schemeClr val="tx1"/>
              </a:solidFill>
            </a:endParaRPr>
          </a:p>
          <a:p>
            <a:pPr>
              <a:spcAft>
                <a:spcPts val="600"/>
              </a:spcAft>
            </a:pPr>
            <a:endParaRPr lang="en-US" sz="1200" b="1" noProof="0" dirty="0">
              <a:solidFill>
                <a:schemeClr val="tx1"/>
              </a:solidFill>
            </a:endParaRPr>
          </a:p>
          <a:p>
            <a:pPr>
              <a:spcAft>
                <a:spcPts val="600"/>
              </a:spcAft>
            </a:pPr>
            <a:endParaRPr lang="en-US" sz="1200" b="1" noProof="0" dirty="0">
              <a:solidFill>
                <a:schemeClr val="tx1"/>
              </a:solidFill>
            </a:endParaRPr>
          </a:p>
          <a:p>
            <a:pPr>
              <a:spcAft>
                <a:spcPts val="600"/>
              </a:spcAft>
            </a:pPr>
            <a:endParaRPr lang="en-US" sz="1200" b="1" noProof="0" dirty="0">
              <a:solidFill>
                <a:schemeClr val="tx1"/>
              </a:solidFill>
            </a:endParaRPr>
          </a:p>
          <a:p>
            <a:pPr marL="182563" indent="-182563">
              <a:spcAft>
                <a:spcPts val="600"/>
              </a:spcAft>
            </a:pPr>
            <a:r>
              <a:rPr lang="en-US" sz="1200" b="1" noProof="0" dirty="0">
                <a:solidFill>
                  <a:schemeClr val="tx1"/>
                </a:solidFill>
              </a:rPr>
              <a:t>Tournament Structure: </a:t>
            </a:r>
            <a:r>
              <a:rPr lang="en-US" sz="1200" noProof="0" dirty="0">
                <a:solidFill>
                  <a:schemeClr val="tx1"/>
                </a:solidFill>
              </a:rPr>
              <a:t>After all pairwise interactions, agents are ranked based on their total payoffs.</a:t>
            </a:r>
          </a:p>
          <a:p>
            <a:pPr marL="182563" indent="-182563">
              <a:spcAft>
                <a:spcPts val="600"/>
              </a:spcAft>
            </a:pPr>
            <a:r>
              <a:rPr lang="en-US" sz="1200" b="1" noProof="0" dirty="0">
                <a:solidFill>
                  <a:schemeClr val="tx1"/>
                </a:solidFill>
              </a:rPr>
              <a:t>Evolutionary Update: </a:t>
            </a:r>
            <a:r>
              <a:rPr lang="en-US" sz="1200" noProof="0" dirty="0">
                <a:solidFill>
                  <a:schemeClr val="tx1"/>
                </a:solidFill>
              </a:rPr>
              <a:t>The least successful agents are replaced by copies of the most successful agents based on their performance in the tournament.</a:t>
            </a:r>
          </a:p>
          <a:p>
            <a:pPr marL="182563" indent="-182563">
              <a:spcAft>
                <a:spcPts val="600"/>
              </a:spcAft>
            </a:pPr>
            <a:r>
              <a:rPr lang="en-US" sz="1200" b="1" noProof="0" dirty="0">
                <a:solidFill>
                  <a:schemeClr val="tx1"/>
                </a:solidFill>
              </a:rPr>
              <a:t>Generational Cycle: </a:t>
            </a:r>
            <a:r>
              <a:rPr lang="en-US" sz="1200" noProof="0" dirty="0">
                <a:solidFill>
                  <a:schemeClr val="tx1"/>
                </a:solidFill>
              </a:rPr>
              <a:t>Repeat the tournament and evolutionary update for a specified number of generations.</a:t>
            </a:r>
          </a:p>
        </p:txBody>
      </p:sp>
      <p:graphicFrame>
        <p:nvGraphicFramePr>
          <p:cNvPr id="6" name="Tabelle 5">
            <a:extLst>
              <a:ext uri="{FF2B5EF4-FFF2-40B4-BE49-F238E27FC236}">
                <a16:creationId xmlns:a16="http://schemas.microsoft.com/office/drawing/2014/main" id="{16047EFB-A466-0E96-98C8-1F6903426348}"/>
              </a:ext>
            </a:extLst>
          </p:cNvPr>
          <p:cNvGraphicFramePr>
            <a:graphicFrameLocks noGrp="1"/>
          </p:cNvGraphicFramePr>
          <p:nvPr>
            <p:extLst>
              <p:ext uri="{D42A27DB-BD31-4B8C-83A1-F6EECF244321}">
                <p14:modId xmlns:p14="http://schemas.microsoft.com/office/powerpoint/2010/main" val="2880463795"/>
              </p:ext>
            </p:extLst>
          </p:nvPr>
        </p:nvGraphicFramePr>
        <p:xfrm>
          <a:off x="4788024" y="1491630"/>
          <a:ext cx="3960441" cy="822960"/>
        </p:xfrm>
        <a:graphic>
          <a:graphicData uri="http://schemas.openxmlformats.org/drawingml/2006/table">
            <a:tbl>
              <a:tblPr firstRow="1" bandRow="1">
                <a:tableStyleId>{2D5ABB26-0587-4C30-8999-92F81FD0307C}</a:tableStyleId>
              </a:tblPr>
              <a:tblGrid>
                <a:gridCol w="1320147">
                  <a:extLst>
                    <a:ext uri="{9D8B030D-6E8A-4147-A177-3AD203B41FA5}">
                      <a16:colId xmlns:a16="http://schemas.microsoft.com/office/drawing/2014/main" val="165127550"/>
                    </a:ext>
                  </a:extLst>
                </a:gridCol>
                <a:gridCol w="1320147">
                  <a:extLst>
                    <a:ext uri="{9D8B030D-6E8A-4147-A177-3AD203B41FA5}">
                      <a16:colId xmlns:a16="http://schemas.microsoft.com/office/drawing/2014/main" val="2330119993"/>
                    </a:ext>
                  </a:extLst>
                </a:gridCol>
                <a:gridCol w="1320147">
                  <a:extLst>
                    <a:ext uri="{9D8B030D-6E8A-4147-A177-3AD203B41FA5}">
                      <a16:colId xmlns:a16="http://schemas.microsoft.com/office/drawing/2014/main" val="4282943900"/>
                    </a:ext>
                  </a:extLst>
                </a:gridCol>
              </a:tblGrid>
              <a:tr h="149275">
                <a:tc>
                  <a:txBody>
                    <a:bodyPr/>
                    <a:lstStyle/>
                    <a:p>
                      <a:endParaRPr lang="en-US" sz="1200" noProof="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cooperate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sz="1200" noProof="0" dirty="0"/>
                        <a:t>defect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4033863740"/>
                  </a:ext>
                </a:extLst>
              </a:tr>
              <a:tr h="149275">
                <a:tc>
                  <a:txBody>
                    <a:bodyPr/>
                    <a:lstStyle/>
                    <a:p>
                      <a:r>
                        <a:rPr lang="en-US" sz="1200" noProof="0" dirty="0"/>
                        <a:t>cooperate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sz="1200" noProof="0" dirty="0"/>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2303854"/>
                  </a:ext>
                </a:extLst>
              </a:tr>
              <a:tr h="149275">
                <a:tc>
                  <a:txBody>
                    <a:bodyPr/>
                    <a:lstStyle/>
                    <a:p>
                      <a:r>
                        <a:rPr lang="en-US" sz="1200" noProof="0" dirty="0"/>
                        <a:t>defect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sz="1200" noProof="0" dirty="0"/>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4076774"/>
                  </a:ext>
                </a:extLst>
              </a:tr>
            </a:tbl>
          </a:graphicData>
        </a:graphic>
      </p:graphicFrame>
    </p:spTree>
    <p:extLst>
      <p:ext uri="{BB962C8B-B14F-4D97-AF65-F5344CB8AC3E}">
        <p14:creationId xmlns:p14="http://schemas.microsoft.com/office/powerpoint/2010/main" val="3291560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B6707-A03B-EA47-33F4-7A53FC04536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407684C-CFF7-6FDF-D56C-DC44C1BD4A47}"/>
              </a:ext>
            </a:extLst>
          </p:cNvPr>
          <p:cNvSpPr>
            <a:spLocks noGrp="1"/>
          </p:cNvSpPr>
          <p:nvPr>
            <p:ph type="title"/>
          </p:nvPr>
        </p:nvSpPr>
        <p:spPr/>
        <p:txBody>
          <a:bodyPr/>
          <a:lstStyle/>
          <a:p>
            <a:r>
              <a:rPr lang="en-US" noProof="0" dirty="0"/>
              <a:t>Example:</a:t>
            </a:r>
            <a:br>
              <a:rPr lang="en-US" noProof="0" dirty="0"/>
            </a:br>
            <a:r>
              <a:rPr lang="en-US" noProof="0" dirty="0"/>
              <a:t>a) Rules specification</a:t>
            </a:r>
          </a:p>
        </p:txBody>
      </p:sp>
      <p:sp>
        <p:nvSpPr>
          <p:cNvPr id="3" name="Rechteck 2">
            <a:extLst>
              <a:ext uri="{FF2B5EF4-FFF2-40B4-BE49-F238E27FC236}">
                <a16:creationId xmlns:a16="http://schemas.microsoft.com/office/drawing/2014/main" id="{20C871D9-3A11-49C0-8190-3EDA2E0D15AE}"/>
              </a:ext>
            </a:extLst>
          </p:cNvPr>
          <p:cNvSpPr/>
          <p:nvPr/>
        </p:nvSpPr>
        <p:spPr>
          <a:xfrm>
            <a:off x="251520" y="1131590"/>
            <a:ext cx="4248472" cy="288032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200" b="1" noProof="0" dirty="0">
                <a:solidFill>
                  <a:schemeClr val="tx1"/>
                </a:solidFill>
              </a:rPr>
              <a:t>Configurable Parameters</a:t>
            </a:r>
          </a:p>
          <a:p>
            <a:pPr marL="228600" indent="-228600">
              <a:spcAft>
                <a:spcPts val="600"/>
              </a:spcAft>
              <a:buFont typeface="+mj-lt"/>
              <a:buAutoNum type="arabicPeriod"/>
            </a:pPr>
            <a:r>
              <a:rPr lang="en-US" sz="1200" b="1" noProof="0" dirty="0">
                <a:solidFill>
                  <a:schemeClr val="tx1"/>
                </a:solidFill>
              </a:rPr>
              <a:t>Number of Agents:</a:t>
            </a:r>
            <a:r>
              <a:rPr lang="en-US" sz="1200" noProof="0" dirty="0">
                <a:solidFill>
                  <a:schemeClr val="tx1"/>
                </a:solidFill>
              </a:rPr>
              <a:t> Total agents participating in the simulation.</a:t>
            </a:r>
          </a:p>
          <a:p>
            <a:pPr marL="228600" indent="-228600">
              <a:spcAft>
                <a:spcPts val="600"/>
              </a:spcAft>
              <a:buFont typeface="+mj-lt"/>
              <a:buAutoNum type="arabicPeriod"/>
            </a:pPr>
            <a:r>
              <a:rPr lang="en-US" sz="1200" b="1" noProof="0" dirty="0">
                <a:solidFill>
                  <a:schemeClr val="tx1"/>
                </a:solidFill>
              </a:rPr>
              <a:t>Number of Iterations:</a:t>
            </a:r>
            <a:r>
              <a:rPr lang="en-US" sz="1200" noProof="0" dirty="0">
                <a:solidFill>
                  <a:schemeClr val="tx1"/>
                </a:solidFill>
              </a:rPr>
              <a:t> How many times each agent interacts with every other agent.</a:t>
            </a:r>
          </a:p>
          <a:p>
            <a:pPr marL="228600" indent="-228600">
              <a:spcAft>
                <a:spcPts val="600"/>
              </a:spcAft>
              <a:buFont typeface="+mj-lt"/>
              <a:buAutoNum type="arabicPeriod"/>
            </a:pPr>
            <a:r>
              <a:rPr lang="en-US" sz="1200" b="1" noProof="0" dirty="0">
                <a:solidFill>
                  <a:schemeClr val="tx1"/>
                </a:solidFill>
              </a:rPr>
              <a:t>Payoff Matrix Values:</a:t>
            </a:r>
            <a:r>
              <a:rPr lang="en-US" sz="1200" noProof="0" dirty="0">
                <a:solidFill>
                  <a:schemeClr val="tx1"/>
                </a:solidFill>
              </a:rPr>
              <a:t> Configurable values for T, R, P, S.</a:t>
            </a:r>
          </a:p>
          <a:p>
            <a:pPr marL="228600" indent="-228600">
              <a:spcAft>
                <a:spcPts val="600"/>
              </a:spcAft>
              <a:buFont typeface="+mj-lt"/>
              <a:buAutoNum type="arabicPeriod"/>
            </a:pPr>
            <a:r>
              <a:rPr lang="en-US" sz="1200" b="1" noProof="0" dirty="0">
                <a:solidFill>
                  <a:schemeClr val="tx1"/>
                </a:solidFill>
              </a:rPr>
              <a:t>Memory Length:</a:t>
            </a:r>
            <a:r>
              <a:rPr lang="en-US" sz="1200" noProof="0" dirty="0">
                <a:solidFill>
                  <a:schemeClr val="tx1"/>
                </a:solidFill>
              </a:rPr>
              <a:t> How many previous moves each agent remembers.</a:t>
            </a:r>
          </a:p>
          <a:p>
            <a:pPr marL="228600" indent="-228600">
              <a:spcAft>
                <a:spcPts val="600"/>
              </a:spcAft>
              <a:buFont typeface="+mj-lt"/>
              <a:buAutoNum type="arabicPeriod"/>
            </a:pPr>
            <a:r>
              <a:rPr lang="en-US" sz="1200" b="1" noProof="0" dirty="0">
                <a:solidFill>
                  <a:schemeClr val="tx1"/>
                </a:solidFill>
              </a:rPr>
              <a:t>Number of Generations:</a:t>
            </a:r>
            <a:r>
              <a:rPr lang="en-US" sz="1200" noProof="0" dirty="0">
                <a:solidFill>
                  <a:schemeClr val="tx1"/>
                </a:solidFill>
              </a:rPr>
              <a:t> How many times the tournament and evolutionary update will occur.</a:t>
            </a:r>
          </a:p>
          <a:p>
            <a:pPr marL="228600" indent="-228600">
              <a:spcAft>
                <a:spcPts val="600"/>
              </a:spcAft>
              <a:buFont typeface="+mj-lt"/>
              <a:buAutoNum type="arabicPeriod"/>
            </a:pPr>
            <a:r>
              <a:rPr lang="en-US" sz="1200" b="1" noProof="0" dirty="0">
                <a:solidFill>
                  <a:schemeClr val="tx1"/>
                </a:solidFill>
              </a:rPr>
              <a:t>Selection Pressure:</a:t>
            </a:r>
            <a:r>
              <a:rPr lang="en-US" sz="1200" noProof="0" dirty="0">
                <a:solidFill>
                  <a:schemeClr val="tx1"/>
                </a:solidFill>
              </a:rPr>
              <a:t> Determines how many of the top-performing agents will reproduce.</a:t>
            </a:r>
          </a:p>
        </p:txBody>
      </p:sp>
      <p:sp>
        <p:nvSpPr>
          <p:cNvPr id="4" name="Rechteck 3">
            <a:extLst>
              <a:ext uri="{FF2B5EF4-FFF2-40B4-BE49-F238E27FC236}">
                <a16:creationId xmlns:a16="http://schemas.microsoft.com/office/drawing/2014/main" id="{2B3427D6-2CFC-87F7-3906-4D8B22B2A24A}"/>
              </a:ext>
            </a:extLst>
          </p:cNvPr>
          <p:cNvSpPr/>
          <p:nvPr/>
        </p:nvSpPr>
        <p:spPr>
          <a:xfrm>
            <a:off x="4644008" y="1131590"/>
            <a:ext cx="4248472" cy="288032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200" b="1" noProof="0" dirty="0">
                <a:solidFill>
                  <a:schemeClr val="tx1"/>
                </a:solidFill>
              </a:rPr>
              <a:t>Evolutionary Replacement Explanation</a:t>
            </a:r>
          </a:p>
          <a:p>
            <a:pPr marL="182563" indent="-182563">
              <a:spcAft>
                <a:spcPts val="600"/>
              </a:spcAft>
              <a:buFont typeface="+mj-lt"/>
              <a:buAutoNum type="arabicPeriod"/>
            </a:pPr>
            <a:r>
              <a:rPr lang="en-US" sz="1200" b="1" noProof="0" dirty="0">
                <a:solidFill>
                  <a:schemeClr val="tx1"/>
                </a:solidFill>
              </a:rPr>
              <a:t>Scoring:</a:t>
            </a:r>
            <a:r>
              <a:rPr lang="en-US" sz="1200" noProof="0" dirty="0">
                <a:solidFill>
                  <a:schemeClr val="tx1"/>
                </a:solidFill>
              </a:rPr>
              <a:t> After each tournament, calculate the total payoff for each agent.</a:t>
            </a:r>
          </a:p>
          <a:p>
            <a:pPr marL="182563" indent="-182563">
              <a:spcAft>
                <a:spcPts val="600"/>
              </a:spcAft>
              <a:buFont typeface="+mj-lt"/>
              <a:buAutoNum type="arabicPeriod"/>
            </a:pPr>
            <a:r>
              <a:rPr lang="en-US" sz="1200" b="1" noProof="0" dirty="0">
                <a:solidFill>
                  <a:schemeClr val="tx1"/>
                </a:solidFill>
              </a:rPr>
              <a:t>Selection:</a:t>
            </a:r>
            <a:r>
              <a:rPr lang="en-US" sz="1200" noProof="0" dirty="0">
                <a:solidFill>
                  <a:schemeClr val="tx1"/>
                </a:solidFill>
              </a:rPr>
              <a:t> Rank agents by their total payoffs. </a:t>
            </a:r>
          </a:p>
          <a:p>
            <a:pPr marL="182563" indent="-182563">
              <a:spcAft>
                <a:spcPts val="600"/>
              </a:spcAft>
              <a:buFont typeface="+mj-lt"/>
              <a:buAutoNum type="arabicPeriod"/>
            </a:pPr>
            <a:r>
              <a:rPr lang="en-US" sz="1200" b="1" noProof="0" dirty="0">
                <a:solidFill>
                  <a:schemeClr val="tx1"/>
                </a:solidFill>
              </a:rPr>
              <a:t>Replacement:</a:t>
            </a:r>
            <a:endParaRPr lang="en-US" sz="1200" noProof="0" dirty="0">
              <a:solidFill>
                <a:schemeClr val="tx1"/>
              </a:solidFill>
            </a:endParaRPr>
          </a:p>
          <a:p>
            <a:pPr marL="358775" lvl="1" indent="-176213">
              <a:spcAft>
                <a:spcPts val="600"/>
              </a:spcAft>
              <a:buFont typeface="Arial" panose="020B0604020202020204" pitchFamily="34" charset="0"/>
              <a:buChar char="•"/>
            </a:pPr>
            <a:r>
              <a:rPr lang="en-US" sz="1200" noProof="0" dirty="0">
                <a:solidFill>
                  <a:schemeClr val="tx1"/>
                </a:solidFill>
              </a:rPr>
              <a:t>Select a predefined number of the highest-scoring agents.</a:t>
            </a:r>
          </a:p>
          <a:p>
            <a:pPr marL="358775" lvl="1" indent="-176213">
              <a:spcAft>
                <a:spcPts val="600"/>
              </a:spcAft>
              <a:buFont typeface="Arial" panose="020B0604020202020204" pitchFamily="34" charset="0"/>
              <a:buChar char="•"/>
            </a:pPr>
            <a:r>
              <a:rPr lang="en-US" sz="1200" noProof="0" dirty="0">
                <a:solidFill>
                  <a:schemeClr val="tx1"/>
                </a:solidFill>
              </a:rPr>
              <a:t>Replace the lowest-scoring agents in the population with copies of these successful agents.</a:t>
            </a:r>
          </a:p>
          <a:p>
            <a:pPr marL="358775" lvl="1" indent="-176213">
              <a:spcAft>
                <a:spcPts val="600"/>
              </a:spcAft>
              <a:buFont typeface="Arial" panose="020B0604020202020204" pitchFamily="34" charset="0"/>
              <a:buChar char="•"/>
            </a:pPr>
            <a:r>
              <a:rPr lang="en-US" sz="1200" noProof="0" dirty="0">
                <a:solidFill>
                  <a:schemeClr val="tx1"/>
                </a:solidFill>
              </a:rPr>
              <a:t>Optionally, introduce mutations or variations in the strategies of the new agents.</a:t>
            </a:r>
          </a:p>
        </p:txBody>
      </p:sp>
      <p:sp>
        <p:nvSpPr>
          <p:cNvPr id="5" name="Rechteck 4">
            <a:extLst>
              <a:ext uri="{FF2B5EF4-FFF2-40B4-BE49-F238E27FC236}">
                <a16:creationId xmlns:a16="http://schemas.microsoft.com/office/drawing/2014/main" id="{96EFCEC9-EA52-DFBB-8F10-BC6D4BA193D5}"/>
              </a:ext>
            </a:extLst>
          </p:cNvPr>
          <p:cNvSpPr/>
          <p:nvPr/>
        </p:nvSpPr>
        <p:spPr>
          <a:xfrm>
            <a:off x="251520" y="4155926"/>
            <a:ext cx="8640960" cy="864096"/>
          </a:xfrm>
          <a:prstGeom prst="rect">
            <a:avLst/>
          </a:prstGeom>
          <a:solidFill>
            <a:schemeClr val="accent3">
              <a:lumMod val="20000"/>
              <a:lumOff val="80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noProof="0" dirty="0">
                <a:solidFill>
                  <a:schemeClr val="tx1"/>
                </a:solidFill>
              </a:rPr>
              <a:t>Summary</a:t>
            </a:r>
          </a:p>
          <a:p>
            <a:pPr algn="just"/>
            <a:r>
              <a:rPr lang="en-US" sz="1200" noProof="0" dirty="0">
                <a:solidFill>
                  <a:schemeClr val="tx1"/>
                </a:solidFill>
              </a:rPr>
              <a:t>This simulation framework will allow you to explore the dynamics of cooperation through repeated interactions and evolutionary pressures. By adjusting the parameters, you can investigate various scenarios and the emergence of cooperative behavior among agents. </a:t>
            </a:r>
          </a:p>
        </p:txBody>
      </p:sp>
    </p:spTree>
    <p:extLst>
      <p:ext uri="{BB962C8B-B14F-4D97-AF65-F5344CB8AC3E}">
        <p14:creationId xmlns:p14="http://schemas.microsoft.com/office/powerpoint/2010/main" val="2625923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3E4EB-156C-BFB7-9813-3E5A767EBE9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FB76582-6550-F629-3A7B-11E5DFA0F27A}"/>
              </a:ext>
            </a:extLst>
          </p:cNvPr>
          <p:cNvSpPr>
            <a:spLocks noGrp="1"/>
          </p:cNvSpPr>
          <p:nvPr>
            <p:ph type="title"/>
          </p:nvPr>
        </p:nvSpPr>
        <p:spPr/>
        <p:txBody>
          <a:bodyPr/>
          <a:lstStyle/>
          <a:p>
            <a:r>
              <a:rPr lang="en-US" noProof="0" dirty="0"/>
              <a:t>Step 1: Think about the model before coding</a:t>
            </a:r>
            <a:br>
              <a:rPr lang="en-US" noProof="0" dirty="0"/>
            </a:br>
            <a:r>
              <a:rPr lang="en-US" noProof="0" dirty="0"/>
              <a:t>b) Software design requirements</a:t>
            </a:r>
          </a:p>
        </p:txBody>
      </p:sp>
      <p:grpSp>
        <p:nvGrpSpPr>
          <p:cNvPr id="7" name="Gruppieren 6">
            <a:extLst>
              <a:ext uri="{FF2B5EF4-FFF2-40B4-BE49-F238E27FC236}">
                <a16:creationId xmlns:a16="http://schemas.microsoft.com/office/drawing/2014/main" id="{1408FE6B-35A1-0B53-F3BF-F25F8D79D7D7}"/>
              </a:ext>
            </a:extLst>
          </p:cNvPr>
          <p:cNvGrpSpPr/>
          <p:nvPr/>
        </p:nvGrpSpPr>
        <p:grpSpPr>
          <a:xfrm>
            <a:off x="264220" y="1131590"/>
            <a:ext cx="1296144" cy="1296144"/>
            <a:chOff x="5258172" y="1563638"/>
            <a:chExt cx="2736304" cy="2736304"/>
          </a:xfrm>
        </p:grpSpPr>
        <p:sp>
          <p:nvSpPr>
            <p:cNvPr id="8" name="Freihandform 3">
              <a:extLst>
                <a:ext uri="{FF2B5EF4-FFF2-40B4-BE49-F238E27FC236}">
                  <a16:creationId xmlns:a16="http://schemas.microsoft.com/office/drawing/2014/main" id="{10C25BDD-9023-D1AD-59A9-41E61E6C9291}"/>
                </a:ext>
              </a:extLst>
            </p:cNvPr>
            <p:cNvSpPr/>
            <p:nvPr/>
          </p:nvSpPr>
          <p:spPr>
            <a:xfrm>
              <a:off x="5713090" y="1964690"/>
              <a:ext cx="2066290" cy="1971040"/>
            </a:xfrm>
            <a:custGeom>
              <a:avLst/>
              <a:gdLst>
                <a:gd name="connsiteX0" fmla="*/ 95250 w 2066290"/>
                <a:gd name="connsiteY0" fmla="*/ 1037590 h 1971040"/>
                <a:gd name="connsiteX1" fmla="*/ 34290 w 2066290"/>
                <a:gd name="connsiteY1" fmla="*/ 626110 h 1971040"/>
                <a:gd name="connsiteX2" fmla="*/ 300990 w 2066290"/>
                <a:gd name="connsiteY2" fmla="*/ 222250 h 1971040"/>
                <a:gd name="connsiteX3" fmla="*/ 674370 w 2066290"/>
                <a:gd name="connsiteY3" fmla="*/ 283210 h 1971040"/>
                <a:gd name="connsiteX4" fmla="*/ 986790 w 2066290"/>
                <a:gd name="connsiteY4" fmla="*/ 351790 h 1971040"/>
                <a:gd name="connsiteX5" fmla="*/ 1261110 w 2066290"/>
                <a:gd name="connsiteY5" fmla="*/ 39370 h 1971040"/>
                <a:gd name="connsiteX6" fmla="*/ 1482090 w 2066290"/>
                <a:gd name="connsiteY6" fmla="*/ 115570 h 1971040"/>
                <a:gd name="connsiteX7" fmla="*/ 1695450 w 2066290"/>
                <a:gd name="connsiteY7" fmla="*/ 351790 h 1971040"/>
                <a:gd name="connsiteX8" fmla="*/ 2007870 w 2066290"/>
                <a:gd name="connsiteY8" fmla="*/ 443230 h 1971040"/>
                <a:gd name="connsiteX9" fmla="*/ 2023110 w 2066290"/>
                <a:gd name="connsiteY9" fmla="*/ 740410 h 1971040"/>
                <a:gd name="connsiteX10" fmla="*/ 1748790 w 2066290"/>
                <a:gd name="connsiteY10" fmla="*/ 839470 h 1971040"/>
                <a:gd name="connsiteX11" fmla="*/ 1604010 w 2066290"/>
                <a:gd name="connsiteY11" fmla="*/ 1014730 h 1971040"/>
                <a:gd name="connsiteX12" fmla="*/ 1741170 w 2066290"/>
                <a:gd name="connsiteY12" fmla="*/ 1258570 h 1971040"/>
                <a:gd name="connsiteX13" fmla="*/ 1916430 w 2066290"/>
                <a:gd name="connsiteY13" fmla="*/ 1532890 h 1971040"/>
                <a:gd name="connsiteX14" fmla="*/ 1809750 w 2066290"/>
                <a:gd name="connsiteY14" fmla="*/ 1830070 h 1971040"/>
                <a:gd name="connsiteX15" fmla="*/ 1535430 w 2066290"/>
                <a:gd name="connsiteY15" fmla="*/ 1951990 h 1971040"/>
                <a:gd name="connsiteX16" fmla="*/ 1223010 w 2066290"/>
                <a:gd name="connsiteY16" fmla="*/ 1715770 h 1971040"/>
                <a:gd name="connsiteX17" fmla="*/ 956310 w 2066290"/>
                <a:gd name="connsiteY17" fmla="*/ 1708150 h 1971040"/>
                <a:gd name="connsiteX18" fmla="*/ 826770 w 2066290"/>
                <a:gd name="connsiteY18" fmla="*/ 1784350 h 1971040"/>
                <a:gd name="connsiteX19" fmla="*/ 224790 w 2066290"/>
                <a:gd name="connsiteY19" fmla="*/ 1814830 h 1971040"/>
                <a:gd name="connsiteX20" fmla="*/ 590550 w 2066290"/>
                <a:gd name="connsiteY20" fmla="*/ 1250950 h 1971040"/>
                <a:gd name="connsiteX21" fmla="*/ 95250 w 2066290"/>
                <a:gd name="connsiteY21" fmla="*/ 1037590 h 1971040"/>
                <a:gd name="connsiteX0" fmla="*/ 95250 w 2066290"/>
                <a:gd name="connsiteY0" fmla="*/ 1037590 h 1971040"/>
                <a:gd name="connsiteX1" fmla="*/ 34290 w 2066290"/>
                <a:gd name="connsiteY1" fmla="*/ 626110 h 1971040"/>
                <a:gd name="connsiteX2" fmla="*/ 300990 w 2066290"/>
                <a:gd name="connsiteY2" fmla="*/ 222250 h 1971040"/>
                <a:gd name="connsiteX3" fmla="*/ 674370 w 2066290"/>
                <a:gd name="connsiteY3" fmla="*/ 283210 h 1971040"/>
                <a:gd name="connsiteX4" fmla="*/ 986790 w 2066290"/>
                <a:gd name="connsiteY4" fmla="*/ 351790 h 1971040"/>
                <a:gd name="connsiteX5" fmla="*/ 1261110 w 2066290"/>
                <a:gd name="connsiteY5" fmla="*/ 39370 h 1971040"/>
                <a:gd name="connsiteX6" fmla="*/ 1482090 w 2066290"/>
                <a:gd name="connsiteY6" fmla="*/ 115570 h 1971040"/>
                <a:gd name="connsiteX7" fmla="*/ 1695450 w 2066290"/>
                <a:gd name="connsiteY7" fmla="*/ 351790 h 1971040"/>
                <a:gd name="connsiteX8" fmla="*/ 2007870 w 2066290"/>
                <a:gd name="connsiteY8" fmla="*/ 443230 h 1971040"/>
                <a:gd name="connsiteX9" fmla="*/ 2023110 w 2066290"/>
                <a:gd name="connsiteY9" fmla="*/ 740410 h 1971040"/>
                <a:gd name="connsiteX10" fmla="*/ 1748790 w 2066290"/>
                <a:gd name="connsiteY10" fmla="*/ 839470 h 1971040"/>
                <a:gd name="connsiteX11" fmla="*/ 1604010 w 2066290"/>
                <a:gd name="connsiteY11" fmla="*/ 1014730 h 1971040"/>
                <a:gd name="connsiteX12" fmla="*/ 1741170 w 2066290"/>
                <a:gd name="connsiteY12" fmla="*/ 1258570 h 1971040"/>
                <a:gd name="connsiteX13" fmla="*/ 1916430 w 2066290"/>
                <a:gd name="connsiteY13" fmla="*/ 1532890 h 1971040"/>
                <a:gd name="connsiteX14" fmla="*/ 1809750 w 2066290"/>
                <a:gd name="connsiteY14" fmla="*/ 1830070 h 1971040"/>
                <a:gd name="connsiteX15" fmla="*/ 1535430 w 2066290"/>
                <a:gd name="connsiteY15" fmla="*/ 1951990 h 1971040"/>
                <a:gd name="connsiteX16" fmla="*/ 1223010 w 2066290"/>
                <a:gd name="connsiteY16" fmla="*/ 1715770 h 1971040"/>
                <a:gd name="connsiteX17" fmla="*/ 826770 w 2066290"/>
                <a:gd name="connsiteY17" fmla="*/ 1784350 h 1971040"/>
                <a:gd name="connsiteX18" fmla="*/ 224790 w 2066290"/>
                <a:gd name="connsiteY18" fmla="*/ 1814830 h 1971040"/>
                <a:gd name="connsiteX19" fmla="*/ 590550 w 2066290"/>
                <a:gd name="connsiteY19" fmla="*/ 1250950 h 1971040"/>
                <a:gd name="connsiteX20" fmla="*/ 95250 w 2066290"/>
                <a:gd name="connsiteY20" fmla="*/ 1037590 h 197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66290" h="1971040">
                  <a:moveTo>
                    <a:pt x="95250" y="1037590"/>
                  </a:moveTo>
                  <a:cubicBezTo>
                    <a:pt x="2540" y="933450"/>
                    <a:pt x="0" y="762000"/>
                    <a:pt x="34290" y="626110"/>
                  </a:cubicBezTo>
                  <a:cubicBezTo>
                    <a:pt x="68580" y="490220"/>
                    <a:pt x="194310" y="279400"/>
                    <a:pt x="300990" y="222250"/>
                  </a:cubicBezTo>
                  <a:cubicBezTo>
                    <a:pt x="407670" y="165100"/>
                    <a:pt x="560070" y="261620"/>
                    <a:pt x="674370" y="283210"/>
                  </a:cubicBezTo>
                  <a:cubicBezTo>
                    <a:pt x="788670" y="304800"/>
                    <a:pt x="889000" y="392430"/>
                    <a:pt x="986790" y="351790"/>
                  </a:cubicBezTo>
                  <a:cubicBezTo>
                    <a:pt x="1084580" y="311150"/>
                    <a:pt x="1178560" y="78740"/>
                    <a:pt x="1261110" y="39370"/>
                  </a:cubicBezTo>
                  <a:cubicBezTo>
                    <a:pt x="1343660" y="0"/>
                    <a:pt x="1409700" y="63500"/>
                    <a:pt x="1482090" y="115570"/>
                  </a:cubicBezTo>
                  <a:cubicBezTo>
                    <a:pt x="1554480" y="167640"/>
                    <a:pt x="1607820" y="297180"/>
                    <a:pt x="1695450" y="351790"/>
                  </a:cubicBezTo>
                  <a:cubicBezTo>
                    <a:pt x="1783080" y="406400"/>
                    <a:pt x="1953260" y="378460"/>
                    <a:pt x="2007870" y="443230"/>
                  </a:cubicBezTo>
                  <a:cubicBezTo>
                    <a:pt x="2062480" y="508000"/>
                    <a:pt x="2066290" y="674370"/>
                    <a:pt x="2023110" y="740410"/>
                  </a:cubicBezTo>
                  <a:cubicBezTo>
                    <a:pt x="1979930" y="806450"/>
                    <a:pt x="1818640" y="793750"/>
                    <a:pt x="1748790" y="839470"/>
                  </a:cubicBezTo>
                  <a:cubicBezTo>
                    <a:pt x="1678940" y="885190"/>
                    <a:pt x="1605280" y="944880"/>
                    <a:pt x="1604010" y="1014730"/>
                  </a:cubicBezTo>
                  <a:cubicBezTo>
                    <a:pt x="1602740" y="1084580"/>
                    <a:pt x="1689100" y="1172210"/>
                    <a:pt x="1741170" y="1258570"/>
                  </a:cubicBezTo>
                  <a:cubicBezTo>
                    <a:pt x="1793240" y="1344930"/>
                    <a:pt x="1905000" y="1437640"/>
                    <a:pt x="1916430" y="1532890"/>
                  </a:cubicBezTo>
                  <a:cubicBezTo>
                    <a:pt x="1927860" y="1628140"/>
                    <a:pt x="1873250" y="1760220"/>
                    <a:pt x="1809750" y="1830070"/>
                  </a:cubicBezTo>
                  <a:cubicBezTo>
                    <a:pt x="1746250" y="1899920"/>
                    <a:pt x="1633220" y="1971040"/>
                    <a:pt x="1535430" y="1951990"/>
                  </a:cubicBezTo>
                  <a:cubicBezTo>
                    <a:pt x="1437640" y="1932940"/>
                    <a:pt x="1341120" y="1743710"/>
                    <a:pt x="1223010" y="1715770"/>
                  </a:cubicBezTo>
                  <a:cubicBezTo>
                    <a:pt x="1104900" y="1687830"/>
                    <a:pt x="993140" y="1767840"/>
                    <a:pt x="826770" y="1784350"/>
                  </a:cubicBezTo>
                  <a:cubicBezTo>
                    <a:pt x="660400" y="1800860"/>
                    <a:pt x="264160" y="1903730"/>
                    <a:pt x="224790" y="1814830"/>
                  </a:cubicBezTo>
                  <a:cubicBezTo>
                    <a:pt x="185420" y="1725930"/>
                    <a:pt x="610870" y="1380490"/>
                    <a:pt x="590550" y="1250950"/>
                  </a:cubicBezTo>
                  <a:cubicBezTo>
                    <a:pt x="570230" y="1121410"/>
                    <a:pt x="187960" y="1141730"/>
                    <a:pt x="95250" y="1037590"/>
                  </a:cubicBez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Ellipse 8">
              <a:extLst>
                <a:ext uri="{FF2B5EF4-FFF2-40B4-BE49-F238E27FC236}">
                  <a16:creationId xmlns:a16="http://schemas.microsoft.com/office/drawing/2014/main" id="{1424979D-D892-8665-A7F1-EFA8CC46DE80}"/>
                </a:ext>
              </a:extLst>
            </p:cNvPr>
            <p:cNvSpPr/>
            <p:nvPr/>
          </p:nvSpPr>
          <p:spPr>
            <a:xfrm>
              <a:off x="5402188" y="1707654"/>
              <a:ext cx="2592288" cy="259228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0" name="Gerade Verbindung 27">
              <a:extLst>
                <a:ext uri="{FF2B5EF4-FFF2-40B4-BE49-F238E27FC236}">
                  <a16:creationId xmlns:a16="http://schemas.microsoft.com/office/drawing/2014/main" id="{D202E9B7-C566-3875-AB88-D8F7571B6083}"/>
                </a:ext>
              </a:extLst>
            </p:cNvPr>
            <p:cNvCxnSpPr/>
            <p:nvPr/>
          </p:nvCxnSpPr>
          <p:spPr>
            <a:xfrm>
              <a:off x="6698332" y="1563638"/>
              <a:ext cx="0" cy="1440160"/>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1" name="Gerade Verbindung 28">
              <a:extLst>
                <a:ext uri="{FF2B5EF4-FFF2-40B4-BE49-F238E27FC236}">
                  <a16:creationId xmlns:a16="http://schemas.microsoft.com/office/drawing/2014/main" id="{3D916DCF-0D36-74EA-1F4C-134A3F77D87F}"/>
                </a:ext>
              </a:extLst>
            </p:cNvPr>
            <p:cNvCxnSpPr/>
            <p:nvPr/>
          </p:nvCxnSpPr>
          <p:spPr>
            <a:xfrm>
              <a:off x="5258172" y="3003798"/>
              <a:ext cx="1440160" cy="0"/>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2" name="Gerade Verbindung 29">
              <a:extLst>
                <a:ext uri="{FF2B5EF4-FFF2-40B4-BE49-F238E27FC236}">
                  <a16:creationId xmlns:a16="http://schemas.microsoft.com/office/drawing/2014/main" id="{ADB74C2D-02CA-937D-6691-A753494D44F5}"/>
                </a:ext>
              </a:extLst>
            </p:cNvPr>
            <p:cNvCxnSpPr/>
            <p:nvPr/>
          </p:nvCxnSpPr>
          <p:spPr>
            <a:xfrm>
              <a:off x="6698332" y="3003798"/>
              <a:ext cx="1018347" cy="1018347"/>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Gerade Verbindung 30">
              <a:extLst>
                <a:ext uri="{FF2B5EF4-FFF2-40B4-BE49-F238E27FC236}">
                  <a16:creationId xmlns:a16="http://schemas.microsoft.com/office/drawing/2014/main" id="{A4B2D301-EB80-3EDE-00CC-757BFCE80D90}"/>
                </a:ext>
              </a:extLst>
            </p:cNvPr>
            <p:cNvCxnSpPr/>
            <p:nvPr/>
          </p:nvCxnSpPr>
          <p:spPr>
            <a:xfrm flipH="1">
              <a:off x="5679985" y="3003798"/>
              <a:ext cx="1018347" cy="1018347"/>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4" name="Gerade Verbindung 31">
              <a:extLst>
                <a:ext uri="{FF2B5EF4-FFF2-40B4-BE49-F238E27FC236}">
                  <a16:creationId xmlns:a16="http://schemas.microsoft.com/office/drawing/2014/main" id="{8752D668-0D8A-0E5E-95A0-E14A45185C1E}"/>
                </a:ext>
              </a:extLst>
            </p:cNvPr>
            <p:cNvCxnSpPr/>
            <p:nvPr/>
          </p:nvCxnSpPr>
          <p:spPr>
            <a:xfrm flipV="1">
              <a:off x="6698333" y="1985451"/>
              <a:ext cx="1018346" cy="1018347"/>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5" name="Ellipse 14">
              <a:extLst>
                <a:ext uri="{FF2B5EF4-FFF2-40B4-BE49-F238E27FC236}">
                  <a16:creationId xmlns:a16="http://schemas.microsoft.com/office/drawing/2014/main" id="{F5995757-BC9E-F095-C41D-E4FB1700229A}"/>
                </a:ext>
              </a:extLst>
            </p:cNvPr>
            <p:cNvSpPr/>
            <p:nvPr/>
          </p:nvSpPr>
          <p:spPr>
            <a:xfrm>
              <a:off x="6194276" y="2499742"/>
              <a:ext cx="1008112" cy="1008112"/>
            </a:xfrm>
            <a:prstGeom prst="ellipse">
              <a:avLst/>
            </a:prstGeom>
            <a:noFill/>
            <a:ln>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Ellipse 15">
              <a:extLst>
                <a:ext uri="{FF2B5EF4-FFF2-40B4-BE49-F238E27FC236}">
                  <a16:creationId xmlns:a16="http://schemas.microsoft.com/office/drawing/2014/main" id="{F49E6F15-20F4-E727-DD3B-9564BB8C70A5}"/>
                </a:ext>
              </a:extLst>
            </p:cNvPr>
            <p:cNvSpPr/>
            <p:nvPr/>
          </p:nvSpPr>
          <p:spPr>
            <a:xfrm>
              <a:off x="5798232" y="2103698"/>
              <a:ext cx="1800200" cy="1800200"/>
            </a:xfrm>
            <a:prstGeom prst="ellipse">
              <a:avLst/>
            </a:prstGeom>
            <a:noFill/>
            <a:ln>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7" name="Rechteck 16">
            <a:extLst>
              <a:ext uri="{FF2B5EF4-FFF2-40B4-BE49-F238E27FC236}">
                <a16:creationId xmlns:a16="http://schemas.microsoft.com/office/drawing/2014/main" id="{5C39D11D-7628-AADE-8F42-423046CB7899}"/>
              </a:ext>
            </a:extLst>
          </p:cNvPr>
          <p:cNvSpPr/>
          <p:nvPr/>
        </p:nvSpPr>
        <p:spPr>
          <a:xfrm>
            <a:off x="1691681" y="1131590"/>
            <a:ext cx="5040560"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200" b="1" noProof="0" dirty="0">
                <a:solidFill>
                  <a:schemeClr val="tx1"/>
                </a:solidFill>
              </a:rPr>
              <a:t>Prompt B (Software Design Requirements):</a:t>
            </a:r>
          </a:p>
          <a:p>
            <a:pPr>
              <a:spcAft>
                <a:spcPts val="600"/>
              </a:spcAft>
            </a:pPr>
            <a:r>
              <a:rPr lang="en-US" sz="1200" noProof="0" dirty="0">
                <a:solidFill>
                  <a:schemeClr val="tx1"/>
                </a:solidFill>
              </a:rPr>
              <a:t>Based on the following simulation idea, please derive suitable software design requirements for a modular Python project.</a:t>
            </a:r>
          </a:p>
          <a:p>
            <a:pPr>
              <a:spcAft>
                <a:spcPts val="600"/>
              </a:spcAft>
            </a:pPr>
            <a:r>
              <a:rPr lang="en-US" sz="1200" noProof="0" dirty="0">
                <a:solidFill>
                  <a:schemeClr val="tx1"/>
                </a:solidFill>
              </a:rPr>
              <a:t>Simulation idea:</a:t>
            </a:r>
          </a:p>
          <a:p>
            <a:pPr marL="171450" indent="-171450">
              <a:spcAft>
                <a:spcPts val="600"/>
              </a:spcAft>
              <a:buFont typeface="Arial" panose="020B0604020202020204" pitchFamily="34" charset="0"/>
              <a:buChar char="•"/>
            </a:pPr>
            <a:r>
              <a:rPr lang="en-US" sz="1200" noProof="0" dirty="0">
                <a:solidFill>
                  <a:schemeClr val="tx1"/>
                </a:solidFill>
              </a:rPr>
              <a:t>iterated prisoner's dilemma,</a:t>
            </a:r>
          </a:p>
          <a:p>
            <a:pPr marL="171450" indent="-171450">
              <a:spcAft>
                <a:spcPts val="600"/>
              </a:spcAft>
              <a:buFont typeface="Arial" panose="020B0604020202020204" pitchFamily="34" charset="0"/>
              <a:buChar char="•"/>
            </a:pPr>
            <a:r>
              <a:rPr lang="en-US" sz="1200" noProof="0" dirty="0">
                <a:solidFill>
                  <a:schemeClr val="tx1"/>
                </a:solidFill>
              </a:rPr>
              <a:t>multiple strategies,</a:t>
            </a:r>
          </a:p>
          <a:p>
            <a:pPr marL="171450" indent="-171450">
              <a:spcAft>
                <a:spcPts val="600"/>
              </a:spcAft>
              <a:buFont typeface="Arial" panose="020B0604020202020204" pitchFamily="34" charset="0"/>
              <a:buChar char="•"/>
            </a:pPr>
            <a:r>
              <a:rPr lang="en-US" sz="1200" noProof="0" dirty="0">
                <a:solidFill>
                  <a:schemeClr val="tx1"/>
                </a:solidFill>
              </a:rPr>
              <a:t>configurable payoff matrix,</a:t>
            </a:r>
          </a:p>
          <a:p>
            <a:pPr marL="171450" indent="-171450">
              <a:spcAft>
                <a:spcPts val="600"/>
              </a:spcAft>
              <a:buFont typeface="Arial" panose="020B0604020202020204" pitchFamily="34" charset="0"/>
              <a:buChar char="•"/>
            </a:pPr>
            <a:r>
              <a:rPr lang="en-US" sz="1200" noProof="0" dirty="0">
                <a:solidFill>
                  <a:schemeClr val="tx1"/>
                </a:solidFill>
              </a:rPr>
              <a:t>all strategies play against each other,</a:t>
            </a:r>
          </a:p>
          <a:p>
            <a:pPr marL="171450" indent="-171450">
              <a:spcAft>
                <a:spcPts val="600"/>
              </a:spcAft>
              <a:buFont typeface="Arial" panose="020B0604020202020204" pitchFamily="34" charset="0"/>
              <a:buChar char="•"/>
            </a:pPr>
            <a:r>
              <a:rPr lang="en-US" sz="1200" noProof="0" dirty="0">
                <a:solidFill>
                  <a:schemeClr val="tx1"/>
                </a:solidFill>
              </a:rPr>
              <a:t>evolutionary update across generations.</a:t>
            </a:r>
          </a:p>
          <a:p>
            <a:pPr>
              <a:spcAft>
                <a:spcPts val="600"/>
              </a:spcAft>
            </a:pPr>
            <a:r>
              <a:rPr lang="en-US" sz="1200" noProof="0" dirty="0">
                <a:solidFill>
                  <a:schemeClr val="tx1"/>
                </a:solidFill>
              </a:rPr>
              <a:t>Please provide:</a:t>
            </a:r>
          </a:p>
          <a:p>
            <a:pPr marL="228600" indent="-228600">
              <a:spcAft>
                <a:spcPts val="600"/>
              </a:spcAft>
              <a:buFont typeface="+mj-lt"/>
              <a:buAutoNum type="arabicPeriod"/>
            </a:pPr>
            <a:r>
              <a:rPr lang="en-US" sz="1200" noProof="0" dirty="0">
                <a:solidFill>
                  <a:schemeClr val="tx1"/>
                </a:solidFill>
              </a:rPr>
              <a:t>the main software design requirements,</a:t>
            </a:r>
          </a:p>
          <a:p>
            <a:pPr marL="228600" indent="-228600">
              <a:spcAft>
                <a:spcPts val="600"/>
              </a:spcAft>
              <a:buFont typeface="+mj-lt"/>
              <a:buAutoNum type="arabicPeriod"/>
            </a:pPr>
            <a:r>
              <a:rPr lang="en-US" sz="1200" noProof="0" dirty="0">
                <a:solidFill>
                  <a:schemeClr val="tx1"/>
                </a:solidFill>
              </a:rPr>
              <a:t>a recommendation for modular decomposition,</a:t>
            </a:r>
          </a:p>
          <a:p>
            <a:pPr marL="228600" indent="-228600">
              <a:spcAft>
                <a:spcPts val="600"/>
              </a:spcAft>
              <a:buFont typeface="+mj-lt"/>
              <a:buAutoNum type="arabicPeriod"/>
            </a:pPr>
            <a:r>
              <a:rPr lang="en-US" sz="1200" noProof="0" dirty="0">
                <a:solidFill>
                  <a:schemeClr val="tx1"/>
                </a:solidFill>
              </a:rPr>
              <a:t>the interface that every strategy class should implement,</a:t>
            </a:r>
          </a:p>
          <a:p>
            <a:pPr marL="228600" indent="-228600">
              <a:spcAft>
                <a:spcPts val="600"/>
              </a:spcAft>
              <a:buFont typeface="+mj-lt"/>
              <a:buAutoNum type="arabicPeriod"/>
            </a:pPr>
            <a:r>
              <a:rPr lang="en-US" sz="1200" noProof="0" dirty="0">
                <a:solidFill>
                  <a:schemeClr val="tx1"/>
                </a:solidFill>
              </a:rPr>
              <a:t>advice for keeping the code simple and beginner-friendly.</a:t>
            </a:r>
          </a:p>
        </p:txBody>
      </p:sp>
      <p:sp>
        <p:nvSpPr>
          <p:cNvPr id="18" name="Gleichschenkliges Dreieck 17">
            <a:extLst>
              <a:ext uri="{FF2B5EF4-FFF2-40B4-BE49-F238E27FC236}">
                <a16:creationId xmlns:a16="http://schemas.microsoft.com/office/drawing/2014/main" id="{9C3A01B9-FAA6-0E03-26BD-B7D418DDE891}"/>
              </a:ext>
            </a:extLst>
          </p:cNvPr>
          <p:cNvSpPr/>
          <p:nvPr/>
        </p:nvSpPr>
        <p:spPr>
          <a:xfrm rot="5400000">
            <a:off x="6475094" y="1579745"/>
            <a:ext cx="920943" cy="144016"/>
          </a:xfrm>
          <a:prstGeom prst="triangle">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echteck 18">
            <a:extLst>
              <a:ext uri="{FF2B5EF4-FFF2-40B4-BE49-F238E27FC236}">
                <a16:creationId xmlns:a16="http://schemas.microsoft.com/office/drawing/2014/main" id="{4B83B6E7-A5C8-9697-E54C-701CF72222F0}"/>
              </a:ext>
            </a:extLst>
          </p:cNvPr>
          <p:cNvSpPr/>
          <p:nvPr/>
        </p:nvSpPr>
        <p:spPr>
          <a:xfrm>
            <a:off x="7236296" y="1131590"/>
            <a:ext cx="1643484" cy="1040326"/>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2" name="Gruppieren 21">
            <a:extLst>
              <a:ext uri="{FF2B5EF4-FFF2-40B4-BE49-F238E27FC236}">
                <a16:creationId xmlns:a16="http://schemas.microsoft.com/office/drawing/2014/main" id="{13EECE44-5927-F84D-6DDF-F73E8793AAC8}"/>
              </a:ext>
            </a:extLst>
          </p:cNvPr>
          <p:cNvGrpSpPr/>
          <p:nvPr/>
        </p:nvGrpSpPr>
        <p:grpSpPr>
          <a:xfrm>
            <a:off x="8379514" y="1191281"/>
            <a:ext cx="432048" cy="432048"/>
            <a:chOff x="7452320" y="2571750"/>
            <a:chExt cx="720080" cy="720080"/>
          </a:xfrm>
        </p:grpSpPr>
        <p:sp>
          <p:nvSpPr>
            <p:cNvPr id="20" name="Rechteck: abgerundete Ecken 19">
              <a:extLst>
                <a:ext uri="{FF2B5EF4-FFF2-40B4-BE49-F238E27FC236}">
                  <a16:creationId xmlns:a16="http://schemas.microsoft.com/office/drawing/2014/main" id="{99AF7FA5-CE46-78A0-87EF-0FCFE3D27A7D}"/>
                </a:ext>
              </a:extLst>
            </p:cNvPr>
            <p:cNvSpPr/>
            <p:nvPr/>
          </p:nvSpPr>
          <p:spPr>
            <a:xfrm>
              <a:off x="7452320" y="2571750"/>
              <a:ext cx="720080" cy="720080"/>
            </a:xfrm>
            <a:prstGeom prst="round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noProof="0" dirty="0">
                <a:solidFill>
                  <a:schemeClr val="tx1"/>
                </a:solidFill>
              </a:endParaRPr>
            </a:p>
          </p:txBody>
        </p:sp>
        <p:sp>
          <p:nvSpPr>
            <p:cNvPr id="21" name="Rechteck: abgerundete Ecken 20">
              <a:extLst>
                <a:ext uri="{FF2B5EF4-FFF2-40B4-BE49-F238E27FC236}">
                  <a16:creationId xmlns:a16="http://schemas.microsoft.com/office/drawing/2014/main" id="{7B82CB70-F489-83BA-5AE1-80E9F2E6F1C3}"/>
                </a:ext>
              </a:extLst>
            </p:cNvPr>
            <p:cNvSpPr/>
            <p:nvPr/>
          </p:nvSpPr>
          <p:spPr>
            <a:xfrm>
              <a:off x="7528520" y="2647950"/>
              <a:ext cx="571872" cy="571872"/>
            </a:xfrm>
            <a:prstGeom prst="round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noProof="0" dirty="0">
                  <a:solidFill>
                    <a:schemeClr val="tx1"/>
                  </a:solidFill>
                </a:rPr>
                <a:t>AI</a:t>
              </a:r>
            </a:p>
          </p:txBody>
        </p:sp>
      </p:grpSp>
      <p:cxnSp>
        <p:nvCxnSpPr>
          <p:cNvPr id="24" name="Gerader Verbinder 23">
            <a:extLst>
              <a:ext uri="{FF2B5EF4-FFF2-40B4-BE49-F238E27FC236}">
                <a16:creationId xmlns:a16="http://schemas.microsoft.com/office/drawing/2014/main" id="{F112046B-EA46-0D66-39D4-4312C67EA71B}"/>
              </a:ext>
            </a:extLst>
          </p:cNvPr>
          <p:cNvCxnSpPr/>
          <p:nvPr/>
        </p:nvCxnSpPr>
        <p:spPr>
          <a:xfrm>
            <a:off x="8595538" y="2171916"/>
            <a:ext cx="0" cy="399834"/>
          </a:xfrm>
          <a:prstGeom prst="lin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6" name="Gerader Verbinder 25">
            <a:extLst>
              <a:ext uri="{FF2B5EF4-FFF2-40B4-BE49-F238E27FC236}">
                <a16:creationId xmlns:a16="http://schemas.microsoft.com/office/drawing/2014/main" id="{57D74E90-5FC9-5D10-130E-E33EB2A6F12C}"/>
              </a:ext>
            </a:extLst>
          </p:cNvPr>
          <p:cNvCxnSpPr>
            <a:cxnSpLocks/>
          </p:cNvCxnSpPr>
          <p:nvPr/>
        </p:nvCxnSpPr>
        <p:spPr>
          <a:xfrm flipH="1">
            <a:off x="7534973" y="2571750"/>
            <a:ext cx="1060565" cy="0"/>
          </a:xfrm>
          <a:prstGeom prst="lin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7" name="Gerader Verbinder 26">
            <a:extLst>
              <a:ext uri="{FF2B5EF4-FFF2-40B4-BE49-F238E27FC236}">
                <a16:creationId xmlns:a16="http://schemas.microsoft.com/office/drawing/2014/main" id="{D73C574A-F3BF-C7ED-2B6B-CF62A73150D5}"/>
              </a:ext>
            </a:extLst>
          </p:cNvPr>
          <p:cNvCxnSpPr>
            <a:cxnSpLocks/>
          </p:cNvCxnSpPr>
          <p:nvPr/>
        </p:nvCxnSpPr>
        <p:spPr>
          <a:xfrm>
            <a:off x="7534973" y="2240134"/>
            <a:ext cx="0" cy="331616"/>
          </a:xfrm>
          <a:prstGeom prst="line">
            <a:avLst/>
          </a:prstGeom>
          <a:solidFill>
            <a:schemeClr val="tx2">
              <a:lumMod val="20000"/>
              <a:lumOff val="80000"/>
            </a:schemeClr>
          </a:solidFill>
          <a:ln>
            <a:solidFill>
              <a:schemeClr val="tx2"/>
            </a:solidFill>
            <a:headEnd type="triangle" w="med" len="med"/>
            <a:tailEnd type="none" w="med" len="med"/>
          </a:ln>
        </p:spPr>
        <p:style>
          <a:lnRef idx="2">
            <a:schemeClr val="accent1">
              <a:shade val="15000"/>
            </a:schemeClr>
          </a:lnRef>
          <a:fillRef idx="1">
            <a:schemeClr val="accent1"/>
          </a:fillRef>
          <a:effectRef idx="0">
            <a:schemeClr val="accent1"/>
          </a:effectRef>
          <a:fontRef idx="minor">
            <a:schemeClr val="lt1"/>
          </a:fontRef>
        </p:style>
      </p:cxnSp>
      <p:sp>
        <p:nvSpPr>
          <p:cNvPr id="32" name="Textfeld 31">
            <a:extLst>
              <a:ext uri="{FF2B5EF4-FFF2-40B4-BE49-F238E27FC236}">
                <a16:creationId xmlns:a16="http://schemas.microsoft.com/office/drawing/2014/main" id="{F637D050-0EAB-1431-C86F-E83DFF2BF155}"/>
              </a:ext>
            </a:extLst>
          </p:cNvPr>
          <p:cNvSpPr txBox="1"/>
          <p:nvPr/>
        </p:nvSpPr>
        <p:spPr>
          <a:xfrm>
            <a:off x="7231899" y="2715766"/>
            <a:ext cx="1643485" cy="830997"/>
          </a:xfrm>
          <a:prstGeom prst="rect">
            <a:avLst/>
          </a:prstGeom>
          <a:noFill/>
        </p:spPr>
        <p:txBody>
          <a:bodyPr wrap="square" rtlCol="0">
            <a:spAutoFit/>
          </a:bodyPr>
          <a:lstStyle/>
          <a:p>
            <a:pPr algn="ctr"/>
            <a:r>
              <a:rPr lang="en-US" sz="1200" noProof="0" dirty="0"/>
              <a:t>refine and specify with detailed information about the iterated Prisoner’s Dilemma</a:t>
            </a:r>
          </a:p>
        </p:txBody>
      </p:sp>
      <p:sp>
        <p:nvSpPr>
          <p:cNvPr id="3" name="Textfeld 2">
            <a:extLst>
              <a:ext uri="{FF2B5EF4-FFF2-40B4-BE49-F238E27FC236}">
                <a16:creationId xmlns:a16="http://schemas.microsoft.com/office/drawing/2014/main" id="{46F0C156-5896-32B4-1878-F657224DF4DB}"/>
              </a:ext>
            </a:extLst>
          </p:cNvPr>
          <p:cNvSpPr txBox="1"/>
          <p:nvPr/>
        </p:nvSpPr>
        <p:spPr>
          <a:xfrm>
            <a:off x="6799796" y="4554694"/>
            <a:ext cx="1728187" cy="461665"/>
          </a:xfrm>
          <a:prstGeom prst="rect">
            <a:avLst/>
          </a:prstGeom>
          <a:noFill/>
        </p:spPr>
        <p:txBody>
          <a:bodyPr wrap="square" rtlCol="0">
            <a:spAutoFit/>
          </a:bodyPr>
          <a:lstStyle/>
          <a:p>
            <a:r>
              <a:rPr lang="en-US" sz="1200" noProof="0" dirty="0"/>
              <a:t>prompt generated with the help pf AI</a:t>
            </a:r>
          </a:p>
        </p:txBody>
      </p:sp>
    </p:spTree>
    <p:extLst>
      <p:ext uri="{BB962C8B-B14F-4D97-AF65-F5344CB8AC3E}">
        <p14:creationId xmlns:p14="http://schemas.microsoft.com/office/powerpoint/2010/main" val="610218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DA9D3-7E66-D4E7-3BC9-22EBFB730E4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24BB0CE-ED89-B8E8-86E1-CD8416CD71D5}"/>
              </a:ext>
            </a:extLst>
          </p:cNvPr>
          <p:cNvSpPr>
            <a:spLocks noGrp="1"/>
          </p:cNvSpPr>
          <p:nvPr>
            <p:ph type="title"/>
          </p:nvPr>
        </p:nvSpPr>
        <p:spPr/>
        <p:txBody>
          <a:bodyPr/>
          <a:lstStyle/>
          <a:p>
            <a:r>
              <a:rPr lang="en-US" noProof="0" dirty="0"/>
              <a:t>Example:</a:t>
            </a:r>
            <a:br>
              <a:rPr lang="en-US" noProof="0" dirty="0"/>
            </a:br>
            <a:r>
              <a:rPr lang="en-US" noProof="0" dirty="0"/>
              <a:t>b) Software design requirements</a:t>
            </a:r>
          </a:p>
        </p:txBody>
      </p:sp>
      <p:sp>
        <p:nvSpPr>
          <p:cNvPr id="3" name="Rechteck 2">
            <a:extLst>
              <a:ext uri="{FF2B5EF4-FFF2-40B4-BE49-F238E27FC236}">
                <a16:creationId xmlns:a16="http://schemas.microsoft.com/office/drawing/2014/main" id="{3CDE0164-8A47-F329-91F0-D12D93BD808A}"/>
              </a:ext>
            </a:extLst>
          </p:cNvPr>
          <p:cNvSpPr/>
          <p:nvPr/>
        </p:nvSpPr>
        <p:spPr>
          <a:xfrm>
            <a:off x="251520" y="1131590"/>
            <a:ext cx="4248472" cy="3888432"/>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82563" indent="-182563">
              <a:spcAft>
                <a:spcPts val="600"/>
              </a:spcAft>
            </a:pPr>
            <a:r>
              <a:rPr lang="en-US" sz="1200" b="1" u="sng" noProof="0" dirty="0">
                <a:solidFill>
                  <a:schemeClr val="tx1"/>
                </a:solidFill>
              </a:rPr>
              <a:t>Example:</a:t>
            </a:r>
          </a:p>
          <a:p>
            <a:pPr>
              <a:spcAft>
                <a:spcPts val="600"/>
              </a:spcAft>
            </a:pPr>
            <a:r>
              <a:rPr lang="en-US" sz="1200" b="1" noProof="0" dirty="0">
                <a:solidFill>
                  <a:schemeClr val="tx1"/>
                </a:solidFill>
              </a:rPr>
              <a:t>Main Software Design Requirements</a:t>
            </a:r>
          </a:p>
          <a:p>
            <a:pPr marL="182563" indent="-182563">
              <a:spcAft>
                <a:spcPts val="600"/>
              </a:spcAft>
              <a:buFont typeface="+mj-lt"/>
              <a:buAutoNum type="arabicPeriod"/>
            </a:pPr>
            <a:r>
              <a:rPr lang="en-US" sz="1200" b="1" noProof="0" dirty="0">
                <a:solidFill>
                  <a:schemeClr val="tx1"/>
                </a:solidFill>
              </a:rPr>
              <a:t>Modularity: </a:t>
            </a:r>
            <a:r>
              <a:rPr lang="en-US" sz="1200" noProof="0" dirty="0">
                <a:solidFill>
                  <a:schemeClr val="tx1"/>
                </a:solidFill>
              </a:rPr>
              <a:t>The code should be divided into well-defined modules to promote reusability and ease of maintenance.</a:t>
            </a:r>
          </a:p>
          <a:p>
            <a:pPr marL="182563" indent="-182563">
              <a:spcAft>
                <a:spcPts val="600"/>
              </a:spcAft>
              <a:buFont typeface="+mj-lt"/>
              <a:buAutoNum type="arabicPeriod"/>
            </a:pPr>
            <a:r>
              <a:rPr lang="en-US" sz="1200" b="1" noProof="0" dirty="0">
                <a:solidFill>
                  <a:schemeClr val="tx1"/>
                </a:solidFill>
              </a:rPr>
              <a:t>Configurability: </a:t>
            </a:r>
            <a:r>
              <a:rPr lang="en-US" sz="1200" noProof="0" dirty="0">
                <a:solidFill>
                  <a:schemeClr val="tx1"/>
                </a:solidFill>
              </a:rPr>
              <a:t>The simulation should allow easy modification of key parameters, such as the payoff matrix and the number of agents.</a:t>
            </a:r>
          </a:p>
          <a:p>
            <a:pPr marL="182563" indent="-182563">
              <a:spcAft>
                <a:spcPts val="600"/>
              </a:spcAft>
              <a:buFont typeface="+mj-lt"/>
              <a:buAutoNum type="arabicPeriod"/>
            </a:pPr>
            <a:r>
              <a:rPr lang="en-US" sz="1200" b="1" noProof="0" dirty="0">
                <a:solidFill>
                  <a:schemeClr val="tx1"/>
                </a:solidFill>
              </a:rPr>
              <a:t>Scalability: </a:t>
            </a:r>
            <a:r>
              <a:rPr lang="en-US" sz="1200" noProof="0" dirty="0">
                <a:solidFill>
                  <a:schemeClr val="tx1"/>
                </a:solidFill>
              </a:rPr>
              <a:t>The design should accommodate the addition of new strategies without significant changes to existing code.</a:t>
            </a:r>
          </a:p>
          <a:p>
            <a:pPr marL="182563" indent="-182563">
              <a:spcAft>
                <a:spcPts val="600"/>
              </a:spcAft>
              <a:buFont typeface="+mj-lt"/>
              <a:buAutoNum type="arabicPeriod"/>
            </a:pPr>
            <a:r>
              <a:rPr lang="en-US" sz="1200" b="1" noProof="0" dirty="0">
                <a:solidFill>
                  <a:schemeClr val="tx1"/>
                </a:solidFill>
              </a:rPr>
              <a:t>Performance: </a:t>
            </a:r>
            <a:r>
              <a:rPr lang="en-US" sz="1200" noProof="0" dirty="0">
                <a:solidFill>
                  <a:schemeClr val="tx1"/>
                </a:solidFill>
              </a:rPr>
              <a:t>The simulation should efficiently handle multiple strategies and interactions without excessive computational overhead.</a:t>
            </a:r>
          </a:p>
          <a:p>
            <a:pPr marL="182563" indent="-182563">
              <a:spcAft>
                <a:spcPts val="600"/>
              </a:spcAft>
              <a:buFont typeface="+mj-lt"/>
              <a:buAutoNum type="arabicPeriod"/>
            </a:pPr>
            <a:r>
              <a:rPr lang="en-US" sz="1200" b="1" noProof="0" dirty="0">
                <a:solidFill>
                  <a:schemeClr val="tx1"/>
                </a:solidFill>
              </a:rPr>
              <a:t>Documentation: </a:t>
            </a:r>
            <a:r>
              <a:rPr lang="en-US" sz="1200" noProof="0" dirty="0">
                <a:solidFill>
                  <a:schemeClr val="tx1"/>
                </a:solidFill>
              </a:rPr>
              <a:t>Code should be well-documented with clear comments and a user guide to facilitate understanding for beginners.</a:t>
            </a:r>
          </a:p>
          <a:p>
            <a:pPr marL="182563" indent="-182563">
              <a:spcAft>
                <a:spcPts val="600"/>
              </a:spcAft>
              <a:buFont typeface="+mj-lt"/>
              <a:buAutoNum type="arabicPeriod"/>
            </a:pPr>
            <a:r>
              <a:rPr lang="en-US" sz="1200" b="1" noProof="0" dirty="0">
                <a:solidFill>
                  <a:schemeClr val="tx1"/>
                </a:solidFill>
              </a:rPr>
              <a:t>Testing: </a:t>
            </a:r>
            <a:r>
              <a:rPr lang="en-US" sz="1200" noProof="0" dirty="0">
                <a:solidFill>
                  <a:schemeClr val="tx1"/>
                </a:solidFill>
              </a:rPr>
              <a:t>Implement unit tests to ensure the functionality of individual components and overall system integrity.</a:t>
            </a:r>
          </a:p>
        </p:txBody>
      </p:sp>
      <p:sp>
        <p:nvSpPr>
          <p:cNvPr id="4" name="Rechteck 3">
            <a:extLst>
              <a:ext uri="{FF2B5EF4-FFF2-40B4-BE49-F238E27FC236}">
                <a16:creationId xmlns:a16="http://schemas.microsoft.com/office/drawing/2014/main" id="{CED50321-BD9F-ECB6-8A74-446559FC3FC8}"/>
              </a:ext>
            </a:extLst>
          </p:cNvPr>
          <p:cNvSpPr/>
          <p:nvPr/>
        </p:nvSpPr>
        <p:spPr>
          <a:xfrm>
            <a:off x="4644008" y="1131590"/>
            <a:ext cx="4248472" cy="3888432"/>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200" b="1" noProof="0" dirty="0">
                <a:solidFill>
                  <a:schemeClr val="tx1"/>
                </a:solidFill>
              </a:rPr>
              <a:t>Recommended Modular Decomposition</a:t>
            </a:r>
          </a:p>
          <a:p>
            <a:pPr marL="182563" indent="-182563">
              <a:spcAft>
                <a:spcPts val="600"/>
              </a:spcAft>
              <a:buFont typeface="+mj-lt"/>
              <a:buAutoNum type="arabicPeriod"/>
            </a:pPr>
            <a:r>
              <a:rPr lang="en-US" sz="1200" b="1" noProof="0" dirty="0">
                <a:solidFill>
                  <a:schemeClr val="tx1"/>
                </a:solidFill>
              </a:rPr>
              <a:t>Main Module: </a:t>
            </a:r>
            <a:r>
              <a:rPr lang="en-US" sz="1200" noProof="0" dirty="0">
                <a:solidFill>
                  <a:schemeClr val="tx1"/>
                </a:solidFill>
              </a:rPr>
              <a:t>Handles the overall simulation flow, including initialization, running tournaments, and managing generations.</a:t>
            </a:r>
          </a:p>
          <a:p>
            <a:pPr marL="182563" indent="-182563">
              <a:spcAft>
                <a:spcPts val="600"/>
              </a:spcAft>
              <a:buFont typeface="+mj-lt"/>
              <a:buAutoNum type="arabicPeriod"/>
            </a:pPr>
            <a:r>
              <a:rPr lang="en-US" sz="1200" b="1" noProof="0" dirty="0">
                <a:solidFill>
                  <a:schemeClr val="tx1"/>
                </a:solidFill>
              </a:rPr>
              <a:t>Strategy Module: </a:t>
            </a:r>
            <a:r>
              <a:rPr lang="en-US" sz="1200" noProof="0" dirty="0">
                <a:solidFill>
                  <a:schemeClr val="tx1"/>
                </a:solidFill>
              </a:rPr>
              <a:t>Contains different strategy classes implementing various strategies for the prisoner’s dilemma.</a:t>
            </a:r>
          </a:p>
          <a:p>
            <a:pPr marL="182563" indent="-182563">
              <a:spcAft>
                <a:spcPts val="600"/>
              </a:spcAft>
              <a:buFont typeface="+mj-lt"/>
              <a:buAutoNum type="arabicPeriod"/>
            </a:pPr>
            <a:r>
              <a:rPr lang="en-US" sz="1200" b="1" noProof="0" dirty="0">
                <a:solidFill>
                  <a:schemeClr val="tx1"/>
                </a:solidFill>
              </a:rPr>
              <a:t>Payoff Matrix Module: </a:t>
            </a:r>
            <a:r>
              <a:rPr lang="en-US" sz="1200" noProof="0" dirty="0">
                <a:solidFill>
                  <a:schemeClr val="tx1"/>
                </a:solidFill>
              </a:rPr>
              <a:t>Manages the configuration and storage of the payoff matrix.</a:t>
            </a:r>
          </a:p>
          <a:p>
            <a:pPr marL="182563" indent="-182563">
              <a:spcAft>
                <a:spcPts val="600"/>
              </a:spcAft>
              <a:buFont typeface="+mj-lt"/>
              <a:buAutoNum type="arabicPeriod"/>
            </a:pPr>
            <a:r>
              <a:rPr lang="en-US" sz="1200" b="1" noProof="0" dirty="0">
                <a:solidFill>
                  <a:schemeClr val="tx1"/>
                </a:solidFill>
              </a:rPr>
              <a:t>Tournament Module: </a:t>
            </a:r>
            <a:r>
              <a:rPr lang="en-US" sz="1200" noProof="0" dirty="0">
                <a:solidFill>
                  <a:schemeClr val="tx1"/>
                </a:solidFill>
              </a:rPr>
              <a:t>Responsible for running pairwise interactions between strategies and calculating scores.</a:t>
            </a:r>
          </a:p>
          <a:p>
            <a:pPr marL="182563" indent="-182563">
              <a:spcAft>
                <a:spcPts val="600"/>
              </a:spcAft>
              <a:buFont typeface="+mj-lt"/>
              <a:buAutoNum type="arabicPeriod"/>
            </a:pPr>
            <a:r>
              <a:rPr lang="en-US" sz="1200" b="1" noProof="0" dirty="0">
                <a:solidFill>
                  <a:schemeClr val="tx1"/>
                </a:solidFill>
              </a:rPr>
              <a:t>Evolution Module: </a:t>
            </a:r>
            <a:r>
              <a:rPr lang="en-US" sz="1200" noProof="0" dirty="0">
                <a:solidFill>
                  <a:schemeClr val="tx1"/>
                </a:solidFill>
              </a:rPr>
              <a:t>Handles the evolutionary update process, including selection and replacement of strategies.</a:t>
            </a:r>
          </a:p>
          <a:p>
            <a:pPr marL="182563" indent="-182563">
              <a:spcAft>
                <a:spcPts val="600"/>
              </a:spcAft>
              <a:buFont typeface="+mj-lt"/>
              <a:buAutoNum type="arabicPeriod"/>
            </a:pPr>
            <a:r>
              <a:rPr lang="en-US" sz="1200" b="1" noProof="0" dirty="0">
                <a:solidFill>
                  <a:schemeClr val="tx1"/>
                </a:solidFill>
              </a:rPr>
              <a:t>Utilities Module: </a:t>
            </a:r>
            <a:r>
              <a:rPr lang="en-US" sz="1200" noProof="0" dirty="0">
                <a:solidFill>
                  <a:schemeClr val="tx1"/>
                </a:solidFill>
              </a:rPr>
              <a:t>Provides helper functions for common tasks (e.g., data handling, logging).</a:t>
            </a:r>
          </a:p>
        </p:txBody>
      </p:sp>
    </p:spTree>
    <p:extLst>
      <p:ext uri="{BB962C8B-B14F-4D97-AF65-F5344CB8AC3E}">
        <p14:creationId xmlns:p14="http://schemas.microsoft.com/office/powerpoint/2010/main" val="22985650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B23C2-6FCE-0C96-35FE-0CB41112DCA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5F59D4D-4A60-29F6-F3ED-F2CE5177F48D}"/>
              </a:ext>
            </a:extLst>
          </p:cNvPr>
          <p:cNvSpPr>
            <a:spLocks noGrp="1"/>
          </p:cNvSpPr>
          <p:nvPr>
            <p:ph type="title"/>
          </p:nvPr>
        </p:nvSpPr>
        <p:spPr/>
        <p:txBody>
          <a:bodyPr/>
          <a:lstStyle/>
          <a:p>
            <a:r>
              <a:rPr lang="en-US" noProof="0" dirty="0"/>
              <a:t>Example:</a:t>
            </a:r>
            <a:br>
              <a:rPr lang="en-US" noProof="0" dirty="0"/>
            </a:br>
            <a:r>
              <a:rPr lang="en-US" noProof="0" dirty="0"/>
              <a:t>b) Software design requirements</a:t>
            </a:r>
          </a:p>
        </p:txBody>
      </p:sp>
      <p:sp>
        <p:nvSpPr>
          <p:cNvPr id="3" name="Rechteck 2">
            <a:extLst>
              <a:ext uri="{FF2B5EF4-FFF2-40B4-BE49-F238E27FC236}">
                <a16:creationId xmlns:a16="http://schemas.microsoft.com/office/drawing/2014/main" id="{77F3515E-6E5D-7D2A-40C4-476CB0A22C86}"/>
              </a:ext>
            </a:extLst>
          </p:cNvPr>
          <p:cNvSpPr/>
          <p:nvPr/>
        </p:nvSpPr>
        <p:spPr>
          <a:xfrm>
            <a:off x="251520" y="1131590"/>
            <a:ext cx="4248472" cy="3888432"/>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82563" indent="-182563">
              <a:spcAft>
                <a:spcPts val="600"/>
              </a:spcAft>
            </a:pPr>
            <a:r>
              <a:rPr lang="en-US" sz="1200" b="1" noProof="0" dirty="0">
                <a:solidFill>
                  <a:schemeClr val="tx1"/>
                </a:solidFill>
              </a:rPr>
              <a:t>Interface for Strategy Classes</a:t>
            </a:r>
          </a:p>
          <a:p>
            <a:pPr marL="182563" indent="-182563">
              <a:spcAft>
                <a:spcPts val="600"/>
              </a:spcAft>
            </a:pPr>
            <a:r>
              <a:rPr lang="en-US" sz="1200" noProof="0" dirty="0">
                <a:solidFill>
                  <a:schemeClr val="tx1"/>
                </a:solidFill>
              </a:rPr>
              <a:t>Every strategy class should implement the following interface:</a:t>
            </a:r>
          </a:p>
        </p:txBody>
      </p:sp>
      <p:sp>
        <p:nvSpPr>
          <p:cNvPr id="4" name="Rechteck 3">
            <a:extLst>
              <a:ext uri="{FF2B5EF4-FFF2-40B4-BE49-F238E27FC236}">
                <a16:creationId xmlns:a16="http://schemas.microsoft.com/office/drawing/2014/main" id="{F50D4972-2E8B-82B7-4730-2C4F12291C0F}"/>
              </a:ext>
            </a:extLst>
          </p:cNvPr>
          <p:cNvSpPr/>
          <p:nvPr/>
        </p:nvSpPr>
        <p:spPr>
          <a:xfrm>
            <a:off x="4644008" y="1131590"/>
            <a:ext cx="4248472" cy="3888432"/>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200" b="1" noProof="0" dirty="0">
                <a:solidFill>
                  <a:schemeClr val="tx1"/>
                </a:solidFill>
              </a:rPr>
              <a:t>Advice for Keeping the Code Simple and Beginner-Friendly</a:t>
            </a:r>
          </a:p>
          <a:p>
            <a:pPr marL="182563" indent="-182563">
              <a:spcAft>
                <a:spcPts val="600"/>
              </a:spcAft>
              <a:buFont typeface="+mj-lt"/>
              <a:buAutoNum type="arabicPeriod"/>
            </a:pPr>
            <a:r>
              <a:rPr lang="en-US" sz="1200" b="1" noProof="0" dirty="0">
                <a:solidFill>
                  <a:schemeClr val="tx1"/>
                </a:solidFill>
              </a:rPr>
              <a:t>Use Clear Naming Conventions: </a:t>
            </a:r>
            <a:r>
              <a:rPr lang="en-US" sz="1200" noProof="0" dirty="0">
                <a:solidFill>
                  <a:schemeClr val="tx1"/>
                </a:solidFill>
              </a:rPr>
              <a:t>Use descriptive names for variables, classes, and functions to clarify their roles and purposes.</a:t>
            </a:r>
          </a:p>
          <a:p>
            <a:pPr marL="182563" indent="-182563">
              <a:spcAft>
                <a:spcPts val="600"/>
              </a:spcAft>
              <a:buFont typeface="+mj-lt"/>
              <a:buAutoNum type="arabicPeriod"/>
            </a:pPr>
            <a:r>
              <a:rPr lang="en-US" sz="1200" b="1" noProof="0" dirty="0">
                <a:solidFill>
                  <a:schemeClr val="tx1"/>
                </a:solidFill>
              </a:rPr>
              <a:t>Limit Complexity: </a:t>
            </a:r>
            <a:r>
              <a:rPr lang="en-US" sz="1200" noProof="0" dirty="0">
                <a:solidFill>
                  <a:schemeClr val="tx1"/>
                </a:solidFill>
              </a:rPr>
              <a:t>Keep functions and classes focused on a single responsibility to make them easier to understand and test.</a:t>
            </a:r>
          </a:p>
          <a:p>
            <a:pPr marL="182563" indent="-182563">
              <a:spcAft>
                <a:spcPts val="600"/>
              </a:spcAft>
              <a:buFont typeface="+mj-lt"/>
              <a:buAutoNum type="arabicPeriod"/>
            </a:pPr>
            <a:r>
              <a:rPr lang="en-US" sz="1200" b="1" noProof="0" dirty="0">
                <a:solidFill>
                  <a:schemeClr val="tx1"/>
                </a:solidFill>
              </a:rPr>
              <a:t>Provide Examples: </a:t>
            </a:r>
            <a:r>
              <a:rPr lang="en-US" sz="1200" noProof="0" dirty="0">
                <a:solidFill>
                  <a:schemeClr val="tx1"/>
                </a:solidFill>
              </a:rPr>
              <a:t>Include example usage and simple test cases in the documentation to help beginners grasp how to use the code.</a:t>
            </a:r>
          </a:p>
          <a:p>
            <a:pPr marL="182563" indent="-182563">
              <a:spcAft>
                <a:spcPts val="600"/>
              </a:spcAft>
              <a:buFont typeface="+mj-lt"/>
              <a:buAutoNum type="arabicPeriod"/>
            </a:pPr>
            <a:r>
              <a:rPr lang="en-US" sz="1200" b="1" noProof="0" dirty="0">
                <a:solidFill>
                  <a:schemeClr val="tx1"/>
                </a:solidFill>
              </a:rPr>
              <a:t>Consistent Formatting: </a:t>
            </a:r>
            <a:r>
              <a:rPr lang="en-US" sz="1200" noProof="0" dirty="0">
                <a:solidFill>
                  <a:schemeClr val="tx1"/>
                </a:solidFill>
              </a:rPr>
              <a:t>Follow a consistent code style (e.g., PEP 8 for Python) to enhance readability.</a:t>
            </a:r>
          </a:p>
          <a:p>
            <a:pPr marL="182563" indent="-182563">
              <a:spcAft>
                <a:spcPts val="600"/>
              </a:spcAft>
              <a:buFont typeface="+mj-lt"/>
              <a:buAutoNum type="arabicPeriod"/>
            </a:pPr>
            <a:r>
              <a:rPr lang="en-US" sz="1200" b="1" noProof="0" dirty="0">
                <a:solidFill>
                  <a:schemeClr val="tx1"/>
                </a:solidFill>
              </a:rPr>
              <a:t>Encourage Modularity: </a:t>
            </a:r>
            <a:r>
              <a:rPr lang="en-US" sz="1200" noProof="0" dirty="0">
                <a:solidFill>
                  <a:schemeClr val="tx1"/>
                </a:solidFill>
              </a:rPr>
              <a:t>Promote the use of modules and classes to encapsulate functionality, making it easier for beginners to modify and extend the code.</a:t>
            </a:r>
          </a:p>
          <a:p>
            <a:pPr marL="182563" indent="-182563">
              <a:spcAft>
                <a:spcPts val="600"/>
              </a:spcAft>
              <a:buFont typeface="+mj-lt"/>
              <a:buAutoNum type="arabicPeriod"/>
            </a:pPr>
            <a:r>
              <a:rPr lang="en-US" sz="1200" b="1" noProof="0" dirty="0">
                <a:solidFill>
                  <a:schemeClr val="tx1"/>
                </a:solidFill>
              </a:rPr>
              <a:t>Comment Generously: </a:t>
            </a:r>
            <a:r>
              <a:rPr lang="en-US" sz="1200" noProof="0" dirty="0">
                <a:solidFill>
                  <a:schemeClr val="tx1"/>
                </a:solidFill>
              </a:rPr>
              <a:t>Use comments to explain complex sections of code and the rationale behind important design decisions.</a:t>
            </a:r>
          </a:p>
        </p:txBody>
      </p:sp>
      <p:sp>
        <p:nvSpPr>
          <p:cNvPr id="5" name="Rechteck 4">
            <a:extLst>
              <a:ext uri="{FF2B5EF4-FFF2-40B4-BE49-F238E27FC236}">
                <a16:creationId xmlns:a16="http://schemas.microsoft.com/office/drawing/2014/main" id="{412FA4C8-D761-858C-C7A0-92AF7B7742B5}"/>
              </a:ext>
            </a:extLst>
          </p:cNvPr>
          <p:cNvSpPr/>
          <p:nvPr/>
        </p:nvSpPr>
        <p:spPr>
          <a:xfrm>
            <a:off x="395536" y="1779662"/>
            <a:ext cx="3960440" cy="252028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600" noProof="0" dirty="0">
                <a:solidFill>
                  <a:schemeClr val="tx1"/>
                </a:solidFill>
                <a:latin typeface="Courier New" panose="02070309020205020404" pitchFamily="49" charset="0"/>
                <a:cs typeface="Courier New" panose="02070309020205020404" pitchFamily="49" charset="0"/>
              </a:rPr>
              <a:t>class Strategy:</a:t>
            </a:r>
          </a:p>
          <a:p>
            <a:r>
              <a:rPr lang="en-US" sz="600" noProof="0" dirty="0">
                <a:solidFill>
                  <a:schemeClr val="tx1"/>
                </a:solidFill>
                <a:latin typeface="Courier New" panose="02070309020205020404" pitchFamily="49" charset="0"/>
                <a:cs typeface="Courier New" panose="02070309020205020404" pitchFamily="49" charset="0"/>
              </a:rPr>
              <a:t>    def __</a:t>
            </a:r>
            <a:r>
              <a:rPr lang="en-US" sz="600" noProof="0" dirty="0" err="1">
                <a:solidFill>
                  <a:schemeClr val="tx1"/>
                </a:solidFill>
                <a:latin typeface="Courier New" panose="02070309020205020404" pitchFamily="49" charset="0"/>
                <a:cs typeface="Courier New" panose="02070309020205020404" pitchFamily="49" charset="0"/>
              </a:rPr>
              <a:t>init</a:t>
            </a:r>
            <a:r>
              <a:rPr lang="en-US" sz="600" noProof="0" dirty="0">
                <a:solidFill>
                  <a:schemeClr val="tx1"/>
                </a:solidFill>
                <a:latin typeface="Courier New" panose="02070309020205020404" pitchFamily="49" charset="0"/>
                <a:cs typeface="Courier New" panose="02070309020205020404" pitchFamily="49" charset="0"/>
              </a:rPr>
              <a:t>__(self):</a:t>
            </a:r>
          </a:p>
          <a:p>
            <a:r>
              <a:rPr lang="en-US" sz="600" noProof="0" dirty="0">
                <a:solidFill>
                  <a:schemeClr val="tx1"/>
                </a:solidFill>
                <a:latin typeface="Courier New" panose="02070309020205020404" pitchFamily="49" charset="0"/>
                <a:cs typeface="Courier New" panose="02070309020205020404" pitchFamily="49" charset="0"/>
              </a:rPr>
              <a:t>        pass</a:t>
            </a:r>
          </a:p>
          <a:p>
            <a:endParaRPr lang="en-US" sz="600" noProof="0" dirty="0">
              <a:solidFill>
                <a:schemeClr val="tx1"/>
              </a:solidFill>
              <a:latin typeface="Courier New" panose="02070309020205020404" pitchFamily="49" charset="0"/>
              <a:cs typeface="Courier New" panose="02070309020205020404" pitchFamily="49" charset="0"/>
            </a:endParaRPr>
          </a:p>
          <a:p>
            <a:r>
              <a:rPr lang="en-US" sz="600" noProof="0" dirty="0">
                <a:solidFill>
                  <a:schemeClr val="tx1"/>
                </a:solidFill>
                <a:latin typeface="Courier New" panose="02070309020205020404" pitchFamily="49" charset="0"/>
                <a:cs typeface="Courier New" panose="02070309020205020404" pitchFamily="49" charset="0"/>
              </a:rPr>
              <a:t>    def reset(self):</a:t>
            </a:r>
          </a:p>
          <a:p>
            <a:r>
              <a:rPr lang="en-US" sz="600" noProof="0" dirty="0">
                <a:solidFill>
                  <a:schemeClr val="tx1"/>
                </a:solidFill>
                <a:latin typeface="Courier New" panose="02070309020205020404" pitchFamily="49" charset="0"/>
                <a:cs typeface="Courier New" panose="02070309020205020404" pitchFamily="49" charset="0"/>
              </a:rPr>
              <a:t>        """</a:t>
            </a:r>
          </a:p>
          <a:p>
            <a:r>
              <a:rPr lang="en-US" sz="600" noProof="0" dirty="0">
                <a:solidFill>
                  <a:schemeClr val="tx1"/>
                </a:solidFill>
                <a:latin typeface="Courier New" panose="02070309020205020404" pitchFamily="49" charset="0"/>
                <a:cs typeface="Courier New" panose="02070309020205020404" pitchFamily="49" charset="0"/>
              </a:rPr>
              <a:t>        Reset the strategy's state for a new generation or match.</a:t>
            </a:r>
          </a:p>
          <a:p>
            <a:r>
              <a:rPr lang="en-US" sz="600" noProof="0" dirty="0">
                <a:solidFill>
                  <a:schemeClr val="tx1"/>
                </a:solidFill>
                <a:latin typeface="Courier New" panose="02070309020205020404" pitchFamily="49" charset="0"/>
                <a:cs typeface="Courier New" panose="02070309020205020404" pitchFamily="49" charset="0"/>
              </a:rPr>
              <a:t>        """</a:t>
            </a:r>
          </a:p>
          <a:p>
            <a:r>
              <a:rPr lang="en-US" sz="600" noProof="0" dirty="0">
                <a:solidFill>
                  <a:schemeClr val="tx1"/>
                </a:solidFill>
                <a:latin typeface="Courier New" panose="02070309020205020404" pitchFamily="49" charset="0"/>
                <a:cs typeface="Courier New" panose="02070309020205020404" pitchFamily="49" charset="0"/>
              </a:rPr>
              <a:t>        pass</a:t>
            </a:r>
          </a:p>
          <a:p>
            <a:endParaRPr lang="en-US" sz="600" noProof="0" dirty="0">
              <a:solidFill>
                <a:schemeClr val="tx1"/>
              </a:solidFill>
              <a:latin typeface="Courier New" panose="02070309020205020404" pitchFamily="49" charset="0"/>
              <a:cs typeface="Courier New" panose="02070309020205020404" pitchFamily="49" charset="0"/>
            </a:endParaRPr>
          </a:p>
          <a:p>
            <a:r>
              <a:rPr lang="en-US" sz="600" noProof="0" dirty="0">
                <a:solidFill>
                  <a:schemeClr val="tx1"/>
                </a:solidFill>
                <a:latin typeface="Courier New" panose="02070309020205020404" pitchFamily="49" charset="0"/>
                <a:cs typeface="Courier New" panose="02070309020205020404" pitchFamily="49" charset="0"/>
              </a:rPr>
              <a:t>    def </a:t>
            </a:r>
            <a:r>
              <a:rPr lang="en-US" sz="600" noProof="0" dirty="0" err="1">
                <a:solidFill>
                  <a:schemeClr val="tx1"/>
                </a:solidFill>
                <a:latin typeface="Courier New" panose="02070309020205020404" pitchFamily="49" charset="0"/>
                <a:cs typeface="Courier New" panose="02070309020205020404" pitchFamily="49" charset="0"/>
              </a:rPr>
              <a:t>choose_action</a:t>
            </a:r>
            <a:r>
              <a:rPr lang="en-US" sz="600" noProof="0" dirty="0">
                <a:solidFill>
                  <a:schemeClr val="tx1"/>
                </a:solidFill>
                <a:latin typeface="Courier New" panose="02070309020205020404" pitchFamily="49" charset="0"/>
                <a:cs typeface="Courier New" panose="02070309020205020404" pitchFamily="49" charset="0"/>
              </a:rPr>
              <a:t>(self, history: list) -&gt; str:</a:t>
            </a:r>
          </a:p>
          <a:p>
            <a:r>
              <a:rPr lang="en-US" sz="600" noProof="0" dirty="0">
                <a:solidFill>
                  <a:schemeClr val="tx1"/>
                </a:solidFill>
                <a:latin typeface="Courier New" panose="02070309020205020404" pitchFamily="49" charset="0"/>
                <a:cs typeface="Courier New" panose="02070309020205020404" pitchFamily="49" charset="0"/>
              </a:rPr>
              <a:t>        """</a:t>
            </a:r>
          </a:p>
          <a:p>
            <a:r>
              <a:rPr lang="en-US" sz="600" noProof="0" dirty="0">
                <a:solidFill>
                  <a:schemeClr val="tx1"/>
                </a:solidFill>
                <a:latin typeface="Courier New" panose="02070309020205020404" pitchFamily="49" charset="0"/>
                <a:cs typeface="Courier New" panose="02070309020205020404" pitchFamily="49" charset="0"/>
              </a:rPr>
              <a:t>        Decide the next action based on the history of previous moves.</a:t>
            </a:r>
          </a:p>
          <a:p>
            <a:r>
              <a:rPr lang="en-US" sz="600" noProof="0" dirty="0">
                <a:solidFill>
                  <a:schemeClr val="tx1"/>
                </a:solidFill>
                <a:latin typeface="Courier New" panose="02070309020205020404" pitchFamily="49" charset="0"/>
                <a:cs typeface="Courier New" panose="02070309020205020404" pitchFamily="49" charset="0"/>
              </a:rPr>
              <a:t>        </a:t>
            </a:r>
          </a:p>
          <a:p>
            <a:r>
              <a:rPr lang="en-US" sz="600" noProof="0" dirty="0">
                <a:solidFill>
                  <a:schemeClr val="tx1"/>
                </a:solidFill>
                <a:latin typeface="Courier New" panose="02070309020205020404" pitchFamily="49" charset="0"/>
                <a:cs typeface="Courier New" panose="02070309020205020404" pitchFamily="49" charset="0"/>
              </a:rPr>
              <a:t>        :param history: List of previous actions (e.g., ['C', 'D', 'C'])</a:t>
            </a:r>
          </a:p>
          <a:p>
            <a:r>
              <a:rPr lang="en-US" sz="600" noProof="0" dirty="0">
                <a:solidFill>
                  <a:schemeClr val="tx1"/>
                </a:solidFill>
                <a:latin typeface="Courier New" panose="02070309020205020404" pitchFamily="49" charset="0"/>
                <a:cs typeface="Courier New" panose="02070309020205020404" pitchFamily="49" charset="0"/>
              </a:rPr>
              <a:t>        :return: 'C' for cooperate, 'D' for defect</a:t>
            </a:r>
          </a:p>
          <a:p>
            <a:r>
              <a:rPr lang="en-US" sz="600" noProof="0" dirty="0">
                <a:solidFill>
                  <a:schemeClr val="tx1"/>
                </a:solidFill>
                <a:latin typeface="Courier New" panose="02070309020205020404" pitchFamily="49" charset="0"/>
                <a:cs typeface="Courier New" panose="02070309020205020404" pitchFamily="49" charset="0"/>
              </a:rPr>
              <a:t>        """</a:t>
            </a:r>
          </a:p>
          <a:p>
            <a:r>
              <a:rPr lang="en-US" sz="600" noProof="0" dirty="0">
                <a:solidFill>
                  <a:schemeClr val="tx1"/>
                </a:solidFill>
                <a:latin typeface="Courier New" panose="02070309020205020404" pitchFamily="49" charset="0"/>
                <a:cs typeface="Courier New" panose="02070309020205020404" pitchFamily="49" charset="0"/>
              </a:rPr>
              <a:t>        pass</a:t>
            </a:r>
          </a:p>
          <a:p>
            <a:endParaRPr lang="en-US" sz="600" noProof="0" dirty="0">
              <a:solidFill>
                <a:schemeClr val="tx1"/>
              </a:solidFill>
              <a:latin typeface="Courier New" panose="02070309020205020404" pitchFamily="49" charset="0"/>
              <a:cs typeface="Courier New" panose="02070309020205020404" pitchFamily="49" charset="0"/>
            </a:endParaRPr>
          </a:p>
          <a:p>
            <a:r>
              <a:rPr lang="en-US" sz="600" noProof="0" dirty="0">
                <a:solidFill>
                  <a:schemeClr val="tx1"/>
                </a:solidFill>
                <a:latin typeface="Courier New" panose="02070309020205020404" pitchFamily="49" charset="0"/>
                <a:cs typeface="Courier New" panose="02070309020205020404" pitchFamily="49" charset="0"/>
              </a:rPr>
              <a:t>    def </a:t>
            </a:r>
            <a:r>
              <a:rPr lang="en-US" sz="600" noProof="0" dirty="0" err="1">
                <a:solidFill>
                  <a:schemeClr val="tx1"/>
                </a:solidFill>
                <a:latin typeface="Courier New" panose="02070309020205020404" pitchFamily="49" charset="0"/>
                <a:cs typeface="Courier New" panose="02070309020205020404" pitchFamily="49" charset="0"/>
              </a:rPr>
              <a:t>update_memory</a:t>
            </a:r>
            <a:r>
              <a:rPr lang="en-US" sz="600" noProof="0" dirty="0">
                <a:solidFill>
                  <a:schemeClr val="tx1"/>
                </a:solidFill>
                <a:latin typeface="Courier New" panose="02070309020205020404" pitchFamily="49" charset="0"/>
                <a:cs typeface="Courier New" panose="02070309020205020404" pitchFamily="49" charset="0"/>
              </a:rPr>
              <a:t>(self, </a:t>
            </a:r>
            <a:r>
              <a:rPr lang="en-US" sz="600" noProof="0" dirty="0" err="1">
                <a:solidFill>
                  <a:schemeClr val="tx1"/>
                </a:solidFill>
                <a:latin typeface="Courier New" panose="02070309020205020404" pitchFamily="49" charset="0"/>
                <a:cs typeface="Courier New" panose="02070309020205020404" pitchFamily="49" charset="0"/>
              </a:rPr>
              <a:t>opponent_action</a:t>
            </a:r>
            <a:r>
              <a:rPr lang="en-US" sz="600" noProof="0" dirty="0">
                <a:solidFill>
                  <a:schemeClr val="tx1"/>
                </a:solidFill>
                <a:latin typeface="Courier New" panose="02070309020205020404" pitchFamily="49" charset="0"/>
                <a:cs typeface="Courier New" panose="02070309020205020404" pitchFamily="49" charset="0"/>
              </a:rPr>
              <a:t>: str):</a:t>
            </a:r>
          </a:p>
          <a:p>
            <a:r>
              <a:rPr lang="en-US" sz="600" noProof="0" dirty="0">
                <a:solidFill>
                  <a:schemeClr val="tx1"/>
                </a:solidFill>
                <a:latin typeface="Courier New" panose="02070309020205020404" pitchFamily="49" charset="0"/>
                <a:cs typeface="Courier New" panose="02070309020205020404" pitchFamily="49" charset="0"/>
              </a:rPr>
              <a:t>        """</a:t>
            </a:r>
          </a:p>
          <a:p>
            <a:r>
              <a:rPr lang="en-US" sz="600" noProof="0" dirty="0">
                <a:solidFill>
                  <a:schemeClr val="tx1"/>
                </a:solidFill>
                <a:latin typeface="Courier New" panose="02070309020205020404" pitchFamily="49" charset="0"/>
                <a:cs typeface="Courier New" panose="02070309020205020404" pitchFamily="49" charset="0"/>
              </a:rPr>
              <a:t>        Update the strategy's memory based on the opponent's action.</a:t>
            </a:r>
          </a:p>
          <a:p>
            <a:endParaRPr lang="en-US" sz="600" noProof="0" dirty="0">
              <a:solidFill>
                <a:schemeClr val="tx1"/>
              </a:solidFill>
              <a:latin typeface="Courier New" panose="02070309020205020404" pitchFamily="49" charset="0"/>
              <a:cs typeface="Courier New" panose="02070309020205020404" pitchFamily="49" charset="0"/>
            </a:endParaRPr>
          </a:p>
          <a:p>
            <a:r>
              <a:rPr lang="en-US" sz="600" noProof="0" dirty="0">
                <a:solidFill>
                  <a:schemeClr val="tx1"/>
                </a:solidFill>
                <a:latin typeface="Courier New" panose="02070309020205020404" pitchFamily="49" charset="0"/>
                <a:cs typeface="Courier New" panose="02070309020205020404" pitchFamily="49" charset="0"/>
              </a:rPr>
              <a:t>        :param </a:t>
            </a:r>
            <a:r>
              <a:rPr lang="en-US" sz="600" noProof="0" dirty="0" err="1">
                <a:solidFill>
                  <a:schemeClr val="tx1"/>
                </a:solidFill>
                <a:latin typeface="Courier New" panose="02070309020205020404" pitchFamily="49" charset="0"/>
                <a:cs typeface="Courier New" panose="02070309020205020404" pitchFamily="49" charset="0"/>
              </a:rPr>
              <a:t>opponent_action</a:t>
            </a:r>
            <a:r>
              <a:rPr lang="en-US" sz="600" noProof="0" dirty="0">
                <a:solidFill>
                  <a:schemeClr val="tx1"/>
                </a:solidFill>
                <a:latin typeface="Courier New" panose="02070309020205020404" pitchFamily="49" charset="0"/>
                <a:cs typeface="Courier New" panose="02070309020205020404" pitchFamily="49" charset="0"/>
              </a:rPr>
              <a:t>: The action taken by the opponent ('C' or 'D')</a:t>
            </a:r>
          </a:p>
          <a:p>
            <a:r>
              <a:rPr lang="en-US" sz="600" noProof="0" dirty="0">
                <a:solidFill>
                  <a:schemeClr val="tx1"/>
                </a:solidFill>
                <a:latin typeface="Courier New" panose="02070309020205020404" pitchFamily="49" charset="0"/>
                <a:cs typeface="Courier New" panose="02070309020205020404" pitchFamily="49" charset="0"/>
              </a:rPr>
              <a:t>        """</a:t>
            </a:r>
          </a:p>
          <a:p>
            <a:r>
              <a:rPr lang="en-US" sz="600" noProof="0" dirty="0">
                <a:solidFill>
                  <a:schemeClr val="tx1"/>
                </a:solidFill>
                <a:latin typeface="Courier New" panose="02070309020205020404" pitchFamily="49" charset="0"/>
                <a:cs typeface="Courier New" panose="02070309020205020404" pitchFamily="49" charset="0"/>
              </a:rPr>
              <a:t>        pass</a:t>
            </a:r>
          </a:p>
        </p:txBody>
      </p:sp>
    </p:spTree>
    <p:extLst>
      <p:ext uri="{BB962C8B-B14F-4D97-AF65-F5344CB8AC3E}">
        <p14:creationId xmlns:p14="http://schemas.microsoft.com/office/powerpoint/2010/main" val="506513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35BAB-89E8-CC78-7EB2-F0880F0EC4C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E1EFA96-8573-7525-D3BB-ED4F6975074A}"/>
              </a:ext>
            </a:extLst>
          </p:cNvPr>
          <p:cNvSpPr>
            <a:spLocks noGrp="1"/>
          </p:cNvSpPr>
          <p:nvPr>
            <p:ph type="title"/>
          </p:nvPr>
        </p:nvSpPr>
        <p:spPr/>
        <p:txBody>
          <a:bodyPr/>
          <a:lstStyle/>
          <a:p>
            <a:r>
              <a:rPr lang="en-US" noProof="0" dirty="0"/>
              <a:t>Step 1: Think about the model before coding</a:t>
            </a:r>
            <a:br>
              <a:rPr lang="en-US" noProof="0" dirty="0"/>
            </a:br>
            <a:r>
              <a:rPr lang="en-US" noProof="0" dirty="0"/>
              <a:t>c) Project structure</a:t>
            </a:r>
          </a:p>
        </p:txBody>
      </p:sp>
      <p:grpSp>
        <p:nvGrpSpPr>
          <p:cNvPr id="7" name="Gruppieren 6">
            <a:extLst>
              <a:ext uri="{FF2B5EF4-FFF2-40B4-BE49-F238E27FC236}">
                <a16:creationId xmlns:a16="http://schemas.microsoft.com/office/drawing/2014/main" id="{D7D587D3-7215-7095-0002-D91954FC92CF}"/>
              </a:ext>
            </a:extLst>
          </p:cNvPr>
          <p:cNvGrpSpPr/>
          <p:nvPr/>
        </p:nvGrpSpPr>
        <p:grpSpPr>
          <a:xfrm>
            <a:off x="264220" y="1131590"/>
            <a:ext cx="1296144" cy="1296144"/>
            <a:chOff x="5258172" y="1563638"/>
            <a:chExt cx="2736304" cy="2736304"/>
          </a:xfrm>
        </p:grpSpPr>
        <p:sp>
          <p:nvSpPr>
            <p:cNvPr id="8" name="Freihandform 3">
              <a:extLst>
                <a:ext uri="{FF2B5EF4-FFF2-40B4-BE49-F238E27FC236}">
                  <a16:creationId xmlns:a16="http://schemas.microsoft.com/office/drawing/2014/main" id="{F702C39D-169C-8BF9-45EF-34A570855492}"/>
                </a:ext>
              </a:extLst>
            </p:cNvPr>
            <p:cNvSpPr/>
            <p:nvPr/>
          </p:nvSpPr>
          <p:spPr>
            <a:xfrm>
              <a:off x="5713090" y="1964690"/>
              <a:ext cx="2066290" cy="1971040"/>
            </a:xfrm>
            <a:custGeom>
              <a:avLst/>
              <a:gdLst>
                <a:gd name="connsiteX0" fmla="*/ 95250 w 2066290"/>
                <a:gd name="connsiteY0" fmla="*/ 1037590 h 1971040"/>
                <a:gd name="connsiteX1" fmla="*/ 34290 w 2066290"/>
                <a:gd name="connsiteY1" fmla="*/ 626110 h 1971040"/>
                <a:gd name="connsiteX2" fmla="*/ 300990 w 2066290"/>
                <a:gd name="connsiteY2" fmla="*/ 222250 h 1971040"/>
                <a:gd name="connsiteX3" fmla="*/ 674370 w 2066290"/>
                <a:gd name="connsiteY3" fmla="*/ 283210 h 1971040"/>
                <a:gd name="connsiteX4" fmla="*/ 986790 w 2066290"/>
                <a:gd name="connsiteY4" fmla="*/ 351790 h 1971040"/>
                <a:gd name="connsiteX5" fmla="*/ 1261110 w 2066290"/>
                <a:gd name="connsiteY5" fmla="*/ 39370 h 1971040"/>
                <a:gd name="connsiteX6" fmla="*/ 1482090 w 2066290"/>
                <a:gd name="connsiteY6" fmla="*/ 115570 h 1971040"/>
                <a:gd name="connsiteX7" fmla="*/ 1695450 w 2066290"/>
                <a:gd name="connsiteY7" fmla="*/ 351790 h 1971040"/>
                <a:gd name="connsiteX8" fmla="*/ 2007870 w 2066290"/>
                <a:gd name="connsiteY8" fmla="*/ 443230 h 1971040"/>
                <a:gd name="connsiteX9" fmla="*/ 2023110 w 2066290"/>
                <a:gd name="connsiteY9" fmla="*/ 740410 h 1971040"/>
                <a:gd name="connsiteX10" fmla="*/ 1748790 w 2066290"/>
                <a:gd name="connsiteY10" fmla="*/ 839470 h 1971040"/>
                <a:gd name="connsiteX11" fmla="*/ 1604010 w 2066290"/>
                <a:gd name="connsiteY11" fmla="*/ 1014730 h 1971040"/>
                <a:gd name="connsiteX12" fmla="*/ 1741170 w 2066290"/>
                <a:gd name="connsiteY12" fmla="*/ 1258570 h 1971040"/>
                <a:gd name="connsiteX13" fmla="*/ 1916430 w 2066290"/>
                <a:gd name="connsiteY13" fmla="*/ 1532890 h 1971040"/>
                <a:gd name="connsiteX14" fmla="*/ 1809750 w 2066290"/>
                <a:gd name="connsiteY14" fmla="*/ 1830070 h 1971040"/>
                <a:gd name="connsiteX15" fmla="*/ 1535430 w 2066290"/>
                <a:gd name="connsiteY15" fmla="*/ 1951990 h 1971040"/>
                <a:gd name="connsiteX16" fmla="*/ 1223010 w 2066290"/>
                <a:gd name="connsiteY16" fmla="*/ 1715770 h 1971040"/>
                <a:gd name="connsiteX17" fmla="*/ 956310 w 2066290"/>
                <a:gd name="connsiteY17" fmla="*/ 1708150 h 1971040"/>
                <a:gd name="connsiteX18" fmla="*/ 826770 w 2066290"/>
                <a:gd name="connsiteY18" fmla="*/ 1784350 h 1971040"/>
                <a:gd name="connsiteX19" fmla="*/ 224790 w 2066290"/>
                <a:gd name="connsiteY19" fmla="*/ 1814830 h 1971040"/>
                <a:gd name="connsiteX20" fmla="*/ 590550 w 2066290"/>
                <a:gd name="connsiteY20" fmla="*/ 1250950 h 1971040"/>
                <a:gd name="connsiteX21" fmla="*/ 95250 w 2066290"/>
                <a:gd name="connsiteY21" fmla="*/ 1037590 h 1971040"/>
                <a:gd name="connsiteX0" fmla="*/ 95250 w 2066290"/>
                <a:gd name="connsiteY0" fmla="*/ 1037590 h 1971040"/>
                <a:gd name="connsiteX1" fmla="*/ 34290 w 2066290"/>
                <a:gd name="connsiteY1" fmla="*/ 626110 h 1971040"/>
                <a:gd name="connsiteX2" fmla="*/ 300990 w 2066290"/>
                <a:gd name="connsiteY2" fmla="*/ 222250 h 1971040"/>
                <a:gd name="connsiteX3" fmla="*/ 674370 w 2066290"/>
                <a:gd name="connsiteY3" fmla="*/ 283210 h 1971040"/>
                <a:gd name="connsiteX4" fmla="*/ 986790 w 2066290"/>
                <a:gd name="connsiteY4" fmla="*/ 351790 h 1971040"/>
                <a:gd name="connsiteX5" fmla="*/ 1261110 w 2066290"/>
                <a:gd name="connsiteY5" fmla="*/ 39370 h 1971040"/>
                <a:gd name="connsiteX6" fmla="*/ 1482090 w 2066290"/>
                <a:gd name="connsiteY6" fmla="*/ 115570 h 1971040"/>
                <a:gd name="connsiteX7" fmla="*/ 1695450 w 2066290"/>
                <a:gd name="connsiteY7" fmla="*/ 351790 h 1971040"/>
                <a:gd name="connsiteX8" fmla="*/ 2007870 w 2066290"/>
                <a:gd name="connsiteY8" fmla="*/ 443230 h 1971040"/>
                <a:gd name="connsiteX9" fmla="*/ 2023110 w 2066290"/>
                <a:gd name="connsiteY9" fmla="*/ 740410 h 1971040"/>
                <a:gd name="connsiteX10" fmla="*/ 1748790 w 2066290"/>
                <a:gd name="connsiteY10" fmla="*/ 839470 h 1971040"/>
                <a:gd name="connsiteX11" fmla="*/ 1604010 w 2066290"/>
                <a:gd name="connsiteY11" fmla="*/ 1014730 h 1971040"/>
                <a:gd name="connsiteX12" fmla="*/ 1741170 w 2066290"/>
                <a:gd name="connsiteY12" fmla="*/ 1258570 h 1971040"/>
                <a:gd name="connsiteX13" fmla="*/ 1916430 w 2066290"/>
                <a:gd name="connsiteY13" fmla="*/ 1532890 h 1971040"/>
                <a:gd name="connsiteX14" fmla="*/ 1809750 w 2066290"/>
                <a:gd name="connsiteY14" fmla="*/ 1830070 h 1971040"/>
                <a:gd name="connsiteX15" fmla="*/ 1535430 w 2066290"/>
                <a:gd name="connsiteY15" fmla="*/ 1951990 h 1971040"/>
                <a:gd name="connsiteX16" fmla="*/ 1223010 w 2066290"/>
                <a:gd name="connsiteY16" fmla="*/ 1715770 h 1971040"/>
                <a:gd name="connsiteX17" fmla="*/ 826770 w 2066290"/>
                <a:gd name="connsiteY17" fmla="*/ 1784350 h 1971040"/>
                <a:gd name="connsiteX18" fmla="*/ 224790 w 2066290"/>
                <a:gd name="connsiteY18" fmla="*/ 1814830 h 1971040"/>
                <a:gd name="connsiteX19" fmla="*/ 590550 w 2066290"/>
                <a:gd name="connsiteY19" fmla="*/ 1250950 h 1971040"/>
                <a:gd name="connsiteX20" fmla="*/ 95250 w 2066290"/>
                <a:gd name="connsiteY20" fmla="*/ 1037590 h 197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66290" h="1971040">
                  <a:moveTo>
                    <a:pt x="95250" y="1037590"/>
                  </a:moveTo>
                  <a:cubicBezTo>
                    <a:pt x="2540" y="933450"/>
                    <a:pt x="0" y="762000"/>
                    <a:pt x="34290" y="626110"/>
                  </a:cubicBezTo>
                  <a:cubicBezTo>
                    <a:pt x="68580" y="490220"/>
                    <a:pt x="194310" y="279400"/>
                    <a:pt x="300990" y="222250"/>
                  </a:cubicBezTo>
                  <a:cubicBezTo>
                    <a:pt x="407670" y="165100"/>
                    <a:pt x="560070" y="261620"/>
                    <a:pt x="674370" y="283210"/>
                  </a:cubicBezTo>
                  <a:cubicBezTo>
                    <a:pt x="788670" y="304800"/>
                    <a:pt x="889000" y="392430"/>
                    <a:pt x="986790" y="351790"/>
                  </a:cubicBezTo>
                  <a:cubicBezTo>
                    <a:pt x="1084580" y="311150"/>
                    <a:pt x="1178560" y="78740"/>
                    <a:pt x="1261110" y="39370"/>
                  </a:cubicBezTo>
                  <a:cubicBezTo>
                    <a:pt x="1343660" y="0"/>
                    <a:pt x="1409700" y="63500"/>
                    <a:pt x="1482090" y="115570"/>
                  </a:cubicBezTo>
                  <a:cubicBezTo>
                    <a:pt x="1554480" y="167640"/>
                    <a:pt x="1607820" y="297180"/>
                    <a:pt x="1695450" y="351790"/>
                  </a:cubicBezTo>
                  <a:cubicBezTo>
                    <a:pt x="1783080" y="406400"/>
                    <a:pt x="1953260" y="378460"/>
                    <a:pt x="2007870" y="443230"/>
                  </a:cubicBezTo>
                  <a:cubicBezTo>
                    <a:pt x="2062480" y="508000"/>
                    <a:pt x="2066290" y="674370"/>
                    <a:pt x="2023110" y="740410"/>
                  </a:cubicBezTo>
                  <a:cubicBezTo>
                    <a:pt x="1979930" y="806450"/>
                    <a:pt x="1818640" y="793750"/>
                    <a:pt x="1748790" y="839470"/>
                  </a:cubicBezTo>
                  <a:cubicBezTo>
                    <a:pt x="1678940" y="885190"/>
                    <a:pt x="1605280" y="944880"/>
                    <a:pt x="1604010" y="1014730"/>
                  </a:cubicBezTo>
                  <a:cubicBezTo>
                    <a:pt x="1602740" y="1084580"/>
                    <a:pt x="1689100" y="1172210"/>
                    <a:pt x="1741170" y="1258570"/>
                  </a:cubicBezTo>
                  <a:cubicBezTo>
                    <a:pt x="1793240" y="1344930"/>
                    <a:pt x="1905000" y="1437640"/>
                    <a:pt x="1916430" y="1532890"/>
                  </a:cubicBezTo>
                  <a:cubicBezTo>
                    <a:pt x="1927860" y="1628140"/>
                    <a:pt x="1873250" y="1760220"/>
                    <a:pt x="1809750" y="1830070"/>
                  </a:cubicBezTo>
                  <a:cubicBezTo>
                    <a:pt x="1746250" y="1899920"/>
                    <a:pt x="1633220" y="1971040"/>
                    <a:pt x="1535430" y="1951990"/>
                  </a:cubicBezTo>
                  <a:cubicBezTo>
                    <a:pt x="1437640" y="1932940"/>
                    <a:pt x="1341120" y="1743710"/>
                    <a:pt x="1223010" y="1715770"/>
                  </a:cubicBezTo>
                  <a:cubicBezTo>
                    <a:pt x="1104900" y="1687830"/>
                    <a:pt x="993140" y="1767840"/>
                    <a:pt x="826770" y="1784350"/>
                  </a:cubicBezTo>
                  <a:cubicBezTo>
                    <a:pt x="660400" y="1800860"/>
                    <a:pt x="264160" y="1903730"/>
                    <a:pt x="224790" y="1814830"/>
                  </a:cubicBezTo>
                  <a:cubicBezTo>
                    <a:pt x="185420" y="1725930"/>
                    <a:pt x="610870" y="1380490"/>
                    <a:pt x="590550" y="1250950"/>
                  </a:cubicBezTo>
                  <a:cubicBezTo>
                    <a:pt x="570230" y="1121410"/>
                    <a:pt x="187960" y="1141730"/>
                    <a:pt x="95250" y="1037590"/>
                  </a:cubicBez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Ellipse 8">
              <a:extLst>
                <a:ext uri="{FF2B5EF4-FFF2-40B4-BE49-F238E27FC236}">
                  <a16:creationId xmlns:a16="http://schemas.microsoft.com/office/drawing/2014/main" id="{A079DABC-5913-F4CD-0ECF-D0D77F24A6AB}"/>
                </a:ext>
              </a:extLst>
            </p:cNvPr>
            <p:cNvSpPr/>
            <p:nvPr/>
          </p:nvSpPr>
          <p:spPr>
            <a:xfrm>
              <a:off x="5402188" y="1707654"/>
              <a:ext cx="2592288" cy="259228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0" name="Gerade Verbindung 27">
              <a:extLst>
                <a:ext uri="{FF2B5EF4-FFF2-40B4-BE49-F238E27FC236}">
                  <a16:creationId xmlns:a16="http://schemas.microsoft.com/office/drawing/2014/main" id="{DE9AA443-8D3A-25F3-3647-9B1BC9D9776B}"/>
                </a:ext>
              </a:extLst>
            </p:cNvPr>
            <p:cNvCxnSpPr/>
            <p:nvPr/>
          </p:nvCxnSpPr>
          <p:spPr>
            <a:xfrm>
              <a:off x="6698332" y="1563638"/>
              <a:ext cx="0" cy="1440160"/>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1" name="Gerade Verbindung 28">
              <a:extLst>
                <a:ext uri="{FF2B5EF4-FFF2-40B4-BE49-F238E27FC236}">
                  <a16:creationId xmlns:a16="http://schemas.microsoft.com/office/drawing/2014/main" id="{AF2BF2A6-4131-45DF-03F5-7C182D117937}"/>
                </a:ext>
              </a:extLst>
            </p:cNvPr>
            <p:cNvCxnSpPr/>
            <p:nvPr/>
          </p:nvCxnSpPr>
          <p:spPr>
            <a:xfrm>
              <a:off x="5258172" y="3003798"/>
              <a:ext cx="1440160" cy="0"/>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2" name="Gerade Verbindung 29">
              <a:extLst>
                <a:ext uri="{FF2B5EF4-FFF2-40B4-BE49-F238E27FC236}">
                  <a16:creationId xmlns:a16="http://schemas.microsoft.com/office/drawing/2014/main" id="{6F833EC6-8E17-E74D-F61F-AEC60F7D402F}"/>
                </a:ext>
              </a:extLst>
            </p:cNvPr>
            <p:cNvCxnSpPr/>
            <p:nvPr/>
          </p:nvCxnSpPr>
          <p:spPr>
            <a:xfrm>
              <a:off x="6698332" y="3003798"/>
              <a:ext cx="1018347" cy="1018347"/>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Gerade Verbindung 30">
              <a:extLst>
                <a:ext uri="{FF2B5EF4-FFF2-40B4-BE49-F238E27FC236}">
                  <a16:creationId xmlns:a16="http://schemas.microsoft.com/office/drawing/2014/main" id="{8F5A87B1-1140-04AA-CEAF-9DBBF57796BC}"/>
                </a:ext>
              </a:extLst>
            </p:cNvPr>
            <p:cNvCxnSpPr/>
            <p:nvPr/>
          </p:nvCxnSpPr>
          <p:spPr>
            <a:xfrm flipH="1">
              <a:off x="5679985" y="3003798"/>
              <a:ext cx="1018347" cy="1018347"/>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4" name="Gerade Verbindung 31">
              <a:extLst>
                <a:ext uri="{FF2B5EF4-FFF2-40B4-BE49-F238E27FC236}">
                  <a16:creationId xmlns:a16="http://schemas.microsoft.com/office/drawing/2014/main" id="{CD2B5F22-AAEE-3880-A90B-8C6609D8461D}"/>
                </a:ext>
              </a:extLst>
            </p:cNvPr>
            <p:cNvCxnSpPr/>
            <p:nvPr/>
          </p:nvCxnSpPr>
          <p:spPr>
            <a:xfrm flipV="1">
              <a:off x="6698333" y="1985451"/>
              <a:ext cx="1018346" cy="1018347"/>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5" name="Ellipse 14">
              <a:extLst>
                <a:ext uri="{FF2B5EF4-FFF2-40B4-BE49-F238E27FC236}">
                  <a16:creationId xmlns:a16="http://schemas.microsoft.com/office/drawing/2014/main" id="{0F6D57BB-7359-8729-853D-68D7D8B0E7F4}"/>
                </a:ext>
              </a:extLst>
            </p:cNvPr>
            <p:cNvSpPr/>
            <p:nvPr/>
          </p:nvSpPr>
          <p:spPr>
            <a:xfrm>
              <a:off x="6194276" y="2499742"/>
              <a:ext cx="1008112" cy="1008112"/>
            </a:xfrm>
            <a:prstGeom prst="ellipse">
              <a:avLst/>
            </a:prstGeom>
            <a:noFill/>
            <a:ln>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Ellipse 15">
              <a:extLst>
                <a:ext uri="{FF2B5EF4-FFF2-40B4-BE49-F238E27FC236}">
                  <a16:creationId xmlns:a16="http://schemas.microsoft.com/office/drawing/2014/main" id="{CCCA2F79-B3E2-DEF1-1239-AA0023F41B2F}"/>
                </a:ext>
              </a:extLst>
            </p:cNvPr>
            <p:cNvSpPr/>
            <p:nvPr/>
          </p:nvSpPr>
          <p:spPr>
            <a:xfrm>
              <a:off x="5798232" y="2103698"/>
              <a:ext cx="1800200" cy="1800200"/>
            </a:xfrm>
            <a:prstGeom prst="ellipse">
              <a:avLst/>
            </a:prstGeom>
            <a:noFill/>
            <a:ln>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7" name="Rechteck 16">
            <a:extLst>
              <a:ext uri="{FF2B5EF4-FFF2-40B4-BE49-F238E27FC236}">
                <a16:creationId xmlns:a16="http://schemas.microsoft.com/office/drawing/2014/main" id="{C2AD25DD-5AF5-C07F-0B7F-A11CBD4CFB0C}"/>
              </a:ext>
            </a:extLst>
          </p:cNvPr>
          <p:cNvSpPr/>
          <p:nvPr/>
        </p:nvSpPr>
        <p:spPr>
          <a:xfrm>
            <a:off x="1691681" y="1131590"/>
            <a:ext cx="5040560"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200" b="1" noProof="0" dirty="0">
                <a:solidFill>
                  <a:schemeClr val="tx1"/>
                </a:solidFill>
              </a:rPr>
              <a:t>Prompt C (Project Structure):</a:t>
            </a:r>
          </a:p>
          <a:p>
            <a:pPr>
              <a:spcAft>
                <a:spcPts val="600"/>
              </a:spcAft>
            </a:pPr>
            <a:r>
              <a:rPr lang="en-US" sz="1200" noProof="0" dirty="0">
                <a:solidFill>
                  <a:schemeClr val="tx1"/>
                </a:solidFill>
              </a:rPr>
              <a:t>Please propose a clean project structure for a Python teaching project on the evolution of cooperation in an iterated Prisoner’s Dilemma.</a:t>
            </a:r>
          </a:p>
          <a:p>
            <a:pPr>
              <a:spcAft>
                <a:spcPts val="600"/>
              </a:spcAft>
            </a:pPr>
            <a:r>
              <a:rPr lang="en-US" sz="1200" noProof="0" dirty="0">
                <a:solidFill>
                  <a:schemeClr val="tx1"/>
                </a:solidFill>
              </a:rPr>
              <a:t>Requirements:</a:t>
            </a:r>
          </a:p>
          <a:p>
            <a:pPr marL="171450" indent="-171450">
              <a:spcAft>
                <a:spcPts val="600"/>
              </a:spcAft>
              <a:buFont typeface="Arial" panose="020B0604020202020204" pitchFamily="34" charset="0"/>
              <a:buChar char="•"/>
            </a:pPr>
            <a:r>
              <a:rPr lang="en-US" sz="1200" noProof="0" dirty="0">
                <a:solidFill>
                  <a:schemeClr val="tx1"/>
                </a:solidFill>
              </a:rPr>
              <a:t>code files should not be too large,</a:t>
            </a:r>
          </a:p>
          <a:p>
            <a:pPr marL="171450" indent="-171450">
              <a:spcAft>
                <a:spcPts val="600"/>
              </a:spcAft>
              <a:buFont typeface="Arial" panose="020B0604020202020204" pitchFamily="34" charset="0"/>
              <a:buChar char="•"/>
            </a:pPr>
            <a:r>
              <a:rPr lang="en-US" sz="1200" noProof="0" dirty="0">
                <a:solidFill>
                  <a:schemeClr val="tx1"/>
                </a:solidFill>
              </a:rPr>
              <a:t>strategies should be easy to add later,</a:t>
            </a:r>
          </a:p>
          <a:p>
            <a:pPr marL="171450" indent="-171450">
              <a:spcAft>
                <a:spcPts val="600"/>
              </a:spcAft>
              <a:buFont typeface="Arial" panose="020B0604020202020204" pitchFamily="34" charset="0"/>
              <a:buChar char="•"/>
            </a:pPr>
            <a:r>
              <a:rPr lang="en-US" sz="1200" noProof="0" dirty="0">
                <a:solidFill>
                  <a:schemeClr val="tx1"/>
                </a:solidFill>
              </a:rPr>
              <a:t>payoff rules should be easy to change,</a:t>
            </a:r>
          </a:p>
          <a:p>
            <a:pPr marL="171450" indent="-171450">
              <a:spcAft>
                <a:spcPts val="600"/>
              </a:spcAft>
              <a:buFont typeface="Arial" panose="020B0604020202020204" pitchFamily="34" charset="0"/>
              <a:buChar char="•"/>
            </a:pPr>
            <a:r>
              <a:rPr lang="en-US" sz="1200" noProof="0" dirty="0">
                <a:solidFill>
                  <a:schemeClr val="tx1"/>
                </a:solidFill>
              </a:rPr>
              <a:t>tournament and evolution logic should be separate,</a:t>
            </a:r>
          </a:p>
          <a:p>
            <a:pPr marL="171450" indent="-171450">
              <a:spcAft>
                <a:spcPts val="600"/>
              </a:spcAft>
              <a:buFont typeface="Arial" panose="020B0604020202020204" pitchFamily="34" charset="0"/>
              <a:buChar char="•"/>
            </a:pPr>
            <a:r>
              <a:rPr lang="en-US" sz="1200" noProof="0" dirty="0">
                <a:solidFill>
                  <a:schemeClr val="tx1"/>
                </a:solidFill>
              </a:rPr>
              <a:t>output should be easy to understand.</a:t>
            </a:r>
          </a:p>
          <a:p>
            <a:pPr>
              <a:spcAft>
                <a:spcPts val="600"/>
              </a:spcAft>
            </a:pPr>
            <a:r>
              <a:rPr lang="en-US" sz="1200" noProof="0" dirty="0">
                <a:solidFill>
                  <a:schemeClr val="tx1"/>
                </a:solidFill>
              </a:rPr>
              <a:t>Please provide:</a:t>
            </a:r>
          </a:p>
          <a:p>
            <a:pPr>
              <a:spcAft>
                <a:spcPts val="600"/>
              </a:spcAft>
            </a:pPr>
            <a:r>
              <a:rPr lang="en-US" sz="1200" noProof="0" dirty="0">
                <a:solidFill>
                  <a:schemeClr val="tx1"/>
                </a:solidFill>
              </a:rPr>
              <a:t>1. the folder structure,</a:t>
            </a:r>
          </a:p>
          <a:p>
            <a:pPr>
              <a:spcAft>
                <a:spcPts val="600"/>
              </a:spcAft>
            </a:pPr>
            <a:r>
              <a:rPr lang="en-US" sz="1200" noProof="0" dirty="0">
                <a:solidFill>
                  <a:schemeClr val="tx1"/>
                </a:solidFill>
              </a:rPr>
              <a:t>2. the purpose of each file,</a:t>
            </a:r>
          </a:p>
          <a:p>
            <a:pPr>
              <a:spcAft>
                <a:spcPts val="600"/>
              </a:spcAft>
            </a:pPr>
            <a:r>
              <a:rPr lang="en-US" sz="1200" noProof="0" dirty="0">
                <a:solidFill>
                  <a:schemeClr val="tx1"/>
                </a:solidFill>
              </a:rPr>
              <a:t>3. the recommended order in which the files should be implemented.</a:t>
            </a:r>
          </a:p>
        </p:txBody>
      </p:sp>
      <p:sp>
        <p:nvSpPr>
          <p:cNvPr id="18" name="Gleichschenkliges Dreieck 17">
            <a:extLst>
              <a:ext uri="{FF2B5EF4-FFF2-40B4-BE49-F238E27FC236}">
                <a16:creationId xmlns:a16="http://schemas.microsoft.com/office/drawing/2014/main" id="{D235760E-BAEE-0F3E-6C00-15BBE6A00A68}"/>
              </a:ext>
            </a:extLst>
          </p:cNvPr>
          <p:cNvSpPr/>
          <p:nvPr/>
        </p:nvSpPr>
        <p:spPr>
          <a:xfrm rot="5400000">
            <a:off x="6475094" y="1579745"/>
            <a:ext cx="920943" cy="144016"/>
          </a:xfrm>
          <a:prstGeom prst="triangle">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echteck 18">
            <a:extLst>
              <a:ext uri="{FF2B5EF4-FFF2-40B4-BE49-F238E27FC236}">
                <a16:creationId xmlns:a16="http://schemas.microsoft.com/office/drawing/2014/main" id="{43B1C9C8-36BD-B796-E683-90067BFAC93C}"/>
              </a:ext>
            </a:extLst>
          </p:cNvPr>
          <p:cNvSpPr/>
          <p:nvPr/>
        </p:nvSpPr>
        <p:spPr>
          <a:xfrm>
            <a:off x="7236296" y="1131590"/>
            <a:ext cx="1643484" cy="1040326"/>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2" name="Gruppieren 21">
            <a:extLst>
              <a:ext uri="{FF2B5EF4-FFF2-40B4-BE49-F238E27FC236}">
                <a16:creationId xmlns:a16="http://schemas.microsoft.com/office/drawing/2014/main" id="{2A39665B-C21E-6547-0FD4-999066DC6D5B}"/>
              </a:ext>
            </a:extLst>
          </p:cNvPr>
          <p:cNvGrpSpPr/>
          <p:nvPr/>
        </p:nvGrpSpPr>
        <p:grpSpPr>
          <a:xfrm>
            <a:off x="8379514" y="1191281"/>
            <a:ext cx="432048" cy="432048"/>
            <a:chOff x="7452320" y="2571750"/>
            <a:chExt cx="720080" cy="720080"/>
          </a:xfrm>
        </p:grpSpPr>
        <p:sp>
          <p:nvSpPr>
            <p:cNvPr id="20" name="Rechteck: abgerundete Ecken 19">
              <a:extLst>
                <a:ext uri="{FF2B5EF4-FFF2-40B4-BE49-F238E27FC236}">
                  <a16:creationId xmlns:a16="http://schemas.microsoft.com/office/drawing/2014/main" id="{1DBCBBC4-B532-D613-3590-DE78FC046FC7}"/>
                </a:ext>
              </a:extLst>
            </p:cNvPr>
            <p:cNvSpPr/>
            <p:nvPr/>
          </p:nvSpPr>
          <p:spPr>
            <a:xfrm>
              <a:off x="7452320" y="2571750"/>
              <a:ext cx="720080" cy="720080"/>
            </a:xfrm>
            <a:prstGeom prst="round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noProof="0" dirty="0">
                <a:solidFill>
                  <a:schemeClr val="tx1"/>
                </a:solidFill>
              </a:endParaRPr>
            </a:p>
          </p:txBody>
        </p:sp>
        <p:sp>
          <p:nvSpPr>
            <p:cNvPr id="21" name="Rechteck: abgerundete Ecken 20">
              <a:extLst>
                <a:ext uri="{FF2B5EF4-FFF2-40B4-BE49-F238E27FC236}">
                  <a16:creationId xmlns:a16="http://schemas.microsoft.com/office/drawing/2014/main" id="{B2438A6D-88D2-F03A-C552-13EAD7029870}"/>
                </a:ext>
              </a:extLst>
            </p:cNvPr>
            <p:cNvSpPr/>
            <p:nvPr/>
          </p:nvSpPr>
          <p:spPr>
            <a:xfrm>
              <a:off x="7528520" y="2647950"/>
              <a:ext cx="571872" cy="571872"/>
            </a:xfrm>
            <a:prstGeom prst="round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noProof="0" dirty="0">
                  <a:solidFill>
                    <a:schemeClr val="tx1"/>
                  </a:solidFill>
                </a:rPr>
                <a:t>AI</a:t>
              </a:r>
            </a:p>
          </p:txBody>
        </p:sp>
      </p:grpSp>
      <p:cxnSp>
        <p:nvCxnSpPr>
          <p:cNvPr id="24" name="Gerader Verbinder 23">
            <a:extLst>
              <a:ext uri="{FF2B5EF4-FFF2-40B4-BE49-F238E27FC236}">
                <a16:creationId xmlns:a16="http://schemas.microsoft.com/office/drawing/2014/main" id="{79D5A906-E9FA-16C8-784F-1B8743B12833}"/>
              </a:ext>
            </a:extLst>
          </p:cNvPr>
          <p:cNvCxnSpPr/>
          <p:nvPr/>
        </p:nvCxnSpPr>
        <p:spPr>
          <a:xfrm>
            <a:off x="8595538" y="2171916"/>
            <a:ext cx="0" cy="399834"/>
          </a:xfrm>
          <a:prstGeom prst="lin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6" name="Gerader Verbinder 25">
            <a:extLst>
              <a:ext uri="{FF2B5EF4-FFF2-40B4-BE49-F238E27FC236}">
                <a16:creationId xmlns:a16="http://schemas.microsoft.com/office/drawing/2014/main" id="{AB00F963-EFA3-8FDC-D847-01501773DB79}"/>
              </a:ext>
            </a:extLst>
          </p:cNvPr>
          <p:cNvCxnSpPr>
            <a:cxnSpLocks/>
          </p:cNvCxnSpPr>
          <p:nvPr/>
        </p:nvCxnSpPr>
        <p:spPr>
          <a:xfrm flipH="1">
            <a:off x="7534973" y="2571750"/>
            <a:ext cx="1060565" cy="0"/>
          </a:xfrm>
          <a:prstGeom prst="lin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7" name="Gerader Verbinder 26">
            <a:extLst>
              <a:ext uri="{FF2B5EF4-FFF2-40B4-BE49-F238E27FC236}">
                <a16:creationId xmlns:a16="http://schemas.microsoft.com/office/drawing/2014/main" id="{BBF6CD3D-EB2D-30A8-5DB3-87957F0D2660}"/>
              </a:ext>
            </a:extLst>
          </p:cNvPr>
          <p:cNvCxnSpPr>
            <a:cxnSpLocks/>
          </p:cNvCxnSpPr>
          <p:nvPr/>
        </p:nvCxnSpPr>
        <p:spPr>
          <a:xfrm>
            <a:off x="7534973" y="2240134"/>
            <a:ext cx="0" cy="331616"/>
          </a:xfrm>
          <a:prstGeom prst="line">
            <a:avLst/>
          </a:prstGeom>
          <a:solidFill>
            <a:schemeClr val="tx2">
              <a:lumMod val="20000"/>
              <a:lumOff val="80000"/>
            </a:schemeClr>
          </a:solidFill>
          <a:ln>
            <a:solidFill>
              <a:schemeClr val="tx2"/>
            </a:solidFill>
            <a:headEnd type="triangle" w="med" len="med"/>
            <a:tailEnd type="none" w="med" len="med"/>
          </a:ln>
        </p:spPr>
        <p:style>
          <a:lnRef idx="2">
            <a:schemeClr val="accent1">
              <a:shade val="15000"/>
            </a:schemeClr>
          </a:lnRef>
          <a:fillRef idx="1">
            <a:schemeClr val="accent1"/>
          </a:fillRef>
          <a:effectRef idx="0">
            <a:schemeClr val="accent1"/>
          </a:effectRef>
          <a:fontRef idx="minor">
            <a:schemeClr val="lt1"/>
          </a:fontRef>
        </p:style>
      </p:cxnSp>
      <p:sp>
        <p:nvSpPr>
          <p:cNvPr id="32" name="Textfeld 31">
            <a:extLst>
              <a:ext uri="{FF2B5EF4-FFF2-40B4-BE49-F238E27FC236}">
                <a16:creationId xmlns:a16="http://schemas.microsoft.com/office/drawing/2014/main" id="{3374B7AA-DD24-49DA-A1D3-067B82B7D789}"/>
              </a:ext>
            </a:extLst>
          </p:cNvPr>
          <p:cNvSpPr txBox="1"/>
          <p:nvPr/>
        </p:nvSpPr>
        <p:spPr>
          <a:xfrm>
            <a:off x="7231899" y="2715766"/>
            <a:ext cx="1643485" cy="830997"/>
          </a:xfrm>
          <a:prstGeom prst="rect">
            <a:avLst/>
          </a:prstGeom>
          <a:noFill/>
        </p:spPr>
        <p:txBody>
          <a:bodyPr wrap="square" rtlCol="0">
            <a:spAutoFit/>
          </a:bodyPr>
          <a:lstStyle/>
          <a:p>
            <a:pPr algn="ctr"/>
            <a:r>
              <a:rPr lang="en-US" sz="1200" noProof="0" dirty="0"/>
              <a:t>refine and specify with detailed information about the iterated Prisoner’s Dilemma</a:t>
            </a:r>
          </a:p>
        </p:txBody>
      </p:sp>
      <p:sp>
        <p:nvSpPr>
          <p:cNvPr id="4" name="Textfeld 3">
            <a:extLst>
              <a:ext uri="{FF2B5EF4-FFF2-40B4-BE49-F238E27FC236}">
                <a16:creationId xmlns:a16="http://schemas.microsoft.com/office/drawing/2014/main" id="{481E3CE1-ECE2-E09E-59E9-A8F3E2809B7C}"/>
              </a:ext>
            </a:extLst>
          </p:cNvPr>
          <p:cNvSpPr txBox="1"/>
          <p:nvPr/>
        </p:nvSpPr>
        <p:spPr>
          <a:xfrm>
            <a:off x="6799796" y="4554694"/>
            <a:ext cx="1728187" cy="461665"/>
          </a:xfrm>
          <a:prstGeom prst="rect">
            <a:avLst/>
          </a:prstGeom>
          <a:noFill/>
        </p:spPr>
        <p:txBody>
          <a:bodyPr wrap="square" rtlCol="0">
            <a:spAutoFit/>
          </a:bodyPr>
          <a:lstStyle/>
          <a:p>
            <a:r>
              <a:rPr lang="en-US" sz="1200" noProof="0" dirty="0"/>
              <a:t>prompt generated with the help pf AI</a:t>
            </a:r>
          </a:p>
        </p:txBody>
      </p:sp>
    </p:spTree>
    <p:extLst>
      <p:ext uri="{BB962C8B-B14F-4D97-AF65-F5344CB8AC3E}">
        <p14:creationId xmlns:p14="http://schemas.microsoft.com/office/powerpoint/2010/main" val="11429598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2E618-E156-7275-BEE7-59AB753D8C5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AED6A4E-04A1-8EEF-039D-184E64B6F4E7}"/>
              </a:ext>
            </a:extLst>
          </p:cNvPr>
          <p:cNvSpPr>
            <a:spLocks noGrp="1"/>
          </p:cNvSpPr>
          <p:nvPr>
            <p:ph type="title"/>
          </p:nvPr>
        </p:nvSpPr>
        <p:spPr/>
        <p:txBody>
          <a:bodyPr/>
          <a:lstStyle/>
          <a:p>
            <a:r>
              <a:rPr lang="en-US" noProof="0" dirty="0"/>
              <a:t>Example:</a:t>
            </a:r>
            <a:br>
              <a:rPr lang="en-US" noProof="0" dirty="0"/>
            </a:br>
            <a:r>
              <a:rPr lang="en-US" noProof="0" dirty="0"/>
              <a:t>c) Project structure</a:t>
            </a:r>
          </a:p>
        </p:txBody>
      </p:sp>
      <p:sp>
        <p:nvSpPr>
          <p:cNvPr id="4" name="Rechteck 3">
            <a:extLst>
              <a:ext uri="{FF2B5EF4-FFF2-40B4-BE49-F238E27FC236}">
                <a16:creationId xmlns:a16="http://schemas.microsoft.com/office/drawing/2014/main" id="{AD2AAE45-CF7F-91E1-9C8A-B8AB587D099A}"/>
              </a:ext>
            </a:extLst>
          </p:cNvPr>
          <p:cNvSpPr/>
          <p:nvPr/>
        </p:nvSpPr>
        <p:spPr>
          <a:xfrm>
            <a:off x="2123728" y="1131590"/>
            <a:ext cx="6768752" cy="3888432"/>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200" b="1" u="sng" noProof="0" dirty="0">
                <a:solidFill>
                  <a:schemeClr val="tx1"/>
                </a:solidFill>
              </a:rPr>
              <a:t>Example:</a:t>
            </a:r>
          </a:p>
          <a:p>
            <a:pPr>
              <a:spcAft>
                <a:spcPts val="600"/>
              </a:spcAft>
            </a:pPr>
            <a:r>
              <a:rPr lang="en-US" sz="1200" b="1" noProof="0" dirty="0">
                <a:solidFill>
                  <a:schemeClr val="tx1"/>
                </a:solidFill>
              </a:rPr>
              <a:t>1. Folder Structure (see left-hand side)</a:t>
            </a:r>
          </a:p>
          <a:p>
            <a:pPr>
              <a:spcAft>
                <a:spcPts val="600"/>
              </a:spcAft>
            </a:pPr>
            <a:r>
              <a:rPr lang="en-US" sz="1200" b="1" noProof="0" dirty="0">
                <a:solidFill>
                  <a:schemeClr val="tx1"/>
                </a:solidFill>
              </a:rPr>
              <a:t>2. Purpose of Each File</a:t>
            </a:r>
          </a:p>
          <a:p>
            <a:pPr>
              <a:spcAft>
                <a:spcPts val="600"/>
              </a:spcAft>
            </a:pPr>
            <a:r>
              <a:rPr lang="en-US" sz="1200" b="1" noProof="0" dirty="0">
                <a:solidFill>
                  <a:schemeClr val="tx1"/>
                </a:solidFill>
              </a:rPr>
              <a:t>Root Level:</a:t>
            </a:r>
            <a:endParaRPr lang="en-US" sz="1200" noProof="0" dirty="0">
              <a:solidFill>
                <a:schemeClr val="tx1"/>
              </a:solidFill>
            </a:endParaRPr>
          </a:p>
          <a:p>
            <a:pPr marL="171450" indent="-171450">
              <a:spcAft>
                <a:spcPts val="600"/>
              </a:spcAft>
              <a:buFont typeface="Arial" panose="020B0604020202020204" pitchFamily="34" charset="0"/>
              <a:buChar char="•"/>
            </a:pPr>
            <a:r>
              <a:rPr lang="en-US" sz="1200" b="1" noProof="0" dirty="0">
                <a:solidFill>
                  <a:schemeClr val="tx1"/>
                </a:solidFill>
              </a:rPr>
              <a:t>README.md:</a:t>
            </a:r>
            <a:r>
              <a:rPr lang="en-US" sz="1200" noProof="0" dirty="0">
                <a:solidFill>
                  <a:schemeClr val="tx1"/>
                </a:solidFill>
              </a:rPr>
              <a:t> Project overview, installation instructions, usage examples, and educational goals.</a:t>
            </a:r>
          </a:p>
          <a:p>
            <a:pPr marL="171450" indent="-171450">
              <a:spcAft>
                <a:spcPts val="600"/>
              </a:spcAft>
              <a:buFont typeface="Arial" panose="020B0604020202020204" pitchFamily="34" charset="0"/>
              <a:buChar char="•"/>
            </a:pPr>
            <a:r>
              <a:rPr lang="en-US" sz="1200" b="1" noProof="0" dirty="0">
                <a:solidFill>
                  <a:schemeClr val="tx1"/>
                </a:solidFill>
              </a:rPr>
              <a:t>requirements.txt:</a:t>
            </a:r>
            <a:r>
              <a:rPr lang="en-US" sz="1200" noProof="0" dirty="0">
                <a:solidFill>
                  <a:schemeClr val="tx1"/>
                </a:solidFill>
              </a:rPr>
              <a:t> List of Python dependencies (e.g., matplotlib, </a:t>
            </a:r>
            <a:r>
              <a:rPr lang="en-US" sz="1200" noProof="0" dirty="0" err="1">
                <a:solidFill>
                  <a:schemeClr val="tx1"/>
                </a:solidFill>
              </a:rPr>
              <a:t>numpy</a:t>
            </a:r>
            <a:r>
              <a:rPr lang="en-US" sz="1200" noProof="0" dirty="0">
                <a:solidFill>
                  <a:schemeClr val="tx1"/>
                </a:solidFill>
              </a:rPr>
              <a:t>).</a:t>
            </a:r>
          </a:p>
          <a:p>
            <a:pPr marL="171450" indent="-171450">
              <a:spcAft>
                <a:spcPts val="600"/>
              </a:spcAft>
              <a:buFont typeface="Arial" panose="020B0604020202020204" pitchFamily="34" charset="0"/>
              <a:buChar char="•"/>
            </a:pPr>
            <a:r>
              <a:rPr lang="en-US" sz="1200" b="1" noProof="0" dirty="0">
                <a:solidFill>
                  <a:schemeClr val="tx1"/>
                </a:solidFill>
              </a:rPr>
              <a:t>main.py:</a:t>
            </a:r>
            <a:r>
              <a:rPr lang="en-US" sz="1200" noProof="0" dirty="0">
                <a:solidFill>
                  <a:schemeClr val="tx1"/>
                </a:solidFill>
              </a:rPr>
              <a:t> Entry point for running the simulation; orchestrates the entire process.</a:t>
            </a:r>
          </a:p>
          <a:p>
            <a:pPr>
              <a:spcAft>
                <a:spcPts val="600"/>
              </a:spcAft>
            </a:pPr>
            <a:r>
              <a:rPr lang="en-US" sz="1200" b="1" noProof="0" dirty="0">
                <a:solidFill>
                  <a:schemeClr val="tx1"/>
                </a:solidFill>
              </a:rPr>
              <a:t>config/</a:t>
            </a:r>
            <a:endParaRPr lang="en-US" sz="1200" noProof="0" dirty="0">
              <a:solidFill>
                <a:schemeClr val="tx1"/>
              </a:solidFill>
            </a:endParaRPr>
          </a:p>
          <a:p>
            <a:pPr marL="171450" indent="-171450">
              <a:spcAft>
                <a:spcPts val="600"/>
              </a:spcAft>
              <a:buFont typeface="Arial" panose="020B0604020202020204" pitchFamily="34" charset="0"/>
              <a:buChar char="•"/>
            </a:pPr>
            <a:r>
              <a:rPr lang="en-US" sz="1200" b="1" noProof="0" dirty="0">
                <a:solidFill>
                  <a:schemeClr val="tx1"/>
                </a:solidFill>
              </a:rPr>
              <a:t>config.py:</a:t>
            </a:r>
            <a:r>
              <a:rPr lang="en-US" sz="1200" noProof="0" dirty="0">
                <a:solidFill>
                  <a:schemeClr val="tx1"/>
                </a:solidFill>
              </a:rPr>
              <a:t> Stores all configurable parameters (payoff matrix, number of generations, iterations per match, population size, selection pressure).</a:t>
            </a:r>
          </a:p>
          <a:p>
            <a:pPr>
              <a:spcAft>
                <a:spcPts val="600"/>
              </a:spcAft>
            </a:pPr>
            <a:r>
              <a:rPr lang="en-US" sz="1200" b="1" noProof="0" dirty="0">
                <a:solidFill>
                  <a:schemeClr val="tx1"/>
                </a:solidFill>
              </a:rPr>
              <a:t>core/</a:t>
            </a:r>
            <a:endParaRPr lang="en-US" sz="1200" noProof="0" dirty="0">
              <a:solidFill>
                <a:schemeClr val="tx1"/>
              </a:solidFill>
            </a:endParaRPr>
          </a:p>
          <a:p>
            <a:pPr marL="171450" indent="-171450">
              <a:spcAft>
                <a:spcPts val="600"/>
              </a:spcAft>
              <a:buFont typeface="Arial" panose="020B0604020202020204" pitchFamily="34" charset="0"/>
              <a:buChar char="•"/>
            </a:pPr>
            <a:r>
              <a:rPr lang="en-US" sz="1200" b="1" noProof="0" dirty="0">
                <a:solidFill>
                  <a:schemeClr val="tx1"/>
                </a:solidFill>
              </a:rPr>
              <a:t>init.py:</a:t>
            </a:r>
            <a:r>
              <a:rPr lang="en-US" sz="1200" noProof="0" dirty="0">
                <a:solidFill>
                  <a:schemeClr val="tx1"/>
                </a:solidFill>
              </a:rPr>
              <a:t> Makes the directory a Python package.</a:t>
            </a:r>
          </a:p>
          <a:p>
            <a:pPr marL="171450" indent="-171450">
              <a:spcAft>
                <a:spcPts val="600"/>
              </a:spcAft>
              <a:buFont typeface="Arial" panose="020B0604020202020204" pitchFamily="34" charset="0"/>
              <a:buChar char="•"/>
            </a:pPr>
            <a:r>
              <a:rPr lang="en-US" sz="1200" b="1" noProof="0" dirty="0">
                <a:solidFill>
                  <a:schemeClr val="tx1"/>
                </a:solidFill>
              </a:rPr>
              <a:t>game.py:</a:t>
            </a:r>
            <a:r>
              <a:rPr lang="en-US" sz="1200" noProof="0" dirty="0">
                <a:solidFill>
                  <a:schemeClr val="tx1"/>
                </a:solidFill>
              </a:rPr>
              <a:t> Implements the basic prisoner's dilemma game logic (single interaction, payoff calculation).</a:t>
            </a:r>
          </a:p>
          <a:p>
            <a:pPr marL="171450" indent="-171450">
              <a:spcAft>
                <a:spcPts val="600"/>
              </a:spcAft>
              <a:buFont typeface="Arial" panose="020B0604020202020204" pitchFamily="34" charset="0"/>
              <a:buChar char="•"/>
            </a:pPr>
            <a:r>
              <a:rPr lang="en-US" sz="1200" b="1" noProof="0" dirty="0">
                <a:solidFill>
                  <a:schemeClr val="tx1"/>
                </a:solidFill>
              </a:rPr>
              <a:t>tournament.py:</a:t>
            </a:r>
            <a:r>
              <a:rPr lang="en-US" sz="1200" noProof="0" dirty="0">
                <a:solidFill>
                  <a:schemeClr val="tx1"/>
                </a:solidFill>
              </a:rPr>
              <a:t> Manages round-robin tournaments where all strategies play against each other.</a:t>
            </a:r>
          </a:p>
          <a:p>
            <a:pPr marL="171450" indent="-171450">
              <a:spcAft>
                <a:spcPts val="600"/>
              </a:spcAft>
              <a:buFont typeface="Arial" panose="020B0604020202020204" pitchFamily="34" charset="0"/>
              <a:buChar char="•"/>
            </a:pPr>
            <a:r>
              <a:rPr lang="en-US" sz="1200" b="1" noProof="0" dirty="0">
                <a:solidFill>
                  <a:schemeClr val="tx1"/>
                </a:solidFill>
              </a:rPr>
              <a:t>evolution.py:</a:t>
            </a:r>
            <a:r>
              <a:rPr lang="en-US" sz="1200" noProof="0" dirty="0">
                <a:solidFill>
                  <a:schemeClr val="tx1"/>
                </a:solidFill>
              </a:rPr>
              <a:t> Handles evolutionary updates (selection, reproduction, replacement of strategies).</a:t>
            </a:r>
          </a:p>
        </p:txBody>
      </p:sp>
      <p:pic>
        <p:nvPicPr>
          <p:cNvPr id="7" name="Grafik 6">
            <a:extLst>
              <a:ext uri="{FF2B5EF4-FFF2-40B4-BE49-F238E27FC236}">
                <a16:creationId xmlns:a16="http://schemas.microsoft.com/office/drawing/2014/main" id="{9B105E28-0212-7F70-F2AA-B15C719EE9AE}"/>
              </a:ext>
            </a:extLst>
          </p:cNvPr>
          <p:cNvPicPr>
            <a:picLocks noChangeAspect="1"/>
          </p:cNvPicPr>
          <p:nvPr/>
        </p:nvPicPr>
        <p:blipFill>
          <a:blip r:embed="rId2"/>
          <a:srcRect r="41667"/>
          <a:stretch>
            <a:fillRect/>
          </a:stretch>
        </p:blipFill>
        <p:spPr>
          <a:xfrm>
            <a:off x="251520" y="1131590"/>
            <a:ext cx="1512168" cy="3888432"/>
          </a:xfrm>
          <a:prstGeom prst="rect">
            <a:avLst/>
          </a:prstGeom>
        </p:spPr>
      </p:pic>
    </p:spTree>
    <p:extLst>
      <p:ext uri="{BB962C8B-B14F-4D97-AF65-F5344CB8AC3E}">
        <p14:creationId xmlns:p14="http://schemas.microsoft.com/office/powerpoint/2010/main" val="35659023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12C87-117C-FA08-E5A1-53976298EBE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B854C09-60C5-773C-C466-A6D39F5A0CB0}"/>
              </a:ext>
            </a:extLst>
          </p:cNvPr>
          <p:cNvSpPr>
            <a:spLocks noGrp="1"/>
          </p:cNvSpPr>
          <p:nvPr>
            <p:ph type="title"/>
          </p:nvPr>
        </p:nvSpPr>
        <p:spPr/>
        <p:txBody>
          <a:bodyPr/>
          <a:lstStyle/>
          <a:p>
            <a:r>
              <a:rPr lang="en-US" noProof="0" dirty="0"/>
              <a:t>Example:</a:t>
            </a:r>
            <a:br>
              <a:rPr lang="en-US" noProof="0" dirty="0"/>
            </a:br>
            <a:r>
              <a:rPr lang="en-US" noProof="0" dirty="0"/>
              <a:t>c) Project structure</a:t>
            </a:r>
          </a:p>
        </p:txBody>
      </p:sp>
      <p:sp>
        <p:nvSpPr>
          <p:cNvPr id="4" name="Rechteck 3">
            <a:extLst>
              <a:ext uri="{FF2B5EF4-FFF2-40B4-BE49-F238E27FC236}">
                <a16:creationId xmlns:a16="http://schemas.microsoft.com/office/drawing/2014/main" id="{B8680666-5794-0CBB-29B9-8EE860063343}"/>
              </a:ext>
            </a:extLst>
          </p:cNvPr>
          <p:cNvSpPr/>
          <p:nvPr/>
        </p:nvSpPr>
        <p:spPr>
          <a:xfrm>
            <a:off x="2123728" y="1131590"/>
            <a:ext cx="6768752" cy="3888432"/>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200" b="1" noProof="0" dirty="0">
                <a:solidFill>
                  <a:schemeClr val="tx1"/>
                </a:solidFill>
              </a:rPr>
              <a:t>strategies/</a:t>
            </a:r>
            <a:endParaRPr lang="en-US" sz="1200" noProof="0" dirty="0">
              <a:solidFill>
                <a:schemeClr val="tx1"/>
              </a:solidFill>
            </a:endParaRPr>
          </a:p>
          <a:p>
            <a:pPr marL="171450" indent="-171450">
              <a:spcAft>
                <a:spcPts val="600"/>
              </a:spcAft>
              <a:buFont typeface="Arial" panose="020B0604020202020204" pitchFamily="34" charset="0"/>
              <a:buChar char="•"/>
            </a:pPr>
            <a:r>
              <a:rPr lang="en-US" sz="1200" b="1" noProof="0" dirty="0">
                <a:solidFill>
                  <a:schemeClr val="tx1"/>
                </a:solidFill>
              </a:rPr>
              <a:t>init.py:</a:t>
            </a:r>
            <a:r>
              <a:rPr lang="en-US" sz="1200" noProof="0" dirty="0">
                <a:solidFill>
                  <a:schemeClr val="tx1"/>
                </a:solidFill>
              </a:rPr>
              <a:t> Makes the directory a Python package; can include a strategy registry.</a:t>
            </a:r>
          </a:p>
          <a:p>
            <a:pPr marL="171450" indent="-171450">
              <a:spcAft>
                <a:spcPts val="600"/>
              </a:spcAft>
              <a:buFont typeface="Arial" panose="020B0604020202020204" pitchFamily="34" charset="0"/>
              <a:buChar char="•"/>
            </a:pPr>
            <a:r>
              <a:rPr lang="en-US" sz="1200" b="1" noProof="0" dirty="0">
                <a:solidFill>
                  <a:schemeClr val="tx1"/>
                </a:solidFill>
              </a:rPr>
              <a:t>base_strategy.py:</a:t>
            </a:r>
            <a:r>
              <a:rPr lang="en-US" sz="1200" noProof="0" dirty="0">
                <a:solidFill>
                  <a:schemeClr val="tx1"/>
                </a:solidFill>
              </a:rPr>
              <a:t> Defines the abstract base class/interface that all strategies must implement.</a:t>
            </a:r>
          </a:p>
          <a:p>
            <a:pPr marL="171450" indent="-171450">
              <a:spcAft>
                <a:spcPts val="600"/>
              </a:spcAft>
              <a:buFont typeface="Arial" panose="020B0604020202020204" pitchFamily="34" charset="0"/>
              <a:buChar char="•"/>
            </a:pPr>
            <a:r>
              <a:rPr lang="en-US" sz="1200" b="1" noProof="0" dirty="0">
                <a:solidFill>
                  <a:schemeClr val="tx1"/>
                </a:solidFill>
              </a:rPr>
              <a:t>always_cooperate.py:</a:t>
            </a:r>
            <a:r>
              <a:rPr lang="en-US" sz="1200" noProof="0" dirty="0">
                <a:solidFill>
                  <a:schemeClr val="tx1"/>
                </a:solidFill>
              </a:rPr>
              <a:t> Strategy that always cooperates.</a:t>
            </a:r>
          </a:p>
          <a:p>
            <a:pPr marL="171450" indent="-171450">
              <a:spcAft>
                <a:spcPts val="600"/>
              </a:spcAft>
              <a:buFont typeface="Arial" panose="020B0604020202020204" pitchFamily="34" charset="0"/>
              <a:buChar char="•"/>
            </a:pPr>
            <a:r>
              <a:rPr lang="en-US" sz="1200" b="1" noProof="0" dirty="0">
                <a:solidFill>
                  <a:schemeClr val="tx1"/>
                </a:solidFill>
              </a:rPr>
              <a:t>always_defect.py:</a:t>
            </a:r>
            <a:r>
              <a:rPr lang="en-US" sz="1200" noProof="0" dirty="0">
                <a:solidFill>
                  <a:schemeClr val="tx1"/>
                </a:solidFill>
              </a:rPr>
              <a:t> Strategy that always defects.</a:t>
            </a:r>
          </a:p>
          <a:p>
            <a:pPr marL="171450" indent="-171450">
              <a:spcAft>
                <a:spcPts val="600"/>
              </a:spcAft>
              <a:buFont typeface="Arial" panose="020B0604020202020204" pitchFamily="34" charset="0"/>
              <a:buChar char="•"/>
            </a:pPr>
            <a:r>
              <a:rPr lang="en-US" sz="1200" b="1" noProof="0" dirty="0">
                <a:solidFill>
                  <a:schemeClr val="tx1"/>
                </a:solidFill>
              </a:rPr>
              <a:t>tit_for_tat.py:</a:t>
            </a:r>
            <a:r>
              <a:rPr lang="en-US" sz="1200" noProof="0" dirty="0">
                <a:solidFill>
                  <a:schemeClr val="tx1"/>
                </a:solidFill>
              </a:rPr>
              <a:t> Strategy that copies the opponent's last move.</a:t>
            </a:r>
          </a:p>
          <a:p>
            <a:pPr marL="171450" indent="-171450">
              <a:spcAft>
                <a:spcPts val="600"/>
              </a:spcAft>
              <a:buFont typeface="Arial" panose="020B0604020202020204" pitchFamily="34" charset="0"/>
              <a:buChar char="•"/>
            </a:pPr>
            <a:r>
              <a:rPr lang="en-US" sz="1200" b="1" noProof="0" dirty="0">
                <a:solidFill>
                  <a:schemeClr val="tx1"/>
                </a:solidFill>
              </a:rPr>
              <a:t>random_strategy.py:</a:t>
            </a:r>
            <a:r>
              <a:rPr lang="en-US" sz="1200" noProof="0" dirty="0">
                <a:solidFill>
                  <a:schemeClr val="tx1"/>
                </a:solidFill>
              </a:rPr>
              <a:t> Strategy that randomly chooses cooperation or defection.</a:t>
            </a:r>
          </a:p>
          <a:p>
            <a:pPr marL="171450" indent="-171450">
              <a:spcAft>
                <a:spcPts val="600"/>
              </a:spcAft>
              <a:buFont typeface="Arial" panose="020B0604020202020204" pitchFamily="34" charset="0"/>
              <a:buChar char="•"/>
            </a:pPr>
            <a:r>
              <a:rPr lang="en-US" sz="1200" b="1" noProof="0" dirty="0">
                <a:solidFill>
                  <a:schemeClr val="tx1"/>
                </a:solidFill>
              </a:rPr>
              <a:t>grudger.py:</a:t>
            </a:r>
            <a:r>
              <a:rPr lang="en-US" sz="1200" noProof="0" dirty="0">
                <a:solidFill>
                  <a:schemeClr val="tx1"/>
                </a:solidFill>
              </a:rPr>
              <a:t> Strategy that cooperates until the opponent defects, then always defects.</a:t>
            </a:r>
          </a:p>
          <a:p>
            <a:pPr>
              <a:spcAft>
                <a:spcPts val="600"/>
              </a:spcAft>
            </a:pPr>
            <a:r>
              <a:rPr lang="en-US" sz="1200" b="1" noProof="0" dirty="0">
                <a:solidFill>
                  <a:schemeClr val="tx1"/>
                </a:solidFill>
              </a:rPr>
              <a:t>output/</a:t>
            </a:r>
            <a:endParaRPr lang="en-US" sz="1200" noProof="0" dirty="0">
              <a:solidFill>
                <a:schemeClr val="tx1"/>
              </a:solidFill>
            </a:endParaRPr>
          </a:p>
          <a:p>
            <a:pPr marL="171450" indent="-171450">
              <a:spcAft>
                <a:spcPts val="600"/>
              </a:spcAft>
              <a:buFont typeface="Arial" panose="020B0604020202020204" pitchFamily="34" charset="0"/>
              <a:buChar char="•"/>
            </a:pPr>
            <a:r>
              <a:rPr lang="en-US" sz="1200" b="1" noProof="0" dirty="0">
                <a:solidFill>
                  <a:schemeClr val="tx1"/>
                </a:solidFill>
              </a:rPr>
              <a:t>init.py:</a:t>
            </a:r>
            <a:r>
              <a:rPr lang="en-US" sz="1200" noProof="0" dirty="0">
                <a:solidFill>
                  <a:schemeClr val="tx1"/>
                </a:solidFill>
              </a:rPr>
              <a:t> Makes the directory a Python package.</a:t>
            </a:r>
          </a:p>
          <a:p>
            <a:pPr marL="171450" indent="-171450">
              <a:spcAft>
                <a:spcPts val="600"/>
              </a:spcAft>
              <a:buFont typeface="Arial" panose="020B0604020202020204" pitchFamily="34" charset="0"/>
              <a:buChar char="•"/>
            </a:pPr>
            <a:r>
              <a:rPr lang="en-US" sz="1200" b="1" noProof="0" dirty="0">
                <a:solidFill>
                  <a:schemeClr val="tx1"/>
                </a:solidFill>
              </a:rPr>
              <a:t>visualizer.py:</a:t>
            </a:r>
            <a:r>
              <a:rPr lang="en-US" sz="1200" noProof="0" dirty="0">
                <a:solidFill>
                  <a:schemeClr val="tx1"/>
                </a:solidFill>
              </a:rPr>
              <a:t> Creates graphs and charts (e.g., strategy population over generations, average scores).</a:t>
            </a:r>
          </a:p>
          <a:p>
            <a:pPr marL="171450" indent="-171450">
              <a:spcAft>
                <a:spcPts val="600"/>
              </a:spcAft>
              <a:buFont typeface="Arial" panose="020B0604020202020204" pitchFamily="34" charset="0"/>
              <a:buChar char="•"/>
            </a:pPr>
            <a:r>
              <a:rPr lang="en-US" sz="1200" b="1" noProof="0" dirty="0">
                <a:solidFill>
                  <a:schemeClr val="tx1"/>
                </a:solidFill>
              </a:rPr>
              <a:t>reporter.py:</a:t>
            </a:r>
            <a:r>
              <a:rPr lang="en-US" sz="1200" noProof="0" dirty="0">
                <a:solidFill>
                  <a:schemeClr val="tx1"/>
                </a:solidFill>
              </a:rPr>
              <a:t> Generates text-based reports and summaries of simulation results.</a:t>
            </a:r>
          </a:p>
        </p:txBody>
      </p:sp>
      <p:pic>
        <p:nvPicPr>
          <p:cNvPr id="7" name="Grafik 6">
            <a:extLst>
              <a:ext uri="{FF2B5EF4-FFF2-40B4-BE49-F238E27FC236}">
                <a16:creationId xmlns:a16="http://schemas.microsoft.com/office/drawing/2014/main" id="{8258175A-0835-5844-D0DF-00B4738E1865}"/>
              </a:ext>
            </a:extLst>
          </p:cNvPr>
          <p:cNvPicPr>
            <a:picLocks noChangeAspect="1"/>
          </p:cNvPicPr>
          <p:nvPr/>
        </p:nvPicPr>
        <p:blipFill>
          <a:blip r:embed="rId2"/>
          <a:srcRect r="41667"/>
          <a:stretch>
            <a:fillRect/>
          </a:stretch>
        </p:blipFill>
        <p:spPr>
          <a:xfrm>
            <a:off x="251520" y="1131590"/>
            <a:ext cx="1512168" cy="3888432"/>
          </a:xfrm>
          <a:prstGeom prst="rect">
            <a:avLst/>
          </a:prstGeom>
        </p:spPr>
      </p:pic>
    </p:spTree>
    <p:extLst>
      <p:ext uri="{BB962C8B-B14F-4D97-AF65-F5344CB8AC3E}">
        <p14:creationId xmlns:p14="http://schemas.microsoft.com/office/powerpoint/2010/main" val="3222321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DB633-AAC9-39D0-7E8C-BF9C35654EB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5B51195-5740-58C2-737A-EBFF82F6B2DC}"/>
              </a:ext>
            </a:extLst>
          </p:cNvPr>
          <p:cNvSpPr>
            <a:spLocks noGrp="1"/>
          </p:cNvSpPr>
          <p:nvPr>
            <p:ph type="title"/>
          </p:nvPr>
        </p:nvSpPr>
        <p:spPr/>
        <p:txBody>
          <a:bodyPr/>
          <a:lstStyle/>
          <a:p>
            <a:r>
              <a:rPr lang="en-US" noProof="0" dirty="0"/>
              <a:t>Example:</a:t>
            </a:r>
            <a:br>
              <a:rPr lang="en-US" noProof="0" dirty="0"/>
            </a:br>
            <a:r>
              <a:rPr lang="en-US" noProof="0" dirty="0"/>
              <a:t>c) Project structure</a:t>
            </a:r>
          </a:p>
        </p:txBody>
      </p:sp>
      <p:sp>
        <p:nvSpPr>
          <p:cNvPr id="4" name="Rechteck 3">
            <a:extLst>
              <a:ext uri="{FF2B5EF4-FFF2-40B4-BE49-F238E27FC236}">
                <a16:creationId xmlns:a16="http://schemas.microsoft.com/office/drawing/2014/main" id="{410D1D59-1FAD-5E3B-E8BD-A9F0298FE29C}"/>
              </a:ext>
            </a:extLst>
          </p:cNvPr>
          <p:cNvSpPr/>
          <p:nvPr/>
        </p:nvSpPr>
        <p:spPr>
          <a:xfrm>
            <a:off x="2123728" y="1131590"/>
            <a:ext cx="2376264" cy="3888432"/>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200" b="1" noProof="0" dirty="0">
                <a:solidFill>
                  <a:schemeClr val="tx1"/>
                </a:solidFill>
              </a:rPr>
              <a:t>tests/</a:t>
            </a:r>
            <a:endParaRPr lang="en-US" sz="1200" noProof="0" dirty="0">
              <a:solidFill>
                <a:schemeClr val="tx1"/>
              </a:solidFill>
            </a:endParaRPr>
          </a:p>
          <a:p>
            <a:pPr marL="171450" indent="-171450">
              <a:spcAft>
                <a:spcPts val="600"/>
              </a:spcAft>
              <a:buFont typeface="Arial" panose="020B0604020202020204" pitchFamily="34" charset="0"/>
              <a:buChar char="•"/>
            </a:pPr>
            <a:r>
              <a:rPr lang="en-US" sz="1200" b="1" noProof="0" dirty="0">
                <a:solidFill>
                  <a:schemeClr val="tx1"/>
                </a:solidFill>
              </a:rPr>
              <a:t>init.py:</a:t>
            </a:r>
            <a:r>
              <a:rPr lang="en-US" sz="1200" noProof="0" dirty="0">
                <a:solidFill>
                  <a:schemeClr val="tx1"/>
                </a:solidFill>
              </a:rPr>
              <a:t> Makes the directory a Python package.</a:t>
            </a:r>
          </a:p>
          <a:p>
            <a:pPr marL="171450" indent="-171450">
              <a:spcAft>
                <a:spcPts val="600"/>
              </a:spcAft>
              <a:buFont typeface="Arial" panose="020B0604020202020204" pitchFamily="34" charset="0"/>
              <a:buChar char="•"/>
            </a:pPr>
            <a:r>
              <a:rPr lang="en-US" sz="1200" b="1" noProof="0" dirty="0">
                <a:solidFill>
                  <a:schemeClr val="tx1"/>
                </a:solidFill>
              </a:rPr>
              <a:t>test_game.py:</a:t>
            </a:r>
            <a:r>
              <a:rPr lang="en-US" sz="1200" noProof="0" dirty="0">
                <a:solidFill>
                  <a:schemeClr val="tx1"/>
                </a:solidFill>
              </a:rPr>
              <a:t> Unit tests for game logic.</a:t>
            </a:r>
          </a:p>
          <a:p>
            <a:pPr marL="171450" indent="-171450">
              <a:spcAft>
                <a:spcPts val="600"/>
              </a:spcAft>
              <a:buFont typeface="Arial" panose="020B0604020202020204" pitchFamily="34" charset="0"/>
              <a:buChar char="•"/>
            </a:pPr>
            <a:r>
              <a:rPr lang="en-US" sz="1200" b="1" noProof="0" dirty="0">
                <a:solidFill>
                  <a:schemeClr val="tx1"/>
                </a:solidFill>
              </a:rPr>
              <a:t>test_tournament.py:</a:t>
            </a:r>
            <a:r>
              <a:rPr lang="en-US" sz="1200" noProof="0" dirty="0">
                <a:solidFill>
                  <a:schemeClr val="tx1"/>
                </a:solidFill>
              </a:rPr>
              <a:t> Unit tests for tournament mechanics.</a:t>
            </a:r>
          </a:p>
          <a:p>
            <a:pPr marL="171450" indent="-171450">
              <a:spcAft>
                <a:spcPts val="600"/>
              </a:spcAft>
              <a:buFont typeface="Arial" panose="020B0604020202020204" pitchFamily="34" charset="0"/>
              <a:buChar char="•"/>
            </a:pPr>
            <a:r>
              <a:rPr lang="en-US" sz="1200" b="1" noProof="0" dirty="0">
                <a:solidFill>
                  <a:schemeClr val="tx1"/>
                </a:solidFill>
              </a:rPr>
              <a:t>test_evolution.py:</a:t>
            </a:r>
            <a:r>
              <a:rPr lang="en-US" sz="1200" noProof="0" dirty="0">
                <a:solidFill>
                  <a:schemeClr val="tx1"/>
                </a:solidFill>
              </a:rPr>
              <a:t> Unit tests for evolutionary updates.</a:t>
            </a:r>
          </a:p>
          <a:p>
            <a:pPr marL="171450" indent="-171450">
              <a:spcAft>
                <a:spcPts val="600"/>
              </a:spcAft>
              <a:buFont typeface="Arial" panose="020B0604020202020204" pitchFamily="34" charset="0"/>
              <a:buChar char="•"/>
            </a:pPr>
            <a:r>
              <a:rPr lang="en-US" sz="1200" b="1" noProof="0" dirty="0">
                <a:solidFill>
                  <a:schemeClr val="tx1"/>
                </a:solidFill>
              </a:rPr>
              <a:t>test_strategies.py:</a:t>
            </a:r>
            <a:r>
              <a:rPr lang="en-US" sz="1200" noProof="0" dirty="0">
                <a:solidFill>
                  <a:schemeClr val="tx1"/>
                </a:solidFill>
              </a:rPr>
              <a:t> Unit tests for individual strategies.</a:t>
            </a:r>
          </a:p>
        </p:txBody>
      </p:sp>
      <p:pic>
        <p:nvPicPr>
          <p:cNvPr id="7" name="Grafik 6">
            <a:extLst>
              <a:ext uri="{FF2B5EF4-FFF2-40B4-BE49-F238E27FC236}">
                <a16:creationId xmlns:a16="http://schemas.microsoft.com/office/drawing/2014/main" id="{23BF93C0-311F-2183-0850-D79585F52DC2}"/>
              </a:ext>
            </a:extLst>
          </p:cNvPr>
          <p:cNvPicPr>
            <a:picLocks noChangeAspect="1"/>
          </p:cNvPicPr>
          <p:nvPr/>
        </p:nvPicPr>
        <p:blipFill>
          <a:blip r:embed="rId2"/>
          <a:srcRect r="41667"/>
          <a:stretch>
            <a:fillRect/>
          </a:stretch>
        </p:blipFill>
        <p:spPr>
          <a:xfrm>
            <a:off x="251520" y="1131590"/>
            <a:ext cx="1512168" cy="3888432"/>
          </a:xfrm>
          <a:prstGeom prst="rect">
            <a:avLst/>
          </a:prstGeom>
        </p:spPr>
      </p:pic>
      <p:sp>
        <p:nvSpPr>
          <p:cNvPr id="3" name="Rechteck 2">
            <a:extLst>
              <a:ext uri="{FF2B5EF4-FFF2-40B4-BE49-F238E27FC236}">
                <a16:creationId xmlns:a16="http://schemas.microsoft.com/office/drawing/2014/main" id="{E37E7350-66B2-9A81-442D-407BC4CD536B}"/>
              </a:ext>
            </a:extLst>
          </p:cNvPr>
          <p:cNvSpPr/>
          <p:nvPr/>
        </p:nvSpPr>
        <p:spPr>
          <a:xfrm>
            <a:off x="4644008" y="1131590"/>
            <a:ext cx="4248472" cy="3888432"/>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200" b="1" noProof="0" dirty="0">
                <a:solidFill>
                  <a:schemeClr val="tx1"/>
                </a:solidFill>
              </a:rPr>
              <a:t>3. Recommended Implementation Order</a:t>
            </a:r>
          </a:p>
          <a:p>
            <a:pPr>
              <a:spcAft>
                <a:spcPts val="600"/>
              </a:spcAft>
            </a:pPr>
            <a:endParaRPr lang="en-US" sz="500" b="1" noProof="0" dirty="0">
              <a:solidFill>
                <a:schemeClr val="tx1"/>
              </a:solidFill>
            </a:endParaRPr>
          </a:p>
          <a:p>
            <a:pPr>
              <a:spcAft>
                <a:spcPts val="600"/>
              </a:spcAft>
            </a:pPr>
            <a:r>
              <a:rPr lang="en-US" sz="1200" b="1" noProof="0" dirty="0">
                <a:solidFill>
                  <a:schemeClr val="tx1"/>
                </a:solidFill>
              </a:rPr>
              <a:t>Phase 1a: Baseline Tournament (Core Game Mechanics)</a:t>
            </a:r>
            <a:endParaRPr lang="en-US" sz="1200" noProof="0" dirty="0">
              <a:solidFill>
                <a:schemeClr val="tx1"/>
              </a:solidFill>
            </a:endParaRPr>
          </a:p>
          <a:p>
            <a:pPr marL="266700" indent="-266700">
              <a:spcAft>
                <a:spcPts val="600"/>
              </a:spcAft>
              <a:buFont typeface="+mj-lt"/>
              <a:buAutoNum type="arabicPeriod"/>
            </a:pPr>
            <a:r>
              <a:rPr lang="en-US" sz="1200" b="1" noProof="0" dirty="0">
                <a:solidFill>
                  <a:schemeClr val="tx1"/>
                </a:solidFill>
              </a:rPr>
              <a:t>strategies/base_strategy.py</a:t>
            </a:r>
            <a:r>
              <a:rPr lang="en-US" sz="1200" noProof="0" dirty="0">
                <a:solidFill>
                  <a:schemeClr val="tx1"/>
                </a:solidFill>
              </a:rPr>
              <a:t> – Create the strategy interface.</a:t>
            </a:r>
          </a:p>
          <a:p>
            <a:pPr marL="266700" indent="-266700">
              <a:spcAft>
                <a:spcPts val="600"/>
              </a:spcAft>
              <a:buFont typeface="+mj-lt"/>
              <a:buAutoNum type="arabicPeriod"/>
            </a:pPr>
            <a:r>
              <a:rPr lang="en-US" sz="1200" b="1" noProof="0" dirty="0">
                <a:solidFill>
                  <a:schemeClr val="tx1"/>
                </a:solidFill>
              </a:rPr>
              <a:t>strategies/always_cooperate.py</a:t>
            </a:r>
            <a:r>
              <a:rPr lang="en-US" sz="1200" noProof="0" dirty="0">
                <a:solidFill>
                  <a:schemeClr val="tx1"/>
                </a:solidFill>
              </a:rPr>
              <a:t> – Implement simplest strategy.</a:t>
            </a:r>
          </a:p>
          <a:p>
            <a:pPr marL="266700" indent="-266700">
              <a:spcAft>
                <a:spcPts val="600"/>
              </a:spcAft>
              <a:buFont typeface="+mj-lt"/>
              <a:buAutoNum type="arabicPeriod"/>
            </a:pPr>
            <a:r>
              <a:rPr lang="en-US" sz="1200" b="1" noProof="0" dirty="0">
                <a:solidFill>
                  <a:schemeClr val="tx1"/>
                </a:solidFill>
              </a:rPr>
              <a:t>strategies/always_defect.py</a:t>
            </a:r>
            <a:r>
              <a:rPr lang="en-US" sz="1200" noProof="0" dirty="0">
                <a:solidFill>
                  <a:schemeClr val="tx1"/>
                </a:solidFill>
              </a:rPr>
              <a:t> – Implement second simplest strategy.</a:t>
            </a:r>
          </a:p>
          <a:p>
            <a:pPr marL="266700" indent="-266700">
              <a:spcAft>
                <a:spcPts val="600"/>
              </a:spcAft>
              <a:buFont typeface="+mj-lt"/>
              <a:buAutoNum type="arabicPeriod"/>
            </a:pPr>
            <a:r>
              <a:rPr lang="en-US" sz="1200" b="1" noProof="0" dirty="0">
                <a:solidFill>
                  <a:schemeClr val="tx1"/>
                </a:solidFill>
              </a:rPr>
              <a:t>config/config.py</a:t>
            </a:r>
            <a:r>
              <a:rPr lang="en-US" sz="1200" noProof="0" dirty="0">
                <a:solidFill>
                  <a:schemeClr val="tx1"/>
                </a:solidFill>
              </a:rPr>
              <a:t> – Define all parameters first.</a:t>
            </a:r>
          </a:p>
          <a:p>
            <a:pPr marL="266700" indent="-266700">
              <a:spcAft>
                <a:spcPts val="600"/>
              </a:spcAft>
              <a:buFont typeface="+mj-lt"/>
              <a:buAutoNum type="arabicPeriod"/>
            </a:pPr>
            <a:r>
              <a:rPr lang="en-US" sz="1200" b="1" noProof="0" dirty="0">
                <a:solidFill>
                  <a:schemeClr val="tx1"/>
                </a:solidFill>
              </a:rPr>
              <a:t>core/game.py</a:t>
            </a:r>
            <a:r>
              <a:rPr lang="en-US" sz="1200" noProof="0" dirty="0">
                <a:solidFill>
                  <a:schemeClr val="tx1"/>
                </a:solidFill>
              </a:rPr>
              <a:t> – Implement basic game logic for single interactions.</a:t>
            </a:r>
          </a:p>
          <a:p>
            <a:pPr marL="266700" indent="-266700">
              <a:spcAft>
                <a:spcPts val="600"/>
              </a:spcAft>
              <a:buFont typeface="+mj-lt"/>
              <a:buAutoNum type="arabicPeriod"/>
            </a:pPr>
            <a:r>
              <a:rPr lang="en-US" sz="1200" b="1" noProof="0" dirty="0">
                <a:solidFill>
                  <a:schemeClr val="tx1"/>
                </a:solidFill>
              </a:rPr>
              <a:t>output/reporter.py</a:t>
            </a:r>
            <a:r>
              <a:rPr lang="en-US" sz="1200" noProof="0" dirty="0">
                <a:solidFill>
                  <a:schemeClr val="tx1"/>
                </a:solidFill>
              </a:rPr>
              <a:t> – Generate 1st version of a text-based output.</a:t>
            </a:r>
          </a:p>
          <a:p>
            <a:pPr marL="266700" indent="-266700">
              <a:spcAft>
                <a:spcPts val="600"/>
              </a:spcAft>
              <a:buFont typeface="+mj-lt"/>
              <a:buAutoNum type="arabicPeriod"/>
            </a:pPr>
            <a:r>
              <a:rPr lang="en-US" sz="1200" b="1" noProof="0" dirty="0">
                <a:solidFill>
                  <a:schemeClr val="tx1"/>
                </a:solidFill>
              </a:rPr>
              <a:t>output/visualizer.py</a:t>
            </a:r>
            <a:r>
              <a:rPr lang="en-US" sz="1200" noProof="0" dirty="0">
                <a:solidFill>
                  <a:schemeClr val="tx1"/>
                </a:solidFill>
              </a:rPr>
              <a:t> – Create 1st version of visualizations.</a:t>
            </a:r>
          </a:p>
          <a:p>
            <a:pPr marL="266700" indent="-266700">
              <a:spcAft>
                <a:spcPts val="600"/>
              </a:spcAft>
              <a:buFont typeface="+mj-lt"/>
              <a:buAutoNum type="arabicPeriod"/>
            </a:pPr>
            <a:r>
              <a:rPr lang="en-US" sz="1200" b="1" noProof="0" dirty="0">
                <a:solidFill>
                  <a:schemeClr val="tx1"/>
                </a:solidFill>
              </a:rPr>
              <a:t>main.py</a:t>
            </a:r>
            <a:r>
              <a:rPr lang="en-US" sz="1200" noProof="0" dirty="0">
                <a:solidFill>
                  <a:schemeClr val="tx1"/>
                </a:solidFill>
              </a:rPr>
              <a:t> – Create the 1st version of the main simulation loop (such that a testing of this phase can be conducted).</a:t>
            </a:r>
          </a:p>
        </p:txBody>
      </p:sp>
    </p:spTree>
    <p:extLst>
      <p:ext uri="{BB962C8B-B14F-4D97-AF65-F5344CB8AC3E}">
        <p14:creationId xmlns:p14="http://schemas.microsoft.com/office/powerpoint/2010/main" val="1940695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F02B9-C2AF-1BDE-E16B-EDE2FB5D086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4151D15-87BE-7EB9-348F-677F50AFBD60}"/>
              </a:ext>
            </a:extLst>
          </p:cNvPr>
          <p:cNvSpPr>
            <a:spLocks noGrp="1"/>
          </p:cNvSpPr>
          <p:nvPr>
            <p:ph type="title"/>
          </p:nvPr>
        </p:nvSpPr>
        <p:spPr/>
        <p:txBody>
          <a:bodyPr/>
          <a:lstStyle/>
          <a:p>
            <a:r>
              <a:rPr lang="en-US" noProof="0" dirty="0"/>
              <a:t>Example:</a:t>
            </a:r>
            <a:br>
              <a:rPr lang="en-US" noProof="0" dirty="0"/>
            </a:br>
            <a:r>
              <a:rPr lang="en-US" noProof="0" dirty="0"/>
              <a:t>c) Project structure</a:t>
            </a:r>
          </a:p>
        </p:txBody>
      </p:sp>
      <p:sp>
        <p:nvSpPr>
          <p:cNvPr id="3" name="Rechteck 2">
            <a:extLst>
              <a:ext uri="{FF2B5EF4-FFF2-40B4-BE49-F238E27FC236}">
                <a16:creationId xmlns:a16="http://schemas.microsoft.com/office/drawing/2014/main" id="{6E94A0FA-9993-0397-F809-F8C1A2B7AD62}"/>
              </a:ext>
            </a:extLst>
          </p:cNvPr>
          <p:cNvSpPr/>
          <p:nvPr/>
        </p:nvSpPr>
        <p:spPr>
          <a:xfrm>
            <a:off x="251520" y="1131590"/>
            <a:ext cx="4248472" cy="3888432"/>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200" b="1" noProof="0" dirty="0">
                <a:solidFill>
                  <a:schemeClr val="tx1"/>
                </a:solidFill>
              </a:rPr>
              <a:t>Phase 1b: Tournament Logic</a:t>
            </a:r>
          </a:p>
          <a:p>
            <a:pPr marL="266700" indent="-266700">
              <a:spcAft>
                <a:spcPts val="600"/>
              </a:spcAft>
              <a:buFont typeface="+mj-lt"/>
              <a:buAutoNum type="arabicPeriod" startAt="9"/>
            </a:pPr>
            <a:r>
              <a:rPr lang="en-US" sz="1200" b="1" noProof="0" dirty="0">
                <a:solidFill>
                  <a:schemeClr val="tx1"/>
                </a:solidFill>
              </a:rPr>
              <a:t>strategies/tit_for_tat.py</a:t>
            </a:r>
            <a:r>
              <a:rPr lang="en-US" sz="1200" noProof="0" dirty="0">
                <a:solidFill>
                  <a:schemeClr val="tx1"/>
                </a:solidFill>
              </a:rPr>
              <a:t> – Add a memory-based strategy.</a:t>
            </a:r>
          </a:p>
          <a:p>
            <a:pPr marL="266700" indent="-266700">
              <a:spcAft>
                <a:spcPts val="600"/>
              </a:spcAft>
              <a:buFont typeface="+mj-lt"/>
              <a:buAutoNum type="arabicPeriod" startAt="9"/>
            </a:pPr>
            <a:r>
              <a:rPr lang="en-US" sz="1200" b="1" noProof="0" dirty="0">
                <a:solidFill>
                  <a:schemeClr val="tx1"/>
                </a:solidFill>
              </a:rPr>
              <a:t>strategies/random_strategy.py</a:t>
            </a:r>
            <a:r>
              <a:rPr lang="en-US" sz="1200" noProof="0" dirty="0">
                <a:solidFill>
                  <a:schemeClr val="tx1"/>
                </a:solidFill>
              </a:rPr>
              <a:t> – Add probabilistic strategy.</a:t>
            </a:r>
          </a:p>
          <a:p>
            <a:pPr marL="266700" indent="-266700">
              <a:spcAft>
                <a:spcPts val="600"/>
              </a:spcAft>
              <a:buFont typeface="+mj-lt"/>
              <a:buAutoNum type="arabicPeriod" startAt="9"/>
            </a:pPr>
            <a:r>
              <a:rPr lang="en-US" sz="1200" b="1" noProof="0" dirty="0">
                <a:solidFill>
                  <a:schemeClr val="tx1"/>
                </a:solidFill>
              </a:rPr>
              <a:t>strategies/grudger.py</a:t>
            </a:r>
            <a:r>
              <a:rPr lang="en-US" sz="1200" noProof="0" dirty="0">
                <a:solidFill>
                  <a:schemeClr val="tx1"/>
                </a:solidFill>
              </a:rPr>
              <a:t> – Add more complex strategies.</a:t>
            </a:r>
          </a:p>
          <a:p>
            <a:pPr marL="266700" indent="-266700">
              <a:spcAft>
                <a:spcPts val="600"/>
              </a:spcAft>
              <a:buFont typeface="+mj-lt"/>
              <a:buAutoNum type="arabicPeriod" startAt="9"/>
            </a:pPr>
            <a:r>
              <a:rPr lang="en-US" sz="1200" b="1" noProof="0" dirty="0">
                <a:solidFill>
                  <a:schemeClr val="tx1"/>
                </a:solidFill>
              </a:rPr>
              <a:t>core/tournament.py</a:t>
            </a:r>
            <a:r>
              <a:rPr lang="en-US" sz="1200" noProof="0" dirty="0">
                <a:solidFill>
                  <a:schemeClr val="tx1"/>
                </a:solidFill>
              </a:rPr>
              <a:t> – Implement round-robin tournament.</a:t>
            </a:r>
          </a:p>
          <a:p>
            <a:pPr marL="266700" indent="-266700">
              <a:spcAft>
                <a:spcPts val="600"/>
              </a:spcAft>
              <a:buFont typeface="+mj-lt"/>
              <a:buAutoNum type="arabicPeriod" startAt="9"/>
            </a:pPr>
            <a:r>
              <a:rPr lang="en-US" sz="1200" b="1" noProof="0" dirty="0">
                <a:solidFill>
                  <a:schemeClr val="tx1"/>
                </a:solidFill>
              </a:rPr>
              <a:t>output/reporter.py</a:t>
            </a:r>
            <a:r>
              <a:rPr lang="en-US" sz="1200" noProof="0" dirty="0">
                <a:solidFill>
                  <a:schemeClr val="tx1"/>
                </a:solidFill>
              </a:rPr>
              <a:t> – Generate 2nd version of a text-based output.</a:t>
            </a:r>
          </a:p>
          <a:p>
            <a:pPr marL="266700" indent="-266700">
              <a:spcAft>
                <a:spcPts val="600"/>
              </a:spcAft>
              <a:buFont typeface="+mj-lt"/>
              <a:buAutoNum type="arabicPeriod" startAt="9"/>
            </a:pPr>
            <a:r>
              <a:rPr lang="en-US" sz="1200" b="1" noProof="0" dirty="0">
                <a:solidFill>
                  <a:schemeClr val="tx1"/>
                </a:solidFill>
              </a:rPr>
              <a:t>output/visualizer.py</a:t>
            </a:r>
            <a:r>
              <a:rPr lang="en-US" sz="1200" noProof="0" dirty="0">
                <a:solidFill>
                  <a:schemeClr val="tx1"/>
                </a:solidFill>
              </a:rPr>
              <a:t> – Create 2nd version of visualizations.</a:t>
            </a:r>
          </a:p>
          <a:p>
            <a:pPr marL="266700" indent="-266700">
              <a:spcAft>
                <a:spcPts val="600"/>
              </a:spcAft>
              <a:buFont typeface="+mj-lt"/>
              <a:buAutoNum type="arabicPeriod" startAt="9"/>
            </a:pPr>
            <a:r>
              <a:rPr lang="en-US" sz="1200" b="1" noProof="0" dirty="0">
                <a:solidFill>
                  <a:schemeClr val="tx1"/>
                </a:solidFill>
              </a:rPr>
              <a:t>main.py</a:t>
            </a:r>
            <a:r>
              <a:rPr lang="en-US" sz="1200" noProof="0" dirty="0">
                <a:solidFill>
                  <a:schemeClr val="tx1"/>
                </a:solidFill>
              </a:rPr>
              <a:t> – Create the 2nd version of the main simulation loop (such that a testing of this phase can be conducted).</a:t>
            </a:r>
          </a:p>
          <a:p>
            <a:pPr marL="266700" indent="-266700">
              <a:spcAft>
                <a:spcPts val="600"/>
              </a:spcAft>
              <a:buFont typeface="+mj-lt"/>
              <a:buAutoNum type="arabicPeriod" startAt="9"/>
            </a:pPr>
            <a:r>
              <a:rPr lang="en-US" sz="1200" b="1" noProof="0" dirty="0">
                <a:solidFill>
                  <a:schemeClr val="tx1"/>
                </a:solidFill>
              </a:rPr>
              <a:t>tests/test_*.py</a:t>
            </a:r>
            <a:r>
              <a:rPr lang="en-US" sz="1200" noProof="0" dirty="0">
                <a:solidFill>
                  <a:schemeClr val="tx1"/>
                </a:solidFill>
              </a:rPr>
              <a:t> – Write several unit tests for all modules.</a:t>
            </a:r>
          </a:p>
          <a:p>
            <a:pPr marL="266700" indent="-266700">
              <a:spcAft>
                <a:spcPts val="600"/>
              </a:spcAft>
              <a:buFont typeface="+mj-lt"/>
              <a:buAutoNum type="arabicPeriod" startAt="9"/>
            </a:pPr>
            <a:endParaRPr lang="en-US" sz="1200" noProof="0" dirty="0">
              <a:solidFill>
                <a:schemeClr val="tx1"/>
              </a:solidFill>
            </a:endParaRPr>
          </a:p>
        </p:txBody>
      </p:sp>
      <p:sp>
        <p:nvSpPr>
          <p:cNvPr id="5" name="Rechteck 4">
            <a:extLst>
              <a:ext uri="{FF2B5EF4-FFF2-40B4-BE49-F238E27FC236}">
                <a16:creationId xmlns:a16="http://schemas.microsoft.com/office/drawing/2014/main" id="{30B673A2-D6E3-39B7-A5F2-5750332A7D94}"/>
              </a:ext>
            </a:extLst>
          </p:cNvPr>
          <p:cNvSpPr/>
          <p:nvPr/>
        </p:nvSpPr>
        <p:spPr>
          <a:xfrm>
            <a:off x="4644008" y="1131590"/>
            <a:ext cx="4248472" cy="3888432"/>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200" b="1" noProof="0" dirty="0">
                <a:solidFill>
                  <a:schemeClr val="tx1"/>
                </a:solidFill>
              </a:rPr>
              <a:t>Phase 2: Evolution</a:t>
            </a:r>
          </a:p>
          <a:p>
            <a:pPr marL="266700" indent="-266700">
              <a:spcAft>
                <a:spcPts val="600"/>
              </a:spcAft>
              <a:buFont typeface="+mj-lt"/>
              <a:buAutoNum type="arabicPeriod" startAt="16"/>
            </a:pPr>
            <a:r>
              <a:rPr lang="en-US" sz="1200" b="1" noProof="0" dirty="0">
                <a:solidFill>
                  <a:schemeClr val="tx1"/>
                </a:solidFill>
              </a:rPr>
              <a:t>core/evolution.py</a:t>
            </a:r>
            <a:r>
              <a:rPr lang="en-US" sz="1200" noProof="0" dirty="0">
                <a:solidFill>
                  <a:schemeClr val="tx1"/>
                </a:solidFill>
              </a:rPr>
              <a:t> – Implement evolutionary selection and replacement.</a:t>
            </a:r>
          </a:p>
          <a:p>
            <a:pPr marL="266700" indent="-266700">
              <a:spcAft>
                <a:spcPts val="600"/>
              </a:spcAft>
              <a:buFont typeface="+mj-lt"/>
              <a:buAutoNum type="arabicPeriod" startAt="16"/>
            </a:pPr>
            <a:r>
              <a:rPr lang="en-US" sz="1200" b="1" noProof="0" dirty="0">
                <a:solidFill>
                  <a:schemeClr val="tx1"/>
                </a:solidFill>
              </a:rPr>
              <a:t>output/reporter.py</a:t>
            </a:r>
            <a:r>
              <a:rPr lang="en-US" sz="1200" noProof="0" dirty="0">
                <a:solidFill>
                  <a:schemeClr val="tx1"/>
                </a:solidFill>
              </a:rPr>
              <a:t> – Generate final version of a text-based output.</a:t>
            </a:r>
          </a:p>
          <a:p>
            <a:pPr marL="266700" indent="-266700">
              <a:spcAft>
                <a:spcPts val="600"/>
              </a:spcAft>
              <a:buFont typeface="+mj-lt"/>
              <a:buAutoNum type="arabicPeriod" startAt="16"/>
            </a:pPr>
            <a:r>
              <a:rPr lang="en-US" sz="1200" b="1" noProof="0" dirty="0">
                <a:solidFill>
                  <a:schemeClr val="tx1"/>
                </a:solidFill>
              </a:rPr>
              <a:t>output/visualizer.py</a:t>
            </a:r>
            <a:r>
              <a:rPr lang="en-US" sz="1200" noProof="0" dirty="0">
                <a:solidFill>
                  <a:schemeClr val="tx1"/>
                </a:solidFill>
              </a:rPr>
              <a:t> – Create final version of visualizations.</a:t>
            </a:r>
          </a:p>
          <a:p>
            <a:pPr marL="266700" indent="-266700">
              <a:spcAft>
                <a:spcPts val="600"/>
              </a:spcAft>
              <a:buFont typeface="+mj-lt"/>
              <a:buAutoNum type="arabicPeriod" startAt="16"/>
            </a:pPr>
            <a:r>
              <a:rPr lang="en-US" sz="1200" b="1" noProof="0" dirty="0">
                <a:solidFill>
                  <a:schemeClr val="tx1"/>
                </a:solidFill>
              </a:rPr>
              <a:t>main.py</a:t>
            </a:r>
            <a:r>
              <a:rPr lang="en-US" sz="1200" noProof="0" dirty="0">
                <a:solidFill>
                  <a:schemeClr val="tx1"/>
                </a:solidFill>
              </a:rPr>
              <a:t> – Create the final version of the main simulation loop.</a:t>
            </a:r>
          </a:p>
          <a:p>
            <a:pPr marL="266700" indent="-266700">
              <a:spcAft>
                <a:spcPts val="600"/>
              </a:spcAft>
              <a:buFont typeface="+mj-lt"/>
              <a:buAutoNum type="arabicPeriod" startAt="16"/>
            </a:pPr>
            <a:r>
              <a:rPr lang="en-US" sz="1200" b="1" noProof="0" dirty="0">
                <a:solidFill>
                  <a:schemeClr val="tx1"/>
                </a:solidFill>
              </a:rPr>
              <a:t>tests/test_*.py</a:t>
            </a:r>
            <a:r>
              <a:rPr lang="en-US" sz="1200" noProof="0" dirty="0">
                <a:solidFill>
                  <a:schemeClr val="tx1"/>
                </a:solidFill>
              </a:rPr>
              <a:t> – Write several unit tests for all modules.</a:t>
            </a:r>
          </a:p>
          <a:p>
            <a:pPr marL="266700" indent="-266700">
              <a:spcAft>
                <a:spcPts val="600"/>
              </a:spcAft>
              <a:buFont typeface="+mj-lt"/>
              <a:buAutoNum type="arabicPeriod" startAt="15"/>
            </a:pPr>
            <a:r>
              <a:rPr lang="en-US" sz="1200" b="1" noProof="0" dirty="0">
                <a:solidFill>
                  <a:schemeClr val="tx1"/>
                </a:solidFill>
              </a:rPr>
              <a:t>README.md</a:t>
            </a:r>
            <a:r>
              <a:rPr lang="en-US" sz="1200" noProof="0" dirty="0">
                <a:solidFill>
                  <a:schemeClr val="tx1"/>
                </a:solidFill>
              </a:rPr>
              <a:t> – Complete documentation.</a:t>
            </a:r>
          </a:p>
          <a:p>
            <a:pPr marL="266700" indent="-266700">
              <a:spcAft>
                <a:spcPts val="600"/>
              </a:spcAft>
              <a:buFont typeface="+mj-lt"/>
              <a:buAutoNum type="arabicPeriod" startAt="15"/>
            </a:pPr>
            <a:r>
              <a:rPr lang="en-US" sz="1200" b="1" noProof="0" dirty="0">
                <a:solidFill>
                  <a:schemeClr val="tx1"/>
                </a:solidFill>
              </a:rPr>
              <a:t>requirements.txt</a:t>
            </a:r>
            <a:r>
              <a:rPr lang="en-US" sz="1200" noProof="0" dirty="0">
                <a:solidFill>
                  <a:schemeClr val="tx1"/>
                </a:solidFill>
              </a:rPr>
              <a:t> – Finalize dependencies.</a:t>
            </a:r>
          </a:p>
        </p:txBody>
      </p:sp>
    </p:spTree>
    <p:extLst>
      <p:ext uri="{BB962C8B-B14F-4D97-AF65-F5344CB8AC3E}">
        <p14:creationId xmlns:p14="http://schemas.microsoft.com/office/powerpoint/2010/main" val="31691966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32955-80BC-74AE-D05F-BB71447D3D6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BD80F20-6BE5-196A-DB54-5FE4A3DF78AD}"/>
              </a:ext>
            </a:extLst>
          </p:cNvPr>
          <p:cNvSpPr>
            <a:spLocks noGrp="1"/>
          </p:cNvSpPr>
          <p:nvPr>
            <p:ph type="title"/>
          </p:nvPr>
        </p:nvSpPr>
        <p:spPr/>
        <p:txBody>
          <a:bodyPr/>
          <a:lstStyle/>
          <a:p>
            <a:r>
              <a:rPr lang="en-US" noProof="0" dirty="0"/>
              <a:t>Example:</a:t>
            </a:r>
            <a:br>
              <a:rPr lang="en-US" noProof="0" dirty="0"/>
            </a:br>
            <a:r>
              <a:rPr lang="en-US" noProof="0" dirty="0"/>
              <a:t>c) Project structure</a:t>
            </a:r>
          </a:p>
        </p:txBody>
      </p:sp>
      <p:sp>
        <p:nvSpPr>
          <p:cNvPr id="4" name="Rechteck 3">
            <a:extLst>
              <a:ext uri="{FF2B5EF4-FFF2-40B4-BE49-F238E27FC236}">
                <a16:creationId xmlns:a16="http://schemas.microsoft.com/office/drawing/2014/main" id="{619F7EB5-8180-9000-97DE-6F6C970E5216}"/>
              </a:ext>
            </a:extLst>
          </p:cNvPr>
          <p:cNvSpPr/>
          <p:nvPr/>
        </p:nvSpPr>
        <p:spPr>
          <a:xfrm>
            <a:off x="251520" y="1131590"/>
            <a:ext cx="4248472" cy="288032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200" b="1" noProof="0" dirty="0">
                <a:solidFill>
                  <a:schemeClr val="tx1"/>
                </a:solidFill>
              </a:rPr>
              <a:t>Phase 3: Environments &amp; Testing</a:t>
            </a:r>
          </a:p>
          <a:p>
            <a:pPr marL="266700" indent="-266700">
              <a:spcAft>
                <a:spcPts val="600"/>
              </a:spcAft>
              <a:buFont typeface="+mj-lt"/>
              <a:buAutoNum type="arabicPeriod" startAt="13"/>
            </a:pPr>
            <a:r>
              <a:rPr lang="en-US" sz="1200" b="1" noProof="0" dirty="0">
                <a:solidFill>
                  <a:schemeClr val="tx1"/>
                </a:solidFill>
              </a:rPr>
              <a:t>Consider harsh environments</a:t>
            </a:r>
          </a:p>
          <a:p>
            <a:pPr marL="266700" indent="-266700">
              <a:spcAft>
                <a:spcPts val="600"/>
              </a:spcAft>
              <a:buFont typeface="+mj-lt"/>
              <a:buAutoNum type="arabicPeriod" startAt="13"/>
            </a:pPr>
            <a:r>
              <a:rPr lang="en-US" sz="1200" b="1" noProof="0" dirty="0">
                <a:solidFill>
                  <a:schemeClr val="tx1"/>
                </a:solidFill>
              </a:rPr>
              <a:t>Consider noisy interactions</a:t>
            </a:r>
          </a:p>
          <a:p>
            <a:pPr marL="266700" indent="-266700">
              <a:spcAft>
                <a:spcPts val="600"/>
              </a:spcAft>
              <a:buFont typeface="+mj-lt"/>
              <a:buAutoNum type="arabicPeriod" startAt="13"/>
            </a:pPr>
            <a:r>
              <a:rPr lang="en-US" sz="1200" b="1" noProof="0" dirty="0">
                <a:solidFill>
                  <a:schemeClr val="tx1"/>
                </a:solidFill>
              </a:rPr>
              <a:t>tests/test_*.py</a:t>
            </a:r>
            <a:r>
              <a:rPr lang="en-US" sz="1200" noProof="0" dirty="0">
                <a:solidFill>
                  <a:schemeClr val="tx1"/>
                </a:solidFill>
              </a:rPr>
              <a:t> – Write unit tests for all modules.</a:t>
            </a:r>
            <a:endParaRPr lang="en-US" sz="1200" b="1" noProof="0" dirty="0">
              <a:solidFill>
                <a:schemeClr val="tx1"/>
              </a:solidFill>
            </a:endParaRPr>
          </a:p>
          <a:p>
            <a:pPr marL="266700" indent="-266700">
              <a:spcAft>
                <a:spcPts val="600"/>
              </a:spcAft>
              <a:buFont typeface="+mj-lt"/>
              <a:buAutoNum type="arabicPeriod" startAt="13"/>
            </a:pPr>
            <a:r>
              <a:rPr lang="en-US" sz="1200" b="1" noProof="0" dirty="0">
                <a:solidFill>
                  <a:schemeClr val="tx1"/>
                </a:solidFill>
              </a:rPr>
              <a:t>README.md</a:t>
            </a:r>
            <a:r>
              <a:rPr lang="en-US" sz="1200" noProof="0" dirty="0">
                <a:solidFill>
                  <a:schemeClr val="tx1"/>
                </a:solidFill>
              </a:rPr>
              <a:t> – Complete documentation.</a:t>
            </a:r>
          </a:p>
          <a:p>
            <a:pPr marL="266700" indent="-266700">
              <a:spcAft>
                <a:spcPts val="600"/>
              </a:spcAft>
              <a:buFont typeface="+mj-lt"/>
              <a:buAutoNum type="arabicPeriod" startAt="13"/>
            </a:pPr>
            <a:r>
              <a:rPr lang="en-US" sz="1200" b="1" noProof="0" dirty="0">
                <a:solidFill>
                  <a:schemeClr val="tx1"/>
                </a:solidFill>
              </a:rPr>
              <a:t>requirements.txt</a:t>
            </a:r>
            <a:r>
              <a:rPr lang="en-US" sz="1200" noProof="0" dirty="0">
                <a:solidFill>
                  <a:schemeClr val="tx1"/>
                </a:solidFill>
              </a:rPr>
              <a:t> – Finalize dependencies.</a:t>
            </a:r>
          </a:p>
        </p:txBody>
      </p:sp>
      <p:sp>
        <p:nvSpPr>
          <p:cNvPr id="6" name="Rechteck 5">
            <a:extLst>
              <a:ext uri="{FF2B5EF4-FFF2-40B4-BE49-F238E27FC236}">
                <a16:creationId xmlns:a16="http://schemas.microsoft.com/office/drawing/2014/main" id="{3DC5080D-8CFA-527B-8926-851FDE7A8DB5}"/>
              </a:ext>
            </a:extLst>
          </p:cNvPr>
          <p:cNvSpPr/>
          <p:nvPr/>
        </p:nvSpPr>
        <p:spPr>
          <a:xfrm>
            <a:off x="4644008" y="1131590"/>
            <a:ext cx="4248472" cy="288032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200" b="1" noProof="0" dirty="0">
                <a:solidFill>
                  <a:schemeClr val="tx1"/>
                </a:solidFill>
              </a:rPr>
              <a:t>Additional Notes</a:t>
            </a:r>
          </a:p>
          <a:p>
            <a:pPr marL="182563" indent="-182563">
              <a:spcAft>
                <a:spcPts val="600"/>
              </a:spcAft>
              <a:buFont typeface="Arial" panose="020B0604020202020204" pitchFamily="34" charset="0"/>
              <a:buChar char="•"/>
            </a:pPr>
            <a:r>
              <a:rPr lang="en-US" sz="1200" b="1" noProof="0" dirty="0">
                <a:solidFill>
                  <a:schemeClr val="tx1"/>
                </a:solidFill>
              </a:rPr>
              <a:t>Start Simple:</a:t>
            </a:r>
            <a:r>
              <a:rPr lang="en-US" sz="1200" noProof="0" dirty="0">
                <a:solidFill>
                  <a:schemeClr val="tx1"/>
                </a:solidFill>
              </a:rPr>
              <a:t> Begin with just two basic strategies to verify the game and tournament logic work correctly.</a:t>
            </a:r>
          </a:p>
          <a:p>
            <a:pPr marL="182563" indent="-182563">
              <a:spcAft>
                <a:spcPts val="600"/>
              </a:spcAft>
              <a:buFont typeface="Arial" panose="020B0604020202020204" pitchFamily="34" charset="0"/>
              <a:buChar char="•"/>
            </a:pPr>
            <a:r>
              <a:rPr lang="en-US" sz="1200" b="1" noProof="0" dirty="0">
                <a:solidFill>
                  <a:schemeClr val="tx1"/>
                </a:solidFill>
              </a:rPr>
              <a:t>Incremental Testing:</a:t>
            </a:r>
            <a:r>
              <a:rPr lang="en-US" sz="1200" noProof="0" dirty="0">
                <a:solidFill>
                  <a:schemeClr val="tx1"/>
                </a:solidFill>
              </a:rPr>
              <a:t> Test each component as you build it before moving to the next phase.</a:t>
            </a:r>
          </a:p>
          <a:p>
            <a:pPr marL="182563" indent="-182563">
              <a:spcAft>
                <a:spcPts val="600"/>
              </a:spcAft>
              <a:buFont typeface="Arial" panose="020B0604020202020204" pitchFamily="34" charset="0"/>
              <a:buChar char="•"/>
            </a:pPr>
            <a:r>
              <a:rPr lang="en-US" sz="1200" b="1" noProof="0" dirty="0">
                <a:solidFill>
                  <a:schemeClr val="tx1"/>
                </a:solidFill>
              </a:rPr>
              <a:t>Flexibility:</a:t>
            </a:r>
            <a:r>
              <a:rPr lang="en-US" sz="1200" noProof="0" dirty="0">
                <a:solidFill>
                  <a:schemeClr val="tx1"/>
                </a:solidFill>
              </a:rPr>
              <a:t> The modular structure allows students to easily add new strategies by creating new files in the </a:t>
            </a:r>
            <a:r>
              <a:rPr lang="en-US" sz="1200" b="1" noProof="0" dirty="0">
                <a:solidFill>
                  <a:schemeClr val="tx1"/>
                </a:solidFill>
              </a:rPr>
              <a:t>strategies/</a:t>
            </a:r>
            <a:r>
              <a:rPr lang="en-US" sz="1200" noProof="0" dirty="0">
                <a:solidFill>
                  <a:schemeClr val="tx1"/>
                </a:solidFill>
              </a:rPr>
              <a:t> folder.</a:t>
            </a:r>
          </a:p>
        </p:txBody>
      </p:sp>
      <p:sp>
        <p:nvSpPr>
          <p:cNvPr id="7" name="Rechteck 6">
            <a:extLst>
              <a:ext uri="{FF2B5EF4-FFF2-40B4-BE49-F238E27FC236}">
                <a16:creationId xmlns:a16="http://schemas.microsoft.com/office/drawing/2014/main" id="{4F7C9B22-38B1-450E-D35B-5970B615DBDF}"/>
              </a:ext>
            </a:extLst>
          </p:cNvPr>
          <p:cNvSpPr/>
          <p:nvPr/>
        </p:nvSpPr>
        <p:spPr>
          <a:xfrm>
            <a:off x="251520" y="4155926"/>
            <a:ext cx="8640960" cy="864096"/>
          </a:xfrm>
          <a:prstGeom prst="rect">
            <a:avLst/>
          </a:prstGeom>
          <a:solidFill>
            <a:schemeClr val="accent3">
              <a:lumMod val="20000"/>
              <a:lumOff val="80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noProof="0" dirty="0">
                <a:solidFill>
                  <a:schemeClr val="tx1"/>
                </a:solidFill>
              </a:rPr>
              <a:t>Summary</a:t>
            </a:r>
          </a:p>
          <a:p>
            <a:pPr algn="just"/>
            <a:r>
              <a:rPr lang="en-US" sz="1200" noProof="0" dirty="0">
                <a:solidFill>
                  <a:schemeClr val="tx1"/>
                </a:solidFill>
              </a:rPr>
              <a:t>This structure promotes clean separation of concerns, making it easy to understand and modify.</a:t>
            </a:r>
          </a:p>
        </p:txBody>
      </p:sp>
    </p:spTree>
    <p:extLst>
      <p:ext uri="{BB962C8B-B14F-4D97-AF65-F5344CB8AC3E}">
        <p14:creationId xmlns:p14="http://schemas.microsoft.com/office/powerpoint/2010/main" val="32792591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C7371-D7ED-90D8-8C2F-465923D6AAB3}"/>
            </a:ext>
          </a:extLst>
        </p:cNvPr>
        <p:cNvGrpSpPr/>
        <p:nvPr/>
      </p:nvGrpSpPr>
      <p:grpSpPr>
        <a:xfrm>
          <a:off x="0" y="0"/>
          <a:ext cx="0" cy="0"/>
          <a:chOff x="0" y="0"/>
          <a:chExt cx="0" cy="0"/>
        </a:xfrm>
      </p:grpSpPr>
      <p:sp>
        <p:nvSpPr>
          <p:cNvPr id="2" name="Abgerundetes Rechteck 1">
            <a:extLst>
              <a:ext uri="{FF2B5EF4-FFF2-40B4-BE49-F238E27FC236}">
                <a16:creationId xmlns:a16="http://schemas.microsoft.com/office/drawing/2014/main" id="{056CAB91-F386-F76D-6C3B-7B6CABE78D67}"/>
              </a:ext>
            </a:extLst>
          </p:cNvPr>
          <p:cNvSpPr/>
          <p:nvPr/>
        </p:nvSpPr>
        <p:spPr>
          <a:xfrm>
            <a:off x="971600" y="2132668"/>
            <a:ext cx="720080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feld 2">
            <a:extLst>
              <a:ext uri="{FF2B5EF4-FFF2-40B4-BE49-F238E27FC236}">
                <a16:creationId xmlns:a16="http://schemas.microsoft.com/office/drawing/2014/main" id="{41CB2481-90DD-4435-9D92-7CFCB2C7F2A0}"/>
              </a:ext>
            </a:extLst>
          </p:cNvPr>
          <p:cNvSpPr txBox="1"/>
          <p:nvPr/>
        </p:nvSpPr>
        <p:spPr>
          <a:xfrm>
            <a:off x="971600" y="1131590"/>
            <a:ext cx="4161011" cy="2462213"/>
          </a:xfrm>
          <a:prstGeom prst="rect">
            <a:avLst/>
          </a:prstGeom>
          <a:noFill/>
        </p:spPr>
        <p:txBody>
          <a:bodyPr wrap="none" rtlCol="0">
            <a:spAutoFit/>
          </a:bodyPr>
          <a:lstStyle/>
          <a:p>
            <a:r>
              <a:rPr lang="en-US" b="1" noProof="0" dirty="0"/>
              <a:t>Topics</a:t>
            </a:r>
          </a:p>
          <a:p>
            <a:endParaRPr lang="en-US" sz="1000" noProof="0" dirty="0"/>
          </a:p>
          <a:p>
            <a:pPr lvl="1"/>
            <a:r>
              <a:rPr lang="en-US" noProof="0" dirty="0"/>
              <a:t>Setting-up the Computerized Model</a:t>
            </a:r>
          </a:p>
          <a:p>
            <a:pPr lvl="1"/>
            <a:endParaRPr lang="en-US" b="1" noProof="0" dirty="0"/>
          </a:p>
          <a:p>
            <a:pPr lvl="1"/>
            <a:r>
              <a:rPr lang="en-US" b="1" noProof="0" dirty="0"/>
              <a:t>Phase 1: Baseline Tournament </a:t>
            </a:r>
          </a:p>
          <a:p>
            <a:pPr lvl="1"/>
            <a:endParaRPr lang="en-US" b="1" noProof="0" dirty="0"/>
          </a:p>
          <a:p>
            <a:pPr lvl="1"/>
            <a:r>
              <a:rPr lang="en-US" noProof="0" dirty="0"/>
              <a:t>Phase 2: Evolution</a:t>
            </a:r>
          </a:p>
          <a:p>
            <a:pPr lvl="1"/>
            <a:endParaRPr lang="en-US" noProof="0" dirty="0"/>
          </a:p>
          <a:p>
            <a:pPr lvl="1"/>
            <a:r>
              <a:rPr lang="en-US" noProof="0" dirty="0"/>
              <a:t>Phase 3: Environments &amp; Testing</a:t>
            </a:r>
          </a:p>
        </p:txBody>
      </p:sp>
    </p:spTree>
    <p:extLst>
      <p:ext uri="{BB962C8B-B14F-4D97-AF65-F5344CB8AC3E}">
        <p14:creationId xmlns:p14="http://schemas.microsoft.com/office/powerpoint/2010/main" val="32970076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100EC39-D2E4-9DC2-FDD1-94CDC330AA57}"/>
              </a:ext>
            </a:extLst>
          </p:cNvPr>
          <p:cNvSpPr>
            <a:spLocks noGrp="1"/>
          </p:cNvSpPr>
          <p:nvPr>
            <p:ph type="title"/>
          </p:nvPr>
        </p:nvSpPr>
        <p:spPr/>
        <p:txBody>
          <a:bodyPr/>
          <a:lstStyle/>
          <a:p>
            <a:r>
              <a:rPr lang="en-US" noProof="0" dirty="0"/>
              <a:t>Phase 1 (Baseline Tournament):</a:t>
            </a:r>
            <a:br>
              <a:rPr lang="en-US" noProof="0" dirty="0"/>
            </a:br>
            <a:r>
              <a:rPr lang="en-US" noProof="0" dirty="0"/>
              <a:t>File-by-file code generation – 1/ 2</a:t>
            </a:r>
          </a:p>
        </p:txBody>
      </p:sp>
      <p:sp>
        <p:nvSpPr>
          <p:cNvPr id="4" name="Rechteck 3">
            <a:extLst>
              <a:ext uri="{FF2B5EF4-FFF2-40B4-BE49-F238E27FC236}">
                <a16:creationId xmlns:a16="http://schemas.microsoft.com/office/drawing/2014/main" id="{7A24126C-AB25-77DE-A007-751F3EC74ADD}"/>
              </a:ext>
            </a:extLst>
          </p:cNvPr>
          <p:cNvSpPr/>
          <p:nvPr/>
        </p:nvSpPr>
        <p:spPr>
          <a:xfrm>
            <a:off x="251520" y="2139702"/>
            <a:ext cx="1656184" cy="2880320"/>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200" b="1" noProof="0" dirty="0">
                <a:solidFill>
                  <a:schemeClr val="tx1"/>
                </a:solidFill>
              </a:rPr>
              <a:t>Baseline Tournament</a:t>
            </a:r>
          </a:p>
          <a:p>
            <a:pPr marL="171450" indent="-171450">
              <a:spcAft>
                <a:spcPts val="600"/>
              </a:spcAft>
              <a:buFont typeface="Arial" panose="020B0604020202020204" pitchFamily="34" charset="0"/>
              <a:buChar char="•"/>
            </a:pPr>
            <a:r>
              <a:rPr lang="en-US" sz="1200" noProof="0" dirty="0">
                <a:solidFill>
                  <a:schemeClr val="tx1"/>
                </a:solidFill>
              </a:rPr>
              <a:t>no evolution yet</a:t>
            </a:r>
          </a:p>
          <a:p>
            <a:pPr marL="171450" indent="-171450">
              <a:spcAft>
                <a:spcPts val="600"/>
              </a:spcAft>
              <a:buFont typeface="Arial" panose="020B0604020202020204" pitchFamily="34" charset="0"/>
              <a:buChar char="•"/>
            </a:pPr>
            <a:r>
              <a:rPr lang="en-US" sz="1200" noProof="0" dirty="0">
                <a:solidFill>
                  <a:schemeClr val="tx1"/>
                </a:solidFill>
              </a:rPr>
              <a:t>just let all strategies play each other</a:t>
            </a:r>
          </a:p>
          <a:p>
            <a:pPr marL="171450" indent="-171450">
              <a:spcAft>
                <a:spcPts val="600"/>
              </a:spcAft>
              <a:buFont typeface="Arial" panose="020B0604020202020204" pitchFamily="34" charset="0"/>
              <a:buChar char="•"/>
            </a:pPr>
            <a:r>
              <a:rPr lang="en-US" sz="1200" noProof="0" dirty="0">
                <a:solidFill>
                  <a:schemeClr val="tx1"/>
                </a:solidFill>
              </a:rPr>
              <a:t>compare scores</a:t>
            </a:r>
          </a:p>
          <a:p>
            <a:pPr>
              <a:spcAft>
                <a:spcPts val="600"/>
              </a:spcAft>
            </a:pPr>
            <a:r>
              <a:rPr lang="en-US" sz="1200" noProof="0" dirty="0">
                <a:solidFill>
                  <a:schemeClr val="tx1"/>
                </a:solidFill>
              </a:rPr>
              <a:t>Purpose: understand strategic behavior.</a:t>
            </a:r>
          </a:p>
        </p:txBody>
      </p:sp>
      <p:sp>
        <p:nvSpPr>
          <p:cNvPr id="17" name="Rechteck 16">
            <a:extLst>
              <a:ext uri="{FF2B5EF4-FFF2-40B4-BE49-F238E27FC236}">
                <a16:creationId xmlns:a16="http://schemas.microsoft.com/office/drawing/2014/main" id="{71FE6EE1-7A85-DB9E-A7D4-C384E01FA73C}"/>
              </a:ext>
            </a:extLst>
          </p:cNvPr>
          <p:cNvSpPr/>
          <p:nvPr/>
        </p:nvSpPr>
        <p:spPr>
          <a:xfrm>
            <a:off x="2051720" y="1131590"/>
            <a:ext cx="2448272" cy="38884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200" b="1" noProof="0" dirty="0">
                <a:solidFill>
                  <a:schemeClr val="tx1"/>
                </a:solidFill>
              </a:rPr>
              <a:t>Phase 1: Baseline Tournament (Core Game Mechanics)</a:t>
            </a:r>
          </a:p>
          <a:p>
            <a:pPr marL="182563" indent="-182563">
              <a:spcAft>
                <a:spcPts val="600"/>
              </a:spcAft>
            </a:pPr>
            <a:r>
              <a:rPr lang="en-US" sz="1200" noProof="0" dirty="0">
                <a:solidFill>
                  <a:schemeClr val="tx1"/>
                </a:solidFill>
              </a:rPr>
              <a:t>0.	generation of the folder structure with empty python files</a:t>
            </a:r>
          </a:p>
          <a:p>
            <a:pPr marL="182563" indent="-182563">
              <a:spcAft>
                <a:spcPts val="600"/>
              </a:spcAft>
            </a:pPr>
            <a:endParaRPr lang="en-US" sz="1200" noProof="0" dirty="0">
              <a:solidFill>
                <a:schemeClr val="tx1"/>
              </a:solidFill>
            </a:endParaRPr>
          </a:p>
          <a:p>
            <a:pPr marL="182563" indent="-182563">
              <a:spcAft>
                <a:spcPts val="600"/>
              </a:spcAft>
              <a:buFont typeface="+mj-lt"/>
              <a:buAutoNum type="arabicPeriod"/>
            </a:pPr>
            <a:r>
              <a:rPr lang="en-US" sz="1200" noProof="0" dirty="0">
                <a:solidFill>
                  <a:schemeClr val="tx1"/>
                </a:solidFill>
              </a:rPr>
              <a:t>strategies/base_strategy.py</a:t>
            </a:r>
          </a:p>
          <a:p>
            <a:pPr marL="182563" indent="-182563">
              <a:spcAft>
                <a:spcPts val="600"/>
              </a:spcAft>
              <a:buFont typeface="+mj-lt"/>
              <a:buAutoNum type="arabicPeriod"/>
            </a:pPr>
            <a:r>
              <a:rPr lang="en-US" sz="1200" noProof="0" dirty="0">
                <a:solidFill>
                  <a:schemeClr val="tx1"/>
                </a:solidFill>
              </a:rPr>
              <a:t>strategies/always_cooperate.py</a:t>
            </a:r>
            <a:br>
              <a:rPr lang="en-US" sz="1200" noProof="0" dirty="0">
                <a:solidFill>
                  <a:schemeClr val="tx1"/>
                </a:solidFill>
              </a:rPr>
            </a:br>
            <a:r>
              <a:rPr lang="en-US" sz="1200" noProof="0" dirty="0">
                <a:solidFill>
                  <a:schemeClr val="tx1"/>
                </a:solidFill>
              </a:rPr>
              <a:t>strategies/always_defect.py</a:t>
            </a:r>
          </a:p>
          <a:p>
            <a:pPr marL="182563" indent="-182563">
              <a:spcAft>
                <a:spcPts val="600"/>
              </a:spcAft>
              <a:buFont typeface="+mj-lt"/>
              <a:buAutoNum type="arabicPeriod"/>
            </a:pPr>
            <a:r>
              <a:rPr lang="en-US" sz="1200" noProof="0" dirty="0">
                <a:solidFill>
                  <a:schemeClr val="tx1"/>
                </a:solidFill>
              </a:rPr>
              <a:t>config/config.py</a:t>
            </a:r>
          </a:p>
          <a:p>
            <a:pPr marL="182563" indent="-182563">
              <a:spcAft>
                <a:spcPts val="600"/>
              </a:spcAft>
              <a:buFont typeface="+mj-lt"/>
              <a:buAutoNum type="arabicPeriod"/>
            </a:pPr>
            <a:r>
              <a:rPr lang="en-US" sz="1200" noProof="0" dirty="0">
                <a:solidFill>
                  <a:schemeClr val="tx1"/>
                </a:solidFill>
              </a:rPr>
              <a:t>core/game.py</a:t>
            </a:r>
          </a:p>
          <a:p>
            <a:pPr marL="182563" indent="-182563">
              <a:spcAft>
                <a:spcPts val="600"/>
              </a:spcAft>
              <a:buFont typeface="+mj-lt"/>
              <a:buAutoNum type="arabicPeriod"/>
            </a:pPr>
            <a:r>
              <a:rPr lang="en-US" sz="1200" noProof="0" dirty="0">
                <a:solidFill>
                  <a:schemeClr val="tx1"/>
                </a:solidFill>
              </a:rPr>
              <a:t>output/reporter.py (1st version)</a:t>
            </a:r>
          </a:p>
          <a:p>
            <a:pPr marL="182563" indent="-182563">
              <a:spcAft>
                <a:spcPts val="600"/>
              </a:spcAft>
              <a:buFont typeface="+mj-lt"/>
              <a:buAutoNum type="arabicPeriod"/>
            </a:pPr>
            <a:r>
              <a:rPr lang="en-US" sz="1200" noProof="0" dirty="0">
                <a:solidFill>
                  <a:schemeClr val="tx1"/>
                </a:solidFill>
              </a:rPr>
              <a:t>output/visualizer.py (1st version)</a:t>
            </a:r>
          </a:p>
          <a:p>
            <a:pPr marL="182563" indent="-182563">
              <a:spcAft>
                <a:spcPts val="600"/>
              </a:spcAft>
              <a:buFont typeface="+mj-lt"/>
              <a:buAutoNum type="arabicPeriod"/>
            </a:pPr>
            <a:r>
              <a:rPr lang="en-US" sz="1200" noProof="0" dirty="0">
                <a:solidFill>
                  <a:schemeClr val="tx1"/>
                </a:solidFill>
              </a:rPr>
              <a:t>main.py (1st version)</a:t>
            </a:r>
          </a:p>
          <a:p>
            <a:pPr marL="182563" indent="-182563">
              <a:spcAft>
                <a:spcPts val="600"/>
              </a:spcAft>
              <a:buFont typeface="+mj-lt"/>
              <a:buAutoNum type="arabicPeriod"/>
            </a:pPr>
            <a:endParaRPr lang="en-US" sz="1200" noProof="0" dirty="0">
              <a:solidFill>
                <a:schemeClr val="tx1"/>
              </a:solidFill>
            </a:endParaRPr>
          </a:p>
          <a:p>
            <a:pPr marL="182563" indent="-182563">
              <a:spcAft>
                <a:spcPts val="600"/>
              </a:spcAft>
              <a:buFont typeface="+mj-lt"/>
              <a:buAutoNum type="arabicPeriod"/>
            </a:pPr>
            <a:endParaRPr lang="en-US" sz="1200" noProof="0" dirty="0">
              <a:solidFill>
                <a:schemeClr val="tx1"/>
              </a:solidFill>
            </a:endParaRPr>
          </a:p>
        </p:txBody>
      </p:sp>
      <p:grpSp>
        <p:nvGrpSpPr>
          <p:cNvPr id="31" name="Gruppieren 30">
            <a:extLst>
              <a:ext uri="{FF2B5EF4-FFF2-40B4-BE49-F238E27FC236}">
                <a16:creationId xmlns:a16="http://schemas.microsoft.com/office/drawing/2014/main" id="{C3A39D68-FAF1-3949-A18D-C82E94DAC402}"/>
              </a:ext>
            </a:extLst>
          </p:cNvPr>
          <p:cNvGrpSpPr/>
          <p:nvPr/>
        </p:nvGrpSpPr>
        <p:grpSpPr>
          <a:xfrm>
            <a:off x="251520" y="1131588"/>
            <a:ext cx="1656184" cy="936107"/>
            <a:chOff x="251520" y="1131588"/>
            <a:chExt cx="1656184" cy="936107"/>
          </a:xfrm>
        </p:grpSpPr>
        <p:sp>
          <p:nvSpPr>
            <p:cNvPr id="24" name="Rechteck 23">
              <a:extLst>
                <a:ext uri="{FF2B5EF4-FFF2-40B4-BE49-F238E27FC236}">
                  <a16:creationId xmlns:a16="http://schemas.microsoft.com/office/drawing/2014/main" id="{0CE964DE-B842-B765-9BA8-8FF1D81B9105}"/>
                </a:ext>
              </a:extLst>
            </p:cNvPr>
            <p:cNvSpPr/>
            <p:nvPr/>
          </p:nvSpPr>
          <p:spPr>
            <a:xfrm>
              <a:off x="251520" y="1131588"/>
              <a:ext cx="1656184" cy="93610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0" name="Grafik 29">
              <a:extLst>
                <a:ext uri="{FF2B5EF4-FFF2-40B4-BE49-F238E27FC236}">
                  <a16:creationId xmlns:a16="http://schemas.microsoft.com/office/drawing/2014/main" id="{366ECAC3-5BCF-3523-986E-13116F733DC9}"/>
                </a:ext>
              </a:extLst>
            </p:cNvPr>
            <p:cNvPicPr>
              <a:picLocks noChangeAspect="1"/>
            </p:cNvPicPr>
            <p:nvPr/>
          </p:nvPicPr>
          <p:blipFill>
            <a:blip r:embed="rId2"/>
            <a:srcRect t="5700" b="15210"/>
            <a:stretch>
              <a:fillRect/>
            </a:stretch>
          </p:blipFill>
          <p:spPr>
            <a:xfrm>
              <a:off x="487821" y="1131589"/>
              <a:ext cx="1183583" cy="936106"/>
            </a:xfrm>
            <a:prstGeom prst="rect">
              <a:avLst/>
            </a:prstGeom>
          </p:spPr>
        </p:pic>
      </p:grpSp>
      <p:sp>
        <p:nvSpPr>
          <p:cNvPr id="32" name="Rechteck 31">
            <a:extLst>
              <a:ext uri="{FF2B5EF4-FFF2-40B4-BE49-F238E27FC236}">
                <a16:creationId xmlns:a16="http://schemas.microsoft.com/office/drawing/2014/main" id="{DC67C3DA-21F6-8E26-CD78-740581AE06CA}"/>
              </a:ext>
            </a:extLst>
          </p:cNvPr>
          <p:cNvSpPr/>
          <p:nvPr/>
        </p:nvSpPr>
        <p:spPr>
          <a:xfrm>
            <a:off x="4644008" y="1131588"/>
            <a:ext cx="4248472" cy="3201755"/>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200" b="1" noProof="0" dirty="0">
                <a:solidFill>
                  <a:schemeClr val="tx1"/>
                </a:solidFill>
              </a:rPr>
              <a:t>Prompt D1 (base_strategy.py):</a:t>
            </a:r>
          </a:p>
          <a:p>
            <a:pPr>
              <a:spcAft>
                <a:spcPts val="600"/>
              </a:spcAft>
            </a:pPr>
            <a:r>
              <a:rPr lang="en-US" sz="1200" noProof="0" dirty="0">
                <a:solidFill>
                  <a:schemeClr val="tx1"/>
                </a:solidFill>
              </a:rPr>
              <a:t>Please write the file “</a:t>
            </a:r>
            <a:r>
              <a:rPr lang="en-US" sz="1200" noProof="0" dirty="0" err="1">
                <a:solidFill>
                  <a:schemeClr val="tx1"/>
                </a:solidFill>
              </a:rPr>
              <a:t>base_strategy.py”for</a:t>
            </a:r>
            <a:r>
              <a:rPr lang="en-US" sz="1200" noProof="0" dirty="0">
                <a:solidFill>
                  <a:schemeClr val="tx1"/>
                </a:solidFill>
              </a:rPr>
              <a:t> a modular Python project on the iterated prisoner's dilemma.</a:t>
            </a:r>
          </a:p>
          <a:p>
            <a:pPr>
              <a:spcAft>
                <a:spcPts val="600"/>
              </a:spcAft>
            </a:pPr>
            <a:r>
              <a:rPr lang="en-US" sz="1200" noProof="0" dirty="0">
                <a:solidFill>
                  <a:schemeClr val="tx1"/>
                </a:solidFill>
              </a:rPr>
              <a:t>Requirements:</a:t>
            </a:r>
          </a:p>
          <a:p>
            <a:pPr marL="171450" indent="-171450">
              <a:spcAft>
                <a:spcPts val="600"/>
              </a:spcAft>
              <a:buFont typeface="Arial" panose="020B0604020202020204" pitchFamily="34" charset="0"/>
              <a:buChar char="•"/>
            </a:pPr>
            <a:r>
              <a:rPr lang="en-US" sz="1200" noProof="0" dirty="0">
                <a:solidFill>
                  <a:schemeClr val="tx1"/>
                </a:solidFill>
              </a:rPr>
              <a:t>define a base class for all strategies,</a:t>
            </a:r>
          </a:p>
          <a:p>
            <a:pPr marL="171450" indent="-171450">
              <a:spcAft>
                <a:spcPts val="600"/>
              </a:spcAft>
              <a:buFont typeface="Arial" panose="020B0604020202020204" pitchFamily="34" charset="0"/>
              <a:buChar char="•"/>
            </a:pPr>
            <a:r>
              <a:rPr lang="en-US" sz="1200" noProof="0" dirty="0">
                <a:solidFill>
                  <a:schemeClr val="tx1"/>
                </a:solidFill>
              </a:rPr>
              <a:t>include a strategy name,</a:t>
            </a:r>
          </a:p>
          <a:p>
            <a:pPr marL="171450" indent="-171450">
              <a:spcAft>
                <a:spcPts val="600"/>
              </a:spcAft>
              <a:buFont typeface="Arial" panose="020B0604020202020204" pitchFamily="34" charset="0"/>
              <a:buChar char="•"/>
            </a:pPr>
            <a:r>
              <a:rPr lang="en-US" sz="1200" noProof="0" dirty="0">
                <a:solidFill>
                  <a:schemeClr val="tx1"/>
                </a:solidFill>
              </a:rPr>
              <a:t>include a reset() method,</a:t>
            </a:r>
          </a:p>
          <a:p>
            <a:pPr marL="171450" indent="-171450">
              <a:spcAft>
                <a:spcPts val="600"/>
              </a:spcAft>
              <a:buFont typeface="Arial" panose="020B0604020202020204" pitchFamily="34" charset="0"/>
              <a:buChar char="•"/>
            </a:pPr>
            <a:r>
              <a:rPr lang="en-US" sz="1200" noProof="0" dirty="0">
                <a:solidFill>
                  <a:schemeClr val="tx1"/>
                </a:solidFill>
              </a:rPr>
              <a:t>include a </a:t>
            </a:r>
            <a:r>
              <a:rPr lang="en-US" sz="1200" noProof="0" dirty="0" err="1">
                <a:solidFill>
                  <a:schemeClr val="tx1"/>
                </a:solidFill>
              </a:rPr>
              <a:t>choose_action</a:t>
            </a:r>
            <a:r>
              <a:rPr lang="en-US" sz="1200" noProof="0" dirty="0">
                <a:solidFill>
                  <a:schemeClr val="tx1"/>
                </a:solidFill>
              </a:rPr>
              <a:t>(</a:t>
            </a:r>
            <a:r>
              <a:rPr lang="en-US" sz="1200" noProof="0" dirty="0" err="1">
                <a:solidFill>
                  <a:schemeClr val="tx1"/>
                </a:solidFill>
              </a:rPr>
              <a:t>opponent_history</a:t>
            </a:r>
            <a:r>
              <a:rPr lang="en-US" sz="1200" noProof="0" dirty="0">
                <a:solidFill>
                  <a:schemeClr val="tx1"/>
                </a:solidFill>
              </a:rPr>
              <a:t>, </a:t>
            </a:r>
            <a:r>
              <a:rPr lang="en-US" sz="1200" noProof="0" dirty="0" err="1">
                <a:solidFill>
                  <a:schemeClr val="tx1"/>
                </a:solidFill>
              </a:rPr>
              <a:t>own_history</a:t>
            </a:r>
            <a:r>
              <a:rPr lang="en-US" sz="1200" noProof="0" dirty="0">
                <a:solidFill>
                  <a:schemeClr val="tx1"/>
                </a:solidFill>
              </a:rPr>
              <a:t>) method,</a:t>
            </a:r>
          </a:p>
          <a:p>
            <a:pPr marL="171450" indent="-171450">
              <a:spcAft>
                <a:spcPts val="600"/>
              </a:spcAft>
              <a:buFont typeface="Arial" panose="020B0604020202020204" pitchFamily="34" charset="0"/>
              <a:buChar char="•"/>
            </a:pPr>
            <a:r>
              <a:rPr lang="en-US" sz="1200" noProof="0" dirty="0">
                <a:solidFill>
                  <a:schemeClr val="tx1"/>
                </a:solidFill>
              </a:rPr>
              <a:t>keep it simple and suitable for teaching,</a:t>
            </a:r>
          </a:p>
          <a:p>
            <a:pPr marL="171450" indent="-171450">
              <a:spcAft>
                <a:spcPts val="600"/>
              </a:spcAft>
              <a:buFont typeface="Arial" panose="020B0604020202020204" pitchFamily="34" charset="0"/>
              <a:buChar char="•"/>
            </a:pPr>
            <a:r>
              <a:rPr lang="en-US" sz="1200" noProof="0" dirty="0">
                <a:solidFill>
                  <a:schemeClr val="tx1"/>
                </a:solidFill>
              </a:rPr>
              <a:t>use clear comments,</a:t>
            </a:r>
          </a:p>
          <a:p>
            <a:pPr marL="171450" indent="-171450">
              <a:spcAft>
                <a:spcPts val="600"/>
              </a:spcAft>
              <a:buFont typeface="Arial" panose="020B0604020202020204" pitchFamily="34" charset="0"/>
              <a:buChar char="•"/>
            </a:pPr>
            <a:r>
              <a:rPr lang="en-US" sz="1200" noProof="0" dirty="0">
                <a:solidFill>
                  <a:schemeClr val="tx1"/>
                </a:solidFill>
              </a:rPr>
              <a:t>provide only the code for this file.</a:t>
            </a:r>
          </a:p>
        </p:txBody>
      </p:sp>
      <p:sp>
        <p:nvSpPr>
          <p:cNvPr id="33" name="Rechteck 32">
            <a:extLst>
              <a:ext uri="{FF2B5EF4-FFF2-40B4-BE49-F238E27FC236}">
                <a16:creationId xmlns:a16="http://schemas.microsoft.com/office/drawing/2014/main" id="{98EF0C8D-4DB6-E0C9-64DD-DF138C7C90A9}"/>
              </a:ext>
            </a:extLst>
          </p:cNvPr>
          <p:cNvSpPr/>
          <p:nvPr/>
        </p:nvSpPr>
        <p:spPr>
          <a:xfrm>
            <a:off x="7176988" y="4227934"/>
            <a:ext cx="1643484" cy="579150"/>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34" name="Gruppieren 33">
            <a:extLst>
              <a:ext uri="{FF2B5EF4-FFF2-40B4-BE49-F238E27FC236}">
                <a16:creationId xmlns:a16="http://schemas.microsoft.com/office/drawing/2014/main" id="{ED8DB9BC-103A-65AA-60C7-450FC7090FF3}"/>
              </a:ext>
            </a:extLst>
          </p:cNvPr>
          <p:cNvGrpSpPr/>
          <p:nvPr/>
        </p:nvGrpSpPr>
        <p:grpSpPr>
          <a:xfrm>
            <a:off x="8320206" y="4287625"/>
            <a:ext cx="432048" cy="432048"/>
            <a:chOff x="7452320" y="2571750"/>
            <a:chExt cx="720080" cy="720080"/>
          </a:xfrm>
        </p:grpSpPr>
        <p:sp>
          <p:nvSpPr>
            <p:cNvPr id="35" name="Rechteck: abgerundete Ecken 34">
              <a:extLst>
                <a:ext uri="{FF2B5EF4-FFF2-40B4-BE49-F238E27FC236}">
                  <a16:creationId xmlns:a16="http://schemas.microsoft.com/office/drawing/2014/main" id="{E2287116-9A1E-9AB8-20B9-84F82AA5970E}"/>
                </a:ext>
              </a:extLst>
            </p:cNvPr>
            <p:cNvSpPr/>
            <p:nvPr/>
          </p:nvSpPr>
          <p:spPr>
            <a:xfrm>
              <a:off x="7452320" y="2571750"/>
              <a:ext cx="720080" cy="720080"/>
            </a:xfrm>
            <a:prstGeom prst="round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noProof="0" dirty="0">
                <a:solidFill>
                  <a:schemeClr val="tx1"/>
                </a:solidFill>
              </a:endParaRPr>
            </a:p>
          </p:txBody>
        </p:sp>
        <p:sp>
          <p:nvSpPr>
            <p:cNvPr id="36" name="Rechteck: abgerundete Ecken 35">
              <a:extLst>
                <a:ext uri="{FF2B5EF4-FFF2-40B4-BE49-F238E27FC236}">
                  <a16:creationId xmlns:a16="http://schemas.microsoft.com/office/drawing/2014/main" id="{02F027B2-BCAD-0974-0F99-F9FC9BAAE340}"/>
                </a:ext>
              </a:extLst>
            </p:cNvPr>
            <p:cNvSpPr/>
            <p:nvPr/>
          </p:nvSpPr>
          <p:spPr>
            <a:xfrm>
              <a:off x="7528520" y="2647950"/>
              <a:ext cx="571872" cy="571872"/>
            </a:xfrm>
            <a:prstGeom prst="round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noProof="0" dirty="0">
                  <a:solidFill>
                    <a:schemeClr val="tx1"/>
                  </a:solidFill>
                </a:rPr>
                <a:t>AI</a:t>
              </a:r>
            </a:p>
          </p:txBody>
        </p:sp>
      </p:grpSp>
      <p:cxnSp>
        <p:nvCxnSpPr>
          <p:cNvPr id="37" name="Gerader Verbinder 36">
            <a:extLst>
              <a:ext uri="{FF2B5EF4-FFF2-40B4-BE49-F238E27FC236}">
                <a16:creationId xmlns:a16="http://schemas.microsoft.com/office/drawing/2014/main" id="{3807270D-0B04-FC7E-76BC-2AD796162207}"/>
              </a:ext>
            </a:extLst>
          </p:cNvPr>
          <p:cNvCxnSpPr>
            <a:cxnSpLocks/>
          </p:cNvCxnSpPr>
          <p:nvPr/>
        </p:nvCxnSpPr>
        <p:spPr>
          <a:xfrm>
            <a:off x="8532440" y="4807084"/>
            <a:ext cx="0" cy="212938"/>
          </a:xfrm>
          <a:prstGeom prst="lin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38" name="Gerader Verbinder 37">
            <a:extLst>
              <a:ext uri="{FF2B5EF4-FFF2-40B4-BE49-F238E27FC236}">
                <a16:creationId xmlns:a16="http://schemas.microsoft.com/office/drawing/2014/main" id="{29384783-DB1B-D405-2FFE-9D3707C69D02}"/>
              </a:ext>
            </a:extLst>
          </p:cNvPr>
          <p:cNvCxnSpPr>
            <a:cxnSpLocks/>
          </p:cNvCxnSpPr>
          <p:nvPr/>
        </p:nvCxnSpPr>
        <p:spPr>
          <a:xfrm flipH="1">
            <a:off x="7475665" y="5020022"/>
            <a:ext cx="1060565" cy="0"/>
          </a:xfrm>
          <a:prstGeom prst="lin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39" name="Gerader Verbinder 38">
            <a:extLst>
              <a:ext uri="{FF2B5EF4-FFF2-40B4-BE49-F238E27FC236}">
                <a16:creationId xmlns:a16="http://schemas.microsoft.com/office/drawing/2014/main" id="{1139472D-3DD4-CE70-A4E7-A40AEB24EA5E}"/>
              </a:ext>
            </a:extLst>
          </p:cNvPr>
          <p:cNvCxnSpPr>
            <a:cxnSpLocks/>
          </p:cNvCxnSpPr>
          <p:nvPr/>
        </p:nvCxnSpPr>
        <p:spPr>
          <a:xfrm>
            <a:off x="7475665" y="4872216"/>
            <a:ext cx="0" cy="147806"/>
          </a:xfrm>
          <a:prstGeom prst="line">
            <a:avLst/>
          </a:prstGeom>
          <a:solidFill>
            <a:schemeClr val="tx2">
              <a:lumMod val="20000"/>
              <a:lumOff val="80000"/>
            </a:schemeClr>
          </a:solidFill>
          <a:ln>
            <a:solidFill>
              <a:schemeClr val="tx2"/>
            </a:solidFill>
            <a:headEnd type="triangle" w="med" len="med"/>
            <a:tailEnd type="none" w="med" len="med"/>
          </a:ln>
        </p:spPr>
        <p:style>
          <a:lnRef idx="2">
            <a:schemeClr val="accent1">
              <a:shade val="15000"/>
            </a:schemeClr>
          </a:lnRef>
          <a:fillRef idx="1">
            <a:schemeClr val="accent1"/>
          </a:fillRef>
          <a:effectRef idx="0">
            <a:schemeClr val="accent1"/>
          </a:effectRef>
          <a:fontRef idx="minor">
            <a:schemeClr val="lt1"/>
          </a:fontRef>
        </p:style>
      </p:cxnSp>
      <p:sp>
        <p:nvSpPr>
          <p:cNvPr id="40" name="Textfeld 39">
            <a:extLst>
              <a:ext uri="{FF2B5EF4-FFF2-40B4-BE49-F238E27FC236}">
                <a16:creationId xmlns:a16="http://schemas.microsoft.com/office/drawing/2014/main" id="{810BF2A5-4F41-5864-B7D6-4A9A80F699CC}"/>
              </a:ext>
            </a:extLst>
          </p:cNvPr>
          <p:cNvSpPr txBox="1"/>
          <p:nvPr/>
        </p:nvSpPr>
        <p:spPr>
          <a:xfrm>
            <a:off x="4644007" y="4371950"/>
            <a:ext cx="1728187" cy="461665"/>
          </a:xfrm>
          <a:prstGeom prst="rect">
            <a:avLst/>
          </a:prstGeom>
          <a:noFill/>
        </p:spPr>
        <p:txBody>
          <a:bodyPr wrap="square" rtlCol="0">
            <a:spAutoFit/>
          </a:bodyPr>
          <a:lstStyle/>
          <a:p>
            <a:r>
              <a:rPr lang="en-US" sz="1200" noProof="0" dirty="0"/>
              <a:t>prompt generated with the help pf AI</a:t>
            </a:r>
          </a:p>
        </p:txBody>
      </p:sp>
      <p:grpSp>
        <p:nvGrpSpPr>
          <p:cNvPr id="8" name="Gruppieren 7">
            <a:extLst>
              <a:ext uri="{FF2B5EF4-FFF2-40B4-BE49-F238E27FC236}">
                <a16:creationId xmlns:a16="http://schemas.microsoft.com/office/drawing/2014/main" id="{565BCF35-9E79-F97E-E4A6-18D50D33929D}"/>
              </a:ext>
            </a:extLst>
          </p:cNvPr>
          <p:cNvGrpSpPr/>
          <p:nvPr/>
        </p:nvGrpSpPr>
        <p:grpSpPr>
          <a:xfrm rot="1432463">
            <a:off x="8028383" y="1104877"/>
            <a:ext cx="1008112" cy="216367"/>
            <a:chOff x="-612576" y="843213"/>
            <a:chExt cx="1008112" cy="216367"/>
          </a:xfrm>
        </p:grpSpPr>
        <p:sp>
          <p:nvSpPr>
            <p:cNvPr id="3" name="Rechteck 2">
              <a:extLst>
                <a:ext uri="{FF2B5EF4-FFF2-40B4-BE49-F238E27FC236}">
                  <a16:creationId xmlns:a16="http://schemas.microsoft.com/office/drawing/2014/main" id="{CF333306-3FA0-6AF4-4D3D-8E3E28B0B771}"/>
                </a:ext>
              </a:extLst>
            </p:cNvPr>
            <p:cNvSpPr/>
            <p:nvPr/>
          </p:nvSpPr>
          <p:spPr>
            <a:xfrm>
              <a:off x="-612576" y="843558"/>
              <a:ext cx="1008112" cy="216022"/>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Illustration</a:t>
              </a:r>
            </a:p>
          </p:txBody>
        </p:sp>
        <p:cxnSp>
          <p:nvCxnSpPr>
            <p:cNvPr id="6" name="Gerader Verbinder 5">
              <a:extLst>
                <a:ext uri="{FF2B5EF4-FFF2-40B4-BE49-F238E27FC236}">
                  <a16:creationId xmlns:a16="http://schemas.microsoft.com/office/drawing/2014/main" id="{61435265-CBED-F57E-E1FC-F7D7E4DAF4C2}"/>
                </a:ext>
              </a:extLst>
            </p:cNvPr>
            <p:cNvCxnSpPr>
              <a:cxnSpLocks/>
            </p:cNvCxnSpPr>
            <p:nvPr/>
          </p:nvCxnSpPr>
          <p:spPr>
            <a:xfrm>
              <a:off x="-612576" y="1059580"/>
              <a:ext cx="1008112" cy="0"/>
            </a:xfrm>
            <a:prstGeom prst="lin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cxnSp>
        <p:cxnSp>
          <p:nvCxnSpPr>
            <p:cNvPr id="7" name="Gerader Verbinder 6">
              <a:extLst>
                <a:ext uri="{FF2B5EF4-FFF2-40B4-BE49-F238E27FC236}">
                  <a16:creationId xmlns:a16="http://schemas.microsoft.com/office/drawing/2014/main" id="{F75E2497-4A21-3C91-7EF6-F3E1DF4C57B4}"/>
                </a:ext>
              </a:extLst>
            </p:cNvPr>
            <p:cNvCxnSpPr/>
            <p:nvPr/>
          </p:nvCxnSpPr>
          <p:spPr>
            <a:xfrm>
              <a:off x="-612576" y="843213"/>
              <a:ext cx="1008112" cy="0"/>
            </a:xfrm>
            <a:prstGeom prst="lin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12099837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B34FB5-EE3C-B492-AF33-E0BED1162AFE}"/>
              </a:ext>
            </a:extLst>
          </p:cNvPr>
          <p:cNvSpPr>
            <a:spLocks noGrp="1"/>
          </p:cNvSpPr>
          <p:nvPr>
            <p:ph type="title"/>
          </p:nvPr>
        </p:nvSpPr>
        <p:spPr/>
        <p:txBody>
          <a:bodyPr/>
          <a:lstStyle/>
          <a:p>
            <a:r>
              <a:rPr lang="en-US" noProof="0" dirty="0"/>
              <a:t>Phase 1 (Baseline Tournament):</a:t>
            </a:r>
            <a:br>
              <a:rPr lang="en-US" noProof="0" dirty="0"/>
            </a:br>
            <a:r>
              <a:rPr lang="en-US" noProof="0" dirty="0"/>
              <a:t>File-by-file code generation – 2/ 2</a:t>
            </a:r>
          </a:p>
        </p:txBody>
      </p:sp>
      <p:sp>
        <p:nvSpPr>
          <p:cNvPr id="3" name="Rechteck 2">
            <a:extLst>
              <a:ext uri="{FF2B5EF4-FFF2-40B4-BE49-F238E27FC236}">
                <a16:creationId xmlns:a16="http://schemas.microsoft.com/office/drawing/2014/main" id="{642A391B-1618-86B4-6E62-C086C5BB880E}"/>
              </a:ext>
            </a:extLst>
          </p:cNvPr>
          <p:cNvSpPr/>
          <p:nvPr/>
        </p:nvSpPr>
        <p:spPr>
          <a:xfrm>
            <a:off x="251520" y="1131589"/>
            <a:ext cx="4248472" cy="3201753"/>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200" b="1" noProof="0" dirty="0">
                <a:solidFill>
                  <a:schemeClr val="tx1"/>
                </a:solidFill>
              </a:rPr>
              <a:t>Prompt D2 (simple strategies):</a:t>
            </a:r>
          </a:p>
          <a:p>
            <a:pPr>
              <a:spcAft>
                <a:spcPts val="600"/>
              </a:spcAft>
            </a:pPr>
            <a:r>
              <a:rPr lang="en-US" sz="1200" noProof="0" dirty="0">
                <a:solidFill>
                  <a:schemeClr val="tx1"/>
                </a:solidFill>
              </a:rPr>
              <a:t>Please write the following files for a modular Python project on the iterated prisoner's dilemma:</a:t>
            </a:r>
          </a:p>
          <a:p>
            <a:pPr marL="171450" indent="-171450">
              <a:spcAft>
                <a:spcPts val="600"/>
              </a:spcAft>
              <a:buFont typeface="Arial" panose="020B0604020202020204" pitchFamily="34" charset="0"/>
              <a:buChar char="•"/>
            </a:pPr>
            <a:r>
              <a:rPr lang="en-US" sz="1200" noProof="0" dirty="0">
                <a:solidFill>
                  <a:schemeClr val="tx1"/>
                </a:solidFill>
              </a:rPr>
              <a:t>always_cooperate.py</a:t>
            </a:r>
          </a:p>
          <a:p>
            <a:pPr marL="171450" indent="-171450">
              <a:spcAft>
                <a:spcPts val="600"/>
              </a:spcAft>
              <a:buFont typeface="Arial" panose="020B0604020202020204" pitchFamily="34" charset="0"/>
              <a:buChar char="•"/>
            </a:pPr>
            <a:r>
              <a:rPr lang="en-US" sz="1200" noProof="0" dirty="0">
                <a:solidFill>
                  <a:schemeClr val="tx1"/>
                </a:solidFill>
              </a:rPr>
              <a:t>always_defect.py</a:t>
            </a:r>
          </a:p>
          <a:p>
            <a:pPr>
              <a:spcAft>
                <a:spcPts val="600"/>
              </a:spcAft>
            </a:pPr>
            <a:r>
              <a:rPr lang="en-US" sz="1200" noProof="0" dirty="0">
                <a:solidFill>
                  <a:schemeClr val="tx1"/>
                </a:solidFill>
              </a:rPr>
              <a:t>Requirements:</a:t>
            </a:r>
          </a:p>
          <a:p>
            <a:pPr marL="171450" indent="-171450">
              <a:spcAft>
                <a:spcPts val="600"/>
              </a:spcAft>
              <a:buFont typeface="Arial" panose="020B0604020202020204" pitchFamily="34" charset="0"/>
              <a:buChar char="•"/>
            </a:pPr>
            <a:r>
              <a:rPr lang="en-US" sz="1200" noProof="0" dirty="0">
                <a:solidFill>
                  <a:schemeClr val="tx1"/>
                </a:solidFill>
              </a:rPr>
              <a:t>each strategy should inherit from the base strategy class,</a:t>
            </a:r>
          </a:p>
          <a:p>
            <a:pPr marL="171450" indent="-171450">
              <a:spcAft>
                <a:spcPts val="600"/>
              </a:spcAft>
              <a:buFont typeface="Arial" panose="020B0604020202020204" pitchFamily="34" charset="0"/>
              <a:buChar char="•"/>
            </a:pPr>
            <a:r>
              <a:rPr lang="en-US" sz="1200" noProof="0" dirty="0">
                <a:solidFill>
                  <a:schemeClr val="tx1"/>
                </a:solidFill>
              </a:rPr>
              <a:t>each file should contain exactly one strategy,</a:t>
            </a:r>
          </a:p>
          <a:p>
            <a:pPr marL="171450" indent="-171450">
              <a:spcAft>
                <a:spcPts val="600"/>
              </a:spcAft>
              <a:buFont typeface="Arial" panose="020B0604020202020204" pitchFamily="34" charset="0"/>
              <a:buChar char="•"/>
            </a:pPr>
            <a:r>
              <a:rPr lang="en-US" sz="1200" noProof="0" dirty="0">
                <a:solidFill>
                  <a:schemeClr val="tx1"/>
                </a:solidFill>
              </a:rPr>
              <a:t>keep the files short,</a:t>
            </a:r>
          </a:p>
          <a:p>
            <a:pPr marL="171450" indent="-171450">
              <a:spcAft>
                <a:spcPts val="600"/>
              </a:spcAft>
              <a:buFont typeface="Arial" panose="020B0604020202020204" pitchFamily="34" charset="0"/>
              <a:buChar char="•"/>
            </a:pPr>
            <a:r>
              <a:rPr lang="en-US" sz="1200" noProof="0" dirty="0">
                <a:solidFill>
                  <a:schemeClr val="tx1"/>
                </a:solidFill>
              </a:rPr>
              <a:t>use clear comments,</a:t>
            </a:r>
          </a:p>
          <a:p>
            <a:pPr marL="171450" indent="-171450">
              <a:spcAft>
                <a:spcPts val="600"/>
              </a:spcAft>
              <a:buFont typeface="Arial" panose="020B0604020202020204" pitchFamily="34" charset="0"/>
              <a:buChar char="•"/>
            </a:pPr>
            <a:r>
              <a:rPr lang="en-US" sz="1200" noProof="0" dirty="0">
                <a:solidFill>
                  <a:schemeClr val="tx1"/>
                </a:solidFill>
              </a:rPr>
              <a:t>provide the code file by file.</a:t>
            </a:r>
          </a:p>
        </p:txBody>
      </p:sp>
      <p:sp>
        <p:nvSpPr>
          <p:cNvPr id="4" name="Rechteck 3">
            <a:extLst>
              <a:ext uri="{FF2B5EF4-FFF2-40B4-BE49-F238E27FC236}">
                <a16:creationId xmlns:a16="http://schemas.microsoft.com/office/drawing/2014/main" id="{13F0D487-1FAF-60F1-98F7-2264C5F7F483}"/>
              </a:ext>
            </a:extLst>
          </p:cNvPr>
          <p:cNvSpPr/>
          <p:nvPr/>
        </p:nvSpPr>
        <p:spPr>
          <a:xfrm>
            <a:off x="2771800" y="4227934"/>
            <a:ext cx="1643484" cy="579150"/>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5" name="Gruppieren 4">
            <a:extLst>
              <a:ext uri="{FF2B5EF4-FFF2-40B4-BE49-F238E27FC236}">
                <a16:creationId xmlns:a16="http://schemas.microsoft.com/office/drawing/2014/main" id="{4D59D9D3-1003-64DA-98D4-77787BAADEE8}"/>
              </a:ext>
            </a:extLst>
          </p:cNvPr>
          <p:cNvGrpSpPr/>
          <p:nvPr/>
        </p:nvGrpSpPr>
        <p:grpSpPr>
          <a:xfrm>
            <a:off x="3915018" y="4287625"/>
            <a:ext cx="432048" cy="432048"/>
            <a:chOff x="7452320" y="2571750"/>
            <a:chExt cx="720080" cy="720080"/>
          </a:xfrm>
        </p:grpSpPr>
        <p:sp>
          <p:nvSpPr>
            <p:cNvPr id="6" name="Rechteck: abgerundete Ecken 5">
              <a:extLst>
                <a:ext uri="{FF2B5EF4-FFF2-40B4-BE49-F238E27FC236}">
                  <a16:creationId xmlns:a16="http://schemas.microsoft.com/office/drawing/2014/main" id="{8858EAEA-B30A-FB3B-AE33-3D1E1DF3D7AD}"/>
                </a:ext>
              </a:extLst>
            </p:cNvPr>
            <p:cNvSpPr/>
            <p:nvPr/>
          </p:nvSpPr>
          <p:spPr>
            <a:xfrm>
              <a:off x="7452320" y="2571750"/>
              <a:ext cx="720080" cy="720080"/>
            </a:xfrm>
            <a:prstGeom prst="round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noProof="0" dirty="0">
                <a:solidFill>
                  <a:schemeClr val="tx1"/>
                </a:solidFill>
              </a:endParaRPr>
            </a:p>
          </p:txBody>
        </p:sp>
        <p:sp>
          <p:nvSpPr>
            <p:cNvPr id="7" name="Rechteck: abgerundete Ecken 6">
              <a:extLst>
                <a:ext uri="{FF2B5EF4-FFF2-40B4-BE49-F238E27FC236}">
                  <a16:creationId xmlns:a16="http://schemas.microsoft.com/office/drawing/2014/main" id="{C23601F9-2684-8B26-D073-1790BB90EAF1}"/>
                </a:ext>
              </a:extLst>
            </p:cNvPr>
            <p:cNvSpPr/>
            <p:nvPr/>
          </p:nvSpPr>
          <p:spPr>
            <a:xfrm>
              <a:off x="7528520" y="2647950"/>
              <a:ext cx="571872" cy="571872"/>
            </a:xfrm>
            <a:prstGeom prst="round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noProof="0" dirty="0">
                  <a:solidFill>
                    <a:schemeClr val="tx1"/>
                  </a:solidFill>
                </a:rPr>
                <a:t>AI</a:t>
              </a:r>
            </a:p>
          </p:txBody>
        </p:sp>
      </p:grpSp>
      <p:cxnSp>
        <p:nvCxnSpPr>
          <p:cNvPr id="8" name="Gerader Verbinder 7">
            <a:extLst>
              <a:ext uri="{FF2B5EF4-FFF2-40B4-BE49-F238E27FC236}">
                <a16:creationId xmlns:a16="http://schemas.microsoft.com/office/drawing/2014/main" id="{1D0D787B-590B-794F-AD05-7B062E390748}"/>
              </a:ext>
            </a:extLst>
          </p:cNvPr>
          <p:cNvCxnSpPr>
            <a:cxnSpLocks/>
          </p:cNvCxnSpPr>
          <p:nvPr/>
        </p:nvCxnSpPr>
        <p:spPr>
          <a:xfrm>
            <a:off x="4127252" y="4807084"/>
            <a:ext cx="0" cy="212938"/>
          </a:xfrm>
          <a:prstGeom prst="lin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9" name="Gerader Verbinder 8">
            <a:extLst>
              <a:ext uri="{FF2B5EF4-FFF2-40B4-BE49-F238E27FC236}">
                <a16:creationId xmlns:a16="http://schemas.microsoft.com/office/drawing/2014/main" id="{57F856C6-AEB7-0FB7-681A-95DBB4C3CEC1}"/>
              </a:ext>
            </a:extLst>
          </p:cNvPr>
          <p:cNvCxnSpPr>
            <a:cxnSpLocks/>
          </p:cNvCxnSpPr>
          <p:nvPr/>
        </p:nvCxnSpPr>
        <p:spPr>
          <a:xfrm flipH="1">
            <a:off x="3070477" y="5020022"/>
            <a:ext cx="1060565" cy="0"/>
          </a:xfrm>
          <a:prstGeom prst="lin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0" name="Gerader Verbinder 9">
            <a:extLst>
              <a:ext uri="{FF2B5EF4-FFF2-40B4-BE49-F238E27FC236}">
                <a16:creationId xmlns:a16="http://schemas.microsoft.com/office/drawing/2014/main" id="{44D6D75F-DD46-0842-0ADE-35955F5A4B69}"/>
              </a:ext>
            </a:extLst>
          </p:cNvPr>
          <p:cNvCxnSpPr>
            <a:cxnSpLocks/>
          </p:cNvCxnSpPr>
          <p:nvPr/>
        </p:nvCxnSpPr>
        <p:spPr>
          <a:xfrm>
            <a:off x="3070477" y="4872216"/>
            <a:ext cx="0" cy="147806"/>
          </a:xfrm>
          <a:prstGeom prst="line">
            <a:avLst/>
          </a:prstGeom>
          <a:solidFill>
            <a:schemeClr val="tx2">
              <a:lumMod val="20000"/>
              <a:lumOff val="80000"/>
            </a:schemeClr>
          </a:solidFill>
          <a:ln>
            <a:solidFill>
              <a:schemeClr val="tx2"/>
            </a:solidFill>
            <a:headEnd type="triangle" w="med" len="med"/>
            <a:tailEnd type="none" w="med" len="med"/>
          </a:ln>
        </p:spPr>
        <p:style>
          <a:lnRef idx="2">
            <a:schemeClr val="accent1">
              <a:shade val="15000"/>
            </a:schemeClr>
          </a:lnRef>
          <a:fillRef idx="1">
            <a:schemeClr val="accent1"/>
          </a:fillRef>
          <a:effectRef idx="0">
            <a:schemeClr val="accent1"/>
          </a:effectRef>
          <a:fontRef idx="minor">
            <a:schemeClr val="lt1"/>
          </a:fontRef>
        </p:style>
      </p:cxnSp>
      <p:sp>
        <p:nvSpPr>
          <p:cNvPr id="12" name="Textfeld 11">
            <a:extLst>
              <a:ext uri="{FF2B5EF4-FFF2-40B4-BE49-F238E27FC236}">
                <a16:creationId xmlns:a16="http://schemas.microsoft.com/office/drawing/2014/main" id="{9F480DD1-EA4A-F5E8-B0A5-9A3D1BD4251E}"/>
              </a:ext>
            </a:extLst>
          </p:cNvPr>
          <p:cNvSpPr txBox="1"/>
          <p:nvPr/>
        </p:nvSpPr>
        <p:spPr>
          <a:xfrm>
            <a:off x="251520" y="4371950"/>
            <a:ext cx="1728187" cy="461665"/>
          </a:xfrm>
          <a:prstGeom prst="rect">
            <a:avLst/>
          </a:prstGeom>
          <a:noFill/>
        </p:spPr>
        <p:txBody>
          <a:bodyPr wrap="square" rtlCol="0">
            <a:spAutoFit/>
          </a:bodyPr>
          <a:lstStyle/>
          <a:p>
            <a:r>
              <a:rPr lang="en-US" sz="1200" noProof="0" dirty="0"/>
              <a:t>prompt generated with the help pf AI</a:t>
            </a:r>
          </a:p>
        </p:txBody>
      </p:sp>
      <p:sp>
        <p:nvSpPr>
          <p:cNvPr id="18" name="Rechteck 17">
            <a:extLst>
              <a:ext uri="{FF2B5EF4-FFF2-40B4-BE49-F238E27FC236}">
                <a16:creationId xmlns:a16="http://schemas.microsoft.com/office/drawing/2014/main" id="{BB0C2472-C607-84EA-DA4D-DC7E574BADCC}"/>
              </a:ext>
            </a:extLst>
          </p:cNvPr>
          <p:cNvSpPr/>
          <p:nvPr/>
        </p:nvSpPr>
        <p:spPr>
          <a:xfrm>
            <a:off x="4644008" y="1131590"/>
            <a:ext cx="4248472" cy="3201755"/>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200" b="1" noProof="0" dirty="0">
                <a:solidFill>
                  <a:schemeClr val="tx1"/>
                </a:solidFill>
              </a:rPr>
              <a:t>Prompt D3 (config.py):</a:t>
            </a:r>
          </a:p>
          <a:p>
            <a:pPr>
              <a:spcAft>
                <a:spcPts val="600"/>
              </a:spcAft>
            </a:pPr>
            <a:r>
              <a:rPr lang="en-US" sz="1200" noProof="0" dirty="0">
                <a:solidFill>
                  <a:schemeClr val="tx1"/>
                </a:solidFill>
              </a:rPr>
              <a:t>Please write the file ‘config.py’ for the project.</a:t>
            </a:r>
          </a:p>
          <a:p>
            <a:pPr>
              <a:spcAft>
                <a:spcPts val="600"/>
              </a:spcAft>
            </a:pPr>
            <a:r>
              <a:rPr lang="en-US" sz="1200" noProof="0" dirty="0">
                <a:solidFill>
                  <a:schemeClr val="tx1"/>
                </a:solidFill>
              </a:rPr>
              <a:t>Requirements:</a:t>
            </a:r>
          </a:p>
          <a:p>
            <a:pPr marL="171450" indent="-171450">
              <a:spcAft>
                <a:spcPts val="600"/>
              </a:spcAft>
              <a:buFont typeface="Arial" panose="020B0604020202020204" pitchFamily="34" charset="0"/>
              <a:buChar char="•"/>
            </a:pPr>
            <a:r>
              <a:rPr lang="en-US" sz="1200" noProof="0" dirty="0">
                <a:solidFill>
                  <a:schemeClr val="tx1"/>
                </a:solidFill>
              </a:rPr>
              <a:t>define the payoff matrix centrally,</a:t>
            </a:r>
          </a:p>
          <a:p>
            <a:pPr marL="171450" indent="-171450">
              <a:spcAft>
                <a:spcPts val="600"/>
              </a:spcAft>
              <a:buFont typeface="Arial" panose="020B0604020202020204" pitchFamily="34" charset="0"/>
              <a:buChar char="•"/>
            </a:pPr>
            <a:r>
              <a:rPr lang="en-US" sz="1200" noProof="0" dirty="0">
                <a:solidFill>
                  <a:schemeClr val="tx1"/>
                </a:solidFill>
              </a:rPr>
              <a:t>define number of rounds per encounter,</a:t>
            </a:r>
          </a:p>
          <a:p>
            <a:pPr marL="171450" indent="-171450">
              <a:spcAft>
                <a:spcPts val="600"/>
              </a:spcAft>
              <a:buFont typeface="Arial" panose="020B0604020202020204" pitchFamily="34" charset="0"/>
              <a:buChar char="•"/>
            </a:pPr>
            <a:r>
              <a:rPr lang="en-US" sz="1200" noProof="0" dirty="0">
                <a:solidFill>
                  <a:schemeClr val="tx1"/>
                </a:solidFill>
              </a:rPr>
              <a:t>define number of generations,</a:t>
            </a:r>
          </a:p>
          <a:p>
            <a:pPr marL="171450" indent="-171450">
              <a:spcAft>
                <a:spcPts val="600"/>
              </a:spcAft>
              <a:buFont typeface="Arial" panose="020B0604020202020204" pitchFamily="34" charset="0"/>
              <a:buChar char="•"/>
            </a:pPr>
            <a:r>
              <a:rPr lang="en-US" sz="1200" noProof="0" dirty="0">
                <a:solidFill>
                  <a:schemeClr val="tx1"/>
                </a:solidFill>
              </a:rPr>
              <a:t>define initial population counts for each strategy,</a:t>
            </a:r>
          </a:p>
          <a:p>
            <a:pPr marL="171450" indent="-171450">
              <a:spcAft>
                <a:spcPts val="600"/>
              </a:spcAft>
              <a:buFont typeface="Arial" panose="020B0604020202020204" pitchFamily="34" charset="0"/>
              <a:buChar char="•"/>
            </a:pPr>
            <a:r>
              <a:rPr lang="en-US" sz="1200" noProof="0" dirty="0">
                <a:solidFill>
                  <a:schemeClr val="tx1"/>
                </a:solidFill>
              </a:rPr>
              <a:t>make it easy to modify parameters,</a:t>
            </a:r>
          </a:p>
          <a:p>
            <a:pPr marL="171450" indent="-171450">
              <a:spcAft>
                <a:spcPts val="600"/>
              </a:spcAft>
              <a:buFont typeface="Arial" panose="020B0604020202020204" pitchFamily="34" charset="0"/>
              <a:buChar char="•"/>
            </a:pPr>
            <a:r>
              <a:rPr lang="en-US" sz="1200" noProof="0" dirty="0">
                <a:solidFill>
                  <a:schemeClr val="tx1"/>
                </a:solidFill>
              </a:rPr>
              <a:t>keep the file short and readable,</a:t>
            </a:r>
          </a:p>
          <a:p>
            <a:pPr marL="171450" indent="-171450">
              <a:spcAft>
                <a:spcPts val="600"/>
              </a:spcAft>
              <a:buFont typeface="Arial" panose="020B0604020202020204" pitchFamily="34" charset="0"/>
              <a:buChar char="•"/>
            </a:pPr>
            <a:r>
              <a:rPr lang="en-US" sz="1200" noProof="0" dirty="0">
                <a:solidFill>
                  <a:schemeClr val="tx1"/>
                </a:solidFill>
              </a:rPr>
              <a:t>provide only the code for this file.</a:t>
            </a:r>
          </a:p>
        </p:txBody>
      </p:sp>
      <p:sp>
        <p:nvSpPr>
          <p:cNvPr id="19" name="Rechteck 18">
            <a:extLst>
              <a:ext uri="{FF2B5EF4-FFF2-40B4-BE49-F238E27FC236}">
                <a16:creationId xmlns:a16="http://schemas.microsoft.com/office/drawing/2014/main" id="{9B7CE75D-0737-D76C-8F88-0F73F45E98BF}"/>
              </a:ext>
            </a:extLst>
          </p:cNvPr>
          <p:cNvSpPr/>
          <p:nvPr/>
        </p:nvSpPr>
        <p:spPr>
          <a:xfrm>
            <a:off x="7176988" y="4227936"/>
            <a:ext cx="1643484" cy="579150"/>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0" name="Gruppieren 19">
            <a:extLst>
              <a:ext uri="{FF2B5EF4-FFF2-40B4-BE49-F238E27FC236}">
                <a16:creationId xmlns:a16="http://schemas.microsoft.com/office/drawing/2014/main" id="{26BDA882-8BFA-7237-C3E1-1E7506E852D1}"/>
              </a:ext>
            </a:extLst>
          </p:cNvPr>
          <p:cNvGrpSpPr/>
          <p:nvPr/>
        </p:nvGrpSpPr>
        <p:grpSpPr>
          <a:xfrm>
            <a:off x="8320206" y="4287627"/>
            <a:ext cx="432048" cy="432048"/>
            <a:chOff x="7452320" y="2571750"/>
            <a:chExt cx="720080" cy="720080"/>
          </a:xfrm>
        </p:grpSpPr>
        <p:sp>
          <p:nvSpPr>
            <p:cNvPr id="21" name="Rechteck: abgerundete Ecken 20">
              <a:extLst>
                <a:ext uri="{FF2B5EF4-FFF2-40B4-BE49-F238E27FC236}">
                  <a16:creationId xmlns:a16="http://schemas.microsoft.com/office/drawing/2014/main" id="{4B208C4B-7284-21E1-6586-9C0AA0321DF6}"/>
                </a:ext>
              </a:extLst>
            </p:cNvPr>
            <p:cNvSpPr/>
            <p:nvPr/>
          </p:nvSpPr>
          <p:spPr>
            <a:xfrm>
              <a:off x="7452320" y="2571750"/>
              <a:ext cx="720080" cy="720080"/>
            </a:xfrm>
            <a:prstGeom prst="round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noProof="0" dirty="0">
                <a:solidFill>
                  <a:schemeClr val="tx1"/>
                </a:solidFill>
              </a:endParaRPr>
            </a:p>
          </p:txBody>
        </p:sp>
        <p:sp>
          <p:nvSpPr>
            <p:cNvPr id="22" name="Rechteck: abgerundete Ecken 21">
              <a:extLst>
                <a:ext uri="{FF2B5EF4-FFF2-40B4-BE49-F238E27FC236}">
                  <a16:creationId xmlns:a16="http://schemas.microsoft.com/office/drawing/2014/main" id="{81AD6CFC-DA8E-8A72-F353-B0B22C18433B}"/>
                </a:ext>
              </a:extLst>
            </p:cNvPr>
            <p:cNvSpPr/>
            <p:nvPr/>
          </p:nvSpPr>
          <p:spPr>
            <a:xfrm>
              <a:off x="7528520" y="2647950"/>
              <a:ext cx="571872" cy="571872"/>
            </a:xfrm>
            <a:prstGeom prst="round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noProof="0" dirty="0">
                  <a:solidFill>
                    <a:schemeClr val="tx1"/>
                  </a:solidFill>
                </a:rPr>
                <a:t>AI</a:t>
              </a:r>
            </a:p>
          </p:txBody>
        </p:sp>
      </p:grpSp>
      <p:cxnSp>
        <p:nvCxnSpPr>
          <p:cNvPr id="23" name="Gerader Verbinder 22">
            <a:extLst>
              <a:ext uri="{FF2B5EF4-FFF2-40B4-BE49-F238E27FC236}">
                <a16:creationId xmlns:a16="http://schemas.microsoft.com/office/drawing/2014/main" id="{D7739418-31E4-DF9A-2291-99EC189E3170}"/>
              </a:ext>
            </a:extLst>
          </p:cNvPr>
          <p:cNvCxnSpPr>
            <a:cxnSpLocks/>
          </p:cNvCxnSpPr>
          <p:nvPr/>
        </p:nvCxnSpPr>
        <p:spPr>
          <a:xfrm>
            <a:off x="8532440" y="4807086"/>
            <a:ext cx="0" cy="212938"/>
          </a:xfrm>
          <a:prstGeom prst="lin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7" name="Gerader Verbinder 26">
            <a:extLst>
              <a:ext uri="{FF2B5EF4-FFF2-40B4-BE49-F238E27FC236}">
                <a16:creationId xmlns:a16="http://schemas.microsoft.com/office/drawing/2014/main" id="{7188A764-F3C9-6140-46A9-D4ABEDCAE723}"/>
              </a:ext>
            </a:extLst>
          </p:cNvPr>
          <p:cNvCxnSpPr>
            <a:cxnSpLocks/>
          </p:cNvCxnSpPr>
          <p:nvPr/>
        </p:nvCxnSpPr>
        <p:spPr>
          <a:xfrm flipH="1">
            <a:off x="7475665" y="5020024"/>
            <a:ext cx="1060565" cy="0"/>
          </a:xfrm>
          <a:prstGeom prst="lin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8" name="Gerader Verbinder 27">
            <a:extLst>
              <a:ext uri="{FF2B5EF4-FFF2-40B4-BE49-F238E27FC236}">
                <a16:creationId xmlns:a16="http://schemas.microsoft.com/office/drawing/2014/main" id="{25A09056-E58A-60D7-2611-DA29BA4CE055}"/>
              </a:ext>
            </a:extLst>
          </p:cNvPr>
          <p:cNvCxnSpPr>
            <a:cxnSpLocks/>
          </p:cNvCxnSpPr>
          <p:nvPr/>
        </p:nvCxnSpPr>
        <p:spPr>
          <a:xfrm>
            <a:off x="7475665" y="4872218"/>
            <a:ext cx="0" cy="147806"/>
          </a:xfrm>
          <a:prstGeom prst="line">
            <a:avLst/>
          </a:prstGeom>
          <a:solidFill>
            <a:schemeClr val="tx2">
              <a:lumMod val="20000"/>
              <a:lumOff val="80000"/>
            </a:schemeClr>
          </a:solidFill>
          <a:ln>
            <a:solidFill>
              <a:schemeClr val="tx2"/>
            </a:solidFill>
            <a:headEnd type="triangle" w="med" len="med"/>
            <a:tailEnd type="none" w="med" len="med"/>
          </a:ln>
        </p:spPr>
        <p:style>
          <a:lnRef idx="2">
            <a:schemeClr val="accent1">
              <a:shade val="15000"/>
            </a:schemeClr>
          </a:lnRef>
          <a:fillRef idx="1">
            <a:schemeClr val="accent1"/>
          </a:fillRef>
          <a:effectRef idx="0">
            <a:schemeClr val="accent1"/>
          </a:effectRef>
          <a:fontRef idx="minor">
            <a:schemeClr val="lt1"/>
          </a:fontRef>
        </p:style>
      </p:cxnSp>
      <p:sp>
        <p:nvSpPr>
          <p:cNvPr id="29" name="Textfeld 28">
            <a:extLst>
              <a:ext uri="{FF2B5EF4-FFF2-40B4-BE49-F238E27FC236}">
                <a16:creationId xmlns:a16="http://schemas.microsoft.com/office/drawing/2014/main" id="{2962CE99-5FF4-A8C2-207E-090E44982021}"/>
              </a:ext>
            </a:extLst>
          </p:cNvPr>
          <p:cNvSpPr txBox="1"/>
          <p:nvPr/>
        </p:nvSpPr>
        <p:spPr>
          <a:xfrm>
            <a:off x="4644007" y="4371952"/>
            <a:ext cx="1728187" cy="461665"/>
          </a:xfrm>
          <a:prstGeom prst="rect">
            <a:avLst/>
          </a:prstGeom>
          <a:noFill/>
        </p:spPr>
        <p:txBody>
          <a:bodyPr wrap="square" rtlCol="0">
            <a:spAutoFit/>
          </a:bodyPr>
          <a:lstStyle/>
          <a:p>
            <a:r>
              <a:rPr lang="en-US" sz="1200" noProof="0" dirty="0"/>
              <a:t>prompt generated with the help pf AI</a:t>
            </a:r>
          </a:p>
        </p:txBody>
      </p:sp>
      <p:grpSp>
        <p:nvGrpSpPr>
          <p:cNvPr id="11" name="Gruppieren 10">
            <a:extLst>
              <a:ext uri="{FF2B5EF4-FFF2-40B4-BE49-F238E27FC236}">
                <a16:creationId xmlns:a16="http://schemas.microsoft.com/office/drawing/2014/main" id="{4EF11DB4-F519-6C55-A7D3-524E02108FA0}"/>
              </a:ext>
            </a:extLst>
          </p:cNvPr>
          <p:cNvGrpSpPr/>
          <p:nvPr/>
        </p:nvGrpSpPr>
        <p:grpSpPr>
          <a:xfrm rot="1432463">
            <a:off x="8028383" y="1104877"/>
            <a:ext cx="1008112" cy="216367"/>
            <a:chOff x="-612576" y="843213"/>
            <a:chExt cx="1008112" cy="216367"/>
          </a:xfrm>
        </p:grpSpPr>
        <p:sp>
          <p:nvSpPr>
            <p:cNvPr id="13" name="Rechteck 12">
              <a:extLst>
                <a:ext uri="{FF2B5EF4-FFF2-40B4-BE49-F238E27FC236}">
                  <a16:creationId xmlns:a16="http://schemas.microsoft.com/office/drawing/2014/main" id="{F8DA82E0-FF90-2209-4990-EC67E230C894}"/>
                </a:ext>
              </a:extLst>
            </p:cNvPr>
            <p:cNvSpPr/>
            <p:nvPr/>
          </p:nvSpPr>
          <p:spPr>
            <a:xfrm>
              <a:off x="-612576" y="843558"/>
              <a:ext cx="1008112" cy="216022"/>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Illustration</a:t>
              </a:r>
            </a:p>
          </p:txBody>
        </p:sp>
        <p:cxnSp>
          <p:nvCxnSpPr>
            <p:cNvPr id="14" name="Gerader Verbinder 13">
              <a:extLst>
                <a:ext uri="{FF2B5EF4-FFF2-40B4-BE49-F238E27FC236}">
                  <a16:creationId xmlns:a16="http://schemas.microsoft.com/office/drawing/2014/main" id="{C277E317-F037-476B-5EB0-72803ED36301}"/>
                </a:ext>
              </a:extLst>
            </p:cNvPr>
            <p:cNvCxnSpPr>
              <a:cxnSpLocks/>
            </p:cNvCxnSpPr>
            <p:nvPr/>
          </p:nvCxnSpPr>
          <p:spPr>
            <a:xfrm>
              <a:off x="-612576" y="1059580"/>
              <a:ext cx="1008112" cy="0"/>
            </a:xfrm>
            <a:prstGeom prst="lin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cxnSp>
        <p:cxnSp>
          <p:nvCxnSpPr>
            <p:cNvPr id="15" name="Gerader Verbinder 14">
              <a:extLst>
                <a:ext uri="{FF2B5EF4-FFF2-40B4-BE49-F238E27FC236}">
                  <a16:creationId xmlns:a16="http://schemas.microsoft.com/office/drawing/2014/main" id="{D1FED09A-8FB9-9FD2-69A6-C920D71AD2FF}"/>
                </a:ext>
              </a:extLst>
            </p:cNvPr>
            <p:cNvCxnSpPr/>
            <p:nvPr/>
          </p:nvCxnSpPr>
          <p:spPr>
            <a:xfrm>
              <a:off x="-612576" y="843213"/>
              <a:ext cx="1008112" cy="0"/>
            </a:xfrm>
            <a:prstGeom prst="lin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cxnSp>
      </p:grpSp>
      <p:grpSp>
        <p:nvGrpSpPr>
          <p:cNvPr id="16" name="Gruppieren 15">
            <a:extLst>
              <a:ext uri="{FF2B5EF4-FFF2-40B4-BE49-F238E27FC236}">
                <a16:creationId xmlns:a16="http://schemas.microsoft.com/office/drawing/2014/main" id="{1C9C62CA-97BF-0CFA-680F-017133FBF854}"/>
              </a:ext>
            </a:extLst>
          </p:cNvPr>
          <p:cNvGrpSpPr/>
          <p:nvPr/>
        </p:nvGrpSpPr>
        <p:grpSpPr>
          <a:xfrm rot="1432463">
            <a:off x="3635240" y="1104877"/>
            <a:ext cx="1008112" cy="216367"/>
            <a:chOff x="-612576" y="843213"/>
            <a:chExt cx="1008112" cy="216367"/>
          </a:xfrm>
        </p:grpSpPr>
        <p:sp>
          <p:nvSpPr>
            <p:cNvPr id="17" name="Rechteck 16">
              <a:extLst>
                <a:ext uri="{FF2B5EF4-FFF2-40B4-BE49-F238E27FC236}">
                  <a16:creationId xmlns:a16="http://schemas.microsoft.com/office/drawing/2014/main" id="{FA93DDBB-05E6-4997-0E56-23E9FDDF7B52}"/>
                </a:ext>
              </a:extLst>
            </p:cNvPr>
            <p:cNvSpPr/>
            <p:nvPr/>
          </p:nvSpPr>
          <p:spPr>
            <a:xfrm>
              <a:off x="-612576" y="843558"/>
              <a:ext cx="1008112" cy="216022"/>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Illustration</a:t>
              </a:r>
            </a:p>
          </p:txBody>
        </p:sp>
        <p:cxnSp>
          <p:nvCxnSpPr>
            <p:cNvPr id="24" name="Gerader Verbinder 23">
              <a:extLst>
                <a:ext uri="{FF2B5EF4-FFF2-40B4-BE49-F238E27FC236}">
                  <a16:creationId xmlns:a16="http://schemas.microsoft.com/office/drawing/2014/main" id="{DD5E32A5-E829-F14E-7419-5D3A21C92272}"/>
                </a:ext>
              </a:extLst>
            </p:cNvPr>
            <p:cNvCxnSpPr>
              <a:cxnSpLocks/>
            </p:cNvCxnSpPr>
            <p:nvPr/>
          </p:nvCxnSpPr>
          <p:spPr>
            <a:xfrm>
              <a:off x="-612576" y="1059580"/>
              <a:ext cx="1008112" cy="0"/>
            </a:xfrm>
            <a:prstGeom prst="lin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cxnSp>
        <p:cxnSp>
          <p:nvCxnSpPr>
            <p:cNvPr id="25" name="Gerader Verbinder 24">
              <a:extLst>
                <a:ext uri="{FF2B5EF4-FFF2-40B4-BE49-F238E27FC236}">
                  <a16:creationId xmlns:a16="http://schemas.microsoft.com/office/drawing/2014/main" id="{1C8A0C67-A48D-2B57-5C55-844DA02DBC69}"/>
                </a:ext>
              </a:extLst>
            </p:cNvPr>
            <p:cNvCxnSpPr/>
            <p:nvPr/>
          </p:nvCxnSpPr>
          <p:spPr>
            <a:xfrm>
              <a:off x="-612576" y="843213"/>
              <a:ext cx="1008112" cy="0"/>
            </a:xfrm>
            <a:prstGeom prst="lin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37823488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81613-9A8E-FEA8-F7B6-58AA996A5FF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08EC1F0-B531-EC0A-00BF-B24D08C0D446}"/>
              </a:ext>
            </a:extLst>
          </p:cNvPr>
          <p:cNvSpPr>
            <a:spLocks noGrp="1"/>
          </p:cNvSpPr>
          <p:nvPr>
            <p:ph type="title"/>
          </p:nvPr>
        </p:nvSpPr>
        <p:spPr/>
        <p:txBody>
          <a:bodyPr/>
          <a:lstStyle/>
          <a:p>
            <a:r>
              <a:rPr lang="en-US" noProof="0" dirty="0"/>
              <a:t>Phase 1 (Baseline Tournament):</a:t>
            </a:r>
            <a:br>
              <a:rPr lang="en-US" noProof="0" dirty="0"/>
            </a:br>
            <a:r>
              <a:rPr lang="en-US" noProof="0" dirty="0"/>
              <a:t>Simulation results</a:t>
            </a:r>
          </a:p>
        </p:txBody>
      </p:sp>
      <p:sp>
        <p:nvSpPr>
          <p:cNvPr id="11" name="Textfeld 10">
            <a:extLst>
              <a:ext uri="{FF2B5EF4-FFF2-40B4-BE49-F238E27FC236}">
                <a16:creationId xmlns:a16="http://schemas.microsoft.com/office/drawing/2014/main" id="{1C20C333-15A8-A664-92D9-0B63E306511A}"/>
              </a:ext>
            </a:extLst>
          </p:cNvPr>
          <p:cNvSpPr txBox="1"/>
          <p:nvPr/>
        </p:nvSpPr>
        <p:spPr>
          <a:xfrm>
            <a:off x="251520" y="1131590"/>
            <a:ext cx="4320480" cy="3046988"/>
          </a:xfrm>
          <a:prstGeom prst="rect">
            <a:avLst/>
          </a:prstGeom>
          <a:solidFill>
            <a:schemeClr val="tx2">
              <a:lumMod val="20000"/>
              <a:lumOff val="80000"/>
            </a:schemeClr>
          </a:solidFill>
        </p:spPr>
        <p:txBody>
          <a:bodyPr wrap="square" rtlCol="0">
            <a:spAutoFit/>
          </a:bodyPr>
          <a:lstStyle/>
          <a:p>
            <a:r>
              <a:rPr lang="en-US" sz="1200" b="1" noProof="0" dirty="0">
                <a:latin typeface="Courier New" panose="02070309020205020404" pitchFamily="49" charset="0"/>
                <a:cs typeface="Courier New" panose="02070309020205020404" pitchFamily="49" charset="0"/>
              </a:rPr>
              <a:t>=== MATCH RESULTS ===</a:t>
            </a:r>
          </a:p>
          <a:p>
            <a:r>
              <a:rPr lang="en-US" sz="1200" noProof="0" dirty="0" err="1">
                <a:latin typeface="Courier New" panose="02070309020205020404" pitchFamily="49" charset="0"/>
                <a:cs typeface="Courier New" panose="02070309020205020404" pitchFamily="49" charset="0"/>
              </a:rPr>
              <a:t>AlwaysCooperate</a:t>
            </a:r>
            <a:r>
              <a:rPr lang="en-US" sz="1200" noProof="0" dirty="0">
                <a:latin typeface="Courier New" panose="02070309020205020404" pitchFamily="49" charset="0"/>
                <a:cs typeface="Courier New" panose="02070309020205020404" pitchFamily="49" charset="0"/>
              </a:rPr>
              <a:t> vs </a:t>
            </a:r>
            <a:r>
              <a:rPr lang="en-US" sz="1200" noProof="0" dirty="0" err="1">
                <a:latin typeface="Courier New" panose="02070309020205020404" pitchFamily="49" charset="0"/>
                <a:cs typeface="Courier New" panose="02070309020205020404" pitchFamily="49" charset="0"/>
              </a:rPr>
              <a:t>AlwaysCooperate</a:t>
            </a:r>
            <a:r>
              <a:rPr lang="en-US" sz="1200" noProof="0" dirty="0">
                <a:latin typeface="Courier New" panose="02070309020205020404" pitchFamily="49" charset="0"/>
                <a:cs typeface="Courier New" panose="02070309020205020404" pitchFamily="49" charset="0"/>
              </a:rPr>
              <a:t>: 30 - 30</a:t>
            </a:r>
          </a:p>
          <a:p>
            <a:r>
              <a:rPr lang="en-US" sz="1200" noProof="0" dirty="0" err="1">
                <a:latin typeface="Courier New" panose="02070309020205020404" pitchFamily="49" charset="0"/>
                <a:cs typeface="Courier New" panose="02070309020205020404" pitchFamily="49" charset="0"/>
              </a:rPr>
              <a:t>AlwaysCooperate</a:t>
            </a:r>
            <a:r>
              <a:rPr lang="en-US" sz="1200" noProof="0" dirty="0">
                <a:latin typeface="Courier New" panose="02070309020205020404" pitchFamily="49" charset="0"/>
                <a:cs typeface="Courier New" panose="02070309020205020404" pitchFamily="49" charset="0"/>
              </a:rPr>
              <a:t> vs </a:t>
            </a:r>
            <a:r>
              <a:rPr lang="en-US" sz="1200" noProof="0" dirty="0" err="1">
                <a:latin typeface="Courier New" panose="02070309020205020404" pitchFamily="49" charset="0"/>
                <a:cs typeface="Courier New" panose="02070309020205020404" pitchFamily="49" charset="0"/>
              </a:rPr>
              <a:t>AlwaysDefect</a:t>
            </a:r>
            <a:r>
              <a:rPr lang="en-US" sz="1200" noProof="0" dirty="0">
                <a:latin typeface="Courier New" panose="02070309020205020404" pitchFamily="49" charset="0"/>
                <a:cs typeface="Courier New" panose="02070309020205020404" pitchFamily="49" charset="0"/>
              </a:rPr>
              <a:t>:     0 - 50</a:t>
            </a:r>
          </a:p>
          <a:p>
            <a:r>
              <a:rPr lang="en-US" sz="1200" noProof="0" dirty="0" err="1">
                <a:latin typeface="Courier New" panose="02070309020205020404" pitchFamily="49" charset="0"/>
                <a:cs typeface="Courier New" panose="02070309020205020404" pitchFamily="49" charset="0"/>
              </a:rPr>
              <a:t>AlwaysCooperate</a:t>
            </a:r>
            <a:r>
              <a:rPr lang="en-US" sz="1200" noProof="0" dirty="0">
                <a:latin typeface="Courier New" panose="02070309020205020404" pitchFamily="49" charset="0"/>
                <a:cs typeface="Courier New" panose="02070309020205020404" pitchFamily="49" charset="0"/>
              </a:rPr>
              <a:t> vs </a:t>
            </a:r>
            <a:r>
              <a:rPr lang="en-US" sz="1200" noProof="0" dirty="0" err="1">
                <a:latin typeface="Courier New" panose="02070309020205020404" pitchFamily="49" charset="0"/>
                <a:cs typeface="Courier New" panose="02070309020205020404" pitchFamily="49" charset="0"/>
              </a:rPr>
              <a:t>TitForTat</a:t>
            </a:r>
            <a:r>
              <a:rPr lang="en-US" sz="1200" noProof="0" dirty="0">
                <a:latin typeface="Courier New" panose="02070309020205020404" pitchFamily="49" charset="0"/>
                <a:cs typeface="Courier New" panose="02070309020205020404" pitchFamily="49" charset="0"/>
              </a:rPr>
              <a:t>:       30 - 30</a:t>
            </a:r>
          </a:p>
          <a:p>
            <a:r>
              <a:rPr lang="en-US" sz="1200" noProof="0" dirty="0" err="1">
                <a:latin typeface="Courier New" panose="02070309020205020404" pitchFamily="49" charset="0"/>
                <a:cs typeface="Courier New" panose="02070309020205020404" pitchFamily="49" charset="0"/>
              </a:rPr>
              <a:t>AlwaysCooperate</a:t>
            </a:r>
            <a:r>
              <a:rPr lang="en-US" sz="1200" noProof="0" dirty="0">
                <a:latin typeface="Courier New" panose="02070309020205020404" pitchFamily="49" charset="0"/>
                <a:cs typeface="Courier New" panose="02070309020205020404" pitchFamily="49" charset="0"/>
              </a:rPr>
              <a:t> vs </a:t>
            </a:r>
            <a:r>
              <a:rPr lang="en-US" sz="1200" noProof="0" dirty="0" err="1">
                <a:latin typeface="Courier New" panose="02070309020205020404" pitchFamily="49" charset="0"/>
                <a:cs typeface="Courier New" panose="02070309020205020404" pitchFamily="49" charset="0"/>
              </a:rPr>
              <a:t>RandomStrategy</a:t>
            </a:r>
            <a:r>
              <a:rPr lang="en-US" sz="1200" noProof="0" dirty="0">
                <a:latin typeface="Courier New" panose="02070309020205020404" pitchFamily="49" charset="0"/>
                <a:cs typeface="Courier New" panose="02070309020205020404" pitchFamily="49" charset="0"/>
              </a:rPr>
              <a:t>:  24 - 34</a:t>
            </a:r>
          </a:p>
          <a:p>
            <a:r>
              <a:rPr lang="en-US" sz="1200" noProof="0" dirty="0" err="1">
                <a:latin typeface="Courier New" panose="02070309020205020404" pitchFamily="49" charset="0"/>
                <a:cs typeface="Courier New" panose="02070309020205020404" pitchFamily="49" charset="0"/>
              </a:rPr>
              <a:t>AlwaysCooperate</a:t>
            </a:r>
            <a:r>
              <a:rPr lang="en-US" sz="1200" noProof="0" dirty="0">
                <a:latin typeface="Courier New" panose="02070309020205020404" pitchFamily="49" charset="0"/>
                <a:cs typeface="Courier New" panose="02070309020205020404" pitchFamily="49" charset="0"/>
              </a:rPr>
              <a:t> vs Grudger:         30 - 30</a:t>
            </a:r>
          </a:p>
          <a:p>
            <a:r>
              <a:rPr lang="en-US" sz="1200" noProof="0" dirty="0" err="1">
                <a:latin typeface="Courier New" panose="02070309020205020404" pitchFamily="49" charset="0"/>
                <a:cs typeface="Courier New" panose="02070309020205020404" pitchFamily="49" charset="0"/>
              </a:rPr>
              <a:t>AlwaysDefect</a:t>
            </a:r>
            <a:r>
              <a:rPr lang="en-US" sz="1200" noProof="0" dirty="0">
                <a:latin typeface="Courier New" panose="02070309020205020404" pitchFamily="49" charset="0"/>
                <a:cs typeface="Courier New" panose="02070309020205020404" pitchFamily="49" charset="0"/>
              </a:rPr>
              <a:t> vs </a:t>
            </a:r>
            <a:r>
              <a:rPr lang="en-US" sz="1200" noProof="0" dirty="0" err="1">
                <a:latin typeface="Courier New" panose="02070309020205020404" pitchFamily="49" charset="0"/>
                <a:cs typeface="Courier New" panose="02070309020205020404" pitchFamily="49" charset="0"/>
              </a:rPr>
              <a:t>AlwaysDefect</a:t>
            </a:r>
            <a:r>
              <a:rPr lang="en-US" sz="1200" noProof="0" dirty="0">
                <a:latin typeface="Courier New" panose="02070309020205020404" pitchFamily="49" charset="0"/>
                <a:cs typeface="Courier New" panose="02070309020205020404" pitchFamily="49" charset="0"/>
              </a:rPr>
              <a:t>:       10 - 10</a:t>
            </a:r>
          </a:p>
          <a:p>
            <a:r>
              <a:rPr lang="en-US" sz="1200" noProof="0" dirty="0" err="1">
                <a:latin typeface="Courier New" panose="02070309020205020404" pitchFamily="49" charset="0"/>
                <a:cs typeface="Courier New" panose="02070309020205020404" pitchFamily="49" charset="0"/>
              </a:rPr>
              <a:t>AlwaysDefect</a:t>
            </a:r>
            <a:r>
              <a:rPr lang="en-US" sz="1200" noProof="0" dirty="0">
                <a:latin typeface="Courier New" panose="02070309020205020404" pitchFamily="49" charset="0"/>
                <a:cs typeface="Courier New" panose="02070309020205020404" pitchFamily="49" charset="0"/>
              </a:rPr>
              <a:t> vs </a:t>
            </a:r>
            <a:r>
              <a:rPr lang="en-US" sz="1200" noProof="0" dirty="0" err="1">
                <a:latin typeface="Courier New" panose="02070309020205020404" pitchFamily="49" charset="0"/>
                <a:cs typeface="Courier New" panose="02070309020205020404" pitchFamily="49" charset="0"/>
              </a:rPr>
              <a:t>TitForTat</a:t>
            </a:r>
            <a:r>
              <a:rPr lang="en-US" sz="1200" noProof="0" dirty="0">
                <a:latin typeface="Courier New" panose="02070309020205020404" pitchFamily="49" charset="0"/>
                <a:cs typeface="Courier New" panose="02070309020205020404" pitchFamily="49" charset="0"/>
              </a:rPr>
              <a:t>:          14 - 9</a:t>
            </a:r>
          </a:p>
          <a:p>
            <a:r>
              <a:rPr lang="en-US" sz="1200" noProof="0" dirty="0" err="1">
                <a:latin typeface="Courier New" panose="02070309020205020404" pitchFamily="49" charset="0"/>
                <a:cs typeface="Courier New" panose="02070309020205020404" pitchFamily="49" charset="0"/>
              </a:rPr>
              <a:t>AlwaysDefect</a:t>
            </a:r>
            <a:r>
              <a:rPr lang="en-US" sz="1200" noProof="0" dirty="0">
                <a:latin typeface="Courier New" panose="02070309020205020404" pitchFamily="49" charset="0"/>
                <a:cs typeface="Courier New" panose="02070309020205020404" pitchFamily="49" charset="0"/>
              </a:rPr>
              <a:t> vs </a:t>
            </a:r>
            <a:r>
              <a:rPr lang="en-US" sz="1200" noProof="0" dirty="0" err="1">
                <a:latin typeface="Courier New" panose="02070309020205020404" pitchFamily="49" charset="0"/>
                <a:cs typeface="Courier New" panose="02070309020205020404" pitchFamily="49" charset="0"/>
              </a:rPr>
              <a:t>RandomStrategy</a:t>
            </a:r>
            <a:r>
              <a:rPr lang="en-US" sz="1200" noProof="0" dirty="0">
                <a:latin typeface="Courier New" panose="02070309020205020404" pitchFamily="49" charset="0"/>
                <a:cs typeface="Courier New" panose="02070309020205020404" pitchFamily="49" charset="0"/>
              </a:rPr>
              <a:t>:     38 - 3</a:t>
            </a:r>
          </a:p>
          <a:p>
            <a:r>
              <a:rPr lang="en-US" sz="1200" noProof="0" dirty="0" err="1">
                <a:latin typeface="Courier New" panose="02070309020205020404" pitchFamily="49" charset="0"/>
                <a:cs typeface="Courier New" panose="02070309020205020404" pitchFamily="49" charset="0"/>
              </a:rPr>
              <a:t>AlwaysDefect</a:t>
            </a:r>
            <a:r>
              <a:rPr lang="en-US" sz="1200" noProof="0" dirty="0">
                <a:latin typeface="Courier New" panose="02070309020205020404" pitchFamily="49" charset="0"/>
                <a:cs typeface="Courier New" panose="02070309020205020404" pitchFamily="49" charset="0"/>
              </a:rPr>
              <a:t> vs Grudger:            14 - 9</a:t>
            </a:r>
          </a:p>
          <a:p>
            <a:r>
              <a:rPr lang="en-US" sz="1200" noProof="0" dirty="0" err="1">
                <a:latin typeface="Courier New" panose="02070309020205020404" pitchFamily="49" charset="0"/>
                <a:cs typeface="Courier New" panose="02070309020205020404" pitchFamily="49" charset="0"/>
              </a:rPr>
              <a:t>TitForTat</a:t>
            </a:r>
            <a:r>
              <a:rPr lang="en-US" sz="1200" noProof="0" dirty="0">
                <a:latin typeface="Courier New" panose="02070309020205020404" pitchFamily="49" charset="0"/>
                <a:cs typeface="Courier New" panose="02070309020205020404" pitchFamily="49" charset="0"/>
              </a:rPr>
              <a:t> vs </a:t>
            </a:r>
            <a:r>
              <a:rPr lang="en-US" sz="1200" noProof="0" dirty="0" err="1">
                <a:latin typeface="Courier New" panose="02070309020205020404" pitchFamily="49" charset="0"/>
                <a:cs typeface="Courier New" panose="02070309020205020404" pitchFamily="49" charset="0"/>
              </a:rPr>
              <a:t>TitForTat</a:t>
            </a:r>
            <a:r>
              <a:rPr lang="en-US" sz="1200" noProof="0" dirty="0">
                <a:latin typeface="Courier New" panose="02070309020205020404" pitchFamily="49" charset="0"/>
                <a:cs typeface="Courier New" panose="02070309020205020404" pitchFamily="49" charset="0"/>
              </a:rPr>
              <a:t>:             30 - 30</a:t>
            </a:r>
          </a:p>
          <a:p>
            <a:r>
              <a:rPr lang="en-US" sz="1200" noProof="0" dirty="0" err="1">
                <a:latin typeface="Courier New" panose="02070309020205020404" pitchFamily="49" charset="0"/>
                <a:cs typeface="Courier New" panose="02070309020205020404" pitchFamily="49" charset="0"/>
              </a:rPr>
              <a:t>TitForTat</a:t>
            </a:r>
            <a:r>
              <a:rPr lang="en-US" sz="1200" noProof="0" dirty="0">
                <a:latin typeface="Courier New" panose="02070309020205020404" pitchFamily="49" charset="0"/>
                <a:cs typeface="Courier New" panose="02070309020205020404" pitchFamily="49" charset="0"/>
              </a:rPr>
              <a:t> vs </a:t>
            </a:r>
            <a:r>
              <a:rPr lang="en-US" sz="1200" noProof="0" dirty="0" err="1">
                <a:latin typeface="Courier New" panose="02070309020205020404" pitchFamily="49" charset="0"/>
                <a:cs typeface="Courier New" panose="02070309020205020404" pitchFamily="49" charset="0"/>
              </a:rPr>
              <a:t>RandomStrategy</a:t>
            </a:r>
            <a:r>
              <a:rPr lang="en-US" sz="1200" noProof="0" dirty="0">
                <a:latin typeface="Courier New" panose="02070309020205020404" pitchFamily="49" charset="0"/>
                <a:cs typeface="Courier New" panose="02070309020205020404" pitchFamily="49" charset="0"/>
              </a:rPr>
              <a:t>:        24 - 24</a:t>
            </a:r>
          </a:p>
          <a:p>
            <a:r>
              <a:rPr lang="en-US" sz="1200" noProof="0" dirty="0" err="1">
                <a:latin typeface="Courier New" panose="02070309020205020404" pitchFamily="49" charset="0"/>
                <a:cs typeface="Courier New" panose="02070309020205020404" pitchFamily="49" charset="0"/>
              </a:rPr>
              <a:t>TitForTat</a:t>
            </a:r>
            <a:r>
              <a:rPr lang="en-US" sz="1200" noProof="0" dirty="0">
                <a:latin typeface="Courier New" panose="02070309020205020404" pitchFamily="49" charset="0"/>
                <a:cs typeface="Courier New" panose="02070309020205020404" pitchFamily="49" charset="0"/>
              </a:rPr>
              <a:t> vs Grudger:               30 - 30</a:t>
            </a:r>
          </a:p>
          <a:p>
            <a:r>
              <a:rPr lang="en-US" sz="1200" noProof="0" dirty="0" err="1">
                <a:latin typeface="Courier New" panose="02070309020205020404" pitchFamily="49" charset="0"/>
                <a:cs typeface="Courier New" panose="02070309020205020404" pitchFamily="49" charset="0"/>
              </a:rPr>
              <a:t>RandomStrategy</a:t>
            </a:r>
            <a:r>
              <a:rPr lang="en-US" sz="1200" noProof="0" dirty="0">
                <a:latin typeface="Courier New" panose="02070309020205020404" pitchFamily="49" charset="0"/>
                <a:cs typeface="Courier New" panose="02070309020205020404" pitchFamily="49" charset="0"/>
              </a:rPr>
              <a:t> vs </a:t>
            </a:r>
            <a:r>
              <a:rPr lang="en-US" sz="1200" noProof="0" dirty="0" err="1">
                <a:latin typeface="Courier New" panose="02070309020205020404" pitchFamily="49" charset="0"/>
                <a:cs typeface="Courier New" panose="02070309020205020404" pitchFamily="49" charset="0"/>
              </a:rPr>
              <a:t>RandomStrategy</a:t>
            </a:r>
            <a:r>
              <a:rPr lang="en-US" sz="1200" noProof="0" dirty="0">
                <a:latin typeface="Courier New" panose="02070309020205020404" pitchFamily="49" charset="0"/>
                <a:cs typeface="Courier New" panose="02070309020205020404" pitchFamily="49" charset="0"/>
              </a:rPr>
              <a:t>:   36 - 11</a:t>
            </a:r>
          </a:p>
          <a:p>
            <a:r>
              <a:rPr lang="en-US" sz="1200" noProof="0" dirty="0" err="1">
                <a:latin typeface="Courier New" panose="02070309020205020404" pitchFamily="49" charset="0"/>
                <a:cs typeface="Courier New" panose="02070309020205020404" pitchFamily="49" charset="0"/>
              </a:rPr>
              <a:t>RandomStrategy</a:t>
            </a:r>
            <a:r>
              <a:rPr lang="en-US" sz="1200" noProof="0" dirty="0">
                <a:latin typeface="Courier New" panose="02070309020205020404" pitchFamily="49" charset="0"/>
                <a:cs typeface="Courier New" panose="02070309020205020404" pitchFamily="49" charset="0"/>
              </a:rPr>
              <a:t> vs Grudger:          11 - 21</a:t>
            </a:r>
          </a:p>
          <a:p>
            <a:r>
              <a:rPr lang="en-US" sz="1200" noProof="0" dirty="0">
                <a:latin typeface="Courier New" panose="02070309020205020404" pitchFamily="49" charset="0"/>
                <a:cs typeface="Courier New" panose="02070309020205020404" pitchFamily="49" charset="0"/>
              </a:rPr>
              <a:t>Grudger vs Grudger:                 30 - 30</a:t>
            </a:r>
          </a:p>
        </p:txBody>
      </p:sp>
      <p:sp>
        <p:nvSpPr>
          <p:cNvPr id="13" name="Rechteck 12">
            <a:extLst>
              <a:ext uri="{FF2B5EF4-FFF2-40B4-BE49-F238E27FC236}">
                <a16:creationId xmlns:a16="http://schemas.microsoft.com/office/drawing/2014/main" id="{51AFA331-76C1-4539-C666-AD70F8D67B8D}"/>
              </a:ext>
            </a:extLst>
          </p:cNvPr>
          <p:cNvSpPr/>
          <p:nvPr/>
        </p:nvSpPr>
        <p:spPr>
          <a:xfrm>
            <a:off x="5292080" y="1131590"/>
            <a:ext cx="3600400"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Questions</a:t>
            </a:r>
          </a:p>
          <a:p>
            <a:pPr marL="285750" indent="-285750">
              <a:spcAft>
                <a:spcPts val="600"/>
              </a:spcAft>
              <a:buFont typeface="Arial" panose="020B0604020202020204" pitchFamily="34" charset="0"/>
              <a:buChar char="•"/>
            </a:pPr>
            <a:r>
              <a:rPr lang="en-US" sz="1400" noProof="0" dirty="0">
                <a:solidFill>
                  <a:schemeClr val="tx1"/>
                </a:solidFill>
              </a:rPr>
              <a:t>Why does “Always Defect” often score well against naive cooperators?</a:t>
            </a:r>
          </a:p>
          <a:p>
            <a:pPr marL="285750" indent="-285750">
              <a:spcAft>
                <a:spcPts val="600"/>
              </a:spcAft>
              <a:buFont typeface="Arial" panose="020B0604020202020204" pitchFamily="34" charset="0"/>
              <a:buChar char="•"/>
            </a:pPr>
            <a:r>
              <a:rPr lang="en-US" sz="1400" noProof="0" dirty="0">
                <a:solidFill>
                  <a:schemeClr val="tx1"/>
                </a:solidFill>
              </a:rPr>
              <a:t>Why can “Tit for Tat” perform strongly in repeated settings?</a:t>
            </a:r>
          </a:p>
          <a:p>
            <a:pPr marL="285750" indent="-285750">
              <a:spcAft>
                <a:spcPts val="600"/>
              </a:spcAft>
              <a:buFont typeface="Arial" panose="020B0604020202020204" pitchFamily="34" charset="0"/>
              <a:buChar char="•"/>
            </a:pPr>
            <a:r>
              <a:rPr lang="en-US" sz="1400" noProof="0" dirty="0">
                <a:solidFill>
                  <a:schemeClr val="tx1"/>
                </a:solidFill>
              </a:rPr>
              <a:t>How does “Grudger” differ from Tit for Tat?</a:t>
            </a:r>
          </a:p>
          <a:p>
            <a:pPr marL="285750" indent="-285750">
              <a:spcAft>
                <a:spcPts val="600"/>
              </a:spcAft>
              <a:buFont typeface="Arial" panose="020B0604020202020204" pitchFamily="34" charset="0"/>
              <a:buChar char="•"/>
            </a:pPr>
            <a:r>
              <a:rPr lang="en-US" sz="1400" noProof="0" dirty="0">
                <a:solidFill>
                  <a:schemeClr val="tx1"/>
                </a:solidFill>
              </a:rPr>
              <a:t>How does randomness affect tournament outcomes?</a:t>
            </a:r>
          </a:p>
          <a:p>
            <a:pPr marL="285750" indent="-285750">
              <a:spcAft>
                <a:spcPts val="600"/>
              </a:spcAft>
              <a:buFont typeface="Arial" panose="020B0604020202020204" pitchFamily="34" charset="0"/>
              <a:buChar char="•"/>
            </a:pPr>
            <a:r>
              <a:rPr lang="en-US" sz="1400" noProof="0" dirty="0">
                <a:solidFill>
                  <a:schemeClr val="tx1"/>
                </a:solidFill>
              </a:rPr>
              <a:t>Why total score and average score can both be interesting? (see next slide)</a:t>
            </a:r>
          </a:p>
        </p:txBody>
      </p:sp>
    </p:spTree>
    <p:extLst>
      <p:ext uri="{BB962C8B-B14F-4D97-AF65-F5344CB8AC3E}">
        <p14:creationId xmlns:p14="http://schemas.microsoft.com/office/powerpoint/2010/main" val="37828167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7CB82-FC00-5666-8CF3-F51F17CA347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8A1B1A0-5B51-FCB2-394D-0AB74CC40F51}"/>
              </a:ext>
            </a:extLst>
          </p:cNvPr>
          <p:cNvSpPr>
            <a:spLocks noGrp="1"/>
          </p:cNvSpPr>
          <p:nvPr>
            <p:ph type="title"/>
          </p:nvPr>
        </p:nvSpPr>
        <p:spPr/>
        <p:txBody>
          <a:bodyPr/>
          <a:lstStyle/>
          <a:p>
            <a:r>
              <a:rPr lang="en-US" noProof="0" dirty="0"/>
              <a:t>Phase 1 (Baseline Tournament):</a:t>
            </a:r>
            <a:br>
              <a:rPr lang="en-US" noProof="0" dirty="0"/>
            </a:br>
            <a:r>
              <a:rPr lang="en-US" noProof="0" dirty="0"/>
              <a:t>Simulation results</a:t>
            </a:r>
          </a:p>
        </p:txBody>
      </p:sp>
      <p:sp>
        <p:nvSpPr>
          <p:cNvPr id="11" name="Textfeld 10">
            <a:extLst>
              <a:ext uri="{FF2B5EF4-FFF2-40B4-BE49-F238E27FC236}">
                <a16:creationId xmlns:a16="http://schemas.microsoft.com/office/drawing/2014/main" id="{90F25346-1493-A4DC-C2DD-EEEBFC454E14}"/>
              </a:ext>
            </a:extLst>
          </p:cNvPr>
          <p:cNvSpPr txBox="1"/>
          <p:nvPr/>
        </p:nvSpPr>
        <p:spPr>
          <a:xfrm>
            <a:off x="971600" y="1131590"/>
            <a:ext cx="7200800" cy="2492990"/>
          </a:xfrm>
          <a:prstGeom prst="rect">
            <a:avLst/>
          </a:prstGeom>
          <a:solidFill>
            <a:schemeClr val="tx2">
              <a:lumMod val="20000"/>
              <a:lumOff val="80000"/>
            </a:schemeClr>
          </a:solidFill>
        </p:spPr>
        <p:txBody>
          <a:bodyPr wrap="square" rtlCol="0">
            <a:spAutoFit/>
          </a:bodyPr>
          <a:lstStyle/>
          <a:p>
            <a:r>
              <a:rPr lang="en-US" sz="1200" b="1" noProof="0" dirty="0">
                <a:latin typeface="Courier New" panose="02070309020205020404" pitchFamily="49" charset="0"/>
                <a:cs typeface="Courier New" panose="02070309020205020404" pitchFamily="49" charset="0"/>
              </a:rPr>
              <a:t>=== SCOREBOARD ===</a:t>
            </a:r>
          </a:p>
          <a:p>
            <a:r>
              <a:rPr lang="en-US" sz="1200" noProof="0" dirty="0" err="1">
                <a:latin typeface="Courier New" panose="02070309020205020404" pitchFamily="49" charset="0"/>
                <a:cs typeface="Courier New" panose="02070309020205020404" pitchFamily="49" charset="0"/>
              </a:rPr>
              <a:t>AlwaysCooperate</a:t>
            </a:r>
            <a:r>
              <a:rPr lang="en-US" sz="1200" noProof="0" dirty="0">
                <a:latin typeface="Courier New" panose="02070309020205020404" pitchFamily="49" charset="0"/>
                <a:cs typeface="Courier New" panose="02070309020205020404" pitchFamily="49" charset="0"/>
              </a:rPr>
              <a:t>    | total =  144 | avg/match = 24.00 | avg/round = 2.40</a:t>
            </a:r>
          </a:p>
          <a:p>
            <a:r>
              <a:rPr lang="en-US" sz="1200" noProof="0" dirty="0" err="1">
                <a:latin typeface="Courier New" panose="02070309020205020404" pitchFamily="49" charset="0"/>
                <a:cs typeface="Courier New" panose="02070309020205020404" pitchFamily="49" charset="0"/>
              </a:rPr>
              <a:t>AlwaysDefect</a:t>
            </a:r>
            <a:r>
              <a:rPr lang="en-US" sz="1200" noProof="0" dirty="0">
                <a:latin typeface="Courier New" panose="02070309020205020404" pitchFamily="49" charset="0"/>
                <a:cs typeface="Courier New" panose="02070309020205020404" pitchFamily="49" charset="0"/>
              </a:rPr>
              <a:t>       | total =  136 | avg/match = 22.67 | avg/round = 2.27</a:t>
            </a:r>
          </a:p>
          <a:p>
            <a:r>
              <a:rPr lang="en-US" sz="1200" noProof="0" dirty="0" err="1">
                <a:latin typeface="Courier New" panose="02070309020205020404" pitchFamily="49" charset="0"/>
                <a:cs typeface="Courier New" panose="02070309020205020404" pitchFamily="49" charset="0"/>
              </a:rPr>
              <a:t>TitForTat</a:t>
            </a:r>
            <a:r>
              <a:rPr lang="en-US" sz="1200" noProof="0" dirty="0">
                <a:latin typeface="Courier New" panose="02070309020205020404" pitchFamily="49" charset="0"/>
                <a:cs typeface="Courier New" panose="02070309020205020404" pitchFamily="49" charset="0"/>
              </a:rPr>
              <a:t>          | total =  153 | avg/match = 25.50 | avg/round = 2.55</a:t>
            </a:r>
          </a:p>
          <a:p>
            <a:r>
              <a:rPr lang="en-US" sz="1200" noProof="0" dirty="0" err="1">
                <a:latin typeface="Courier New" panose="02070309020205020404" pitchFamily="49" charset="0"/>
                <a:cs typeface="Courier New" panose="02070309020205020404" pitchFamily="49" charset="0"/>
              </a:rPr>
              <a:t>RandomStrategy</a:t>
            </a:r>
            <a:r>
              <a:rPr lang="en-US" sz="1200" noProof="0" dirty="0">
                <a:latin typeface="Courier New" panose="02070309020205020404" pitchFamily="49" charset="0"/>
                <a:cs typeface="Courier New" panose="02070309020205020404" pitchFamily="49" charset="0"/>
              </a:rPr>
              <a:t>     | total =  119 | avg/match = 19.83 | avg/round = 1.98</a:t>
            </a:r>
          </a:p>
          <a:p>
            <a:r>
              <a:rPr lang="en-US" sz="1200" noProof="0" dirty="0">
                <a:latin typeface="Courier New" panose="02070309020205020404" pitchFamily="49" charset="0"/>
                <a:cs typeface="Courier New" panose="02070309020205020404" pitchFamily="49" charset="0"/>
              </a:rPr>
              <a:t>Grudger            | total =  150 | avg/match = 25.00 | avg/round = 2.50</a:t>
            </a:r>
          </a:p>
          <a:p>
            <a:endParaRPr lang="en-US" sz="1200" noProof="0" dirty="0">
              <a:latin typeface="Courier New" panose="02070309020205020404" pitchFamily="49" charset="0"/>
              <a:cs typeface="Courier New" panose="02070309020205020404" pitchFamily="49" charset="0"/>
            </a:endParaRPr>
          </a:p>
          <a:p>
            <a:r>
              <a:rPr lang="en-US" sz="1200" b="1" noProof="0" dirty="0">
                <a:latin typeface="Courier New" panose="02070309020205020404" pitchFamily="49" charset="0"/>
                <a:cs typeface="Courier New" panose="02070309020205020404" pitchFamily="49" charset="0"/>
              </a:rPr>
              <a:t>=== RANKING ===</a:t>
            </a:r>
          </a:p>
          <a:p>
            <a:r>
              <a:rPr lang="en-US" sz="1200" noProof="0" dirty="0">
                <a:latin typeface="Courier New" panose="02070309020205020404" pitchFamily="49" charset="0"/>
                <a:cs typeface="Courier New" panose="02070309020205020404" pitchFamily="49" charset="0"/>
              </a:rPr>
              <a:t> 1. </a:t>
            </a:r>
            <a:r>
              <a:rPr lang="en-US" sz="1200" noProof="0" dirty="0" err="1">
                <a:latin typeface="Courier New" panose="02070309020205020404" pitchFamily="49" charset="0"/>
                <a:cs typeface="Courier New" panose="02070309020205020404" pitchFamily="49" charset="0"/>
              </a:rPr>
              <a:t>TitForTat</a:t>
            </a:r>
            <a:r>
              <a:rPr lang="en-US" sz="1200" noProof="0" dirty="0">
                <a:latin typeface="Courier New" panose="02070309020205020404" pitchFamily="49" charset="0"/>
                <a:cs typeface="Courier New" panose="02070309020205020404" pitchFamily="49" charset="0"/>
              </a:rPr>
              <a:t>          (total score = 153)</a:t>
            </a:r>
          </a:p>
          <a:p>
            <a:r>
              <a:rPr lang="en-US" sz="1200" noProof="0" dirty="0">
                <a:latin typeface="Courier New" panose="02070309020205020404" pitchFamily="49" charset="0"/>
                <a:cs typeface="Courier New" panose="02070309020205020404" pitchFamily="49" charset="0"/>
              </a:rPr>
              <a:t> 2. Grudger            (total score = 150)</a:t>
            </a:r>
          </a:p>
          <a:p>
            <a:r>
              <a:rPr lang="en-US" sz="1200" noProof="0" dirty="0">
                <a:latin typeface="Courier New" panose="02070309020205020404" pitchFamily="49" charset="0"/>
                <a:cs typeface="Courier New" panose="02070309020205020404" pitchFamily="49" charset="0"/>
              </a:rPr>
              <a:t> 3. </a:t>
            </a:r>
            <a:r>
              <a:rPr lang="en-US" sz="1200" noProof="0" dirty="0" err="1">
                <a:latin typeface="Courier New" panose="02070309020205020404" pitchFamily="49" charset="0"/>
                <a:cs typeface="Courier New" panose="02070309020205020404" pitchFamily="49" charset="0"/>
              </a:rPr>
              <a:t>AlwaysCooperate</a:t>
            </a:r>
            <a:r>
              <a:rPr lang="en-US" sz="1200" noProof="0" dirty="0">
                <a:latin typeface="Courier New" panose="02070309020205020404" pitchFamily="49" charset="0"/>
                <a:cs typeface="Courier New" panose="02070309020205020404" pitchFamily="49" charset="0"/>
              </a:rPr>
              <a:t>    (total score = 144)</a:t>
            </a:r>
          </a:p>
          <a:p>
            <a:r>
              <a:rPr lang="en-US" sz="1200" noProof="0" dirty="0">
                <a:latin typeface="Courier New" panose="02070309020205020404" pitchFamily="49" charset="0"/>
                <a:cs typeface="Courier New" panose="02070309020205020404" pitchFamily="49" charset="0"/>
              </a:rPr>
              <a:t> 4. </a:t>
            </a:r>
            <a:r>
              <a:rPr lang="en-US" sz="1200" noProof="0" dirty="0" err="1">
                <a:latin typeface="Courier New" panose="02070309020205020404" pitchFamily="49" charset="0"/>
                <a:cs typeface="Courier New" panose="02070309020205020404" pitchFamily="49" charset="0"/>
              </a:rPr>
              <a:t>AlwaysDefect</a:t>
            </a:r>
            <a:r>
              <a:rPr lang="en-US" sz="1200" noProof="0" dirty="0">
                <a:latin typeface="Courier New" panose="02070309020205020404" pitchFamily="49" charset="0"/>
                <a:cs typeface="Courier New" panose="02070309020205020404" pitchFamily="49" charset="0"/>
              </a:rPr>
              <a:t>       (total score = 136)</a:t>
            </a:r>
          </a:p>
          <a:p>
            <a:r>
              <a:rPr lang="en-US" sz="1200" noProof="0" dirty="0">
                <a:latin typeface="Courier New" panose="02070309020205020404" pitchFamily="49" charset="0"/>
                <a:cs typeface="Courier New" panose="02070309020205020404" pitchFamily="49" charset="0"/>
              </a:rPr>
              <a:t> 5. </a:t>
            </a:r>
            <a:r>
              <a:rPr lang="en-US" sz="1200" noProof="0" dirty="0" err="1">
                <a:latin typeface="Courier New" panose="02070309020205020404" pitchFamily="49" charset="0"/>
                <a:cs typeface="Courier New" panose="02070309020205020404" pitchFamily="49" charset="0"/>
              </a:rPr>
              <a:t>RandomStrategy</a:t>
            </a:r>
            <a:r>
              <a:rPr lang="en-US" sz="1200" noProof="0" dirty="0">
                <a:latin typeface="Courier New" panose="02070309020205020404" pitchFamily="49" charset="0"/>
                <a:cs typeface="Courier New" panose="02070309020205020404" pitchFamily="49" charset="0"/>
              </a:rPr>
              <a:t>     (total score = 119)</a:t>
            </a:r>
          </a:p>
        </p:txBody>
      </p:sp>
    </p:spTree>
    <p:extLst>
      <p:ext uri="{BB962C8B-B14F-4D97-AF65-F5344CB8AC3E}">
        <p14:creationId xmlns:p14="http://schemas.microsoft.com/office/powerpoint/2010/main" val="22761611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6C0C2-F1C5-D048-A9D3-C87E50760421}"/>
            </a:ext>
          </a:extLst>
        </p:cNvPr>
        <p:cNvGrpSpPr/>
        <p:nvPr/>
      </p:nvGrpSpPr>
      <p:grpSpPr>
        <a:xfrm>
          <a:off x="0" y="0"/>
          <a:ext cx="0" cy="0"/>
          <a:chOff x="0" y="0"/>
          <a:chExt cx="0" cy="0"/>
        </a:xfrm>
      </p:grpSpPr>
      <p:sp>
        <p:nvSpPr>
          <p:cNvPr id="2" name="Abgerundetes Rechteck 1">
            <a:extLst>
              <a:ext uri="{FF2B5EF4-FFF2-40B4-BE49-F238E27FC236}">
                <a16:creationId xmlns:a16="http://schemas.microsoft.com/office/drawing/2014/main" id="{7B1C39A7-DCBC-C9E5-0DDB-9B55EBF610D4}"/>
              </a:ext>
            </a:extLst>
          </p:cNvPr>
          <p:cNvSpPr/>
          <p:nvPr/>
        </p:nvSpPr>
        <p:spPr>
          <a:xfrm>
            <a:off x="971600" y="2673562"/>
            <a:ext cx="720080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feld 2">
            <a:extLst>
              <a:ext uri="{FF2B5EF4-FFF2-40B4-BE49-F238E27FC236}">
                <a16:creationId xmlns:a16="http://schemas.microsoft.com/office/drawing/2014/main" id="{28B56609-18C7-AADF-05E0-86C9D5F02DD2}"/>
              </a:ext>
            </a:extLst>
          </p:cNvPr>
          <p:cNvSpPr txBox="1"/>
          <p:nvPr/>
        </p:nvSpPr>
        <p:spPr>
          <a:xfrm>
            <a:off x="971600" y="1131590"/>
            <a:ext cx="4066947" cy="2462213"/>
          </a:xfrm>
          <a:prstGeom prst="rect">
            <a:avLst/>
          </a:prstGeom>
          <a:noFill/>
        </p:spPr>
        <p:txBody>
          <a:bodyPr wrap="none" rtlCol="0">
            <a:spAutoFit/>
          </a:bodyPr>
          <a:lstStyle/>
          <a:p>
            <a:r>
              <a:rPr lang="en-US" b="1" noProof="0" dirty="0"/>
              <a:t>Topics</a:t>
            </a:r>
          </a:p>
          <a:p>
            <a:endParaRPr lang="en-US" sz="1000" noProof="0" dirty="0"/>
          </a:p>
          <a:p>
            <a:pPr lvl="1"/>
            <a:r>
              <a:rPr lang="en-US" noProof="0" dirty="0"/>
              <a:t>Setting-up the Computerized Model</a:t>
            </a:r>
          </a:p>
          <a:p>
            <a:pPr lvl="1"/>
            <a:endParaRPr lang="en-US" b="1" noProof="0" dirty="0"/>
          </a:p>
          <a:p>
            <a:pPr lvl="1"/>
            <a:r>
              <a:rPr lang="en-US" noProof="0" dirty="0"/>
              <a:t>Phase 1: Baseline Tournament </a:t>
            </a:r>
          </a:p>
          <a:p>
            <a:pPr lvl="1"/>
            <a:endParaRPr lang="en-US" b="1" noProof="0" dirty="0"/>
          </a:p>
          <a:p>
            <a:pPr lvl="1"/>
            <a:r>
              <a:rPr lang="en-US" b="1" noProof="0" dirty="0"/>
              <a:t>Phase 2: Evolution</a:t>
            </a:r>
          </a:p>
          <a:p>
            <a:pPr lvl="1"/>
            <a:endParaRPr lang="en-US" noProof="0" dirty="0"/>
          </a:p>
          <a:p>
            <a:pPr lvl="1"/>
            <a:r>
              <a:rPr lang="en-US" noProof="0" dirty="0"/>
              <a:t>Phase 3: Environments</a:t>
            </a:r>
          </a:p>
        </p:txBody>
      </p:sp>
    </p:spTree>
    <p:extLst>
      <p:ext uri="{BB962C8B-B14F-4D97-AF65-F5344CB8AC3E}">
        <p14:creationId xmlns:p14="http://schemas.microsoft.com/office/powerpoint/2010/main" val="17071457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A018F-8F8A-F72C-5421-322EC1A144F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2C87A02-6549-F7DE-5AF6-58912257C818}"/>
              </a:ext>
            </a:extLst>
          </p:cNvPr>
          <p:cNvSpPr>
            <a:spLocks noGrp="1"/>
          </p:cNvSpPr>
          <p:nvPr>
            <p:ph type="title"/>
          </p:nvPr>
        </p:nvSpPr>
        <p:spPr/>
        <p:txBody>
          <a:bodyPr/>
          <a:lstStyle/>
          <a:p>
            <a:r>
              <a:rPr lang="en-US" noProof="0" dirty="0"/>
              <a:t>Phase 2 (1</a:t>
            </a:r>
            <a:r>
              <a:rPr lang="en-US" baseline="30000" noProof="0" dirty="0"/>
              <a:t>st</a:t>
            </a:r>
            <a:r>
              <a:rPr lang="en-US" noProof="0" dirty="0"/>
              <a:t> Evolutionary Replacement):</a:t>
            </a:r>
            <a:br>
              <a:rPr lang="en-US" noProof="0" dirty="0"/>
            </a:br>
            <a:r>
              <a:rPr lang="en-US" noProof="0" dirty="0"/>
              <a:t>Simulation set-up</a:t>
            </a:r>
          </a:p>
        </p:txBody>
      </p:sp>
      <p:sp>
        <p:nvSpPr>
          <p:cNvPr id="11" name="Rechteck 10">
            <a:extLst>
              <a:ext uri="{FF2B5EF4-FFF2-40B4-BE49-F238E27FC236}">
                <a16:creationId xmlns:a16="http://schemas.microsoft.com/office/drawing/2014/main" id="{2B554554-8DE8-53D6-D11F-C8CEB6FDA59F}"/>
              </a:ext>
            </a:extLst>
          </p:cNvPr>
          <p:cNvSpPr/>
          <p:nvPr/>
        </p:nvSpPr>
        <p:spPr>
          <a:xfrm>
            <a:off x="251520" y="2139702"/>
            <a:ext cx="1656184" cy="2880320"/>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200" b="1" noProof="0" dirty="0">
                <a:solidFill>
                  <a:schemeClr val="tx1"/>
                </a:solidFill>
              </a:rPr>
              <a:t>1</a:t>
            </a:r>
            <a:r>
              <a:rPr lang="en-US" sz="1200" b="1" baseline="30000" noProof="0" dirty="0">
                <a:solidFill>
                  <a:schemeClr val="tx1"/>
                </a:solidFill>
              </a:rPr>
              <a:t>st</a:t>
            </a:r>
            <a:r>
              <a:rPr lang="en-US" sz="1200" b="1" noProof="0" dirty="0">
                <a:solidFill>
                  <a:schemeClr val="tx1"/>
                </a:solidFill>
              </a:rPr>
              <a:t> Evolutionary Replacement</a:t>
            </a:r>
          </a:p>
          <a:p>
            <a:pPr marL="171450" indent="-171450">
              <a:spcAft>
                <a:spcPts val="600"/>
              </a:spcAft>
              <a:buFont typeface="Arial" panose="020B0604020202020204" pitchFamily="34" charset="0"/>
              <a:buChar char="•"/>
            </a:pPr>
            <a:r>
              <a:rPr lang="en-US" sz="1200" noProof="0" dirty="0">
                <a:solidFill>
                  <a:schemeClr val="tx1"/>
                </a:solidFill>
              </a:rPr>
              <a:t>weakest loses, strongest gains</a:t>
            </a:r>
          </a:p>
          <a:p>
            <a:pPr marL="171450" indent="-171450">
              <a:spcAft>
                <a:spcPts val="600"/>
              </a:spcAft>
              <a:buFont typeface="Arial" panose="020B0604020202020204" pitchFamily="34" charset="0"/>
              <a:buChar char="•"/>
            </a:pPr>
            <a:r>
              <a:rPr lang="en-US" sz="1200" noProof="0" dirty="0">
                <a:solidFill>
                  <a:schemeClr val="tx1"/>
                </a:solidFill>
              </a:rPr>
              <a:t>over several generations</a:t>
            </a:r>
          </a:p>
          <a:p>
            <a:pPr>
              <a:spcAft>
                <a:spcPts val="600"/>
              </a:spcAft>
            </a:pPr>
            <a:r>
              <a:rPr lang="en-US" sz="1200" noProof="0" dirty="0">
                <a:solidFill>
                  <a:schemeClr val="tx1"/>
                </a:solidFill>
              </a:rPr>
              <a:t>Purpose: see selection effects.</a:t>
            </a:r>
          </a:p>
        </p:txBody>
      </p:sp>
      <p:grpSp>
        <p:nvGrpSpPr>
          <p:cNvPr id="13" name="Gruppieren 12">
            <a:extLst>
              <a:ext uri="{FF2B5EF4-FFF2-40B4-BE49-F238E27FC236}">
                <a16:creationId xmlns:a16="http://schemas.microsoft.com/office/drawing/2014/main" id="{A027D8FA-C14B-2018-50E5-0322A2E94697}"/>
              </a:ext>
            </a:extLst>
          </p:cNvPr>
          <p:cNvGrpSpPr/>
          <p:nvPr/>
        </p:nvGrpSpPr>
        <p:grpSpPr>
          <a:xfrm>
            <a:off x="251520" y="1131588"/>
            <a:ext cx="1656184" cy="936107"/>
            <a:chOff x="251520" y="1131588"/>
            <a:chExt cx="1656184" cy="936107"/>
          </a:xfrm>
        </p:grpSpPr>
        <p:sp>
          <p:nvSpPr>
            <p:cNvPr id="14" name="Rechteck 13">
              <a:extLst>
                <a:ext uri="{FF2B5EF4-FFF2-40B4-BE49-F238E27FC236}">
                  <a16:creationId xmlns:a16="http://schemas.microsoft.com/office/drawing/2014/main" id="{E7AE9A80-5815-0D6E-26E4-A02D77CBAEE3}"/>
                </a:ext>
              </a:extLst>
            </p:cNvPr>
            <p:cNvSpPr/>
            <p:nvPr/>
          </p:nvSpPr>
          <p:spPr>
            <a:xfrm>
              <a:off x="251520" y="1131588"/>
              <a:ext cx="1656184" cy="93610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5" name="Grafik 14">
              <a:extLst>
                <a:ext uri="{FF2B5EF4-FFF2-40B4-BE49-F238E27FC236}">
                  <a16:creationId xmlns:a16="http://schemas.microsoft.com/office/drawing/2014/main" id="{546482BA-6444-6D38-28C1-A8F34F7A1886}"/>
                </a:ext>
              </a:extLst>
            </p:cNvPr>
            <p:cNvPicPr>
              <a:picLocks noChangeAspect="1"/>
            </p:cNvPicPr>
            <p:nvPr/>
          </p:nvPicPr>
          <p:blipFill>
            <a:blip r:embed="rId2"/>
            <a:srcRect t="5700" b="15210"/>
            <a:stretch>
              <a:fillRect/>
            </a:stretch>
          </p:blipFill>
          <p:spPr>
            <a:xfrm>
              <a:off x="487821" y="1131589"/>
              <a:ext cx="1183583" cy="936106"/>
            </a:xfrm>
            <a:prstGeom prst="rect">
              <a:avLst/>
            </a:prstGeom>
          </p:spPr>
        </p:pic>
      </p:grpSp>
      <p:sp>
        <p:nvSpPr>
          <p:cNvPr id="3" name="Rechteck 2">
            <a:extLst>
              <a:ext uri="{FF2B5EF4-FFF2-40B4-BE49-F238E27FC236}">
                <a16:creationId xmlns:a16="http://schemas.microsoft.com/office/drawing/2014/main" id="{45F52030-3235-D8E9-3D7F-B00214D27E22}"/>
              </a:ext>
            </a:extLst>
          </p:cNvPr>
          <p:cNvSpPr/>
          <p:nvPr/>
        </p:nvSpPr>
        <p:spPr>
          <a:xfrm>
            <a:off x="2144005" y="1131588"/>
            <a:ext cx="6748475" cy="38884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noProof="0" dirty="0">
                <a:solidFill>
                  <a:sysClr val="windowText" lastClr="000000"/>
                </a:solidFill>
              </a:rPr>
              <a:t>Matches are weighted by population sizes (adaptation of the tournament rules) following the idea:</a:t>
            </a:r>
          </a:p>
          <a:p>
            <a:pPr marL="179388" indent="-179388">
              <a:spcAft>
                <a:spcPts val="600"/>
              </a:spcAft>
              <a:buFont typeface="Arial" panose="020B0604020202020204" pitchFamily="34" charset="0"/>
              <a:buChar char="•"/>
            </a:pPr>
            <a:r>
              <a:rPr lang="en-US" sz="1400" noProof="0" dirty="0">
                <a:solidFill>
                  <a:sysClr val="windowText" lastClr="000000"/>
                </a:solidFill>
              </a:rPr>
              <a:t>if strategy A has population 20 and strategy B has population 15, </a:t>
            </a:r>
          </a:p>
          <a:p>
            <a:pPr marL="179388" indent="-179388">
              <a:spcAft>
                <a:spcPts val="600"/>
              </a:spcAft>
              <a:buFont typeface="Arial" panose="020B0604020202020204" pitchFamily="34" charset="0"/>
              <a:buChar char="•"/>
            </a:pPr>
            <a:r>
              <a:rPr lang="en-US" sz="1400" noProof="0" dirty="0">
                <a:solidFill>
                  <a:sysClr val="windowText" lastClr="000000"/>
                </a:solidFill>
              </a:rPr>
              <a:t>then the encounter A vs B represents 20 * 15 pairings, </a:t>
            </a:r>
          </a:p>
          <a:p>
            <a:pPr marL="179388" indent="-179388">
              <a:spcAft>
                <a:spcPts val="600"/>
              </a:spcAft>
              <a:buFont typeface="Arial" panose="020B0604020202020204" pitchFamily="34" charset="0"/>
              <a:buChar char="•"/>
            </a:pPr>
            <a:r>
              <a:rPr lang="en-US" sz="1400" noProof="0" dirty="0">
                <a:solidFill>
                  <a:sysClr val="windowText" lastClr="000000"/>
                </a:solidFill>
              </a:rPr>
              <a:t>for self-play we use n * n.</a:t>
            </a:r>
          </a:p>
          <a:p>
            <a:pPr>
              <a:spcAft>
                <a:spcPts val="600"/>
              </a:spcAft>
            </a:pPr>
            <a:endParaRPr lang="en-US" sz="1400" noProof="0" dirty="0">
              <a:solidFill>
                <a:sysClr val="windowText" lastClr="000000"/>
              </a:solidFill>
            </a:endParaRPr>
          </a:p>
          <a:p>
            <a:pPr>
              <a:spcAft>
                <a:spcPts val="600"/>
              </a:spcAft>
            </a:pPr>
            <a:r>
              <a:rPr lang="en-US" sz="1400" noProof="0" dirty="0">
                <a:solidFill>
                  <a:sysClr val="windowText" lastClr="000000"/>
                </a:solidFill>
              </a:rPr>
              <a:t>Ranking is based on average performance per effective match where following the simple replacement rule is implemented (this is not a replicator-like approach):</a:t>
            </a:r>
          </a:p>
          <a:p>
            <a:pPr marL="179388" indent="-179388">
              <a:spcAft>
                <a:spcPts val="600"/>
              </a:spcAft>
              <a:buFont typeface="Arial" panose="020B0604020202020204" pitchFamily="34" charset="0"/>
              <a:buChar char="•"/>
            </a:pPr>
            <a:r>
              <a:rPr lang="en-US" sz="1400" noProof="0" dirty="0">
                <a:solidFill>
                  <a:sysClr val="windowText" lastClr="000000"/>
                </a:solidFill>
              </a:rPr>
              <a:t>find strongest strategy, </a:t>
            </a:r>
          </a:p>
          <a:p>
            <a:pPr marL="179388" indent="-179388">
              <a:spcAft>
                <a:spcPts val="600"/>
              </a:spcAft>
              <a:buFont typeface="Arial" panose="020B0604020202020204" pitchFamily="34" charset="0"/>
              <a:buChar char="•"/>
            </a:pPr>
            <a:r>
              <a:rPr lang="en-US" sz="1400" noProof="0" dirty="0">
                <a:solidFill>
                  <a:sysClr val="windowText" lastClr="000000"/>
                </a:solidFill>
              </a:rPr>
              <a:t>find weakest strategy, </a:t>
            </a:r>
          </a:p>
          <a:p>
            <a:pPr marL="179388" indent="-179388">
              <a:spcAft>
                <a:spcPts val="600"/>
              </a:spcAft>
              <a:buFont typeface="Arial" panose="020B0604020202020204" pitchFamily="34" charset="0"/>
              <a:buChar char="•"/>
            </a:pPr>
            <a:r>
              <a:rPr lang="en-US" sz="1400" noProof="0" dirty="0">
                <a:solidFill>
                  <a:sysClr val="windowText" lastClr="000000"/>
                </a:solidFill>
              </a:rPr>
              <a:t>move some number of individuals from weakest to strongest, </a:t>
            </a:r>
          </a:p>
          <a:p>
            <a:pPr marL="179388" indent="-179388">
              <a:spcAft>
                <a:spcPts val="600"/>
              </a:spcAft>
              <a:buFont typeface="Arial" panose="020B0604020202020204" pitchFamily="34" charset="0"/>
              <a:buChar char="•"/>
            </a:pPr>
            <a:r>
              <a:rPr lang="en-US" sz="1400" noProof="0" dirty="0">
                <a:solidFill>
                  <a:sysClr val="windowText" lastClr="000000"/>
                </a:solidFill>
              </a:rPr>
              <a:t>do not reduce below zero. </a:t>
            </a:r>
          </a:p>
        </p:txBody>
      </p:sp>
    </p:spTree>
    <p:extLst>
      <p:ext uri="{BB962C8B-B14F-4D97-AF65-F5344CB8AC3E}">
        <p14:creationId xmlns:p14="http://schemas.microsoft.com/office/powerpoint/2010/main" val="22893835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0D58B-0B78-7BB8-3FF0-4C5ABCBCE447}"/>
            </a:ext>
          </a:extLst>
        </p:cNvPr>
        <p:cNvGrpSpPr/>
        <p:nvPr/>
      </p:nvGrpSpPr>
      <p:grpSpPr>
        <a:xfrm>
          <a:off x="0" y="0"/>
          <a:ext cx="0" cy="0"/>
          <a:chOff x="0" y="0"/>
          <a:chExt cx="0" cy="0"/>
        </a:xfrm>
      </p:grpSpPr>
      <p:pic>
        <p:nvPicPr>
          <p:cNvPr id="35" name="Grafik 34">
            <a:extLst>
              <a:ext uri="{FF2B5EF4-FFF2-40B4-BE49-F238E27FC236}">
                <a16:creationId xmlns:a16="http://schemas.microsoft.com/office/drawing/2014/main" id="{F690ECEA-77DE-4D0D-73C0-AAF407C5F75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1520" y="1131590"/>
            <a:ext cx="5040560" cy="3024336"/>
          </a:xfrm>
          <a:prstGeom prst="rect">
            <a:avLst/>
          </a:prstGeom>
        </p:spPr>
      </p:pic>
      <p:sp>
        <p:nvSpPr>
          <p:cNvPr id="2" name="Titel 1">
            <a:extLst>
              <a:ext uri="{FF2B5EF4-FFF2-40B4-BE49-F238E27FC236}">
                <a16:creationId xmlns:a16="http://schemas.microsoft.com/office/drawing/2014/main" id="{A8192C97-8AD3-2EB5-05EB-ED5461BCF96A}"/>
              </a:ext>
            </a:extLst>
          </p:cNvPr>
          <p:cNvSpPr>
            <a:spLocks noGrp="1"/>
          </p:cNvSpPr>
          <p:nvPr>
            <p:ph type="title"/>
          </p:nvPr>
        </p:nvSpPr>
        <p:spPr/>
        <p:txBody>
          <a:bodyPr/>
          <a:lstStyle/>
          <a:p>
            <a:r>
              <a:rPr lang="en-US" noProof="0" dirty="0"/>
              <a:t>Phase 2 (1</a:t>
            </a:r>
            <a:r>
              <a:rPr lang="en-US" baseline="30000" noProof="0" dirty="0"/>
              <a:t>st</a:t>
            </a:r>
            <a:r>
              <a:rPr lang="en-US" noProof="0" dirty="0"/>
              <a:t> Evolutionary Replacement):</a:t>
            </a:r>
            <a:br>
              <a:rPr lang="en-US" noProof="0" dirty="0"/>
            </a:br>
            <a:r>
              <a:rPr lang="en-US" noProof="0" dirty="0"/>
              <a:t>Simulation results</a:t>
            </a:r>
          </a:p>
        </p:txBody>
      </p:sp>
      <p:sp>
        <p:nvSpPr>
          <p:cNvPr id="26" name="Rechteck 25">
            <a:extLst>
              <a:ext uri="{FF2B5EF4-FFF2-40B4-BE49-F238E27FC236}">
                <a16:creationId xmlns:a16="http://schemas.microsoft.com/office/drawing/2014/main" id="{0C56AEE9-7FC2-6A19-7F64-5D16C8D49C4C}"/>
              </a:ext>
            </a:extLst>
          </p:cNvPr>
          <p:cNvSpPr/>
          <p:nvPr/>
        </p:nvSpPr>
        <p:spPr>
          <a:xfrm>
            <a:off x="251520" y="1131590"/>
            <a:ext cx="5040560" cy="3024336"/>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1" name="Grafik 30">
            <a:extLst>
              <a:ext uri="{FF2B5EF4-FFF2-40B4-BE49-F238E27FC236}">
                <a16:creationId xmlns:a16="http://schemas.microsoft.com/office/drawing/2014/main" id="{8264CFC4-7553-A4A7-2327-3C274FC92A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7730" y="2211710"/>
            <a:ext cx="4680520" cy="2808312"/>
          </a:xfrm>
          <a:prstGeom prst="rect">
            <a:avLst/>
          </a:prstGeom>
        </p:spPr>
      </p:pic>
      <p:sp>
        <p:nvSpPr>
          <p:cNvPr id="32" name="Rechteck 31">
            <a:extLst>
              <a:ext uri="{FF2B5EF4-FFF2-40B4-BE49-F238E27FC236}">
                <a16:creationId xmlns:a16="http://schemas.microsoft.com/office/drawing/2014/main" id="{3900D87B-B3BB-6F22-CF38-52677245F608}"/>
              </a:ext>
            </a:extLst>
          </p:cNvPr>
          <p:cNvSpPr/>
          <p:nvPr/>
        </p:nvSpPr>
        <p:spPr>
          <a:xfrm>
            <a:off x="4177730" y="2211710"/>
            <a:ext cx="4714750" cy="280831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Rechteck 32">
            <a:extLst>
              <a:ext uri="{FF2B5EF4-FFF2-40B4-BE49-F238E27FC236}">
                <a16:creationId xmlns:a16="http://schemas.microsoft.com/office/drawing/2014/main" id="{4C460A48-08F3-6BA3-06FB-36AACF1001A5}"/>
              </a:ext>
            </a:extLst>
          </p:cNvPr>
          <p:cNvSpPr/>
          <p:nvPr/>
        </p:nvSpPr>
        <p:spPr>
          <a:xfrm>
            <a:off x="5364088" y="1131590"/>
            <a:ext cx="3528392" cy="709613"/>
          </a:xfrm>
          <a:prstGeom prst="rect">
            <a:avLst/>
          </a:prstGeom>
          <a:solidFill>
            <a:schemeClr val="tx2">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A strategy may have high current performance but if its environment changes because populations shifts, its future success may change as well.</a:t>
            </a:r>
          </a:p>
        </p:txBody>
      </p:sp>
    </p:spTree>
    <p:extLst>
      <p:ext uri="{BB962C8B-B14F-4D97-AF65-F5344CB8AC3E}">
        <p14:creationId xmlns:p14="http://schemas.microsoft.com/office/powerpoint/2010/main" val="1818497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BF39031-6917-5C0A-73D9-6C267F888F3B}"/>
              </a:ext>
            </a:extLst>
          </p:cNvPr>
          <p:cNvSpPr>
            <a:spLocks noGrp="1"/>
          </p:cNvSpPr>
          <p:nvPr>
            <p:ph type="title"/>
          </p:nvPr>
        </p:nvSpPr>
        <p:spPr/>
        <p:txBody>
          <a:bodyPr/>
          <a:lstStyle/>
          <a:p>
            <a:r>
              <a:rPr lang="en-US" noProof="0" dirty="0"/>
              <a:t>Phase 2 (1</a:t>
            </a:r>
            <a:r>
              <a:rPr lang="en-US" baseline="30000" noProof="0" dirty="0"/>
              <a:t>st</a:t>
            </a:r>
            <a:r>
              <a:rPr lang="en-US" noProof="0" dirty="0"/>
              <a:t> Evolutionary Replacement):</a:t>
            </a:r>
            <a:br>
              <a:rPr lang="en-US" noProof="0" dirty="0"/>
            </a:br>
            <a:r>
              <a:rPr lang="en-US" noProof="0" dirty="0"/>
              <a:t>Simulation results</a:t>
            </a:r>
          </a:p>
        </p:txBody>
      </p:sp>
      <p:pic>
        <p:nvPicPr>
          <p:cNvPr id="4" name="Grafik 3">
            <a:extLst>
              <a:ext uri="{FF2B5EF4-FFF2-40B4-BE49-F238E27FC236}">
                <a16:creationId xmlns:a16="http://schemas.microsoft.com/office/drawing/2014/main" id="{C7F2EF48-7DB0-46CB-A787-39CCA8E4945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1520" y="1131590"/>
            <a:ext cx="5040560" cy="3024336"/>
          </a:xfrm>
          <a:prstGeom prst="rect">
            <a:avLst/>
          </a:prstGeom>
        </p:spPr>
      </p:pic>
      <p:sp>
        <p:nvSpPr>
          <p:cNvPr id="3" name="Rechteck 2">
            <a:extLst>
              <a:ext uri="{FF2B5EF4-FFF2-40B4-BE49-F238E27FC236}">
                <a16:creationId xmlns:a16="http://schemas.microsoft.com/office/drawing/2014/main" id="{B8490A58-5380-B477-7FB4-5D96899AC9F6}"/>
              </a:ext>
            </a:extLst>
          </p:cNvPr>
          <p:cNvSpPr/>
          <p:nvPr/>
        </p:nvSpPr>
        <p:spPr>
          <a:xfrm>
            <a:off x="251520" y="1131590"/>
            <a:ext cx="5040560" cy="3024336"/>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9" name="Gruppieren 8">
            <a:extLst>
              <a:ext uri="{FF2B5EF4-FFF2-40B4-BE49-F238E27FC236}">
                <a16:creationId xmlns:a16="http://schemas.microsoft.com/office/drawing/2014/main" id="{37652C46-52F0-38FB-DCBA-5E13E78C7700}"/>
              </a:ext>
            </a:extLst>
          </p:cNvPr>
          <p:cNvGrpSpPr/>
          <p:nvPr/>
        </p:nvGrpSpPr>
        <p:grpSpPr>
          <a:xfrm>
            <a:off x="4177730" y="2211710"/>
            <a:ext cx="4714750" cy="2819408"/>
            <a:chOff x="4177730" y="2211710"/>
            <a:chExt cx="4714750" cy="2819408"/>
          </a:xfrm>
        </p:grpSpPr>
        <p:sp>
          <p:nvSpPr>
            <p:cNvPr id="5" name="Rechteck 4">
              <a:extLst>
                <a:ext uri="{FF2B5EF4-FFF2-40B4-BE49-F238E27FC236}">
                  <a16:creationId xmlns:a16="http://schemas.microsoft.com/office/drawing/2014/main" id="{A87BB1AA-6880-CD8F-2A2E-17F89A36CAEC}"/>
                </a:ext>
              </a:extLst>
            </p:cNvPr>
            <p:cNvSpPr/>
            <p:nvPr/>
          </p:nvSpPr>
          <p:spPr>
            <a:xfrm>
              <a:off x="4177730" y="2211710"/>
              <a:ext cx="4714750" cy="28083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7" name="Grafik 6">
              <a:extLst>
                <a:ext uri="{FF2B5EF4-FFF2-40B4-BE49-F238E27FC236}">
                  <a16:creationId xmlns:a16="http://schemas.microsoft.com/office/drawing/2014/main" id="{6DC31832-3744-4952-46A9-25ACD49DF8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18848" y="2226112"/>
              <a:ext cx="4632514" cy="2779508"/>
            </a:xfrm>
            <a:prstGeom prst="rect">
              <a:avLst/>
            </a:prstGeom>
          </p:spPr>
        </p:pic>
        <p:sp>
          <p:nvSpPr>
            <p:cNvPr id="8" name="Rechteck 7">
              <a:extLst>
                <a:ext uri="{FF2B5EF4-FFF2-40B4-BE49-F238E27FC236}">
                  <a16:creationId xmlns:a16="http://schemas.microsoft.com/office/drawing/2014/main" id="{A8ECA12E-DCCE-50A8-1FFC-53F76A0F76D3}"/>
                </a:ext>
              </a:extLst>
            </p:cNvPr>
            <p:cNvSpPr/>
            <p:nvPr/>
          </p:nvSpPr>
          <p:spPr>
            <a:xfrm>
              <a:off x="4177730" y="2222806"/>
              <a:ext cx="4714750" cy="280831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1377956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972F5-D3AD-C5D7-0339-FBFFDA5657E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7B2AD18-C1E3-4864-043A-7B0AEEBEB97F}"/>
              </a:ext>
            </a:extLst>
          </p:cNvPr>
          <p:cNvSpPr>
            <a:spLocks noGrp="1"/>
          </p:cNvSpPr>
          <p:nvPr>
            <p:ph type="title"/>
          </p:nvPr>
        </p:nvSpPr>
        <p:spPr/>
        <p:txBody>
          <a:bodyPr/>
          <a:lstStyle/>
          <a:p>
            <a:r>
              <a:rPr lang="en-US" noProof="0" dirty="0"/>
              <a:t>Phase 2 (2</a:t>
            </a:r>
            <a:r>
              <a:rPr lang="en-US" baseline="30000" noProof="0" dirty="0"/>
              <a:t>nd</a:t>
            </a:r>
            <a:r>
              <a:rPr lang="en-US" noProof="0" dirty="0"/>
              <a:t> Evolutionary Replacement):</a:t>
            </a:r>
            <a:br>
              <a:rPr lang="en-US" noProof="0" dirty="0"/>
            </a:br>
            <a:r>
              <a:rPr lang="en-US" noProof="0" dirty="0"/>
              <a:t>Simulation set-up</a:t>
            </a:r>
          </a:p>
        </p:txBody>
      </p:sp>
      <p:sp>
        <p:nvSpPr>
          <p:cNvPr id="11" name="Rechteck 10">
            <a:extLst>
              <a:ext uri="{FF2B5EF4-FFF2-40B4-BE49-F238E27FC236}">
                <a16:creationId xmlns:a16="http://schemas.microsoft.com/office/drawing/2014/main" id="{A54824B6-EBC0-C2F9-8A83-FDA4B9F93234}"/>
              </a:ext>
            </a:extLst>
          </p:cNvPr>
          <p:cNvSpPr/>
          <p:nvPr/>
        </p:nvSpPr>
        <p:spPr>
          <a:xfrm>
            <a:off x="251520" y="2139702"/>
            <a:ext cx="1656184" cy="2880320"/>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200" b="1" noProof="0" dirty="0">
                <a:solidFill>
                  <a:schemeClr val="tx1"/>
                </a:solidFill>
              </a:rPr>
              <a:t>2</a:t>
            </a:r>
            <a:r>
              <a:rPr lang="en-US" sz="1200" b="1" baseline="30000" noProof="0" dirty="0">
                <a:solidFill>
                  <a:schemeClr val="tx1"/>
                </a:solidFill>
              </a:rPr>
              <a:t>nd</a:t>
            </a:r>
            <a:r>
              <a:rPr lang="en-US" sz="1200" b="1" noProof="0" dirty="0">
                <a:solidFill>
                  <a:schemeClr val="tx1"/>
                </a:solidFill>
              </a:rPr>
              <a:t> Evolutionary Replacement</a:t>
            </a:r>
          </a:p>
          <a:p>
            <a:pPr marL="171450" indent="-171450">
              <a:spcAft>
                <a:spcPts val="600"/>
              </a:spcAft>
              <a:buFont typeface="Arial" panose="020B0604020202020204" pitchFamily="34" charset="0"/>
              <a:buChar char="•"/>
            </a:pPr>
            <a:r>
              <a:rPr lang="en-US" sz="1200" noProof="0" dirty="0">
                <a:solidFill>
                  <a:schemeClr val="tx1"/>
                </a:solidFill>
              </a:rPr>
              <a:t>weakest loses, strongest gains</a:t>
            </a:r>
          </a:p>
          <a:p>
            <a:pPr marL="171450" indent="-171450">
              <a:spcAft>
                <a:spcPts val="600"/>
              </a:spcAft>
              <a:buFont typeface="Arial" panose="020B0604020202020204" pitchFamily="34" charset="0"/>
              <a:buChar char="•"/>
            </a:pPr>
            <a:r>
              <a:rPr lang="en-US" sz="1200" noProof="0" dirty="0">
                <a:solidFill>
                  <a:schemeClr val="tx1"/>
                </a:solidFill>
              </a:rPr>
              <a:t>over several generations</a:t>
            </a:r>
          </a:p>
          <a:p>
            <a:pPr>
              <a:spcAft>
                <a:spcPts val="600"/>
              </a:spcAft>
            </a:pPr>
            <a:r>
              <a:rPr lang="en-US" sz="1200" noProof="0" dirty="0">
                <a:solidFill>
                  <a:schemeClr val="tx1"/>
                </a:solidFill>
              </a:rPr>
              <a:t>Purpose: see selection effects.</a:t>
            </a:r>
          </a:p>
        </p:txBody>
      </p:sp>
      <p:grpSp>
        <p:nvGrpSpPr>
          <p:cNvPr id="13" name="Gruppieren 12">
            <a:extLst>
              <a:ext uri="{FF2B5EF4-FFF2-40B4-BE49-F238E27FC236}">
                <a16:creationId xmlns:a16="http://schemas.microsoft.com/office/drawing/2014/main" id="{C3D12730-9F2A-E1B4-BAC5-1A5D93720623}"/>
              </a:ext>
            </a:extLst>
          </p:cNvPr>
          <p:cNvGrpSpPr/>
          <p:nvPr/>
        </p:nvGrpSpPr>
        <p:grpSpPr>
          <a:xfrm>
            <a:off x="251520" y="1131588"/>
            <a:ext cx="1656184" cy="936107"/>
            <a:chOff x="251520" y="1131588"/>
            <a:chExt cx="1656184" cy="936107"/>
          </a:xfrm>
        </p:grpSpPr>
        <p:sp>
          <p:nvSpPr>
            <p:cNvPr id="14" name="Rechteck 13">
              <a:extLst>
                <a:ext uri="{FF2B5EF4-FFF2-40B4-BE49-F238E27FC236}">
                  <a16:creationId xmlns:a16="http://schemas.microsoft.com/office/drawing/2014/main" id="{CFE97B80-9C19-5C0F-3EB7-57E949E78F58}"/>
                </a:ext>
              </a:extLst>
            </p:cNvPr>
            <p:cNvSpPr/>
            <p:nvPr/>
          </p:nvSpPr>
          <p:spPr>
            <a:xfrm>
              <a:off x="251520" y="1131588"/>
              <a:ext cx="1656184" cy="93610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5" name="Grafik 14">
              <a:extLst>
                <a:ext uri="{FF2B5EF4-FFF2-40B4-BE49-F238E27FC236}">
                  <a16:creationId xmlns:a16="http://schemas.microsoft.com/office/drawing/2014/main" id="{081031D0-81C6-BF67-5ECB-48FBD1B76928}"/>
                </a:ext>
              </a:extLst>
            </p:cNvPr>
            <p:cNvPicPr>
              <a:picLocks noChangeAspect="1"/>
            </p:cNvPicPr>
            <p:nvPr/>
          </p:nvPicPr>
          <p:blipFill>
            <a:blip r:embed="rId4"/>
            <a:srcRect t="5700" b="15210"/>
            <a:stretch>
              <a:fillRect/>
            </a:stretch>
          </p:blipFill>
          <p:spPr>
            <a:xfrm>
              <a:off x="487821" y="1131589"/>
              <a:ext cx="1183583" cy="936106"/>
            </a:xfrm>
            <a:prstGeom prst="rect">
              <a:avLst/>
            </a:prstGeom>
          </p:spPr>
        </p:pic>
      </p:grpSp>
      <p:sp>
        <p:nvSpPr>
          <p:cNvPr id="3" name="Rechteck 2">
            <a:extLst>
              <a:ext uri="{FF2B5EF4-FFF2-40B4-BE49-F238E27FC236}">
                <a16:creationId xmlns:a16="http://schemas.microsoft.com/office/drawing/2014/main" id="{63B12E8B-F583-EC5F-878C-F5E4E97D5821}"/>
              </a:ext>
            </a:extLst>
          </p:cNvPr>
          <p:cNvSpPr/>
          <p:nvPr/>
        </p:nvSpPr>
        <p:spPr>
          <a:xfrm>
            <a:off x="2051721" y="1131588"/>
            <a:ext cx="6840760" cy="38884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noProof="0" dirty="0">
              <a:solidFill>
                <a:sysClr val="windowText" lastClr="000000"/>
              </a:solidFill>
            </a:endParaRPr>
          </a:p>
        </p:txBody>
      </p:sp>
      <p:pic>
        <p:nvPicPr>
          <p:cNvPr id="29" name="Grafik 28">
            <a:extLst>
              <a:ext uri="{FF2B5EF4-FFF2-40B4-BE49-F238E27FC236}">
                <a16:creationId xmlns:a16="http://schemas.microsoft.com/office/drawing/2014/main" id="{41573A83-EA4A-95D3-E515-A7448DD8492D}"/>
              </a:ext>
            </a:extLst>
          </p:cNvPr>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2114310" y="1189487"/>
            <a:ext cx="6694147" cy="2189955"/>
          </a:xfrm>
          <a:prstGeom prst="rect">
            <a:avLst/>
          </a:prstGeom>
          <a:noFill/>
          <a:ln/>
          <a:effectLst/>
        </p:spPr>
      </p:pic>
      <p:pic>
        <p:nvPicPr>
          <p:cNvPr id="31" name="Grafik 30">
            <a:extLst>
              <a:ext uri="{FF2B5EF4-FFF2-40B4-BE49-F238E27FC236}">
                <a16:creationId xmlns:a16="http://schemas.microsoft.com/office/drawing/2014/main" id="{CF3B5C51-5D3A-1392-56F7-F0B980F0971D}"/>
              </a:ext>
            </a:extLst>
          </p:cNvPr>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2114308" y="3607998"/>
            <a:ext cx="6692182" cy="1349398"/>
          </a:xfrm>
          <a:prstGeom prst="rect">
            <a:avLst/>
          </a:prstGeom>
          <a:noFill/>
          <a:ln/>
          <a:effectLst/>
        </p:spPr>
      </p:pic>
    </p:spTree>
    <p:extLst>
      <p:ext uri="{BB962C8B-B14F-4D97-AF65-F5344CB8AC3E}">
        <p14:creationId xmlns:p14="http://schemas.microsoft.com/office/powerpoint/2010/main" val="1811592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6DE57-AF84-D6FA-F293-B37E8E888CEC}"/>
            </a:ext>
          </a:extLst>
        </p:cNvPr>
        <p:cNvGrpSpPr/>
        <p:nvPr/>
      </p:nvGrpSpPr>
      <p:grpSpPr>
        <a:xfrm>
          <a:off x="0" y="0"/>
          <a:ext cx="0" cy="0"/>
          <a:chOff x="0" y="0"/>
          <a:chExt cx="0" cy="0"/>
        </a:xfrm>
      </p:grpSpPr>
      <p:pic>
        <p:nvPicPr>
          <p:cNvPr id="7" name="Grafik 6">
            <a:extLst>
              <a:ext uri="{FF2B5EF4-FFF2-40B4-BE49-F238E27FC236}">
                <a16:creationId xmlns:a16="http://schemas.microsoft.com/office/drawing/2014/main" id="{375A5C94-FC09-C406-0797-81D791563FD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8635" y="1141859"/>
            <a:ext cx="5006331" cy="3003798"/>
          </a:xfrm>
          <a:prstGeom prst="rect">
            <a:avLst/>
          </a:prstGeom>
        </p:spPr>
      </p:pic>
      <p:sp>
        <p:nvSpPr>
          <p:cNvPr id="2" name="Titel 1">
            <a:extLst>
              <a:ext uri="{FF2B5EF4-FFF2-40B4-BE49-F238E27FC236}">
                <a16:creationId xmlns:a16="http://schemas.microsoft.com/office/drawing/2014/main" id="{2E00AC2A-F462-CDAE-53EE-717FEDF8CBBF}"/>
              </a:ext>
            </a:extLst>
          </p:cNvPr>
          <p:cNvSpPr>
            <a:spLocks noGrp="1"/>
          </p:cNvSpPr>
          <p:nvPr>
            <p:ph type="title"/>
          </p:nvPr>
        </p:nvSpPr>
        <p:spPr/>
        <p:txBody>
          <a:bodyPr/>
          <a:lstStyle/>
          <a:p>
            <a:r>
              <a:rPr lang="en-US" noProof="0" dirty="0"/>
              <a:t>Phase 2 (2</a:t>
            </a:r>
            <a:r>
              <a:rPr lang="en-US" baseline="30000" noProof="0" dirty="0"/>
              <a:t>nd</a:t>
            </a:r>
            <a:r>
              <a:rPr lang="en-US" noProof="0" dirty="0"/>
              <a:t> Evolutionary Replacement):</a:t>
            </a:r>
            <a:br>
              <a:rPr lang="en-US" noProof="0" dirty="0"/>
            </a:br>
            <a:r>
              <a:rPr lang="en-US" noProof="0" dirty="0"/>
              <a:t>Simulation set-up</a:t>
            </a:r>
          </a:p>
        </p:txBody>
      </p:sp>
      <p:sp>
        <p:nvSpPr>
          <p:cNvPr id="4" name="Rechteck 3">
            <a:extLst>
              <a:ext uri="{FF2B5EF4-FFF2-40B4-BE49-F238E27FC236}">
                <a16:creationId xmlns:a16="http://schemas.microsoft.com/office/drawing/2014/main" id="{34623420-72B1-7ABD-338E-D8C10FDC6EFF}"/>
              </a:ext>
            </a:extLst>
          </p:cNvPr>
          <p:cNvSpPr/>
          <p:nvPr/>
        </p:nvSpPr>
        <p:spPr>
          <a:xfrm>
            <a:off x="251520" y="1131590"/>
            <a:ext cx="5040560" cy="3024336"/>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0" name="Gruppieren 9">
            <a:extLst>
              <a:ext uri="{FF2B5EF4-FFF2-40B4-BE49-F238E27FC236}">
                <a16:creationId xmlns:a16="http://schemas.microsoft.com/office/drawing/2014/main" id="{531B4172-B899-0C07-E90A-0CDF68329A6D}"/>
              </a:ext>
            </a:extLst>
          </p:cNvPr>
          <p:cNvGrpSpPr/>
          <p:nvPr/>
        </p:nvGrpSpPr>
        <p:grpSpPr>
          <a:xfrm>
            <a:off x="4177730" y="2211710"/>
            <a:ext cx="4714750" cy="2808312"/>
            <a:chOff x="4177730" y="2211710"/>
            <a:chExt cx="4714750" cy="2808312"/>
          </a:xfrm>
        </p:grpSpPr>
        <p:pic>
          <p:nvPicPr>
            <p:cNvPr id="9" name="Grafik 8">
              <a:extLst>
                <a:ext uri="{FF2B5EF4-FFF2-40B4-BE49-F238E27FC236}">
                  <a16:creationId xmlns:a16="http://schemas.microsoft.com/office/drawing/2014/main" id="{09BDCA24-5921-54CE-86F9-607726B9574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89335" y="2221978"/>
              <a:ext cx="4663405" cy="2798043"/>
            </a:xfrm>
            <a:prstGeom prst="rect">
              <a:avLst/>
            </a:prstGeom>
          </p:spPr>
        </p:pic>
        <p:sp>
          <p:nvSpPr>
            <p:cNvPr id="5" name="Rechteck 4">
              <a:extLst>
                <a:ext uri="{FF2B5EF4-FFF2-40B4-BE49-F238E27FC236}">
                  <a16:creationId xmlns:a16="http://schemas.microsoft.com/office/drawing/2014/main" id="{5444F2D0-37A8-3DDE-B1FC-608075649D40}"/>
                </a:ext>
              </a:extLst>
            </p:cNvPr>
            <p:cNvSpPr/>
            <p:nvPr/>
          </p:nvSpPr>
          <p:spPr>
            <a:xfrm>
              <a:off x="4177730" y="2211710"/>
              <a:ext cx="4714750" cy="280831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1077700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6E177-31FD-DAF7-A854-457E95A47C26}"/>
            </a:ext>
          </a:extLst>
        </p:cNvPr>
        <p:cNvGrpSpPr/>
        <p:nvPr/>
      </p:nvGrpSpPr>
      <p:grpSpPr>
        <a:xfrm>
          <a:off x="0" y="0"/>
          <a:ext cx="0" cy="0"/>
          <a:chOff x="0" y="0"/>
          <a:chExt cx="0" cy="0"/>
        </a:xfrm>
      </p:grpSpPr>
      <p:pic>
        <p:nvPicPr>
          <p:cNvPr id="9" name="Grafik 8">
            <a:extLst>
              <a:ext uri="{FF2B5EF4-FFF2-40B4-BE49-F238E27FC236}">
                <a16:creationId xmlns:a16="http://schemas.microsoft.com/office/drawing/2014/main" id="{8BC76808-623C-B524-F8DB-B3F03C2C96E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1520" y="1131890"/>
            <a:ext cx="5040560" cy="3024336"/>
          </a:xfrm>
          <a:prstGeom prst="rect">
            <a:avLst/>
          </a:prstGeom>
        </p:spPr>
      </p:pic>
      <p:sp>
        <p:nvSpPr>
          <p:cNvPr id="2" name="Titel 1">
            <a:extLst>
              <a:ext uri="{FF2B5EF4-FFF2-40B4-BE49-F238E27FC236}">
                <a16:creationId xmlns:a16="http://schemas.microsoft.com/office/drawing/2014/main" id="{7F7B1C24-E7F0-A4F5-431B-9C1A033DF19D}"/>
              </a:ext>
            </a:extLst>
          </p:cNvPr>
          <p:cNvSpPr>
            <a:spLocks noGrp="1"/>
          </p:cNvSpPr>
          <p:nvPr>
            <p:ph type="title"/>
          </p:nvPr>
        </p:nvSpPr>
        <p:spPr/>
        <p:txBody>
          <a:bodyPr/>
          <a:lstStyle/>
          <a:p>
            <a:r>
              <a:rPr lang="en-US" noProof="0" dirty="0"/>
              <a:t>Phase 2 (2</a:t>
            </a:r>
            <a:r>
              <a:rPr lang="en-US" baseline="30000" noProof="0" dirty="0"/>
              <a:t>nd</a:t>
            </a:r>
            <a:r>
              <a:rPr lang="en-US" noProof="0" dirty="0"/>
              <a:t> Evolutionary Replacement):</a:t>
            </a:r>
            <a:br>
              <a:rPr lang="en-US" noProof="0" dirty="0"/>
            </a:br>
            <a:r>
              <a:rPr lang="en-US" noProof="0" dirty="0"/>
              <a:t>Simulation set-up</a:t>
            </a:r>
          </a:p>
        </p:txBody>
      </p:sp>
      <p:sp>
        <p:nvSpPr>
          <p:cNvPr id="3" name="Rechteck 2">
            <a:extLst>
              <a:ext uri="{FF2B5EF4-FFF2-40B4-BE49-F238E27FC236}">
                <a16:creationId xmlns:a16="http://schemas.microsoft.com/office/drawing/2014/main" id="{93DA0534-0565-D62A-9A7B-8484C8F2FEE2}"/>
              </a:ext>
            </a:extLst>
          </p:cNvPr>
          <p:cNvSpPr/>
          <p:nvPr/>
        </p:nvSpPr>
        <p:spPr>
          <a:xfrm>
            <a:off x="251520" y="1131890"/>
            <a:ext cx="5040560" cy="3024336"/>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0" name="Gruppieren 9">
            <a:extLst>
              <a:ext uri="{FF2B5EF4-FFF2-40B4-BE49-F238E27FC236}">
                <a16:creationId xmlns:a16="http://schemas.microsoft.com/office/drawing/2014/main" id="{E427CD4A-752E-2C10-C77D-7A618ABEC6F2}"/>
              </a:ext>
            </a:extLst>
          </p:cNvPr>
          <p:cNvGrpSpPr/>
          <p:nvPr/>
        </p:nvGrpSpPr>
        <p:grpSpPr>
          <a:xfrm>
            <a:off x="4177730" y="2203992"/>
            <a:ext cx="4714750" cy="2816029"/>
            <a:chOff x="4177730" y="2203992"/>
            <a:chExt cx="4714750" cy="2816029"/>
          </a:xfrm>
        </p:grpSpPr>
        <p:pic>
          <p:nvPicPr>
            <p:cNvPr id="6" name="Grafik 5">
              <a:extLst>
                <a:ext uri="{FF2B5EF4-FFF2-40B4-BE49-F238E27FC236}">
                  <a16:creationId xmlns:a16="http://schemas.microsoft.com/office/drawing/2014/main" id="{DDA5DA2C-9411-BB46-436D-F2C882328B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7811" y="2211709"/>
              <a:ext cx="4680520" cy="2808312"/>
            </a:xfrm>
            <a:prstGeom prst="rect">
              <a:avLst/>
            </a:prstGeom>
          </p:spPr>
        </p:pic>
        <p:sp>
          <p:nvSpPr>
            <p:cNvPr id="4" name="Rechteck 3">
              <a:extLst>
                <a:ext uri="{FF2B5EF4-FFF2-40B4-BE49-F238E27FC236}">
                  <a16:creationId xmlns:a16="http://schemas.microsoft.com/office/drawing/2014/main" id="{2F63E05F-8258-C039-8E49-D58F7A0516C2}"/>
                </a:ext>
              </a:extLst>
            </p:cNvPr>
            <p:cNvSpPr/>
            <p:nvPr/>
          </p:nvSpPr>
          <p:spPr>
            <a:xfrm>
              <a:off x="4177730" y="2203992"/>
              <a:ext cx="4714750" cy="280831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3981916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8A725-792D-3CF1-2206-630AA1A3D5C1}"/>
            </a:ext>
          </a:extLst>
        </p:cNvPr>
        <p:cNvGrpSpPr/>
        <p:nvPr/>
      </p:nvGrpSpPr>
      <p:grpSpPr>
        <a:xfrm>
          <a:off x="0" y="0"/>
          <a:ext cx="0" cy="0"/>
          <a:chOff x="0" y="0"/>
          <a:chExt cx="0" cy="0"/>
        </a:xfrm>
      </p:grpSpPr>
      <p:sp>
        <p:nvSpPr>
          <p:cNvPr id="2" name="Abgerundetes Rechteck 1">
            <a:extLst>
              <a:ext uri="{FF2B5EF4-FFF2-40B4-BE49-F238E27FC236}">
                <a16:creationId xmlns:a16="http://schemas.microsoft.com/office/drawing/2014/main" id="{2C91C0B7-41A0-9759-2FA7-49968909DB3D}"/>
              </a:ext>
            </a:extLst>
          </p:cNvPr>
          <p:cNvSpPr/>
          <p:nvPr/>
        </p:nvSpPr>
        <p:spPr>
          <a:xfrm>
            <a:off x="971600" y="3219822"/>
            <a:ext cx="720080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feld 2">
            <a:extLst>
              <a:ext uri="{FF2B5EF4-FFF2-40B4-BE49-F238E27FC236}">
                <a16:creationId xmlns:a16="http://schemas.microsoft.com/office/drawing/2014/main" id="{827E3D3B-0F45-91F3-E1F9-7BEF2E15D29A}"/>
              </a:ext>
            </a:extLst>
          </p:cNvPr>
          <p:cNvSpPr txBox="1"/>
          <p:nvPr/>
        </p:nvSpPr>
        <p:spPr>
          <a:xfrm>
            <a:off x="971600" y="1131590"/>
            <a:ext cx="4066947" cy="2462213"/>
          </a:xfrm>
          <a:prstGeom prst="rect">
            <a:avLst/>
          </a:prstGeom>
          <a:noFill/>
        </p:spPr>
        <p:txBody>
          <a:bodyPr wrap="none" rtlCol="0">
            <a:spAutoFit/>
          </a:bodyPr>
          <a:lstStyle/>
          <a:p>
            <a:r>
              <a:rPr lang="en-US" b="1" noProof="0" dirty="0"/>
              <a:t>Topics</a:t>
            </a:r>
          </a:p>
          <a:p>
            <a:endParaRPr lang="en-US" sz="1000" noProof="0" dirty="0"/>
          </a:p>
          <a:p>
            <a:pPr lvl="1"/>
            <a:r>
              <a:rPr lang="en-US" noProof="0" dirty="0"/>
              <a:t>Setting-up the Computerized Model</a:t>
            </a:r>
          </a:p>
          <a:p>
            <a:pPr lvl="1"/>
            <a:endParaRPr lang="en-US" b="1" noProof="0" dirty="0"/>
          </a:p>
          <a:p>
            <a:pPr lvl="1"/>
            <a:r>
              <a:rPr lang="en-US" noProof="0" dirty="0"/>
              <a:t>Phase 1: Baseline Tournament </a:t>
            </a:r>
          </a:p>
          <a:p>
            <a:pPr lvl="1"/>
            <a:endParaRPr lang="en-US" b="1" noProof="0" dirty="0"/>
          </a:p>
          <a:p>
            <a:pPr lvl="1"/>
            <a:r>
              <a:rPr lang="en-US" noProof="0" dirty="0"/>
              <a:t>Phase 2: Evolution</a:t>
            </a:r>
          </a:p>
          <a:p>
            <a:pPr lvl="1"/>
            <a:endParaRPr lang="en-US" noProof="0" dirty="0"/>
          </a:p>
          <a:p>
            <a:pPr lvl="1"/>
            <a:r>
              <a:rPr lang="en-US" b="1" noProof="0" dirty="0"/>
              <a:t>Phase 3: Environments</a:t>
            </a:r>
          </a:p>
        </p:txBody>
      </p:sp>
    </p:spTree>
    <p:extLst>
      <p:ext uri="{BB962C8B-B14F-4D97-AF65-F5344CB8AC3E}">
        <p14:creationId xmlns:p14="http://schemas.microsoft.com/office/powerpoint/2010/main" val="17916162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649AA-9805-C2B1-BA60-DE2AE61CECB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99FECC8-142D-A631-1285-E0C82C6B547A}"/>
              </a:ext>
            </a:extLst>
          </p:cNvPr>
          <p:cNvSpPr>
            <a:spLocks noGrp="1"/>
          </p:cNvSpPr>
          <p:nvPr>
            <p:ph type="title"/>
          </p:nvPr>
        </p:nvSpPr>
        <p:spPr/>
        <p:txBody>
          <a:bodyPr/>
          <a:lstStyle/>
          <a:p>
            <a:r>
              <a:rPr lang="en-US" noProof="0" dirty="0"/>
              <a:t>Phase 3a (Harsh Environments):</a:t>
            </a:r>
            <a:br>
              <a:rPr lang="en-US" noProof="0" dirty="0"/>
            </a:br>
            <a:r>
              <a:rPr lang="en-US" noProof="0" dirty="0"/>
              <a:t>Simulation set-up</a:t>
            </a:r>
          </a:p>
        </p:txBody>
      </p:sp>
      <p:sp>
        <p:nvSpPr>
          <p:cNvPr id="11" name="Rechteck 10">
            <a:extLst>
              <a:ext uri="{FF2B5EF4-FFF2-40B4-BE49-F238E27FC236}">
                <a16:creationId xmlns:a16="http://schemas.microsoft.com/office/drawing/2014/main" id="{A8B231AE-410F-B0BD-32DD-C808157C9F52}"/>
              </a:ext>
            </a:extLst>
          </p:cNvPr>
          <p:cNvSpPr/>
          <p:nvPr/>
        </p:nvSpPr>
        <p:spPr>
          <a:xfrm>
            <a:off x="251520" y="2139702"/>
            <a:ext cx="1656184" cy="2880320"/>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200" b="1" noProof="0" dirty="0">
                <a:solidFill>
                  <a:schemeClr val="tx1"/>
                </a:solidFill>
              </a:rPr>
              <a:t>Harsh Environments</a:t>
            </a:r>
          </a:p>
          <a:p>
            <a:pPr marL="171450" indent="-171450">
              <a:spcAft>
                <a:spcPts val="600"/>
              </a:spcAft>
              <a:buFont typeface="Arial" panose="020B0604020202020204" pitchFamily="34" charset="0"/>
              <a:buChar char="•"/>
            </a:pPr>
            <a:r>
              <a:rPr lang="en-US" sz="1200" noProof="0" dirty="0">
                <a:solidFill>
                  <a:schemeClr val="tx1"/>
                </a:solidFill>
              </a:rPr>
              <a:t>change payoff matrix so temptation to defect is high</a:t>
            </a:r>
          </a:p>
          <a:p>
            <a:pPr>
              <a:spcAft>
                <a:spcPts val="600"/>
              </a:spcAft>
            </a:pPr>
            <a:r>
              <a:rPr lang="en-US" sz="1200" noProof="0" dirty="0">
                <a:solidFill>
                  <a:schemeClr val="tx1"/>
                </a:solidFill>
              </a:rPr>
              <a:t>Purpose: show how environmental incentives shape cooperation.</a:t>
            </a:r>
          </a:p>
        </p:txBody>
      </p:sp>
      <p:grpSp>
        <p:nvGrpSpPr>
          <p:cNvPr id="13" name="Gruppieren 12">
            <a:extLst>
              <a:ext uri="{FF2B5EF4-FFF2-40B4-BE49-F238E27FC236}">
                <a16:creationId xmlns:a16="http://schemas.microsoft.com/office/drawing/2014/main" id="{FB97929E-90BE-71CE-71C8-470159E18F67}"/>
              </a:ext>
            </a:extLst>
          </p:cNvPr>
          <p:cNvGrpSpPr/>
          <p:nvPr/>
        </p:nvGrpSpPr>
        <p:grpSpPr>
          <a:xfrm>
            <a:off x="251520" y="1131588"/>
            <a:ext cx="1656184" cy="936107"/>
            <a:chOff x="251520" y="1131588"/>
            <a:chExt cx="1656184" cy="936107"/>
          </a:xfrm>
        </p:grpSpPr>
        <p:sp>
          <p:nvSpPr>
            <p:cNvPr id="14" name="Rechteck 13">
              <a:extLst>
                <a:ext uri="{FF2B5EF4-FFF2-40B4-BE49-F238E27FC236}">
                  <a16:creationId xmlns:a16="http://schemas.microsoft.com/office/drawing/2014/main" id="{B950E43A-A810-F569-90B4-D0A0103C9D01}"/>
                </a:ext>
              </a:extLst>
            </p:cNvPr>
            <p:cNvSpPr/>
            <p:nvPr/>
          </p:nvSpPr>
          <p:spPr>
            <a:xfrm>
              <a:off x="251520" y="1131588"/>
              <a:ext cx="1656184" cy="93610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5" name="Grafik 14">
              <a:extLst>
                <a:ext uri="{FF2B5EF4-FFF2-40B4-BE49-F238E27FC236}">
                  <a16:creationId xmlns:a16="http://schemas.microsoft.com/office/drawing/2014/main" id="{4913A032-4A41-19A5-11A4-AC1D02510E44}"/>
                </a:ext>
              </a:extLst>
            </p:cNvPr>
            <p:cNvPicPr>
              <a:picLocks noChangeAspect="1"/>
            </p:cNvPicPr>
            <p:nvPr/>
          </p:nvPicPr>
          <p:blipFill>
            <a:blip r:embed="rId3"/>
            <a:srcRect t="5700" b="15210"/>
            <a:stretch>
              <a:fillRect/>
            </a:stretch>
          </p:blipFill>
          <p:spPr>
            <a:xfrm>
              <a:off x="487821" y="1131589"/>
              <a:ext cx="1183583" cy="936106"/>
            </a:xfrm>
            <a:prstGeom prst="rect">
              <a:avLst/>
            </a:prstGeom>
          </p:spPr>
        </p:pic>
      </p:grpSp>
      <p:sp>
        <p:nvSpPr>
          <p:cNvPr id="3" name="Rechteck 2">
            <a:extLst>
              <a:ext uri="{FF2B5EF4-FFF2-40B4-BE49-F238E27FC236}">
                <a16:creationId xmlns:a16="http://schemas.microsoft.com/office/drawing/2014/main" id="{AEDDFDF3-E777-F87F-C290-13251CF7F949}"/>
              </a:ext>
            </a:extLst>
          </p:cNvPr>
          <p:cNvSpPr/>
          <p:nvPr/>
        </p:nvSpPr>
        <p:spPr>
          <a:xfrm>
            <a:off x="2051721" y="1131588"/>
            <a:ext cx="6840760" cy="38884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noProof="0" dirty="0">
              <a:solidFill>
                <a:sysClr val="windowText" lastClr="000000"/>
              </a:solidFill>
            </a:endParaRPr>
          </a:p>
        </p:txBody>
      </p:sp>
      <p:pic>
        <p:nvPicPr>
          <p:cNvPr id="10" name="Grafik 9">
            <a:extLst>
              <a:ext uri="{FF2B5EF4-FFF2-40B4-BE49-F238E27FC236}">
                <a16:creationId xmlns:a16="http://schemas.microsoft.com/office/drawing/2014/main" id="{D0869738-5F90-AD6F-78EE-F5ADE7BFEFDF}"/>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2114312" y="1189487"/>
            <a:ext cx="6683973" cy="3646651"/>
          </a:xfrm>
          <a:prstGeom prst="rect">
            <a:avLst/>
          </a:prstGeom>
          <a:noFill/>
          <a:ln/>
          <a:effectLst/>
        </p:spPr>
      </p:pic>
    </p:spTree>
    <p:extLst>
      <p:ext uri="{BB962C8B-B14F-4D97-AF65-F5344CB8AC3E}">
        <p14:creationId xmlns:p14="http://schemas.microsoft.com/office/powerpoint/2010/main" val="33325380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84F54-2FB6-7AE6-2C48-9369E903876F}"/>
            </a:ext>
          </a:extLst>
        </p:cNvPr>
        <p:cNvGrpSpPr/>
        <p:nvPr/>
      </p:nvGrpSpPr>
      <p:grpSpPr>
        <a:xfrm>
          <a:off x="0" y="0"/>
          <a:ext cx="0" cy="0"/>
          <a:chOff x="0" y="0"/>
          <a:chExt cx="0" cy="0"/>
        </a:xfrm>
      </p:grpSpPr>
      <p:pic>
        <p:nvPicPr>
          <p:cNvPr id="8" name="Grafik 7">
            <a:extLst>
              <a:ext uri="{FF2B5EF4-FFF2-40B4-BE49-F238E27FC236}">
                <a16:creationId xmlns:a16="http://schemas.microsoft.com/office/drawing/2014/main" id="{FA16EC6C-1191-4991-2E9C-679B2D0C3A8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8409" y="1131590"/>
            <a:ext cx="5040561" cy="3024336"/>
          </a:xfrm>
          <a:prstGeom prst="rect">
            <a:avLst/>
          </a:prstGeom>
        </p:spPr>
      </p:pic>
      <p:sp>
        <p:nvSpPr>
          <p:cNvPr id="2" name="Titel 1">
            <a:extLst>
              <a:ext uri="{FF2B5EF4-FFF2-40B4-BE49-F238E27FC236}">
                <a16:creationId xmlns:a16="http://schemas.microsoft.com/office/drawing/2014/main" id="{EB85FFA0-C3C6-4BF7-97C3-E2AE599CC4AE}"/>
              </a:ext>
            </a:extLst>
          </p:cNvPr>
          <p:cNvSpPr>
            <a:spLocks noGrp="1"/>
          </p:cNvSpPr>
          <p:nvPr>
            <p:ph type="title"/>
          </p:nvPr>
        </p:nvSpPr>
        <p:spPr/>
        <p:txBody>
          <a:bodyPr/>
          <a:lstStyle/>
          <a:p>
            <a:r>
              <a:rPr lang="en-US" noProof="0" dirty="0"/>
              <a:t>Phase 3a (Harsh Environments):</a:t>
            </a:r>
            <a:br>
              <a:rPr lang="en-US" noProof="0" dirty="0"/>
            </a:br>
            <a:r>
              <a:rPr lang="en-US" noProof="0" dirty="0"/>
              <a:t>Simulation results</a:t>
            </a:r>
          </a:p>
        </p:txBody>
      </p:sp>
      <p:sp>
        <p:nvSpPr>
          <p:cNvPr id="3" name="Rechteck 2">
            <a:extLst>
              <a:ext uri="{FF2B5EF4-FFF2-40B4-BE49-F238E27FC236}">
                <a16:creationId xmlns:a16="http://schemas.microsoft.com/office/drawing/2014/main" id="{D3E675BA-DE72-CDD5-B48A-770D86166367}"/>
              </a:ext>
            </a:extLst>
          </p:cNvPr>
          <p:cNvSpPr/>
          <p:nvPr/>
        </p:nvSpPr>
        <p:spPr>
          <a:xfrm>
            <a:off x="251520" y="1131590"/>
            <a:ext cx="5040560" cy="3024336"/>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0" name="Grafik 9">
            <a:extLst>
              <a:ext uri="{FF2B5EF4-FFF2-40B4-BE49-F238E27FC236}">
                <a16:creationId xmlns:a16="http://schemas.microsoft.com/office/drawing/2014/main" id="{D78454C3-5000-9BA2-0A03-38EECBA766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91798" y="2232247"/>
            <a:ext cx="4642742" cy="2785645"/>
          </a:xfrm>
          <a:prstGeom prst="rect">
            <a:avLst/>
          </a:prstGeom>
        </p:spPr>
      </p:pic>
      <p:sp>
        <p:nvSpPr>
          <p:cNvPr id="6" name="Rechteck 5">
            <a:extLst>
              <a:ext uri="{FF2B5EF4-FFF2-40B4-BE49-F238E27FC236}">
                <a16:creationId xmlns:a16="http://schemas.microsoft.com/office/drawing/2014/main" id="{CDDA32B2-6E32-DA64-1AE4-216968757498}"/>
              </a:ext>
            </a:extLst>
          </p:cNvPr>
          <p:cNvSpPr/>
          <p:nvPr/>
        </p:nvSpPr>
        <p:spPr>
          <a:xfrm>
            <a:off x="4177730" y="2211710"/>
            <a:ext cx="4714750" cy="280831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8658614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8A5D4-7445-98C7-FE66-F43484F141ED}"/>
            </a:ext>
          </a:extLst>
        </p:cNvPr>
        <p:cNvGrpSpPr/>
        <p:nvPr/>
      </p:nvGrpSpPr>
      <p:grpSpPr>
        <a:xfrm>
          <a:off x="0" y="0"/>
          <a:ext cx="0" cy="0"/>
          <a:chOff x="0" y="0"/>
          <a:chExt cx="0" cy="0"/>
        </a:xfrm>
      </p:grpSpPr>
      <p:pic>
        <p:nvPicPr>
          <p:cNvPr id="10" name="Grafik 9">
            <a:extLst>
              <a:ext uri="{FF2B5EF4-FFF2-40B4-BE49-F238E27FC236}">
                <a16:creationId xmlns:a16="http://schemas.microsoft.com/office/drawing/2014/main" id="{F6F71525-3ED7-234D-0CAF-6F0F830CEC9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144" y="1131591"/>
            <a:ext cx="5040561" cy="3024336"/>
          </a:xfrm>
          <a:prstGeom prst="rect">
            <a:avLst/>
          </a:prstGeom>
        </p:spPr>
      </p:pic>
      <p:sp>
        <p:nvSpPr>
          <p:cNvPr id="2" name="Titel 1">
            <a:extLst>
              <a:ext uri="{FF2B5EF4-FFF2-40B4-BE49-F238E27FC236}">
                <a16:creationId xmlns:a16="http://schemas.microsoft.com/office/drawing/2014/main" id="{D931F3C6-EACB-4813-B9B9-DA74571D31F3}"/>
              </a:ext>
            </a:extLst>
          </p:cNvPr>
          <p:cNvSpPr>
            <a:spLocks noGrp="1"/>
          </p:cNvSpPr>
          <p:nvPr>
            <p:ph type="title"/>
          </p:nvPr>
        </p:nvSpPr>
        <p:spPr/>
        <p:txBody>
          <a:bodyPr/>
          <a:lstStyle/>
          <a:p>
            <a:r>
              <a:rPr lang="en-US" noProof="0" dirty="0"/>
              <a:t>Phase 3a (Harsh Environments):</a:t>
            </a:r>
            <a:br>
              <a:rPr lang="en-US" noProof="0" dirty="0"/>
            </a:br>
            <a:r>
              <a:rPr lang="en-US" noProof="0" dirty="0"/>
              <a:t>Simulation results</a:t>
            </a:r>
          </a:p>
        </p:txBody>
      </p:sp>
      <p:sp>
        <p:nvSpPr>
          <p:cNvPr id="3" name="Rechteck 2">
            <a:extLst>
              <a:ext uri="{FF2B5EF4-FFF2-40B4-BE49-F238E27FC236}">
                <a16:creationId xmlns:a16="http://schemas.microsoft.com/office/drawing/2014/main" id="{CEC91D40-8BAA-D737-17E8-5B1242444E99}"/>
              </a:ext>
            </a:extLst>
          </p:cNvPr>
          <p:cNvSpPr/>
          <p:nvPr/>
        </p:nvSpPr>
        <p:spPr>
          <a:xfrm>
            <a:off x="251520" y="1131590"/>
            <a:ext cx="5040560" cy="3024336"/>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8" name="Grafik 7">
            <a:extLst>
              <a:ext uri="{FF2B5EF4-FFF2-40B4-BE49-F238E27FC236}">
                <a16:creationId xmlns:a16="http://schemas.microsoft.com/office/drawing/2014/main" id="{0E8435CE-23C3-3993-9B4F-91C528D12A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0858" y="2211710"/>
            <a:ext cx="4680520" cy="2808312"/>
          </a:xfrm>
          <a:prstGeom prst="rect">
            <a:avLst/>
          </a:prstGeom>
        </p:spPr>
      </p:pic>
      <p:sp>
        <p:nvSpPr>
          <p:cNvPr id="6" name="Rechteck 5">
            <a:extLst>
              <a:ext uri="{FF2B5EF4-FFF2-40B4-BE49-F238E27FC236}">
                <a16:creationId xmlns:a16="http://schemas.microsoft.com/office/drawing/2014/main" id="{445CB307-B926-0DAC-DA8B-70FB6164F0E7}"/>
              </a:ext>
            </a:extLst>
          </p:cNvPr>
          <p:cNvSpPr/>
          <p:nvPr/>
        </p:nvSpPr>
        <p:spPr>
          <a:xfrm>
            <a:off x="4177730" y="2211710"/>
            <a:ext cx="4714750" cy="280831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5815655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E1482-3927-22D8-34FA-7386DE3A4C5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A3B51EC-DA22-4218-7D62-14CF32117D7E}"/>
              </a:ext>
            </a:extLst>
          </p:cNvPr>
          <p:cNvSpPr>
            <a:spLocks noGrp="1"/>
          </p:cNvSpPr>
          <p:nvPr>
            <p:ph type="title"/>
          </p:nvPr>
        </p:nvSpPr>
        <p:spPr/>
        <p:txBody>
          <a:bodyPr/>
          <a:lstStyle/>
          <a:p>
            <a:r>
              <a:rPr lang="en-US" noProof="0" dirty="0"/>
              <a:t>Phase 3b (Noisy Interactions):</a:t>
            </a:r>
            <a:br>
              <a:rPr lang="en-US" noProof="0" dirty="0"/>
            </a:br>
            <a:r>
              <a:rPr lang="en-US" noProof="0" dirty="0"/>
              <a:t>Simulation set-up</a:t>
            </a:r>
          </a:p>
        </p:txBody>
      </p:sp>
      <p:sp>
        <p:nvSpPr>
          <p:cNvPr id="11" name="Rechteck 10">
            <a:extLst>
              <a:ext uri="{FF2B5EF4-FFF2-40B4-BE49-F238E27FC236}">
                <a16:creationId xmlns:a16="http://schemas.microsoft.com/office/drawing/2014/main" id="{4BE1D74E-A2A5-04CB-CBE5-8B097C0E9963}"/>
              </a:ext>
            </a:extLst>
          </p:cNvPr>
          <p:cNvSpPr/>
          <p:nvPr/>
        </p:nvSpPr>
        <p:spPr>
          <a:xfrm>
            <a:off x="251520" y="2139702"/>
            <a:ext cx="1656184" cy="2880320"/>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200" b="1" noProof="0" dirty="0">
                <a:solidFill>
                  <a:schemeClr val="tx1"/>
                </a:solidFill>
              </a:rPr>
              <a:t>Noisy Interactions</a:t>
            </a:r>
          </a:p>
          <a:p>
            <a:pPr marL="171450" indent="-171450">
              <a:spcAft>
                <a:spcPts val="600"/>
              </a:spcAft>
              <a:buFont typeface="Arial" panose="020B0604020202020204" pitchFamily="34" charset="0"/>
              <a:buChar char="•"/>
            </a:pPr>
            <a:r>
              <a:rPr lang="en-US" sz="1200" noProof="0" dirty="0">
                <a:solidFill>
                  <a:schemeClr val="tx1"/>
                </a:solidFill>
              </a:rPr>
              <a:t>occasional accidental defections</a:t>
            </a:r>
          </a:p>
          <a:p>
            <a:pPr>
              <a:spcAft>
                <a:spcPts val="600"/>
              </a:spcAft>
            </a:pPr>
            <a:r>
              <a:rPr lang="en-US" sz="1200" noProof="0" dirty="0">
                <a:solidFill>
                  <a:schemeClr val="tx1"/>
                </a:solidFill>
              </a:rPr>
              <a:t>Purpose: show fragility and robustness of cooperation.</a:t>
            </a:r>
          </a:p>
        </p:txBody>
      </p:sp>
      <p:grpSp>
        <p:nvGrpSpPr>
          <p:cNvPr id="13" name="Gruppieren 12">
            <a:extLst>
              <a:ext uri="{FF2B5EF4-FFF2-40B4-BE49-F238E27FC236}">
                <a16:creationId xmlns:a16="http://schemas.microsoft.com/office/drawing/2014/main" id="{75FE9E61-C564-1DDF-6153-D4B37AFA1619}"/>
              </a:ext>
            </a:extLst>
          </p:cNvPr>
          <p:cNvGrpSpPr/>
          <p:nvPr/>
        </p:nvGrpSpPr>
        <p:grpSpPr>
          <a:xfrm>
            <a:off x="251520" y="1131588"/>
            <a:ext cx="1656184" cy="936107"/>
            <a:chOff x="251520" y="1131588"/>
            <a:chExt cx="1656184" cy="936107"/>
          </a:xfrm>
        </p:grpSpPr>
        <p:sp>
          <p:nvSpPr>
            <p:cNvPr id="14" name="Rechteck 13">
              <a:extLst>
                <a:ext uri="{FF2B5EF4-FFF2-40B4-BE49-F238E27FC236}">
                  <a16:creationId xmlns:a16="http://schemas.microsoft.com/office/drawing/2014/main" id="{8E81399F-A7EA-2BE1-B9B4-3E8832EE218D}"/>
                </a:ext>
              </a:extLst>
            </p:cNvPr>
            <p:cNvSpPr/>
            <p:nvPr/>
          </p:nvSpPr>
          <p:spPr>
            <a:xfrm>
              <a:off x="251520" y="1131588"/>
              <a:ext cx="1656184" cy="93610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5" name="Grafik 14">
              <a:extLst>
                <a:ext uri="{FF2B5EF4-FFF2-40B4-BE49-F238E27FC236}">
                  <a16:creationId xmlns:a16="http://schemas.microsoft.com/office/drawing/2014/main" id="{D6B8E151-50C7-E9CB-CC69-7145212D0BC6}"/>
                </a:ext>
              </a:extLst>
            </p:cNvPr>
            <p:cNvPicPr>
              <a:picLocks noChangeAspect="1"/>
            </p:cNvPicPr>
            <p:nvPr/>
          </p:nvPicPr>
          <p:blipFill>
            <a:blip r:embed="rId2"/>
            <a:srcRect t="5700" b="15210"/>
            <a:stretch>
              <a:fillRect/>
            </a:stretch>
          </p:blipFill>
          <p:spPr>
            <a:xfrm>
              <a:off x="487821" y="1131589"/>
              <a:ext cx="1183583" cy="936106"/>
            </a:xfrm>
            <a:prstGeom prst="rect">
              <a:avLst/>
            </a:prstGeom>
          </p:spPr>
        </p:pic>
      </p:grpSp>
      <p:sp>
        <p:nvSpPr>
          <p:cNvPr id="3" name="Rechteck 2">
            <a:extLst>
              <a:ext uri="{FF2B5EF4-FFF2-40B4-BE49-F238E27FC236}">
                <a16:creationId xmlns:a16="http://schemas.microsoft.com/office/drawing/2014/main" id="{5AA76231-3E7E-0F3A-1F17-005E9081BA46}"/>
              </a:ext>
            </a:extLst>
          </p:cNvPr>
          <p:cNvSpPr/>
          <p:nvPr/>
        </p:nvSpPr>
        <p:spPr>
          <a:xfrm>
            <a:off x="2144005" y="1131588"/>
            <a:ext cx="6748475" cy="38884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noProof="0" dirty="0">
                <a:solidFill>
                  <a:sysClr val="windowText" lastClr="000000"/>
                </a:solidFill>
              </a:rPr>
              <a:t>By distinguishing between intended and indeed executed action, noise is introduced at the game-mechanics layer, not inside each strategy.</a:t>
            </a:r>
          </a:p>
          <a:p>
            <a:pPr>
              <a:spcAft>
                <a:spcPts val="600"/>
              </a:spcAft>
            </a:pPr>
            <a:endParaRPr lang="en-US" sz="1400" noProof="0" dirty="0">
              <a:solidFill>
                <a:sysClr val="windowText" lastClr="000000"/>
              </a:solidFill>
            </a:endParaRPr>
          </a:p>
          <a:p>
            <a:pPr>
              <a:spcAft>
                <a:spcPts val="600"/>
              </a:spcAft>
            </a:pPr>
            <a:r>
              <a:rPr lang="en-US" sz="1400" noProof="0" dirty="0">
                <a:solidFill>
                  <a:sysClr val="windowText" lastClr="000000"/>
                </a:solidFill>
              </a:rPr>
              <a:t>The main idea is:</a:t>
            </a:r>
          </a:p>
          <a:p>
            <a:pPr marL="182563" indent="-182563">
              <a:spcAft>
                <a:spcPts val="600"/>
              </a:spcAft>
              <a:buFont typeface="Arial" panose="020B0604020202020204" pitchFamily="34" charset="0"/>
              <a:buChar char="•"/>
            </a:pPr>
            <a:r>
              <a:rPr lang="en-US" sz="1400" noProof="0" dirty="0">
                <a:solidFill>
                  <a:sysClr val="windowText" lastClr="000000"/>
                </a:solidFill>
              </a:rPr>
              <a:t>a strategy chooses an intended action,</a:t>
            </a:r>
          </a:p>
          <a:p>
            <a:pPr marL="182563" indent="-182563">
              <a:spcAft>
                <a:spcPts val="600"/>
              </a:spcAft>
              <a:buFont typeface="Arial" panose="020B0604020202020204" pitchFamily="34" charset="0"/>
              <a:buChar char="•"/>
            </a:pPr>
            <a:r>
              <a:rPr lang="en-US" sz="1400" noProof="0" dirty="0">
                <a:solidFill>
                  <a:sysClr val="windowText" lastClr="000000"/>
                </a:solidFill>
              </a:rPr>
              <a:t>but with small probability that action is flipped by accident:</a:t>
            </a:r>
          </a:p>
          <a:p>
            <a:pPr marL="450850" indent="-269875">
              <a:spcAft>
                <a:spcPts val="600"/>
              </a:spcAft>
              <a:buFont typeface="Symbol" panose="05050102010706020507" pitchFamily="18" charset="2"/>
              <a:buChar char="-"/>
            </a:pPr>
            <a:r>
              <a:rPr lang="en-US" sz="1400" noProof="0" dirty="0">
                <a:solidFill>
                  <a:sysClr val="windowText" lastClr="000000"/>
                </a:solidFill>
              </a:rPr>
              <a:t>intended C may become actual D</a:t>
            </a:r>
          </a:p>
          <a:p>
            <a:pPr marL="450850" indent="-269875">
              <a:spcAft>
                <a:spcPts val="600"/>
              </a:spcAft>
              <a:buFont typeface="Symbol" panose="05050102010706020507" pitchFamily="18" charset="2"/>
              <a:buChar char="-"/>
            </a:pPr>
            <a:r>
              <a:rPr lang="en-US" sz="1400" noProof="0" dirty="0">
                <a:solidFill>
                  <a:sysClr val="windowText" lastClr="000000"/>
                </a:solidFill>
              </a:rPr>
              <a:t>intended D may become actual C</a:t>
            </a:r>
          </a:p>
          <a:p>
            <a:pPr>
              <a:spcAft>
                <a:spcPts val="600"/>
              </a:spcAft>
            </a:pPr>
            <a:endParaRPr lang="en-US" sz="1400" noProof="0" dirty="0">
              <a:solidFill>
                <a:sysClr val="windowText" lastClr="000000"/>
              </a:solidFill>
            </a:endParaRPr>
          </a:p>
        </p:txBody>
      </p:sp>
      <p:sp>
        <p:nvSpPr>
          <p:cNvPr id="4" name="Rechteck 3">
            <a:extLst>
              <a:ext uri="{FF2B5EF4-FFF2-40B4-BE49-F238E27FC236}">
                <a16:creationId xmlns:a16="http://schemas.microsoft.com/office/drawing/2014/main" id="{D5E67644-0406-9111-D43F-91CDB25AF2DB}"/>
              </a:ext>
            </a:extLst>
          </p:cNvPr>
          <p:cNvSpPr/>
          <p:nvPr/>
        </p:nvSpPr>
        <p:spPr>
          <a:xfrm>
            <a:off x="5580112" y="3291830"/>
            <a:ext cx="3240360" cy="1656186"/>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noProof="0" dirty="0">
                <a:solidFill>
                  <a:sysClr val="windowText" lastClr="000000"/>
                </a:solidFill>
              </a:rPr>
              <a:t>Expected results:</a:t>
            </a:r>
          </a:p>
          <a:p>
            <a:pPr marL="182563" indent="-182563">
              <a:spcAft>
                <a:spcPts val="600"/>
              </a:spcAft>
              <a:buFont typeface="Arial" panose="020B0604020202020204" pitchFamily="34" charset="0"/>
              <a:buChar char="•"/>
            </a:pPr>
            <a:r>
              <a:rPr lang="en-US" sz="1400" noProof="0" dirty="0">
                <a:solidFill>
                  <a:sysClr val="windowText" lastClr="000000"/>
                </a:solidFill>
              </a:rPr>
              <a:t>cooperation can be fragile</a:t>
            </a:r>
          </a:p>
          <a:p>
            <a:pPr marL="182563" indent="-182563">
              <a:spcAft>
                <a:spcPts val="600"/>
              </a:spcAft>
              <a:buFont typeface="Arial" panose="020B0604020202020204" pitchFamily="34" charset="0"/>
              <a:buChar char="•"/>
            </a:pPr>
            <a:r>
              <a:rPr lang="en-US" sz="1400" noProof="0" dirty="0">
                <a:solidFill>
                  <a:sysClr val="windowText" lastClr="000000"/>
                </a:solidFill>
              </a:rPr>
              <a:t>retaliation-based strategies can suffer under noise</a:t>
            </a:r>
          </a:p>
          <a:p>
            <a:pPr marL="182563" indent="-182563">
              <a:spcAft>
                <a:spcPts val="600"/>
              </a:spcAft>
              <a:buFont typeface="Arial" panose="020B0604020202020204" pitchFamily="34" charset="0"/>
              <a:buChar char="•"/>
            </a:pPr>
            <a:r>
              <a:rPr lang="en-US" sz="1400" noProof="0" dirty="0">
                <a:solidFill>
                  <a:sysClr val="windowText" lastClr="000000"/>
                </a:solidFill>
              </a:rPr>
              <a:t>forgiving or robust strategies may do better than expected</a:t>
            </a:r>
          </a:p>
        </p:txBody>
      </p:sp>
    </p:spTree>
    <p:extLst>
      <p:ext uri="{BB962C8B-B14F-4D97-AF65-F5344CB8AC3E}">
        <p14:creationId xmlns:p14="http://schemas.microsoft.com/office/powerpoint/2010/main" val="3427261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67A20-48F9-ACBD-316B-4FA8B30C841C}"/>
            </a:ext>
          </a:extLst>
        </p:cNvPr>
        <p:cNvGrpSpPr/>
        <p:nvPr/>
      </p:nvGrpSpPr>
      <p:grpSpPr>
        <a:xfrm>
          <a:off x="0" y="0"/>
          <a:ext cx="0" cy="0"/>
          <a:chOff x="0" y="0"/>
          <a:chExt cx="0" cy="0"/>
        </a:xfrm>
      </p:grpSpPr>
      <p:pic>
        <p:nvPicPr>
          <p:cNvPr id="6" name="Grafik 5">
            <a:extLst>
              <a:ext uri="{FF2B5EF4-FFF2-40B4-BE49-F238E27FC236}">
                <a16:creationId xmlns:a16="http://schemas.microsoft.com/office/drawing/2014/main" id="{72F61C49-E357-3D8D-777E-7A4F8926B1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1521" y="1131591"/>
            <a:ext cx="5040560" cy="3024336"/>
          </a:xfrm>
          <a:prstGeom prst="rect">
            <a:avLst/>
          </a:prstGeom>
        </p:spPr>
      </p:pic>
      <p:sp>
        <p:nvSpPr>
          <p:cNvPr id="2" name="Titel 1">
            <a:extLst>
              <a:ext uri="{FF2B5EF4-FFF2-40B4-BE49-F238E27FC236}">
                <a16:creationId xmlns:a16="http://schemas.microsoft.com/office/drawing/2014/main" id="{72FCEEF9-EDEE-975D-9D95-434339C9A9B5}"/>
              </a:ext>
            </a:extLst>
          </p:cNvPr>
          <p:cNvSpPr>
            <a:spLocks noGrp="1"/>
          </p:cNvSpPr>
          <p:nvPr>
            <p:ph type="title"/>
          </p:nvPr>
        </p:nvSpPr>
        <p:spPr/>
        <p:txBody>
          <a:bodyPr/>
          <a:lstStyle/>
          <a:p>
            <a:r>
              <a:rPr lang="en-US" noProof="0" dirty="0"/>
              <a:t>Phase 3b (Noisy Interactions):</a:t>
            </a:r>
            <a:br>
              <a:rPr lang="en-US" noProof="0" dirty="0"/>
            </a:br>
            <a:r>
              <a:rPr lang="en-US" noProof="0" dirty="0"/>
              <a:t>Simulation results</a:t>
            </a:r>
          </a:p>
        </p:txBody>
      </p:sp>
      <p:sp>
        <p:nvSpPr>
          <p:cNvPr id="3" name="Rechteck 2">
            <a:extLst>
              <a:ext uri="{FF2B5EF4-FFF2-40B4-BE49-F238E27FC236}">
                <a16:creationId xmlns:a16="http://schemas.microsoft.com/office/drawing/2014/main" id="{7A15F63B-D633-A721-D541-9C2B29DCFBEE}"/>
              </a:ext>
            </a:extLst>
          </p:cNvPr>
          <p:cNvSpPr/>
          <p:nvPr/>
        </p:nvSpPr>
        <p:spPr>
          <a:xfrm>
            <a:off x="251520" y="1131590"/>
            <a:ext cx="5040560" cy="3024336"/>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8" name="Grafik 7">
            <a:extLst>
              <a:ext uri="{FF2B5EF4-FFF2-40B4-BE49-F238E27FC236}">
                <a16:creationId xmlns:a16="http://schemas.microsoft.com/office/drawing/2014/main" id="{154C793A-CA01-F47B-8D0A-BC03133200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7730" y="2211709"/>
            <a:ext cx="4680522" cy="2808312"/>
          </a:xfrm>
          <a:prstGeom prst="rect">
            <a:avLst/>
          </a:prstGeom>
        </p:spPr>
      </p:pic>
      <p:sp>
        <p:nvSpPr>
          <p:cNvPr id="4" name="Rechteck 3">
            <a:extLst>
              <a:ext uri="{FF2B5EF4-FFF2-40B4-BE49-F238E27FC236}">
                <a16:creationId xmlns:a16="http://schemas.microsoft.com/office/drawing/2014/main" id="{AAE7B6A3-BFD2-B9FC-14A4-347137727849}"/>
              </a:ext>
            </a:extLst>
          </p:cNvPr>
          <p:cNvSpPr/>
          <p:nvPr/>
        </p:nvSpPr>
        <p:spPr>
          <a:xfrm>
            <a:off x="4177730" y="2211710"/>
            <a:ext cx="4714750" cy="280831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hteck 4">
            <a:extLst>
              <a:ext uri="{FF2B5EF4-FFF2-40B4-BE49-F238E27FC236}">
                <a16:creationId xmlns:a16="http://schemas.microsoft.com/office/drawing/2014/main" id="{E4135B2E-03A8-2D70-3E9D-9D51216023C4}"/>
              </a:ext>
            </a:extLst>
          </p:cNvPr>
          <p:cNvSpPr/>
          <p:nvPr/>
        </p:nvSpPr>
        <p:spPr>
          <a:xfrm>
            <a:off x="6732240" y="1131590"/>
            <a:ext cx="2160239" cy="57606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high temptation with noise</a:t>
            </a:r>
          </a:p>
          <a:p>
            <a:pPr algn="ctr"/>
            <a:r>
              <a:rPr lang="en-US" sz="1400" noProof="0" dirty="0">
                <a:solidFill>
                  <a:schemeClr val="tx1"/>
                </a:solidFill>
              </a:rPr>
              <a:t>R = 3, T = 7, P = 1, S = 0</a:t>
            </a:r>
          </a:p>
        </p:txBody>
      </p:sp>
    </p:spTree>
    <p:extLst>
      <p:ext uri="{BB962C8B-B14F-4D97-AF65-F5344CB8AC3E}">
        <p14:creationId xmlns:p14="http://schemas.microsoft.com/office/powerpoint/2010/main" val="243632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BD3AC-B2B9-2B46-93F5-BF124566C92A}"/>
            </a:ext>
          </a:extLst>
        </p:cNvPr>
        <p:cNvGrpSpPr/>
        <p:nvPr/>
      </p:nvGrpSpPr>
      <p:grpSpPr>
        <a:xfrm>
          <a:off x="0" y="0"/>
          <a:ext cx="0" cy="0"/>
          <a:chOff x="0" y="0"/>
          <a:chExt cx="0" cy="0"/>
        </a:xfrm>
      </p:grpSpPr>
      <p:pic>
        <p:nvPicPr>
          <p:cNvPr id="8" name="Grafik 7">
            <a:extLst>
              <a:ext uri="{FF2B5EF4-FFF2-40B4-BE49-F238E27FC236}">
                <a16:creationId xmlns:a16="http://schemas.microsoft.com/office/drawing/2014/main" id="{4C6E1C2D-A6A9-443F-759B-43E66591EE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6155" y="1131590"/>
            <a:ext cx="5040561" cy="3024336"/>
          </a:xfrm>
          <a:prstGeom prst="rect">
            <a:avLst/>
          </a:prstGeom>
        </p:spPr>
      </p:pic>
      <p:sp>
        <p:nvSpPr>
          <p:cNvPr id="2" name="Titel 1">
            <a:extLst>
              <a:ext uri="{FF2B5EF4-FFF2-40B4-BE49-F238E27FC236}">
                <a16:creationId xmlns:a16="http://schemas.microsoft.com/office/drawing/2014/main" id="{70EB4E13-506A-24A1-5C10-A717972077AE}"/>
              </a:ext>
            </a:extLst>
          </p:cNvPr>
          <p:cNvSpPr>
            <a:spLocks noGrp="1"/>
          </p:cNvSpPr>
          <p:nvPr>
            <p:ph type="title"/>
          </p:nvPr>
        </p:nvSpPr>
        <p:spPr/>
        <p:txBody>
          <a:bodyPr/>
          <a:lstStyle/>
          <a:p>
            <a:r>
              <a:rPr lang="en-US" noProof="0" dirty="0"/>
              <a:t>Phase 3b (Noisy Interactions):</a:t>
            </a:r>
            <a:br>
              <a:rPr lang="en-US" noProof="0" dirty="0"/>
            </a:br>
            <a:r>
              <a:rPr lang="en-US" noProof="0" dirty="0"/>
              <a:t>Simulation results</a:t>
            </a:r>
          </a:p>
        </p:txBody>
      </p:sp>
      <p:sp>
        <p:nvSpPr>
          <p:cNvPr id="3" name="Rechteck 2">
            <a:extLst>
              <a:ext uri="{FF2B5EF4-FFF2-40B4-BE49-F238E27FC236}">
                <a16:creationId xmlns:a16="http://schemas.microsoft.com/office/drawing/2014/main" id="{9754D9D5-7024-07DC-ECCF-34C32425775A}"/>
              </a:ext>
            </a:extLst>
          </p:cNvPr>
          <p:cNvSpPr/>
          <p:nvPr/>
        </p:nvSpPr>
        <p:spPr>
          <a:xfrm>
            <a:off x="251520" y="1131590"/>
            <a:ext cx="5040560" cy="3024336"/>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6" name="Grafik 5">
            <a:extLst>
              <a:ext uri="{FF2B5EF4-FFF2-40B4-BE49-F238E27FC236}">
                <a16:creationId xmlns:a16="http://schemas.microsoft.com/office/drawing/2014/main" id="{0D7FCE5F-9020-C0F4-8415-4B848E6FFF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4011" y="2211710"/>
            <a:ext cx="4680520" cy="2808312"/>
          </a:xfrm>
          <a:prstGeom prst="rect">
            <a:avLst/>
          </a:prstGeom>
        </p:spPr>
      </p:pic>
      <p:sp>
        <p:nvSpPr>
          <p:cNvPr id="4" name="Rechteck 3">
            <a:extLst>
              <a:ext uri="{FF2B5EF4-FFF2-40B4-BE49-F238E27FC236}">
                <a16:creationId xmlns:a16="http://schemas.microsoft.com/office/drawing/2014/main" id="{49653D78-8682-74C0-3B7C-F10001AABF17}"/>
              </a:ext>
            </a:extLst>
          </p:cNvPr>
          <p:cNvSpPr/>
          <p:nvPr/>
        </p:nvSpPr>
        <p:spPr>
          <a:xfrm>
            <a:off x="4177730" y="2211710"/>
            <a:ext cx="4714750" cy="280831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hteck 4">
            <a:extLst>
              <a:ext uri="{FF2B5EF4-FFF2-40B4-BE49-F238E27FC236}">
                <a16:creationId xmlns:a16="http://schemas.microsoft.com/office/drawing/2014/main" id="{190AB9B3-50D3-1B9D-424B-81BF677067DE}"/>
              </a:ext>
            </a:extLst>
          </p:cNvPr>
          <p:cNvSpPr/>
          <p:nvPr/>
        </p:nvSpPr>
        <p:spPr>
          <a:xfrm>
            <a:off x="6732240" y="1131590"/>
            <a:ext cx="2160239" cy="57606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high temptation with noise</a:t>
            </a:r>
          </a:p>
          <a:p>
            <a:pPr algn="ctr"/>
            <a:r>
              <a:rPr lang="en-US" sz="1400" noProof="0" dirty="0">
                <a:solidFill>
                  <a:schemeClr val="tx1"/>
                </a:solidFill>
              </a:rPr>
              <a:t>R = 3, T = 7, P = 1, S = 0</a:t>
            </a:r>
          </a:p>
        </p:txBody>
      </p:sp>
    </p:spTree>
    <p:extLst>
      <p:ext uri="{BB962C8B-B14F-4D97-AF65-F5344CB8AC3E}">
        <p14:creationId xmlns:p14="http://schemas.microsoft.com/office/powerpoint/2010/main" val="893420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96404-23CC-E8C7-296A-7172C91D37C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BF00A14-948B-7B22-4020-9F6E77E0D4C2}"/>
              </a:ext>
            </a:extLst>
          </p:cNvPr>
          <p:cNvSpPr>
            <a:spLocks noGrp="1"/>
          </p:cNvSpPr>
          <p:nvPr>
            <p:ph type="title"/>
          </p:nvPr>
        </p:nvSpPr>
        <p:spPr/>
        <p:txBody>
          <a:bodyPr/>
          <a:lstStyle/>
          <a:p>
            <a:r>
              <a:rPr lang="en-US" noProof="0" dirty="0"/>
              <a:t>Phase 3c (Noisy Interactions with Additional Strategies):</a:t>
            </a:r>
            <a:br>
              <a:rPr lang="en-US" noProof="0" dirty="0"/>
            </a:br>
            <a:r>
              <a:rPr lang="en-US" noProof="0" dirty="0"/>
              <a:t>Simulation set-up</a:t>
            </a:r>
          </a:p>
        </p:txBody>
      </p:sp>
      <p:sp>
        <p:nvSpPr>
          <p:cNvPr id="11" name="Rechteck 10">
            <a:extLst>
              <a:ext uri="{FF2B5EF4-FFF2-40B4-BE49-F238E27FC236}">
                <a16:creationId xmlns:a16="http://schemas.microsoft.com/office/drawing/2014/main" id="{4E35EBBE-FCBB-DBFD-E785-CBF640027D2C}"/>
              </a:ext>
            </a:extLst>
          </p:cNvPr>
          <p:cNvSpPr/>
          <p:nvPr/>
        </p:nvSpPr>
        <p:spPr>
          <a:xfrm>
            <a:off x="251520" y="2139702"/>
            <a:ext cx="1656184" cy="2880320"/>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200" b="1" noProof="0" dirty="0">
                <a:solidFill>
                  <a:schemeClr val="tx1"/>
                </a:solidFill>
              </a:rPr>
              <a:t>Noisy Interactions</a:t>
            </a:r>
          </a:p>
          <a:p>
            <a:pPr marL="171450" indent="-171450">
              <a:spcAft>
                <a:spcPts val="600"/>
              </a:spcAft>
              <a:buFont typeface="Arial" panose="020B0604020202020204" pitchFamily="34" charset="0"/>
              <a:buChar char="•"/>
            </a:pPr>
            <a:r>
              <a:rPr lang="en-US" sz="1200" noProof="0" dirty="0">
                <a:solidFill>
                  <a:schemeClr val="tx1"/>
                </a:solidFill>
              </a:rPr>
              <a:t>occasional accidental defections</a:t>
            </a:r>
          </a:p>
          <a:p>
            <a:pPr marL="171450" indent="-171450">
              <a:spcAft>
                <a:spcPts val="600"/>
              </a:spcAft>
              <a:buFont typeface="Arial" panose="020B0604020202020204" pitchFamily="34" charset="0"/>
              <a:buChar char="•"/>
            </a:pPr>
            <a:r>
              <a:rPr lang="en-US" sz="1200" noProof="0" dirty="0">
                <a:solidFill>
                  <a:schemeClr val="tx1"/>
                </a:solidFill>
              </a:rPr>
              <a:t>additional forgiving strategies</a:t>
            </a:r>
          </a:p>
          <a:p>
            <a:pPr>
              <a:spcAft>
                <a:spcPts val="600"/>
              </a:spcAft>
            </a:pPr>
            <a:r>
              <a:rPr lang="en-US" sz="1200" noProof="0" dirty="0">
                <a:solidFill>
                  <a:schemeClr val="tx1"/>
                </a:solidFill>
              </a:rPr>
              <a:t>Purpose: show effect of non-strictness.</a:t>
            </a:r>
          </a:p>
        </p:txBody>
      </p:sp>
      <p:grpSp>
        <p:nvGrpSpPr>
          <p:cNvPr id="13" name="Gruppieren 12">
            <a:extLst>
              <a:ext uri="{FF2B5EF4-FFF2-40B4-BE49-F238E27FC236}">
                <a16:creationId xmlns:a16="http://schemas.microsoft.com/office/drawing/2014/main" id="{67FADCF9-734B-5029-C2F3-91CF04F2AB99}"/>
              </a:ext>
            </a:extLst>
          </p:cNvPr>
          <p:cNvGrpSpPr/>
          <p:nvPr/>
        </p:nvGrpSpPr>
        <p:grpSpPr>
          <a:xfrm>
            <a:off x="251520" y="1131588"/>
            <a:ext cx="1656184" cy="936107"/>
            <a:chOff x="251520" y="1131588"/>
            <a:chExt cx="1656184" cy="936107"/>
          </a:xfrm>
        </p:grpSpPr>
        <p:sp>
          <p:nvSpPr>
            <p:cNvPr id="14" name="Rechteck 13">
              <a:extLst>
                <a:ext uri="{FF2B5EF4-FFF2-40B4-BE49-F238E27FC236}">
                  <a16:creationId xmlns:a16="http://schemas.microsoft.com/office/drawing/2014/main" id="{04831467-5FB5-5045-663B-8B2329F3D71D}"/>
                </a:ext>
              </a:extLst>
            </p:cNvPr>
            <p:cNvSpPr/>
            <p:nvPr/>
          </p:nvSpPr>
          <p:spPr>
            <a:xfrm>
              <a:off x="251520" y="1131588"/>
              <a:ext cx="1656184" cy="93610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5" name="Grafik 14">
              <a:extLst>
                <a:ext uri="{FF2B5EF4-FFF2-40B4-BE49-F238E27FC236}">
                  <a16:creationId xmlns:a16="http://schemas.microsoft.com/office/drawing/2014/main" id="{60165EBE-F3AD-9D69-EED7-1442B501CFC6}"/>
                </a:ext>
              </a:extLst>
            </p:cNvPr>
            <p:cNvPicPr>
              <a:picLocks noChangeAspect="1"/>
            </p:cNvPicPr>
            <p:nvPr/>
          </p:nvPicPr>
          <p:blipFill>
            <a:blip r:embed="rId2"/>
            <a:srcRect t="5700" b="15210"/>
            <a:stretch>
              <a:fillRect/>
            </a:stretch>
          </p:blipFill>
          <p:spPr>
            <a:xfrm>
              <a:off x="487821" y="1131589"/>
              <a:ext cx="1183583" cy="936106"/>
            </a:xfrm>
            <a:prstGeom prst="rect">
              <a:avLst/>
            </a:prstGeom>
          </p:spPr>
        </p:pic>
      </p:grpSp>
      <p:sp>
        <p:nvSpPr>
          <p:cNvPr id="3" name="Rechteck 2">
            <a:extLst>
              <a:ext uri="{FF2B5EF4-FFF2-40B4-BE49-F238E27FC236}">
                <a16:creationId xmlns:a16="http://schemas.microsoft.com/office/drawing/2014/main" id="{4CC9BA84-5166-FDDA-6221-7918DCECC0B2}"/>
              </a:ext>
            </a:extLst>
          </p:cNvPr>
          <p:cNvSpPr/>
          <p:nvPr/>
        </p:nvSpPr>
        <p:spPr>
          <a:xfrm>
            <a:off x="2144005" y="1131588"/>
            <a:ext cx="6748475" cy="38884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noProof="0" dirty="0">
                <a:solidFill>
                  <a:sysClr val="windowText" lastClr="000000"/>
                </a:solidFill>
              </a:rPr>
              <a:t>Addition of forgiving strategies:</a:t>
            </a:r>
          </a:p>
          <a:p>
            <a:pPr marL="182563" indent="-182563">
              <a:spcAft>
                <a:spcPts val="600"/>
              </a:spcAft>
              <a:buFont typeface="Arial" panose="020B0604020202020204" pitchFamily="34" charset="0"/>
              <a:buChar char="•"/>
            </a:pPr>
            <a:r>
              <a:rPr lang="en-US" sz="1400" b="1" noProof="0" dirty="0">
                <a:solidFill>
                  <a:sysClr val="windowText" lastClr="000000"/>
                </a:solidFill>
              </a:rPr>
              <a:t>Generous Tit for Tat</a:t>
            </a:r>
            <a:r>
              <a:rPr lang="en-US" sz="1400" noProof="0" dirty="0">
                <a:solidFill>
                  <a:sysClr val="windowText" lastClr="000000"/>
                </a:solidFill>
              </a:rPr>
              <a:t> avoid endless retaliation after accidental mistakes. I.e., usually behaves like Tit for Tat, but sometimes forgives a defection and cooperates anyway.</a:t>
            </a:r>
          </a:p>
          <a:p>
            <a:pPr marL="182563" indent="-182563">
              <a:spcAft>
                <a:spcPts val="600"/>
              </a:spcAft>
              <a:buFont typeface="Arial" panose="020B0604020202020204" pitchFamily="34" charset="0"/>
              <a:buChar char="•"/>
            </a:pPr>
            <a:r>
              <a:rPr lang="en-US" sz="1400" b="1" noProof="0" dirty="0">
                <a:solidFill>
                  <a:sysClr val="windowText" lastClr="000000"/>
                </a:solidFill>
              </a:rPr>
              <a:t>Tit for Two Tats</a:t>
            </a:r>
            <a:r>
              <a:rPr lang="en-US" sz="1400" noProof="0" dirty="0">
                <a:solidFill>
                  <a:sysClr val="windowText" lastClr="000000"/>
                </a:solidFill>
              </a:rPr>
              <a:t> does not punish immediately after one isolated accident. I.e., defects only if the opponent defected in the last two rounds.</a:t>
            </a:r>
          </a:p>
          <a:p>
            <a:pPr marL="182563" indent="-182563">
              <a:spcAft>
                <a:spcPts val="600"/>
              </a:spcAft>
              <a:buFont typeface="Arial" panose="020B0604020202020204" pitchFamily="34" charset="0"/>
              <a:buChar char="•"/>
            </a:pPr>
            <a:r>
              <a:rPr lang="en-US" sz="1400" b="1" noProof="0" dirty="0">
                <a:solidFill>
                  <a:sysClr val="windowText" lastClr="000000"/>
                </a:solidFill>
              </a:rPr>
              <a:t>Forgiver</a:t>
            </a:r>
            <a:r>
              <a:rPr lang="en-US" sz="1400" noProof="0" dirty="0">
                <a:solidFill>
                  <a:sysClr val="windowText" lastClr="000000"/>
                </a:solidFill>
              </a:rPr>
              <a:t> punishes but then rebuilds cooperation. I.e., defects after an opponent defected, but returns to cooperation after a short punishment phase.</a:t>
            </a:r>
          </a:p>
        </p:txBody>
      </p:sp>
    </p:spTree>
    <p:extLst>
      <p:ext uri="{BB962C8B-B14F-4D97-AF65-F5344CB8AC3E}">
        <p14:creationId xmlns:p14="http://schemas.microsoft.com/office/powerpoint/2010/main" val="4103282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8CF9CA-5776-86D2-E0E4-7785939D47D3}"/>
              </a:ext>
            </a:extLst>
          </p:cNvPr>
          <p:cNvSpPr>
            <a:spLocks noGrp="1"/>
          </p:cNvSpPr>
          <p:nvPr>
            <p:ph type="title"/>
          </p:nvPr>
        </p:nvSpPr>
        <p:spPr/>
        <p:txBody>
          <a:bodyPr/>
          <a:lstStyle/>
          <a:p>
            <a:r>
              <a:rPr lang="en-US" noProof="0" dirty="0"/>
              <a:t>Phase 3c (Noisy Interactions with Additional Strategies):</a:t>
            </a:r>
            <a:br>
              <a:rPr lang="en-US" noProof="0" dirty="0"/>
            </a:br>
            <a:r>
              <a:rPr lang="en-US" noProof="0" dirty="0"/>
              <a:t>Simulation results</a:t>
            </a:r>
          </a:p>
        </p:txBody>
      </p:sp>
      <p:sp>
        <p:nvSpPr>
          <p:cNvPr id="5" name="Rechteck 4">
            <a:extLst>
              <a:ext uri="{FF2B5EF4-FFF2-40B4-BE49-F238E27FC236}">
                <a16:creationId xmlns:a16="http://schemas.microsoft.com/office/drawing/2014/main" id="{705964DD-9B52-E07D-C498-20AB7512AFA1}"/>
              </a:ext>
            </a:extLst>
          </p:cNvPr>
          <p:cNvSpPr/>
          <p:nvPr/>
        </p:nvSpPr>
        <p:spPr>
          <a:xfrm>
            <a:off x="6732240" y="1131590"/>
            <a:ext cx="2160239" cy="57606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high temptation with noise</a:t>
            </a:r>
          </a:p>
          <a:p>
            <a:pPr algn="ctr"/>
            <a:r>
              <a:rPr lang="en-US" sz="1400" noProof="0" dirty="0">
                <a:solidFill>
                  <a:schemeClr val="tx1"/>
                </a:solidFill>
              </a:rPr>
              <a:t>R = 3, T = 7, P = 1, S = 0</a:t>
            </a:r>
          </a:p>
        </p:txBody>
      </p:sp>
      <p:pic>
        <p:nvPicPr>
          <p:cNvPr id="7" name="Grafik 6">
            <a:extLst>
              <a:ext uri="{FF2B5EF4-FFF2-40B4-BE49-F238E27FC236}">
                <a16:creationId xmlns:a16="http://schemas.microsoft.com/office/drawing/2014/main" id="{368E19E7-F370-C8F0-A049-507AD5084F4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5587" y="1145657"/>
            <a:ext cx="4995463" cy="2997277"/>
          </a:xfrm>
          <a:prstGeom prst="rect">
            <a:avLst/>
          </a:prstGeom>
        </p:spPr>
      </p:pic>
      <p:sp>
        <p:nvSpPr>
          <p:cNvPr id="3" name="Rechteck 2">
            <a:extLst>
              <a:ext uri="{FF2B5EF4-FFF2-40B4-BE49-F238E27FC236}">
                <a16:creationId xmlns:a16="http://schemas.microsoft.com/office/drawing/2014/main" id="{21AD67EB-7F22-0449-10A6-006B2D72D05C}"/>
              </a:ext>
            </a:extLst>
          </p:cNvPr>
          <p:cNvSpPr/>
          <p:nvPr/>
        </p:nvSpPr>
        <p:spPr>
          <a:xfrm>
            <a:off x="251520" y="1131590"/>
            <a:ext cx="5040560" cy="3024336"/>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9" name="Grafik 8">
            <a:extLst>
              <a:ext uri="{FF2B5EF4-FFF2-40B4-BE49-F238E27FC236}">
                <a16:creationId xmlns:a16="http://schemas.microsoft.com/office/drawing/2014/main" id="{B9252F2A-B53D-3A15-18B1-C938EF1FEA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90858" y="2225776"/>
            <a:ext cx="4660648" cy="2796389"/>
          </a:xfrm>
          <a:prstGeom prst="rect">
            <a:avLst/>
          </a:prstGeom>
        </p:spPr>
      </p:pic>
      <p:sp>
        <p:nvSpPr>
          <p:cNvPr id="4" name="Rechteck 3">
            <a:extLst>
              <a:ext uri="{FF2B5EF4-FFF2-40B4-BE49-F238E27FC236}">
                <a16:creationId xmlns:a16="http://schemas.microsoft.com/office/drawing/2014/main" id="{60D9B4A8-51D0-7E6D-9FEA-891B0D839DC8}"/>
              </a:ext>
            </a:extLst>
          </p:cNvPr>
          <p:cNvSpPr/>
          <p:nvPr/>
        </p:nvSpPr>
        <p:spPr>
          <a:xfrm>
            <a:off x="4177730" y="2211710"/>
            <a:ext cx="4714750" cy="280831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4167622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6C59E-295C-6C44-FDEC-2F93468E9121}"/>
            </a:ext>
          </a:extLst>
        </p:cNvPr>
        <p:cNvGrpSpPr/>
        <p:nvPr/>
      </p:nvGrpSpPr>
      <p:grpSpPr>
        <a:xfrm>
          <a:off x="0" y="0"/>
          <a:ext cx="0" cy="0"/>
          <a:chOff x="0" y="0"/>
          <a:chExt cx="0" cy="0"/>
        </a:xfrm>
      </p:grpSpPr>
      <p:pic>
        <p:nvPicPr>
          <p:cNvPr id="9" name="Grafik 8">
            <a:extLst>
              <a:ext uri="{FF2B5EF4-FFF2-40B4-BE49-F238E27FC236}">
                <a16:creationId xmlns:a16="http://schemas.microsoft.com/office/drawing/2014/main" id="{9B76FAEC-26E5-63AF-98A7-F4E6C539E23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9920" y="1138623"/>
            <a:ext cx="5030632" cy="3018379"/>
          </a:xfrm>
          <a:prstGeom prst="rect">
            <a:avLst/>
          </a:prstGeom>
        </p:spPr>
      </p:pic>
      <p:sp>
        <p:nvSpPr>
          <p:cNvPr id="2" name="Titel 1">
            <a:extLst>
              <a:ext uri="{FF2B5EF4-FFF2-40B4-BE49-F238E27FC236}">
                <a16:creationId xmlns:a16="http://schemas.microsoft.com/office/drawing/2014/main" id="{8A453C3A-1532-E42A-76DB-89D20BD69B3B}"/>
              </a:ext>
            </a:extLst>
          </p:cNvPr>
          <p:cNvSpPr>
            <a:spLocks noGrp="1"/>
          </p:cNvSpPr>
          <p:nvPr>
            <p:ph type="title"/>
          </p:nvPr>
        </p:nvSpPr>
        <p:spPr/>
        <p:txBody>
          <a:bodyPr/>
          <a:lstStyle/>
          <a:p>
            <a:r>
              <a:rPr lang="en-US" noProof="0" dirty="0"/>
              <a:t>Phase 3c (Noisy Interactions with Additional Strategies):</a:t>
            </a:r>
            <a:br>
              <a:rPr lang="en-US" noProof="0" dirty="0"/>
            </a:br>
            <a:r>
              <a:rPr lang="en-US" noProof="0" dirty="0"/>
              <a:t>Simulation results</a:t>
            </a:r>
          </a:p>
        </p:txBody>
      </p:sp>
      <p:sp>
        <p:nvSpPr>
          <p:cNvPr id="3" name="Rechteck 2">
            <a:extLst>
              <a:ext uri="{FF2B5EF4-FFF2-40B4-BE49-F238E27FC236}">
                <a16:creationId xmlns:a16="http://schemas.microsoft.com/office/drawing/2014/main" id="{4AD84D5E-D105-8E4F-8846-BB35EF210EA7}"/>
              </a:ext>
            </a:extLst>
          </p:cNvPr>
          <p:cNvSpPr/>
          <p:nvPr/>
        </p:nvSpPr>
        <p:spPr>
          <a:xfrm>
            <a:off x="251520" y="1131590"/>
            <a:ext cx="5040560" cy="3024336"/>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hteck 4">
            <a:extLst>
              <a:ext uri="{FF2B5EF4-FFF2-40B4-BE49-F238E27FC236}">
                <a16:creationId xmlns:a16="http://schemas.microsoft.com/office/drawing/2014/main" id="{0FA1B247-741B-806F-7ED0-918B6F57D176}"/>
              </a:ext>
            </a:extLst>
          </p:cNvPr>
          <p:cNvSpPr/>
          <p:nvPr/>
        </p:nvSpPr>
        <p:spPr>
          <a:xfrm>
            <a:off x="6732240" y="1131590"/>
            <a:ext cx="2160239" cy="57606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high temptation with noise</a:t>
            </a:r>
          </a:p>
          <a:p>
            <a:pPr algn="ctr"/>
            <a:r>
              <a:rPr lang="en-US" sz="1400" noProof="0" dirty="0">
                <a:solidFill>
                  <a:schemeClr val="tx1"/>
                </a:solidFill>
              </a:rPr>
              <a:t>R = 3, T = 7, P = 1, S = 0</a:t>
            </a:r>
          </a:p>
        </p:txBody>
      </p:sp>
      <p:pic>
        <p:nvPicPr>
          <p:cNvPr id="7" name="Grafik 6">
            <a:extLst>
              <a:ext uri="{FF2B5EF4-FFF2-40B4-BE49-F238E27FC236}">
                <a16:creationId xmlns:a16="http://schemas.microsoft.com/office/drawing/2014/main" id="{E2EBA6A8-879A-8059-4BE6-B022CA7F04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00747" y="2225213"/>
            <a:ext cx="4619725" cy="2771835"/>
          </a:xfrm>
          <a:prstGeom prst="rect">
            <a:avLst/>
          </a:prstGeom>
        </p:spPr>
      </p:pic>
      <p:sp>
        <p:nvSpPr>
          <p:cNvPr id="4" name="Rechteck 3">
            <a:extLst>
              <a:ext uri="{FF2B5EF4-FFF2-40B4-BE49-F238E27FC236}">
                <a16:creationId xmlns:a16="http://schemas.microsoft.com/office/drawing/2014/main" id="{68AC8D58-38F9-1E8A-0BAB-D26B77531F6C}"/>
              </a:ext>
            </a:extLst>
          </p:cNvPr>
          <p:cNvSpPr/>
          <p:nvPr/>
        </p:nvSpPr>
        <p:spPr>
          <a:xfrm>
            <a:off x="4177730" y="2211710"/>
            <a:ext cx="4714750" cy="280831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4156138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ctrTitle"/>
          </p:nvPr>
        </p:nvSpPr>
        <p:spPr>
          <a:xfrm>
            <a:off x="3851920" y="1275606"/>
            <a:ext cx="5040560" cy="864095"/>
          </a:xfrm>
        </p:spPr>
        <p:txBody>
          <a:bodyPr/>
          <a:lstStyle/>
          <a:p>
            <a:r>
              <a:rPr lang="en-US" noProof="0" dirty="0"/>
              <a:t>Computational Biomathematics</a:t>
            </a:r>
          </a:p>
        </p:txBody>
      </p:sp>
      <p:sp>
        <p:nvSpPr>
          <p:cNvPr id="4" name="Textfeld 3"/>
          <p:cNvSpPr txBox="1"/>
          <p:nvPr/>
        </p:nvSpPr>
        <p:spPr>
          <a:xfrm>
            <a:off x="6917350" y="4712245"/>
            <a:ext cx="1974066" cy="307777"/>
          </a:xfrm>
          <a:prstGeom prst="rect">
            <a:avLst/>
          </a:prstGeom>
          <a:noFill/>
        </p:spPr>
        <p:txBody>
          <a:bodyPr wrap="none" rtlCol="0">
            <a:spAutoFit/>
          </a:bodyPr>
          <a:lstStyle/>
          <a:p>
            <a:pPr algn="r"/>
            <a:r>
              <a:rPr lang="en-US" sz="1400" noProof="0" dirty="0"/>
              <a:t>florian.rupp@kiu.edu.ge</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v4sBCPrLdUOGmmGtjuAVn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P5ULgxRsCUC2aETaaLLML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ZwayLLHUoUaSByAvs2zAN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6wS88IkDwk2u2UXfeYk5s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dQrG_PT1jUaZ5G6vt.PRt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cIYaHeW61US7GVC_CvTl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KY06EWmBMUKiWbxTgKZHj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lAlQONa1hU24NWfOu_k0X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P5ULgxRsCUC2aETaaLLML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ZwayLLHUoUaSByAvs2zAN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6wS88IkDwk2u2UXfeYk5s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dQrG_PT1jUaZ5G6vt.PRt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cIYaHeW61US7GVC_CvTlV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KY06EWmBMUKiWbxTgKZHj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lAlQONa1hU24NWfOu_k0X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v4sBCPrLdUOGmmGtjuAVn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P5ULgxRsCUC2aETaaLLML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ZwayLLHUoUaSByAvs2zAN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6wS88IkDwk2u2UXfeYk5s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dQrG_PT1jUaZ5G6vt.PRt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cIYaHeW61US7GVC_CvTlV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KY06EWmBMUKiWbxTgKZHj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lAlQONa1hU24NWfOu_k0X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AV12iISWwkOOVDsSNsZR1w"/>
</p:tagLst>
</file>

<file path=ppt/tags/tag29.xml><?xml version="1.0" encoding="utf-8"?>
<p:tagLst xmlns:a="http://schemas.openxmlformats.org/drawingml/2006/main" xmlns:r="http://schemas.openxmlformats.org/officeDocument/2006/relationships" xmlns:p="http://schemas.openxmlformats.org/presentationml/2006/main">
  <p:tag name="OUTPUTDPI" val="1200"/>
  <p:tag name="ORIGINALHEIGHT" val="1180,352"/>
  <p:tag name="ORIGINALWIDTH" val="4147,731"/>
  <p:tag name="LATEXADDIN" val="\documentclass{article}\pagestyle{empty}&#10;\usepackage{amsmath}&#10;\usepackage{amsfonts}&#10;\usepackage{amssymb}&#10;\begin{document}&#10;\begin{minipage}{11.7 cm}&#10;{\sffamily{&#10;\textbf{Replicator-like update:}\\[0.5mm]&#10;The following update lets above-average strategies grow and below-average strategies shrink. I.e.,&#10;each strategy changes according to whether it is above or below the current average fitness:\\[-2mm]&#10;$$&#10;N_i^{\text{new}} \, \, \sim \, \, N_i \left( 1 + \eta (f_i - \overline{f}) \right)&#10;$$&#10;where $N_i$ is the current population of strategy $i$, $f_i$ is the fitness/ performance of strategy $i$,&#10;$\overline{f}$ population-weighted average fitness, and $\eta$ is the update strength.&#10;&#10;}}&#10;\end{minipage}&#10;\end{document}"/>
  <p:tag name="IGUANATEXSIZE" val="20"/>
  <p:tag name="IGUANATEXCURSOR" val="198"/>
  <p:tag name="TRANSPARENCY" val="Wahr"/>
  <p:tag name="LATEXENGINEID" val="0"/>
  <p:tag name="TEMPFOLDER" val="c:\temp\"/>
  <p:tag name="LATEXFORMHEIGHT" val="482,25"/>
  <p:tag name="LATEXFORMWIDTH" val="1030,5"/>
  <p:tag name="LATEXFORMWRAP" val="Wahr"/>
  <p:tag name="BITMAPVECTOR" val="0"/>
</p:tagLst>
</file>

<file path=ppt/tags/tag30.xml><?xml version="1.0" encoding="utf-8"?>
<p:tagLst xmlns:a="http://schemas.openxmlformats.org/drawingml/2006/main" xmlns:r="http://schemas.openxmlformats.org/officeDocument/2006/relationships" xmlns:p="http://schemas.openxmlformats.org/presentationml/2006/main">
  <p:tag name="OUTPUTDPI" val="1200"/>
  <p:tag name="ORIGINALHEIGHT" val="726,6591"/>
  <p:tag name="ORIGINALWIDTH" val="4146,981"/>
  <p:tag name="LATEXADDIN" val="\documentclass{article}\pagestyle{empty}&#10;\usepackage{amsmath}&#10;\usepackage{amsfonts}&#10;\usepackage{amssymb}&#10;\begin{document}&#10;\begin{minipage}{11.7 cm}&#10;{\sffamily{&#10;\textbf{Threshold extinction:}\\[0.5mm]&#10;The following update lets very weak strategies disappear completely and surviving strategies inherit the freed population. I.e.,&#10;a strategy is removed completely if $f_i &lt; \theta$, where $\theta$ is the extinction threshold. Then its population is&#10;redistributed among survivors.&#10;&#10;}}&#10;\end{minipage}&#10;\end{document}"/>
  <p:tag name="IGUANATEXSIZE" val="20"/>
  <p:tag name="IGUANATEXCURSOR" val="196"/>
  <p:tag name="TRANSPARENCY" val="Wahr"/>
  <p:tag name="LATEXENGINEID" val="0"/>
  <p:tag name="TEMPFOLDER" val="c:\temp\"/>
  <p:tag name="LATEXFORMHEIGHT" val="482,25"/>
  <p:tag name="LATEXFORMWIDTH" val="1030,5"/>
  <p:tag name="LATEXFORMWRAP" val="Wahr"/>
  <p:tag name="BITMAPVECTOR" val="0"/>
</p:tagLst>
</file>

<file path=ppt/tags/tag31.xml><?xml version="1.0" encoding="utf-8"?>
<p:tagLst xmlns:a="http://schemas.openxmlformats.org/drawingml/2006/main" xmlns:r="http://schemas.openxmlformats.org/officeDocument/2006/relationships" xmlns:p="http://schemas.openxmlformats.org/presentationml/2006/main">
  <p:tag name="OUTPUTDPI" val="1200"/>
  <p:tag name="ORIGINALHEIGHT" val="1964,004"/>
  <p:tag name="ORIGINALWIDTH" val="4140,232"/>
  <p:tag name="LATEXADDIN" val="\documentclass{article}\pagestyle{empty}&#10;\usepackage{amsmath}&#10;\usepackage{amsfonts}&#10;\usepackage{amssymb}&#10;\begin{document}&#10;\begin{minipage}{11.7 cm}&#10;{\sffamily{&#10;In the standard Prisoner's Dilemma, a common payoff ordering is:\\[-2mm]&#10;$$&#10;T \, \, &gt; \, \, R \, \, &gt; \, \, P \, \, &gt; \, \, S&#10;$$&#10;with $T$ being the temptation to defect, $R$ the reward for mutual cooperation,&#10;$P$ the punishment for mutual defection, and $S$ the sucker's payoff.\\[2mm]&#10;Our standard choices so far where\\[-2mm]&#10;$$&#10;R \, \, = \, \, 3 \, , \qquad&#10;T \, \, = \, \, 5 \, , \qquad&#10;P \, \, = \, \, 1 \, , \qquad&#10;S \, \, = \, \, 0 \, .&#10;$$&#10;We now change them to\\[-2mm]&#10;$$&#10;R \, \, = \, \, 3 \, , \qquad&#10;T \, \, = \, \, 10 \, , \qquad&#10;P \, \, = \, \, 1 \, , \qquad&#10;S \, \, = \, \, 0 \, .&#10;$$&#10;such that temptation gets stronger and unilateral defection becomes even more attractive.&#10;}}&#10;\end{minipage}&#10;\end{document}"/>
  <p:tag name="IGUANATEXSIZE" val="20"/>
  <p:tag name="IGUANATEXCURSOR" val="688"/>
  <p:tag name="TRANSPARENCY" val="Wahr"/>
  <p:tag name="LATEXENGINEID" val="0"/>
  <p:tag name="TEMPFOLDER" val="c:\temp\"/>
  <p:tag name="LATEXFORMHEIGHT" val="482,25"/>
  <p:tag name="LATEXFORMWIDTH" val="1030,5"/>
  <p:tag name="LATEXFORMWRAP" val="Wahr"/>
  <p:tag name="BITMAPVECTOR" val="0"/>
</p:tagLst>
</file>

<file path=ppt/theme/theme1.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rnd" cmpd="sng" algn="ctr">
          <a:solidFill>
            <a:schemeClr val="phClr">
              <a:shade val="95000"/>
              <a:satMod val="105000"/>
            </a:schemeClr>
          </a:solidFill>
          <a:prstDash val="solid"/>
        </a:ln>
        <a:ln w="25400" cap="rnd" cmpd="sng" algn="ctr">
          <a:solidFill>
            <a:schemeClr val="phClr"/>
          </a:solidFill>
          <a:prstDash val="solid"/>
        </a:ln>
        <a:ln w="38100" cap="rnd" cmpd="sng" algn="ctr">
          <a:solidFill>
            <a:schemeClr val="phClr"/>
          </a:solidFill>
          <a:prstDash val="solid"/>
        </a:ln>
      </a:lnStyleLst>
      <a:effectStyleLst>
        <a:effectStyle>
          <a:effectLst>
            <a:outerShdw blurRad="40000" dist="20000" dir="5400000">
              <a:srgbClr val="000000">
                <a:alpha val="38000"/>
              </a:srgbClr>
            </a:outerShdw>
          </a:effectLst>
        </a:effectStyle>
        <a:effectStyle>
          <a:effectLst>
            <a:outerShdw blurRad="40000" dist="23000" dir="5400000">
              <a:srgbClr val="000000">
                <a:alpha val="35000"/>
              </a:srgbClr>
            </a:outerShdw>
          </a:effectLst>
        </a:effectStyle>
        <a:effectStyle>
          <a:effectLst>
            <a:outerShdw blurRad="40000" dist="23000" dir="540000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4130</Words>
  <Application>Microsoft Office PowerPoint</Application>
  <PresentationFormat>Bildschirmpräsentation (16:9)</PresentationFormat>
  <Paragraphs>507</Paragraphs>
  <Slides>41</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41</vt:i4>
      </vt:variant>
    </vt:vector>
  </HeadingPairs>
  <TitlesOfParts>
    <vt:vector size="46" baseType="lpstr">
      <vt:lpstr>Courier New</vt:lpstr>
      <vt:lpstr>Symbol</vt:lpstr>
      <vt:lpstr>Calibri</vt:lpstr>
      <vt:lpstr>Arial</vt:lpstr>
      <vt:lpstr>Larissa-Design</vt:lpstr>
      <vt:lpstr>Computational Biomathematics</vt:lpstr>
      <vt:lpstr>The four dimensions of good utilization of AI</vt:lpstr>
      <vt:lpstr>PowerPoint-Präsentation</vt:lpstr>
      <vt:lpstr>AI-enhanced coding: 1) Specify computational work in layers</vt:lpstr>
      <vt:lpstr>AI-enhanced coding: 2) Program structure</vt:lpstr>
      <vt:lpstr>AI-enhanced coding: 3) Consecutive execution</vt:lpstr>
      <vt:lpstr>Step 1: Think about the model before coding a) Rules specification</vt:lpstr>
      <vt:lpstr>Example: a) Rules specification</vt:lpstr>
      <vt:lpstr>Example: a) Rules specification</vt:lpstr>
      <vt:lpstr>Step 1: Think about the model before coding b) Software design requirements</vt:lpstr>
      <vt:lpstr>Example: b) Software design requirements</vt:lpstr>
      <vt:lpstr>Example: b) Software design requirements</vt:lpstr>
      <vt:lpstr>Step 1: Think about the model before coding c) Project structure</vt:lpstr>
      <vt:lpstr>Example: c) Project structure</vt:lpstr>
      <vt:lpstr>Example: c) Project structure</vt:lpstr>
      <vt:lpstr>Example: c) Project structure</vt:lpstr>
      <vt:lpstr>Example: c) Project structure</vt:lpstr>
      <vt:lpstr>Example: c) Project structure</vt:lpstr>
      <vt:lpstr>PowerPoint-Präsentation</vt:lpstr>
      <vt:lpstr>Phase 1 (Baseline Tournament): File-by-file code generation – 1/ 2</vt:lpstr>
      <vt:lpstr>Phase 1 (Baseline Tournament): File-by-file code generation – 2/ 2</vt:lpstr>
      <vt:lpstr>Phase 1 (Baseline Tournament): Simulation results</vt:lpstr>
      <vt:lpstr>Phase 1 (Baseline Tournament): Simulation results</vt:lpstr>
      <vt:lpstr>PowerPoint-Präsentation</vt:lpstr>
      <vt:lpstr>Phase 2 (1st Evolutionary Replacement): Simulation set-up</vt:lpstr>
      <vt:lpstr>Phase 2 (1st Evolutionary Replacement): Simulation results</vt:lpstr>
      <vt:lpstr>Phase 2 (1st Evolutionary Replacement): Simulation results</vt:lpstr>
      <vt:lpstr>Phase 2 (2nd Evolutionary Replacement): Simulation set-up</vt:lpstr>
      <vt:lpstr>Phase 2 (2nd Evolutionary Replacement): Simulation set-up</vt:lpstr>
      <vt:lpstr>Phase 2 (2nd Evolutionary Replacement): Simulation set-up</vt:lpstr>
      <vt:lpstr>PowerPoint-Präsentation</vt:lpstr>
      <vt:lpstr>Phase 3a (Harsh Environments): Simulation set-up</vt:lpstr>
      <vt:lpstr>Phase 3a (Harsh Environments): Simulation results</vt:lpstr>
      <vt:lpstr>Phase 3a (Harsh Environments): Simulation results</vt:lpstr>
      <vt:lpstr>Phase 3b (Noisy Interactions): Simulation set-up</vt:lpstr>
      <vt:lpstr>Phase 3b (Noisy Interactions): Simulation results</vt:lpstr>
      <vt:lpstr>Phase 3b (Noisy Interactions): Simulation results</vt:lpstr>
      <vt:lpstr>Phase 3c (Noisy Interactions with Additional Strategies): Simulation set-up</vt:lpstr>
      <vt:lpstr>Phase 3c (Noisy Interactions with Additional Strategies): Simulation results</vt:lpstr>
      <vt:lpstr>Phase 3c (Noisy Interactions with Additional Strategies): Simulation results</vt:lpstr>
      <vt:lpstr>Computational Biomathematics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Florian</dc:creator>
  <cp:lastModifiedBy>Florian Rupp</cp:lastModifiedBy>
  <cp:revision>248</cp:revision>
  <dcterms:created xsi:type="dcterms:W3CDTF">2020-04-04T18:50:50Z</dcterms:created>
  <dcterms:modified xsi:type="dcterms:W3CDTF">2026-04-17T20:25:29Z</dcterms:modified>
</cp:coreProperties>
</file>
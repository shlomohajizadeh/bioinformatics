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heme/theme2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9"/>
  </p:notesMasterIdLst>
  <p:sldIdLst>
    <p:sldId id="410" r:id="rId2"/>
    <p:sldId id="412" r:id="rId3"/>
    <p:sldId id="447" r:id="rId4"/>
    <p:sldId id="448" r:id="rId5"/>
    <p:sldId id="489" r:id="rId6"/>
    <p:sldId id="490" r:id="rId7"/>
    <p:sldId id="449" r:id="rId8"/>
    <p:sldId id="413" r:id="rId9"/>
    <p:sldId id="487" r:id="rId10"/>
    <p:sldId id="488" r:id="rId11"/>
    <p:sldId id="493" r:id="rId12"/>
    <p:sldId id="500" r:id="rId13"/>
    <p:sldId id="492" r:id="rId14"/>
    <p:sldId id="433" r:id="rId15"/>
    <p:sldId id="414" r:id="rId16"/>
    <p:sldId id="415" r:id="rId17"/>
    <p:sldId id="416" r:id="rId18"/>
    <p:sldId id="417" r:id="rId19"/>
    <p:sldId id="418" r:id="rId20"/>
    <p:sldId id="419" r:id="rId21"/>
    <p:sldId id="420" r:id="rId22"/>
    <p:sldId id="421" r:id="rId23"/>
    <p:sldId id="422" r:id="rId24"/>
    <p:sldId id="423" r:id="rId25"/>
    <p:sldId id="424" r:id="rId26"/>
    <p:sldId id="425" r:id="rId27"/>
    <p:sldId id="426" r:id="rId28"/>
    <p:sldId id="494" r:id="rId29"/>
    <p:sldId id="496" r:id="rId30"/>
    <p:sldId id="386" r:id="rId31"/>
    <p:sldId id="387" r:id="rId32"/>
    <p:sldId id="388" r:id="rId33"/>
    <p:sldId id="389" r:id="rId34"/>
    <p:sldId id="390" r:id="rId35"/>
    <p:sldId id="501" r:id="rId36"/>
    <p:sldId id="391" r:id="rId37"/>
    <p:sldId id="392" r:id="rId38"/>
    <p:sldId id="393" r:id="rId39"/>
    <p:sldId id="394" r:id="rId40"/>
    <p:sldId id="395" r:id="rId41"/>
    <p:sldId id="396" r:id="rId42"/>
    <p:sldId id="397" r:id="rId43"/>
    <p:sldId id="398" r:id="rId44"/>
    <p:sldId id="399" r:id="rId45"/>
    <p:sldId id="400" r:id="rId46"/>
    <p:sldId id="401" r:id="rId47"/>
    <p:sldId id="402" r:id="rId48"/>
    <p:sldId id="495" r:id="rId49"/>
    <p:sldId id="435" r:id="rId50"/>
    <p:sldId id="427" r:id="rId51"/>
    <p:sldId id="428" r:id="rId52"/>
    <p:sldId id="429" r:id="rId53"/>
    <p:sldId id="430" r:id="rId54"/>
    <p:sldId id="431" r:id="rId55"/>
    <p:sldId id="432" r:id="rId56"/>
    <p:sldId id="436" r:id="rId57"/>
    <p:sldId id="411" r:id="rId58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23" autoAdjust="0"/>
    <p:restoredTop sz="97356" autoAdjust="0"/>
  </p:normalViewPr>
  <p:slideViewPr>
    <p:cSldViewPr>
      <p:cViewPr varScale="1">
        <p:scale>
          <a:sx n="86" d="100"/>
          <a:sy n="86" d="100"/>
        </p:scale>
        <p:origin x="70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95D514-7346-4F82-AE13-C6D6741739D2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EF3066-70EE-4F3C-99F9-465CA6AFB6FD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65B5C-5EDC-4D6C-B92F-36F648641991}" type="slidenum">
              <a:rPr lang="de-DE" smtClean="0"/>
              <a:pPr/>
              <a:t>54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4.jpe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jpeg"/><Relationship Id="rId17" Type="http://schemas.openxmlformats.org/officeDocument/2006/relationships/image" Target="../media/image8.jpeg"/><Relationship Id="rId2" Type="http://schemas.openxmlformats.org/officeDocument/2006/relationships/tags" Target="../tags/tag2.xml"/><Relationship Id="rId16" Type="http://schemas.openxmlformats.org/officeDocument/2006/relationships/image" Target="../media/image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jpeg"/><Relationship Id="rId5" Type="http://schemas.openxmlformats.org/officeDocument/2006/relationships/tags" Target="../tags/tag5.xml"/><Relationship Id="rId15" Type="http://schemas.openxmlformats.org/officeDocument/2006/relationships/image" Target="../media/image6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11.jpe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10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image" Target="../media/image9.jpeg"/><Relationship Id="rId5" Type="http://schemas.openxmlformats.org/officeDocument/2006/relationships/tags" Target="../tags/tag14.xml"/><Relationship Id="rId15" Type="http://schemas.openxmlformats.org/officeDocument/2006/relationships/image" Target="../media/image13.jpeg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3.xml"/><Relationship Id="rId9" Type="http://schemas.openxmlformats.org/officeDocument/2006/relationships/tags" Target="../tags/tag18.xml"/><Relationship Id="rId14" Type="http://schemas.openxmlformats.org/officeDocument/2006/relationships/image" Target="../media/image12.jpe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image" Target="../media/image3.jpeg"/><Relationship Id="rId18" Type="http://schemas.openxmlformats.org/officeDocument/2006/relationships/image" Target="../media/image8.jpeg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image" Target="../media/image2.jpeg"/><Relationship Id="rId17" Type="http://schemas.openxmlformats.org/officeDocument/2006/relationships/image" Target="../media/image7.png"/><Relationship Id="rId2" Type="http://schemas.openxmlformats.org/officeDocument/2006/relationships/tags" Target="../tags/tag20.xml"/><Relationship Id="rId16" Type="http://schemas.openxmlformats.org/officeDocument/2006/relationships/image" Target="../media/image6.jpeg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3.xml"/><Relationship Id="rId15" Type="http://schemas.openxmlformats.org/officeDocument/2006/relationships/image" Target="../media/image5.jpeg"/><Relationship Id="rId10" Type="http://schemas.openxmlformats.org/officeDocument/2006/relationships/tags" Target="../tags/tag28.xml"/><Relationship Id="rId19" Type="http://schemas.openxmlformats.org/officeDocument/2006/relationships/image" Target="../media/image14.jpeg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image" Target="../media/image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8" name="Gruppieren 27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10244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7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10242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23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26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" name="Titel 1"/>
          <p:cNvSpPr>
            <a:spLocks noGrp="1"/>
          </p:cNvSpPr>
          <p:nvPr userDrawn="1">
            <p:ph type="ctrTitle"/>
          </p:nvPr>
        </p:nvSpPr>
        <p:spPr>
          <a:xfrm>
            <a:off x="685800" y="1347614"/>
            <a:ext cx="7772400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 userDrawn="1">
            <p:ph type="subTitle" idx="1"/>
          </p:nvPr>
        </p:nvSpPr>
        <p:spPr>
          <a:xfrm>
            <a:off x="1371600" y="2355726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13" name="Textfeld 12"/>
          <p:cNvSpPr txBox="1"/>
          <p:nvPr userDrawn="1"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4" name="Freihandform 13"/>
          <p:cNvSpPr/>
          <p:nvPr userDrawn="1"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 userDrawn="1"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 userDrawn="1"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Parallelogramm 16"/>
          <p:cNvSpPr/>
          <p:nvPr userDrawn="1"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Parallelogramm 17"/>
          <p:cNvSpPr/>
          <p:nvPr userDrawn="1"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Freihandform 18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Freihandform 19"/>
          <p:cNvSpPr/>
          <p:nvPr userDrawn="1"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hteck 20"/>
          <p:cNvSpPr/>
          <p:nvPr userDrawn="1">
            <p:custDataLst>
              <p:tags r:id="rId9"/>
            </p:custDataLst>
          </p:nvPr>
        </p:nvSpPr>
        <p:spPr>
          <a:xfrm>
            <a:off x="795" y="648469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 userDrawn="1"/>
        </p:nvSpPr>
        <p:spPr bwMode="auto">
          <a:xfrm>
            <a:off x="845840" y="4240838"/>
            <a:ext cx="7452320" cy="85119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>
              <a:spcBef>
                <a:spcPct val="20000"/>
              </a:spcBef>
              <a:defRPr/>
            </a:pPr>
            <a:r>
              <a:rPr lang="en-US" sz="1400" b="1" kern="0" dirty="0">
                <a:latin typeface="+mn-lt"/>
              </a:rPr>
              <a:t>Prof. Dr. Dr. </a:t>
            </a:r>
            <a:r>
              <a:rPr lang="en-US" sz="1400" b="1" kern="0" dirty="0" err="1">
                <a:latin typeface="+mn-lt"/>
              </a:rPr>
              <a:t>h.c</a:t>
            </a:r>
            <a:r>
              <a:rPr lang="en-US" sz="1400" b="1" kern="0" dirty="0">
                <a:latin typeface="+mn-lt"/>
              </a:rPr>
              <a:t>. Florian Rupp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500" dirty="0"/>
          </a:p>
          <a:p>
            <a:pPr algn="ctr" eaLnBrk="1" hangingPunct="1"/>
            <a:r>
              <a:rPr lang="en-US" sz="1400" baseline="0" dirty="0"/>
              <a:t>Western Caspian University &amp; </a:t>
            </a:r>
            <a:r>
              <a:rPr lang="en-US" sz="1400" dirty="0"/>
              <a:t>Kutaisi International</a:t>
            </a:r>
            <a:r>
              <a:rPr lang="en-US" sz="1400" baseline="0" dirty="0"/>
              <a:t> University</a:t>
            </a:r>
            <a:endParaRPr lang="en-US" sz="1400" dirty="0"/>
          </a:p>
        </p:txBody>
      </p:sp>
      <p:pic>
        <p:nvPicPr>
          <p:cNvPr id="24" name="Grafik 23" descr="index.png"/>
          <p:cNvPicPr>
            <a:picLocks noChangeAspect="1"/>
          </p:cNvPicPr>
          <p:nvPr userDrawn="1"/>
        </p:nvPicPr>
        <p:blipFill>
          <a:blip r:embed="rId16" cstate="print"/>
          <a:stretch>
            <a:fillRect/>
          </a:stretch>
        </p:blipFill>
        <p:spPr>
          <a:xfrm>
            <a:off x="179513" y="4437868"/>
            <a:ext cx="1872207" cy="582154"/>
          </a:xfrm>
          <a:prstGeom prst="rect">
            <a:avLst/>
          </a:prstGeom>
        </p:spPr>
      </p:pic>
      <p:pic>
        <p:nvPicPr>
          <p:cNvPr id="27650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251520" y="3219822"/>
            <a:ext cx="1013731" cy="1054898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/>
          <p:cNvSpPr/>
          <p:nvPr userDrawn="1"/>
        </p:nvSpPr>
        <p:spPr>
          <a:xfrm>
            <a:off x="6084168" y="0"/>
            <a:ext cx="3059832" cy="810000"/>
          </a:xfrm>
          <a:prstGeom prst="rect">
            <a:avLst/>
          </a:pr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1"/>
            </p:custDataLst>
          </p:nvPr>
        </p:nvSpPr>
        <p:spPr>
          <a:xfrm>
            <a:off x="560" y="456093"/>
            <a:ext cx="9143440" cy="354739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3" name="Gruppieren 42"/>
          <p:cNvGrpSpPr/>
          <p:nvPr userDrawn="1"/>
        </p:nvGrpSpPr>
        <p:grpSpPr>
          <a:xfrm>
            <a:off x="0" y="0"/>
            <a:ext cx="6444207" cy="811112"/>
            <a:chOff x="0" y="0"/>
            <a:chExt cx="9156701" cy="1152525"/>
          </a:xfrm>
        </p:grpSpPr>
        <p:pic>
          <p:nvPicPr>
            <p:cNvPr id="28" name="Picture 8" descr="https://cdn.pixabay.com/photo/2016/04/13/19/23/binary-1327501_960_720.jpg"/>
            <p:cNvPicPr>
              <a:picLocks noChangeAspect="1" noChangeArrowheads="1"/>
            </p:cNvPicPr>
            <p:nvPr userDrawn="1"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95536" y="0"/>
              <a:ext cx="2828754" cy="1152128"/>
            </a:xfrm>
            <a:prstGeom prst="rect">
              <a:avLst/>
            </a:prstGeom>
            <a:noFill/>
          </p:spPr>
        </p:pic>
        <p:grpSp>
          <p:nvGrpSpPr>
            <p:cNvPr id="29" name="Gruppieren 28"/>
            <p:cNvGrpSpPr/>
            <p:nvPr userDrawn="1"/>
          </p:nvGrpSpPr>
          <p:grpSpPr>
            <a:xfrm>
              <a:off x="3059832" y="0"/>
              <a:ext cx="3312368" cy="1152525"/>
              <a:chOff x="3059832" y="0"/>
              <a:chExt cx="3312368" cy="1152525"/>
            </a:xfrm>
          </p:grpSpPr>
          <p:pic>
            <p:nvPicPr>
              <p:cNvPr id="30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  <p:cNvPicPr>
                <a:picLocks noChangeAspect="1" noChangeArrowheads="1"/>
              </p:cNvPicPr>
              <p:nvPr userDrawn="1"/>
            </p:nvPicPr>
            <p:blipFill>
              <a:blip r:embed="rId12" cstate="print"/>
              <a:srcRect/>
              <a:stretch>
                <a:fillRect/>
              </a:stretch>
            </p:blipFill>
            <p:spPr bwMode="auto">
              <a:xfrm>
                <a:off x="3059832" y="0"/>
                <a:ext cx="1728192" cy="1152128"/>
              </a:xfrm>
              <a:prstGeom prst="rect">
                <a:avLst/>
              </a:prstGeom>
              <a:noFill/>
            </p:spPr>
          </p:pic>
          <p:grpSp>
            <p:nvGrpSpPr>
              <p:cNvPr id="31" name="Gruppieren 26"/>
              <p:cNvGrpSpPr/>
              <p:nvPr userDrawn="1"/>
            </p:nvGrpSpPr>
            <p:grpSpPr>
              <a:xfrm>
                <a:off x="4427984" y="0"/>
                <a:ext cx="1944216" cy="1152525"/>
                <a:chOff x="4427984" y="0"/>
                <a:chExt cx="1944216" cy="1152525"/>
              </a:xfrm>
            </p:grpSpPr>
            <p:pic>
              <p:nvPicPr>
                <p:cNvPr id="32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3" cstate="print"/>
                <a:srcRect/>
                <a:stretch>
                  <a:fillRect/>
                </a:stretch>
              </p:blipFill>
              <p:spPr bwMode="auto">
                <a:xfrm>
                  <a:off x="4427984" y="0"/>
                  <a:ext cx="1944216" cy="267494"/>
                </a:xfrm>
                <a:prstGeom prst="rect">
                  <a:avLst/>
                </a:prstGeom>
                <a:noFill/>
              </p:spPr>
            </p:pic>
            <p:pic>
              <p:nvPicPr>
                <p:cNvPr id="33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4" cstate="print"/>
                <a:srcRect/>
                <a:stretch>
                  <a:fillRect/>
                </a:stretch>
              </p:blipFill>
              <p:spPr bwMode="auto">
                <a:xfrm>
                  <a:off x="4572000" y="267494"/>
                  <a:ext cx="1656184" cy="432048"/>
                </a:xfrm>
                <a:prstGeom prst="rect">
                  <a:avLst/>
                </a:prstGeom>
                <a:noFill/>
              </p:spPr>
            </p:pic>
            <p:pic>
              <p:nvPicPr>
                <p:cNvPr id="34" name="Picture 2" descr="Banner, Header, Mathematik, Formel, Physik, Schule"/>
                <p:cNvPicPr>
                  <a:picLocks noChangeAspect="1" noChangeArrowheads="1"/>
                </p:cNvPicPr>
                <p:nvPr userDrawn="1"/>
              </p:nvPicPr>
              <p:blipFill>
                <a:blip r:embed="rId15" cstate="print"/>
                <a:srcRect/>
                <a:stretch>
                  <a:fillRect/>
                </a:stretch>
              </p:blipFill>
              <p:spPr bwMode="auto">
                <a:xfrm>
                  <a:off x="4716016" y="689073"/>
                  <a:ext cx="1368152" cy="463452"/>
                </a:xfrm>
                <a:prstGeom prst="rect">
                  <a:avLst/>
                </a:prstGeom>
                <a:noFill/>
              </p:spPr>
            </p:pic>
          </p:grpSp>
        </p:grpSp>
        <p:sp>
          <p:nvSpPr>
            <p:cNvPr id="35" name="Freihandform 34"/>
            <p:cNvSpPr/>
            <p:nvPr userDrawn="1">
              <p:custDataLst>
                <p:tags r:id="rId2"/>
              </p:custDataLst>
            </p:nvPr>
          </p:nvSpPr>
          <p:spPr>
            <a:xfrm flipH="1">
              <a:off x="6024860" y="447"/>
              <a:ext cx="313184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1955800"/>
                <a:gd name="connsiteY0" fmla="*/ 0 h 1143000"/>
                <a:gd name="connsiteX1" fmla="*/ 1641023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641023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Parallelogramm 35"/>
            <p:cNvSpPr/>
            <p:nvPr userDrawn="1">
              <p:custDataLst>
                <p:tags r:id="rId3"/>
              </p:custDataLst>
            </p:nvPr>
          </p:nvSpPr>
          <p:spPr>
            <a:xfrm>
              <a:off x="5808836" y="1"/>
              <a:ext cx="792088" cy="1152128"/>
            </a:xfrm>
            <a:prstGeom prst="parallelogram">
              <a:avLst>
                <a:gd name="adj" fmla="val 63481"/>
              </a:avLst>
            </a:pr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Parallelogramm 36"/>
            <p:cNvSpPr/>
            <p:nvPr userDrawn="1">
              <p:custDataLst>
                <p:tags r:id="rId4"/>
              </p:custDataLst>
            </p:nvPr>
          </p:nvSpPr>
          <p:spPr>
            <a:xfrm>
              <a:off x="2568476" y="1"/>
              <a:ext cx="1152128" cy="1152128"/>
            </a:xfrm>
            <a:prstGeom prst="parallelogram">
              <a:avLst>
                <a:gd name="adj" fmla="val 52628"/>
              </a:avLst>
            </a:prstGeom>
            <a:solidFill>
              <a:srgbClr val="1F497D">
                <a:lumMod val="60000"/>
                <a:lumOff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Parallelogramm 37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4296668" y="1"/>
              <a:ext cx="648072" cy="1152128"/>
            </a:xfrm>
            <a:prstGeom prst="parallelogram">
              <a:avLst>
                <a:gd name="adj" fmla="val 68305"/>
              </a:avLst>
            </a:prstGeom>
            <a:solidFill>
              <a:srgbClr val="F79646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Parallelogramm 38"/>
            <p:cNvSpPr/>
            <p:nvPr userDrawn="1">
              <p:custDataLst>
                <p:tags r:id="rId6"/>
              </p:custDataLst>
            </p:nvPr>
          </p:nvSpPr>
          <p:spPr>
            <a:xfrm>
              <a:off x="2568476" y="1"/>
              <a:ext cx="1008112" cy="1152128"/>
            </a:xfrm>
            <a:prstGeom prst="parallelogram">
              <a:avLst>
                <a:gd name="adj" fmla="val 88390"/>
              </a:avLst>
            </a:prstGeom>
            <a:solidFill>
              <a:srgbClr val="4F81BD">
                <a:lumMod val="20000"/>
                <a:lumOff val="8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Freihandform 39"/>
            <p:cNvSpPr/>
            <p:nvPr userDrawn="1">
              <p:custDataLst>
                <p:tags r:id="rId7"/>
              </p:custDataLst>
            </p:nvPr>
          </p:nvSpPr>
          <p:spPr>
            <a:xfrm>
              <a:off x="0" y="0"/>
              <a:ext cx="195580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55800" h="1143000">
                  <a:moveTo>
                    <a:pt x="0" y="0"/>
                  </a:moveTo>
                  <a:lnTo>
                    <a:pt x="1485900" y="0"/>
                  </a:lnTo>
                  <a:lnTo>
                    <a:pt x="1955800" y="1143000"/>
                  </a:lnTo>
                  <a:lnTo>
                    <a:pt x="0" y="1143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Freihandform 40"/>
            <p:cNvSpPr/>
            <p:nvPr userDrawn="1">
              <p:custDataLst>
                <p:tags r:id="rId8"/>
              </p:custDataLst>
            </p:nvPr>
          </p:nvSpPr>
          <p:spPr>
            <a:xfrm>
              <a:off x="2580060" y="1"/>
              <a:ext cx="924520" cy="1151235"/>
            </a:xfrm>
            <a:custGeom>
              <a:avLst/>
              <a:gdLst>
                <a:gd name="connsiteX0" fmla="*/ 0 w 1955800"/>
                <a:gd name="connsiteY0" fmla="*/ 0 h 1143000"/>
                <a:gd name="connsiteX1" fmla="*/ 1485900 w 1955800"/>
                <a:gd name="connsiteY1" fmla="*/ 0 h 1143000"/>
                <a:gd name="connsiteX2" fmla="*/ 1955800 w 1955800"/>
                <a:gd name="connsiteY2" fmla="*/ 1143000 h 1143000"/>
                <a:gd name="connsiteX3" fmla="*/ 0 w 1955800"/>
                <a:gd name="connsiteY3" fmla="*/ 1143000 h 1143000"/>
                <a:gd name="connsiteX4" fmla="*/ 0 w 1955800"/>
                <a:gd name="connsiteY4" fmla="*/ 0 h 1143000"/>
                <a:gd name="connsiteX0" fmla="*/ 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0 w 2880320"/>
                <a:gd name="connsiteY4" fmla="*/ 0 h 1143000"/>
                <a:gd name="connsiteX0" fmla="*/ 2160240 w 2880320"/>
                <a:gd name="connsiteY0" fmla="*/ 0 h 1143000"/>
                <a:gd name="connsiteX1" fmla="*/ 2880320 w 2880320"/>
                <a:gd name="connsiteY1" fmla="*/ 0 h 1143000"/>
                <a:gd name="connsiteX2" fmla="*/ 1955800 w 2880320"/>
                <a:gd name="connsiteY2" fmla="*/ 1143000 h 1143000"/>
                <a:gd name="connsiteX3" fmla="*/ 0 w 2880320"/>
                <a:gd name="connsiteY3" fmla="*/ 1143000 h 1143000"/>
                <a:gd name="connsiteX4" fmla="*/ 2160240 w 28803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132432 w 924520"/>
                <a:gd name="connsiteY3" fmla="*/ 643436 h 1143000"/>
                <a:gd name="connsiteX4" fmla="*/ 204440 w 924520"/>
                <a:gd name="connsiteY4" fmla="*/ 0 h 1143000"/>
                <a:gd name="connsiteX0" fmla="*/ 204440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204440 w 924520"/>
                <a:gd name="connsiteY4" fmla="*/ 0 h 1143000"/>
                <a:gd name="connsiteX0" fmla="*/ 348456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4" fmla="*/ 348456 w 924520"/>
                <a:gd name="connsiteY4" fmla="*/ 0 h 1143000"/>
                <a:gd name="connsiteX0" fmla="*/ 348456 w 924520"/>
                <a:gd name="connsiteY0" fmla="*/ 571943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348456 w 924520"/>
                <a:gd name="connsiteY3" fmla="*/ 571943 h 1143000"/>
                <a:gd name="connsiteX0" fmla="*/ 420464 w 924520"/>
                <a:gd name="connsiteY0" fmla="*/ 0 h 1143000"/>
                <a:gd name="connsiteX1" fmla="*/ 924520 w 924520"/>
                <a:gd name="connsiteY1" fmla="*/ 0 h 1143000"/>
                <a:gd name="connsiteX2" fmla="*/ 0 w 924520"/>
                <a:gd name="connsiteY2" fmla="*/ 1143000 h 1143000"/>
                <a:gd name="connsiteX3" fmla="*/ 420464 w 924520"/>
                <a:gd name="connsiteY3" fmla="*/ 0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4520" h="1143000">
                  <a:moveTo>
                    <a:pt x="420464" y="0"/>
                  </a:moveTo>
                  <a:lnTo>
                    <a:pt x="924520" y="0"/>
                  </a:lnTo>
                  <a:lnTo>
                    <a:pt x="0" y="1143000"/>
                  </a:lnTo>
                  <a:lnTo>
                    <a:pt x="420464" y="0"/>
                  </a:lnTo>
                  <a:close/>
                </a:path>
              </a:pathLst>
            </a:custGeom>
            <a:solidFill>
              <a:srgbClr val="F79646">
                <a:lumMod val="75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Rechteck 41"/>
            <p:cNvSpPr/>
            <p:nvPr userDrawn="1">
              <p:custDataLst>
                <p:tags r:id="rId9"/>
              </p:custDataLst>
            </p:nvPr>
          </p:nvSpPr>
          <p:spPr>
            <a:xfrm>
              <a:off x="795" y="648072"/>
              <a:ext cx="9155906" cy="504056"/>
            </a:xfrm>
            <a:prstGeom prst="rect">
              <a:avLst/>
            </a:prstGeom>
            <a:solidFill>
              <a:srgbClr val="FFFFFF">
                <a:alpha val="40000"/>
              </a:srgbClr>
            </a:solidFill>
            <a:ln w="25400" cap="rnd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1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https://cdn.pixabay.com/photo/2016/04/13/19/23/binary-1327501_960_720.jpg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95536" y="0"/>
            <a:ext cx="2828754" cy="1152128"/>
          </a:xfrm>
          <a:prstGeom prst="rect">
            <a:avLst/>
          </a:prstGeom>
          <a:noFill/>
        </p:spPr>
      </p:pic>
      <p:grpSp>
        <p:nvGrpSpPr>
          <p:cNvPr id="26" name="Gruppieren 25"/>
          <p:cNvGrpSpPr/>
          <p:nvPr userDrawn="1"/>
        </p:nvGrpSpPr>
        <p:grpSpPr>
          <a:xfrm>
            <a:off x="3059832" y="0"/>
            <a:ext cx="3312368" cy="1152525"/>
            <a:chOff x="3059832" y="0"/>
            <a:chExt cx="3312368" cy="1152525"/>
          </a:xfrm>
        </p:grpSpPr>
        <p:pic>
          <p:nvPicPr>
            <p:cNvPr id="27" name="Picture 4" descr="https://scontent-muc2-1.xx.fbcdn.net/v/t1.0-9/105047738_302269647821182_6536006559647297022_o.jpg?_nc_cat=105&amp;_nc_sid=730e14&amp;_nc_ohc=TQF0ZCkImkEAX_9ZuvG&amp;_nc_ht=scontent-muc2-1.xx&amp;oh=0be3c9382f21dded80330d22b968e298&amp;oe=5F833F90"/>
            <p:cNvPicPr>
              <a:picLocks noChangeAspect="1" noChangeArrowheads="1"/>
            </p:cNvPicPr>
            <p:nvPr userDrawn="1"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059832" y="0"/>
              <a:ext cx="1728192" cy="1152128"/>
            </a:xfrm>
            <a:prstGeom prst="rect">
              <a:avLst/>
            </a:prstGeom>
            <a:noFill/>
          </p:spPr>
        </p:pic>
        <p:grpSp>
          <p:nvGrpSpPr>
            <p:cNvPr id="28" name="Gruppieren 26"/>
            <p:cNvGrpSpPr/>
            <p:nvPr userDrawn="1"/>
          </p:nvGrpSpPr>
          <p:grpSpPr>
            <a:xfrm>
              <a:off x="4427984" y="0"/>
              <a:ext cx="1944216" cy="1152525"/>
              <a:chOff x="4427984" y="0"/>
              <a:chExt cx="1944216" cy="1152525"/>
            </a:xfrm>
          </p:grpSpPr>
          <p:pic>
            <p:nvPicPr>
              <p:cNvPr id="29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4" cstate="print"/>
              <a:srcRect/>
              <a:stretch>
                <a:fillRect/>
              </a:stretch>
            </p:blipFill>
            <p:spPr bwMode="auto">
              <a:xfrm>
                <a:off x="4427984" y="0"/>
                <a:ext cx="1944216" cy="267494"/>
              </a:xfrm>
              <a:prstGeom prst="rect">
                <a:avLst/>
              </a:prstGeom>
              <a:noFill/>
            </p:spPr>
          </p:pic>
          <p:pic>
            <p:nvPicPr>
              <p:cNvPr id="30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572000" y="267494"/>
                <a:ext cx="1656184" cy="432048"/>
              </a:xfrm>
              <a:prstGeom prst="rect">
                <a:avLst/>
              </a:prstGeom>
              <a:noFill/>
            </p:spPr>
          </p:pic>
          <p:pic>
            <p:nvPicPr>
              <p:cNvPr id="31" name="Picture 2" descr="Banner, Header, Mathematik, Formel, Physik, Schule"/>
              <p:cNvPicPr>
                <a:picLocks noChangeAspect="1" noChangeArrowheads="1"/>
              </p:cNvPicPr>
              <p:nvPr userDrawn="1"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4716016" y="689073"/>
                <a:ext cx="1368152" cy="463452"/>
              </a:xfrm>
              <a:prstGeom prst="rect">
                <a:avLst/>
              </a:prstGeom>
              <a:noFill/>
            </p:spPr>
          </p:pic>
        </p:grpSp>
      </p:grpSp>
      <p:sp>
        <p:nvSpPr>
          <p:cNvPr id="24" name="Rechteck 23"/>
          <p:cNvSpPr/>
          <p:nvPr userDrawn="1"/>
        </p:nvSpPr>
        <p:spPr>
          <a:xfrm>
            <a:off x="179512" y="1275606"/>
            <a:ext cx="3240360" cy="37444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feld 10"/>
          <p:cNvSpPr txBox="1"/>
          <p:nvPr>
            <p:custDataLst>
              <p:tags r:id="rId1"/>
            </p:custDataLst>
          </p:nvPr>
        </p:nvSpPr>
        <p:spPr>
          <a:xfrm>
            <a:off x="7543657" y="720080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Florian Rupp</a:t>
            </a:r>
          </a:p>
        </p:txBody>
      </p:sp>
      <p:sp>
        <p:nvSpPr>
          <p:cNvPr id="12" name="Freihandform 11"/>
          <p:cNvSpPr/>
          <p:nvPr>
            <p:custDataLst>
              <p:tags r:id="rId2"/>
            </p:custDataLst>
          </p:nvPr>
        </p:nvSpPr>
        <p:spPr>
          <a:xfrm flipH="1">
            <a:off x="6024860" y="447"/>
            <a:ext cx="313184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1955800"/>
              <a:gd name="connsiteY0" fmla="*/ 0 h 1143000"/>
              <a:gd name="connsiteX1" fmla="*/ 1641023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641023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Parallelogramm 12"/>
          <p:cNvSpPr/>
          <p:nvPr>
            <p:custDataLst>
              <p:tags r:id="rId3"/>
            </p:custDataLst>
          </p:nvPr>
        </p:nvSpPr>
        <p:spPr>
          <a:xfrm>
            <a:off x="5808836" y="1"/>
            <a:ext cx="792088" cy="1152128"/>
          </a:xfrm>
          <a:prstGeom prst="parallelogram">
            <a:avLst>
              <a:gd name="adj" fmla="val 63481"/>
            </a:avLst>
          </a:pr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Parallelogramm 13"/>
          <p:cNvSpPr/>
          <p:nvPr>
            <p:custDataLst>
              <p:tags r:id="rId4"/>
            </p:custDataLst>
          </p:nvPr>
        </p:nvSpPr>
        <p:spPr>
          <a:xfrm>
            <a:off x="2568476" y="1"/>
            <a:ext cx="1152128" cy="1152128"/>
          </a:xfrm>
          <a:prstGeom prst="parallelogram">
            <a:avLst>
              <a:gd name="adj" fmla="val 52628"/>
            </a:avLst>
          </a:prstGeom>
          <a:solidFill>
            <a:srgbClr val="1F497D">
              <a:lumMod val="60000"/>
              <a:lumOff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Parallelogramm 14"/>
          <p:cNvSpPr/>
          <p:nvPr>
            <p:custDataLst>
              <p:tags r:id="rId5"/>
            </p:custDataLst>
          </p:nvPr>
        </p:nvSpPr>
        <p:spPr>
          <a:xfrm flipH="1">
            <a:off x="4296668" y="1"/>
            <a:ext cx="648072" cy="1152128"/>
          </a:xfrm>
          <a:prstGeom prst="parallelogram">
            <a:avLst>
              <a:gd name="adj" fmla="val 68305"/>
            </a:avLst>
          </a:prstGeom>
          <a:solidFill>
            <a:srgbClr val="F79646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Parallelogramm 15"/>
          <p:cNvSpPr/>
          <p:nvPr>
            <p:custDataLst>
              <p:tags r:id="rId6"/>
            </p:custDataLst>
          </p:nvPr>
        </p:nvSpPr>
        <p:spPr>
          <a:xfrm>
            <a:off x="2568476" y="1"/>
            <a:ext cx="1008112" cy="1152128"/>
          </a:xfrm>
          <a:prstGeom prst="parallelogram">
            <a:avLst>
              <a:gd name="adj" fmla="val 88390"/>
            </a:avLst>
          </a:prstGeom>
          <a:solidFill>
            <a:srgbClr val="4F81BD">
              <a:lumMod val="20000"/>
              <a:lumOff val="8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Freihandform 16"/>
          <p:cNvSpPr/>
          <p:nvPr>
            <p:custDataLst>
              <p:tags r:id="rId7"/>
            </p:custDataLst>
          </p:nvPr>
        </p:nvSpPr>
        <p:spPr>
          <a:xfrm>
            <a:off x="0" y="0"/>
            <a:ext cx="195580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5800" h="1143000">
                <a:moveTo>
                  <a:pt x="0" y="0"/>
                </a:moveTo>
                <a:lnTo>
                  <a:pt x="1485900" y="0"/>
                </a:lnTo>
                <a:lnTo>
                  <a:pt x="1955800" y="1143000"/>
                </a:lnTo>
                <a:lnTo>
                  <a:pt x="0" y="1143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Freihandform 17"/>
          <p:cNvSpPr/>
          <p:nvPr>
            <p:custDataLst>
              <p:tags r:id="rId8"/>
            </p:custDataLst>
          </p:nvPr>
        </p:nvSpPr>
        <p:spPr>
          <a:xfrm>
            <a:off x="2580060" y="1"/>
            <a:ext cx="924520" cy="1151235"/>
          </a:xfrm>
          <a:custGeom>
            <a:avLst/>
            <a:gdLst>
              <a:gd name="connsiteX0" fmla="*/ 0 w 1955800"/>
              <a:gd name="connsiteY0" fmla="*/ 0 h 1143000"/>
              <a:gd name="connsiteX1" fmla="*/ 1485900 w 1955800"/>
              <a:gd name="connsiteY1" fmla="*/ 0 h 1143000"/>
              <a:gd name="connsiteX2" fmla="*/ 1955800 w 1955800"/>
              <a:gd name="connsiteY2" fmla="*/ 1143000 h 1143000"/>
              <a:gd name="connsiteX3" fmla="*/ 0 w 1955800"/>
              <a:gd name="connsiteY3" fmla="*/ 1143000 h 1143000"/>
              <a:gd name="connsiteX4" fmla="*/ 0 w 1955800"/>
              <a:gd name="connsiteY4" fmla="*/ 0 h 1143000"/>
              <a:gd name="connsiteX0" fmla="*/ 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0 w 2880320"/>
              <a:gd name="connsiteY4" fmla="*/ 0 h 1143000"/>
              <a:gd name="connsiteX0" fmla="*/ 2160240 w 2880320"/>
              <a:gd name="connsiteY0" fmla="*/ 0 h 1143000"/>
              <a:gd name="connsiteX1" fmla="*/ 2880320 w 2880320"/>
              <a:gd name="connsiteY1" fmla="*/ 0 h 1143000"/>
              <a:gd name="connsiteX2" fmla="*/ 1955800 w 2880320"/>
              <a:gd name="connsiteY2" fmla="*/ 1143000 h 1143000"/>
              <a:gd name="connsiteX3" fmla="*/ 0 w 2880320"/>
              <a:gd name="connsiteY3" fmla="*/ 1143000 h 1143000"/>
              <a:gd name="connsiteX4" fmla="*/ 2160240 w 28803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132432 w 924520"/>
              <a:gd name="connsiteY3" fmla="*/ 643436 h 1143000"/>
              <a:gd name="connsiteX4" fmla="*/ 204440 w 924520"/>
              <a:gd name="connsiteY4" fmla="*/ 0 h 1143000"/>
              <a:gd name="connsiteX0" fmla="*/ 204440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204440 w 924520"/>
              <a:gd name="connsiteY4" fmla="*/ 0 h 1143000"/>
              <a:gd name="connsiteX0" fmla="*/ 348456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4" fmla="*/ 348456 w 924520"/>
              <a:gd name="connsiteY4" fmla="*/ 0 h 1143000"/>
              <a:gd name="connsiteX0" fmla="*/ 348456 w 924520"/>
              <a:gd name="connsiteY0" fmla="*/ 571943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348456 w 924520"/>
              <a:gd name="connsiteY3" fmla="*/ 571943 h 1143000"/>
              <a:gd name="connsiteX0" fmla="*/ 420464 w 924520"/>
              <a:gd name="connsiteY0" fmla="*/ 0 h 1143000"/>
              <a:gd name="connsiteX1" fmla="*/ 924520 w 924520"/>
              <a:gd name="connsiteY1" fmla="*/ 0 h 1143000"/>
              <a:gd name="connsiteX2" fmla="*/ 0 w 924520"/>
              <a:gd name="connsiteY2" fmla="*/ 1143000 h 1143000"/>
              <a:gd name="connsiteX3" fmla="*/ 420464 w 924520"/>
              <a:gd name="connsiteY3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4520" h="1143000">
                <a:moveTo>
                  <a:pt x="420464" y="0"/>
                </a:moveTo>
                <a:lnTo>
                  <a:pt x="924520" y="0"/>
                </a:lnTo>
                <a:lnTo>
                  <a:pt x="0" y="1143000"/>
                </a:lnTo>
                <a:lnTo>
                  <a:pt x="420464" y="0"/>
                </a:lnTo>
                <a:close/>
              </a:path>
            </a:pathLst>
          </a:custGeom>
          <a:solidFill>
            <a:srgbClr val="F79646">
              <a:lumMod val="75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hteck 18"/>
          <p:cNvSpPr/>
          <p:nvPr>
            <p:custDataLst>
              <p:tags r:id="rId9"/>
            </p:custDataLst>
          </p:nvPr>
        </p:nvSpPr>
        <p:spPr>
          <a:xfrm>
            <a:off x="795" y="648072"/>
            <a:ext cx="9155906" cy="504056"/>
          </a:xfrm>
          <a:prstGeom prst="rect">
            <a:avLst/>
          </a:prstGeom>
          <a:solidFill>
            <a:srgbClr val="FFFFFF">
              <a:alpha val="40000"/>
            </a:srgbClr>
          </a:solidFill>
          <a:ln w="25400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itel 1"/>
          <p:cNvSpPr>
            <a:spLocks noGrp="1"/>
          </p:cNvSpPr>
          <p:nvPr userDrawn="1">
            <p:ph type="ctrTitle"/>
          </p:nvPr>
        </p:nvSpPr>
        <p:spPr>
          <a:xfrm>
            <a:off x="3851920" y="1275606"/>
            <a:ext cx="5112568" cy="86409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>
            <a:lvl1pPr algn="ctr"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3" name="Rectangle 5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4752020" y="4299942"/>
            <a:ext cx="324036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>
              <a:spcBef>
                <a:spcPct val="20000"/>
              </a:spcBef>
            </a:pPr>
            <a:endParaRPr lang="en-US" sz="1400" dirty="0"/>
          </a:p>
        </p:txBody>
      </p:sp>
      <p:sp>
        <p:nvSpPr>
          <p:cNvPr id="25" name="Textfeld 24"/>
          <p:cNvSpPr txBox="1"/>
          <p:nvPr userDrawn="1"/>
        </p:nvSpPr>
        <p:spPr>
          <a:xfrm>
            <a:off x="3851920" y="2355726"/>
            <a:ext cx="50405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Questions &amp; Remarks?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Thank You Very Much</a:t>
            </a:r>
          </a:p>
        </p:txBody>
      </p:sp>
      <p:pic>
        <p:nvPicPr>
          <p:cNvPr id="22" name="Grafik 21" descr="index.png"/>
          <p:cNvPicPr>
            <a:picLocks noChangeAspect="1"/>
          </p:cNvPicPr>
          <p:nvPr userDrawn="1"/>
        </p:nvPicPr>
        <p:blipFill>
          <a:blip r:embed="rId17" cstate="print"/>
          <a:stretch>
            <a:fillRect/>
          </a:stretch>
        </p:blipFill>
        <p:spPr>
          <a:xfrm>
            <a:off x="3798963" y="4578133"/>
            <a:ext cx="1421109" cy="441887"/>
          </a:xfrm>
          <a:prstGeom prst="rect">
            <a:avLst/>
          </a:prstGeom>
        </p:spPr>
      </p:pic>
      <p:pic>
        <p:nvPicPr>
          <p:cNvPr id="32" name="Picture 2" descr="https://www.iau-hesd.net/sites/default/files/styles/medium/public/media_logo/western_caspian_university.jpg?itok=s4WTrk6k"/>
          <p:cNvPicPr>
            <a:picLocks noChangeAspect="1" noChangeArrowheads="1"/>
          </p:cNvPicPr>
          <p:nvPr userDrawn="1"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3851920" y="3718029"/>
            <a:ext cx="720080" cy="749323"/>
          </a:xfrm>
          <a:prstGeom prst="rect">
            <a:avLst/>
          </a:prstGeom>
          <a:noFill/>
        </p:spPr>
      </p:pic>
      <p:pic>
        <p:nvPicPr>
          <p:cNvPr id="33" name="Picture 2" descr="https://avatars.mds.yandex.net/get-altay/11886651/2a0000018defa513b9203394e9330d10fd54/XXL_height"/>
          <p:cNvPicPr>
            <a:picLocks noChangeAspect="1" noChangeArrowheads="1"/>
          </p:cNvPicPr>
          <p:nvPr userDrawn="1"/>
        </p:nvPicPr>
        <p:blipFill>
          <a:blip r:embed="rId19" cstate="print"/>
          <a:srcRect l="11628" r="27907" b="6378"/>
          <a:stretch>
            <a:fillRect/>
          </a:stretch>
        </p:blipFill>
        <p:spPr bwMode="auto">
          <a:xfrm>
            <a:off x="251520" y="1347613"/>
            <a:ext cx="3096344" cy="3600401"/>
          </a:xfrm>
          <a:prstGeom prst="rect">
            <a:avLst/>
          </a:prstGeom>
          <a:noFill/>
          <a:effectLst>
            <a:softEdge rad="31750"/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12"/>
          <p:cNvSpPr>
            <a:spLocks noChangeShapeType="1"/>
          </p:cNvSpPr>
          <p:nvPr userDrawn="1"/>
        </p:nvSpPr>
        <p:spPr bwMode="auto">
          <a:xfrm>
            <a:off x="0" y="824640"/>
            <a:ext cx="9144000" cy="0"/>
          </a:xfrm>
          <a:prstGeom prst="line">
            <a:avLst/>
          </a:prstGeom>
          <a:noFill/>
          <a:ln w="38100">
            <a:solidFill>
              <a:schemeClr val="tx2">
                <a:lumMod val="20000"/>
                <a:lumOff val="8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Rectangle 7"/>
          <p:cNvSpPr>
            <a:spLocks noChangeArrowheads="1"/>
          </p:cNvSpPr>
          <p:nvPr userDrawn="1"/>
        </p:nvSpPr>
        <p:spPr bwMode="invGray">
          <a:xfrm>
            <a:off x="0" y="1"/>
            <a:ext cx="9144000" cy="815024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 prst="coolSlant"/>
          </a:sp3d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" name="Abgerundetes Rechteck 8"/>
          <p:cNvSpPr/>
          <p:nvPr userDrawn="1"/>
        </p:nvSpPr>
        <p:spPr>
          <a:xfrm>
            <a:off x="118693" y="105507"/>
            <a:ext cx="667317" cy="598738"/>
          </a:xfrm>
          <a:prstGeom prst="roundRect">
            <a:avLst>
              <a:gd name="adj" fmla="val 917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71600" y="52707"/>
            <a:ext cx="8064896" cy="70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/>
              <a:t>Titelmasterformat durch Klicken bearbeiten</a:t>
            </a:r>
          </a:p>
        </p:txBody>
      </p:sp>
      <p:pic>
        <p:nvPicPr>
          <p:cNvPr id="28674" name="Picture 2" descr="https://cdn-static.bizzabo.com/bizzabo.users.files/zG7zRd0nS5WvqOWKrgQP_Western%20Caspian%20University%20black.png"/>
          <p:cNvPicPr>
            <a:picLocks noChangeAspect="1" noChangeArrowheads="1"/>
          </p:cNvPicPr>
          <p:nvPr userDrawn="1"/>
        </p:nvPicPr>
        <p:blipFill>
          <a:blip r:embed="rId6" cstate="print"/>
          <a:srcRect r="81904"/>
          <a:stretch>
            <a:fillRect/>
          </a:stretch>
        </p:blipFill>
        <p:spPr bwMode="auto">
          <a:xfrm>
            <a:off x="200323" y="176258"/>
            <a:ext cx="504056" cy="45723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0" hangingPunct="1">
        <a:spcBef>
          <a:spcPct val="0"/>
        </a:spcBef>
        <a:buNone/>
        <a:defRPr sz="2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gi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43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7.png"/><Relationship Id="rId3" Type="http://schemas.openxmlformats.org/officeDocument/2006/relationships/tags" Target="../tags/tag34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46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image" Target="../media/image45.png"/><Relationship Id="rId5" Type="http://schemas.openxmlformats.org/officeDocument/2006/relationships/tags" Target="../tags/tag36.xml"/><Relationship Id="rId10" Type="http://schemas.openxmlformats.org/officeDocument/2006/relationships/image" Target="../media/image43.png"/><Relationship Id="rId4" Type="http://schemas.openxmlformats.org/officeDocument/2006/relationships/tags" Target="../tags/tag35.xml"/><Relationship Id="rId9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8.png"/><Relationship Id="rId3" Type="http://schemas.openxmlformats.org/officeDocument/2006/relationships/tags" Target="../tags/tag40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47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tags" Target="../tags/tag43.xml"/><Relationship Id="rId11" Type="http://schemas.openxmlformats.org/officeDocument/2006/relationships/image" Target="../media/image46.png"/><Relationship Id="rId5" Type="http://schemas.openxmlformats.org/officeDocument/2006/relationships/tags" Target="../tags/tag42.xml"/><Relationship Id="rId10" Type="http://schemas.openxmlformats.org/officeDocument/2006/relationships/image" Target="../media/image45.png"/><Relationship Id="rId4" Type="http://schemas.openxmlformats.org/officeDocument/2006/relationships/tags" Target="../tags/tag41.xml"/><Relationship Id="rId9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9.png"/><Relationship Id="rId3" Type="http://schemas.openxmlformats.org/officeDocument/2006/relationships/tags" Target="../tags/tag46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47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image" Target="../media/image46.png"/><Relationship Id="rId5" Type="http://schemas.openxmlformats.org/officeDocument/2006/relationships/tags" Target="../tags/tag48.xml"/><Relationship Id="rId10" Type="http://schemas.openxmlformats.org/officeDocument/2006/relationships/image" Target="../media/image45.png"/><Relationship Id="rId4" Type="http://schemas.openxmlformats.org/officeDocument/2006/relationships/tags" Target="../tags/tag47.xml"/><Relationship Id="rId9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57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image" Target="../media/image66.png"/><Relationship Id="rId4" Type="http://schemas.openxmlformats.org/officeDocument/2006/relationships/image" Target="../media/image6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image" Target="../media/image64.png"/><Relationship Id="rId4" Type="http://schemas.openxmlformats.org/officeDocument/2006/relationships/image" Target="../media/image6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image" Target="../media/image64.png"/><Relationship Id="rId4" Type="http://schemas.openxmlformats.org/officeDocument/2006/relationships/image" Target="../media/image6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gi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  <a:p>
            <a:r>
              <a:rPr lang="en-US" noProof="0" dirty="0"/>
              <a:t>The Secret Life of Slime Molds: Aggregation</a:t>
            </a:r>
          </a:p>
          <a:p>
            <a:endParaRPr lang="en-US" sz="500" noProof="0" dirty="0"/>
          </a:p>
          <a:p>
            <a:r>
              <a:rPr lang="en-US" noProof="0"/>
              <a:t>Lesson 9</a:t>
            </a:r>
            <a:endParaRPr lang="en-US" noProof="0" dirty="0"/>
          </a:p>
        </p:txBody>
      </p:sp>
      <p:sp>
        <p:nvSpPr>
          <p:cNvPr id="4" name="Rechteck 3"/>
          <p:cNvSpPr/>
          <p:nvPr/>
        </p:nvSpPr>
        <p:spPr>
          <a:xfrm>
            <a:off x="7092280" y="3291830"/>
            <a:ext cx="1800200" cy="17171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Chemotaxis &amp; the Keller-Segel model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A first mathematical stability analysis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Simulation of the Keller-Segel model</a:t>
            </a:r>
          </a:p>
          <a:p>
            <a:pPr marL="177800" lvl="1" indent="-177800">
              <a:spcAft>
                <a:spcPts val="400"/>
              </a:spcAft>
              <a:buFont typeface="Arial" pitchFamily="34" charset="0"/>
              <a:buChar char="•"/>
            </a:pPr>
            <a:endParaRPr lang="en-US" sz="1200" noProof="0" dirty="0">
              <a:solidFill>
                <a:schemeClr val="tx1"/>
              </a:solidFill>
            </a:endParaRPr>
          </a:p>
        </p:txBody>
      </p:sp>
      <p:sp>
        <p:nvSpPr>
          <p:cNvPr id="5" name="Rechteck 4"/>
          <p:cNvSpPr/>
          <p:nvPr/>
        </p:nvSpPr>
        <p:spPr>
          <a:xfrm>
            <a:off x="7092280" y="2931790"/>
            <a:ext cx="1800200" cy="288032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/>
              <a:t>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/>
        </p:nvSpPr>
        <p:spPr>
          <a:xfrm>
            <a:off x="0" y="843558"/>
            <a:ext cx="9144000" cy="42999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over 700 sub-species slime molds form a variety-rich life-form that exhibits very interesting life phases</a:t>
            </a:r>
          </a:p>
        </p:txBody>
      </p:sp>
      <p:pic>
        <p:nvPicPr>
          <p:cNvPr id="3" name="Picture 14" descr="https://viola.bz/wp-content/uploads/2012/05/Slime-molds-2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93242" y="843558"/>
            <a:ext cx="2863428" cy="2147571"/>
          </a:xfrm>
          <a:prstGeom prst="rect">
            <a:avLst/>
          </a:prstGeom>
          <a:noFill/>
        </p:spPr>
      </p:pic>
      <p:pic>
        <p:nvPicPr>
          <p:cNvPr id="4" name="Picture 12" descr="https://viola.bz/wp-content/uploads/2012/05/Slime-molds-10.jpg"/>
          <p:cNvPicPr>
            <a:picLocks noChangeAspect="1" noChangeArrowheads="1"/>
          </p:cNvPicPr>
          <p:nvPr/>
        </p:nvPicPr>
        <p:blipFill>
          <a:blip r:embed="rId3" cstate="print"/>
          <a:srcRect t="2713" b="3644"/>
          <a:stretch>
            <a:fillRect/>
          </a:stretch>
        </p:blipFill>
        <p:spPr bwMode="auto">
          <a:xfrm>
            <a:off x="2200474" y="2938140"/>
            <a:ext cx="3504570" cy="2205360"/>
          </a:xfrm>
          <a:prstGeom prst="rect">
            <a:avLst/>
          </a:prstGeom>
          <a:noFill/>
        </p:spPr>
      </p:pic>
      <p:pic>
        <p:nvPicPr>
          <p:cNvPr id="5" name="Picture 10" descr="https://viola.bz/wp-content/uploads/2012/05/Slime-molds-3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4818" y="1931362"/>
            <a:ext cx="2304620" cy="1728465"/>
          </a:xfrm>
          <a:prstGeom prst="rect">
            <a:avLst/>
          </a:prstGeom>
          <a:noFill/>
        </p:spPr>
      </p:pic>
      <p:pic>
        <p:nvPicPr>
          <p:cNvPr id="6" name="Picture 2" descr="https://preview.redd.it/16l0u146l1m11.jpg?width=960&amp;crop=smart&amp;auto=webp&amp;s=16ad86bc8e1aa09e35193566c3cdbb02e7e9739c"/>
          <p:cNvPicPr>
            <a:picLocks noChangeAspect="1" noChangeArrowheads="1"/>
          </p:cNvPicPr>
          <p:nvPr/>
        </p:nvPicPr>
        <p:blipFill>
          <a:blip r:embed="rId5" cstate="print"/>
          <a:srcRect t="13755"/>
          <a:stretch>
            <a:fillRect/>
          </a:stretch>
        </p:blipFill>
        <p:spPr bwMode="auto">
          <a:xfrm>
            <a:off x="724819" y="3155888"/>
            <a:ext cx="2304619" cy="1987612"/>
          </a:xfrm>
          <a:prstGeom prst="rect">
            <a:avLst/>
          </a:prstGeom>
          <a:noFill/>
        </p:spPr>
      </p:pic>
      <p:pic>
        <p:nvPicPr>
          <p:cNvPr id="7" name="Picture 4" descr="https://viola.bz/wp-content/uploads/2012/05/Slime-molds-1.jpg"/>
          <p:cNvPicPr>
            <a:picLocks noChangeAspect="1" noChangeArrowheads="1"/>
          </p:cNvPicPr>
          <p:nvPr/>
        </p:nvPicPr>
        <p:blipFill>
          <a:blip r:embed="rId6" cstate="print"/>
          <a:srcRect t="20604"/>
          <a:stretch>
            <a:fillRect/>
          </a:stretch>
        </p:blipFill>
        <p:spPr bwMode="auto">
          <a:xfrm>
            <a:off x="724818" y="843558"/>
            <a:ext cx="2304792" cy="1218732"/>
          </a:xfrm>
          <a:prstGeom prst="rect">
            <a:avLst/>
          </a:prstGeom>
          <a:noFill/>
        </p:spPr>
      </p:pic>
      <p:pic>
        <p:nvPicPr>
          <p:cNvPr id="8" name="Picture 6" descr="https://viola.bz/wp-content/uploads/2012/05/Slime-molds-14.jpg"/>
          <p:cNvPicPr>
            <a:picLocks noChangeAspect="1" noChangeArrowheads="1"/>
          </p:cNvPicPr>
          <p:nvPr/>
        </p:nvPicPr>
        <p:blipFill>
          <a:blip r:embed="rId7" cstate="print"/>
          <a:srcRect l="746"/>
          <a:stretch>
            <a:fillRect/>
          </a:stretch>
        </p:blipFill>
        <p:spPr bwMode="auto">
          <a:xfrm>
            <a:off x="5584680" y="843558"/>
            <a:ext cx="2834503" cy="2147571"/>
          </a:xfrm>
          <a:prstGeom prst="rect">
            <a:avLst/>
          </a:prstGeom>
          <a:noFill/>
        </p:spPr>
      </p:pic>
      <p:pic>
        <p:nvPicPr>
          <p:cNvPr id="9" name="Picture 8" descr="https://viola.bz/wp-content/uploads/2012/05/Slime-molds-18.jpg"/>
          <p:cNvPicPr>
            <a:picLocks noChangeAspect="1" noChangeArrowheads="1"/>
          </p:cNvPicPr>
          <p:nvPr/>
        </p:nvPicPr>
        <p:blipFill>
          <a:blip r:embed="rId8" cstate="print"/>
          <a:srcRect l="1231"/>
          <a:stretch>
            <a:fillRect/>
          </a:stretch>
        </p:blipFill>
        <p:spPr bwMode="auto">
          <a:xfrm>
            <a:off x="5584680" y="2991129"/>
            <a:ext cx="2834503" cy="2152371"/>
          </a:xfrm>
          <a:prstGeom prst="rect">
            <a:avLst/>
          </a:prstGeom>
          <a:noFill/>
        </p:spPr>
      </p:pic>
      <p:sp>
        <p:nvSpPr>
          <p:cNvPr id="10" name="Ellipse 9"/>
          <p:cNvSpPr/>
          <p:nvPr/>
        </p:nvSpPr>
        <p:spPr>
          <a:xfrm>
            <a:off x="2600792" y="2567222"/>
            <a:ext cx="3942417" cy="847814"/>
          </a:xfrm>
          <a:prstGeom prst="ellipse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Some Facets of the</a:t>
            </a:r>
          </a:p>
          <a:p>
            <a:pPr algn="ctr"/>
            <a:r>
              <a:rPr lang="en-US" sz="1400" dirty="0"/>
              <a:t>Life Cycle of Slime Molds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9DEFD4-F1F4-06FF-D6FA-AFD68BED8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Slime molds are globally widespread with a preference to the temperate climate zone (1/ 2)</a:t>
            </a:r>
            <a:endParaRPr lang="de-DE" dirty="0"/>
          </a:p>
        </p:txBody>
      </p:sp>
      <p:pic>
        <p:nvPicPr>
          <p:cNvPr id="3" name="Picture 2" descr="https://upload.wikimedia.org/wikipedia/commons/d/dd/Klimag%C3%BCrtel-der-erde-warmgem%C3%A4%C3%9Figte-zone.png">
            <a:extLst>
              <a:ext uri="{FF2B5EF4-FFF2-40B4-BE49-F238E27FC236}">
                <a16:creationId xmlns:a16="http://schemas.microsoft.com/office/drawing/2014/main" id="{ABBA64A2-EE00-69B9-66AF-075DB3935B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1778" y="1124745"/>
            <a:ext cx="4340221" cy="2170111"/>
          </a:xfrm>
          <a:prstGeom prst="rect">
            <a:avLst/>
          </a:prstGeom>
          <a:noFill/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F08994E-33D3-4684-1338-B323D502C9E2}"/>
              </a:ext>
            </a:extLst>
          </p:cNvPr>
          <p:cNvSpPr txBox="1"/>
          <p:nvPr/>
        </p:nvSpPr>
        <p:spPr>
          <a:xfrm>
            <a:off x="4860032" y="1131590"/>
            <a:ext cx="4032449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1400" dirty="0"/>
              <a:t>Slime molds with the huge variety of their sub-species are globally widespread.</a:t>
            </a:r>
          </a:p>
          <a:p>
            <a:pPr algn="just">
              <a:spcAft>
                <a:spcPts val="600"/>
              </a:spcAft>
            </a:pPr>
            <a:r>
              <a:rPr lang="en-US" sz="1400" dirty="0"/>
              <a:t>Optimal growth conditions are provided in the temperate zones. These include</a:t>
            </a:r>
          </a:p>
          <a:p>
            <a:pPr marL="358775" indent="-266700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sufficient  light for </a:t>
            </a:r>
            <a:r>
              <a:rPr lang="en-US" sz="1400" dirty="0" err="1"/>
              <a:t>phototaxis</a:t>
            </a:r>
            <a:r>
              <a:rPr lang="en-US" sz="1400" dirty="0"/>
              <a:t> (i.e. movement towards or away from stimulus of light) to reach new food supplies (like dead wood or rotting plant material)</a:t>
            </a:r>
          </a:p>
          <a:p>
            <a:pPr marL="358775" indent="-266700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sufficient wind power to carry and spread spores</a:t>
            </a:r>
          </a:p>
          <a:p>
            <a:pPr marL="358775" indent="-266700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sufficient humidity</a:t>
            </a:r>
          </a:p>
          <a:p>
            <a:pPr marL="358775" indent="-266700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not too strong rainfalls that wash away the amoebae</a:t>
            </a:r>
          </a:p>
          <a:p>
            <a:pPr marL="358775" indent="-266700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not too acid soil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0C08C65-A978-5541-1C6D-FAB98C1C7361}"/>
              </a:ext>
            </a:extLst>
          </p:cNvPr>
          <p:cNvSpPr txBox="1"/>
          <p:nvPr/>
        </p:nvSpPr>
        <p:spPr>
          <a:xfrm>
            <a:off x="179512" y="6519446"/>
            <a:ext cx="6211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/>
              <a:t>S.L. Stevenson, H. </a:t>
            </a:r>
            <a:r>
              <a:rPr lang="de-DE" sz="800" dirty="0" err="1"/>
              <a:t>Stempen</a:t>
            </a:r>
            <a:r>
              <a:rPr lang="de-DE" sz="800" dirty="0"/>
              <a:t> (2000): </a:t>
            </a:r>
            <a:r>
              <a:rPr lang="de-DE" sz="800" dirty="0" err="1"/>
              <a:t>Myxomycetes</a:t>
            </a:r>
            <a:r>
              <a:rPr lang="de-DE" sz="800" dirty="0"/>
              <a:t>. A Handbook </a:t>
            </a:r>
            <a:r>
              <a:rPr lang="de-DE" sz="800" dirty="0" err="1"/>
              <a:t>of</a:t>
            </a:r>
            <a:r>
              <a:rPr lang="de-DE" sz="800" dirty="0"/>
              <a:t> </a:t>
            </a:r>
            <a:r>
              <a:rPr lang="de-DE" sz="800" dirty="0" err="1"/>
              <a:t>Slime</a:t>
            </a:r>
            <a:r>
              <a:rPr lang="de-DE" sz="800" dirty="0"/>
              <a:t> </a:t>
            </a:r>
            <a:r>
              <a:rPr lang="de-DE" sz="800" dirty="0" err="1"/>
              <a:t>Molds</a:t>
            </a:r>
            <a:r>
              <a:rPr lang="de-DE" sz="800" dirty="0"/>
              <a:t>. Portland: </a:t>
            </a:r>
            <a:r>
              <a:rPr lang="de-DE" sz="800" dirty="0" err="1"/>
              <a:t>Timber</a:t>
            </a:r>
            <a:r>
              <a:rPr lang="de-DE" sz="800" dirty="0"/>
              <a:t> Press</a:t>
            </a:r>
          </a:p>
          <a:p>
            <a:r>
              <a:rPr lang="en-US" sz="800" dirty="0"/>
              <a:t>University of Arkansas, Fayetteville. "Slime molds discovered in southern African desert." </a:t>
            </a:r>
            <a:r>
              <a:rPr lang="en-US" sz="800" dirty="0" err="1"/>
              <a:t>ScienceDaily</a:t>
            </a:r>
            <a:r>
              <a:rPr lang="en-US" sz="800" dirty="0"/>
              <a:t>. </a:t>
            </a:r>
            <a:r>
              <a:rPr lang="en-US" sz="800" dirty="0" err="1"/>
              <a:t>ScienceDaily</a:t>
            </a:r>
            <a:r>
              <a:rPr lang="en-US" sz="800" dirty="0"/>
              <a:t>, 21 April 2015.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22A77FCA-5A2E-192A-A984-D1752F569A07}"/>
              </a:ext>
            </a:extLst>
          </p:cNvPr>
          <p:cNvGrpSpPr/>
          <p:nvPr/>
        </p:nvGrpSpPr>
        <p:grpSpPr>
          <a:xfrm>
            <a:off x="2555776" y="2912045"/>
            <a:ext cx="1944216" cy="307777"/>
            <a:chOff x="2123728" y="3501008"/>
            <a:chExt cx="1944216" cy="307777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BE2AD0C3-E2A7-5046-0ACD-F0FEEED5C380}"/>
                </a:ext>
              </a:extLst>
            </p:cNvPr>
            <p:cNvSpPr/>
            <p:nvPr/>
          </p:nvSpPr>
          <p:spPr>
            <a:xfrm>
              <a:off x="2123728" y="3510880"/>
              <a:ext cx="1944216" cy="2880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4C9F4964-BCEE-6E20-7B55-9062FD80CE30}"/>
                </a:ext>
              </a:extLst>
            </p:cNvPr>
            <p:cNvSpPr/>
            <p:nvPr/>
          </p:nvSpPr>
          <p:spPr>
            <a:xfrm>
              <a:off x="2195736" y="3582888"/>
              <a:ext cx="216024" cy="14401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65B42054-34BE-5BCE-CB45-37554A89C36B}"/>
                </a:ext>
              </a:extLst>
            </p:cNvPr>
            <p:cNvSpPr txBox="1"/>
            <p:nvPr/>
          </p:nvSpPr>
          <p:spPr>
            <a:xfrm>
              <a:off x="2483768" y="3501008"/>
              <a:ext cx="1584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temperate zones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291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EF6F8-FC1D-2FAE-4630-E319A8062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468915-6675-7765-41F7-3547328C8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Slime molds are globally widespread with a preference to the temperate climate zone (2/ 2)</a:t>
            </a:r>
            <a:endParaRPr lang="de-DE" dirty="0"/>
          </a:p>
        </p:txBody>
      </p:sp>
      <p:pic>
        <p:nvPicPr>
          <p:cNvPr id="3" name="Picture 2" descr="https://upload.wikimedia.org/wikipedia/commons/d/dd/Klimag%C3%BCrtel-der-erde-warmgem%C3%A4%C3%9Figte-zone.png">
            <a:extLst>
              <a:ext uri="{FF2B5EF4-FFF2-40B4-BE49-F238E27FC236}">
                <a16:creationId xmlns:a16="http://schemas.microsoft.com/office/drawing/2014/main" id="{62072FCF-1437-7293-10B9-429929415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1778" y="1124745"/>
            <a:ext cx="4340221" cy="2170111"/>
          </a:xfrm>
          <a:prstGeom prst="rect">
            <a:avLst/>
          </a:prstGeom>
          <a:noFill/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440B6FB2-85C9-2057-39D6-0DFAF0413E67}"/>
              </a:ext>
            </a:extLst>
          </p:cNvPr>
          <p:cNvSpPr txBox="1"/>
          <p:nvPr/>
        </p:nvSpPr>
        <p:spPr>
          <a:xfrm>
            <a:off x="4860032" y="1131590"/>
            <a:ext cx="40324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1400" dirty="0"/>
              <a:t>Though, this does not exclude that slime molds find niches in not so favorable habitats, like the sub-tropics, tropics or dessert regions.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46CD100-184B-7896-86E2-E3B2A10DC078}"/>
              </a:ext>
            </a:extLst>
          </p:cNvPr>
          <p:cNvSpPr txBox="1"/>
          <p:nvPr/>
        </p:nvSpPr>
        <p:spPr>
          <a:xfrm>
            <a:off x="251520" y="4681468"/>
            <a:ext cx="56777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S.L. Stevenson, H. </a:t>
            </a:r>
            <a:r>
              <a:rPr lang="de-DE" sz="800" dirty="0" err="1"/>
              <a:t>Stempen</a:t>
            </a:r>
            <a:r>
              <a:rPr lang="de-DE" sz="800" dirty="0"/>
              <a:t> (2000): </a:t>
            </a:r>
            <a:r>
              <a:rPr lang="de-DE" sz="800" dirty="0" err="1"/>
              <a:t>Myxomycetes</a:t>
            </a:r>
            <a:r>
              <a:rPr lang="de-DE" sz="800" dirty="0"/>
              <a:t>. A Handbook </a:t>
            </a:r>
            <a:r>
              <a:rPr lang="de-DE" sz="800" dirty="0" err="1"/>
              <a:t>of</a:t>
            </a:r>
            <a:r>
              <a:rPr lang="de-DE" sz="800" dirty="0"/>
              <a:t> </a:t>
            </a:r>
            <a:r>
              <a:rPr lang="de-DE" sz="800" dirty="0" err="1"/>
              <a:t>Slime</a:t>
            </a:r>
            <a:r>
              <a:rPr lang="de-DE" sz="800" dirty="0"/>
              <a:t> </a:t>
            </a:r>
            <a:r>
              <a:rPr lang="de-DE" sz="800" dirty="0" err="1"/>
              <a:t>Molds</a:t>
            </a:r>
            <a:r>
              <a:rPr lang="de-DE" sz="800" dirty="0"/>
              <a:t>. Portland: </a:t>
            </a:r>
            <a:r>
              <a:rPr lang="de-DE" sz="800" dirty="0" err="1"/>
              <a:t>Timber</a:t>
            </a:r>
            <a:r>
              <a:rPr lang="de-DE" sz="800" dirty="0"/>
              <a:t> Press</a:t>
            </a:r>
          </a:p>
          <a:p>
            <a:r>
              <a:rPr lang="en-US" sz="800" dirty="0"/>
              <a:t>University of Arkansas, Fayetteville. "Slime molds discovered in southern African desert." </a:t>
            </a:r>
            <a:r>
              <a:rPr lang="en-US" sz="800" dirty="0" err="1"/>
              <a:t>ScienceDaily</a:t>
            </a:r>
            <a:r>
              <a:rPr lang="en-US" sz="800" dirty="0"/>
              <a:t>. </a:t>
            </a:r>
            <a:r>
              <a:rPr lang="en-US" sz="800" dirty="0" err="1"/>
              <a:t>ScienceDaily</a:t>
            </a:r>
            <a:r>
              <a:rPr lang="en-US" sz="800" dirty="0"/>
              <a:t>, 21 April 2015.</a:t>
            </a:r>
          </a:p>
        </p:txBody>
      </p:sp>
      <p:cxnSp>
        <p:nvCxnSpPr>
          <p:cNvPr id="6" name="Gerade Verbindung 7">
            <a:extLst>
              <a:ext uri="{FF2B5EF4-FFF2-40B4-BE49-F238E27FC236}">
                <a16:creationId xmlns:a16="http://schemas.microsoft.com/office/drawing/2014/main" id="{DC4E6DD2-9157-6119-E72B-C092DAEC10A6}"/>
              </a:ext>
            </a:extLst>
          </p:cNvPr>
          <p:cNvCxnSpPr/>
          <p:nvPr/>
        </p:nvCxnSpPr>
        <p:spPr>
          <a:xfrm flipH="1">
            <a:off x="323528" y="1828800"/>
            <a:ext cx="600398" cy="109614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12">
            <a:extLst>
              <a:ext uri="{FF2B5EF4-FFF2-40B4-BE49-F238E27FC236}">
                <a16:creationId xmlns:a16="http://schemas.microsoft.com/office/drawing/2014/main" id="{066A987E-020A-F548-631E-9380058C929C}"/>
              </a:ext>
            </a:extLst>
          </p:cNvPr>
          <p:cNvCxnSpPr/>
          <p:nvPr/>
        </p:nvCxnSpPr>
        <p:spPr>
          <a:xfrm>
            <a:off x="323528" y="2924944"/>
            <a:ext cx="0" cy="79208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0D26BB0C-35EC-4A2B-986D-6CD401688740}"/>
              </a:ext>
            </a:extLst>
          </p:cNvPr>
          <p:cNvSpPr txBox="1"/>
          <p:nvPr/>
        </p:nvSpPr>
        <p:spPr>
          <a:xfrm>
            <a:off x="258554" y="3789040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at the </a:t>
            </a:r>
            <a:r>
              <a:rPr lang="en-US" sz="1000" dirty="0" err="1"/>
              <a:t>Sonoran</a:t>
            </a:r>
            <a:r>
              <a:rPr lang="en-US" sz="1000" dirty="0"/>
              <a:t> desert about 33 sub-species of slime molds are proven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9BDEAE1-1C28-FCC8-3E8F-1506A7770182}"/>
              </a:ext>
            </a:extLst>
          </p:cNvPr>
          <p:cNvGrpSpPr/>
          <p:nvPr/>
        </p:nvGrpSpPr>
        <p:grpSpPr>
          <a:xfrm>
            <a:off x="2555776" y="2912045"/>
            <a:ext cx="1944216" cy="307777"/>
            <a:chOff x="2123728" y="3501008"/>
            <a:chExt cx="1944216" cy="307777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F07A7D35-A059-506B-8F33-5F61AA0ADC45}"/>
                </a:ext>
              </a:extLst>
            </p:cNvPr>
            <p:cNvSpPr/>
            <p:nvPr/>
          </p:nvSpPr>
          <p:spPr>
            <a:xfrm>
              <a:off x="2123728" y="3510880"/>
              <a:ext cx="1944216" cy="28803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3B364473-6E11-28BC-5496-740E20527493}"/>
                </a:ext>
              </a:extLst>
            </p:cNvPr>
            <p:cNvSpPr/>
            <p:nvPr/>
          </p:nvSpPr>
          <p:spPr>
            <a:xfrm>
              <a:off x="2195736" y="3582888"/>
              <a:ext cx="216024" cy="14401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2403FB9-FBE4-F278-395E-1663627C4C95}"/>
                </a:ext>
              </a:extLst>
            </p:cNvPr>
            <p:cNvSpPr txBox="1"/>
            <p:nvPr/>
          </p:nvSpPr>
          <p:spPr>
            <a:xfrm>
              <a:off x="2483768" y="3501008"/>
              <a:ext cx="1584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temperate zones</a:t>
              </a:r>
            </a:p>
          </p:txBody>
        </p:sp>
      </p:grpSp>
      <p:cxnSp>
        <p:nvCxnSpPr>
          <p:cNvPr id="13" name="Gerade Verbindung 21">
            <a:extLst>
              <a:ext uri="{FF2B5EF4-FFF2-40B4-BE49-F238E27FC236}">
                <a16:creationId xmlns:a16="http://schemas.microsoft.com/office/drawing/2014/main" id="{E9A6C53E-DDF2-65E8-0B7C-C9208F8F8646}"/>
              </a:ext>
            </a:extLst>
          </p:cNvPr>
          <p:cNvCxnSpPr/>
          <p:nvPr/>
        </p:nvCxnSpPr>
        <p:spPr>
          <a:xfrm flipH="1">
            <a:off x="2314576" y="2507456"/>
            <a:ext cx="202405" cy="35321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24">
            <a:extLst>
              <a:ext uri="{FF2B5EF4-FFF2-40B4-BE49-F238E27FC236}">
                <a16:creationId xmlns:a16="http://schemas.microsoft.com/office/drawing/2014/main" id="{B59466F5-FE86-AC6F-4637-7E578254D12C}"/>
              </a:ext>
            </a:extLst>
          </p:cNvPr>
          <p:cNvCxnSpPr>
            <a:cxnSpLocks/>
          </p:cNvCxnSpPr>
          <p:nvPr/>
        </p:nvCxnSpPr>
        <p:spPr>
          <a:xfrm>
            <a:off x="2314352" y="2877319"/>
            <a:ext cx="224" cy="156663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4BFDAF1B-8AA5-6B03-F34B-DFF8CFDE123F}"/>
              </a:ext>
            </a:extLst>
          </p:cNvPr>
          <p:cNvSpPr txBox="1"/>
          <p:nvPr/>
        </p:nvSpPr>
        <p:spPr>
          <a:xfrm>
            <a:off x="2418794" y="3808080"/>
            <a:ext cx="16561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in 2015 the first specimen (</a:t>
            </a:r>
            <a:r>
              <a:rPr lang="en-US" sz="1000" dirty="0" err="1"/>
              <a:t>myxomycete</a:t>
            </a:r>
            <a:r>
              <a:rPr lang="en-US" sz="1000" dirty="0"/>
              <a:t>) of slime molds were discovered          in the Namib dessert</a:t>
            </a:r>
          </a:p>
        </p:txBody>
      </p:sp>
      <p:pic>
        <p:nvPicPr>
          <p:cNvPr id="15" name="Picture 2" descr="https://www.sciencedaily.com/images/2015/04/150421142951_1_540x360.jpg">
            <a:extLst>
              <a:ext uri="{FF2B5EF4-FFF2-40B4-BE49-F238E27FC236}">
                <a16:creationId xmlns:a16="http://schemas.microsoft.com/office/drawing/2014/main" id="{2BDA35BF-CD7D-0ABB-0D01-7C4DA5FCC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33341" y="2571750"/>
            <a:ext cx="2448272" cy="1632181"/>
          </a:xfrm>
          <a:prstGeom prst="rect">
            <a:avLst/>
          </a:prstGeom>
          <a:noFill/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9563EECB-465B-8B5A-0551-9BB5287E906B}"/>
              </a:ext>
            </a:extLst>
          </p:cNvPr>
          <p:cNvSpPr txBox="1"/>
          <p:nvPr/>
        </p:nvSpPr>
        <p:spPr>
          <a:xfrm>
            <a:off x="6444207" y="4312136"/>
            <a:ext cx="24374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fruiting bodies of a </a:t>
            </a:r>
            <a:r>
              <a:rPr lang="en-US" sz="1000" dirty="0" err="1"/>
              <a:t>myxomycete</a:t>
            </a:r>
            <a:r>
              <a:rPr lang="en-US" sz="1000" dirty="0"/>
              <a:t> (small round white structures) on the decaying remains of a cactus-like plant.</a:t>
            </a:r>
          </a:p>
        </p:txBody>
      </p:sp>
    </p:spTree>
    <p:extLst>
      <p:ext uri="{BB962C8B-B14F-4D97-AF65-F5344CB8AC3E}">
        <p14:creationId xmlns:p14="http://schemas.microsoft.com/office/powerpoint/2010/main" val="3550107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B1DE6C-F549-5DEE-8345-AA3CB2329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Plasmodial slime mold amoebae generate geodesic-path minimizing networks, other may form aggregations that act as a single organism (1/ 2)</a:t>
            </a:r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3629779-46A2-21F0-745D-753D21A12811}"/>
              </a:ext>
            </a:extLst>
          </p:cNvPr>
          <p:cNvSpPr/>
          <p:nvPr/>
        </p:nvSpPr>
        <p:spPr>
          <a:xfrm>
            <a:off x="0" y="843558"/>
            <a:ext cx="9144000" cy="23042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https://thumbs.gfycat.com/OilyThreadbareHectorsdolphin-small.gif">
            <a:extLst>
              <a:ext uri="{FF2B5EF4-FFF2-40B4-BE49-F238E27FC236}">
                <a16:creationId xmlns:a16="http://schemas.microsoft.com/office/drawing/2014/main" id="{47EDBB0A-F100-CFE6-5E6E-62500716BC1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5678" y="915686"/>
            <a:ext cx="2880000" cy="2160000"/>
          </a:xfrm>
          <a:prstGeom prst="rect">
            <a:avLst/>
          </a:prstGeom>
          <a:noFill/>
        </p:spPr>
      </p:pic>
      <p:pic>
        <p:nvPicPr>
          <p:cNvPr id="5" name="Picture 4" descr="https://thumbs.gfycat.com/BriskDisguisedCanine-small.gif">
            <a:extLst>
              <a:ext uri="{FF2B5EF4-FFF2-40B4-BE49-F238E27FC236}">
                <a16:creationId xmlns:a16="http://schemas.microsoft.com/office/drawing/2014/main" id="{5DD23058-1F8C-42BE-65DC-B6B861BA352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37508" y="915686"/>
            <a:ext cx="2813023" cy="2160000"/>
          </a:xfrm>
          <a:prstGeom prst="rect">
            <a:avLst/>
          </a:prstGeom>
          <a:noFill/>
        </p:spPr>
      </p:pic>
      <p:pic>
        <p:nvPicPr>
          <p:cNvPr id="6" name="Picture 6" descr="https://thumbs.gfycat.com/EssentialLinedBlacknorwegianelkhound-small.gif">
            <a:extLst>
              <a:ext uri="{FF2B5EF4-FFF2-40B4-BE49-F238E27FC236}">
                <a16:creationId xmlns:a16="http://schemas.microsoft.com/office/drawing/2014/main" id="{B869D612-73D3-DEEB-646D-28FDA342E24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9512" y="915566"/>
            <a:ext cx="2814336" cy="2160240"/>
          </a:xfrm>
          <a:prstGeom prst="rect">
            <a:avLst/>
          </a:prstGeom>
          <a:noFill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4025FD3-4E03-511C-A6B3-1E6584E8A0D7}"/>
              </a:ext>
            </a:extLst>
          </p:cNvPr>
          <p:cNvSpPr txBox="1"/>
          <p:nvPr/>
        </p:nvSpPr>
        <p:spPr>
          <a:xfrm>
            <a:off x="3197526" y="3219822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Slime mold solving maze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FC1D16F-835B-C1EB-36BA-9DC44EB7796F}"/>
              </a:ext>
            </a:extLst>
          </p:cNvPr>
          <p:cNvSpPr txBox="1"/>
          <p:nvPr/>
        </p:nvSpPr>
        <p:spPr>
          <a:xfrm>
            <a:off x="218528" y="3219822"/>
            <a:ext cx="2736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Plasmodium moving over tree bark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FCF96DB-D2E2-4256-9622-49911FBE435C}"/>
              </a:ext>
            </a:extLst>
          </p:cNvPr>
          <p:cNvSpPr txBox="1"/>
          <p:nvPr/>
        </p:nvSpPr>
        <p:spPr>
          <a:xfrm>
            <a:off x="6175867" y="3219822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Tokyo rail network designed by </a:t>
            </a:r>
            <a:r>
              <a:rPr lang="en-US" sz="1200" dirty="0" err="1"/>
              <a:t>Physarum</a:t>
            </a:r>
            <a:r>
              <a:rPr lang="en-US" sz="1200" dirty="0"/>
              <a:t> plasmodium</a:t>
            </a:r>
          </a:p>
        </p:txBody>
      </p:sp>
    </p:spTree>
    <p:extLst>
      <p:ext uri="{BB962C8B-B14F-4D97-AF65-F5344CB8AC3E}">
        <p14:creationId xmlns:p14="http://schemas.microsoft.com/office/powerpoint/2010/main" val="2606047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C1142-7796-7E89-1668-E8E9CE8B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567B3-6D8C-58EB-D828-1DCBB359C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Plasmodial slime mold amoebae generate geodesic-path minimizing networks, other may form aggregations that act as a single organism (1/ 2)</a:t>
            </a:r>
            <a:endParaRPr lang="de-DE" dirty="0"/>
          </a:p>
        </p:txBody>
      </p:sp>
      <p:pic>
        <p:nvPicPr>
          <p:cNvPr id="10" name="Picture 8" descr="https://2.bp.blogspot.com/-EueO8h-s430/WiwQrAlRpTI/AAAAAAAACxs/HZMLsrmOktYzrdsdcYIs8Nda_KR9cfsggCLcBGAs/s1600/0_165d5_6e5754f4_L.jpg">
            <a:extLst>
              <a:ext uri="{FF2B5EF4-FFF2-40B4-BE49-F238E27FC236}">
                <a16:creationId xmlns:a16="http://schemas.microsoft.com/office/drawing/2014/main" id="{D5168883-A2F6-CC57-02C4-CCFD59FEC64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520" y="1131590"/>
            <a:ext cx="4762500" cy="2200275"/>
          </a:xfrm>
          <a:prstGeom prst="rect">
            <a:avLst/>
          </a:prstGeom>
          <a:noFill/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E5DA2BBE-BE11-0531-0C5E-7A2A0C192A44}"/>
              </a:ext>
            </a:extLst>
          </p:cNvPr>
          <p:cNvSpPr/>
          <p:nvPr/>
        </p:nvSpPr>
        <p:spPr>
          <a:xfrm>
            <a:off x="5292080" y="1131590"/>
            <a:ext cx="3600400" cy="2200275"/>
          </a:xfrm>
          <a:prstGeom prst="rect">
            <a:avLst/>
          </a:prstGeom>
          <a:noFill/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from the movement of (undifferentiated) single slime mold amoebae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towards</a:t>
            </a:r>
          </a:p>
          <a:p>
            <a:pPr algn="ctr"/>
            <a:endParaRPr lang="en-US" sz="1400">
              <a:solidFill>
                <a:schemeClr val="tx1"/>
              </a:solidFill>
            </a:endParaRPr>
          </a:p>
          <a:p>
            <a:pPr algn="ctr"/>
            <a:r>
              <a:rPr lang="en-US" sz="1400">
                <a:solidFill>
                  <a:schemeClr val="tx1"/>
                </a:solidFill>
              </a:rPr>
              <a:t>the movement of complete cell clusters (with a certain degree of differentiation) 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86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6D0115-64EF-86F1-42CE-459EBB0B0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the </a:t>
            </a:r>
            <a:r>
              <a:rPr lang="en-US" dirty="0" err="1"/>
              <a:t>taxiomatic</a:t>
            </a:r>
            <a:r>
              <a:rPr lang="en-US" dirty="0"/>
              <a:t> point of view slime molds belong to the kingdom of Protists and can be separated into plasmodial and cellular types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CD357F2-38F5-B1F0-5E4E-A252CE691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14" y="1065989"/>
            <a:ext cx="4680520" cy="403177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F074EB96-706C-097E-7E8E-1DFE52F8168F}"/>
              </a:ext>
            </a:extLst>
          </p:cNvPr>
          <p:cNvSpPr txBox="1"/>
          <p:nvPr/>
        </p:nvSpPr>
        <p:spPr>
          <a:xfrm>
            <a:off x="4341082" y="843558"/>
            <a:ext cx="48029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/>
              <a:t>http://botanystudies.com/classification-of-plant-kingdoms-with-diagrams/five-kingdom-classification-system/</a:t>
            </a:r>
          </a:p>
        </p:txBody>
      </p:sp>
      <p:sp>
        <p:nvSpPr>
          <p:cNvPr id="9" name="Abgerundetes Rechteck 5">
            <a:extLst>
              <a:ext uri="{FF2B5EF4-FFF2-40B4-BE49-F238E27FC236}">
                <a16:creationId xmlns:a16="http://schemas.microsoft.com/office/drawing/2014/main" id="{051C12F1-1456-F6B1-0108-1147051A4506}"/>
              </a:ext>
            </a:extLst>
          </p:cNvPr>
          <p:cNvSpPr/>
          <p:nvPr/>
        </p:nvSpPr>
        <p:spPr>
          <a:xfrm>
            <a:off x="6048672" y="1851670"/>
            <a:ext cx="1475656" cy="360040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Slime Molds (SM)</a:t>
            </a:r>
          </a:p>
        </p:txBody>
      </p:sp>
      <p:sp>
        <p:nvSpPr>
          <p:cNvPr id="10" name="Abgerundetes Rechteck 6">
            <a:extLst>
              <a:ext uri="{FF2B5EF4-FFF2-40B4-BE49-F238E27FC236}">
                <a16:creationId xmlns:a16="http://schemas.microsoft.com/office/drawing/2014/main" id="{49318437-E008-099F-36F7-A85E4F8A8D6B}"/>
              </a:ext>
            </a:extLst>
          </p:cNvPr>
          <p:cNvSpPr/>
          <p:nvPr/>
        </p:nvSpPr>
        <p:spPr>
          <a:xfrm>
            <a:off x="5256584" y="2427734"/>
            <a:ext cx="1475656" cy="360040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Plasmodial</a:t>
            </a:r>
            <a:r>
              <a:rPr lang="en-US" sz="1200" dirty="0"/>
              <a:t> SM</a:t>
            </a:r>
          </a:p>
        </p:txBody>
      </p:sp>
      <p:sp>
        <p:nvSpPr>
          <p:cNvPr id="11" name="Abgerundetes Rechteck 7">
            <a:extLst>
              <a:ext uri="{FF2B5EF4-FFF2-40B4-BE49-F238E27FC236}">
                <a16:creationId xmlns:a16="http://schemas.microsoft.com/office/drawing/2014/main" id="{F12CC216-FC37-7E41-B846-B9EF904626E1}"/>
              </a:ext>
            </a:extLst>
          </p:cNvPr>
          <p:cNvSpPr/>
          <p:nvPr/>
        </p:nvSpPr>
        <p:spPr>
          <a:xfrm>
            <a:off x="6840760" y="2427734"/>
            <a:ext cx="1475656" cy="360040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Cellular SM</a:t>
            </a:r>
          </a:p>
        </p:txBody>
      </p:sp>
      <p:cxnSp>
        <p:nvCxnSpPr>
          <p:cNvPr id="12" name="Form 9">
            <a:extLst>
              <a:ext uri="{FF2B5EF4-FFF2-40B4-BE49-F238E27FC236}">
                <a16:creationId xmlns:a16="http://schemas.microsoft.com/office/drawing/2014/main" id="{2E185D90-766C-E0B6-4B68-65927FBA51A0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6282444" y="1923678"/>
            <a:ext cx="216024" cy="792088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Gewinkelte Verbindung 12">
            <a:extLst>
              <a:ext uri="{FF2B5EF4-FFF2-40B4-BE49-F238E27FC236}">
                <a16:creationId xmlns:a16="http://schemas.microsoft.com/office/drawing/2014/main" id="{A1439A5B-2407-C428-D9AA-61AD2453EA77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rot="16200000" flipH="1">
            <a:off x="7074532" y="1923678"/>
            <a:ext cx="216024" cy="792088"/>
          </a:xfrm>
          <a:prstGeom prst="bentConnector3">
            <a:avLst>
              <a:gd name="adj1" fmla="val 50000"/>
            </a:avLst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Gerade Verbindung 14">
            <a:extLst>
              <a:ext uri="{FF2B5EF4-FFF2-40B4-BE49-F238E27FC236}">
                <a16:creationId xmlns:a16="http://schemas.microsoft.com/office/drawing/2014/main" id="{0B153DC6-9D20-C39D-6DB8-438D7402E3EA}"/>
              </a:ext>
            </a:extLst>
          </p:cNvPr>
          <p:cNvCxnSpPr>
            <a:cxnSpLocks/>
          </p:cNvCxnSpPr>
          <p:nvPr/>
        </p:nvCxnSpPr>
        <p:spPr>
          <a:xfrm flipV="1">
            <a:off x="4041322" y="2031690"/>
            <a:ext cx="1682806" cy="118813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1C1E3208-5867-2AF7-D7E3-AF326EBAEE11}"/>
              </a:ext>
            </a:extLst>
          </p:cNvPr>
          <p:cNvSpPr txBox="1"/>
          <p:nvPr/>
        </p:nvSpPr>
        <p:spPr>
          <a:xfrm>
            <a:off x="5274332" y="2859782"/>
            <a:ext cx="1440160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One large “</a:t>
            </a:r>
            <a:r>
              <a:rPr lang="en-US" sz="1000" dirty="0" err="1"/>
              <a:t>supercell</a:t>
            </a:r>
            <a:r>
              <a:rPr lang="en-US" sz="1000" dirty="0"/>
              <a:t>” (a </a:t>
            </a:r>
            <a:r>
              <a:rPr lang="en-US" sz="1000" dirty="0" err="1"/>
              <a:t>syncytium</a:t>
            </a:r>
            <a:r>
              <a:rPr lang="en-US" sz="1000" dirty="0"/>
              <a:t>) where the cytoplasm contains thousands of individual nuclei.</a:t>
            </a:r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  <a:p>
            <a:pPr algn="ctr"/>
            <a:endParaRPr lang="en-US" sz="1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082ECD62-CFA0-31FC-B577-C7B4D9375C7C}"/>
              </a:ext>
            </a:extLst>
          </p:cNvPr>
          <p:cNvSpPr txBox="1"/>
          <p:nvPr/>
        </p:nvSpPr>
        <p:spPr>
          <a:xfrm>
            <a:off x="6858508" y="2859782"/>
            <a:ext cx="1440160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Two distinct forms during life cycle: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US" sz="1000" dirty="0"/>
              <a:t>individual unicellular </a:t>
            </a:r>
            <a:r>
              <a:rPr lang="en-US" sz="1000" dirty="0" err="1"/>
              <a:t>protists</a:t>
            </a:r>
            <a:r>
              <a:rPr lang="en-US" sz="1000" dirty="0"/>
              <a:t> amoebae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US" sz="1000" dirty="0"/>
              <a:t>cluster of differentiated cells that acts as one organism</a:t>
            </a:r>
          </a:p>
        </p:txBody>
      </p:sp>
      <p:sp>
        <p:nvSpPr>
          <p:cNvPr id="17" name="Pfeil nach unten 18">
            <a:extLst>
              <a:ext uri="{FF2B5EF4-FFF2-40B4-BE49-F238E27FC236}">
                <a16:creationId xmlns:a16="http://schemas.microsoft.com/office/drawing/2014/main" id="{8C6249E7-3A71-B6B6-E26E-876452050481}"/>
              </a:ext>
            </a:extLst>
          </p:cNvPr>
          <p:cNvSpPr/>
          <p:nvPr/>
        </p:nvSpPr>
        <p:spPr>
          <a:xfrm rot="10800000">
            <a:off x="6966521" y="4443958"/>
            <a:ext cx="1224136" cy="576064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Gerade Verbindung 14">
            <a:extLst>
              <a:ext uri="{FF2B5EF4-FFF2-40B4-BE49-F238E27FC236}">
                <a16:creationId xmlns:a16="http://schemas.microsoft.com/office/drawing/2014/main" id="{6829EA8F-2757-A5A0-4E9E-8664A14CABAE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724128" y="2031690"/>
            <a:ext cx="324544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329917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key protagonist is the cellular slime mold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dirty="0"/>
              <a:t> that exhibits very interesting social life phases (1/ 3)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 l="52268" t="13734" r="13870" b="18367"/>
          <a:stretch>
            <a:fillRect/>
          </a:stretch>
        </p:blipFill>
        <p:spPr bwMode="auto">
          <a:xfrm>
            <a:off x="1507578" y="987574"/>
            <a:ext cx="6128845" cy="3456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feld 2"/>
          <p:cNvSpPr txBox="1"/>
          <p:nvPr/>
        </p:nvSpPr>
        <p:spPr>
          <a:xfrm>
            <a:off x="2411760" y="1131590"/>
            <a:ext cx="4320480" cy="3077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https://www.youtube.com/watch?v=5h8WOWEqP6o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152012" y="4731990"/>
            <a:ext cx="38164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/>
              <a:t>Dictyostelium</a:t>
            </a:r>
            <a:r>
              <a:rPr lang="it-IT" sz="1200" dirty="0"/>
              <a:t> - a </a:t>
            </a:r>
            <a:r>
              <a:rPr lang="it-IT" sz="1200" dirty="0" err="1"/>
              <a:t>Cellular</a:t>
            </a:r>
            <a:r>
              <a:rPr lang="it-IT" sz="1200" dirty="0"/>
              <a:t> </a:t>
            </a:r>
            <a:r>
              <a:rPr lang="it-IT" sz="1200" dirty="0" err="1"/>
              <a:t>Slime</a:t>
            </a:r>
            <a:r>
              <a:rPr lang="it-IT" sz="1200" dirty="0"/>
              <a:t> </a:t>
            </a:r>
            <a:r>
              <a:rPr lang="it-IT" sz="1200" dirty="0" err="1"/>
              <a:t>Mold</a:t>
            </a:r>
            <a:r>
              <a:rPr lang="it-IT" sz="1200" dirty="0"/>
              <a:t> (3:39 min)</a:t>
            </a:r>
          </a:p>
        </p:txBody>
      </p:sp>
      <p:sp>
        <p:nvSpPr>
          <p:cNvPr id="6" name="Interaktive Schaltfläche: Film 5">
            <a:hlinkClick r:id="" action="ppaction://noaction" highlightClick="1"/>
          </p:cNvPr>
          <p:cNvSpPr/>
          <p:nvPr/>
        </p:nvSpPr>
        <p:spPr>
          <a:xfrm>
            <a:off x="251520" y="3939902"/>
            <a:ext cx="720080" cy="720080"/>
          </a:xfrm>
          <a:prstGeom prst="actionButtonMovi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0" y="843558"/>
            <a:ext cx="9144000" cy="42999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key protagonist is the cellular slime mold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dirty="0"/>
              <a:t> that exhibits very interesting social life phases (2/ 3)</a:t>
            </a:r>
          </a:p>
        </p:txBody>
      </p:sp>
      <p:pic>
        <p:nvPicPr>
          <p:cNvPr id="3" name="Picture 2" descr="http://murid.info/wp-content/uploads/2016/05/Dyctyosteliu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4248" y="843558"/>
            <a:ext cx="5935504" cy="4299942"/>
          </a:xfrm>
          <a:prstGeom prst="rect">
            <a:avLst/>
          </a:prstGeom>
          <a:noFill/>
        </p:spPr>
      </p:pic>
      <p:sp>
        <p:nvSpPr>
          <p:cNvPr id="7" name="Textfeld 6"/>
          <p:cNvSpPr txBox="1"/>
          <p:nvPr/>
        </p:nvSpPr>
        <p:spPr>
          <a:xfrm>
            <a:off x="5903641" y="4743390"/>
            <a:ext cx="3240359" cy="4001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Copyright, M.J. </a:t>
            </a:r>
            <a:r>
              <a:rPr lang="en-US" sz="1000" dirty="0" err="1"/>
              <a:t>Grimson</a:t>
            </a:r>
            <a:r>
              <a:rPr lang="en-US" sz="1000" dirty="0"/>
              <a:t> &amp; R.L. Blanton, Biological Sciences Electron Microscopy Laboratory, Texas Tech University</a:t>
            </a:r>
          </a:p>
        </p:txBody>
      </p:sp>
      <p:pic>
        <p:nvPicPr>
          <p:cNvPr id="8" name="Picture 2" descr="https://upload.wikimedia.org/wikipedia/commons/d/dd/Klimag%C3%BCrtel-der-erde-warmgem%C3%A4%C3%9Figte-zon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496" y="879562"/>
            <a:ext cx="3240359" cy="16201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key protagonist is the cellular slime mold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dirty="0"/>
              <a:t> that exhibits very interesting social life phases (3/ 3) </a:t>
            </a:r>
          </a:p>
        </p:txBody>
      </p:sp>
      <p:sp>
        <p:nvSpPr>
          <p:cNvPr id="3" name="Textfeld 2"/>
          <p:cNvSpPr txBox="1"/>
          <p:nvPr/>
        </p:nvSpPr>
        <p:spPr>
          <a:xfrm rot="16200000">
            <a:off x="-1944690" y="2860256"/>
            <a:ext cx="4227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800" dirty="0" err="1"/>
              <a:t>based</a:t>
            </a:r>
            <a:r>
              <a:rPr lang="it-IT" sz="800" dirty="0"/>
              <a:t> on Fig. 1 </a:t>
            </a:r>
            <a:r>
              <a:rPr lang="it-IT" sz="800" dirty="0" err="1"/>
              <a:t>from</a:t>
            </a:r>
            <a:r>
              <a:rPr lang="it-IT" sz="800" dirty="0"/>
              <a:t> the </a:t>
            </a:r>
            <a:r>
              <a:rPr lang="it-IT" sz="800" dirty="0" err="1"/>
              <a:t>review</a:t>
            </a:r>
            <a:r>
              <a:rPr lang="it-IT" sz="800" dirty="0"/>
              <a:t> </a:t>
            </a:r>
            <a:r>
              <a:rPr lang="it-IT" sz="800" dirty="0" err="1"/>
              <a:t>article</a:t>
            </a:r>
            <a:r>
              <a:rPr lang="it-IT" sz="800" dirty="0"/>
              <a:t> </a:t>
            </a:r>
            <a:r>
              <a:rPr lang="it-IT" sz="800" dirty="0" err="1"/>
              <a:t>Si.I.</a:t>
            </a:r>
            <a:r>
              <a:rPr lang="it-IT" sz="800" dirty="0"/>
              <a:t> Li &amp; M.D. </a:t>
            </a:r>
            <a:r>
              <a:rPr lang="it-IT" sz="800" dirty="0" err="1"/>
              <a:t>Purugganan</a:t>
            </a:r>
            <a:r>
              <a:rPr lang="it-IT" sz="800" dirty="0"/>
              <a:t> (2011): </a:t>
            </a:r>
            <a:r>
              <a:rPr lang="it-IT" sz="800" i="1" dirty="0"/>
              <a:t>The cooperative </a:t>
            </a:r>
            <a:r>
              <a:rPr lang="it-IT" sz="800" i="1" dirty="0" err="1"/>
              <a:t>amoeba</a:t>
            </a:r>
            <a:r>
              <a:rPr lang="it-IT" sz="800" i="1" dirty="0"/>
              <a:t>: </a:t>
            </a:r>
            <a:r>
              <a:rPr lang="it-IT" sz="800" i="1" dirty="0" err="1"/>
              <a:t>Dictyostelium</a:t>
            </a:r>
            <a:r>
              <a:rPr lang="it-IT" sz="800" i="1" dirty="0"/>
              <a:t> </a:t>
            </a:r>
            <a:r>
              <a:rPr lang="it-IT" sz="800" i="1" dirty="0" err="1"/>
              <a:t>as</a:t>
            </a:r>
            <a:r>
              <a:rPr lang="it-IT" sz="800" i="1" dirty="0"/>
              <a:t> a </a:t>
            </a:r>
            <a:r>
              <a:rPr lang="it-IT" sz="800" i="1" dirty="0" err="1"/>
              <a:t>model</a:t>
            </a:r>
            <a:r>
              <a:rPr lang="it-IT" sz="800" i="1" dirty="0"/>
              <a:t> </a:t>
            </a:r>
            <a:r>
              <a:rPr lang="it-IT" sz="800" i="1" dirty="0" err="1"/>
              <a:t>for</a:t>
            </a:r>
            <a:r>
              <a:rPr lang="it-IT" sz="800" i="1" dirty="0"/>
              <a:t> social </a:t>
            </a:r>
            <a:r>
              <a:rPr lang="it-IT" sz="800" i="1" dirty="0" err="1"/>
              <a:t>evolution</a:t>
            </a:r>
            <a:r>
              <a:rPr lang="it-IT" sz="800" dirty="0"/>
              <a:t>, </a:t>
            </a:r>
            <a:r>
              <a:rPr lang="it-IT" sz="800" dirty="0" err="1"/>
              <a:t>Trends</a:t>
            </a:r>
            <a:r>
              <a:rPr lang="it-IT" sz="800" dirty="0"/>
              <a:t> in </a:t>
            </a:r>
            <a:r>
              <a:rPr lang="it-IT" sz="800" dirty="0" err="1"/>
              <a:t>Genetics</a:t>
            </a:r>
            <a:r>
              <a:rPr lang="en-US" sz="800" dirty="0"/>
              <a:t>, 27 (2), pp. 48-54</a:t>
            </a:r>
            <a:endParaRPr lang="it-IT" sz="800" dirty="0"/>
          </a:p>
        </p:txBody>
      </p:sp>
      <p:grpSp>
        <p:nvGrpSpPr>
          <p:cNvPr id="4" name="Gruppieren 93"/>
          <p:cNvGrpSpPr/>
          <p:nvPr/>
        </p:nvGrpSpPr>
        <p:grpSpPr>
          <a:xfrm>
            <a:off x="6984124" y="1268760"/>
            <a:ext cx="1820696" cy="720080"/>
            <a:chOff x="6732240" y="1139842"/>
            <a:chExt cx="1820696" cy="720080"/>
          </a:xfrm>
        </p:grpSpPr>
        <p:sp>
          <p:nvSpPr>
            <p:cNvPr id="5" name="Ellipse 4"/>
            <p:cNvSpPr/>
            <p:nvPr/>
          </p:nvSpPr>
          <p:spPr>
            <a:xfrm>
              <a:off x="6732240" y="1139842"/>
              <a:ext cx="288032" cy="288032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Ellipse 5"/>
            <p:cNvSpPr/>
            <p:nvPr/>
          </p:nvSpPr>
          <p:spPr>
            <a:xfrm>
              <a:off x="6732240" y="1571890"/>
              <a:ext cx="288032" cy="28803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7092280" y="1160748"/>
              <a:ext cx="13740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sufficient food supply</a:t>
              </a:r>
            </a:p>
          </p:txBody>
        </p:sp>
        <p:sp>
          <p:nvSpPr>
            <p:cNvPr id="8" name="Textfeld 7"/>
            <p:cNvSpPr txBox="1"/>
            <p:nvPr/>
          </p:nvSpPr>
          <p:spPr>
            <a:xfrm>
              <a:off x="7092280" y="1592796"/>
              <a:ext cx="14606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scarcity in food supply</a:t>
              </a:r>
            </a:p>
          </p:txBody>
        </p:sp>
      </p:grpSp>
      <p:sp>
        <p:nvSpPr>
          <p:cNvPr id="9" name="Textfeld 8"/>
          <p:cNvSpPr txBox="1"/>
          <p:nvPr/>
        </p:nvSpPr>
        <p:spPr>
          <a:xfrm>
            <a:off x="7020273" y="2132856"/>
            <a:ext cx="1872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C00000"/>
                </a:solidFill>
              </a:rPr>
              <a:t>several life-stages involve </a:t>
            </a:r>
            <a:r>
              <a:rPr lang="en-US" sz="1000" dirty="0" err="1">
                <a:solidFill>
                  <a:srgbClr val="C00000"/>
                </a:solidFill>
              </a:rPr>
              <a:t>cAMP</a:t>
            </a:r>
            <a:r>
              <a:rPr lang="en-US" sz="1000" dirty="0">
                <a:solidFill>
                  <a:srgbClr val="C00000"/>
                </a:solidFill>
              </a:rPr>
              <a:t> signaling</a:t>
            </a:r>
          </a:p>
        </p:txBody>
      </p:sp>
      <p:sp>
        <p:nvSpPr>
          <p:cNvPr id="10" name="Ellipse 9"/>
          <p:cNvSpPr/>
          <p:nvPr/>
        </p:nvSpPr>
        <p:spPr>
          <a:xfrm>
            <a:off x="755576" y="1065560"/>
            <a:ext cx="3266630" cy="398883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lipse 10"/>
          <p:cNvSpPr/>
          <p:nvPr/>
        </p:nvSpPr>
        <p:spPr>
          <a:xfrm>
            <a:off x="4108513" y="2452982"/>
            <a:ext cx="3584174" cy="2601416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/>
          <p:cNvSpPr/>
          <p:nvPr/>
        </p:nvSpPr>
        <p:spPr>
          <a:xfrm>
            <a:off x="3877276" y="949941"/>
            <a:ext cx="1560850" cy="15608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/>
          <p:cNvSpPr/>
          <p:nvPr/>
        </p:nvSpPr>
        <p:spPr>
          <a:xfrm>
            <a:off x="3561007" y="2093891"/>
            <a:ext cx="1302391" cy="113783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Ellipse 13"/>
          <p:cNvSpPr/>
          <p:nvPr/>
        </p:nvSpPr>
        <p:spPr>
          <a:xfrm>
            <a:off x="3819466" y="2337363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llipse 14"/>
          <p:cNvSpPr/>
          <p:nvPr/>
        </p:nvSpPr>
        <p:spPr>
          <a:xfrm>
            <a:off x="3935085" y="2395172"/>
            <a:ext cx="57809" cy="5780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Ellipse 15"/>
          <p:cNvSpPr/>
          <p:nvPr/>
        </p:nvSpPr>
        <p:spPr>
          <a:xfrm>
            <a:off x="4224131" y="2337363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Ellipse 16"/>
          <p:cNvSpPr/>
          <p:nvPr/>
        </p:nvSpPr>
        <p:spPr>
          <a:xfrm>
            <a:off x="4339750" y="2395172"/>
            <a:ext cx="57809" cy="578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Ellipse 17"/>
          <p:cNvSpPr/>
          <p:nvPr/>
        </p:nvSpPr>
        <p:spPr>
          <a:xfrm>
            <a:off x="3646039" y="2568600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Ellipse 18"/>
          <p:cNvSpPr/>
          <p:nvPr/>
        </p:nvSpPr>
        <p:spPr>
          <a:xfrm>
            <a:off x="3761657" y="2626409"/>
            <a:ext cx="57809" cy="5780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Ellipse 19"/>
          <p:cNvSpPr/>
          <p:nvPr/>
        </p:nvSpPr>
        <p:spPr>
          <a:xfrm>
            <a:off x="3819466" y="2799837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Ellipse 20"/>
          <p:cNvSpPr/>
          <p:nvPr/>
        </p:nvSpPr>
        <p:spPr>
          <a:xfrm>
            <a:off x="3935085" y="2857646"/>
            <a:ext cx="57809" cy="578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llipse 21"/>
          <p:cNvSpPr/>
          <p:nvPr/>
        </p:nvSpPr>
        <p:spPr>
          <a:xfrm>
            <a:off x="4224131" y="2799837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llipse 22"/>
          <p:cNvSpPr/>
          <p:nvPr/>
        </p:nvSpPr>
        <p:spPr>
          <a:xfrm>
            <a:off x="4339750" y="2857646"/>
            <a:ext cx="57809" cy="578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Ellipse 23"/>
          <p:cNvSpPr/>
          <p:nvPr/>
        </p:nvSpPr>
        <p:spPr>
          <a:xfrm>
            <a:off x="4455368" y="2568600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Ellipse 24"/>
          <p:cNvSpPr/>
          <p:nvPr/>
        </p:nvSpPr>
        <p:spPr>
          <a:xfrm>
            <a:off x="4513177" y="2626409"/>
            <a:ext cx="57809" cy="5780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Ellipse 25"/>
          <p:cNvSpPr/>
          <p:nvPr/>
        </p:nvSpPr>
        <p:spPr>
          <a:xfrm>
            <a:off x="4050703" y="2568600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Ellipse 26"/>
          <p:cNvSpPr/>
          <p:nvPr/>
        </p:nvSpPr>
        <p:spPr>
          <a:xfrm>
            <a:off x="4166322" y="2626409"/>
            <a:ext cx="57809" cy="578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Ellipse 27"/>
          <p:cNvSpPr/>
          <p:nvPr/>
        </p:nvSpPr>
        <p:spPr>
          <a:xfrm>
            <a:off x="3935085" y="1643652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llipse 28"/>
          <p:cNvSpPr/>
          <p:nvPr/>
        </p:nvSpPr>
        <p:spPr>
          <a:xfrm>
            <a:off x="4050703" y="1701461"/>
            <a:ext cx="57809" cy="578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Ellipse 29"/>
          <p:cNvSpPr/>
          <p:nvPr/>
        </p:nvSpPr>
        <p:spPr>
          <a:xfrm>
            <a:off x="4860033" y="1817080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Ellipse 30"/>
          <p:cNvSpPr/>
          <p:nvPr/>
        </p:nvSpPr>
        <p:spPr>
          <a:xfrm>
            <a:off x="4975651" y="1874889"/>
            <a:ext cx="57809" cy="578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Ellipse 31"/>
          <p:cNvSpPr/>
          <p:nvPr/>
        </p:nvSpPr>
        <p:spPr>
          <a:xfrm>
            <a:off x="5033461" y="1585843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Ellipse 32"/>
          <p:cNvSpPr/>
          <p:nvPr/>
        </p:nvSpPr>
        <p:spPr>
          <a:xfrm>
            <a:off x="5149079" y="1643652"/>
            <a:ext cx="57809" cy="578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Ellipse 33"/>
          <p:cNvSpPr/>
          <p:nvPr/>
        </p:nvSpPr>
        <p:spPr>
          <a:xfrm>
            <a:off x="4108513" y="1701461"/>
            <a:ext cx="57809" cy="578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Ellipse 34"/>
          <p:cNvSpPr/>
          <p:nvPr/>
        </p:nvSpPr>
        <p:spPr>
          <a:xfrm>
            <a:off x="4397559" y="1065560"/>
            <a:ext cx="520283" cy="231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Ellipse 35"/>
          <p:cNvSpPr/>
          <p:nvPr/>
        </p:nvSpPr>
        <p:spPr>
          <a:xfrm>
            <a:off x="4744414" y="1150130"/>
            <a:ext cx="57809" cy="578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llipse 36"/>
          <p:cNvSpPr/>
          <p:nvPr/>
        </p:nvSpPr>
        <p:spPr>
          <a:xfrm>
            <a:off x="4513177" y="1150130"/>
            <a:ext cx="57809" cy="578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Bogen 37"/>
          <p:cNvSpPr/>
          <p:nvPr/>
        </p:nvSpPr>
        <p:spPr>
          <a:xfrm rot="10406677">
            <a:off x="4091270" y="1522917"/>
            <a:ext cx="422929" cy="734897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Bogen 38"/>
          <p:cNvSpPr/>
          <p:nvPr/>
        </p:nvSpPr>
        <p:spPr>
          <a:xfrm rot="20406083">
            <a:off x="4799043" y="1231214"/>
            <a:ext cx="422929" cy="734897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Bogen 39"/>
          <p:cNvSpPr/>
          <p:nvPr/>
        </p:nvSpPr>
        <p:spPr>
          <a:xfrm rot="14986992">
            <a:off x="4193247" y="1118871"/>
            <a:ext cx="561107" cy="818323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Bogen 40"/>
          <p:cNvSpPr/>
          <p:nvPr/>
        </p:nvSpPr>
        <p:spPr>
          <a:xfrm rot="4262265">
            <a:off x="4428889" y="1769021"/>
            <a:ext cx="422929" cy="734897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feld 41"/>
          <p:cNvSpPr txBox="1"/>
          <p:nvPr/>
        </p:nvSpPr>
        <p:spPr>
          <a:xfrm>
            <a:off x="4224131" y="1412415"/>
            <a:ext cx="819818" cy="420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vegetative</a:t>
            </a:r>
          </a:p>
          <a:p>
            <a:pPr algn="ctr"/>
            <a:r>
              <a:rPr lang="en-US" sz="1400" dirty="0"/>
              <a:t>cycle</a:t>
            </a:r>
          </a:p>
        </p:txBody>
      </p:sp>
      <p:sp>
        <p:nvSpPr>
          <p:cNvPr id="43" name="Ellipse 42"/>
          <p:cNvSpPr/>
          <p:nvPr/>
        </p:nvSpPr>
        <p:spPr>
          <a:xfrm>
            <a:off x="5438125" y="2626409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Ellipse 43"/>
          <p:cNvSpPr/>
          <p:nvPr/>
        </p:nvSpPr>
        <p:spPr>
          <a:xfrm>
            <a:off x="5553744" y="2684219"/>
            <a:ext cx="57809" cy="578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Ellipse 44"/>
          <p:cNvSpPr/>
          <p:nvPr/>
        </p:nvSpPr>
        <p:spPr>
          <a:xfrm>
            <a:off x="5784981" y="2510791"/>
            <a:ext cx="346856" cy="17342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Ellipse 45"/>
          <p:cNvSpPr/>
          <p:nvPr/>
        </p:nvSpPr>
        <p:spPr>
          <a:xfrm>
            <a:off x="5900599" y="2568600"/>
            <a:ext cx="57809" cy="5780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Ellipse 46"/>
          <p:cNvSpPr/>
          <p:nvPr/>
        </p:nvSpPr>
        <p:spPr>
          <a:xfrm>
            <a:off x="6652120" y="2973265"/>
            <a:ext cx="520283" cy="231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Ellipse 47"/>
          <p:cNvSpPr/>
          <p:nvPr/>
        </p:nvSpPr>
        <p:spPr>
          <a:xfrm>
            <a:off x="6941166" y="3057835"/>
            <a:ext cx="57809" cy="5780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Ellipse 48"/>
          <p:cNvSpPr/>
          <p:nvPr/>
        </p:nvSpPr>
        <p:spPr>
          <a:xfrm>
            <a:off x="6873161" y="3057835"/>
            <a:ext cx="57809" cy="5780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ad 49"/>
          <p:cNvSpPr/>
          <p:nvPr/>
        </p:nvSpPr>
        <p:spPr>
          <a:xfrm>
            <a:off x="5842790" y="4360687"/>
            <a:ext cx="578093" cy="578093"/>
          </a:xfrm>
          <a:prstGeom prst="donut">
            <a:avLst>
              <a:gd name="adj" fmla="val 1698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1" name="Rad 50"/>
          <p:cNvSpPr/>
          <p:nvPr/>
        </p:nvSpPr>
        <p:spPr>
          <a:xfrm>
            <a:off x="4513177" y="3956022"/>
            <a:ext cx="578093" cy="578093"/>
          </a:xfrm>
          <a:prstGeom prst="donut">
            <a:avLst>
              <a:gd name="adj" fmla="val 16985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2" name="Gleichschenkliges Dreieck 51"/>
          <p:cNvSpPr/>
          <p:nvPr/>
        </p:nvSpPr>
        <p:spPr>
          <a:xfrm rot="13635003">
            <a:off x="4725484" y="3745415"/>
            <a:ext cx="491786" cy="63590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Bogen 52"/>
          <p:cNvSpPr/>
          <p:nvPr/>
        </p:nvSpPr>
        <p:spPr>
          <a:xfrm rot="18987315">
            <a:off x="6300499" y="2574472"/>
            <a:ext cx="546785" cy="960112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Bogen 53"/>
          <p:cNvSpPr/>
          <p:nvPr/>
        </p:nvSpPr>
        <p:spPr>
          <a:xfrm rot="3218246" flipV="1">
            <a:off x="4954225" y="2242442"/>
            <a:ext cx="422929" cy="734897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Bogen 54"/>
          <p:cNvSpPr/>
          <p:nvPr/>
        </p:nvSpPr>
        <p:spPr>
          <a:xfrm rot="11442036">
            <a:off x="4410843" y="2960433"/>
            <a:ext cx="561106" cy="818323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Bogen 55"/>
          <p:cNvSpPr/>
          <p:nvPr/>
        </p:nvSpPr>
        <p:spPr>
          <a:xfrm rot="7905221">
            <a:off x="5074154" y="3704473"/>
            <a:ext cx="727944" cy="1055000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feld 56"/>
          <p:cNvSpPr txBox="1"/>
          <p:nvPr/>
        </p:nvSpPr>
        <p:spPr>
          <a:xfrm>
            <a:off x="5264698" y="3262311"/>
            <a:ext cx="956438" cy="2470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sexual cycle</a:t>
            </a:r>
          </a:p>
        </p:txBody>
      </p:sp>
      <p:sp>
        <p:nvSpPr>
          <p:cNvPr id="58" name="Textfeld 57"/>
          <p:cNvSpPr txBox="1"/>
          <p:nvPr/>
        </p:nvSpPr>
        <p:spPr>
          <a:xfrm>
            <a:off x="5784981" y="2799837"/>
            <a:ext cx="711923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err="1"/>
              <a:t>habloid</a:t>
            </a:r>
            <a:r>
              <a:rPr lang="en-US" sz="1000" dirty="0"/>
              <a:t> cells</a:t>
            </a:r>
          </a:p>
        </p:txBody>
      </p:sp>
      <p:sp>
        <p:nvSpPr>
          <p:cNvPr id="59" name="Textfeld 58"/>
          <p:cNvSpPr txBox="1"/>
          <p:nvPr/>
        </p:nvSpPr>
        <p:spPr>
          <a:xfrm>
            <a:off x="4108513" y="3782594"/>
            <a:ext cx="683611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germination</a:t>
            </a:r>
          </a:p>
        </p:txBody>
      </p:sp>
      <p:sp>
        <p:nvSpPr>
          <p:cNvPr id="60" name="Textfeld 59"/>
          <p:cNvSpPr txBox="1"/>
          <p:nvPr/>
        </p:nvSpPr>
        <p:spPr>
          <a:xfrm>
            <a:off x="5264698" y="4765352"/>
            <a:ext cx="616692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err="1"/>
              <a:t>macrocyst</a:t>
            </a:r>
            <a:endParaRPr lang="en-US" sz="1000" dirty="0"/>
          </a:p>
        </p:txBody>
      </p:sp>
      <p:sp>
        <p:nvSpPr>
          <p:cNvPr id="61" name="Textfeld 60"/>
          <p:cNvSpPr txBox="1"/>
          <p:nvPr/>
        </p:nvSpPr>
        <p:spPr>
          <a:xfrm>
            <a:off x="6825547" y="4129450"/>
            <a:ext cx="690046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cannibalism</a:t>
            </a:r>
          </a:p>
        </p:txBody>
      </p:sp>
      <p:sp>
        <p:nvSpPr>
          <p:cNvPr id="62" name="Textfeld 61"/>
          <p:cNvSpPr txBox="1"/>
          <p:nvPr/>
        </p:nvSpPr>
        <p:spPr>
          <a:xfrm>
            <a:off x="6709929" y="3262311"/>
            <a:ext cx="449393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zygote</a:t>
            </a:r>
          </a:p>
        </p:txBody>
      </p:sp>
      <p:sp>
        <p:nvSpPr>
          <p:cNvPr id="63" name="Ellipse 62"/>
          <p:cNvSpPr/>
          <p:nvPr/>
        </p:nvSpPr>
        <p:spPr>
          <a:xfrm>
            <a:off x="6883357" y="3724785"/>
            <a:ext cx="520283" cy="3401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Bogen 63"/>
          <p:cNvSpPr/>
          <p:nvPr/>
        </p:nvSpPr>
        <p:spPr>
          <a:xfrm rot="1011425">
            <a:off x="6807398" y="3233401"/>
            <a:ext cx="422929" cy="734897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Bogen 64"/>
          <p:cNvSpPr/>
          <p:nvPr/>
        </p:nvSpPr>
        <p:spPr>
          <a:xfrm rot="4241518">
            <a:off x="6279263" y="4025258"/>
            <a:ext cx="422929" cy="734897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Ellipse 65"/>
          <p:cNvSpPr/>
          <p:nvPr/>
        </p:nvSpPr>
        <p:spPr>
          <a:xfrm>
            <a:off x="7073530" y="3824880"/>
            <a:ext cx="139936" cy="139936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7" name="Ellipse 66"/>
          <p:cNvSpPr/>
          <p:nvPr/>
        </p:nvSpPr>
        <p:spPr>
          <a:xfrm>
            <a:off x="6883357" y="3666976"/>
            <a:ext cx="173428" cy="1156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Ellipse 67"/>
          <p:cNvSpPr/>
          <p:nvPr/>
        </p:nvSpPr>
        <p:spPr>
          <a:xfrm>
            <a:off x="6767738" y="3782594"/>
            <a:ext cx="173428" cy="1156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Ellipse 68"/>
          <p:cNvSpPr/>
          <p:nvPr/>
        </p:nvSpPr>
        <p:spPr>
          <a:xfrm>
            <a:off x="6652120" y="3666976"/>
            <a:ext cx="173428" cy="1156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Ellipse 69"/>
          <p:cNvSpPr/>
          <p:nvPr/>
        </p:nvSpPr>
        <p:spPr>
          <a:xfrm>
            <a:off x="6767738" y="3956022"/>
            <a:ext cx="173428" cy="1156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Ellipse 70"/>
          <p:cNvSpPr/>
          <p:nvPr/>
        </p:nvSpPr>
        <p:spPr>
          <a:xfrm>
            <a:off x="7230212" y="3666976"/>
            <a:ext cx="173428" cy="1156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Ellipse 71"/>
          <p:cNvSpPr/>
          <p:nvPr/>
        </p:nvSpPr>
        <p:spPr>
          <a:xfrm>
            <a:off x="7403640" y="3782594"/>
            <a:ext cx="173428" cy="1156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Ellipse 72"/>
          <p:cNvSpPr/>
          <p:nvPr/>
        </p:nvSpPr>
        <p:spPr>
          <a:xfrm>
            <a:off x="7403640" y="3956022"/>
            <a:ext cx="173428" cy="1156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Ellipse 73"/>
          <p:cNvSpPr/>
          <p:nvPr/>
        </p:nvSpPr>
        <p:spPr>
          <a:xfrm>
            <a:off x="6998975" y="4013831"/>
            <a:ext cx="173428" cy="1156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Ellipse 74"/>
          <p:cNvSpPr/>
          <p:nvPr/>
        </p:nvSpPr>
        <p:spPr>
          <a:xfrm>
            <a:off x="7230212" y="4013831"/>
            <a:ext cx="173428" cy="1156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Ellipse 75"/>
          <p:cNvSpPr/>
          <p:nvPr/>
        </p:nvSpPr>
        <p:spPr>
          <a:xfrm>
            <a:off x="6594310" y="3898213"/>
            <a:ext cx="173428" cy="115619"/>
          </a:xfrm>
          <a:prstGeom prst="ellipse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uppieren 94"/>
          <p:cNvGrpSpPr/>
          <p:nvPr/>
        </p:nvGrpSpPr>
        <p:grpSpPr>
          <a:xfrm>
            <a:off x="4804976" y="3724785"/>
            <a:ext cx="578093" cy="355749"/>
            <a:chOff x="5364088" y="4581128"/>
            <a:chExt cx="936104" cy="576064"/>
          </a:xfrm>
        </p:grpSpPr>
        <p:sp>
          <p:nvSpPr>
            <p:cNvPr id="78" name="Ellipse 77"/>
            <p:cNvSpPr/>
            <p:nvPr/>
          </p:nvSpPr>
          <p:spPr>
            <a:xfrm>
              <a:off x="5652120" y="4941168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Ellipse 78"/>
            <p:cNvSpPr/>
            <p:nvPr/>
          </p:nvSpPr>
          <p:spPr>
            <a:xfrm>
              <a:off x="5796136" y="5013176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Ellipse 79"/>
            <p:cNvSpPr/>
            <p:nvPr/>
          </p:nvSpPr>
          <p:spPr>
            <a:xfrm>
              <a:off x="5364088" y="4581128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Ellipse 80"/>
            <p:cNvSpPr/>
            <p:nvPr/>
          </p:nvSpPr>
          <p:spPr>
            <a:xfrm>
              <a:off x="5508104" y="4653136"/>
              <a:ext cx="72008" cy="7200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Ellipse 81"/>
            <p:cNvSpPr/>
            <p:nvPr/>
          </p:nvSpPr>
          <p:spPr>
            <a:xfrm>
              <a:off x="5868144" y="4653136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Ellipse 82"/>
            <p:cNvSpPr/>
            <p:nvPr/>
          </p:nvSpPr>
          <p:spPr>
            <a:xfrm>
              <a:off x="6012160" y="4725144"/>
              <a:ext cx="72008" cy="7200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4" name="Gleichschenkliges Dreieck 83"/>
          <p:cNvSpPr/>
          <p:nvPr/>
        </p:nvSpPr>
        <p:spPr>
          <a:xfrm>
            <a:off x="2721091" y="1238987"/>
            <a:ext cx="115619" cy="635902"/>
          </a:xfrm>
          <a:prstGeom prst="triangl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Ellipse 84"/>
          <p:cNvSpPr/>
          <p:nvPr/>
        </p:nvSpPr>
        <p:spPr>
          <a:xfrm>
            <a:off x="2663281" y="1238987"/>
            <a:ext cx="231237" cy="2312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Bogen 85"/>
          <p:cNvSpPr/>
          <p:nvPr/>
        </p:nvSpPr>
        <p:spPr>
          <a:xfrm rot="20461992">
            <a:off x="2633714" y="1605008"/>
            <a:ext cx="997277" cy="1501320"/>
          </a:xfrm>
          <a:prstGeom prst="arc">
            <a:avLst>
              <a:gd name="adj1" fmla="val 1655642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feld 86"/>
          <p:cNvSpPr txBox="1"/>
          <p:nvPr/>
        </p:nvSpPr>
        <p:spPr>
          <a:xfrm>
            <a:off x="1853952" y="1238987"/>
            <a:ext cx="705489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fruiting body</a:t>
            </a:r>
          </a:p>
        </p:txBody>
      </p:sp>
      <p:sp>
        <p:nvSpPr>
          <p:cNvPr id="88" name="Textfeld 87"/>
          <p:cNvSpPr txBox="1"/>
          <p:nvPr/>
        </p:nvSpPr>
        <p:spPr>
          <a:xfrm>
            <a:off x="2316426" y="2395172"/>
            <a:ext cx="908822" cy="2470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social cycle</a:t>
            </a:r>
          </a:p>
        </p:txBody>
      </p:sp>
      <p:sp>
        <p:nvSpPr>
          <p:cNvPr id="89" name="Stern mit 12 Zacken 88"/>
          <p:cNvSpPr/>
          <p:nvPr/>
        </p:nvSpPr>
        <p:spPr>
          <a:xfrm>
            <a:off x="2952328" y="3493548"/>
            <a:ext cx="693711" cy="751520"/>
          </a:xfrm>
          <a:prstGeom prst="star12">
            <a:avLst>
              <a:gd name="adj" fmla="val 13080"/>
            </a:avLst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Bogen 89"/>
          <p:cNvSpPr/>
          <p:nvPr/>
        </p:nvSpPr>
        <p:spPr>
          <a:xfrm rot="2977413">
            <a:off x="3215585" y="3004946"/>
            <a:ext cx="422929" cy="734897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feld 90"/>
          <p:cNvSpPr txBox="1"/>
          <p:nvPr/>
        </p:nvSpPr>
        <p:spPr>
          <a:xfrm>
            <a:off x="2951144" y="4245068"/>
            <a:ext cx="570362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err="1"/>
              <a:t>sreaming</a:t>
            </a:r>
            <a:endParaRPr lang="en-US" sz="1000" dirty="0"/>
          </a:p>
        </p:txBody>
      </p:sp>
      <p:sp>
        <p:nvSpPr>
          <p:cNvPr id="92" name="Freihandform 91"/>
          <p:cNvSpPr/>
          <p:nvPr/>
        </p:nvSpPr>
        <p:spPr>
          <a:xfrm>
            <a:off x="2027379" y="4476305"/>
            <a:ext cx="721861" cy="292619"/>
          </a:xfrm>
          <a:custGeom>
            <a:avLst/>
            <a:gdLst>
              <a:gd name="connsiteX0" fmla="*/ 843280 w 899160"/>
              <a:gd name="connsiteY0" fmla="*/ 314960 h 364490"/>
              <a:gd name="connsiteX1" fmla="*/ 111760 w 899160"/>
              <a:gd name="connsiteY1" fmla="*/ 314960 h 364490"/>
              <a:gd name="connsiteX2" fmla="*/ 172720 w 899160"/>
              <a:gd name="connsiteY2" fmla="*/ 208280 h 364490"/>
              <a:gd name="connsiteX3" fmla="*/ 447040 w 899160"/>
              <a:gd name="connsiteY3" fmla="*/ 17780 h 364490"/>
              <a:gd name="connsiteX4" fmla="*/ 843280 w 899160"/>
              <a:gd name="connsiteY4" fmla="*/ 314960 h 364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9160" h="364490">
                <a:moveTo>
                  <a:pt x="843280" y="314960"/>
                </a:moveTo>
                <a:cubicBezTo>
                  <a:pt x="787400" y="364490"/>
                  <a:pt x="223520" y="332740"/>
                  <a:pt x="111760" y="314960"/>
                </a:cubicBezTo>
                <a:cubicBezTo>
                  <a:pt x="0" y="297180"/>
                  <a:pt x="116840" y="257810"/>
                  <a:pt x="172720" y="208280"/>
                </a:cubicBezTo>
                <a:cubicBezTo>
                  <a:pt x="228600" y="158750"/>
                  <a:pt x="337820" y="0"/>
                  <a:pt x="447040" y="17780"/>
                </a:cubicBezTo>
                <a:cubicBezTo>
                  <a:pt x="556260" y="35560"/>
                  <a:pt x="899160" y="265430"/>
                  <a:pt x="843280" y="31496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feld 92"/>
          <p:cNvSpPr txBox="1"/>
          <p:nvPr/>
        </p:nvSpPr>
        <p:spPr>
          <a:xfrm>
            <a:off x="1969570" y="4823161"/>
            <a:ext cx="829033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tight aggregate</a:t>
            </a:r>
          </a:p>
        </p:txBody>
      </p:sp>
      <p:sp>
        <p:nvSpPr>
          <p:cNvPr id="94" name="Bogen 93"/>
          <p:cNvSpPr/>
          <p:nvPr/>
        </p:nvSpPr>
        <p:spPr>
          <a:xfrm rot="3853063">
            <a:off x="2412190" y="3938811"/>
            <a:ext cx="422929" cy="734897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feld 94"/>
          <p:cNvSpPr txBox="1"/>
          <p:nvPr/>
        </p:nvSpPr>
        <p:spPr>
          <a:xfrm>
            <a:off x="1247112" y="4187259"/>
            <a:ext cx="404350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finger</a:t>
            </a:r>
          </a:p>
        </p:txBody>
      </p:sp>
      <p:sp>
        <p:nvSpPr>
          <p:cNvPr id="96" name="Bogen 95"/>
          <p:cNvSpPr/>
          <p:nvPr/>
        </p:nvSpPr>
        <p:spPr>
          <a:xfrm rot="9565963">
            <a:off x="1716478" y="3782130"/>
            <a:ext cx="561106" cy="818323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Freihandform 96"/>
          <p:cNvSpPr/>
          <p:nvPr/>
        </p:nvSpPr>
        <p:spPr>
          <a:xfrm>
            <a:off x="1252807" y="1792837"/>
            <a:ext cx="716763" cy="273247"/>
          </a:xfrm>
          <a:custGeom>
            <a:avLst/>
            <a:gdLst>
              <a:gd name="connsiteX0" fmla="*/ 801370 w 892810"/>
              <a:gd name="connsiteY0" fmla="*/ 314960 h 340360"/>
              <a:gd name="connsiteX1" fmla="*/ 85090 w 892810"/>
              <a:gd name="connsiteY1" fmla="*/ 314960 h 340360"/>
              <a:gd name="connsiteX2" fmla="*/ 290830 w 892810"/>
              <a:gd name="connsiteY2" fmla="*/ 162560 h 340360"/>
              <a:gd name="connsiteX3" fmla="*/ 473710 w 892810"/>
              <a:gd name="connsiteY3" fmla="*/ 2540 h 340360"/>
              <a:gd name="connsiteX4" fmla="*/ 633730 w 892810"/>
              <a:gd name="connsiteY4" fmla="*/ 177800 h 340360"/>
              <a:gd name="connsiteX5" fmla="*/ 801370 w 892810"/>
              <a:gd name="connsiteY5" fmla="*/ 314960 h 340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92810" h="340360">
                <a:moveTo>
                  <a:pt x="801370" y="314960"/>
                </a:moveTo>
                <a:cubicBezTo>
                  <a:pt x="709930" y="337820"/>
                  <a:pt x="170180" y="340360"/>
                  <a:pt x="85090" y="314960"/>
                </a:cubicBezTo>
                <a:cubicBezTo>
                  <a:pt x="0" y="289560"/>
                  <a:pt x="226060" y="214630"/>
                  <a:pt x="290830" y="162560"/>
                </a:cubicBezTo>
                <a:cubicBezTo>
                  <a:pt x="355600" y="110490"/>
                  <a:pt x="416560" y="0"/>
                  <a:pt x="473710" y="2540"/>
                </a:cubicBezTo>
                <a:cubicBezTo>
                  <a:pt x="530860" y="5080"/>
                  <a:pt x="576580" y="127000"/>
                  <a:pt x="633730" y="177800"/>
                </a:cubicBezTo>
                <a:cubicBezTo>
                  <a:pt x="690880" y="228600"/>
                  <a:pt x="892810" y="292100"/>
                  <a:pt x="801370" y="31496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feld 97"/>
          <p:cNvSpPr txBox="1"/>
          <p:nvPr/>
        </p:nvSpPr>
        <p:spPr>
          <a:xfrm>
            <a:off x="1252807" y="2081883"/>
            <a:ext cx="700341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Mexican hat</a:t>
            </a:r>
          </a:p>
        </p:txBody>
      </p:sp>
      <p:sp>
        <p:nvSpPr>
          <p:cNvPr id="99" name="Bogen 98"/>
          <p:cNvSpPr/>
          <p:nvPr/>
        </p:nvSpPr>
        <p:spPr>
          <a:xfrm rot="16675805">
            <a:off x="2097009" y="1407394"/>
            <a:ext cx="665786" cy="1044851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Bogen 99"/>
          <p:cNvSpPr/>
          <p:nvPr/>
        </p:nvSpPr>
        <p:spPr>
          <a:xfrm rot="12751305">
            <a:off x="1116828" y="1493067"/>
            <a:ext cx="1454992" cy="2485087"/>
          </a:xfrm>
          <a:prstGeom prst="arc">
            <a:avLst>
              <a:gd name="adj1" fmla="val 15906863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Freihandform 100"/>
          <p:cNvSpPr/>
          <p:nvPr/>
        </p:nvSpPr>
        <p:spPr>
          <a:xfrm>
            <a:off x="1622715" y="2915456"/>
            <a:ext cx="681078" cy="230425"/>
          </a:xfrm>
          <a:custGeom>
            <a:avLst/>
            <a:gdLst>
              <a:gd name="connsiteX0" fmla="*/ 770890 w 848360"/>
              <a:gd name="connsiteY0" fmla="*/ 257810 h 287020"/>
              <a:gd name="connsiteX1" fmla="*/ 199390 w 848360"/>
              <a:gd name="connsiteY1" fmla="*/ 265430 h 287020"/>
              <a:gd name="connsiteX2" fmla="*/ 16510 w 848360"/>
              <a:gd name="connsiteY2" fmla="*/ 128270 h 287020"/>
              <a:gd name="connsiteX3" fmla="*/ 100330 w 848360"/>
              <a:gd name="connsiteY3" fmla="*/ 6350 h 287020"/>
              <a:gd name="connsiteX4" fmla="*/ 290830 w 848360"/>
              <a:gd name="connsiteY4" fmla="*/ 90170 h 287020"/>
              <a:gd name="connsiteX5" fmla="*/ 664210 w 848360"/>
              <a:gd name="connsiteY5" fmla="*/ 128270 h 287020"/>
              <a:gd name="connsiteX6" fmla="*/ 770890 w 848360"/>
              <a:gd name="connsiteY6" fmla="*/ 257810 h 287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8360" h="287020">
                <a:moveTo>
                  <a:pt x="770890" y="257810"/>
                </a:moveTo>
                <a:cubicBezTo>
                  <a:pt x="693420" y="280670"/>
                  <a:pt x="325120" y="287020"/>
                  <a:pt x="199390" y="265430"/>
                </a:cubicBezTo>
                <a:cubicBezTo>
                  <a:pt x="73660" y="243840"/>
                  <a:pt x="33020" y="171450"/>
                  <a:pt x="16510" y="128270"/>
                </a:cubicBezTo>
                <a:cubicBezTo>
                  <a:pt x="0" y="85090"/>
                  <a:pt x="54610" y="12700"/>
                  <a:pt x="100330" y="6350"/>
                </a:cubicBezTo>
                <a:cubicBezTo>
                  <a:pt x="146050" y="0"/>
                  <a:pt x="196850" y="69850"/>
                  <a:pt x="290830" y="90170"/>
                </a:cubicBezTo>
                <a:cubicBezTo>
                  <a:pt x="384810" y="110490"/>
                  <a:pt x="582930" y="102870"/>
                  <a:pt x="664210" y="128270"/>
                </a:cubicBezTo>
                <a:cubicBezTo>
                  <a:pt x="745490" y="153670"/>
                  <a:pt x="848360" y="234950"/>
                  <a:pt x="770890" y="25781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ihandform 101"/>
          <p:cNvSpPr/>
          <p:nvPr/>
        </p:nvSpPr>
        <p:spPr>
          <a:xfrm>
            <a:off x="1449287" y="3551357"/>
            <a:ext cx="162113" cy="617864"/>
          </a:xfrm>
          <a:custGeom>
            <a:avLst/>
            <a:gdLst>
              <a:gd name="connsiteX0" fmla="*/ 46990 w 201930"/>
              <a:gd name="connsiteY0" fmla="*/ 769620 h 769620"/>
              <a:gd name="connsiteX1" fmla="*/ 1270 w 201930"/>
              <a:gd name="connsiteY1" fmla="*/ 548640 h 769620"/>
              <a:gd name="connsiteX2" fmla="*/ 39370 w 201930"/>
              <a:gd name="connsiteY2" fmla="*/ 342900 h 769620"/>
              <a:gd name="connsiteX3" fmla="*/ 31750 w 201930"/>
              <a:gd name="connsiteY3" fmla="*/ 129540 h 769620"/>
              <a:gd name="connsiteX4" fmla="*/ 115570 w 201930"/>
              <a:gd name="connsiteY4" fmla="*/ 7620 h 769620"/>
              <a:gd name="connsiteX5" fmla="*/ 191770 w 201930"/>
              <a:gd name="connsiteY5" fmla="*/ 83820 h 769620"/>
              <a:gd name="connsiteX6" fmla="*/ 176530 w 201930"/>
              <a:gd name="connsiteY6" fmla="*/ 411480 h 769620"/>
              <a:gd name="connsiteX7" fmla="*/ 138430 w 201930"/>
              <a:gd name="connsiteY7" fmla="*/ 601980 h 769620"/>
              <a:gd name="connsiteX8" fmla="*/ 115570 w 201930"/>
              <a:gd name="connsiteY8" fmla="*/ 769620 h 769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1930" h="769620">
                <a:moveTo>
                  <a:pt x="46990" y="769620"/>
                </a:moveTo>
                <a:cubicBezTo>
                  <a:pt x="24765" y="694690"/>
                  <a:pt x="2540" y="619760"/>
                  <a:pt x="1270" y="548640"/>
                </a:cubicBezTo>
                <a:cubicBezTo>
                  <a:pt x="0" y="477520"/>
                  <a:pt x="34290" y="412750"/>
                  <a:pt x="39370" y="342900"/>
                </a:cubicBezTo>
                <a:cubicBezTo>
                  <a:pt x="44450" y="273050"/>
                  <a:pt x="19050" y="185420"/>
                  <a:pt x="31750" y="129540"/>
                </a:cubicBezTo>
                <a:cubicBezTo>
                  <a:pt x="44450" y="73660"/>
                  <a:pt x="88900" y="15240"/>
                  <a:pt x="115570" y="7620"/>
                </a:cubicBezTo>
                <a:cubicBezTo>
                  <a:pt x="142240" y="0"/>
                  <a:pt x="181610" y="16510"/>
                  <a:pt x="191770" y="83820"/>
                </a:cubicBezTo>
                <a:cubicBezTo>
                  <a:pt x="201930" y="151130"/>
                  <a:pt x="185420" y="325120"/>
                  <a:pt x="176530" y="411480"/>
                </a:cubicBezTo>
                <a:cubicBezTo>
                  <a:pt x="167640" y="497840"/>
                  <a:pt x="148590" y="542290"/>
                  <a:pt x="138430" y="601980"/>
                </a:cubicBezTo>
                <a:cubicBezTo>
                  <a:pt x="128270" y="661670"/>
                  <a:pt x="121920" y="715645"/>
                  <a:pt x="115570" y="769620"/>
                </a:cubicBezTo>
              </a:path>
            </a:pathLst>
          </a:cu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03" name="Bogen 102"/>
          <p:cNvSpPr/>
          <p:nvPr/>
        </p:nvSpPr>
        <p:spPr>
          <a:xfrm rot="208693" flipV="1">
            <a:off x="1306942" y="2703453"/>
            <a:ext cx="665786" cy="1044851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Bogen 103"/>
          <p:cNvSpPr/>
          <p:nvPr/>
        </p:nvSpPr>
        <p:spPr>
          <a:xfrm rot="19451849" flipV="1">
            <a:off x="1287334" y="2028721"/>
            <a:ext cx="665786" cy="1044851"/>
          </a:xfrm>
          <a:prstGeom prst="arc">
            <a:avLst>
              <a:gd name="adj1" fmla="val 17010305"/>
              <a:gd name="adj2" fmla="val 0"/>
            </a:avLst>
          </a:prstGeom>
          <a:ln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feld 104"/>
          <p:cNvSpPr txBox="1"/>
          <p:nvPr/>
        </p:nvSpPr>
        <p:spPr>
          <a:xfrm>
            <a:off x="2085189" y="3204502"/>
            <a:ext cx="336144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slug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2663281" y="3435739"/>
            <a:ext cx="422367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rgbClr val="C00000"/>
                </a:solidFill>
              </a:rPr>
              <a:t>cAMP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6131836" y="3666976"/>
            <a:ext cx="422367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rgbClr val="C00000"/>
                </a:solidFill>
              </a:rPr>
              <a:t>cAMP</a:t>
            </a:r>
            <a:endParaRPr lang="en-US" sz="1000" dirty="0">
              <a:solidFill>
                <a:srgbClr val="C00000"/>
              </a:solidFill>
            </a:endParaRPr>
          </a:p>
        </p:txBody>
      </p:sp>
      <p:sp>
        <p:nvSpPr>
          <p:cNvPr id="108" name="Textfeld 107"/>
          <p:cNvSpPr txBox="1"/>
          <p:nvPr/>
        </p:nvSpPr>
        <p:spPr>
          <a:xfrm>
            <a:off x="1969570" y="4245068"/>
            <a:ext cx="422367" cy="1976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rgbClr val="C00000"/>
                </a:solidFill>
              </a:rPr>
              <a:t>cAMP</a:t>
            </a:r>
            <a:endParaRPr lang="en-US" sz="1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9F5154-DFEA-780A-4915-985EECBD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start by discussing the cell communication (in particular cell aggregation) in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i="1" dirty="0"/>
              <a:t> …</a:t>
            </a:r>
            <a:endParaRPr lang="de-DE" dirty="0"/>
          </a:p>
        </p:txBody>
      </p:sp>
      <p:pic>
        <p:nvPicPr>
          <p:cNvPr id="3" name="Picture 2" descr="Ähnliches Foto">
            <a:extLst>
              <a:ext uri="{FF2B5EF4-FFF2-40B4-BE49-F238E27FC236}">
                <a16:creationId xmlns:a16="http://schemas.microsoft.com/office/drawing/2014/main" id="{022B0E17-1D9B-984D-AC14-6F59F99A38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5" y="1203598"/>
            <a:ext cx="8515350" cy="3648076"/>
          </a:xfrm>
          <a:prstGeom prst="rect">
            <a:avLst/>
          </a:prstGeom>
          <a:noFill/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93DD538B-A97A-8761-8DEC-C853AA22CD16}"/>
              </a:ext>
            </a:extLst>
          </p:cNvPr>
          <p:cNvSpPr/>
          <p:nvPr/>
        </p:nvSpPr>
        <p:spPr>
          <a:xfrm>
            <a:off x="1187624" y="1923678"/>
            <a:ext cx="2880320" cy="216024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bgerundetes Rechteck 10">
            <a:extLst>
              <a:ext uri="{FF2B5EF4-FFF2-40B4-BE49-F238E27FC236}">
                <a16:creationId xmlns:a16="http://schemas.microsoft.com/office/drawing/2014/main" id="{F26B6768-7F5A-750E-E04B-5587000266F0}"/>
              </a:ext>
            </a:extLst>
          </p:cNvPr>
          <p:cNvSpPr/>
          <p:nvPr/>
        </p:nvSpPr>
        <p:spPr>
          <a:xfrm>
            <a:off x="1259632" y="1995686"/>
            <a:ext cx="1296144" cy="432048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Martiel</a:t>
            </a:r>
            <a:r>
              <a:rPr lang="en-US" sz="1200" dirty="0"/>
              <a:t> &amp; </a:t>
            </a:r>
            <a:r>
              <a:rPr lang="en-US" sz="1200" dirty="0" err="1"/>
              <a:t>Goldbeter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Abgerundetes Rechteck 11">
            <a:extLst>
              <a:ext uri="{FF2B5EF4-FFF2-40B4-BE49-F238E27FC236}">
                <a16:creationId xmlns:a16="http://schemas.microsoft.com/office/drawing/2014/main" id="{2342A08B-195D-89E1-FD4F-6324B2FB6607}"/>
              </a:ext>
            </a:extLst>
          </p:cNvPr>
          <p:cNvSpPr/>
          <p:nvPr/>
        </p:nvSpPr>
        <p:spPr>
          <a:xfrm>
            <a:off x="2699792" y="1995686"/>
            <a:ext cx="1296144" cy="432048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Keller &amp;</a:t>
            </a:r>
          </a:p>
          <a:p>
            <a:pPr algn="ctr"/>
            <a:r>
              <a:rPr lang="en-US" sz="1200" dirty="0" err="1">
                <a:solidFill>
                  <a:schemeClr val="bg1"/>
                </a:solidFill>
              </a:rPr>
              <a:t>Segel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01CBCF1-C95D-D9AC-4DD5-E07270EE5E74}"/>
              </a:ext>
            </a:extLst>
          </p:cNvPr>
          <p:cNvSpPr txBox="1"/>
          <p:nvPr/>
        </p:nvSpPr>
        <p:spPr>
          <a:xfrm>
            <a:off x="6948264" y="852299"/>
            <a:ext cx="21804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/>
              <a:t>http://jcs.biologists.org/content/114/24/4349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840D4EE-FB48-B03C-A075-D523F4CF27FF}"/>
              </a:ext>
            </a:extLst>
          </p:cNvPr>
          <p:cNvSpPr txBox="1"/>
          <p:nvPr/>
        </p:nvSpPr>
        <p:spPr>
          <a:xfrm>
            <a:off x="0" y="852299"/>
            <a:ext cx="3851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J.C. Coates &amp; A.J. Harwood (2001): Cell-cell adhesion and signal transduction during </a:t>
            </a:r>
            <a:r>
              <a:rPr lang="en-US" sz="800" dirty="0" err="1"/>
              <a:t>Dictyostelium</a:t>
            </a:r>
            <a:r>
              <a:rPr lang="en-US" sz="800" dirty="0"/>
              <a:t> development, Journal of Cell Science 114, pp. 4349-4358.</a:t>
            </a:r>
          </a:p>
        </p:txBody>
      </p:sp>
    </p:spTree>
    <p:extLst>
      <p:ext uri="{BB962C8B-B14F-4D97-AF65-F5344CB8AC3E}">
        <p14:creationId xmlns:p14="http://schemas.microsoft.com/office/powerpoint/2010/main" val="2046088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0E0B84-C1F3-7C9D-171B-7A4404A5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and then continue with cell differentiation</a:t>
            </a:r>
            <a:endParaRPr lang="de-DE" dirty="0"/>
          </a:p>
        </p:txBody>
      </p:sp>
      <p:pic>
        <p:nvPicPr>
          <p:cNvPr id="3" name="Picture 2" descr="Ähnliches Foto">
            <a:extLst>
              <a:ext uri="{FF2B5EF4-FFF2-40B4-BE49-F238E27FC236}">
                <a16:creationId xmlns:a16="http://schemas.microsoft.com/office/drawing/2014/main" id="{87F6899D-8DC9-40ED-FB1E-7B8FAF8ED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5" y="1203598"/>
            <a:ext cx="8515350" cy="3648076"/>
          </a:xfrm>
          <a:prstGeom prst="rect">
            <a:avLst/>
          </a:prstGeom>
          <a:noFill/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A08FCB17-F4E2-665D-49F5-999B6A75F4B9}"/>
              </a:ext>
            </a:extLst>
          </p:cNvPr>
          <p:cNvSpPr/>
          <p:nvPr/>
        </p:nvSpPr>
        <p:spPr>
          <a:xfrm>
            <a:off x="4067944" y="1700808"/>
            <a:ext cx="4752528" cy="244827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bgerundetes Rechteck 12">
            <a:extLst>
              <a:ext uri="{FF2B5EF4-FFF2-40B4-BE49-F238E27FC236}">
                <a16:creationId xmlns:a16="http://schemas.microsoft.com/office/drawing/2014/main" id="{23D2AD46-9646-84A8-754E-B8383080372A}"/>
              </a:ext>
            </a:extLst>
          </p:cNvPr>
          <p:cNvSpPr/>
          <p:nvPr/>
        </p:nvSpPr>
        <p:spPr>
          <a:xfrm>
            <a:off x="4139952" y="3429000"/>
            <a:ext cx="1296144" cy="432048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Weijer</a:t>
            </a:r>
            <a:r>
              <a:rPr lang="de-DE" sz="1200" dirty="0"/>
              <a:t>, </a:t>
            </a:r>
            <a:r>
              <a:rPr lang="de-DE" sz="1200" dirty="0" err="1"/>
              <a:t>Pineda</a:t>
            </a:r>
            <a:r>
              <a:rPr lang="de-DE" sz="1200" dirty="0"/>
              <a:t> &amp; </a:t>
            </a:r>
            <a:r>
              <a:rPr lang="de-DE" sz="1200" dirty="0" err="1"/>
              <a:t>Eftimie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Abgerundetes Rechteck 14">
            <a:extLst>
              <a:ext uri="{FF2B5EF4-FFF2-40B4-BE49-F238E27FC236}">
                <a16:creationId xmlns:a16="http://schemas.microsoft.com/office/drawing/2014/main" id="{8747E308-3903-9B8A-50A8-0920294A3290}"/>
              </a:ext>
            </a:extLst>
          </p:cNvPr>
          <p:cNvSpPr/>
          <p:nvPr/>
        </p:nvSpPr>
        <p:spPr>
          <a:xfrm>
            <a:off x="6948264" y="4365104"/>
            <a:ext cx="1296144" cy="432048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 err="1"/>
              <a:t>Odell</a:t>
            </a:r>
            <a:r>
              <a:rPr lang="de-DE" sz="1200" dirty="0"/>
              <a:t> &amp; Bonner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Freihandform 17">
            <a:extLst>
              <a:ext uri="{FF2B5EF4-FFF2-40B4-BE49-F238E27FC236}">
                <a16:creationId xmlns:a16="http://schemas.microsoft.com/office/drawing/2014/main" id="{A5E2F3C7-E97B-ED6E-CD96-EB530A8D0B37}"/>
              </a:ext>
            </a:extLst>
          </p:cNvPr>
          <p:cNvSpPr/>
          <p:nvPr/>
        </p:nvSpPr>
        <p:spPr>
          <a:xfrm>
            <a:off x="6810375" y="3810000"/>
            <a:ext cx="904875" cy="504825"/>
          </a:xfrm>
          <a:custGeom>
            <a:avLst/>
            <a:gdLst>
              <a:gd name="connsiteX0" fmla="*/ 685800 w 904875"/>
              <a:gd name="connsiteY0" fmla="*/ 504825 h 504825"/>
              <a:gd name="connsiteX1" fmla="*/ 790575 w 904875"/>
              <a:gd name="connsiteY1" fmla="*/ 133350 h 504825"/>
              <a:gd name="connsiteX2" fmla="*/ 0 w 904875"/>
              <a:gd name="connsiteY2" fmla="*/ 0 h 5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4875" h="504825">
                <a:moveTo>
                  <a:pt x="685800" y="504825"/>
                </a:moveTo>
                <a:cubicBezTo>
                  <a:pt x="795337" y="361156"/>
                  <a:pt x="904875" y="217487"/>
                  <a:pt x="790575" y="133350"/>
                </a:cubicBezTo>
                <a:cubicBezTo>
                  <a:pt x="676275" y="49213"/>
                  <a:pt x="338137" y="24606"/>
                  <a:pt x="0" y="0"/>
                </a:cubicBezTo>
              </a:path>
            </a:pathLst>
          </a:custGeom>
          <a:ln w="28575">
            <a:solidFill>
              <a:schemeClr val="tx2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E70C822-FDA9-0B90-B71F-08F55E82A25B}"/>
              </a:ext>
            </a:extLst>
          </p:cNvPr>
          <p:cNvSpPr txBox="1"/>
          <p:nvPr/>
        </p:nvSpPr>
        <p:spPr>
          <a:xfrm>
            <a:off x="6948264" y="852299"/>
            <a:ext cx="21804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/>
              <a:t>http://jcs.biologists.org/content/114/24/4349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E060CEA-1137-4887-A8DD-C19F52C5EC01}"/>
              </a:ext>
            </a:extLst>
          </p:cNvPr>
          <p:cNvSpPr txBox="1"/>
          <p:nvPr/>
        </p:nvSpPr>
        <p:spPr>
          <a:xfrm>
            <a:off x="0" y="852299"/>
            <a:ext cx="38519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J.C. Coates &amp; A.J. Harwood (2001): Cell-cell adhesion and signal transduction during </a:t>
            </a:r>
            <a:r>
              <a:rPr lang="en-US" sz="800" dirty="0" err="1"/>
              <a:t>Dictyostelium</a:t>
            </a:r>
            <a:r>
              <a:rPr lang="en-US" sz="800" dirty="0"/>
              <a:t> development, Journal of Cell Science 114, pp. 4349-4358.</a:t>
            </a:r>
          </a:p>
        </p:txBody>
      </p:sp>
    </p:spTree>
    <p:extLst>
      <p:ext uri="{BB962C8B-B14F-4D97-AF65-F5344CB8AC3E}">
        <p14:creationId xmlns:p14="http://schemas.microsoft.com/office/powerpoint/2010/main" val="2526974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344F-373C-0EEC-557B-A09D581D5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BC8E19-B53F-FEB8-4A0E-1A3E0D660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dictyBase</a:t>
            </a:r>
            <a:r>
              <a:rPr lang="en-US" dirty="0"/>
              <a:t>: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dirty="0"/>
              <a:t> online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AEFD8F-345C-EF3C-1252-D41EC6978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50006" r="383" b="5768"/>
          <a:stretch>
            <a:fillRect/>
          </a:stretch>
        </p:blipFill>
        <p:spPr bwMode="auto">
          <a:xfrm>
            <a:off x="1403648" y="1634922"/>
            <a:ext cx="6336704" cy="3385100"/>
          </a:xfrm>
          <a:prstGeom prst="rect">
            <a:avLst/>
          </a:prstGeom>
          <a:noFill/>
          <a:ln w="28575">
            <a:solidFill>
              <a:schemeClr val="tx2">
                <a:lumMod val="20000"/>
                <a:lumOff val="80000"/>
              </a:schemeClr>
            </a:solidFill>
            <a:miter lim="800000"/>
            <a:headEnd/>
            <a:tailEnd/>
          </a:ln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0CDCD68-D628-52C3-58DF-8109716010E1}"/>
              </a:ext>
            </a:extLst>
          </p:cNvPr>
          <p:cNvSpPr txBox="1"/>
          <p:nvPr/>
        </p:nvSpPr>
        <p:spPr>
          <a:xfrm>
            <a:off x="4596892" y="1059582"/>
            <a:ext cx="1678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www.dictybase.org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FC8AE1D0-F6CC-077C-EB57-159F60C93CA4}"/>
              </a:ext>
            </a:extLst>
          </p:cNvPr>
          <p:cNvSpPr/>
          <p:nvPr/>
        </p:nvSpPr>
        <p:spPr>
          <a:xfrm>
            <a:off x="1979712" y="1609358"/>
            <a:ext cx="1296144" cy="36004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Gerade Verbindung 6">
            <a:extLst>
              <a:ext uri="{FF2B5EF4-FFF2-40B4-BE49-F238E27FC236}">
                <a16:creationId xmlns:a16="http://schemas.microsoft.com/office/drawing/2014/main" id="{2706A13C-9D99-115E-D410-161BAAF954F1}"/>
              </a:ext>
            </a:extLst>
          </p:cNvPr>
          <p:cNvCxnSpPr>
            <a:stCxn id="8" idx="7"/>
            <a:endCxn id="7" idx="1"/>
          </p:cNvCxnSpPr>
          <p:nvPr/>
        </p:nvCxnSpPr>
        <p:spPr>
          <a:xfrm flipV="1">
            <a:off x="3086040" y="1213471"/>
            <a:ext cx="1510852" cy="448614"/>
          </a:xfrm>
          <a:prstGeom prst="lin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149545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/>
          <p:cNvSpPr/>
          <p:nvPr/>
        </p:nvSpPr>
        <p:spPr>
          <a:xfrm>
            <a:off x="971600" y="1563638"/>
            <a:ext cx="720080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/>
          <p:cNvSpPr txBox="1"/>
          <p:nvPr/>
        </p:nvSpPr>
        <p:spPr>
          <a:xfrm>
            <a:off x="971600" y="1131590"/>
            <a:ext cx="4300921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Topics</a:t>
            </a:r>
          </a:p>
          <a:p>
            <a:endParaRPr lang="en-US" sz="1000" dirty="0"/>
          </a:p>
          <a:p>
            <a:pPr lvl="1"/>
            <a:r>
              <a:rPr lang="en-US" b="1" dirty="0"/>
              <a:t>Chemotaxis &amp; the Keller-Segel Model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 First Mathematical Stability Analysis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Simulation of the Keller-Segel Model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14B04372-C24A-7680-E724-080E7AA874B8}"/>
              </a:ext>
            </a:extLst>
          </p:cNvPr>
          <p:cNvGrpSpPr/>
          <p:nvPr/>
        </p:nvGrpSpPr>
        <p:grpSpPr>
          <a:xfrm>
            <a:off x="6012160" y="2859782"/>
            <a:ext cx="2918384" cy="2160240"/>
            <a:chOff x="1187624" y="1988840"/>
            <a:chExt cx="2918384" cy="2160240"/>
          </a:xfrm>
        </p:grpSpPr>
        <p:pic>
          <p:nvPicPr>
            <p:cNvPr id="5" name="Picture 2" descr="Ähnliches Foto">
              <a:extLst>
                <a:ext uri="{FF2B5EF4-FFF2-40B4-BE49-F238E27FC236}">
                  <a16:creationId xmlns:a16="http://schemas.microsoft.com/office/drawing/2014/main" id="{A97C5935-7806-089E-95A8-9708AD4EF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 l="11101" t="35827" r="55472" b="22722"/>
            <a:stretch>
              <a:fillRect/>
            </a:stretch>
          </p:blipFill>
          <p:spPr bwMode="auto">
            <a:xfrm>
              <a:off x="1259632" y="2564904"/>
              <a:ext cx="2846376" cy="1512168"/>
            </a:xfrm>
            <a:prstGeom prst="rect">
              <a:avLst/>
            </a:prstGeom>
            <a:noFill/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B116E4B3-CC88-05A4-5358-D4A0A4CBE3AA}"/>
                </a:ext>
              </a:extLst>
            </p:cNvPr>
            <p:cNvSpPr/>
            <p:nvPr/>
          </p:nvSpPr>
          <p:spPr>
            <a:xfrm>
              <a:off x="1187624" y="1988840"/>
              <a:ext cx="2880320" cy="216024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Abgerundetes Rechteck 27">
              <a:extLst>
                <a:ext uri="{FF2B5EF4-FFF2-40B4-BE49-F238E27FC236}">
                  <a16:creationId xmlns:a16="http://schemas.microsoft.com/office/drawing/2014/main" id="{F09B9DDD-7185-3950-4DDC-E25FB77C5532}"/>
                </a:ext>
              </a:extLst>
            </p:cNvPr>
            <p:cNvSpPr/>
            <p:nvPr/>
          </p:nvSpPr>
          <p:spPr>
            <a:xfrm>
              <a:off x="1259632" y="2060848"/>
              <a:ext cx="1296144" cy="432048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Martiel</a:t>
              </a:r>
              <a:r>
                <a:rPr lang="en-US" sz="1200" dirty="0">
                  <a:solidFill>
                    <a:schemeClr val="tx1"/>
                  </a:solidFill>
                </a:rPr>
                <a:t> &amp; </a:t>
              </a:r>
              <a:r>
                <a:rPr lang="en-US" sz="1200" dirty="0" err="1">
                  <a:solidFill>
                    <a:schemeClr val="tx1"/>
                  </a:solidFill>
                </a:rPr>
                <a:t>Goldbeter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Abgerundetes Rechteck 28">
              <a:extLst>
                <a:ext uri="{FF2B5EF4-FFF2-40B4-BE49-F238E27FC236}">
                  <a16:creationId xmlns:a16="http://schemas.microsoft.com/office/drawing/2014/main" id="{8C6AAAB5-6FBF-429F-C1A3-28274BBFE8D9}"/>
                </a:ext>
              </a:extLst>
            </p:cNvPr>
            <p:cNvSpPr/>
            <p:nvPr/>
          </p:nvSpPr>
          <p:spPr>
            <a:xfrm>
              <a:off x="2699792" y="2060848"/>
              <a:ext cx="1296144" cy="432048"/>
            </a:xfrm>
            <a:prstGeom prst="roundRect">
              <a:avLst/>
            </a:prstGeom>
            <a:solidFill>
              <a:schemeClr val="tx2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Keller &amp;</a:t>
              </a:r>
            </a:p>
            <a:p>
              <a:pPr algn="ctr"/>
              <a:r>
                <a:rPr lang="en-US" sz="1200" dirty="0" err="1">
                  <a:solidFill>
                    <a:schemeClr val="bg1"/>
                  </a:solidFill>
                </a:rPr>
                <a:t>Segel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Chemotaxis</a:t>
            </a:r>
            <a:r>
              <a:rPr lang="en-US" dirty="0"/>
              <a:t>: the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dirty="0"/>
              <a:t> amoebae aggregate following increasing concentrations of </a:t>
            </a:r>
            <a:r>
              <a:rPr lang="en-US" dirty="0" err="1"/>
              <a:t>cAMP</a:t>
            </a:r>
            <a:endParaRPr lang="en-US" dirty="0"/>
          </a:p>
        </p:txBody>
      </p:sp>
      <p:sp>
        <p:nvSpPr>
          <p:cNvPr id="3" name="Rechteck 2"/>
          <p:cNvSpPr/>
          <p:nvPr/>
        </p:nvSpPr>
        <p:spPr>
          <a:xfrm>
            <a:off x="5868144" y="987574"/>
            <a:ext cx="3168352" cy="403244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https://media.giphy.com/media/gXv0RnsZXxzwI/giphy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97069" y="1123970"/>
            <a:ext cx="2910503" cy="1944216"/>
          </a:xfrm>
          <a:prstGeom prst="rect">
            <a:avLst/>
          </a:prstGeom>
          <a:noFill/>
        </p:spPr>
      </p:pic>
      <p:sp>
        <p:nvSpPr>
          <p:cNvPr id="5" name="Textfeld 4"/>
          <p:cNvSpPr txBox="1"/>
          <p:nvPr/>
        </p:nvSpPr>
        <p:spPr>
          <a:xfrm>
            <a:off x="6012160" y="3174635"/>
            <a:ext cx="2880320" cy="17389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182563" indent="-182563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the</a:t>
            </a:r>
            <a:r>
              <a:rPr lang="en-US" sz="1400" i="1" dirty="0"/>
              <a:t> </a:t>
            </a:r>
            <a:r>
              <a:rPr lang="en-US" sz="1400" i="1" dirty="0" err="1"/>
              <a:t>dictyostelium</a:t>
            </a:r>
            <a:r>
              <a:rPr lang="en-US" sz="1400" i="1" dirty="0"/>
              <a:t> </a:t>
            </a:r>
            <a:r>
              <a:rPr lang="en-US" sz="1400" i="1" dirty="0" err="1"/>
              <a:t>discoideum</a:t>
            </a:r>
            <a:r>
              <a:rPr lang="en-US" sz="1400" i="1" dirty="0"/>
              <a:t> </a:t>
            </a:r>
            <a:r>
              <a:rPr lang="en-US" sz="1400" dirty="0"/>
              <a:t>amoebae move in response to a chemical signal sent by other amoebae</a:t>
            </a:r>
          </a:p>
          <a:p>
            <a:pPr marL="182563" indent="-182563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the chemical signal they use is cyclic adenosine</a:t>
            </a:r>
            <a:br>
              <a:rPr lang="en-US" sz="1400" dirty="0"/>
            </a:br>
            <a:r>
              <a:rPr lang="en-US" sz="1400" dirty="0"/>
              <a:t>3’,5’-monophosphate (</a:t>
            </a:r>
            <a:r>
              <a:rPr lang="en-US" sz="1400" dirty="0" err="1"/>
              <a:t>cAMP</a:t>
            </a:r>
            <a:r>
              <a:rPr lang="en-US" sz="1400" dirty="0"/>
              <a:t>)</a:t>
            </a:r>
          </a:p>
        </p:txBody>
      </p:sp>
      <p:pic>
        <p:nvPicPr>
          <p:cNvPr id="7" name="Picture 8" descr="https://www.formedium.com/wp-content/uploads/2018/03/Aggregating-cells-phase-contrast1.jpg"/>
          <p:cNvPicPr>
            <a:picLocks noChangeAspect="1" noChangeArrowheads="1"/>
          </p:cNvPicPr>
          <p:nvPr/>
        </p:nvPicPr>
        <p:blipFill>
          <a:blip r:embed="rId3" cstate="print"/>
          <a:srcRect r="15201" b="28205"/>
          <a:stretch>
            <a:fillRect/>
          </a:stretch>
        </p:blipFill>
        <p:spPr bwMode="auto">
          <a:xfrm>
            <a:off x="107503" y="987574"/>
            <a:ext cx="5616625" cy="4032448"/>
          </a:xfrm>
          <a:prstGeom prst="rect">
            <a:avLst/>
          </a:prstGeom>
          <a:noFill/>
        </p:spPr>
      </p:pic>
      <p:sp>
        <p:nvSpPr>
          <p:cNvPr id="8" name="Textfeld 7"/>
          <p:cNvSpPr txBox="1"/>
          <p:nvPr/>
        </p:nvSpPr>
        <p:spPr>
          <a:xfrm>
            <a:off x="1475656" y="4731990"/>
            <a:ext cx="4149147" cy="2154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sz="800" dirty="0"/>
              <a:t>https://www.formedium.com/product-category/formedium-media/dictyostelium-discoideum/</a:t>
            </a:r>
          </a:p>
        </p:txBody>
      </p:sp>
      <p:pic>
        <p:nvPicPr>
          <p:cNvPr id="6" name="Picture 6" descr="https://assets.fishersci.com/TFS-Assets/CCG/Chemical-Structures/chemical-structure-cas-60-92-4.jpg-650.jpg"/>
          <p:cNvPicPr>
            <a:picLocks noChangeAspect="1" noChangeArrowheads="1"/>
          </p:cNvPicPr>
          <p:nvPr/>
        </p:nvPicPr>
        <p:blipFill>
          <a:blip r:embed="rId4" cstate="print"/>
          <a:srcRect t="24749" b="25753"/>
          <a:stretch>
            <a:fillRect/>
          </a:stretch>
        </p:blipFill>
        <p:spPr bwMode="auto">
          <a:xfrm>
            <a:off x="3915202" y="1059582"/>
            <a:ext cx="1736917" cy="864096"/>
          </a:xfrm>
          <a:prstGeom prst="rect">
            <a:avLst/>
          </a:prstGeom>
          <a:noFill/>
        </p:spPr>
      </p:pic>
      <p:sp>
        <p:nvSpPr>
          <p:cNvPr id="9" name="Textfeld 8"/>
          <p:cNvSpPr txBox="1"/>
          <p:nvPr/>
        </p:nvSpPr>
        <p:spPr>
          <a:xfrm>
            <a:off x="5114261" y="1101110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900" dirty="0" err="1"/>
              <a:t>cAMP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Biochemically, this </a:t>
            </a:r>
            <a:r>
              <a:rPr lang="en-US" dirty="0" err="1"/>
              <a:t>chemotaxis</a:t>
            </a:r>
            <a:r>
              <a:rPr lang="en-US" dirty="0"/>
              <a:t> is activated by </a:t>
            </a:r>
            <a:r>
              <a:rPr lang="en-US" dirty="0" err="1"/>
              <a:t>cAMP</a:t>
            </a:r>
            <a:r>
              <a:rPr lang="en-US" dirty="0"/>
              <a:t> and regulated by </a:t>
            </a:r>
            <a:r>
              <a:rPr lang="en-US" dirty="0" err="1"/>
              <a:t>Phosphodiesterase</a:t>
            </a:r>
            <a:endParaRPr lang="en-US" dirty="0"/>
          </a:p>
        </p:txBody>
      </p:sp>
      <p:sp>
        <p:nvSpPr>
          <p:cNvPr id="3" name="Textfeld 2"/>
          <p:cNvSpPr txBox="1"/>
          <p:nvPr/>
        </p:nvSpPr>
        <p:spPr>
          <a:xfrm>
            <a:off x="971599" y="987574"/>
            <a:ext cx="7920881" cy="3562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spcAft>
                <a:spcPts val="300"/>
              </a:spcAft>
              <a:buFont typeface="Arial" pitchFamily="34" charset="0"/>
              <a:buChar char="•"/>
            </a:pPr>
            <a:r>
              <a:rPr lang="en-US" sz="1400" dirty="0"/>
              <a:t>The amoebae secrete </a:t>
            </a:r>
            <a:r>
              <a:rPr lang="en-US" sz="1400" dirty="0" err="1"/>
              <a:t>cAMP</a:t>
            </a:r>
            <a:endParaRPr lang="en-US" sz="1400" dirty="0"/>
          </a:p>
          <a:p>
            <a:pPr marL="176213" indent="-176213">
              <a:spcAft>
                <a:spcPts val="300"/>
              </a:spcAft>
              <a:buFont typeface="Arial" pitchFamily="34" charset="0"/>
              <a:buChar char="•"/>
            </a:pPr>
            <a:r>
              <a:rPr lang="en-US" sz="1400" dirty="0"/>
              <a:t>Other amoebae receive the </a:t>
            </a:r>
            <a:r>
              <a:rPr lang="en-US" sz="1400" dirty="0" err="1"/>
              <a:t>cAMP</a:t>
            </a:r>
            <a:r>
              <a:rPr lang="en-US" sz="1400" dirty="0"/>
              <a:t> signal with specific receptors and move towards the </a:t>
            </a:r>
            <a:r>
              <a:rPr lang="en-US" sz="1400" dirty="0" err="1"/>
              <a:t>cAMP</a:t>
            </a:r>
            <a:r>
              <a:rPr lang="en-US" sz="1400" dirty="0"/>
              <a:t> source</a:t>
            </a:r>
          </a:p>
          <a:p>
            <a:pPr marL="447675" lvl="1" indent="-271463">
              <a:spcAft>
                <a:spcPts val="300"/>
              </a:spcAft>
              <a:buFont typeface="Symbol" pitchFamily="18" charset="2"/>
              <a:buChar char="-"/>
            </a:pPr>
            <a:r>
              <a:rPr lang="en-US" sz="1400" dirty="0" err="1"/>
              <a:t>cAMP</a:t>
            </a:r>
            <a:r>
              <a:rPr lang="en-US" sz="1400" dirty="0"/>
              <a:t> stimulates the organization of </a:t>
            </a:r>
            <a:r>
              <a:rPr lang="en-US" sz="1400" dirty="0" err="1"/>
              <a:t>actin</a:t>
            </a:r>
            <a:r>
              <a:rPr lang="en-US" sz="1400" dirty="0"/>
              <a:t> filaments in the membrane cortex</a:t>
            </a:r>
          </a:p>
          <a:p>
            <a:pPr marL="447675" lvl="1" indent="-271463">
              <a:spcAft>
                <a:spcPts val="300"/>
              </a:spcAft>
              <a:buFont typeface="Symbol" pitchFamily="18" charset="2"/>
              <a:buChar char="-"/>
            </a:pPr>
            <a:r>
              <a:rPr lang="en-US" sz="1400" dirty="0"/>
              <a:t>later (approx. 3 min.), the receiving amoebae secrete </a:t>
            </a:r>
            <a:r>
              <a:rPr lang="en-US" sz="1400" dirty="0" err="1"/>
              <a:t>cAMP</a:t>
            </a:r>
            <a:r>
              <a:rPr lang="en-US" sz="1400" dirty="0"/>
              <a:t> themselves</a:t>
            </a:r>
          </a:p>
          <a:p>
            <a:pPr marL="176213" indent="-176213">
              <a:spcAft>
                <a:spcPts val="300"/>
              </a:spcAft>
              <a:buFont typeface="Arial" pitchFamily="34" charset="0"/>
              <a:buChar char="•"/>
            </a:pPr>
            <a:r>
              <a:rPr lang="en-US" sz="1400" dirty="0"/>
              <a:t>This process results in the movement of amoebae towards a central location</a:t>
            </a:r>
          </a:p>
          <a:p>
            <a:pPr marL="176213" indent="-176213">
              <a:spcAft>
                <a:spcPts val="300"/>
              </a:spcAft>
            </a:pPr>
            <a:endParaRPr lang="en-US" sz="500" dirty="0"/>
          </a:p>
          <a:p>
            <a:pPr>
              <a:spcAft>
                <a:spcPts val="300"/>
              </a:spcAft>
            </a:pPr>
            <a:r>
              <a:rPr lang="en-US" sz="1400" dirty="0"/>
              <a:t>But with all amoebae secreting and receiving </a:t>
            </a:r>
            <a:r>
              <a:rPr lang="en-US" sz="1400" dirty="0" err="1"/>
              <a:t>cAMP</a:t>
            </a:r>
            <a:r>
              <a:rPr lang="en-US" sz="1400" dirty="0"/>
              <a:t>, how do they know which way to travel? Hence a biochemical mechanism is required to reset the system</a:t>
            </a:r>
          </a:p>
          <a:p>
            <a:pPr marL="176213" indent="-176213">
              <a:spcAft>
                <a:spcPts val="300"/>
              </a:spcAft>
            </a:pPr>
            <a:endParaRPr lang="en-US" sz="500" dirty="0"/>
          </a:p>
          <a:p>
            <a:pPr marL="176213" indent="-176213">
              <a:spcAft>
                <a:spcPts val="300"/>
              </a:spcAft>
              <a:buFont typeface="Arial" pitchFamily="34" charset="0"/>
              <a:buChar char="•"/>
            </a:pPr>
            <a:r>
              <a:rPr lang="en-US" sz="1400" dirty="0"/>
              <a:t>The enzyme </a:t>
            </a:r>
            <a:r>
              <a:rPr lang="en-US" sz="1400" dirty="0" err="1"/>
              <a:t>Phosphodiesterase</a:t>
            </a:r>
            <a:r>
              <a:rPr lang="en-US" sz="1400" dirty="0"/>
              <a:t> breaks down </a:t>
            </a:r>
            <a:r>
              <a:rPr lang="en-US" sz="1400" dirty="0" err="1"/>
              <a:t>cAMP</a:t>
            </a:r>
            <a:r>
              <a:rPr lang="en-US" sz="1400" dirty="0"/>
              <a:t> and shuts the </a:t>
            </a:r>
            <a:r>
              <a:rPr lang="en-US" sz="1400" dirty="0" err="1"/>
              <a:t>chemotaxis</a:t>
            </a:r>
            <a:r>
              <a:rPr lang="en-US" sz="1400" dirty="0"/>
              <a:t> down</a:t>
            </a:r>
          </a:p>
          <a:p>
            <a:pPr marL="447675" lvl="1" indent="-271463">
              <a:spcAft>
                <a:spcPts val="300"/>
              </a:spcAft>
              <a:buFont typeface="Symbol" pitchFamily="18" charset="2"/>
              <a:buChar char="-"/>
            </a:pPr>
            <a:r>
              <a:rPr lang="en-US" sz="1400" dirty="0" err="1"/>
              <a:t>Phosphodiesterase</a:t>
            </a:r>
            <a:r>
              <a:rPr lang="en-US" sz="1400" dirty="0"/>
              <a:t> clears the receptors for the next round of binding, movement and </a:t>
            </a:r>
            <a:r>
              <a:rPr lang="en-US" sz="1400" dirty="0" err="1"/>
              <a:t>cAMP</a:t>
            </a:r>
            <a:r>
              <a:rPr lang="en-US" sz="1400" dirty="0"/>
              <a:t> production</a:t>
            </a:r>
          </a:p>
          <a:p>
            <a:pPr marL="447675" lvl="1" indent="-271463">
              <a:spcAft>
                <a:spcPts val="300"/>
              </a:spcAft>
              <a:buFont typeface="Symbol" pitchFamily="18" charset="2"/>
              <a:buChar char="-"/>
            </a:pPr>
            <a:r>
              <a:rPr lang="en-US" sz="1400" dirty="0"/>
              <a:t>the receiving receptors are stimulated again where the </a:t>
            </a:r>
            <a:r>
              <a:rPr lang="en-US" sz="1400" dirty="0" err="1"/>
              <a:t>cAMP</a:t>
            </a:r>
            <a:r>
              <a:rPr lang="en-US" sz="1400" dirty="0"/>
              <a:t> concentration is highest and where the binding thus occurs fastest</a:t>
            </a:r>
          </a:p>
          <a:p>
            <a:pPr marL="447675" lvl="1" indent="-271463">
              <a:spcAft>
                <a:spcPts val="300"/>
              </a:spcAft>
              <a:buFont typeface="Symbol" pitchFamily="18" charset="2"/>
              <a:buChar char="-"/>
            </a:pPr>
            <a:r>
              <a:rPr lang="en-US" sz="1400" dirty="0"/>
              <a:t>the movement is in the direction of the highest </a:t>
            </a:r>
            <a:r>
              <a:rPr lang="en-US" sz="1400" dirty="0" err="1"/>
              <a:t>cAMP</a:t>
            </a:r>
            <a:r>
              <a:rPr lang="en-US" sz="1400" dirty="0"/>
              <a:t> concentration</a:t>
            </a:r>
          </a:p>
        </p:txBody>
      </p:sp>
      <p:cxnSp>
        <p:nvCxnSpPr>
          <p:cNvPr id="4" name="Gerade Verbindung 3"/>
          <p:cNvCxnSpPr/>
          <p:nvPr/>
        </p:nvCxnSpPr>
        <p:spPr>
          <a:xfrm>
            <a:off x="1259632" y="4587974"/>
            <a:ext cx="0" cy="432048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/>
          <p:cNvCxnSpPr/>
          <p:nvPr/>
        </p:nvCxnSpPr>
        <p:spPr>
          <a:xfrm flipH="1">
            <a:off x="251520" y="5020022"/>
            <a:ext cx="1008112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/>
          <p:cNvCxnSpPr/>
          <p:nvPr/>
        </p:nvCxnSpPr>
        <p:spPr>
          <a:xfrm flipV="1">
            <a:off x="251520" y="1203598"/>
            <a:ext cx="0" cy="3816424"/>
          </a:xfrm>
          <a:prstGeom prst="line">
            <a:avLst/>
          </a:prstGeom>
          <a:ln w="381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 Verbindung mit Pfeil 6"/>
          <p:cNvCxnSpPr/>
          <p:nvPr/>
        </p:nvCxnSpPr>
        <p:spPr>
          <a:xfrm>
            <a:off x="251520" y="1203598"/>
            <a:ext cx="648072" cy="0"/>
          </a:xfrm>
          <a:prstGeom prst="straightConnector1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feld 7"/>
          <p:cNvSpPr txBox="1"/>
          <p:nvPr/>
        </p:nvSpPr>
        <p:spPr>
          <a:xfrm>
            <a:off x="1331640" y="4659982"/>
            <a:ext cx="7560840" cy="3077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/>
              <a:t>cAMP-Phosphodiesterase</a:t>
            </a:r>
            <a:r>
              <a:rPr lang="en-US" sz="1400" b="1" dirty="0"/>
              <a:t> regulated </a:t>
            </a:r>
            <a:r>
              <a:rPr lang="en-US" sz="1400" b="1" dirty="0" err="1"/>
              <a:t>chemotaxis</a:t>
            </a:r>
            <a:endParaRPr lang="en-US" sz="1400" b="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best known mathematical models for cell aggregation and </a:t>
            </a:r>
            <a:r>
              <a:rPr lang="en-US" dirty="0" err="1"/>
              <a:t>chemotaxis</a:t>
            </a:r>
            <a:r>
              <a:rPr lang="en-US" dirty="0"/>
              <a:t> were proposed with </a:t>
            </a:r>
            <a:r>
              <a:rPr lang="en-US" i="1" dirty="0" err="1"/>
              <a:t>dictyostelium</a:t>
            </a:r>
            <a:r>
              <a:rPr lang="en-US" i="1" dirty="0"/>
              <a:t> </a:t>
            </a:r>
            <a:r>
              <a:rPr lang="en-US" i="1" dirty="0" err="1"/>
              <a:t>discoideum</a:t>
            </a:r>
            <a:r>
              <a:rPr lang="en-US" dirty="0"/>
              <a:t> in mind</a:t>
            </a:r>
          </a:p>
        </p:txBody>
      </p:sp>
      <p:pic>
        <p:nvPicPr>
          <p:cNvPr id="3" name="Picture 5" descr="https://www.radcliffe.harvard.edu/sites/default/files/styles/large_body/public/imagefield_crop/field_image/person/evelyn-fox-keller_photo-by-tony-rinaldo_373px.jpg?itok=RkD5EmV2"/>
          <p:cNvPicPr>
            <a:picLocks noChangeAspect="1" noChangeArrowheads="1"/>
          </p:cNvPicPr>
          <p:nvPr/>
        </p:nvPicPr>
        <p:blipFill>
          <a:blip r:embed="rId2" cstate="print"/>
          <a:srcRect l="18086" r="13168"/>
          <a:stretch>
            <a:fillRect/>
          </a:stretch>
        </p:blipFill>
        <p:spPr bwMode="auto">
          <a:xfrm>
            <a:off x="179512" y="987574"/>
            <a:ext cx="2088232" cy="27363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Textfeld 3"/>
          <p:cNvSpPr txBox="1"/>
          <p:nvPr/>
        </p:nvSpPr>
        <p:spPr>
          <a:xfrm>
            <a:off x="179512" y="3795886"/>
            <a:ext cx="208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Evelyn Fox Keller (*1936)</a:t>
            </a:r>
            <a:endParaRPr lang="en-US" sz="1200" dirty="0"/>
          </a:p>
        </p:txBody>
      </p:sp>
      <p:pic>
        <p:nvPicPr>
          <p:cNvPr id="5" name="Picture 3" descr="https://upload.wikimedia.org/wikipedia/commons/thumb/e/e8/Lee_segel_portrait_1991.jpg/516px-Lee_segel_portrait_1991.jpg"/>
          <p:cNvPicPr>
            <a:picLocks noChangeAspect="1" noChangeArrowheads="1"/>
          </p:cNvPicPr>
          <p:nvPr/>
        </p:nvPicPr>
        <p:blipFill>
          <a:blip r:embed="rId3" cstate="print"/>
          <a:srcRect l="11408"/>
          <a:stretch>
            <a:fillRect/>
          </a:stretch>
        </p:blipFill>
        <p:spPr bwMode="auto">
          <a:xfrm>
            <a:off x="6948264" y="987574"/>
            <a:ext cx="2088232" cy="27363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extfeld 5"/>
          <p:cNvSpPr txBox="1"/>
          <p:nvPr/>
        </p:nvSpPr>
        <p:spPr>
          <a:xfrm>
            <a:off x="6948264" y="379588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Lee Aaron Segel</a:t>
            </a:r>
          </a:p>
          <a:p>
            <a:pPr algn="ctr"/>
            <a:r>
              <a:rPr lang="de-DE" sz="1200" dirty="0"/>
              <a:t>(1932–2005)</a:t>
            </a:r>
            <a:endParaRPr lang="en-US" sz="1200" dirty="0"/>
          </a:p>
        </p:txBody>
      </p:sp>
      <p:pic>
        <p:nvPicPr>
          <p:cNvPr id="8" name="Picture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11760" y="960277"/>
            <a:ext cx="3881216" cy="2475569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923448" y="2148471"/>
            <a:ext cx="3880800" cy="2871551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the Keller-</a:t>
            </a:r>
            <a:r>
              <a:rPr lang="en-US" dirty="0" err="1"/>
              <a:t>Segel</a:t>
            </a:r>
            <a:r>
              <a:rPr lang="en-US" dirty="0"/>
              <a:t> </a:t>
            </a:r>
            <a:r>
              <a:rPr lang="en-US" dirty="0" err="1"/>
              <a:t>chemotaxis</a:t>
            </a:r>
            <a:r>
              <a:rPr lang="en-US" dirty="0"/>
              <a:t> model’s key building blocks</a:t>
            </a:r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Step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3</a:t>
            </a:r>
          </a:p>
        </p:txBody>
      </p:sp>
      <p:sp>
        <p:nvSpPr>
          <p:cNvPr id="7" name="Auf der gleichen Seite des Rechtecks liegende Ecken abrunden 6"/>
          <p:cNvSpPr/>
          <p:nvPr/>
        </p:nvSpPr>
        <p:spPr>
          <a:xfrm>
            <a:off x="3923928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4</a:t>
            </a:r>
          </a:p>
        </p:txBody>
      </p:sp>
      <p:sp>
        <p:nvSpPr>
          <p:cNvPr id="8" name="Auf der gleichen Seite des Rechtecks liegende Ecken abrunden 7"/>
          <p:cNvSpPr/>
          <p:nvPr/>
        </p:nvSpPr>
        <p:spPr>
          <a:xfrm>
            <a:off x="5148064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5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Grafik 3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856695" y="1411999"/>
            <a:ext cx="5887858" cy="1737357"/>
          </a:xfrm>
          <a:prstGeom prst="rect">
            <a:avLst/>
          </a:prstGeom>
        </p:spPr>
      </p:pic>
      <p:sp>
        <p:nvSpPr>
          <p:cNvPr id="11" name="Ellipse 10"/>
          <p:cNvSpPr/>
          <p:nvPr/>
        </p:nvSpPr>
        <p:spPr>
          <a:xfrm>
            <a:off x="395536" y="1419622"/>
            <a:ext cx="2088232" cy="23762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fik 11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>
          <a:xfrm>
            <a:off x="611560" y="2931789"/>
            <a:ext cx="132804" cy="151590"/>
          </a:xfrm>
          <a:prstGeom prst="rect">
            <a:avLst/>
          </a:prstGeom>
        </p:spPr>
      </p:pic>
      <p:pic>
        <p:nvPicPr>
          <p:cNvPr id="13" name="Grafik 12" descr="IguanaTex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>
          <a:xfrm>
            <a:off x="395536" y="3795886"/>
            <a:ext cx="257966" cy="160191"/>
          </a:xfrm>
          <a:prstGeom prst="rect">
            <a:avLst/>
          </a:prstGeom>
        </p:spPr>
      </p:pic>
      <p:cxnSp>
        <p:nvCxnSpPr>
          <p:cNvPr id="14" name="Gerade Verbindung 13"/>
          <p:cNvCxnSpPr>
            <a:endCxn id="11" idx="3"/>
          </p:cNvCxnSpPr>
          <p:nvPr/>
        </p:nvCxnSpPr>
        <p:spPr>
          <a:xfrm flipV="1">
            <a:off x="539552" y="3447890"/>
            <a:ext cx="161799" cy="275988"/>
          </a:xfrm>
          <a:prstGeom prst="line">
            <a:avLst/>
          </a:prstGeom>
          <a:ln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35"/>
          <p:cNvSpPr/>
          <p:nvPr/>
        </p:nvSpPr>
        <p:spPr>
          <a:xfrm>
            <a:off x="827584" y="2211710"/>
            <a:ext cx="432048" cy="2160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Ellipse 36"/>
          <p:cNvSpPr/>
          <p:nvPr/>
        </p:nvSpPr>
        <p:spPr>
          <a:xfrm>
            <a:off x="971600" y="2283718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llipse 37"/>
          <p:cNvSpPr/>
          <p:nvPr/>
        </p:nvSpPr>
        <p:spPr>
          <a:xfrm>
            <a:off x="1331640" y="2211710"/>
            <a:ext cx="432048" cy="2160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Ellipse 38"/>
          <p:cNvSpPr/>
          <p:nvPr/>
        </p:nvSpPr>
        <p:spPr>
          <a:xfrm>
            <a:off x="1475656" y="2283718"/>
            <a:ext cx="72008" cy="72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Ellipse 39"/>
          <p:cNvSpPr/>
          <p:nvPr/>
        </p:nvSpPr>
        <p:spPr>
          <a:xfrm>
            <a:off x="1619672" y="2499742"/>
            <a:ext cx="432048" cy="2160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Ellipse 40"/>
          <p:cNvSpPr/>
          <p:nvPr/>
        </p:nvSpPr>
        <p:spPr>
          <a:xfrm>
            <a:off x="1691680" y="2571750"/>
            <a:ext cx="72008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Ellipse 41"/>
          <p:cNvSpPr/>
          <p:nvPr/>
        </p:nvSpPr>
        <p:spPr>
          <a:xfrm>
            <a:off x="1115616" y="2499742"/>
            <a:ext cx="432048" cy="216024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Ellipse 42"/>
          <p:cNvSpPr/>
          <p:nvPr/>
        </p:nvSpPr>
        <p:spPr>
          <a:xfrm>
            <a:off x="1259632" y="2571750"/>
            <a:ext cx="72008" cy="7200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the Keller-</a:t>
            </a:r>
            <a:r>
              <a:rPr lang="en-US" dirty="0" err="1"/>
              <a:t>Segel</a:t>
            </a:r>
            <a:r>
              <a:rPr lang="en-US" dirty="0"/>
              <a:t> </a:t>
            </a:r>
            <a:r>
              <a:rPr lang="en-US" dirty="0" err="1"/>
              <a:t>chemotaxis</a:t>
            </a:r>
            <a:r>
              <a:rPr lang="en-US" dirty="0"/>
              <a:t> model’s key building blocks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3320948" y="2499742"/>
            <a:ext cx="4968552" cy="93610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Step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3</a:t>
            </a:r>
          </a:p>
        </p:txBody>
      </p:sp>
      <p:sp>
        <p:nvSpPr>
          <p:cNvPr id="7" name="Auf der gleichen Seite des Rechtecks liegende Ecken abrunden 6"/>
          <p:cNvSpPr/>
          <p:nvPr/>
        </p:nvSpPr>
        <p:spPr>
          <a:xfrm>
            <a:off x="3923928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4</a:t>
            </a:r>
          </a:p>
        </p:txBody>
      </p:sp>
      <p:sp>
        <p:nvSpPr>
          <p:cNvPr id="8" name="Auf der gleichen Seite des Rechtecks liegende Ecken abrunden 7"/>
          <p:cNvSpPr/>
          <p:nvPr/>
        </p:nvSpPr>
        <p:spPr>
          <a:xfrm>
            <a:off x="5148064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5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Grafik 3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2856695" y="1411998"/>
            <a:ext cx="5899114" cy="2642177"/>
          </a:xfrm>
          <a:prstGeom prst="rect">
            <a:avLst/>
          </a:prstGeom>
        </p:spPr>
      </p:pic>
      <p:sp>
        <p:nvSpPr>
          <p:cNvPr id="11" name="Ellipse 10"/>
          <p:cNvSpPr/>
          <p:nvPr/>
        </p:nvSpPr>
        <p:spPr>
          <a:xfrm>
            <a:off x="395536" y="1419622"/>
            <a:ext cx="2088232" cy="23762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fik 11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611560" y="2931789"/>
            <a:ext cx="132804" cy="151590"/>
          </a:xfrm>
          <a:prstGeom prst="rect">
            <a:avLst/>
          </a:prstGeom>
        </p:spPr>
      </p:pic>
      <p:pic>
        <p:nvPicPr>
          <p:cNvPr id="13" name="Grafik 12" descr="IguanaTex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>
          <a:xfrm>
            <a:off x="395536" y="3795886"/>
            <a:ext cx="257966" cy="160191"/>
          </a:xfrm>
          <a:prstGeom prst="rect">
            <a:avLst/>
          </a:prstGeom>
        </p:spPr>
      </p:pic>
      <p:cxnSp>
        <p:nvCxnSpPr>
          <p:cNvPr id="14" name="Gerade Verbindung 13"/>
          <p:cNvCxnSpPr>
            <a:endCxn id="11" idx="3"/>
          </p:cNvCxnSpPr>
          <p:nvPr/>
        </p:nvCxnSpPr>
        <p:spPr>
          <a:xfrm flipV="1">
            <a:off x="539552" y="3447890"/>
            <a:ext cx="161799" cy="275988"/>
          </a:xfrm>
          <a:prstGeom prst="line">
            <a:avLst/>
          </a:prstGeom>
          <a:ln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uppieren 61"/>
          <p:cNvGrpSpPr/>
          <p:nvPr/>
        </p:nvGrpSpPr>
        <p:grpSpPr>
          <a:xfrm>
            <a:off x="827584" y="1563638"/>
            <a:ext cx="1354645" cy="1152128"/>
            <a:chOff x="827584" y="1700808"/>
            <a:chExt cx="1354645" cy="1152128"/>
          </a:xfrm>
        </p:grpSpPr>
        <p:sp>
          <p:nvSpPr>
            <p:cNvPr id="16" name="Ellipse 15"/>
            <p:cNvSpPr/>
            <p:nvPr/>
          </p:nvSpPr>
          <p:spPr>
            <a:xfrm>
              <a:off x="827584" y="2348880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Ellipse 16"/>
            <p:cNvSpPr/>
            <p:nvPr/>
          </p:nvSpPr>
          <p:spPr>
            <a:xfrm>
              <a:off x="971600" y="2420888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Ellipse 17"/>
            <p:cNvSpPr/>
            <p:nvPr/>
          </p:nvSpPr>
          <p:spPr>
            <a:xfrm>
              <a:off x="1331640" y="2348880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Ellipse 18"/>
            <p:cNvSpPr/>
            <p:nvPr/>
          </p:nvSpPr>
          <p:spPr>
            <a:xfrm>
              <a:off x="1475656" y="2420888"/>
              <a:ext cx="72008" cy="7200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Ellipse 19"/>
            <p:cNvSpPr/>
            <p:nvPr/>
          </p:nvSpPr>
          <p:spPr>
            <a:xfrm>
              <a:off x="1619672" y="2636912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Ellipse 20"/>
            <p:cNvSpPr/>
            <p:nvPr/>
          </p:nvSpPr>
          <p:spPr>
            <a:xfrm>
              <a:off x="1691680" y="2708920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Ellipse 21"/>
            <p:cNvSpPr/>
            <p:nvPr/>
          </p:nvSpPr>
          <p:spPr>
            <a:xfrm>
              <a:off x="1115616" y="2636912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Ellipse 22"/>
            <p:cNvSpPr/>
            <p:nvPr/>
          </p:nvSpPr>
          <p:spPr>
            <a:xfrm>
              <a:off x="1259632" y="2708920"/>
              <a:ext cx="72008" cy="7200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Nach links gekrümmter Pfeil 23"/>
            <p:cNvSpPr/>
            <p:nvPr/>
          </p:nvSpPr>
          <p:spPr>
            <a:xfrm rot="17424371">
              <a:off x="1462149" y="1704173"/>
              <a:ext cx="504056" cy="936104"/>
            </a:xfrm>
            <a:prstGeom prst="curvedLeftArrow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25" name="Grafik 24" descr="IguanaTex_tmp.png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 cstate="print"/>
            <a:stretch>
              <a:fillRect/>
            </a:stretch>
          </p:blipFill>
          <p:spPr>
            <a:xfrm>
              <a:off x="1187624" y="1700808"/>
              <a:ext cx="105241" cy="195641"/>
            </a:xfrm>
            <a:prstGeom prst="rect">
              <a:avLst/>
            </a:prstGeom>
          </p:spPr>
        </p:pic>
      </p:grpSp>
      <p:grpSp>
        <p:nvGrpSpPr>
          <p:cNvPr id="15" name="Gruppieren 60"/>
          <p:cNvGrpSpPr/>
          <p:nvPr/>
        </p:nvGrpSpPr>
        <p:grpSpPr>
          <a:xfrm>
            <a:off x="971600" y="3219822"/>
            <a:ext cx="1440160" cy="1246710"/>
            <a:chOff x="971600" y="3356992"/>
            <a:chExt cx="1440160" cy="1246710"/>
          </a:xfrm>
        </p:grpSpPr>
        <p:sp>
          <p:nvSpPr>
            <p:cNvPr id="27" name="Nach links gekrümmter Pfeil 26"/>
            <p:cNvSpPr/>
            <p:nvPr/>
          </p:nvSpPr>
          <p:spPr>
            <a:xfrm>
              <a:off x="1907704" y="3429000"/>
              <a:ext cx="504056" cy="936104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Nach links gekrümmter Pfeil 27"/>
            <p:cNvSpPr/>
            <p:nvPr/>
          </p:nvSpPr>
          <p:spPr>
            <a:xfrm rot="10800000">
              <a:off x="971600" y="3356992"/>
              <a:ext cx="504056" cy="936104"/>
            </a:xfrm>
            <a:prstGeom prst="curvedLeftArrow">
              <a:avLst/>
            </a:prstGeom>
            <a:solidFill>
              <a:srgbClr val="00B05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9" name="Gerade Verbindung mit Pfeil 28"/>
            <p:cNvCxnSpPr/>
            <p:nvPr/>
          </p:nvCxnSpPr>
          <p:spPr>
            <a:xfrm>
              <a:off x="1619672" y="3933056"/>
              <a:ext cx="144016" cy="576064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29"/>
            <p:cNvCxnSpPr/>
            <p:nvPr/>
          </p:nvCxnSpPr>
          <p:spPr>
            <a:xfrm flipV="1">
              <a:off x="1619672" y="3861048"/>
              <a:ext cx="288032" cy="72008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Bogen 30"/>
            <p:cNvSpPr/>
            <p:nvPr/>
          </p:nvSpPr>
          <p:spPr>
            <a:xfrm rot="5400000">
              <a:off x="1541314" y="3833490"/>
              <a:ext cx="216024" cy="216024"/>
            </a:xfrm>
            <a:prstGeom prst="arc">
              <a:avLst>
                <a:gd name="adj1" fmla="val 15034217"/>
                <a:gd name="adj2" fmla="val 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Ellipse 31"/>
            <p:cNvSpPr/>
            <p:nvPr/>
          </p:nvSpPr>
          <p:spPr>
            <a:xfrm>
              <a:off x="1658293" y="394600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Grafik 32" descr="IguanaTex_tmp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2" cstate="print"/>
            <a:stretch>
              <a:fillRect/>
            </a:stretch>
          </p:blipFill>
          <p:spPr>
            <a:xfrm>
              <a:off x="1835696" y="4509120"/>
              <a:ext cx="98977" cy="94582"/>
            </a:xfrm>
            <a:prstGeom prst="rect">
              <a:avLst/>
            </a:prstGeom>
          </p:spPr>
        </p:pic>
        <p:pic>
          <p:nvPicPr>
            <p:cNvPr id="34" name="Grafik 33" descr="IguanaTex_tmp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3" cstate="print"/>
            <a:stretch>
              <a:fillRect/>
            </a:stretch>
          </p:blipFill>
          <p:spPr>
            <a:xfrm>
              <a:off x="1043608" y="4365104"/>
              <a:ext cx="127793" cy="14640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the Keller-</a:t>
            </a:r>
            <a:r>
              <a:rPr lang="en-US" dirty="0" err="1"/>
              <a:t>Segel</a:t>
            </a:r>
            <a:r>
              <a:rPr lang="en-US" dirty="0"/>
              <a:t> </a:t>
            </a:r>
            <a:r>
              <a:rPr lang="en-US" dirty="0" err="1"/>
              <a:t>chemotaxis</a:t>
            </a:r>
            <a:r>
              <a:rPr lang="en-US" dirty="0"/>
              <a:t> model’s key building blocks</a:t>
            </a:r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Step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3</a:t>
            </a:r>
          </a:p>
        </p:txBody>
      </p:sp>
      <p:sp>
        <p:nvSpPr>
          <p:cNvPr id="7" name="Auf der gleichen Seite des Rechtecks liegende Ecken abrunden 6"/>
          <p:cNvSpPr/>
          <p:nvPr/>
        </p:nvSpPr>
        <p:spPr>
          <a:xfrm>
            <a:off x="3923928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4</a:t>
            </a:r>
          </a:p>
        </p:txBody>
      </p:sp>
      <p:sp>
        <p:nvSpPr>
          <p:cNvPr id="8" name="Auf der gleichen Seite des Rechtecks liegende Ecken abrunden 7"/>
          <p:cNvSpPr/>
          <p:nvPr/>
        </p:nvSpPr>
        <p:spPr>
          <a:xfrm>
            <a:off x="5148064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5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lipse 10"/>
          <p:cNvSpPr/>
          <p:nvPr/>
        </p:nvSpPr>
        <p:spPr>
          <a:xfrm>
            <a:off x="395536" y="1419622"/>
            <a:ext cx="2088232" cy="23762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fik 11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11560" y="2931789"/>
            <a:ext cx="132804" cy="151590"/>
          </a:xfrm>
          <a:prstGeom prst="rect">
            <a:avLst/>
          </a:prstGeom>
        </p:spPr>
      </p:pic>
      <p:pic>
        <p:nvPicPr>
          <p:cNvPr id="13" name="Grafik 12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395536" y="3795886"/>
            <a:ext cx="257966" cy="160191"/>
          </a:xfrm>
          <a:prstGeom prst="rect">
            <a:avLst/>
          </a:prstGeom>
        </p:spPr>
      </p:pic>
      <p:cxnSp>
        <p:nvCxnSpPr>
          <p:cNvPr id="14" name="Gerade Verbindung 13"/>
          <p:cNvCxnSpPr>
            <a:endCxn id="11" idx="3"/>
          </p:cNvCxnSpPr>
          <p:nvPr/>
        </p:nvCxnSpPr>
        <p:spPr>
          <a:xfrm flipV="1">
            <a:off x="539552" y="3447890"/>
            <a:ext cx="161799" cy="275988"/>
          </a:xfrm>
          <a:prstGeom prst="line">
            <a:avLst/>
          </a:prstGeom>
          <a:ln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pieren 61"/>
          <p:cNvGrpSpPr/>
          <p:nvPr/>
        </p:nvGrpSpPr>
        <p:grpSpPr>
          <a:xfrm>
            <a:off x="827584" y="1563638"/>
            <a:ext cx="1354645" cy="1152128"/>
            <a:chOff x="827584" y="1700808"/>
            <a:chExt cx="1354645" cy="1152128"/>
          </a:xfrm>
        </p:grpSpPr>
        <p:sp>
          <p:nvSpPr>
            <p:cNvPr id="16" name="Ellipse 15"/>
            <p:cNvSpPr/>
            <p:nvPr/>
          </p:nvSpPr>
          <p:spPr>
            <a:xfrm>
              <a:off x="827584" y="2348880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Ellipse 16"/>
            <p:cNvSpPr/>
            <p:nvPr/>
          </p:nvSpPr>
          <p:spPr>
            <a:xfrm>
              <a:off x="971600" y="2420888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Ellipse 17"/>
            <p:cNvSpPr/>
            <p:nvPr/>
          </p:nvSpPr>
          <p:spPr>
            <a:xfrm>
              <a:off x="1331640" y="2348880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Ellipse 18"/>
            <p:cNvSpPr/>
            <p:nvPr/>
          </p:nvSpPr>
          <p:spPr>
            <a:xfrm>
              <a:off x="1475656" y="2420888"/>
              <a:ext cx="72008" cy="7200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Ellipse 19"/>
            <p:cNvSpPr/>
            <p:nvPr/>
          </p:nvSpPr>
          <p:spPr>
            <a:xfrm>
              <a:off x="1619672" y="2636912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Ellipse 20"/>
            <p:cNvSpPr/>
            <p:nvPr/>
          </p:nvSpPr>
          <p:spPr>
            <a:xfrm>
              <a:off x="1691680" y="2708920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Ellipse 21"/>
            <p:cNvSpPr/>
            <p:nvPr/>
          </p:nvSpPr>
          <p:spPr>
            <a:xfrm>
              <a:off x="1115616" y="2636912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Ellipse 22"/>
            <p:cNvSpPr/>
            <p:nvPr/>
          </p:nvSpPr>
          <p:spPr>
            <a:xfrm>
              <a:off x="1259632" y="2708920"/>
              <a:ext cx="72008" cy="7200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Nach links gekrümmter Pfeil 23"/>
            <p:cNvSpPr/>
            <p:nvPr/>
          </p:nvSpPr>
          <p:spPr>
            <a:xfrm rot="17424371">
              <a:off x="1462149" y="1704173"/>
              <a:ext cx="504056" cy="936104"/>
            </a:xfrm>
            <a:prstGeom prst="curvedLeftArrow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25" name="Grafik 24" descr="IguanaTex_tmp.png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 cstate="print"/>
            <a:stretch>
              <a:fillRect/>
            </a:stretch>
          </p:blipFill>
          <p:spPr>
            <a:xfrm>
              <a:off x="1187624" y="1700808"/>
              <a:ext cx="105241" cy="195641"/>
            </a:xfrm>
            <a:prstGeom prst="rect">
              <a:avLst/>
            </a:prstGeom>
          </p:spPr>
        </p:pic>
      </p:grpSp>
      <p:grpSp>
        <p:nvGrpSpPr>
          <p:cNvPr id="10" name="Gruppieren 60"/>
          <p:cNvGrpSpPr/>
          <p:nvPr/>
        </p:nvGrpSpPr>
        <p:grpSpPr>
          <a:xfrm>
            <a:off x="971600" y="3219822"/>
            <a:ext cx="1440160" cy="1246710"/>
            <a:chOff x="971600" y="3356992"/>
            <a:chExt cx="1440160" cy="1246710"/>
          </a:xfrm>
        </p:grpSpPr>
        <p:sp>
          <p:nvSpPr>
            <p:cNvPr id="27" name="Nach links gekrümmter Pfeil 26"/>
            <p:cNvSpPr/>
            <p:nvPr/>
          </p:nvSpPr>
          <p:spPr>
            <a:xfrm>
              <a:off x="1907704" y="3429000"/>
              <a:ext cx="504056" cy="936104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Nach links gekrümmter Pfeil 27"/>
            <p:cNvSpPr/>
            <p:nvPr/>
          </p:nvSpPr>
          <p:spPr>
            <a:xfrm rot="10800000">
              <a:off x="971600" y="3356992"/>
              <a:ext cx="504056" cy="936104"/>
            </a:xfrm>
            <a:prstGeom prst="curvedLeftArrow">
              <a:avLst/>
            </a:prstGeom>
            <a:solidFill>
              <a:srgbClr val="00B05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9" name="Gerade Verbindung mit Pfeil 28"/>
            <p:cNvCxnSpPr/>
            <p:nvPr/>
          </p:nvCxnSpPr>
          <p:spPr>
            <a:xfrm>
              <a:off x="1619672" y="3933056"/>
              <a:ext cx="144016" cy="576064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29"/>
            <p:cNvCxnSpPr/>
            <p:nvPr/>
          </p:nvCxnSpPr>
          <p:spPr>
            <a:xfrm flipV="1">
              <a:off x="1619672" y="3861048"/>
              <a:ext cx="288032" cy="72008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Bogen 30"/>
            <p:cNvSpPr/>
            <p:nvPr/>
          </p:nvSpPr>
          <p:spPr>
            <a:xfrm rot="5400000">
              <a:off x="1541314" y="3833490"/>
              <a:ext cx="216024" cy="216024"/>
            </a:xfrm>
            <a:prstGeom prst="arc">
              <a:avLst>
                <a:gd name="adj1" fmla="val 15034217"/>
                <a:gd name="adj2" fmla="val 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Ellipse 31"/>
            <p:cNvSpPr/>
            <p:nvPr/>
          </p:nvSpPr>
          <p:spPr>
            <a:xfrm>
              <a:off x="1658293" y="394600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Grafik 32" descr="IguanaTex_tmp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/>
            <a:stretch>
              <a:fillRect/>
            </a:stretch>
          </p:blipFill>
          <p:spPr>
            <a:xfrm>
              <a:off x="1835696" y="4509120"/>
              <a:ext cx="98977" cy="94582"/>
            </a:xfrm>
            <a:prstGeom prst="rect">
              <a:avLst/>
            </a:prstGeom>
          </p:spPr>
        </p:pic>
        <p:pic>
          <p:nvPicPr>
            <p:cNvPr id="34" name="Grafik 33" descr="IguanaTex_tmp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 cstate="print"/>
            <a:stretch>
              <a:fillRect/>
            </a:stretch>
          </p:blipFill>
          <p:spPr>
            <a:xfrm>
              <a:off x="1043608" y="4365104"/>
              <a:ext cx="127793" cy="146407"/>
            </a:xfrm>
            <a:prstGeom prst="rect">
              <a:avLst/>
            </a:prstGeom>
          </p:spPr>
        </p:pic>
      </p:grpSp>
      <p:pic>
        <p:nvPicPr>
          <p:cNvPr id="37" name="Grafik 36" descr="IguanaTex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2856696" y="1411998"/>
            <a:ext cx="5679645" cy="31542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the Keller-</a:t>
            </a:r>
            <a:r>
              <a:rPr lang="en-US" dirty="0" err="1"/>
              <a:t>Segel</a:t>
            </a:r>
            <a:r>
              <a:rPr lang="en-US" dirty="0"/>
              <a:t> </a:t>
            </a:r>
            <a:r>
              <a:rPr lang="en-US" dirty="0" err="1"/>
              <a:t>chemotaxis</a:t>
            </a:r>
            <a:r>
              <a:rPr lang="en-US" dirty="0"/>
              <a:t> model’s key building blocks</a:t>
            </a:r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Step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3</a:t>
            </a:r>
          </a:p>
        </p:txBody>
      </p:sp>
      <p:sp>
        <p:nvSpPr>
          <p:cNvPr id="7" name="Auf der gleichen Seite des Rechtecks liegende Ecken abrunden 6"/>
          <p:cNvSpPr/>
          <p:nvPr/>
        </p:nvSpPr>
        <p:spPr>
          <a:xfrm>
            <a:off x="3923928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4</a:t>
            </a:r>
          </a:p>
        </p:txBody>
      </p:sp>
      <p:sp>
        <p:nvSpPr>
          <p:cNvPr id="8" name="Auf der gleichen Seite des Rechtecks liegende Ecken abrunden 7"/>
          <p:cNvSpPr/>
          <p:nvPr/>
        </p:nvSpPr>
        <p:spPr>
          <a:xfrm>
            <a:off x="5148064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5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lipse 10"/>
          <p:cNvSpPr/>
          <p:nvPr/>
        </p:nvSpPr>
        <p:spPr>
          <a:xfrm>
            <a:off x="395536" y="1419622"/>
            <a:ext cx="2088232" cy="2376264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fik 11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11560" y="2931789"/>
            <a:ext cx="132804" cy="151590"/>
          </a:xfrm>
          <a:prstGeom prst="rect">
            <a:avLst/>
          </a:prstGeom>
        </p:spPr>
      </p:pic>
      <p:pic>
        <p:nvPicPr>
          <p:cNvPr id="13" name="Grafik 12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>
          <a:xfrm>
            <a:off x="395536" y="3795886"/>
            <a:ext cx="257966" cy="160191"/>
          </a:xfrm>
          <a:prstGeom prst="rect">
            <a:avLst/>
          </a:prstGeom>
        </p:spPr>
      </p:pic>
      <p:cxnSp>
        <p:nvCxnSpPr>
          <p:cNvPr id="14" name="Gerade Verbindung 13"/>
          <p:cNvCxnSpPr>
            <a:endCxn id="11" idx="3"/>
          </p:cNvCxnSpPr>
          <p:nvPr/>
        </p:nvCxnSpPr>
        <p:spPr>
          <a:xfrm flipV="1">
            <a:off x="539552" y="3447890"/>
            <a:ext cx="161799" cy="275988"/>
          </a:xfrm>
          <a:prstGeom prst="line">
            <a:avLst/>
          </a:prstGeom>
          <a:ln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pieren 61"/>
          <p:cNvGrpSpPr/>
          <p:nvPr/>
        </p:nvGrpSpPr>
        <p:grpSpPr>
          <a:xfrm>
            <a:off x="827584" y="1563638"/>
            <a:ext cx="1354645" cy="1152128"/>
            <a:chOff x="827584" y="1700808"/>
            <a:chExt cx="1354645" cy="1152128"/>
          </a:xfrm>
        </p:grpSpPr>
        <p:sp>
          <p:nvSpPr>
            <p:cNvPr id="16" name="Ellipse 15"/>
            <p:cNvSpPr/>
            <p:nvPr/>
          </p:nvSpPr>
          <p:spPr>
            <a:xfrm>
              <a:off x="827584" y="2348880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Ellipse 16"/>
            <p:cNvSpPr/>
            <p:nvPr/>
          </p:nvSpPr>
          <p:spPr>
            <a:xfrm>
              <a:off x="971600" y="2420888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Ellipse 17"/>
            <p:cNvSpPr/>
            <p:nvPr/>
          </p:nvSpPr>
          <p:spPr>
            <a:xfrm>
              <a:off x="1331640" y="2348880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Ellipse 18"/>
            <p:cNvSpPr/>
            <p:nvPr/>
          </p:nvSpPr>
          <p:spPr>
            <a:xfrm>
              <a:off x="1475656" y="2420888"/>
              <a:ext cx="72008" cy="7200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Ellipse 19"/>
            <p:cNvSpPr/>
            <p:nvPr/>
          </p:nvSpPr>
          <p:spPr>
            <a:xfrm>
              <a:off x="1619672" y="2636912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Ellipse 20"/>
            <p:cNvSpPr/>
            <p:nvPr/>
          </p:nvSpPr>
          <p:spPr>
            <a:xfrm>
              <a:off x="1691680" y="2708920"/>
              <a:ext cx="72008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Ellipse 21"/>
            <p:cNvSpPr/>
            <p:nvPr/>
          </p:nvSpPr>
          <p:spPr>
            <a:xfrm>
              <a:off x="1115616" y="2636912"/>
              <a:ext cx="432048" cy="21602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Ellipse 22"/>
            <p:cNvSpPr/>
            <p:nvPr/>
          </p:nvSpPr>
          <p:spPr>
            <a:xfrm>
              <a:off x="1259632" y="2708920"/>
              <a:ext cx="72008" cy="7200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Nach links gekrümmter Pfeil 23"/>
            <p:cNvSpPr/>
            <p:nvPr/>
          </p:nvSpPr>
          <p:spPr>
            <a:xfrm rot="17424371">
              <a:off x="1462149" y="1704173"/>
              <a:ext cx="504056" cy="936104"/>
            </a:xfrm>
            <a:prstGeom prst="curvedLeftArrow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pic>
          <p:nvPicPr>
            <p:cNvPr id="25" name="Grafik 24" descr="IguanaTex_tmp.png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0" cstate="print"/>
            <a:stretch>
              <a:fillRect/>
            </a:stretch>
          </p:blipFill>
          <p:spPr>
            <a:xfrm>
              <a:off x="1187624" y="1700808"/>
              <a:ext cx="105241" cy="195641"/>
            </a:xfrm>
            <a:prstGeom prst="rect">
              <a:avLst/>
            </a:prstGeom>
          </p:spPr>
        </p:pic>
      </p:grpSp>
      <p:grpSp>
        <p:nvGrpSpPr>
          <p:cNvPr id="10" name="Gruppieren 60"/>
          <p:cNvGrpSpPr/>
          <p:nvPr/>
        </p:nvGrpSpPr>
        <p:grpSpPr>
          <a:xfrm>
            <a:off x="971600" y="3219822"/>
            <a:ext cx="1440160" cy="1246710"/>
            <a:chOff x="971600" y="3356992"/>
            <a:chExt cx="1440160" cy="1246710"/>
          </a:xfrm>
        </p:grpSpPr>
        <p:sp>
          <p:nvSpPr>
            <p:cNvPr id="27" name="Nach links gekrümmter Pfeil 26"/>
            <p:cNvSpPr/>
            <p:nvPr/>
          </p:nvSpPr>
          <p:spPr>
            <a:xfrm>
              <a:off x="1907704" y="3429000"/>
              <a:ext cx="504056" cy="936104"/>
            </a:xfrm>
            <a:prstGeom prst="curvedLeftArrow">
              <a:avLst/>
            </a:prstGeom>
            <a:solidFill>
              <a:srgbClr val="FF000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Nach links gekrümmter Pfeil 27"/>
            <p:cNvSpPr/>
            <p:nvPr/>
          </p:nvSpPr>
          <p:spPr>
            <a:xfrm rot="10800000">
              <a:off x="971600" y="3356992"/>
              <a:ext cx="504056" cy="936104"/>
            </a:xfrm>
            <a:prstGeom prst="curvedLeftArrow">
              <a:avLst/>
            </a:prstGeom>
            <a:solidFill>
              <a:srgbClr val="00B050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29" name="Gerade Verbindung mit Pfeil 28"/>
            <p:cNvCxnSpPr/>
            <p:nvPr/>
          </p:nvCxnSpPr>
          <p:spPr>
            <a:xfrm>
              <a:off x="1619672" y="3933056"/>
              <a:ext cx="144016" cy="576064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 Verbindung 29"/>
            <p:cNvCxnSpPr/>
            <p:nvPr/>
          </p:nvCxnSpPr>
          <p:spPr>
            <a:xfrm flipV="1">
              <a:off x="1619672" y="3861048"/>
              <a:ext cx="288032" cy="72008"/>
            </a:xfrm>
            <a:prstGeom prst="line">
              <a:avLst/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Bogen 30"/>
            <p:cNvSpPr/>
            <p:nvPr/>
          </p:nvSpPr>
          <p:spPr>
            <a:xfrm rot="5400000">
              <a:off x="1541314" y="3833490"/>
              <a:ext cx="216024" cy="216024"/>
            </a:xfrm>
            <a:prstGeom prst="arc">
              <a:avLst>
                <a:gd name="adj1" fmla="val 15034217"/>
                <a:gd name="adj2" fmla="val 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Ellipse 31"/>
            <p:cNvSpPr/>
            <p:nvPr/>
          </p:nvSpPr>
          <p:spPr>
            <a:xfrm>
              <a:off x="1658293" y="394600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Grafik 32" descr="IguanaTex_tmp.png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 cstate="print"/>
            <a:stretch>
              <a:fillRect/>
            </a:stretch>
          </p:blipFill>
          <p:spPr>
            <a:xfrm>
              <a:off x="1835696" y="4509120"/>
              <a:ext cx="98977" cy="94582"/>
            </a:xfrm>
            <a:prstGeom prst="rect">
              <a:avLst/>
            </a:prstGeom>
          </p:spPr>
        </p:pic>
        <p:pic>
          <p:nvPicPr>
            <p:cNvPr id="34" name="Grafik 33" descr="IguanaTex_tmp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 cstate="print"/>
            <a:stretch>
              <a:fillRect/>
            </a:stretch>
          </p:blipFill>
          <p:spPr>
            <a:xfrm>
              <a:off x="1043608" y="4365104"/>
              <a:ext cx="127793" cy="146407"/>
            </a:xfrm>
            <a:prstGeom prst="rect">
              <a:avLst/>
            </a:prstGeom>
          </p:spPr>
        </p:pic>
      </p:grpSp>
      <p:pic>
        <p:nvPicPr>
          <p:cNvPr id="35" name="Grafik 34" descr="IguanaTex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 cstate="print"/>
          <a:stretch>
            <a:fillRect/>
          </a:stretch>
        </p:blipFill>
        <p:spPr>
          <a:xfrm>
            <a:off x="2856695" y="1411999"/>
            <a:ext cx="4264426" cy="1688209"/>
          </a:xfrm>
          <a:prstGeom prst="rect">
            <a:avLst/>
          </a:prstGeom>
        </p:spPr>
      </p:pic>
      <p:sp>
        <p:nvSpPr>
          <p:cNvPr id="37" name="Abgerundetes Rechteck 36"/>
          <p:cNvSpPr/>
          <p:nvPr/>
        </p:nvSpPr>
        <p:spPr>
          <a:xfrm>
            <a:off x="3320948" y="2708146"/>
            <a:ext cx="4968552" cy="5760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the Keller-</a:t>
            </a:r>
            <a:r>
              <a:rPr lang="en-US" dirty="0" err="1"/>
              <a:t>Segel</a:t>
            </a:r>
            <a:r>
              <a:rPr lang="en-US" dirty="0"/>
              <a:t> </a:t>
            </a:r>
            <a:r>
              <a:rPr lang="en-US" dirty="0" err="1"/>
              <a:t>chemotaxis</a:t>
            </a:r>
            <a:r>
              <a:rPr lang="en-US" dirty="0"/>
              <a:t> model’s key building blocks</a:t>
            </a:r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Step 3</a:t>
            </a:r>
          </a:p>
        </p:txBody>
      </p:sp>
      <p:sp>
        <p:nvSpPr>
          <p:cNvPr id="7" name="Auf der gleichen Seite des Rechtecks liegende Ecken abrunden 6"/>
          <p:cNvSpPr/>
          <p:nvPr/>
        </p:nvSpPr>
        <p:spPr>
          <a:xfrm>
            <a:off x="3923928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4</a:t>
            </a:r>
          </a:p>
        </p:txBody>
      </p:sp>
      <p:sp>
        <p:nvSpPr>
          <p:cNvPr id="8" name="Auf der gleichen Seite des Rechtecks liegende Ecken abrunden 7"/>
          <p:cNvSpPr/>
          <p:nvPr/>
        </p:nvSpPr>
        <p:spPr>
          <a:xfrm>
            <a:off x="5148064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5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Grafik 38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82334" y="1411998"/>
            <a:ext cx="8386350" cy="3261103"/>
          </a:xfrm>
          <a:prstGeom prst="rect">
            <a:avLst/>
          </a:prstGeom>
        </p:spPr>
      </p:pic>
      <p:sp>
        <p:nvSpPr>
          <p:cNvPr id="40" name="Abgerundetes Rechteck 39"/>
          <p:cNvSpPr/>
          <p:nvPr/>
        </p:nvSpPr>
        <p:spPr>
          <a:xfrm>
            <a:off x="2411760" y="1995686"/>
            <a:ext cx="4320480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Gerade Verbindung 41"/>
          <p:cNvCxnSpPr/>
          <p:nvPr/>
        </p:nvCxnSpPr>
        <p:spPr>
          <a:xfrm>
            <a:off x="4139952" y="2499742"/>
            <a:ext cx="504056" cy="0"/>
          </a:xfrm>
          <a:prstGeom prst="lin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3" name="Gerade Verbindung 42"/>
          <p:cNvCxnSpPr/>
          <p:nvPr/>
        </p:nvCxnSpPr>
        <p:spPr>
          <a:xfrm>
            <a:off x="683568" y="2859782"/>
            <a:ext cx="504056" cy="0"/>
          </a:xfrm>
          <a:prstGeom prst="lin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the Keller-</a:t>
            </a:r>
            <a:r>
              <a:rPr lang="en-US" dirty="0" err="1"/>
              <a:t>Segel</a:t>
            </a:r>
            <a:r>
              <a:rPr lang="en-US" dirty="0"/>
              <a:t> </a:t>
            </a:r>
            <a:r>
              <a:rPr lang="en-US" dirty="0" err="1"/>
              <a:t>chemotaxis</a:t>
            </a:r>
            <a:r>
              <a:rPr lang="en-US" dirty="0"/>
              <a:t> model’s key building blocks</a:t>
            </a:r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Step 3</a:t>
            </a:r>
          </a:p>
        </p:txBody>
      </p:sp>
      <p:sp>
        <p:nvSpPr>
          <p:cNvPr id="7" name="Auf der gleichen Seite des Rechtecks liegende Ecken abrunden 6"/>
          <p:cNvSpPr/>
          <p:nvPr/>
        </p:nvSpPr>
        <p:spPr>
          <a:xfrm>
            <a:off x="3923928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4</a:t>
            </a:r>
          </a:p>
        </p:txBody>
      </p:sp>
      <p:sp>
        <p:nvSpPr>
          <p:cNvPr id="8" name="Auf der gleichen Seite des Rechtecks liegende Ecken abrunden 7"/>
          <p:cNvSpPr/>
          <p:nvPr/>
        </p:nvSpPr>
        <p:spPr>
          <a:xfrm>
            <a:off x="5148064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5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fik 9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82334" y="1411998"/>
            <a:ext cx="8372399" cy="2716657"/>
          </a:xfrm>
          <a:prstGeom prst="rect">
            <a:avLst/>
          </a:prstGeom>
        </p:spPr>
      </p:pic>
      <p:sp>
        <p:nvSpPr>
          <p:cNvPr id="11" name="Abgerundetes Rechteck 10"/>
          <p:cNvSpPr/>
          <p:nvPr/>
        </p:nvSpPr>
        <p:spPr>
          <a:xfrm>
            <a:off x="2411760" y="1995686"/>
            <a:ext cx="4320480" cy="43204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Gerade Verbindung 11"/>
          <p:cNvCxnSpPr/>
          <p:nvPr/>
        </p:nvCxnSpPr>
        <p:spPr>
          <a:xfrm>
            <a:off x="4939660" y="2499742"/>
            <a:ext cx="504056" cy="0"/>
          </a:xfrm>
          <a:prstGeom prst="lin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" name="Gerade Verbindung 12"/>
          <p:cNvCxnSpPr/>
          <p:nvPr/>
        </p:nvCxnSpPr>
        <p:spPr>
          <a:xfrm>
            <a:off x="744528" y="2859782"/>
            <a:ext cx="504056" cy="0"/>
          </a:xfrm>
          <a:prstGeom prst="lin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the Keller-</a:t>
            </a:r>
            <a:r>
              <a:rPr lang="en-US" dirty="0" err="1"/>
              <a:t>Segel</a:t>
            </a:r>
            <a:r>
              <a:rPr lang="en-US" dirty="0"/>
              <a:t> </a:t>
            </a:r>
            <a:r>
              <a:rPr lang="en-US" dirty="0" err="1"/>
              <a:t>chemotaxis</a:t>
            </a:r>
            <a:r>
              <a:rPr lang="en-US" dirty="0"/>
              <a:t> model’s key building blocks</a:t>
            </a:r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3</a:t>
            </a:r>
          </a:p>
        </p:txBody>
      </p:sp>
      <p:sp>
        <p:nvSpPr>
          <p:cNvPr id="7" name="Auf der gleichen Seite des Rechtecks liegende Ecken abrunden 6"/>
          <p:cNvSpPr/>
          <p:nvPr/>
        </p:nvSpPr>
        <p:spPr>
          <a:xfrm>
            <a:off x="3923928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Step 4</a:t>
            </a:r>
          </a:p>
        </p:txBody>
      </p:sp>
      <p:sp>
        <p:nvSpPr>
          <p:cNvPr id="8" name="Auf der gleichen Seite des Rechtecks liegende Ecken abrunden 7"/>
          <p:cNvSpPr/>
          <p:nvPr/>
        </p:nvSpPr>
        <p:spPr>
          <a:xfrm>
            <a:off x="5148064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5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Grafik 2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82335" y="1411998"/>
            <a:ext cx="6936593" cy="838109"/>
          </a:xfrm>
          <a:prstGeom prst="rect">
            <a:avLst/>
          </a:prstGeom>
        </p:spPr>
      </p:pic>
      <p:grpSp>
        <p:nvGrpSpPr>
          <p:cNvPr id="3" name="Gruppieren 23"/>
          <p:cNvGrpSpPr/>
          <p:nvPr/>
        </p:nvGrpSpPr>
        <p:grpSpPr>
          <a:xfrm>
            <a:off x="971600" y="1847169"/>
            <a:ext cx="7200800" cy="1334553"/>
            <a:chOff x="971600" y="1885269"/>
            <a:chExt cx="7200800" cy="1334553"/>
          </a:xfrm>
        </p:grpSpPr>
        <p:sp>
          <p:nvSpPr>
            <p:cNvPr id="15" name="Abgerundetes Rechteck 14"/>
            <p:cNvSpPr/>
            <p:nvPr/>
          </p:nvSpPr>
          <p:spPr>
            <a:xfrm>
              <a:off x="971600" y="1885269"/>
              <a:ext cx="7200800" cy="576064"/>
            </a:xfrm>
            <a:prstGeom prst="round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Geschweifte Klammer rechts 16"/>
            <p:cNvSpPr/>
            <p:nvPr/>
          </p:nvSpPr>
          <p:spPr>
            <a:xfrm rot="5400000">
              <a:off x="5184068" y="2290105"/>
              <a:ext cx="144016" cy="648072"/>
            </a:xfrm>
            <a:prstGeom prst="rightBrace">
              <a:avLst>
                <a:gd name="adj1" fmla="val 30379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Geschweifte Klammer rechts 17"/>
            <p:cNvSpPr/>
            <p:nvPr/>
          </p:nvSpPr>
          <p:spPr>
            <a:xfrm rot="5400000">
              <a:off x="7056276" y="2290105"/>
              <a:ext cx="144016" cy="648072"/>
            </a:xfrm>
            <a:prstGeom prst="rightBrace">
              <a:avLst>
                <a:gd name="adj1" fmla="val 30379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Geschweifte Klammer rechts 18"/>
            <p:cNvSpPr/>
            <p:nvPr/>
          </p:nvSpPr>
          <p:spPr>
            <a:xfrm rot="5400000">
              <a:off x="6120172" y="2074081"/>
              <a:ext cx="144016" cy="1080120"/>
            </a:xfrm>
            <a:prstGeom prst="rightBrace">
              <a:avLst>
                <a:gd name="adj1" fmla="val 30379"/>
                <a:gd name="adj2" fmla="val 50000"/>
              </a:avLst>
            </a:prstGeom>
            <a:ln>
              <a:solidFill>
                <a:schemeClr val="tx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feld 19"/>
            <p:cNvSpPr txBox="1"/>
            <p:nvPr/>
          </p:nvSpPr>
          <p:spPr>
            <a:xfrm>
              <a:off x="6810598" y="2758157"/>
              <a:ext cx="6447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source</a:t>
              </a:r>
            </a:p>
          </p:txBody>
        </p:sp>
        <p:sp>
          <p:nvSpPr>
            <p:cNvPr id="21" name="Textfeld 20"/>
            <p:cNvSpPr txBox="1"/>
            <p:nvPr/>
          </p:nvSpPr>
          <p:spPr>
            <a:xfrm>
              <a:off x="4882651" y="2758157"/>
              <a:ext cx="75257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diffusion</a:t>
              </a:r>
            </a:p>
          </p:txBody>
        </p:sp>
        <p:sp>
          <p:nvSpPr>
            <p:cNvPr id="22" name="Textfeld 21"/>
            <p:cNvSpPr txBox="1"/>
            <p:nvPr/>
          </p:nvSpPr>
          <p:spPr>
            <a:xfrm>
              <a:off x="5695681" y="2758157"/>
              <a:ext cx="9925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err="1"/>
                <a:t>chemotaxis</a:t>
              </a:r>
              <a:endParaRPr lang="en-US" sz="1200" dirty="0"/>
            </a:p>
            <a:p>
              <a:pPr algn="ctr"/>
              <a:r>
                <a:rPr lang="en-US" sz="1200" dirty="0"/>
                <a:t>aggregation</a:t>
              </a:r>
            </a:p>
          </p:txBody>
        </p:sp>
      </p:grpSp>
      <p:sp>
        <p:nvSpPr>
          <p:cNvPr id="23" name="Textfeld 22"/>
          <p:cNvSpPr txBox="1"/>
          <p:nvPr/>
        </p:nvSpPr>
        <p:spPr>
          <a:xfrm>
            <a:off x="6804248" y="4558357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 under the assumption that the coefficients are constant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the Keller-</a:t>
            </a:r>
            <a:r>
              <a:rPr lang="en-US" dirty="0" err="1"/>
              <a:t>Segel</a:t>
            </a:r>
            <a:r>
              <a:rPr lang="en-US" dirty="0"/>
              <a:t> </a:t>
            </a:r>
            <a:r>
              <a:rPr lang="en-US" dirty="0" err="1"/>
              <a:t>chemotaxis</a:t>
            </a:r>
            <a:r>
              <a:rPr lang="en-US" dirty="0"/>
              <a:t> model’s key building blocks</a:t>
            </a:r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3</a:t>
            </a:r>
          </a:p>
        </p:txBody>
      </p:sp>
      <p:sp>
        <p:nvSpPr>
          <p:cNvPr id="7" name="Auf der gleichen Seite des Rechtecks liegende Ecken abrunden 6"/>
          <p:cNvSpPr/>
          <p:nvPr/>
        </p:nvSpPr>
        <p:spPr>
          <a:xfrm>
            <a:off x="3923928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Step 4</a:t>
            </a:r>
          </a:p>
        </p:txBody>
      </p:sp>
      <p:sp>
        <p:nvSpPr>
          <p:cNvPr id="8" name="Auf der gleichen Seite des Rechtecks liegende Ecken abrunden 7"/>
          <p:cNvSpPr/>
          <p:nvPr/>
        </p:nvSpPr>
        <p:spPr>
          <a:xfrm>
            <a:off x="5148064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5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Grafik 23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82334" y="1411998"/>
            <a:ext cx="8390010" cy="2448566"/>
          </a:xfrm>
          <a:prstGeom prst="rect">
            <a:avLst/>
          </a:prstGeom>
        </p:spPr>
      </p:pic>
      <p:sp>
        <p:nvSpPr>
          <p:cNvPr id="16" name="Abgerundetes Rechteck 15"/>
          <p:cNvSpPr/>
          <p:nvPr/>
        </p:nvSpPr>
        <p:spPr>
          <a:xfrm>
            <a:off x="971600" y="1851670"/>
            <a:ext cx="7200800" cy="57606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feld 24"/>
          <p:cNvSpPr txBox="1"/>
          <p:nvPr/>
        </p:nvSpPr>
        <p:spPr>
          <a:xfrm>
            <a:off x="6804248" y="4558357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 under the assumption that the coefficients are constant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the Keller-</a:t>
            </a:r>
            <a:r>
              <a:rPr lang="en-US" dirty="0" err="1"/>
              <a:t>Segel</a:t>
            </a:r>
            <a:r>
              <a:rPr lang="en-US" dirty="0"/>
              <a:t> </a:t>
            </a:r>
            <a:r>
              <a:rPr lang="en-US" dirty="0" err="1"/>
              <a:t>chemotaxis</a:t>
            </a:r>
            <a:r>
              <a:rPr lang="en-US" dirty="0"/>
              <a:t> model’s key building blocks</a:t>
            </a:r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3</a:t>
            </a:r>
          </a:p>
        </p:txBody>
      </p:sp>
      <p:sp>
        <p:nvSpPr>
          <p:cNvPr id="7" name="Auf der gleichen Seite des Rechtecks liegende Ecken abrunden 6"/>
          <p:cNvSpPr/>
          <p:nvPr/>
        </p:nvSpPr>
        <p:spPr>
          <a:xfrm>
            <a:off x="3923928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4</a:t>
            </a:r>
          </a:p>
        </p:txBody>
      </p:sp>
      <p:sp>
        <p:nvSpPr>
          <p:cNvPr id="8" name="Auf der gleichen Seite des Rechtecks liegende Ecken abrunden 7"/>
          <p:cNvSpPr/>
          <p:nvPr/>
        </p:nvSpPr>
        <p:spPr>
          <a:xfrm>
            <a:off x="5148064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Step 5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fik 1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82334" y="1411999"/>
            <a:ext cx="7115909" cy="2531257"/>
          </a:xfrm>
          <a:prstGeom prst="rect">
            <a:avLst/>
          </a:prstGeom>
        </p:spPr>
      </p:pic>
      <p:sp>
        <p:nvSpPr>
          <p:cNvPr id="13" name="Abgerundetes Rechteck 12"/>
          <p:cNvSpPr/>
          <p:nvPr/>
        </p:nvSpPr>
        <p:spPr>
          <a:xfrm>
            <a:off x="2411760" y="2715766"/>
            <a:ext cx="4320480" cy="864096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feld 13"/>
          <p:cNvSpPr txBox="1"/>
          <p:nvPr/>
        </p:nvSpPr>
        <p:spPr>
          <a:xfrm>
            <a:off x="6804248" y="2715766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C00000"/>
                </a:solidFill>
              </a:rPr>
              <a:t>competition between diffusion and aggregation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of the Keller-</a:t>
            </a:r>
            <a:r>
              <a:rPr lang="en-US" dirty="0" err="1"/>
              <a:t>Segel</a:t>
            </a:r>
            <a:r>
              <a:rPr lang="en-US" dirty="0"/>
              <a:t> </a:t>
            </a:r>
            <a:r>
              <a:rPr lang="en-US" dirty="0" err="1"/>
              <a:t>chemotaxis</a:t>
            </a:r>
            <a:r>
              <a:rPr lang="en-US" dirty="0"/>
              <a:t> model’s key building blocks</a:t>
            </a:r>
          </a:p>
        </p:txBody>
      </p:sp>
      <p:sp>
        <p:nvSpPr>
          <p:cNvPr id="4" name="Auf der gleichen Seite des Rechtecks liegende Ecken abrunden 3"/>
          <p:cNvSpPr/>
          <p:nvPr/>
        </p:nvSpPr>
        <p:spPr>
          <a:xfrm>
            <a:off x="251520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1</a:t>
            </a:r>
          </a:p>
        </p:txBody>
      </p:sp>
      <p:sp>
        <p:nvSpPr>
          <p:cNvPr id="5" name="Auf der gleichen Seite des Rechtecks liegende Ecken abrunden 4"/>
          <p:cNvSpPr/>
          <p:nvPr/>
        </p:nvSpPr>
        <p:spPr>
          <a:xfrm>
            <a:off x="1475656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2</a:t>
            </a:r>
          </a:p>
        </p:txBody>
      </p:sp>
      <p:sp>
        <p:nvSpPr>
          <p:cNvPr id="6" name="Auf der gleichen Seite des Rechtecks liegende Ecken abrunden 5"/>
          <p:cNvSpPr/>
          <p:nvPr/>
        </p:nvSpPr>
        <p:spPr>
          <a:xfrm>
            <a:off x="2699792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3</a:t>
            </a:r>
          </a:p>
        </p:txBody>
      </p:sp>
      <p:sp>
        <p:nvSpPr>
          <p:cNvPr id="7" name="Auf der gleichen Seite des Rechtecks liegende Ecken abrunden 6"/>
          <p:cNvSpPr/>
          <p:nvPr/>
        </p:nvSpPr>
        <p:spPr>
          <a:xfrm>
            <a:off x="3923928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Step 4</a:t>
            </a:r>
          </a:p>
        </p:txBody>
      </p:sp>
      <p:sp>
        <p:nvSpPr>
          <p:cNvPr id="8" name="Auf der gleichen Seite des Rechtecks liegende Ecken abrunden 7"/>
          <p:cNvSpPr/>
          <p:nvPr/>
        </p:nvSpPr>
        <p:spPr>
          <a:xfrm>
            <a:off x="5148064" y="987574"/>
            <a:ext cx="1152128" cy="288032"/>
          </a:xfrm>
          <a:prstGeom prst="round2SameRect">
            <a:avLst>
              <a:gd name="adj1" fmla="val 34982"/>
              <a:gd name="adj2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Step 5</a:t>
            </a:r>
          </a:p>
        </p:txBody>
      </p:sp>
      <p:sp>
        <p:nvSpPr>
          <p:cNvPr id="9" name="Rechteck 8"/>
          <p:cNvSpPr/>
          <p:nvPr/>
        </p:nvSpPr>
        <p:spPr>
          <a:xfrm>
            <a:off x="251520" y="1275606"/>
            <a:ext cx="8640960" cy="374441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fik 19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382334" y="2570147"/>
            <a:ext cx="8389346" cy="2377867"/>
          </a:xfrm>
          <a:prstGeom prst="rect">
            <a:avLst/>
          </a:prstGeom>
        </p:spPr>
      </p:pic>
      <p:grpSp>
        <p:nvGrpSpPr>
          <p:cNvPr id="3" name="Gruppieren 25"/>
          <p:cNvGrpSpPr/>
          <p:nvPr/>
        </p:nvGrpSpPr>
        <p:grpSpPr>
          <a:xfrm>
            <a:off x="719572" y="1419622"/>
            <a:ext cx="7704856" cy="864096"/>
            <a:chOff x="755576" y="1347614"/>
            <a:chExt cx="7704856" cy="864096"/>
          </a:xfrm>
        </p:grpSpPr>
        <p:grpSp>
          <p:nvGrpSpPr>
            <p:cNvPr id="10" name="Gruppieren 23"/>
            <p:cNvGrpSpPr/>
            <p:nvPr/>
          </p:nvGrpSpPr>
          <p:grpSpPr>
            <a:xfrm>
              <a:off x="755576" y="1347614"/>
              <a:ext cx="3456384" cy="864096"/>
              <a:chOff x="755576" y="1347614"/>
              <a:chExt cx="3456384" cy="864096"/>
            </a:xfrm>
          </p:grpSpPr>
          <p:pic>
            <p:nvPicPr>
              <p:cNvPr id="19" name="Grafik 18" descr="IguanaTex_tmp.png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03295" y="1450657"/>
                <a:ext cx="2960946" cy="658010"/>
              </a:xfrm>
              <a:prstGeom prst="rect">
                <a:avLst/>
              </a:prstGeom>
            </p:spPr>
          </p:pic>
          <p:sp>
            <p:nvSpPr>
              <p:cNvPr id="21" name="Abgerundetes Rechteck 20"/>
              <p:cNvSpPr/>
              <p:nvPr/>
            </p:nvSpPr>
            <p:spPr>
              <a:xfrm>
                <a:off x="755576" y="1347614"/>
                <a:ext cx="3456384" cy="864096"/>
              </a:xfrm>
              <a:prstGeom prst="round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uppieren 24"/>
            <p:cNvGrpSpPr/>
            <p:nvPr/>
          </p:nvGrpSpPr>
          <p:grpSpPr>
            <a:xfrm>
              <a:off x="5292080" y="1347614"/>
              <a:ext cx="3168352" cy="864096"/>
              <a:chOff x="5292080" y="1347614"/>
              <a:chExt cx="3168352" cy="864096"/>
            </a:xfrm>
          </p:grpSpPr>
          <p:pic>
            <p:nvPicPr>
              <p:cNvPr id="17" name="Grafik 16" descr="IguanaTex_tmp.png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625620" y="1460979"/>
                <a:ext cx="2501273" cy="637366"/>
              </a:xfrm>
              <a:prstGeom prst="rect">
                <a:avLst/>
              </a:prstGeom>
            </p:spPr>
          </p:pic>
          <p:sp>
            <p:nvSpPr>
              <p:cNvPr id="22" name="Abgerundetes Rechteck 21"/>
              <p:cNvSpPr/>
              <p:nvPr/>
            </p:nvSpPr>
            <p:spPr>
              <a:xfrm>
                <a:off x="5292080" y="1347614"/>
                <a:ext cx="3168352" cy="864096"/>
              </a:xfrm>
              <a:prstGeom prst="round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Pfeil nach rechts 22"/>
            <p:cNvSpPr/>
            <p:nvPr/>
          </p:nvSpPr>
          <p:spPr>
            <a:xfrm>
              <a:off x="4355976" y="1599642"/>
              <a:ext cx="792088" cy="360040"/>
            </a:xfrm>
            <a:prstGeom prst="rightArrow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D0455-B3C0-BD97-8559-C222FDF1C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EB5971CD-0A79-772B-8C10-AD6D9540C78F}"/>
              </a:ext>
            </a:extLst>
          </p:cNvPr>
          <p:cNvSpPr/>
          <p:nvPr/>
        </p:nvSpPr>
        <p:spPr>
          <a:xfrm>
            <a:off x="971600" y="2104532"/>
            <a:ext cx="4824536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388AD18-2CA7-2C2E-EC03-D16566E50109}"/>
              </a:ext>
            </a:extLst>
          </p:cNvPr>
          <p:cNvSpPr txBox="1"/>
          <p:nvPr/>
        </p:nvSpPr>
        <p:spPr>
          <a:xfrm>
            <a:off x="971600" y="1131590"/>
            <a:ext cx="4357027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Topics</a:t>
            </a:r>
          </a:p>
          <a:p>
            <a:endParaRPr lang="en-US" sz="1000" dirty="0"/>
          </a:p>
          <a:p>
            <a:pPr lvl="1"/>
            <a:r>
              <a:rPr lang="en-US" dirty="0"/>
              <a:t>Chemotaxis &amp; the Keller-Segel Model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A First Mathematical Stability Analysis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Simulation of the Keller-Segel Model</a:t>
            </a:r>
          </a:p>
        </p:txBody>
      </p:sp>
      <p:sp>
        <p:nvSpPr>
          <p:cNvPr id="4" name="Gefaltete Ecke 3">
            <a:extLst>
              <a:ext uri="{FF2B5EF4-FFF2-40B4-BE49-F238E27FC236}">
                <a16:creationId xmlns:a16="http://schemas.microsoft.com/office/drawing/2014/main" id="{60D9846E-BBD9-42C7-A5A9-2B83100076D3}"/>
              </a:ext>
            </a:extLst>
          </p:cNvPr>
          <p:cNvSpPr/>
          <p:nvPr/>
        </p:nvSpPr>
        <p:spPr>
          <a:xfrm>
            <a:off x="6012160" y="1851670"/>
            <a:ext cx="3024336" cy="3175198"/>
          </a:xfrm>
          <a:prstGeom prst="foldedCorner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We are interested in explaining biological phenomena by means of mathematical models that capture the essence of the problem (here the competition between diffusion and aggregation).</a:t>
            </a:r>
          </a:p>
          <a:p>
            <a:pPr algn="ctr"/>
            <a:endParaRPr lang="en-US" sz="8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Thus, although not capturing the whole life-cycle of </a:t>
            </a:r>
            <a:r>
              <a:rPr lang="en-US" sz="1400" i="1" dirty="0" err="1">
                <a:solidFill>
                  <a:schemeClr val="tx1"/>
                </a:solidFill>
              </a:rPr>
              <a:t>dictyostelium</a:t>
            </a:r>
            <a:r>
              <a:rPr lang="en-US" sz="1400" i="1" dirty="0">
                <a:solidFill>
                  <a:schemeClr val="tx1"/>
                </a:solidFill>
              </a:rPr>
              <a:t> </a:t>
            </a:r>
            <a:r>
              <a:rPr lang="en-US" sz="1400" i="1" dirty="0" err="1">
                <a:solidFill>
                  <a:schemeClr val="tx1"/>
                </a:solidFill>
              </a:rPr>
              <a:t>discoideum</a:t>
            </a:r>
            <a:r>
              <a:rPr lang="en-US" sz="1400" i="1" dirty="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the simplified KS-model (or </a:t>
            </a:r>
            <a:r>
              <a:rPr lang="de-DE" sz="1400" dirty="0">
                <a:solidFill>
                  <a:schemeClr val="tx1"/>
                </a:solidFill>
              </a:rPr>
              <a:t>Keller-</a:t>
            </a:r>
            <a:r>
              <a:rPr lang="de-DE" sz="1400" dirty="0" err="1">
                <a:solidFill>
                  <a:schemeClr val="tx1"/>
                </a:solidFill>
              </a:rPr>
              <a:t>Segel‘s</a:t>
            </a:r>
            <a:r>
              <a:rPr lang="de-DE" sz="1400" dirty="0">
                <a:solidFill>
                  <a:schemeClr val="tx1"/>
                </a:solidFill>
              </a:rPr>
              <a:t> minimal </a:t>
            </a:r>
            <a:r>
              <a:rPr lang="de-DE" sz="1400" dirty="0" err="1">
                <a:solidFill>
                  <a:schemeClr val="tx1"/>
                </a:solidFill>
              </a:rPr>
              <a:t>chemotaxis</a:t>
            </a:r>
            <a:r>
              <a:rPr lang="de-DE" sz="1400" dirty="0">
                <a:solidFill>
                  <a:schemeClr val="tx1"/>
                </a:solidFill>
              </a:rPr>
              <a:t> model</a:t>
            </a:r>
            <a:r>
              <a:rPr lang="en-US" sz="1400" dirty="0">
                <a:solidFill>
                  <a:schemeClr val="tx1"/>
                </a:solidFill>
              </a:rPr>
              <a:t>)  has a lot of value.</a:t>
            </a:r>
          </a:p>
        </p:txBody>
      </p:sp>
    </p:spTree>
    <p:extLst>
      <p:ext uri="{BB962C8B-B14F-4D97-AF65-F5344CB8AC3E}">
        <p14:creationId xmlns:p14="http://schemas.microsoft.com/office/powerpoint/2010/main" val="8472760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DE4BD9-4F8F-DC67-5E4F-4E3ECA24D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mathematical analysis of the simplified KS-model can follow a somewhat straight-forward approach</a:t>
            </a:r>
            <a:endParaRPr lang="de-DE" dirty="0"/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BEBED25D-7D57-0DA2-0463-6D4E84B1ED56}"/>
              </a:ext>
            </a:extLst>
          </p:cNvPr>
          <p:cNvSpPr/>
          <p:nvPr/>
        </p:nvSpPr>
        <p:spPr>
          <a:xfrm>
            <a:off x="2411760" y="1000114"/>
            <a:ext cx="4320480" cy="864096"/>
          </a:xfrm>
          <a:prstGeom prst="roundRect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DB92C84-0324-A046-5BC2-5ECBB1C4A510}"/>
              </a:ext>
            </a:extLst>
          </p:cNvPr>
          <p:cNvSpPr txBox="1"/>
          <p:nvPr/>
        </p:nvSpPr>
        <p:spPr>
          <a:xfrm>
            <a:off x="6948264" y="1402545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together with initial and boundary conditions</a:t>
            </a:r>
          </a:p>
        </p:txBody>
      </p:sp>
      <p:pic>
        <p:nvPicPr>
          <p:cNvPr id="13" name="Grafik 12" descr="IguanaTex_tmp.png">
            <a:extLst>
              <a:ext uri="{FF2B5EF4-FFF2-40B4-BE49-F238E27FC236}">
                <a16:creationId xmlns:a16="http://schemas.microsoft.com/office/drawing/2014/main" id="{39DEB969-0B72-F03A-74E3-5D8A50D73AB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321674" y="1113516"/>
            <a:ext cx="2500653" cy="637293"/>
          </a:xfrm>
          <a:prstGeom prst="rect">
            <a:avLst/>
          </a:prstGeom>
          <a:solidFill>
            <a:srgbClr val="FFFF66"/>
          </a:solidFill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379C7629-B1E4-96DA-14D8-2EEB353A6E98}"/>
              </a:ext>
            </a:extLst>
          </p:cNvPr>
          <p:cNvSpPr/>
          <p:nvPr/>
        </p:nvSpPr>
        <p:spPr>
          <a:xfrm>
            <a:off x="3347864" y="2427734"/>
            <a:ext cx="5544616" cy="72008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60363" indent="-184150"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 some classes of PDEs general results exist</a:t>
            </a:r>
          </a:p>
          <a:p>
            <a:pPr marL="360363" indent="-184150"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Besides these and depending on the problem, proving existence and uniqueness can become rather tricky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B5A5D17C-84A1-58AE-34D0-C9F2B0E2A634}"/>
              </a:ext>
            </a:extLst>
          </p:cNvPr>
          <p:cNvSpPr/>
          <p:nvPr/>
        </p:nvSpPr>
        <p:spPr>
          <a:xfrm>
            <a:off x="3347864" y="3291830"/>
            <a:ext cx="5544616" cy="72008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60363" indent="-184150"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Steady-state solutions/ </a:t>
            </a:r>
            <a:r>
              <a:rPr lang="en-US" sz="1400" dirty="0" err="1">
                <a:solidFill>
                  <a:schemeClr val="tx1"/>
                </a:solidFill>
              </a:rPr>
              <a:t>equilibria</a:t>
            </a:r>
            <a:r>
              <a:rPr lang="en-US" sz="1400" dirty="0">
                <a:solidFill>
                  <a:schemeClr val="tx1"/>
                </a:solidFill>
              </a:rPr>
              <a:t> (periodic orbits)</a:t>
            </a:r>
          </a:p>
          <a:p>
            <a:pPr marL="360363" indent="-184150"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Linearized</a:t>
            </a:r>
            <a:r>
              <a:rPr lang="en-US" sz="1400" dirty="0">
                <a:solidFill>
                  <a:schemeClr val="tx1"/>
                </a:solidFill>
              </a:rPr>
              <a:t>/ spectral/ </a:t>
            </a:r>
            <a:r>
              <a:rPr lang="en-US" sz="1400" dirty="0" err="1">
                <a:solidFill>
                  <a:schemeClr val="tx1"/>
                </a:solidFill>
              </a:rPr>
              <a:t>Lyapunov</a:t>
            </a:r>
            <a:r>
              <a:rPr lang="en-US" sz="1400" dirty="0">
                <a:solidFill>
                  <a:schemeClr val="tx1"/>
                </a:solidFill>
              </a:rPr>
              <a:t> stability</a:t>
            </a:r>
          </a:p>
          <a:p>
            <a:pPr marL="360363" indent="-184150"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Parameter dependence and bifurcations</a:t>
            </a:r>
          </a:p>
        </p:txBody>
      </p:sp>
      <p:sp>
        <p:nvSpPr>
          <p:cNvPr id="16" name="Richtungspfeil 7">
            <a:extLst>
              <a:ext uri="{FF2B5EF4-FFF2-40B4-BE49-F238E27FC236}">
                <a16:creationId xmlns:a16="http://schemas.microsoft.com/office/drawing/2014/main" id="{F8B010FC-79C5-2FA2-542D-58742088DEAC}"/>
              </a:ext>
            </a:extLst>
          </p:cNvPr>
          <p:cNvSpPr/>
          <p:nvPr/>
        </p:nvSpPr>
        <p:spPr>
          <a:xfrm>
            <a:off x="251520" y="2427734"/>
            <a:ext cx="3240360" cy="72008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Well-</a:t>
            </a:r>
            <a:r>
              <a:rPr lang="en-US" sz="1400" dirty="0" err="1">
                <a:solidFill>
                  <a:schemeClr val="tx1"/>
                </a:solidFill>
              </a:rPr>
              <a:t>Posedness</a:t>
            </a:r>
            <a:r>
              <a:rPr lang="en-US" sz="1400" dirty="0">
                <a:solidFill>
                  <a:schemeClr val="tx1"/>
                </a:solidFill>
              </a:rPr>
              <a:t>, Existence and Uniqueness of Solutions</a:t>
            </a:r>
          </a:p>
        </p:txBody>
      </p:sp>
      <p:sp>
        <p:nvSpPr>
          <p:cNvPr id="17" name="Richtungspfeil 8">
            <a:extLst>
              <a:ext uri="{FF2B5EF4-FFF2-40B4-BE49-F238E27FC236}">
                <a16:creationId xmlns:a16="http://schemas.microsoft.com/office/drawing/2014/main" id="{454EAE28-580A-F193-7CD4-48D828F9F867}"/>
              </a:ext>
            </a:extLst>
          </p:cNvPr>
          <p:cNvSpPr/>
          <p:nvPr/>
        </p:nvSpPr>
        <p:spPr>
          <a:xfrm>
            <a:off x="251520" y="3291830"/>
            <a:ext cx="3240360" cy="720080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Steady-State Solutions/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Equilibria and their Stability</a:t>
            </a:r>
          </a:p>
        </p:txBody>
      </p:sp>
    </p:spTree>
    <p:extLst>
      <p:ext uri="{BB962C8B-B14F-4D97-AF65-F5344CB8AC3E}">
        <p14:creationId xmlns:p14="http://schemas.microsoft.com/office/powerpoint/2010/main" val="286496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to the unique existence of solutions of systems of quasi-linear systems (</a:t>
            </a:r>
            <a:r>
              <a:rPr lang="en-US" dirty="0" err="1"/>
              <a:t>Ladyzenskaja</a:t>
            </a:r>
            <a:r>
              <a:rPr lang="en-US" dirty="0"/>
              <a:t>, </a:t>
            </a:r>
            <a:r>
              <a:rPr lang="en-US" dirty="0" err="1"/>
              <a:t>Solonnikov</a:t>
            </a:r>
            <a:r>
              <a:rPr lang="en-US" dirty="0"/>
              <a:t> &amp; </a:t>
            </a:r>
            <a:r>
              <a:rPr lang="en-US" dirty="0" err="1"/>
              <a:t>Uralceva</a:t>
            </a:r>
            <a:r>
              <a:rPr lang="en-US" dirty="0"/>
              <a:t>, Theorem 7.1, pp. 596) – 1/ 3</a:t>
            </a:r>
          </a:p>
        </p:txBody>
      </p:sp>
      <p:pic>
        <p:nvPicPr>
          <p:cNvPr id="12" name="Grafik 11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43901" y="1000113"/>
            <a:ext cx="7527966" cy="3928751"/>
          </a:xfrm>
          <a:prstGeom prst="rect">
            <a:avLst/>
          </a:prstGeom>
        </p:spPr>
      </p:pic>
      <p:sp>
        <p:nvSpPr>
          <p:cNvPr id="4" name="Abgerundetes Rechteck 3"/>
          <p:cNvSpPr/>
          <p:nvPr/>
        </p:nvSpPr>
        <p:spPr>
          <a:xfrm>
            <a:off x="107504" y="929817"/>
            <a:ext cx="8928992" cy="4070825"/>
          </a:xfrm>
          <a:prstGeom prst="roundRect">
            <a:avLst>
              <a:gd name="adj" fmla="val 3865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to the unique existence of solutions of systems of quasi-linear systems (</a:t>
            </a:r>
            <a:r>
              <a:rPr lang="en-US" dirty="0" err="1"/>
              <a:t>Ladyzenskaja</a:t>
            </a:r>
            <a:r>
              <a:rPr lang="en-US" dirty="0"/>
              <a:t>, </a:t>
            </a:r>
            <a:r>
              <a:rPr lang="en-US" dirty="0" err="1"/>
              <a:t>Solonnikov</a:t>
            </a:r>
            <a:r>
              <a:rPr lang="en-US" dirty="0"/>
              <a:t> &amp; </a:t>
            </a:r>
            <a:r>
              <a:rPr lang="en-US" dirty="0" err="1"/>
              <a:t>Uralceva</a:t>
            </a:r>
            <a:r>
              <a:rPr lang="en-US" dirty="0"/>
              <a:t>, Theorem 7.1, pp. 596) – 2a/ 3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107504" y="929817"/>
            <a:ext cx="8928992" cy="4070825"/>
          </a:xfrm>
          <a:prstGeom prst="roundRect">
            <a:avLst>
              <a:gd name="adj" fmla="val 3865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fik 10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43901" y="1000112"/>
            <a:ext cx="8391851" cy="387604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to the unique existence of solutions of systems of quasi-linear systems (</a:t>
            </a:r>
            <a:r>
              <a:rPr lang="en-US" dirty="0" err="1"/>
              <a:t>Ladyzenskaja</a:t>
            </a:r>
            <a:r>
              <a:rPr lang="en-US" dirty="0"/>
              <a:t>, </a:t>
            </a:r>
            <a:r>
              <a:rPr lang="en-US" dirty="0" err="1"/>
              <a:t>Solonnikov</a:t>
            </a:r>
            <a:r>
              <a:rPr lang="en-US" dirty="0"/>
              <a:t> &amp; </a:t>
            </a:r>
            <a:r>
              <a:rPr lang="en-US" dirty="0" err="1"/>
              <a:t>Uralceva</a:t>
            </a:r>
            <a:r>
              <a:rPr lang="en-US" dirty="0"/>
              <a:t>, Theorem 7.1, pp. 596) – 2b/ 3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107504" y="929817"/>
            <a:ext cx="8928992" cy="4070825"/>
          </a:xfrm>
          <a:prstGeom prst="roundRect">
            <a:avLst>
              <a:gd name="adj" fmla="val 3865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fik 1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43901" y="1000112"/>
            <a:ext cx="7404814" cy="264266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to the unique existence of solutions of systems of quasi-linear systems (</a:t>
            </a:r>
            <a:r>
              <a:rPr lang="en-US" dirty="0" err="1"/>
              <a:t>Ladyzenskaja</a:t>
            </a:r>
            <a:r>
              <a:rPr lang="en-US" dirty="0"/>
              <a:t>, </a:t>
            </a:r>
            <a:r>
              <a:rPr lang="en-US" dirty="0" err="1"/>
              <a:t>Solonnikov</a:t>
            </a:r>
            <a:r>
              <a:rPr lang="en-US" dirty="0"/>
              <a:t> &amp; </a:t>
            </a:r>
            <a:r>
              <a:rPr lang="en-US" dirty="0" err="1"/>
              <a:t>Uralceva</a:t>
            </a:r>
            <a:r>
              <a:rPr lang="en-US" dirty="0"/>
              <a:t>, Theorem 7.1, pp. 596) – 3/ 3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107504" y="929817"/>
            <a:ext cx="8928992" cy="4070825"/>
          </a:xfrm>
          <a:prstGeom prst="roundRect">
            <a:avLst>
              <a:gd name="adj" fmla="val 3865"/>
            </a:avLst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fik 9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43902" y="1000112"/>
            <a:ext cx="8663769" cy="381219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remains is to verify that this Existence-and-Uniqueness Theorem applies for the simplified KS-model </a:t>
            </a:r>
          </a:p>
        </p:txBody>
      </p:sp>
      <p:sp>
        <p:nvSpPr>
          <p:cNvPr id="5" name="Rechteck 4"/>
          <p:cNvSpPr/>
          <p:nvPr/>
        </p:nvSpPr>
        <p:spPr>
          <a:xfrm>
            <a:off x="3347864" y="1142990"/>
            <a:ext cx="5544616" cy="72008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60363" indent="-184150"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Re-write the simplified KS-model in terms of the Theorem</a:t>
            </a:r>
          </a:p>
          <a:p>
            <a:pPr marL="360363" indent="-184150"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 that the conditions of the Theorem are satisfied (by choosing the constants in the Theorem appropriately)</a:t>
            </a:r>
          </a:p>
        </p:txBody>
      </p:sp>
      <p:sp>
        <p:nvSpPr>
          <p:cNvPr id="6" name="Richtungspfeil 5"/>
          <p:cNvSpPr/>
          <p:nvPr/>
        </p:nvSpPr>
        <p:spPr>
          <a:xfrm>
            <a:off x="251520" y="1142990"/>
            <a:ext cx="3240360" cy="72008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Well-</a:t>
            </a:r>
            <a:r>
              <a:rPr lang="en-US" sz="1400" dirty="0" err="1">
                <a:solidFill>
                  <a:schemeClr val="tx1"/>
                </a:solidFill>
              </a:rPr>
              <a:t>Posedness</a:t>
            </a:r>
            <a:r>
              <a:rPr lang="en-US" sz="1400" dirty="0">
                <a:solidFill>
                  <a:schemeClr val="tx1"/>
                </a:solidFill>
              </a:rPr>
              <a:t>, Existence and Uniqueness of Solutions</a:t>
            </a:r>
          </a:p>
        </p:txBody>
      </p:sp>
      <p:sp>
        <p:nvSpPr>
          <p:cNvPr id="8" name="Freeform 37"/>
          <p:cNvSpPr>
            <a:spLocks/>
          </p:cNvSpPr>
          <p:nvPr/>
        </p:nvSpPr>
        <p:spPr bwMode="auto">
          <a:xfrm rot="16965747" flipH="1">
            <a:off x="3787297" y="1607421"/>
            <a:ext cx="573518" cy="1004525"/>
          </a:xfrm>
          <a:custGeom>
            <a:avLst/>
            <a:gdLst/>
            <a:ahLst/>
            <a:cxnLst>
              <a:cxn ang="0">
                <a:pos x="75" y="36"/>
              </a:cxn>
              <a:cxn ang="0">
                <a:pos x="174" y="87"/>
              </a:cxn>
              <a:cxn ang="0">
                <a:pos x="285" y="162"/>
              </a:cxn>
              <a:cxn ang="0">
                <a:pos x="417" y="282"/>
              </a:cxn>
              <a:cxn ang="0">
                <a:pos x="513" y="405"/>
              </a:cxn>
              <a:cxn ang="0">
                <a:pos x="591" y="528"/>
              </a:cxn>
              <a:cxn ang="0">
                <a:pos x="657" y="666"/>
              </a:cxn>
              <a:cxn ang="0">
                <a:pos x="717" y="813"/>
              </a:cxn>
              <a:cxn ang="0">
                <a:pos x="762" y="969"/>
              </a:cxn>
              <a:cxn ang="0">
                <a:pos x="792" y="1149"/>
              </a:cxn>
              <a:cxn ang="0">
                <a:pos x="813" y="1332"/>
              </a:cxn>
              <a:cxn ang="0">
                <a:pos x="813" y="1479"/>
              </a:cxn>
              <a:cxn ang="0">
                <a:pos x="804" y="1635"/>
              </a:cxn>
              <a:cxn ang="0">
                <a:pos x="780" y="1785"/>
              </a:cxn>
              <a:cxn ang="0">
                <a:pos x="591" y="1830"/>
              </a:cxn>
              <a:cxn ang="0">
                <a:pos x="1149" y="1971"/>
              </a:cxn>
              <a:cxn ang="0">
                <a:pos x="1008" y="1869"/>
              </a:cxn>
              <a:cxn ang="0">
                <a:pos x="1038" y="1716"/>
              </a:cxn>
              <a:cxn ang="0">
                <a:pos x="1050" y="1566"/>
              </a:cxn>
              <a:cxn ang="0">
                <a:pos x="1053" y="1395"/>
              </a:cxn>
              <a:cxn ang="0">
                <a:pos x="1035" y="1206"/>
              </a:cxn>
              <a:cxn ang="0">
                <a:pos x="1005" y="1050"/>
              </a:cxn>
              <a:cxn ang="0">
                <a:pos x="963" y="900"/>
              </a:cxn>
              <a:cxn ang="0">
                <a:pos x="912" y="762"/>
              </a:cxn>
              <a:cxn ang="0">
                <a:pos x="837" y="603"/>
              </a:cxn>
              <a:cxn ang="0">
                <a:pos x="750" y="462"/>
              </a:cxn>
              <a:cxn ang="0">
                <a:pos x="669" y="363"/>
              </a:cxn>
              <a:cxn ang="0">
                <a:pos x="558" y="249"/>
              </a:cxn>
              <a:cxn ang="0">
                <a:pos x="433" y="157"/>
              </a:cxn>
              <a:cxn ang="0">
                <a:pos x="297" y="81"/>
              </a:cxn>
              <a:cxn ang="0">
                <a:pos x="153" y="24"/>
              </a:cxn>
              <a:cxn ang="0">
                <a:pos x="0" y="0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7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9" name="Picture 2" descr="https://intimkehely.info/wp-content/uploads/2015/09/pipa_je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28219" y="1963551"/>
            <a:ext cx="712499" cy="720079"/>
          </a:xfrm>
          <a:prstGeom prst="rect">
            <a:avLst/>
          </a:prstGeom>
          <a:noFill/>
        </p:spPr>
      </p:pic>
      <p:sp>
        <p:nvSpPr>
          <p:cNvPr id="10" name="Textfeld 9"/>
          <p:cNvSpPr txBox="1"/>
          <p:nvPr/>
        </p:nvSpPr>
        <p:spPr>
          <a:xfrm>
            <a:off x="5412726" y="2061072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 a bit time consuming homework assignment</a:t>
            </a:r>
          </a:p>
        </p:txBody>
      </p:sp>
      <p:sp>
        <p:nvSpPr>
          <p:cNvPr id="11" name="Textfeld 10"/>
          <p:cNvSpPr txBox="1"/>
          <p:nvPr/>
        </p:nvSpPr>
        <p:spPr>
          <a:xfrm>
            <a:off x="251520" y="3071816"/>
            <a:ext cx="864096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1400" dirty="0"/>
              <a:t>With this Existence-and-Uniqueness Theorem we only have solutions on a time-interval (0, T), and hence the following analytical questions remain open:</a:t>
            </a:r>
          </a:p>
          <a:p>
            <a:pPr marL="273050" indent="-185738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formal justification that the non-negative solutions stay non-negative as long as they exist, i.e. the model makes biologically sense,</a:t>
            </a:r>
          </a:p>
          <a:p>
            <a:pPr marL="273050" indent="-185738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blow-up of solutions (depending on the parameters), i.e. aggregation outcompetes diffusion, and</a:t>
            </a:r>
          </a:p>
          <a:p>
            <a:pPr marL="273050" indent="-185738" algn="just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existence of parameter regimes for which solutions persist for all times, i.e. diffusion outcompetes aggregation.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74E5D-DF2D-E519-DAD7-FF3583FEF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9D3EA5-8BFA-6166-A7A2-037A08043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mathematical analysis of the simplified KS-model can follow a somewhat straight-forward approach</a:t>
            </a:r>
            <a:endParaRPr lang="de-DE" dirty="0"/>
          </a:p>
        </p:txBody>
      </p:sp>
      <p:sp>
        <p:nvSpPr>
          <p:cNvPr id="3" name="Abgerundetes Rechteck 2">
            <a:extLst>
              <a:ext uri="{FF2B5EF4-FFF2-40B4-BE49-F238E27FC236}">
                <a16:creationId xmlns:a16="http://schemas.microsoft.com/office/drawing/2014/main" id="{3025F161-48BE-E848-C240-DA7110106CFE}"/>
              </a:ext>
            </a:extLst>
          </p:cNvPr>
          <p:cNvSpPr/>
          <p:nvPr/>
        </p:nvSpPr>
        <p:spPr>
          <a:xfrm>
            <a:off x="2411760" y="1000114"/>
            <a:ext cx="4320480" cy="864096"/>
          </a:xfrm>
          <a:prstGeom prst="roundRect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935E70C-07F0-8A50-8AC9-E7097BB8E346}"/>
              </a:ext>
            </a:extLst>
          </p:cNvPr>
          <p:cNvSpPr txBox="1"/>
          <p:nvPr/>
        </p:nvSpPr>
        <p:spPr>
          <a:xfrm>
            <a:off x="6948264" y="1402545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together with initial and boundary conditions</a:t>
            </a:r>
          </a:p>
        </p:txBody>
      </p:sp>
      <p:pic>
        <p:nvPicPr>
          <p:cNvPr id="13" name="Grafik 12" descr="IguanaTex_tmp.png">
            <a:extLst>
              <a:ext uri="{FF2B5EF4-FFF2-40B4-BE49-F238E27FC236}">
                <a16:creationId xmlns:a16="http://schemas.microsoft.com/office/drawing/2014/main" id="{57C0ED07-162E-69CB-E39E-93E2009F390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321674" y="1113516"/>
            <a:ext cx="2500653" cy="637293"/>
          </a:xfrm>
          <a:prstGeom prst="rect">
            <a:avLst/>
          </a:prstGeom>
          <a:solidFill>
            <a:srgbClr val="FFFF66"/>
          </a:solidFill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3049603F-0913-12FE-C686-AEFDE22495CD}"/>
              </a:ext>
            </a:extLst>
          </p:cNvPr>
          <p:cNvSpPr/>
          <p:nvPr/>
        </p:nvSpPr>
        <p:spPr>
          <a:xfrm>
            <a:off x="3347864" y="2427734"/>
            <a:ext cx="5544616" cy="72008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60363" indent="-184150"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 some classes of PDEs general results exist</a:t>
            </a:r>
          </a:p>
          <a:p>
            <a:pPr marL="360363" indent="-184150"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Besides these and depending on the problem, proving existence and uniqueness can become rather tricky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55913CC-55CD-B3CC-9624-06664522CBA5}"/>
              </a:ext>
            </a:extLst>
          </p:cNvPr>
          <p:cNvSpPr/>
          <p:nvPr/>
        </p:nvSpPr>
        <p:spPr>
          <a:xfrm>
            <a:off x="3347864" y="3291830"/>
            <a:ext cx="5544616" cy="72008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60363" indent="-184150"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Steady-state solutions/ </a:t>
            </a:r>
            <a:r>
              <a:rPr lang="en-US" sz="1400" dirty="0" err="1">
                <a:solidFill>
                  <a:schemeClr val="tx1"/>
                </a:solidFill>
              </a:rPr>
              <a:t>equilibria</a:t>
            </a:r>
            <a:r>
              <a:rPr lang="en-US" sz="1400" dirty="0">
                <a:solidFill>
                  <a:schemeClr val="tx1"/>
                </a:solidFill>
              </a:rPr>
              <a:t> (periodic orbits)</a:t>
            </a:r>
          </a:p>
          <a:p>
            <a:pPr marL="360363" indent="-184150">
              <a:buFont typeface="Arial" pitchFamily="34" charset="0"/>
              <a:buChar char="•"/>
            </a:pPr>
            <a:r>
              <a:rPr lang="en-US" sz="1400" dirty="0" err="1">
                <a:solidFill>
                  <a:schemeClr val="tx1"/>
                </a:solidFill>
              </a:rPr>
              <a:t>Linearized</a:t>
            </a:r>
            <a:r>
              <a:rPr lang="en-US" sz="1400" dirty="0">
                <a:solidFill>
                  <a:schemeClr val="tx1"/>
                </a:solidFill>
              </a:rPr>
              <a:t>/ spectral/ </a:t>
            </a:r>
            <a:r>
              <a:rPr lang="en-US" sz="1400" dirty="0" err="1">
                <a:solidFill>
                  <a:schemeClr val="tx1"/>
                </a:solidFill>
              </a:rPr>
              <a:t>Lyapunov</a:t>
            </a:r>
            <a:r>
              <a:rPr lang="en-US" sz="1400" dirty="0">
                <a:solidFill>
                  <a:schemeClr val="tx1"/>
                </a:solidFill>
              </a:rPr>
              <a:t> stability</a:t>
            </a:r>
          </a:p>
          <a:p>
            <a:pPr marL="360363" indent="-184150"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Parameter dependence and bifurcations</a:t>
            </a:r>
          </a:p>
        </p:txBody>
      </p:sp>
      <p:sp>
        <p:nvSpPr>
          <p:cNvPr id="16" name="Richtungspfeil 7">
            <a:extLst>
              <a:ext uri="{FF2B5EF4-FFF2-40B4-BE49-F238E27FC236}">
                <a16:creationId xmlns:a16="http://schemas.microsoft.com/office/drawing/2014/main" id="{69B003DE-5270-15E4-6A9F-C3BBCAC12499}"/>
              </a:ext>
            </a:extLst>
          </p:cNvPr>
          <p:cNvSpPr/>
          <p:nvPr/>
        </p:nvSpPr>
        <p:spPr>
          <a:xfrm>
            <a:off x="251520" y="2427734"/>
            <a:ext cx="3240360" cy="720080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Well-</a:t>
            </a:r>
            <a:r>
              <a:rPr lang="en-US" sz="1400" dirty="0" err="1">
                <a:solidFill>
                  <a:schemeClr val="tx1"/>
                </a:solidFill>
              </a:rPr>
              <a:t>Posedness</a:t>
            </a:r>
            <a:r>
              <a:rPr lang="en-US" sz="1400" dirty="0">
                <a:solidFill>
                  <a:schemeClr val="tx1"/>
                </a:solidFill>
              </a:rPr>
              <a:t>, Existence and Uniqueness of Solutions</a:t>
            </a:r>
          </a:p>
        </p:txBody>
      </p:sp>
      <p:sp>
        <p:nvSpPr>
          <p:cNvPr id="17" name="Richtungspfeil 8">
            <a:extLst>
              <a:ext uri="{FF2B5EF4-FFF2-40B4-BE49-F238E27FC236}">
                <a16:creationId xmlns:a16="http://schemas.microsoft.com/office/drawing/2014/main" id="{86D3C746-3FE9-DCB7-8FAD-924ED9F1F7D5}"/>
              </a:ext>
            </a:extLst>
          </p:cNvPr>
          <p:cNvSpPr/>
          <p:nvPr/>
        </p:nvSpPr>
        <p:spPr>
          <a:xfrm>
            <a:off x="251520" y="3291830"/>
            <a:ext cx="3240360" cy="720080"/>
          </a:xfrm>
          <a:prstGeom prst="homePlat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Steady-State Solutions/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Equilibria and their Stability</a:t>
            </a:r>
          </a:p>
        </p:txBody>
      </p:sp>
    </p:spTree>
    <p:extLst>
      <p:ext uri="{BB962C8B-B14F-4D97-AF65-F5344CB8AC3E}">
        <p14:creationId xmlns:p14="http://schemas.microsoft.com/office/powerpoint/2010/main" val="45301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or instability of equilibrium solutions in PDE systems can be studied via different approaches (1/ 2) …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881352" y="1506243"/>
            <a:ext cx="7381296" cy="1735481"/>
            <a:chOff x="382588" y="4775200"/>
            <a:chExt cx="8115807" cy="1908175"/>
          </a:xfrm>
        </p:grpSpPr>
        <p:sp>
          <p:nvSpPr>
            <p:cNvPr id="4" name="Oval 9"/>
            <p:cNvSpPr>
              <a:spLocks noChangeArrowheads="1"/>
            </p:cNvSpPr>
            <p:nvPr/>
          </p:nvSpPr>
          <p:spPr bwMode="auto">
            <a:xfrm>
              <a:off x="1497013" y="4775200"/>
              <a:ext cx="827087" cy="19081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5" name="Oval 10"/>
            <p:cNvSpPr>
              <a:spLocks noChangeArrowheads="1"/>
            </p:cNvSpPr>
            <p:nvPr/>
          </p:nvSpPr>
          <p:spPr bwMode="auto">
            <a:xfrm>
              <a:off x="1782763" y="5305425"/>
              <a:ext cx="255587" cy="84772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1911350" y="5727700"/>
              <a:ext cx="6488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Line 12"/>
            <p:cNvSpPr>
              <a:spLocks noChangeShapeType="1"/>
            </p:cNvSpPr>
            <p:nvPr/>
          </p:nvSpPr>
          <p:spPr bwMode="auto">
            <a:xfrm>
              <a:off x="1911350" y="4775200"/>
              <a:ext cx="6488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Line 13"/>
            <p:cNvSpPr>
              <a:spLocks noChangeShapeType="1"/>
            </p:cNvSpPr>
            <p:nvPr/>
          </p:nvSpPr>
          <p:spPr bwMode="auto">
            <a:xfrm>
              <a:off x="1911350" y="6683375"/>
              <a:ext cx="6488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" name="Line 14"/>
            <p:cNvSpPr>
              <a:spLocks noChangeShapeType="1"/>
            </p:cNvSpPr>
            <p:nvPr/>
          </p:nvSpPr>
          <p:spPr bwMode="auto">
            <a:xfrm>
              <a:off x="1911350" y="5305425"/>
              <a:ext cx="6488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Line 15"/>
            <p:cNvSpPr>
              <a:spLocks noChangeShapeType="1"/>
            </p:cNvSpPr>
            <p:nvPr/>
          </p:nvSpPr>
          <p:spPr bwMode="auto">
            <a:xfrm>
              <a:off x="1924050" y="6153150"/>
              <a:ext cx="6488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 Box 54"/>
            <p:cNvSpPr txBox="1">
              <a:spLocks noChangeArrowheads="1"/>
            </p:cNvSpPr>
            <p:nvPr/>
          </p:nvSpPr>
          <p:spPr bwMode="auto">
            <a:xfrm>
              <a:off x="382588" y="5164138"/>
              <a:ext cx="6832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Symbol" pitchFamily="18" charset="2"/>
                </a:rPr>
                <a:t>d</a:t>
              </a:r>
              <a:r>
                <a:rPr lang="en-US" sz="1400" dirty="0"/>
                <a:t>-ball</a:t>
              </a:r>
            </a:p>
          </p:txBody>
        </p:sp>
        <p:sp>
          <p:nvSpPr>
            <p:cNvPr id="12" name="Line 55"/>
            <p:cNvSpPr>
              <a:spLocks noChangeShapeType="1"/>
            </p:cNvSpPr>
            <p:nvPr/>
          </p:nvSpPr>
          <p:spPr bwMode="auto">
            <a:xfrm>
              <a:off x="1015976" y="5329401"/>
              <a:ext cx="895374" cy="526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 Box 56"/>
            <p:cNvSpPr txBox="1">
              <a:spLocks noChangeArrowheads="1"/>
            </p:cNvSpPr>
            <p:nvPr/>
          </p:nvSpPr>
          <p:spPr bwMode="auto">
            <a:xfrm>
              <a:off x="523875" y="5784588"/>
              <a:ext cx="655638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>
                  <a:latin typeface="Symbol" pitchFamily="18" charset="2"/>
                </a:rPr>
                <a:t></a:t>
              </a:r>
              <a:r>
                <a:rPr lang="en-US" sz="1400" dirty="0"/>
                <a:t>-ball</a:t>
              </a:r>
            </a:p>
          </p:txBody>
        </p:sp>
        <p:sp>
          <p:nvSpPr>
            <p:cNvPr id="14" name="Line 57"/>
            <p:cNvSpPr>
              <a:spLocks noChangeShapeType="1"/>
            </p:cNvSpPr>
            <p:nvPr/>
          </p:nvSpPr>
          <p:spPr bwMode="auto">
            <a:xfrm>
              <a:off x="1174324" y="5962788"/>
              <a:ext cx="459215" cy="85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Text Box 60"/>
            <p:cNvSpPr txBox="1">
              <a:spLocks noChangeArrowheads="1"/>
            </p:cNvSpPr>
            <p:nvPr/>
          </p:nvSpPr>
          <p:spPr bwMode="auto">
            <a:xfrm>
              <a:off x="8240714" y="5773738"/>
              <a:ext cx="257681" cy="338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/>
                <a:t>t</a:t>
              </a:r>
            </a:p>
          </p:txBody>
        </p:sp>
        <p:sp>
          <p:nvSpPr>
            <p:cNvPr id="16" name="Text Box 61"/>
            <p:cNvSpPr txBox="1">
              <a:spLocks noChangeArrowheads="1"/>
            </p:cNvSpPr>
            <p:nvPr/>
          </p:nvSpPr>
          <p:spPr bwMode="auto">
            <a:xfrm>
              <a:off x="699282" y="6336945"/>
              <a:ext cx="990888" cy="338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/>
                <a:t>functions</a:t>
              </a:r>
            </a:p>
          </p:txBody>
        </p:sp>
        <p:sp>
          <p:nvSpPr>
            <p:cNvPr id="17" name="Freeform 62"/>
            <p:cNvSpPr>
              <a:spLocks/>
            </p:cNvSpPr>
            <p:nvPr/>
          </p:nvSpPr>
          <p:spPr bwMode="auto">
            <a:xfrm>
              <a:off x="1922463" y="4884738"/>
              <a:ext cx="6262687" cy="1549400"/>
            </a:xfrm>
            <a:custGeom>
              <a:avLst/>
              <a:gdLst>
                <a:gd name="T0" fmla="*/ 0 w 4466"/>
                <a:gd name="T1" fmla="*/ 520 h 1106"/>
                <a:gd name="T2" fmla="*/ 333 w 4466"/>
                <a:gd name="T3" fmla="*/ 97 h 1106"/>
                <a:gd name="T4" fmla="*/ 747 w 4466"/>
                <a:gd name="T5" fmla="*/ 1105 h 1106"/>
                <a:gd name="T6" fmla="*/ 1908 w 4466"/>
                <a:gd name="T7" fmla="*/ 88 h 1106"/>
                <a:gd name="T8" fmla="*/ 2799 w 4466"/>
                <a:gd name="T9" fmla="*/ 799 h 1106"/>
                <a:gd name="T10" fmla="*/ 3546 w 4466"/>
                <a:gd name="T11" fmla="*/ 403 h 1106"/>
                <a:gd name="T12" fmla="*/ 4194 w 4466"/>
                <a:gd name="T13" fmla="*/ 739 h 1106"/>
                <a:gd name="T14" fmla="*/ 4466 w 4466"/>
                <a:gd name="T15" fmla="*/ 784 h 11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466"/>
                <a:gd name="T25" fmla="*/ 0 h 1106"/>
                <a:gd name="T26" fmla="*/ 4466 w 4466"/>
                <a:gd name="T27" fmla="*/ 1106 h 110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466" h="1106">
                  <a:moveTo>
                    <a:pt x="0" y="520"/>
                  </a:moveTo>
                  <a:cubicBezTo>
                    <a:pt x="55" y="450"/>
                    <a:pt x="209" y="0"/>
                    <a:pt x="333" y="97"/>
                  </a:cubicBezTo>
                  <a:cubicBezTo>
                    <a:pt x="457" y="194"/>
                    <a:pt x="485" y="1106"/>
                    <a:pt x="747" y="1105"/>
                  </a:cubicBezTo>
                  <a:cubicBezTo>
                    <a:pt x="1009" y="1104"/>
                    <a:pt x="1566" y="139"/>
                    <a:pt x="1908" y="88"/>
                  </a:cubicBezTo>
                  <a:cubicBezTo>
                    <a:pt x="2250" y="37"/>
                    <a:pt x="2526" y="747"/>
                    <a:pt x="2799" y="799"/>
                  </a:cubicBezTo>
                  <a:cubicBezTo>
                    <a:pt x="3072" y="851"/>
                    <a:pt x="3314" y="413"/>
                    <a:pt x="3546" y="403"/>
                  </a:cubicBezTo>
                  <a:cubicBezTo>
                    <a:pt x="3778" y="393"/>
                    <a:pt x="4041" y="676"/>
                    <a:pt x="4194" y="739"/>
                  </a:cubicBezTo>
                  <a:cubicBezTo>
                    <a:pt x="4347" y="802"/>
                    <a:pt x="4379" y="791"/>
                    <a:pt x="4466" y="78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8" name="Textfeld 17"/>
          <p:cNvSpPr txBox="1"/>
          <p:nvPr/>
        </p:nvSpPr>
        <p:spPr>
          <a:xfrm>
            <a:off x="251520" y="928676"/>
            <a:ext cx="8640960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Stability/ instability in infinite-dimensional function spaces:</a:t>
            </a:r>
          </a:p>
        </p:txBody>
      </p:sp>
      <p:sp>
        <p:nvSpPr>
          <p:cNvPr id="19" name="Freeform 37"/>
          <p:cNvSpPr>
            <a:spLocks/>
          </p:cNvSpPr>
          <p:nvPr/>
        </p:nvSpPr>
        <p:spPr bwMode="auto">
          <a:xfrm rot="884724" flipV="1">
            <a:off x="2134717" y="2879125"/>
            <a:ext cx="802599" cy="1160609"/>
          </a:xfrm>
          <a:custGeom>
            <a:avLst/>
            <a:gdLst/>
            <a:ahLst/>
            <a:cxnLst>
              <a:cxn ang="0">
                <a:pos x="75" y="36"/>
              </a:cxn>
              <a:cxn ang="0">
                <a:pos x="174" y="87"/>
              </a:cxn>
              <a:cxn ang="0">
                <a:pos x="285" y="162"/>
              </a:cxn>
              <a:cxn ang="0">
                <a:pos x="417" y="282"/>
              </a:cxn>
              <a:cxn ang="0">
                <a:pos x="513" y="405"/>
              </a:cxn>
              <a:cxn ang="0">
                <a:pos x="591" y="528"/>
              </a:cxn>
              <a:cxn ang="0">
                <a:pos x="657" y="666"/>
              </a:cxn>
              <a:cxn ang="0">
                <a:pos x="717" y="813"/>
              </a:cxn>
              <a:cxn ang="0">
                <a:pos x="762" y="969"/>
              </a:cxn>
              <a:cxn ang="0">
                <a:pos x="792" y="1149"/>
              </a:cxn>
              <a:cxn ang="0">
                <a:pos x="813" y="1332"/>
              </a:cxn>
              <a:cxn ang="0">
                <a:pos x="813" y="1479"/>
              </a:cxn>
              <a:cxn ang="0">
                <a:pos x="804" y="1635"/>
              </a:cxn>
              <a:cxn ang="0">
                <a:pos x="780" y="1785"/>
              </a:cxn>
              <a:cxn ang="0">
                <a:pos x="591" y="1830"/>
              </a:cxn>
              <a:cxn ang="0">
                <a:pos x="1149" y="1971"/>
              </a:cxn>
              <a:cxn ang="0">
                <a:pos x="1008" y="1869"/>
              </a:cxn>
              <a:cxn ang="0">
                <a:pos x="1038" y="1716"/>
              </a:cxn>
              <a:cxn ang="0">
                <a:pos x="1050" y="1566"/>
              </a:cxn>
              <a:cxn ang="0">
                <a:pos x="1053" y="1395"/>
              </a:cxn>
              <a:cxn ang="0">
                <a:pos x="1035" y="1206"/>
              </a:cxn>
              <a:cxn ang="0">
                <a:pos x="1005" y="1050"/>
              </a:cxn>
              <a:cxn ang="0">
                <a:pos x="963" y="900"/>
              </a:cxn>
              <a:cxn ang="0">
                <a:pos x="912" y="762"/>
              </a:cxn>
              <a:cxn ang="0">
                <a:pos x="837" y="603"/>
              </a:cxn>
              <a:cxn ang="0">
                <a:pos x="750" y="462"/>
              </a:cxn>
              <a:cxn ang="0">
                <a:pos x="669" y="363"/>
              </a:cxn>
              <a:cxn ang="0">
                <a:pos x="558" y="249"/>
              </a:cxn>
              <a:cxn ang="0">
                <a:pos x="433" y="157"/>
              </a:cxn>
              <a:cxn ang="0">
                <a:pos x="297" y="81"/>
              </a:cxn>
              <a:cxn ang="0">
                <a:pos x="153" y="24"/>
              </a:cxn>
              <a:cxn ang="0">
                <a:pos x="0" y="0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7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0" name="Abgerundetes Rechteck 19"/>
          <p:cNvSpPr/>
          <p:nvPr/>
        </p:nvSpPr>
        <p:spPr>
          <a:xfrm>
            <a:off x="3563888" y="3025700"/>
            <a:ext cx="4320480" cy="864096"/>
          </a:xfrm>
          <a:prstGeom prst="roundRect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fik 20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473802" y="3139102"/>
            <a:ext cx="2500653" cy="637293"/>
          </a:xfrm>
          <a:prstGeom prst="rect">
            <a:avLst/>
          </a:prstGeom>
          <a:solidFill>
            <a:srgbClr val="FFFF66"/>
          </a:solidFill>
        </p:spPr>
      </p:pic>
      <p:sp>
        <p:nvSpPr>
          <p:cNvPr id="22" name="Textfeld 21"/>
          <p:cNvSpPr txBox="1"/>
          <p:nvPr/>
        </p:nvSpPr>
        <p:spPr>
          <a:xfrm>
            <a:off x="251520" y="3964084"/>
            <a:ext cx="503486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dirty="0"/>
              <a:t>Any perturbation of the equilibrium</a:t>
            </a:r>
          </a:p>
          <a:p>
            <a:pPr marL="273050" indent="-185738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stays in a given environment about the equilibrium (stability) or even</a:t>
            </a:r>
          </a:p>
          <a:p>
            <a:pPr marL="273050" indent="-185738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tends back towards the equilibrium (asymptotic stability).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or instability of equilibrium solutions in PDE systems can be studied via different approaches (2/ 2) …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881352" y="1506243"/>
            <a:ext cx="7381296" cy="1735481"/>
            <a:chOff x="382588" y="4775200"/>
            <a:chExt cx="8115807" cy="1908175"/>
          </a:xfrm>
        </p:grpSpPr>
        <p:sp>
          <p:nvSpPr>
            <p:cNvPr id="4" name="Oval 9"/>
            <p:cNvSpPr>
              <a:spLocks noChangeArrowheads="1"/>
            </p:cNvSpPr>
            <p:nvPr/>
          </p:nvSpPr>
          <p:spPr bwMode="auto">
            <a:xfrm>
              <a:off x="1497013" y="4775200"/>
              <a:ext cx="827087" cy="1908175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5" name="Oval 10"/>
            <p:cNvSpPr>
              <a:spLocks noChangeArrowheads="1"/>
            </p:cNvSpPr>
            <p:nvPr/>
          </p:nvSpPr>
          <p:spPr bwMode="auto">
            <a:xfrm>
              <a:off x="1782763" y="5305425"/>
              <a:ext cx="255587" cy="84772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6" name="Line 11"/>
            <p:cNvSpPr>
              <a:spLocks noChangeShapeType="1"/>
            </p:cNvSpPr>
            <p:nvPr/>
          </p:nvSpPr>
          <p:spPr bwMode="auto">
            <a:xfrm>
              <a:off x="1911350" y="5727700"/>
              <a:ext cx="6488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Line 12"/>
            <p:cNvSpPr>
              <a:spLocks noChangeShapeType="1"/>
            </p:cNvSpPr>
            <p:nvPr/>
          </p:nvSpPr>
          <p:spPr bwMode="auto">
            <a:xfrm>
              <a:off x="1911350" y="4775200"/>
              <a:ext cx="6488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Line 13"/>
            <p:cNvSpPr>
              <a:spLocks noChangeShapeType="1"/>
            </p:cNvSpPr>
            <p:nvPr/>
          </p:nvSpPr>
          <p:spPr bwMode="auto">
            <a:xfrm>
              <a:off x="1911350" y="6683375"/>
              <a:ext cx="6488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9" name="Line 14"/>
            <p:cNvSpPr>
              <a:spLocks noChangeShapeType="1"/>
            </p:cNvSpPr>
            <p:nvPr/>
          </p:nvSpPr>
          <p:spPr bwMode="auto">
            <a:xfrm>
              <a:off x="1911350" y="5305425"/>
              <a:ext cx="6488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0" name="Line 15"/>
            <p:cNvSpPr>
              <a:spLocks noChangeShapeType="1"/>
            </p:cNvSpPr>
            <p:nvPr/>
          </p:nvSpPr>
          <p:spPr bwMode="auto">
            <a:xfrm>
              <a:off x="1924050" y="6153150"/>
              <a:ext cx="6488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1" name="Text Box 54"/>
            <p:cNvSpPr txBox="1">
              <a:spLocks noChangeArrowheads="1"/>
            </p:cNvSpPr>
            <p:nvPr/>
          </p:nvSpPr>
          <p:spPr bwMode="auto">
            <a:xfrm>
              <a:off x="382588" y="5164138"/>
              <a:ext cx="683200" cy="3385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>
                  <a:latin typeface="Symbol" pitchFamily="18" charset="2"/>
                </a:rPr>
                <a:t>d</a:t>
              </a:r>
              <a:r>
                <a:rPr lang="en-US" sz="1400" dirty="0"/>
                <a:t>-ball</a:t>
              </a:r>
            </a:p>
          </p:txBody>
        </p:sp>
        <p:sp>
          <p:nvSpPr>
            <p:cNvPr id="12" name="Line 55"/>
            <p:cNvSpPr>
              <a:spLocks noChangeShapeType="1"/>
            </p:cNvSpPr>
            <p:nvPr/>
          </p:nvSpPr>
          <p:spPr bwMode="auto">
            <a:xfrm>
              <a:off x="1015976" y="5329401"/>
              <a:ext cx="895374" cy="5268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3" name="Text Box 56"/>
            <p:cNvSpPr txBox="1">
              <a:spLocks noChangeArrowheads="1"/>
            </p:cNvSpPr>
            <p:nvPr/>
          </p:nvSpPr>
          <p:spPr bwMode="auto">
            <a:xfrm>
              <a:off x="523875" y="5784588"/>
              <a:ext cx="655638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>
                  <a:latin typeface="Symbol" pitchFamily="18" charset="2"/>
                </a:rPr>
                <a:t></a:t>
              </a:r>
              <a:r>
                <a:rPr lang="en-US" sz="1400" dirty="0"/>
                <a:t>-ball</a:t>
              </a:r>
            </a:p>
          </p:txBody>
        </p:sp>
        <p:sp>
          <p:nvSpPr>
            <p:cNvPr id="14" name="Line 57"/>
            <p:cNvSpPr>
              <a:spLocks noChangeShapeType="1"/>
            </p:cNvSpPr>
            <p:nvPr/>
          </p:nvSpPr>
          <p:spPr bwMode="auto">
            <a:xfrm>
              <a:off x="1174324" y="5962788"/>
              <a:ext cx="459215" cy="855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5" name="Text Box 60"/>
            <p:cNvSpPr txBox="1">
              <a:spLocks noChangeArrowheads="1"/>
            </p:cNvSpPr>
            <p:nvPr/>
          </p:nvSpPr>
          <p:spPr bwMode="auto">
            <a:xfrm>
              <a:off x="8240714" y="5773738"/>
              <a:ext cx="257681" cy="338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/>
                <a:t>t</a:t>
              </a:r>
            </a:p>
          </p:txBody>
        </p:sp>
        <p:sp>
          <p:nvSpPr>
            <p:cNvPr id="16" name="Text Box 61"/>
            <p:cNvSpPr txBox="1">
              <a:spLocks noChangeArrowheads="1"/>
            </p:cNvSpPr>
            <p:nvPr/>
          </p:nvSpPr>
          <p:spPr bwMode="auto">
            <a:xfrm>
              <a:off x="699282" y="6336945"/>
              <a:ext cx="990888" cy="338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400" dirty="0"/>
                <a:t>functions</a:t>
              </a:r>
            </a:p>
          </p:txBody>
        </p:sp>
        <p:sp>
          <p:nvSpPr>
            <p:cNvPr id="17" name="Freeform 62"/>
            <p:cNvSpPr>
              <a:spLocks/>
            </p:cNvSpPr>
            <p:nvPr/>
          </p:nvSpPr>
          <p:spPr bwMode="auto">
            <a:xfrm>
              <a:off x="1922463" y="4884738"/>
              <a:ext cx="6262687" cy="1549400"/>
            </a:xfrm>
            <a:custGeom>
              <a:avLst/>
              <a:gdLst>
                <a:gd name="T0" fmla="*/ 0 w 4466"/>
                <a:gd name="T1" fmla="*/ 520 h 1106"/>
                <a:gd name="T2" fmla="*/ 333 w 4466"/>
                <a:gd name="T3" fmla="*/ 97 h 1106"/>
                <a:gd name="T4" fmla="*/ 747 w 4466"/>
                <a:gd name="T5" fmla="*/ 1105 h 1106"/>
                <a:gd name="T6" fmla="*/ 1908 w 4466"/>
                <a:gd name="T7" fmla="*/ 88 h 1106"/>
                <a:gd name="T8" fmla="*/ 2799 w 4466"/>
                <a:gd name="T9" fmla="*/ 799 h 1106"/>
                <a:gd name="T10" fmla="*/ 3546 w 4466"/>
                <a:gd name="T11" fmla="*/ 403 h 1106"/>
                <a:gd name="T12" fmla="*/ 4194 w 4466"/>
                <a:gd name="T13" fmla="*/ 739 h 1106"/>
                <a:gd name="T14" fmla="*/ 4466 w 4466"/>
                <a:gd name="T15" fmla="*/ 784 h 11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466"/>
                <a:gd name="T25" fmla="*/ 0 h 1106"/>
                <a:gd name="T26" fmla="*/ 4466 w 4466"/>
                <a:gd name="T27" fmla="*/ 1106 h 110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466" h="1106">
                  <a:moveTo>
                    <a:pt x="0" y="520"/>
                  </a:moveTo>
                  <a:cubicBezTo>
                    <a:pt x="55" y="450"/>
                    <a:pt x="209" y="0"/>
                    <a:pt x="333" y="97"/>
                  </a:cubicBezTo>
                  <a:cubicBezTo>
                    <a:pt x="457" y="194"/>
                    <a:pt x="485" y="1106"/>
                    <a:pt x="747" y="1105"/>
                  </a:cubicBezTo>
                  <a:cubicBezTo>
                    <a:pt x="1009" y="1104"/>
                    <a:pt x="1566" y="139"/>
                    <a:pt x="1908" y="88"/>
                  </a:cubicBezTo>
                  <a:cubicBezTo>
                    <a:pt x="2250" y="37"/>
                    <a:pt x="2526" y="747"/>
                    <a:pt x="2799" y="799"/>
                  </a:cubicBezTo>
                  <a:cubicBezTo>
                    <a:pt x="3072" y="851"/>
                    <a:pt x="3314" y="413"/>
                    <a:pt x="3546" y="403"/>
                  </a:cubicBezTo>
                  <a:cubicBezTo>
                    <a:pt x="3778" y="393"/>
                    <a:pt x="4041" y="676"/>
                    <a:pt x="4194" y="739"/>
                  </a:cubicBezTo>
                  <a:cubicBezTo>
                    <a:pt x="4347" y="802"/>
                    <a:pt x="4379" y="791"/>
                    <a:pt x="4466" y="784"/>
                  </a:cubicBez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18" name="Textfeld 17"/>
          <p:cNvSpPr txBox="1"/>
          <p:nvPr/>
        </p:nvSpPr>
        <p:spPr>
          <a:xfrm>
            <a:off x="251520" y="928676"/>
            <a:ext cx="8640960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Stability/ instability in infinite-dimensional function spaces:</a:t>
            </a:r>
          </a:p>
        </p:txBody>
      </p:sp>
      <p:sp>
        <p:nvSpPr>
          <p:cNvPr id="20" name="Abgerundetes Rechteck 19"/>
          <p:cNvSpPr/>
          <p:nvPr/>
        </p:nvSpPr>
        <p:spPr>
          <a:xfrm>
            <a:off x="3563888" y="3025700"/>
            <a:ext cx="4320480" cy="8640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Grafik 20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473802" y="3139102"/>
            <a:ext cx="2500653" cy="6372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Textfeld 22"/>
          <p:cNvSpPr txBox="1"/>
          <p:nvPr/>
        </p:nvSpPr>
        <p:spPr>
          <a:xfrm>
            <a:off x="251519" y="4143386"/>
            <a:ext cx="8644507" cy="8925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400" b="1" dirty="0"/>
              <a:t>Some remarks:</a:t>
            </a:r>
          </a:p>
          <a:p>
            <a:pPr marL="273050" indent="-185738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The choice of the </a:t>
            </a:r>
            <a:r>
              <a:rPr lang="en-US" sz="1400" dirty="0" err="1"/>
              <a:t>Banach</a:t>
            </a:r>
            <a:r>
              <a:rPr lang="en-US" sz="1400" dirty="0"/>
              <a:t>-space and the corresponding metric is essential</a:t>
            </a:r>
          </a:p>
          <a:p>
            <a:pPr marL="273050" indent="-185738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/>
              <a:t>A steady state solution may be stable in one </a:t>
            </a:r>
            <a:r>
              <a:rPr lang="en-US" sz="1400" dirty="0" err="1"/>
              <a:t>Banach</a:t>
            </a:r>
            <a:r>
              <a:rPr lang="en-US" sz="1400" dirty="0"/>
              <a:t>-space but unstable in another one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like spectral properties, linearization, …</a:t>
            </a:r>
          </a:p>
        </p:txBody>
      </p:sp>
      <p:sp>
        <p:nvSpPr>
          <p:cNvPr id="3" name="Rechteck 2"/>
          <p:cNvSpPr/>
          <p:nvPr/>
        </p:nvSpPr>
        <p:spPr>
          <a:xfrm>
            <a:off x="1475656" y="1000114"/>
            <a:ext cx="7416824" cy="14401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174625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Let </a:t>
            </a:r>
            <a:r>
              <a:rPr lang="en-US" sz="1400" dirty="0">
                <a:solidFill>
                  <a:schemeClr val="tx1"/>
                </a:solidFill>
                <a:sym typeface="Symbol"/>
              </a:rPr>
              <a:t></a:t>
            </a:r>
            <a:r>
              <a:rPr lang="en-US" sz="1400" dirty="0">
                <a:solidFill>
                  <a:schemeClr val="tx1"/>
                </a:solidFill>
              </a:rPr>
              <a:t>(L) denote the spectrum of a (typically) unbounded operator L in infinite dimensions. For stability we require: sup Re(</a:t>
            </a:r>
            <a:r>
              <a:rPr lang="en-US" sz="1400" dirty="0">
                <a:solidFill>
                  <a:schemeClr val="tx1"/>
                </a:solidFill>
                <a:sym typeface="Symbol"/>
              </a:rPr>
              <a:t></a:t>
            </a:r>
            <a:r>
              <a:rPr lang="en-US" sz="1400" dirty="0">
                <a:solidFill>
                  <a:schemeClr val="tx1"/>
                </a:solidFill>
              </a:rPr>
              <a:t>(L) ) </a:t>
            </a:r>
            <a:r>
              <a:rPr lang="en-US" sz="1400" dirty="0">
                <a:solidFill>
                  <a:schemeClr val="tx1"/>
                </a:solidFill>
                <a:sym typeface="Symbol"/>
              </a:rPr>
              <a:t></a:t>
            </a:r>
            <a:r>
              <a:rPr lang="en-US" sz="1400" dirty="0">
                <a:solidFill>
                  <a:schemeClr val="tx1"/>
                </a:solidFill>
              </a:rPr>
              <a:t> 0</a:t>
            </a:r>
          </a:p>
          <a:p>
            <a:pPr marL="447675" indent="-174625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The spectrum decomposes into the essential spectrum (which is often easy to compute) and the point spectrum (</a:t>
            </a:r>
            <a:r>
              <a:rPr lang="en-US" sz="1400" dirty="0" err="1">
                <a:solidFill>
                  <a:schemeClr val="tx1"/>
                </a:solidFill>
              </a:rPr>
              <a:t>eigenvalues</a:t>
            </a:r>
            <a:r>
              <a:rPr lang="en-US" sz="1400" dirty="0">
                <a:solidFill>
                  <a:schemeClr val="tx1"/>
                </a:solidFill>
              </a:rPr>
              <a:t>, that may be quite difficult to locate)</a:t>
            </a:r>
          </a:p>
          <a:p>
            <a:pPr marL="447675" indent="-174625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Methods to compute the spectrum: Sturm-</a:t>
            </a:r>
            <a:r>
              <a:rPr lang="en-US" sz="1400" dirty="0" err="1">
                <a:solidFill>
                  <a:schemeClr val="tx1"/>
                </a:solidFill>
              </a:rPr>
              <a:t>Liouville</a:t>
            </a:r>
            <a:r>
              <a:rPr lang="en-US" sz="1400" dirty="0">
                <a:solidFill>
                  <a:schemeClr val="tx1"/>
                </a:solidFill>
              </a:rPr>
              <a:t> Theory (1d), </a:t>
            </a:r>
            <a:r>
              <a:rPr lang="en-US" sz="1400" dirty="0" err="1">
                <a:solidFill>
                  <a:schemeClr val="tx1"/>
                </a:solidFill>
              </a:rPr>
              <a:t>Eavens</a:t>
            </a:r>
            <a:r>
              <a:rPr lang="en-US" sz="1400" dirty="0">
                <a:solidFill>
                  <a:schemeClr val="tx1"/>
                </a:solidFill>
              </a:rPr>
              <a:t> function, …</a:t>
            </a:r>
          </a:p>
        </p:txBody>
      </p:sp>
      <p:sp>
        <p:nvSpPr>
          <p:cNvPr id="4" name="Richtungspfeil 3"/>
          <p:cNvSpPr/>
          <p:nvPr/>
        </p:nvSpPr>
        <p:spPr>
          <a:xfrm>
            <a:off x="251520" y="1000114"/>
            <a:ext cx="1440160" cy="1440160"/>
          </a:xfrm>
          <a:prstGeom prst="homePlate">
            <a:avLst>
              <a:gd name="adj" fmla="val 37179"/>
            </a:avLst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Spectral stability</a:t>
            </a:r>
          </a:p>
        </p:txBody>
      </p:sp>
      <p:sp>
        <p:nvSpPr>
          <p:cNvPr id="5" name="Rechteck 4"/>
          <p:cNvSpPr/>
          <p:nvPr/>
        </p:nvSpPr>
        <p:spPr>
          <a:xfrm>
            <a:off x="1475656" y="2774664"/>
            <a:ext cx="7416824" cy="14401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174625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Let L be a linear operator that generates a semi-group </a:t>
            </a:r>
            <a:r>
              <a:rPr lang="en-US" sz="1400" dirty="0" err="1">
                <a:solidFill>
                  <a:schemeClr val="tx1"/>
                </a:solidFill>
              </a:rPr>
              <a:t>e</a:t>
            </a:r>
            <a:r>
              <a:rPr lang="en-US" sz="1400" baseline="30000" dirty="0" err="1">
                <a:solidFill>
                  <a:schemeClr val="tx1"/>
                </a:solidFill>
              </a:rPr>
              <a:t>Lt</a:t>
            </a:r>
            <a:r>
              <a:rPr lang="en-US" sz="1400" dirty="0">
                <a:solidFill>
                  <a:schemeClr val="tx1"/>
                </a:solidFill>
              </a:rPr>
              <a:t>. The decay of solutions is determined by || </a:t>
            </a:r>
            <a:r>
              <a:rPr lang="en-US" sz="1400" dirty="0" err="1">
                <a:solidFill>
                  <a:schemeClr val="tx1"/>
                </a:solidFill>
              </a:rPr>
              <a:t>e</a:t>
            </a:r>
            <a:r>
              <a:rPr lang="en-US" sz="1400" baseline="30000" dirty="0" err="1">
                <a:solidFill>
                  <a:schemeClr val="tx1"/>
                </a:solidFill>
              </a:rPr>
              <a:t>Lt</a:t>
            </a:r>
            <a:r>
              <a:rPr lang="en-US" sz="1400" dirty="0">
                <a:solidFill>
                  <a:schemeClr val="tx1"/>
                </a:solidFill>
              </a:rPr>
              <a:t> ||.</a:t>
            </a:r>
            <a:endParaRPr lang="en-US" sz="1400" baseline="30000" dirty="0">
              <a:solidFill>
                <a:schemeClr val="tx1"/>
              </a:solidFill>
            </a:endParaRPr>
          </a:p>
          <a:p>
            <a:pPr marL="447675" indent="-174625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Spectral mapping theorem (SMT):</a:t>
            </a:r>
            <a:r>
              <a:rPr lang="en-US" sz="1400" dirty="0">
                <a:solidFill>
                  <a:schemeClr val="tx1"/>
                </a:solidFill>
                <a:sym typeface="Symbol"/>
              </a:rPr>
              <a:t></a:t>
            </a:r>
            <a:r>
              <a:rPr lang="en-US" sz="1400" dirty="0">
                <a:solidFill>
                  <a:schemeClr val="tx1"/>
                </a:solidFill>
              </a:rPr>
              <a:t>( </a:t>
            </a:r>
            <a:r>
              <a:rPr lang="en-US" sz="1400" dirty="0" err="1">
                <a:solidFill>
                  <a:schemeClr val="tx1"/>
                </a:solidFill>
              </a:rPr>
              <a:t>e</a:t>
            </a:r>
            <a:r>
              <a:rPr lang="en-US" sz="1400" baseline="30000" dirty="0" err="1">
                <a:solidFill>
                  <a:schemeClr val="tx1"/>
                </a:solidFill>
              </a:rPr>
              <a:t>L</a:t>
            </a:r>
            <a:r>
              <a:rPr lang="en-US" sz="1400" dirty="0">
                <a:solidFill>
                  <a:schemeClr val="tx1"/>
                </a:solidFill>
              </a:rPr>
              <a:t> )\ {0} = e</a:t>
            </a:r>
            <a:r>
              <a:rPr lang="en-US" sz="1400" baseline="30000" dirty="0">
                <a:solidFill>
                  <a:schemeClr val="tx1"/>
                </a:solidFill>
                <a:sym typeface="Symbol"/>
              </a:rPr>
              <a:t></a:t>
            </a:r>
            <a:r>
              <a:rPr lang="en-US" sz="1400" baseline="30000" dirty="0">
                <a:solidFill>
                  <a:schemeClr val="tx1"/>
                </a:solidFill>
              </a:rPr>
              <a:t>(L)</a:t>
            </a:r>
            <a:r>
              <a:rPr lang="en-US" sz="1400" dirty="0">
                <a:solidFill>
                  <a:schemeClr val="tx1"/>
                </a:solidFill>
              </a:rPr>
              <a:t> (for special operators L only)</a:t>
            </a:r>
            <a:endParaRPr lang="en-US" sz="1400" baseline="30000" dirty="0">
              <a:solidFill>
                <a:schemeClr val="tx1"/>
              </a:solidFill>
            </a:endParaRPr>
          </a:p>
          <a:p>
            <a:pPr marL="447675" indent="-174625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Without SMT: spectral stability does not necessarily imply linear stability</a:t>
            </a:r>
          </a:p>
          <a:p>
            <a:pPr marL="447675" indent="-174625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Methods to compute linear stability: Green’s function, …</a:t>
            </a:r>
          </a:p>
        </p:txBody>
      </p:sp>
      <p:sp>
        <p:nvSpPr>
          <p:cNvPr id="6" name="Richtungspfeil 5"/>
          <p:cNvSpPr/>
          <p:nvPr/>
        </p:nvSpPr>
        <p:spPr>
          <a:xfrm>
            <a:off x="251520" y="2774664"/>
            <a:ext cx="1440160" cy="1440160"/>
          </a:xfrm>
          <a:prstGeom prst="homePlate">
            <a:avLst>
              <a:gd name="adj" fmla="val 37179"/>
            </a:avLst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Linear/ </a:t>
            </a:r>
            <a:r>
              <a:rPr lang="en-US" sz="1400" dirty="0" err="1"/>
              <a:t>Linearized</a:t>
            </a:r>
            <a:r>
              <a:rPr lang="en-US" sz="1400" dirty="0"/>
              <a:t> Stability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1475656" y="1000114"/>
            <a:ext cx="7416824" cy="144016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47675" indent="-174625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is in general non-trivial to prove non-linear stability (even if linear stability is proved)</a:t>
            </a:r>
          </a:p>
          <a:p>
            <a:pPr marL="447675" indent="-174625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If linear stability could be achieved, then the decay of perturbations may be extended to the non-linear setting via variation of constants (i.e. Duhamel’s formula), semi-group theory or Green’s function</a:t>
            </a:r>
          </a:p>
          <a:p>
            <a:pPr marL="447675" indent="-174625">
              <a:spcAft>
                <a:spcPts val="600"/>
              </a:spcAft>
              <a:buFont typeface="Arial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solution may be linearly unstable, but non-linearly stable (and vice versa)</a:t>
            </a:r>
          </a:p>
        </p:txBody>
      </p:sp>
      <p:sp>
        <p:nvSpPr>
          <p:cNvPr id="8" name="Richtungspfeil 7"/>
          <p:cNvSpPr/>
          <p:nvPr/>
        </p:nvSpPr>
        <p:spPr>
          <a:xfrm>
            <a:off x="251520" y="1000114"/>
            <a:ext cx="1440160" cy="1440160"/>
          </a:xfrm>
          <a:prstGeom prst="homePlate">
            <a:avLst>
              <a:gd name="adj" fmla="val 37179"/>
            </a:avLst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Non-Linear Stability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and the discussion of the non-linear system 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251520" y="4405984"/>
            <a:ext cx="8640960" cy="523220"/>
          </a:xfrm>
          <a:prstGeom prst="rect">
            <a:avLst/>
          </a:prstGeom>
          <a:solidFill>
            <a:srgbClr val="FFFF6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detailed discussion of these topics requires its time and is non-trivial, we thus continue with a hands-on approach that in general allows some good first stability/ instability results.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us consider the simplified KS-model in one spatial dimension and discuss small perturbations of an equilibrium (1/ 2)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251520" y="1000114"/>
            <a:ext cx="6480720" cy="864096"/>
          </a:xfrm>
          <a:prstGeom prst="roundRect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803144" y="1065613"/>
            <a:ext cx="5377472" cy="733099"/>
          </a:xfrm>
          <a:prstGeom prst="rect">
            <a:avLst/>
          </a:prstGeom>
          <a:solidFill>
            <a:srgbClr val="FFFF66"/>
          </a:solidFill>
        </p:spPr>
      </p:pic>
      <p:sp>
        <p:nvSpPr>
          <p:cNvPr id="5" name="Textfeld 4"/>
          <p:cNvSpPr txBox="1"/>
          <p:nvPr/>
        </p:nvSpPr>
        <p:spPr>
          <a:xfrm>
            <a:off x="6948264" y="1402545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together with initial and boundary conditions</a:t>
            </a:r>
          </a:p>
        </p:txBody>
      </p:sp>
      <p:pic>
        <p:nvPicPr>
          <p:cNvPr id="7" name="Grafik 6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43902" y="2296249"/>
            <a:ext cx="8656571" cy="142798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us consider the simplified KS-model in one spatial dimension and discuss small perturbations of an equilibrium (2/ 2)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251520" y="1000114"/>
            <a:ext cx="6480720" cy="864096"/>
          </a:xfrm>
          <a:prstGeom prst="roundRect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803144" y="1065613"/>
            <a:ext cx="5377472" cy="733099"/>
          </a:xfrm>
          <a:prstGeom prst="rect">
            <a:avLst/>
          </a:prstGeom>
          <a:solidFill>
            <a:srgbClr val="FFFF66"/>
          </a:solidFill>
        </p:spPr>
      </p:pic>
      <p:sp>
        <p:nvSpPr>
          <p:cNvPr id="5" name="Textfeld 4"/>
          <p:cNvSpPr txBox="1"/>
          <p:nvPr/>
        </p:nvSpPr>
        <p:spPr>
          <a:xfrm>
            <a:off x="6948264" y="1402545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together with initial and boundary conditions</a:t>
            </a:r>
          </a:p>
        </p:txBody>
      </p:sp>
      <p:pic>
        <p:nvPicPr>
          <p:cNvPr id="8" name="Grafik 7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243902" y="2296248"/>
            <a:ext cx="7915449" cy="186576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Therefore, we plug the small perturbation into the governing equations …</a:t>
            </a:r>
          </a:p>
        </p:txBody>
      </p:sp>
      <p:sp>
        <p:nvSpPr>
          <p:cNvPr id="17" name="Raute 16"/>
          <p:cNvSpPr/>
          <p:nvPr/>
        </p:nvSpPr>
        <p:spPr>
          <a:xfrm>
            <a:off x="12700" y="12700"/>
            <a:ext cx="12700" cy="1270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8" name="Grafik 17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43902" y="2296248"/>
            <a:ext cx="8601329" cy="2377405"/>
          </a:xfrm>
          <a:prstGeom prst="rect">
            <a:avLst/>
          </a:prstGeom>
        </p:spPr>
      </p:pic>
      <p:cxnSp>
        <p:nvCxnSpPr>
          <p:cNvPr id="4" name="Gerade Verbindung 3"/>
          <p:cNvCxnSpPr/>
          <p:nvPr/>
        </p:nvCxnSpPr>
        <p:spPr>
          <a:xfrm>
            <a:off x="539552" y="2988785"/>
            <a:ext cx="0" cy="792088"/>
          </a:xfrm>
          <a:prstGeom prst="line">
            <a:avLst/>
          </a:prstGeom>
          <a:ln w="2857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Gerade Verbindung 4"/>
          <p:cNvCxnSpPr/>
          <p:nvPr/>
        </p:nvCxnSpPr>
        <p:spPr>
          <a:xfrm>
            <a:off x="539552" y="2988785"/>
            <a:ext cx="936104" cy="0"/>
          </a:xfrm>
          <a:prstGeom prst="line">
            <a:avLst/>
          </a:prstGeom>
          <a:ln w="2857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Gerade Verbindung 5"/>
          <p:cNvCxnSpPr/>
          <p:nvPr/>
        </p:nvCxnSpPr>
        <p:spPr>
          <a:xfrm>
            <a:off x="539552" y="3780873"/>
            <a:ext cx="936104" cy="0"/>
          </a:xfrm>
          <a:prstGeom prst="line">
            <a:avLst/>
          </a:prstGeom>
          <a:ln w="28575">
            <a:solidFill>
              <a:schemeClr val="tx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uppieren 22"/>
          <p:cNvGrpSpPr/>
          <p:nvPr/>
        </p:nvGrpSpPr>
        <p:grpSpPr>
          <a:xfrm>
            <a:off x="6012160" y="2988785"/>
            <a:ext cx="2592289" cy="792088"/>
            <a:chOff x="7668345" y="3249816"/>
            <a:chExt cx="936104" cy="792088"/>
          </a:xfrm>
        </p:grpSpPr>
        <p:cxnSp>
          <p:nvCxnSpPr>
            <p:cNvPr id="8" name="Gerade Verbindung 7"/>
            <p:cNvCxnSpPr/>
            <p:nvPr/>
          </p:nvCxnSpPr>
          <p:spPr>
            <a:xfrm rot="10800000">
              <a:off x="8604449" y="3249816"/>
              <a:ext cx="0" cy="792088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8"/>
            <p:cNvCxnSpPr/>
            <p:nvPr/>
          </p:nvCxnSpPr>
          <p:spPr>
            <a:xfrm rot="10800000">
              <a:off x="7668345" y="4041904"/>
              <a:ext cx="936104" cy="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 Verbindung 9"/>
            <p:cNvCxnSpPr/>
            <p:nvPr/>
          </p:nvCxnSpPr>
          <p:spPr>
            <a:xfrm rot="10800000">
              <a:off x="7668345" y="3249816"/>
              <a:ext cx="936104" cy="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Freeform 37"/>
          <p:cNvSpPr>
            <a:spLocks/>
          </p:cNvSpPr>
          <p:nvPr/>
        </p:nvSpPr>
        <p:spPr bwMode="auto">
          <a:xfrm rot="19303521" flipH="1" flipV="1">
            <a:off x="6721430" y="3729090"/>
            <a:ext cx="590570" cy="1100018"/>
          </a:xfrm>
          <a:custGeom>
            <a:avLst/>
            <a:gdLst/>
            <a:ahLst/>
            <a:cxnLst>
              <a:cxn ang="0">
                <a:pos x="75" y="36"/>
              </a:cxn>
              <a:cxn ang="0">
                <a:pos x="174" y="87"/>
              </a:cxn>
              <a:cxn ang="0">
                <a:pos x="285" y="162"/>
              </a:cxn>
              <a:cxn ang="0">
                <a:pos x="417" y="282"/>
              </a:cxn>
              <a:cxn ang="0">
                <a:pos x="513" y="405"/>
              </a:cxn>
              <a:cxn ang="0">
                <a:pos x="591" y="528"/>
              </a:cxn>
              <a:cxn ang="0">
                <a:pos x="657" y="666"/>
              </a:cxn>
              <a:cxn ang="0">
                <a:pos x="717" y="813"/>
              </a:cxn>
              <a:cxn ang="0">
                <a:pos x="762" y="969"/>
              </a:cxn>
              <a:cxn ang="0">
                <a:pos x="792" y="1149"/>
              </a:cxn>
              <a:cxn ang="0">
                <a:pos x="813" y="1332"/>
              </a:cxn>
              <a:cxn ang="0">
                <a:pos x="813" y="1479"/>
              </a:cxn>
              <a:cxn ang="0">
                <a:pos x="804" y="1635"/>
              </a:cxn>
              <a:cxn ang="0">
                <a:pos x="780" y="1785"/>
              </a:cxn>
              <a:cxn ang="0">
                <a:pos x="591" y="1830"/>
              </a:cxn>
              <a:cxn ang="0">
                <a:pos x="1149" y="1971"/>
              </a:cxn>
              <a:cxn ang="0">
                <a:pos x="1008" y="1869"/>
              </a:cxn>
              <a:cxn ang="0">
                <a:pos x="1038" y="1716"/>
              </a:cxn>
              <a:cxn ang="0">
                <a:pos x="1050" y="1566"/>
              </a:cxn>
              <a:cxn ang="0">
                <a:pos x="1053" y="1395"/>
              </a:cxn>
              <a:cxn ang="0">
                <a:pos x="1035" y="1206"/>
              </a:cxn>
              <a:cxn ang="0">
                <a:pos x="1005" y="1050"/>
              </a:cxn>
              <a:cxn ang="0">
                <a:pos x="963" y="900"/>
              </a:cxn>
              <a:cxn ang="0">
                <a:pos x="912" y="762"/>
              </a:cxn>
              <a:cxn ang="0">
                <a:pos x="837" y="603"/>
              </a:cxn>
              <a:cxn ang="0">
                <a:pos x="750" y="462"/>
              </a:cxn>
              <a:cxn ang="0">
                <a:pos x="669" y="363"/>
              </a:cxn>
              <a:cxn ang="0">
                <a:pos x="558" y="249"/>
              </a:cxn>
              <a:cxn ang="0">
                <a:pos x="433" y="157"/>
              </a:cxn>
              <a:cxn ang="0">
                <a:pos x="297" y="81"/>
              </a:cxn>
              <a:cxn ang="0">
                <a:pos x="153" y="24"/>
              </a:cxn>
              <a:cxn ang="0">
                <a:pos x="0" y="0"/>
              </a:cxn>
            </a:cxnLst>
            <a:rect l="0" t="0" r="r" b="b"/>
            <a:pathLst>
              <a:path w="1149" h="2226">
                <a:moveTo>
                  <a:pt x="6" y="6"/>
                </a:moveTo>
                <a:lnTo>
                  <a:pt x="75" y="36"/>
                </a:lnTo>
                <a:lnTo>
                  <a:pt x="129" y="60"/>
                </a:lnTo>
                <a:lnTo>
                  <a:pt x="174" y="87"/>
                </a:lnTo>
                <a:lnTo>
                  <a:pt x="228" y="120"/>
                </a:lnTo>
                <a:lnTo>
                  <a:pt x="285" y="162"/>
                </a:lnTo>
                <a:lnTo>
                  <a:pt x="342" y="210"/>
                </a:lnTo>
                <a:lnTo>
                  <a:pt x="417" y="282"/>
                </a:lnTo>
                <a:lnTo>
                  <a:pt x="465" y="345"/>
                </a:lnTo>
                <a:lnTo>
                  <a:pt x="513" y="405"/>
                </a:lnTo>
                <a:lnTo>
                  <a:pt x="549" y="462"/>
                </a:lnTo>
                <a:lnTo>
                  <a:pt x="591" y="528"/>
                </a:lnTo>
                <a:lnTo>
                  <a:pt x="627" y="603"/>
                </a:lnTo>
                <a:lnTo>
                  <a:pt x="657" y="666"/>
                </a:lnTo>
                <a:lnTo>
                  <a:pt x="684" y="723"/>
                </a:lnTo>
                <a:lnTo>
                  <a:pt x="717" y="813"/>
                </a:lnTo>
                <a:lnTo>
                  <a:pt x="738" y="894"/>
                </a:lnTo>
                <a:lnTo>
                  <a:pt x="762" y="969"/>
                </a:lnTo>
                <a:lnTo>
                  <a:pt x="777" y="1056"/>
                </a:lnTo>
                <a:lnTo>
                  <a:pt x="792" y="1149"/>
                </a:lnTo>
                <a:lnTo>
                  <a:pt x="807" y="1239"/>
                </a:lnTo>
                <a:lnTo>
                  <a:pt x="813" y="1332"/>
                </a:lnTo>
                <a:lnTo>
                  <a:pt x="813" y="1410"/>
                </a:lnTo>
                <a:lnTo>
                  <a:pt x="813" y="1479"/>
                </a:lnTo>
                <a:lnTo>
                  <a:pt x="810" y="1560"/>
                </a:lnTo>
                <a:lnTo>
                  <a:pt x="804" y="1635"/>
                </a:lnTo>
                <a:lnTo>
                  <a:pt x="792" y="1710"/>
                </a:lnTo>
                <a:lnTo>
                  <a:pt x="780" y="1785"/>
                </a:lnTo>
                <a:lnTo>
                  <a:pt x="762" y="1869"/>
                </a:lnTo>
                <a:lnTo>
                  <a:pt x="591" y="1830"/>
                </a:lnTo>
                <a:lnTo>
                  <a:pt x="786" y="2226"/>
                </a:lnTo>
                <a:lnTo>
                  <a:pt x="1149" y="1971"/>
                </a:lnTo>
                <a:lnTo>
                  <a:pt x="990" y="1932"/>
                </a:lnTo>
                <a:lnTo>
                  <a:pt x="1008" y="1869"/>
                </a:lnTo>
                <a:lnTo>
                  <a:pt x="1023" y="1797"/>
                </a:lnTo>
                <a:lnTo>
                  <a:pt x="1038" y="1716"/>
                </a:lnTo>
                <a:lnTo>
                  <a:pt x="1047" y="1644"/>
                </a:lnTo>
                <a:lnTo>
                  <a:pt x="1050" y="1566"/>
                </a:lnTo>
                <a:lnTo>
                  <a:pt x="1053" y="1482"/>
                </a:lnTo>
                <a:lnTo>
                  <a:pt x="1053" y="1395"/>
                </a:lnTo>
                <a:lnTo>
                  <a:pt x="1047" y="1299"/>
                </a:lnTo>
                <a:lnTo>
                  <a:pt x="1035" y="1206"/>
                </a:lnTo>
                <a:lnTo>
                  <a:pt x="1020" y="1113"/>
                </a:lnTo>
                <a:lnTo>
                  <a:pt x="1005" y="1050"/>
                </a:lnTo>
                <a:lnTo>
                  <a:pt x="987" y="975"/>
                </a:lnTo>
                <a:lnTo>
                  <a:pt x="963" y="900"/>
                </a:lnTo>
                <a:lnTo>
                  <a:pt x="942" y="831"/>
                </a:lnTo>
                <a:lnTo>
                  <a:pt x="912" y="762"/>
                </a:lnTo>
                <a:lnTo>
                  <a:pt x="879" y="684"/>
                </a:lnTo>
                <a:lnTo>
                  <a:pt x="837" y="603"/>
                </a:lnTo>
                <a:lnTo>
                  <a:pt x="798" y="534"/>
                </a:lnTo>
                <a:lnTo>
                  <a:pt x="750" y="462"/>
                </a:lnTo>
                <a:lnTo>
                  <a:pt x="711" y="408"/>
                </a:lnTo>
                <a:lnTo>
                  <a:pt x="669" y="363"/>
                </a:lnTo>
                <a:lnTo>
                  <a:pt x="615" y="309"/>
                </a:lnTo>
                <a:lnTo>
                  <a:pt x="558" y="249"/>
                </a:lnTo>
                <a:lnTo>
                  <a:pt x="501" y="201"/>
                </a:lnTo>
                <a:lnTo>
                  <a:pt x="433" y="157"/>
                </a:lnTo>
                <a:lnTo>
                  <a:pt x="366" y="114"/>
                </a:lnTo>
                <a:lnTo>
                  <a:pt x="297" y="81"/>
                </a:lnTo>
                <a:lnTo>
                  <a:pt x="225" y="51"/>
                </a:lnTo>
                <a:lnTo>
                  <a:pt x="153" y="24"/>
                </a:lnTo>
                <a:lnTo>
                  <a:pt x="81" y="9"/>
                </a:lnTo>
                <a:lnTo>
                  <a:pt x="0" y="0"/>
                </a:lnTo>
              </a:path>
            </a:pathLst>
          </a:custGeom>
          <a:solidFill>
            <a:schemeClr val="bg1">
              <a:lumMod val="75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2" name="Textfeld 11"/>
          <p:cNvSpPr txBox="1"/>
          <p:nvPr/>
        </p:nvSpPr>
        <p:spPr>
          <a:xfrm>
            <a:off x="7092280" y="4168461"/>
            <a:ext cx="12394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linear system</a:t>
            </a:r>
          </a:p>
        </p:txBody>
      </p:sp>
      <p:sp>
        <p:nvSpPr>
          <p:cNvPr id="13" name="Abgerundetes Rechteck 12"/>
          <p:cNvSpPr/>
          <p:nvPr/>
        </p:nvSpPr>
        <p:spPr>
          <a:xfrm>
            <a:off x="251520" y="1000114"/>
            <a:ext cx="6480720" cy="864096"/>
          </a:xfrm>
          <a:prstGeom prst="roundRect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fik 13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803144" y="1065613"/>
            <a:ext cx="5377472" cy="733099"/>
          </a:xfrm>
          <a:prstGeom prst="rect">
            <a:avLst/>
          </a:prstGeom>
          <a:solidFill>
            <a:srgbClr val="FFFF66"/>
          </a:solidFill>
        </p:spPr>
      </p:pic>
      <p:sp>
        <p:nvSpPr>
          <p:cNvPr id="15" name="Textfeld 14"/>
          <p:cNvSpPr txBox="1"/>
          <p:nvPr/>
        </p:nvSpPr>
        <p:spPr>
          <a:xfrm>
            <a:off x="6948264" y="1402545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together with initial and boundary conditions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with Neumann boundary conditions, …</a:t>
            </a:r>
          </a:p>
        </p:txBody>
      </p:sp>
      <p:pic>
        <p:nvPicPr>
          <p:cNvPr id="18" name="Grafik 17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243901" y="2296248"/>
            <a:ext cx="7237567" cy="1655205"/>
          </a:xfrm>
          <a:prstGeom prst="rect">
            <a:avLst/>
          </a:prstGeom>
        </p:spPr>
      </p:pic>
      <p:sp>
        <p:nvSpPr>
          <p:cNvPr id="13" name="Abgerundetes Rechteck 12"/>
          <p:cNvSpPr/>
          <p:nvPr/>
        </p:nvSpPr>
        <p:spPr>
          <a:xfrm>
            <a:off x="251520" y="1000114"/>
            <a:ext cx="6480720" cy="864096"/>
          </a:xfrm>
          <a:prstGeom prst="roundRect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fik 13" descr="IguanaTex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>
          <a:xfrm>
            <a:off x="803144" y="1065613"/>
            <a:ext cx="5377472" cy="733099"/>
          </a:xfrm>
          <a:prstGeom prst="rect">
            <a:avLst/>
          </a:prstGeom>
          <a:solidFill>
            <a:srgbClr val="FFFF66"/>
          </a:solidFill>
        </p:spPr>
      </p:pic>
      <p:sp>
        <p:nvSpPr>
          <p:cNvPr id="15" name="Textfeld 14"/>
          <p:cNvSpPr txBox="1"/>
          <p:nvPr/>
        </p:nvSpPr>
        <p:spPr>
          <a:xfrm>
            <a:off x="6948264" y="1402545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together with initial and boundary conditions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and assume that the perturbations can be represented by a time- and space-product Fourier </a:t>
            </a:r>
            <a:r>
              <a:rPr lang="en-US" dirty="0" err="1"/>
              <a:t>ansatz</a:t>
            </a:r>
            <a:r>
              <a:rPr lang="en-US" dirty="0"/>
              <a:t> (1/ 2)</a:t>
            </a:r>
          </a:p>
        </p:txBody>
      </p:sp>
      <p:pic>
        <p:nvPicPr>
          <p:cNvPr id="6" name="Grafik 5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43901" y="1000113"/>
            <a:ext cx="7607723" cy="2547127"/>
          </a:xfrm>
          <a:prstGeom prst="rect">
            <a:avLst/>
          </a:prstGeom>
        </p:spPr>
      </p:pic>
      <p:sp>
        <p:nvSpPr>
          <p:cNvPr id="5" name="Gefaltete Ecke 4"/>
          <p:cNvSpPr/>
          <p:nvPr/>
        </p:nvSpPr>
        <p:spPr>
          <a:xfrm>
            <a:off x="7668344" y="1000123"/>
            <a:ext cx="1224136" cy="1368152"/>
          </a:xfrm>
          <a:prstGeom prst="foldedCorner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defining equations for the perturbations, i.e. </a:t>
            </a:r>
            <a:r>
              <a:rPr lang="en-US" sz="1200" dirty="0">
                <a:solidFill>
                  <a:schemeClr val="tx1"/>
                </a:solidFill>
                <a:sym typeface="Symbol"/>
              </a:rPr>
              <a:t>u and v must fulfill these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and assume that the perturbations can be represented by a time- and space-product Fourier </a:t>
            </a:r>
            <a:r>
              <a:rPr lang="en-US" dirty="0" err="1"/>
              <a:t>ansatz</a:t>
            </a:r>
            <a:r>
              <a:rPr lang="en-US" dirty="0"/>
              <a:t> (2/ 2)</a:t>
            </a:r>
          </a:p>
        </p:txBody>
      </p:sp>
      <p:pic>
        <p:nvPicPr>
          <p:cNvPr id="8" name="Grafik 7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43901" y="1000112"/>
            <a:ext cx="8690284" cy="3950717"/>
          </a:xfrm>
          <a:prstGeom prst="rect">
            <a:avLst/>
          </a:prstGeom>
        </p:spPr>
      </p:pic>
      <p:sp>
        <p:nvSpPr>
          <p:cNvPr id="4" name="Gefaltete Ecke 3"/>
          <p:cNvSpPr/>
          <p:nvPr/>
        </p:nvSpPr>
        <p:spPr>
          <a:xfrm>
            <a:off x="7668344" y="3571882"/>
            <a:ext cx="1224136" cy="648072"/>
          </a:xfrm>
          <a:prstGeom prst="foldedCorner">
            <a:avLst>
              <a:gd name="adj" fmla="val 29601"/>
            </a:avLst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instability if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sym typeface="Symbol"/>
              </a:rPr>
              <a:t> &gt; 0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Provided that the </a:t>
            </a:r>
            <a:r>
              <a:rPr lang="en-US" dirty="0" err="1"/>
              <a:t>chemotaxis</a:t>
            </a:r>
            <a:r>
              <a:rPr lang="en-US" dirty="0"/>
              <a:t> coefficient is large enough there are unstable modes (values of k) in each perturbation representation</a:t>
            </a:r>
          </a:p>
        </p:txBody>
      </p:sp>
      <p:pic>
        <p:nvPicPr>
          <p:cNvPr id="5" name="Grafik 4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43901" y="1000113"/>
            <a:ext cx="8677648" cy="176395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Provided that the </a:t>
            </a:r>
            <a:r>
              <a:rPr lang="en-US" dirty="0" err="1"/>
              <a:t>chemotaxis</a:t>
            </a:r>
            <a:r>
              <a:rPr lang="en-US" dirty="0"/>
              <a:t> coefficient is large enough there are unstable modes (values of k) in each perturbation representation (2/ 2)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251520" y="4071948"/>
            <a:ext cx="8640960" cy="648072"/>
          </a:xfrm>
          <a:prstGeom prst="roundRect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fik 5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43901" y="1000112"/>
            <a:ext cx="8337388" cy="351423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8B1BB-A8BF-5E2E-C7DC-CEE673BE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1">
            <a:extLst>
              <a:ext uri="{FF2B5EF4-FFF2-40B4-BE49-F238E27FC236}">
                <a16:creationId xmlns:a16="http://schemas.microsoft.com/office/drawing/2014/main" id="{AD917AD9-2456-321B-E2E8-603CC6644F44}"/>
              </a:ext>
            </a:extLst>
          </p:cNvPr>
          <p:cNvSpPr/>
          <p:nvPr/>
        </p:nvSpPr>
        <p:spPr>
          <a:xfrm>
            <a:off x="971600" y="2650792"/>
            <a:ext cx="7200800" cy="3600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32ABC59-FB81-6C58-22B5-8FF86DA9BEF6}"/>
              </a:ext>
            </a:extLst>
          </p:cNvPr>
          <p:cNvSpPr txBox="1"/>
          <p:nvPr/>
        </p:nvSpPr>
        <p:spPr>
          <a:xfrm>
            <a:off x="971600" y="1131590"/>
            <a:ext cx="4357027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Topics</a:t>
            </a:r>
          </a:p>
          <a:p>
            <a:endParaRPr lang="en-US" sz="1000" dirty="0"/>
          </a:p>
          <a:p>
            <a:pPr lvl="1"/>
            <a:r>
              <a:rPr lang="en-US" dirty="0"/>
              <a:t>Chemotaxis &amp; the Keller-Segel Model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 First Mathematical Stability Analysis</a:t>
            </a:r>
          </a:p>
          <a:p>
            <a:pPr lvl="1"/>
            <a:endParaRPr lang="en-US" b="1" dirty="0"/>
          </a:p>
          <a:p>
            <a:pPr lvl="1"/>
            <a:r>
              <a:rPr lang="en-US" b="1" dirty="0"/>
              <a:t>Simulation of the Keller-Segel Model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E9F91A3-3669-F72D-2AB8-A5CD2E625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3245482"/>
            <a:ext cx="2445629" cy="181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779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mathematical analysis of the simplified Keller-Segel model can follow a somewhat straight-forward approach [continued]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2411760" y="1000114"/>
            <a:ext cx="4320480" cy="864096"/>
          </a:xfrm>
          <a:prstGeom prst="roundRect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3321674" y="1113516"/>
            <a:ext cx="2500653" cy="637293"/>
          </a:xfrm>
          <a:prstGeom prst="rect">
            <a:avLst/>
          </a:prstGeom>
          <a:solidFill>
            <a:srgbClr val="FFFF66"/>
          </a:solidFill>
        </p:spPr>
      </p:pic>
      <p:sp>
        <p:nvSpPr>
          <p:cNvPr id="16" name="Textfeld 15"/>
          <p:cNvSpPr txBox="1"/>
          <p:nvPr/>
        </p:nvSpPr>
        <p:spPr>
          <a:xfrm>
            <a:off x="6948264" y="1402545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together with initial and boundary conditions</a:t>
            </a:r>
          </a:p>
        </p:txBody>
      </p:sp>
      <p:grpSp>
        <p:nvGrpSpPr>
          <p:cNvPr id="5" name="Gruppieren 18"/>
          <p:cNvGrpSpPr/>
          <p:nvPr/>
        </p:nvGrpSpPr>
        <p:grpSpPr>
          <a:xfrm>
            <a:off x="251520" y="2414963"/>
            <a:ext cx="8640960" cy="2448272"/>
            <a:chOff x="251520" y="2421125"/>
            <a:chExt cx="8640960" cy="2448272"/>
          </a:xfrm>
        </p:grpSpPr>
        <p:sp>
          <p:nvSpPr>
            <p:cNvPr id="20" name="Rechteck 19"/>
            <p:cNvSpPr/>
            <p:nvPr/>
          </p:nvSpPr>
          <p:spPr>
            <a:xfrm>
              <a:off x="4067944" y="3285221"/>
              <a:ext cx="4824536" cy="72008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360363" indent="-184150">
                <a:buFont typeface="Arial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</a:rPr>
                <a:t>Asymptotic regimes, simplifications of the model</a:t>
              </a:r>
            </a:p>
            <a:p>
              <a:pPr marL="360363" indent="-184150">
                <a:buFont typeface="Arial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</a:rPr>
                <a:t>Differentiation of relevant parameter-regimes</a:t>
              </a:r>
            </a:p>
            <a:p>
              <a:pPr marL="360363" indent="-184150">
                <a:buFont typeface="Arial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</a:rPr>
                <a:t>Attractors and dimension reduction (ODE models)</a:t>
              </a:r>
            </a:p>
          </p:txBody>
        </p:sp>
        <p:sp>
          <p:nvSpPr>
            <p:cNvPr id="21" name="Rechteck 20"/>
            <p:cNvSpPr/>
            <p:nvPr/>
          </p:nvSpPr>
          <p:spPr>
            <a:xfrm>
              <a:off x="4067944" y="4149317"/>
              <a:ext cx="4824536" cy="72008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360363" indent="-184150">
                <a:buFont typeface="Arial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</a:rPr>
                <a:t>Numerical simulations to find interesting properties and gain clues for analytic discussions</a:t>
              </a:r>
            </a:p>
            <a:p>
              <a:pPr marL="360363" indent="-184150">
                <a:buFont typeface="Arial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</a:rPr>
                <a:t>Accurate numerical methods</a:t>
              </a:r>
            </a:p>
          </p:txBody>
        </p:sp>
        <p:sp>
          <p:nvSpPr>
            <p:cNvPr id="22" name="Rechteck 21"/>
            <p:cNvSpPr/>
            <p:nvPr/>
          </p:nvSpPr>
          <p:spPr>
            <a:xfrm>
              <a:off x="4067944" y="2421125"/>
              <a:ext cx="4824536" cy="72008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360363" indent="-184150">
                <a:buFont typeface="Arial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</a:rPr>
                <a:t>Here, e.g., blow-up of solutions (= aggregation)</a:t>
              </a:r>
            </a:p>
            <a:p>
              <a:pPr marL="360363" indent="-184150">
                <a:buFont typeface="Arial" pitchFamily="34" charset="0"/>
                <a:buChar char="•"/>
              </a:pPr>
              <a:r>
                <a:rPr lang="en-US" sz="1400" dirty="0">
                  <a:solidFill>
                    <a:schemeClr val="tx1"/>
                  </a:solidFill>
                </a:rPr>
                <a:t>Invariance of the non-negative orthant, travelling waves, pattern formation, etc.</a:t>
              </a:r>
            </a:p>
          </p:txBody>
        </p:sp>
        <p:sp>
          <p:nvSpPr>
            <p:cNvPr id="23" name="Richtungspfeil 22"/>
            <p:cNvSpPr/>
            <p:nvPr/>
          </p:nvSpPr>
          <p:spPr>
            <a:xfrm>
              <a:off x="971600" y="2421125"/>
              <a:ext cx="3240360" cy="72008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Relevant Properties for the Connection of the Model to Reality</a:t>
              </a:r>
            </a:p>
          </p:txBody>
        </p:sp>
        <p:sp>
          <p:nvSpPr>
            <p:cNvPr id="24" name="Richtungspfeil 23"/>
            <p:cNvSpPr/>
            <p:nvPr/>
          </p:nvSpPr>
          <p:spPr>
            <a:xfrm>
              <a:off x="971600" y="3285221"/>
              <a:ext cx="3240360" cy="72008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</a:rPr>
                <a:t>Asymptotics</a:t>
              </a:r>
              <a:r>
                <a:rPr lang="en-US" sz="1400" dirty="0">
                  <a:solidFill>
                    <a:schemeClr val="tx1"/>
                  </a:solidFill>
                </a:rPr>
                <a:t>, Parameter-Regimes and Attractors</a:t>
              </a:r>
            </a:p>
          </p:txBody>
        </p:sp>
        <p:sp>
          <p:nvSpPr>
            <p:cNvPr id="25" name="Richtungspfeil 24"/>
            <p:cNvSpPr/>
            <p:nvPr/>
          </p:nvSpPr>
          <p:spPr>
            <a:xfrm>
              <a:off x="971600" y="4149317"/>
              <a:ext cx="3240360" cy="720080"/>
            </a:xfrm>
            <a:prstGeom prst="homePlat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Numerical Simulations</a:t>
              </a:r>
            </a:p>
          </p:txBody>
        </p:sp>
        <p:sp>
          <p:nvSpPr>
            <p:cNvPr id="26" name="Rechteck 25"/>
            <p:cNvSpPr/>
            <p:nvPr/>
          </p:nvSpPr>
          <p:spPr>
            <a:xfrm rot="16200000">
              <a:off x="-684584" y="3357229"/>
              <a:ext cx="2448272" cy="57606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Further Interesting Solution Properties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finite-difference </a:t>
            </a:r>
            <a:r>
              <a:rPr lang="en-US" dirty="0" err="1"/>
              <a:t>discretization</a:t>
            </a:r>
            <a:r>
              <a:rPr lang="en-US" dirty="0"/>
              <a:t> lays the ground for numerical simulations (1/ 2) …</a:t>
            </a:r>
          </a:p>
        </p:txBody>
      </p:sp>
      <p:sp>
        <p:nvSpPr>
          <p:cNvPr id="3" name="Abgerundetes Rechteck 2"/>
          <p:cNvSpPr/>
          <p:nvPr/>
        </p:nvSpPr>
        <p:spPr>
          <a:xfrm>
            <a:off x="251520" y="1000114"/>
            <a:ext cx="5760640" cy="864096"/>
          </a:xfrm>
          <a:prstGeom prst="roundRect">
            <a:avLst/>
          </a:prstGeom>
          <a:solidFill>
            <a:srgbClr val="FFFF66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443104" y="1065613"/>
            <a:ext cx="5377472" cy="733099"/>
          </a:xfrm>
          <a:prstGeom prst="rect">
            <a:avLst/>
          </a:prstGeom>
          <a:solidFill>
            <a:srgbClr val="FFFF66"/>
          </a:solidFill>
        </p:spPr>
      </p:pic>
      <p:sp>
        <p:nvSpPr>
          <p:cNvPr id="5" name="Textfeld 4"/>
          <p:cNvSpPr txBox="1"/>
          <p:nvPr/>
        </p:nvSpPr>
        <p:spPr>
          <a:xfrm>
            <a:off x="6156176" y="1217879"/>
            <a:ext cx="2736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together with initial conditions and vanishing Neumann boundary conditions (no-flux conditions)</a:t>
            </a:r>
          </a:p>
        </p:txBody>
      </p:sp>
      <p:grpSp>
        <p:nvGrpSpPr>
          <p:cNvPr id="6" name="Gruppieren 154"/>
          <p:cNvGrpSpPr/>
          <p:nvPr/>
        </p:nvGrpSpPr>
        <p:grpSpPr>
          <a:xfrm>
            <a:off x="992430" y="2152242"/>
            <a:ext cx="7159141" cy="1872208"/>
            <a:chOff x="755576" y="2420888"/>
            <a:chExt cx="7159141" cy="1872208"/>
          </a:xfrm>
        </p:grpSpPr>
        <p:cxnSp>
          <p:nvCxnSpPr>
            <p:cNvPr id="7" name="Gerade Verbindung mit Pfeil 6"/>
            <p:cNvCxnSpPr/>
            <p:nvPr/>
          </p:nvCxnSpPr>
          <p:spPr>
            <a:xfrm flipV="1">
              <a:off x="1331640" y="2420888"/>
              <a:ext cx="0" cy="1872208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feld 7"/>
            <p:cNvSpPr txBox="1"/>
            <p:nvPr/>
          </p:nvSpPr>
          <p:spPr>
            <a:xfrm>
              <a:off x="755576" y="2492896"/>
              <a:ext cx="5613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time t</a:t>
              </a:r>
            </a:p>
          </p:txBody>
        </p:sp>
        <p:cxnSp>
          <p:nvCxnSpPr>
            <p:cNvPr id="9" name="Gerade Verbindung mit Pfeil 8"/>
            <p:cNvCxnSpPr/>
            <p:nvPr/>
          </p:nvCxnSpPr>
          <p:spPr>
            <a:xfrm>
              <a:off x="1259632" y="4221088"/>
              <a:ext cx="451727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feld 9"/>
            <p:cNvSpPr txBox="1"/>
            <p:nvPr/>
          </p:nvSpPr>
          <p:spPr>
            <a:xfrm>
              <a:off x="5848919" y="4005064"/>
              <a:ext cx="7393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space x</a:t>
              </a:r>
            </a:p>
          </p:txBody>
        </p:sp>
        <p:cxnSp>
          <p:nvCxnSpPr>
            <p:cNvPr id="11" name="Gerade Verbindung 10"/>
            <p:cNvCxnSpPr/>
            <p:nvPr/>
          </p:nvCxnSpPr>
          <p:spPr>
            <a:xfrm>
              <a:off x="1877355" y="414908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 Verbindung 11"/>
            <p:cNvCxnSpPr/>
            <p:nvPr/>
          </p:nvCxnSpPr>
          <p:spPr>
            <a:xfrm>
              <a:off x="5189723" y="414908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uppieren 35"/>
            <p:cNvGrpSpPr/>
            <p:nvPr/>
          </p:nvGrpSpPr>
          <p:grpSpPr>
            <a:xfrm>
              <a:off x="1877355" y="3789040"/>
              <a:ext cx="3312369" cy="144016"/>
              <a:chOff x="971600" y="3933056"/>
              <a:chExt cx="3240360" cy="144016"/>
            </a:xfrm>
            <a:solidFill>
              <a:schemeClr val="accent5">
                <a:lumMod val="90000"/>
              </a:schemeClr>
            </a:solidFill>
          </p:grpSpPr>
          <p:sp>
            <p:nvSpPr>
              <p:cNvPr id="104" name="Rechteck 103"/>
              <p:cNvSpPr/>
              <p:nvPr/>
            </p:nvSpPr>
            <p:spPr>
              <a:xfrm>
                <a:off x="97160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Rechteck 104"/>
              <p:cNvSpPr/>
              <p:nvPr/>
            </p:nvSpPr>
            <p:spPr>
              <a:xfrm>
                <a:off x="133164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hteck 105"/>
              <p:cNvSpPr/>
              <p:nvPr/>
            </p:nvSpPr>
            <p:spPr>
              <a:xfrm>
                <a:off x="169168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Rechteck 106"/>
              <p:cNvSpPr/>
              <p:nvPr/>
            </p:nvSpPr>
            <p:spPr>
              <a:xfrm>
                <a:off x="205172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hteck 107"/>
              <p:cNvSpPr/>
              <p:nvPr/>
            </p:nvSpPr>
            <p:spPr>
              <a:xfrm>
                <a:off x="241176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Rechteck 108"/>
              <p:cNvSpPr/>
              <p:nvPr/>
            </p:nvSpPr>
            <p:spPr>
              <a:xfrm>
                <a:off x="277180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Rechteck 109"/>
              <p:cNvSpPr/>
              <p:nvPr/>
            </p:nvSpPr>
            <p:spPr>
              <a:xfrm>
                <a:off x="313184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Rechteck 110"/>
              <p:cNvSpPr/>
              <p:nvPr/>
            </p:nvSpPr>
            <p:spPr>
              <a:xfrm>
                <a:off x="349188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Rechteck 111"/>
              <p:cNvSpPr/>
              <p:nvPr/>
            </p:nvSpPr>
            <p:spPr>
              <a:xfrm>
                <a:off x="385192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Rechteck 13"/>
            <p:cNvSpPr/>
            <p:nvPr/>
          </p:nvSpPr>
          <p:spPr>
            <a:xfrm>
              <a:off x="1877355" y="364502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" name="Rechteck 14"/>
            <p:cNvSpPr/>
            <p:nvPr/>
          </p:nvSpPr>
          <p:spPr>
            <a:xfrm>
              <a:off x="2245396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" name="Rechteck 15"/>
            <p:cNvSpPr/>
            <p:nvPr/>
          </p:nvSpPr>
          <p:spPr>
            <a:xfrm>
              <a:off x="2613437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" name="Rechteck 16"/>
            <p:cNvSpPr/>
            <p:nvPr/>
          </p:nvSpPr>
          <p:spPr>
            <a:xfrm>
              <a:off x="2981478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" name="Rechteck 17"/>
            <p:cNvSpPr/>
            <p:nvPr/>
          </p:nvSpPr>
          <p:spPr>
            <a:xfrm>
              <a:off x="3349519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9" name="Rechteck 18"/>
            <p:cNvSpPr/>
            <p:nvPr/>
          </p:nvSpPr>
          <p:spPr>
            <a:xfrm>
              <a:off x="3717559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0" name="Rechteck 19"/>
            <p:cNvSpPr/>
            <p:nvPr/>
          </p:nvSpPr>
          <p:spPr>
            <a:xfrm>
              <a:off x="4085600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4453641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2" name="Rechteck 21"/>
            <p:cNvSpPr/>
            <p:nvPr/>
          </p:nvSpPr>
          <p:spPr>
            <a:xfrm>
              <a:off x="4821682" y="364502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3" name="Rechteck 22"/>
            <p:cNvSpPr/>
            <p:nvPr/>
          </p:nvSpPr>
          <p:spPr>
            <a:xfrm>
              <a:off x="1877355" y="3501008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4" name="Rechteck 23"/>
            <p:cNvSpPr/>
            <p:nvPr/>
          </p:nvSpPr>
          <p:spPr>
            <a:xfrm>
              <a:off x="2245396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5" name="Rechteck 24"/>
            <p:cNvSpPr/>
            <p:nvPr/>
          </p:nvSpPr>
          <p:spPr>
            <a:xfrm>
              <a:off x="2613437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6" name="Rechteck 25"/>
            <p:cNvSpPr/>
            <p:nvPr/>
          </p:nvSpPr>
          <p:spPr>
            <a:xfrm>
              <a:off x="2981478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7" name="Rechteck 26"/>
            <p:cNvSpPr/>
            <p:nvPr/>
          </p:nvSpPr>
          <p:spPr>
            <a:xfrm>
              <a:off x="3349519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8" name="Rechteck 27"/>
            <p:cNvSpPr/>
            <p:nvPr/>
          </p:nvSpPr>
          <p:spPr>
            <a:xfrm>
              <a:off x="3717559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9" name="Rechteck 28"/>
            <p:cNvSpPr/>
            <p:nvPr/>
          </p:nvSpPr>
          <p:spPr>
            <a:xfrm>
              <a:off x="4085600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0" name="Rechteck 29"/>
            <p:cNvSpPr/>
            <p:nvPr/>
          </p:nvSpPr>
          <p:spPr>
            <a:xfrm>
              <a:off x="4453641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1" name="Rechteck 30"/>
            <p:cNvSpPr/>
            <p:nvPr/>
          </p:nvSpPr>
          <p:spPr>
            <a:xfrm>
              <a:off x="4821682" y="3501008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2" name="Rechteck 31"/>
            <p:cNvSpPr/>
            <p:nvPr/>
          </p:nvSpPr>
          <p:spPr>
            <a:xfrm>
              <a:off x="1877355" y="335699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3" name="Rechteck 32"/>
            <p:cNvSpPr/>
            <p:nvPr/>
          </p:nvSpPr>
          <p:spPr>
            <a:xfrm>
              <a:off x="2245396" y="335699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4" name="Rechteck 33"/>
            <p:cNvSpPr/>
            <p:nvPr/>
          </p:nvSpPr>
          <p:spPr>
            <a:xfrm>
              <a:off x="2613437" y="3356992"/>
              <a:ext cx="368041" cy="144016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5" name="Rechteck 34"/>
            <p:cNvSpPr/>
            <p:nvPr/>
          </p:nvSpPr>
          <p:spPr>
            <a:xfrm>
              <a:off x="2981478" y="3356992"/>
              <a:ext cx="368041" cy="144016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6" name="Rechteck 35"/>
            <p:cNvSpPr/>
            <p:nvPr/>
          </p:nvSpPr>
          <p:spPr>
            <a:xfrm>
              <a:off x="3349519" y="3356992"/>
              <a:ext cx="368041" cy="144016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7" name="Rechteck 36"/>
            <p:cNvSpPr/>
            <p:nvPr/>
          </p:nvSpPr>
          <p:spPr>
            <a:xfrm>
              <a:off x="3717559" y="335699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8" name="Rechteck 37"/>
            <p:cNvSpPr/>
            <p:nvPr/>
          </p:nvSpPr>
          <p:spPr>
            <a:xfrm>
              <a:off x="4085600" y="335699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9" name="Rechteck 38"/>
            <p:cNvSpPr/>
            <p:nvPr/>
          </p:nvSpPr>
          <p:spPr>
            <a:xfrm>
              <a:off x="4453641" y="335699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0" name="Rechteck 39"/>
            <p:cNvSpPr/>
            <p:nvPr/>
          </p:nvSpPr>
          <p:spPr>
            <a:xfrm>
              <a:off x="4821682" y="335699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1" name="Rechteck 40"/>
            <p:cNvSpPr/>
            <p:nvPr/>
          </p:nvSpPr>
          <p:spPr>
            <a:xfrm>
              <a:off x="1877355" y="3212976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2" name="Rechteck 41"/>
            <p:cNvSpPr/>
            <p:nvPr/>
          </p:nvSpPr>
          <p:spPr>
            <a:xfrm>
              <a:off x="2245396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3" name="Rechteck 42"/>
            <p:cNvSpPr/>
            <p:nvPr/>
          </p:nvSpPr>
          <p:spPr>
            <a:xfrm>
              <a:off x="2613437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4" name="Rechteck 43"/>
            <p:cNvSpPr/>
            <p:nvPr/>
          </p:nvSpPr>
          <p:spPr>
            <a:xfrm>
              <a:off x="2981478" y="3212976"/>
              <a:ext cx="368041" cy="144016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5" name="Rechteck 44"/>
            <p:cNvSpPr/>
            <p:nvPr/>
          </p:nvSpPr>
          <p:spPr>
            <a:xfrm>
              <a:off x="3349519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6" name="Rechteck 45"/>
            <p:cNvSpPr/>
            <p:nvPr/>
          </p:nvSpPr>
          <p:spPr>
            <a:xfrm>
              <a:off x="3717559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7" name="Rechteck 46"/>
            <p:cNvSpPr/>
            <p:nvPr/>
          </p:nvSpPr>
          <p:spPr>
            <a:xfrm>
              <a:off x="4085600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8" name="Rechteck 47"/>
            <p:cNvSpPr/>
            <p:nvPr/>
          </p:nvSpPr>
          <p:spPr>
            <a:xfrm>
              <a:off x="4453641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9" name="Rechteck 48"/>
            <p:cNvSpPr/>
            <p:nvPr/>
          </p:nvSpPr>
          <p:spPr>
            <a:xfrm>
              <a:off x="4821682" y="3212976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0" name="Rechteck 49"/>
            <p:cNvSpPr/>
            <p:nvPr/>
          </p:nvSpPr>
          <p:spPr>
            <a:xfrm>
              <a:off x="1877355" y="3068960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1" name="Rechteck 50"/>
            <p:cNvSpPr/>
            <p:nvPr/>
          </p:nvSpPr>
          <p:spPr>
            <a:xfrm>
              <a:off x="2245396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2" name="Rechteck 51"/>
            <p:cNvSpPr/>
            <p:nvPr/>
          </p:nvSpPr>
          <p:spPr>
            <a:xfrm>
              <a:off x="2613437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3" name="Rechteck 52"/>
            <p:cNvSpPr/>
            <p:nvPr/>
          </p:nvSpPr>
          <p:spPr>
            <a:xfrm>
              <a:off x="2981478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4" name="Rechteck 53"/>
            <p:cNvSpPr/>
            <p:nvPr/>
          </p:nvSpPr>
          <p:spPr>
            <a:xfrm>
              <a:off x="3349519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5" name="Rechteck 54"/>
            <p:cNvSpPr/>
            <p:nvPr/>
          </p:nvSpPr>
          <p:spPr>
            <a:xfrm>
              <a:off x="3717559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6" name="Rechteck 55"/>
            <p:cNvSpPr/>
            <p:nvPr/>
          </p:nvSpPr>
          <p:spPr>
            <a:xfrm>
              <a:off x="4085600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7" name="Rechteck 56"/>
            <p:cNvSpPr/>
            <p:nvPr/>
          </p:nvSpPr>
          <p:spPr>
            <a:xfrm>
              <a:off x="4453641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8" name="Rechteck 57"/>
            <p:cNvSpPr/>
            <p:nvPr/>
          </p:nvSpPr>
          <p:spPr>
            <a:xfrm>
              <a:off x="4821682" y="3068960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9" name="Rechteck 58"/>
            <p:cNvSpPr/>
            <p:nvPr/>
          </p:nvSpPr>
          <p:spPr>
            <a:xfrm>
              <a:off x="1877355" y="292494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0" name="Rechteck 59"/>
            <p:cNvSpPr/>
            <p:nvPr/>
          </p:nvSpPr>
          <p:spPr>
            <a:xfrm>
              <a:off x="2245396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1" name="Rechteck 60"/>
            <p:cNvSpPr/>
            <p:nvPr/>
          </p:nvSpPr>
          <p:spPr>
            <a:xfrm>
              <a:off x="2613437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2" name="Rechteck 61"/>
            <p:cNvSpPr/>
            <p:nvPr/>
          </p:nvSpPr>
          <p:spPr>
            <a:xfrm>
              <a:off x="2981478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3" name="Rechteck 62"/>
            <p:cNvSpPr/>
            <p:nvPr/>
          </p:nvSpPr>
          <p:spPr>
            <a:xfrm>
              <a:off x="3349519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4" name="Rechteck 63"/>
            <p:cNvSpPr/>
            <p:nvPr/>
          </p:nvSpPr>
          <p:spPr>
            <a:xfrm>
              <a:off x="3717559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5" name="Rechteck 64"/>
            <p:cNvSpPr/>
            <p:nvPr/>
          </p:nvSpPr>
          <p:spPr>
            <a:xfrm>
              <a:off x="4085600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6" name="Rechteck 65"/>
            <p:cNvSpPr/>
            <p:nvPr/>
          </p:nvSpPr>
          <p:spPr>
            <a:xfrm>
              <a:off x="4453641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7" name="Rechteck 66"/>
            <p:cNvSpPr/>
            <p:nvPr/>
          </p:nvSpPr>
          <p:spPr>
            <a:xfrm>
              <a:off x="4821682" y="292494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8" name="Rechteck 67"/>
            <p:cNvSpPr/>
            <p:nvPr/>
          </p:nvSpPr>
          <p:spPr>
            <a:xfrm>
              <a:off x="1877355" y="2780928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9" name="Rechteck 68"/>
            <p:cNvSpPr/>
            <p:nvPr/>
          </p:nvSpPr>
          <p:spPr>
            <a:xfrm>
              <a:off x="2245396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0" name="Rechteck 69"/>
            <p:cNvSpPr/>
            <p:nvPr/>
          </p:nvSpPr>
          <p:spPr>
            <a:xfrm>
              <a:off x="2613437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1" name="Rechteck 70"/>
            <p:cNvSpPr/>
            <p:nvPr/>
          </p:nvSpPr>
          <p:spPr>
            <a:xfrm>
              <a:off x="2981478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2" name="Rechteck 71"/>
            <p:cNvSpPr/>
            <p:nvPr/>
          </p:nvSpPr>
          <p:spPr>
            <a:xfrm>
              <a:off x="3349519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3" name="Rechteck 72"/>
            <p:cNvSpPr/>
            <p:nvPr/>
          </p:nvSpPr>
          <p:spPr>
            <a:xfrm>
              <a:off x="3717559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4" name="Rechteck 73"/>
            <p:cNvSpPr/>
            <p:nvPr/>
          </p:nvSpPr>
          <p:spPr>
            <a:xfrm>
              <a:off x="4085600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5" name="Rechteck 74"/>
            <p:cNvSpPr/>
            <p:nvPr/>
          </p:nvSpPr>
          <p:spPr>
            <a:xfrm>
              <a:off x="4453641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6" name="Rechteck 75"/>
            <p:cNvSpPr/>
            <p:nvPr/>
          </p:nvSpPr>
          <p:spPr>
            <a:xfrm>
              <a:off x="4821682" y="2780928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7" name="Rechteck 76"/>
            <p:cNvSpPr/>
            <p:nvPr/>
          </p:nvSpPr>
          <p:spPr>
            <a:xfrm>
              <a:off x="1877355" y="263691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8" name="Rechteck 77"/>
            <p:cNvSpPr/>
            <p:nvPr/>
          </p:nvSpPr>
          <p:spPr>
            <a:xfrm>
              <a:off x="2245396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9" name="Rechteck 78"/>
            <p:cNvSpPr/>
            <p:nvPr/>
          </p:nvSpPr>
          <p:spPr>
            <a:xfrm>
              <a:off x="2613437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0" name="Rechteck 79"/>
            <p:cNvSpPr/>
            <p:nvPr/>
          </p:nvSpPr>
          <p:spPr>
            <a:xfrm>
              <a:off x="2981478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1" name="Rechteck 80"/>
            <p:cNvSpPr/>
            <p:nvPr/>
          </p:nvSpPr>
          <p:spPr>
            <a:xfrm>
              <a:off x="3349519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2" name="Rechteck 81"/>
            <p:cNvSpPr/>
            <p:nvPr/>
          </p:nvSpPr>
          <p:spPr>
            <a:xfrm>
              <a:off x="3717559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3" name="Rechteck 82"/>
            <p:cNvSpPr/>
            <p:nvPr/>
          </p:nvSpPr>
          <p:spPr>
            <a:xfrm>
              <a:off x="4085600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4" name="Rechteck 83"/>
            <p:cNvSpPr/>
            <p:nvPr/>
          </p:nvSpPr>
          <p:spPr>
            <a:xfrm>
              <a:off x="4453641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5" name="Rechteck 84"/>
            <p:cNvSpPr/>
            <p:nvPr/>
          </p:nvSpPr>
          <p:spPr>
            <a:xfrm>
              <a:off x="4821682" y="263691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86" name="Gerade Verbindung 85"/>
            <p:cNvCxnSpPr/>
            <p:nvPr/>
          </p:nvCxnSpPr>
          <p:spPr>
            <a:xfrm>
              <a:off x="2813459" y="414908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86"/>
            <p:cNvCxnSpPr/>
            <p:nvPr/>
          </p:nvCxnSpPr>
          <p:spPr>
            <a:xfrm>
              <a:off x="3173499" y="414908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Gerade Verbindung 87"/>
            <p:cNvCxnSpPr/>
            <p:nvPr/>
          </p:nvCxnSpPr>
          <p:spPr>
            <a:xfrm>
              <a:off x="3533539" y="414908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Gerade Verbindung 88"/>
            <p:cNvCxnSpPr/>
            <p:nvPr/>
          </p:nvCxnSpPr>
          <p:spPr>
            <a:xfrm rot="5400000" flipV="1">
              <a:off x="1331640" y="3356992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Gerade Verbindung 89"/>
            <p:cNvCxnSpPr/>
            <p:nvPr/>
          </p:nvCxnSpPr>
          <p:spPr>
            <a:xfrm rot="5400000" flipV="1">
              <a:off x="1331640" y="3212976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feld 90"/>
            <p:cNvSpPr txBox="1"/>
            <p:nvPr/>
          </p:nvSpPr>
          <p:spPr>
            <a:xfrm>
              <a:off x="920304" y="3356992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n</a:t>
              </a:r>
            </a:p>
          </p:txBody>
        </p:sp>
        <p:sp>
          <p:nvSpPr>
            <p:cNvPr id="92" name="Textfeld 91"/>
            <p:cNvSpPr txBox="1"/>
            <p:nvPr/>
          </p:nvSpPr>
          <p:spPr>
            <a:xfrm>
              <a:off x="848296" y="3068960"/>
              <a:ext cx="4443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n+1</a:t>
              </a:r>
            </a:p>
          </p:txBody>
        </p:sp>
        <p:sp>
          <p:nvSpPr>
            <p:cNvPr id="93" name="Textfeld 92"/>
            <p:cNvSpPr txBox="1"/>
            <p:nvPr/>
          </p:nvSpPr>
          <p:spPr>
            <a:xfrm>
              <a:off x="2453419" y="3933056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i-1</a:t>
              </a:r>
            </a:p>
          </p:txBody>
        </p:sp>
        <p:sp>
          <p:nvSpPr>
            <p:cNvPr id="94" name="Textfeld 93"/>
            <p:cNvSpPr txBox="1"/>
            <p:nvPr/>
          </p:nvSpPr>
          <p:spPr>
            <a:xfrm>
              <a:off x="2957475" y="3933056"/>
              <a:ext cx="2183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i</a:t>
              </a:r>
              <a:endParaRPr lang="en-US" sz="1200" dirty="0"/>
            </a:p>
          </p:txBody>
        </p:sp>
        <p:sp>
          <p:nvSpPr>
            <p:cNvPr id="95" name="Textfeld 94"/>
            <p:cNvSpPr txBox="1"/>
            <p:nvPr/>
          </p:nvSpPr>
          <p:spPr>
            <a:xfrm>
              <a:off x="3533539" y="3933056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i+1</a:t>
              </a:r>
            </a:p>
          </p:txBody>
        </p:sp>
        <p:sp>
          <p:nvSpPr>
            <p:cNvPr id="96" name="Rechteck 95"/>
            <p:cNvSpPr/>
            <p:nvPr/>
          </p:nvSpPr>
          <p:spPr>
            <a:xfrm>
              <a:off x="5837795" y="2708920"/>
              <a:ext cx="368041" cy="144016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97" name="Textfeld 96"/>
            <p:cNvSpPr txBox="1"/>
            <p:nvPr/>
          </p:nvSpPr>
          <p:spPr>
            <a:xfrm>
              <a:off x="6341851" y="2636912"/>
              <a:ext cx="12650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initial conditions</a:t>
              </a:r>
            </a:p>
          </p:txBody>
        </p:sp>
        <p:sp>
          <p:nvSpPr>
            <p:cNvPr id="98" name="Rechteck 97"/>
            <p:cNvSpPr/>
            <p:nvPr/>
          </p:nvSpPr>
          <p:spPr>
            <a:xfrm>
              <a:off x="5837795" y="299695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99" name="Textfeld 98"/>
            <p:cNvSpPr txBox="1"/>
            <p:nvPr/>
          </p:nvSpPr>
          <p:spPr>
            <a:xfrm>
              <a:off x="6341851" y="2924944"/>
              <a:ext cx="1572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boundary conditions</a:t>
              </a:r>
            </a:p>
          </p:txBody>
        </p:sp>
        <p:cxnSp>
          <p:nvCxnSpPr>
            <p:cNvPr id="100" name="Gerade Verbindung 99"/>
            <p:cNvCxnSpPr/>
            <p:nvPr/>
          </p:nvCxnSpPr>
          <p:spPr>
            <a:xfrm>
              <a:off x="1763688" y="2636912"/>
              <a:ext cx="0" cy="129614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Gerade Verbindung 100"/>
            <p:cNvCxnSpPr/>
            <p:nvPr/>
          </p:nvCxnSpPr>
          <p:spPr>
            <a:xfrm>
              <a:off x="5292080" y="2636912"/>
              <a:ext cx="0" cy="129614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feld 101"/>
            <p:cNvSpPr txBox="1"/>
            <p:nvPr/>
          </p:nvSpPr>
          <p:spPr>
            <a:xfrm rot="5400000">
              <a:off x="1035311" y="3077257"/>
              <a:ext cx="11576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fictitious layer </a:t>
              </a:r>
            </a:p>
          </p:txBody>
        </p:sp>
        <p:sp>
          <p:nvSpPr>
            <p:cNvPr id="103" name="Textfeld 102"/>
            <p:cNvSpPr txBox="1"/>
            <p:nvPr/>
          </p:nvSpPr>
          <p:spPr>
            <a:xfrm rot="5400000">
              <a:off x="4851735" y="3077257"/>
              <a:ext cx="11576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fictitious layer 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finite-difference </a:t>
            </a:r>
            <a:r>
              <a:rPr lang="en-US" dirty="0" err="1"/>
              <a:t>discretization</a:t>
            </a:r>
            <a:r>
              <a:rPr lang="en-US" dirty="0"/>
              <a:t> lays the ground for numerical simulations (2/ 2) …</a:t>
            </a:r>
          </a:p>
        </p:txBody>
      </p:sp>
      <p:pic>
        <p:nvPicPr>
          <p:cNvPr id="3" name="Grafik 2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43901" y="3070119"/>
            <a:ext cx="8696536" cy="1986384"/>
          </a:xfrm>
          <a:prstGeom prst="rect">
            <a:avLst/>
          </a:prstGeom>
        </p:spPr>
      </p:pic>
      <p:grpSp>
        <p:nvGrpSpPr>
          <p:cNvPr id="4" name="Gruppieren 154"/>
          <p:cNvGrpSpPr/>
          <p:nvPr/>
        </p:nvGrpSpPr>
        <p:grpSpPr>
          <a:xfrm>
            <a:off x="992430" y="969796"/>
            <a:ext cx="7159141" cy="1872208"/>
            <a:chOff x="755576" y="2420888"/>
            <a:chExt cx="7159141" cy="1872208"/>
          </a:xfrm>
        </p:grpSpPr>
        <p:cxnSp>
          <p:nvCxnSpPr>
            <p:cNvPr id="112" name="Gerade Verbindung mit Pfeil 111"/>
            <p:cNvCxnSpPr/>
            <p:nvPr/>
          </p:nvCxnSpPr>
          <p:spPr>
            <a:xfrm flipV="1">
              <a:off x="1331640" y="2420888"/>
              <a:ext cx="0" cy="1872208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feld 112"/>
            <p:cNvSpPr txBox="1"/>
            <p:nvPr/>
          </p:nvSpPr>
          <p:spPr>
            <a:xfrm>
              <a:off x="755576" y="2492896"/>
              <a:ext cx="5613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time t</a:t>
              </a:r>
            </a:p>
          </p:txBody>
        </p:sp>
        <p:cxnSp>
          <p:nvCxnSpPr>
            <p:cNvPr id="114" name="Gerade Verbindung mit Pfeil 113"/>
            <p:cNvCxnSpPr/>
            <p:nvPr/>
          </p:nvCxnSpPr>
          <p:spPr>
            <a:xfrm>
              <a:off x="1259632" y="4221088"/>
              <a:ext cx="451727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5" name="Textfeld 114"/>
            <p:cNvSpPr txBox="1"/>
            <p:nvPr/>
          </p:nvSpPr>
          <p:spPr>
            <a:xfrm>
              <a:off x="5848919" y="4005064"/>
              <a:ext cx="7393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space x</a:t>
              </a:r>
            </a:p>
          </p:txBody>
        </p:sp>
        <p:cxnSp>
          <p:nvCxnSpPr>
            <p:cNvPr id="116" name="Gerade Verbindung 115"/>
            <p:cNvCxnSpPr/>
            <p:nvPr/>
          </p:nvCxnSpPr>
          <p:spPr>
            <a:xfrm>
              <a:off x="1877355" y="414908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 Verbindung 116"/>
            <p:cNvCxnSpPr/>
            <p:nvPr/>
          </p:nvCxnSpPr>
          <p:spPr>
            <a:xfrm>
              <a:off x="5189723" y="414908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uppieren 35"/>
            <p:cNvGrpSpPr/>
            <p:nvPr/>
          </p:nvGrpSpPr>
          <p:grpSpPr>
            <a:xfrm>
              <a:off x="1877355" y="3789040"/>
              <a:ext cx="3312369" cy="144016"/>
              <a:chOff x="971600" y="3933056"/>
              <a:chExt cx="3240360" cy="144016"/>
            </a:xfrm>
            <a:solidFill>
              <a:schemeClr val="accent5">
                <a:lumMod val="90000"/>
              </a:schemeClr>
            </a:solidFill>
          </p:grpSpPr>
          <p:sp>
            <p:nvSpPr>
              <p:cNvPr id="209" name="Rechteck 208"/>
              <p:cNvSpPr/>
              <p:nvPr/>
            </p:nvSpPr>
            <p:spPr>
              <a:xfrm>
                <a:off x="97160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10" name="Rechteck 209"/>
              <p:cNvSpPr/>
              <p:nvPr/>
            </p:nvSpPr>
            <p:spPr>
              <a:xfrm>
                <a:off x="133164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Rechteck 210"/>
              <p:cNvSpPr/>
              <p:nvPr/>
            </p:nvSpPr>
            <p:spPr>
              <a:xfrm>
                <a:off x="169168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12" name="Rechteck 211"/>
              <p:cNvSpPr/>
              <p:nvPr/>
            </p:nvSpPr>
            <p:spPr>
              <a:xfrm>
                <a:off x="205172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13" name="Rechteck 212"/>
              <p:cNvSpPr/>
              <p:nvPr/>
            </p:nvSpPr>
            <p:spPr>
              <a:xfrm>
                <a:off x="241176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14" name="Rechteck 213"/>
              <p:cNvSpPr/>
              <p:nvPr/>
            </p:nvSpPr>
            <p:spPr>
              <a:xfrm>
                <a:off x="277180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15" name="Rechteck 214"/>
              <p:cNvSpPr/>
              <p:nvPr/>
            </p:nvSpPr>
            <p:spPr>
              <a:xfrm>
                <a:off x="313184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16" name="Rechteck 215"/>
              <p:cNvSpPr/>
              <p:nvPr/>
            </p:nvSpPr>
            <p:spPr>
              <a:xfrm>
                <a:off x="349188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217" name="Rechteck 216"/>
              <p:cNvSpPr/>
              <p:nvPr/>
            </p:nvSpPr>
            <p:spPr>
              <a:xfrm>
                <a:off x="385192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9" name="Rechteck 118"/>
            <p:cNvSpPr/>
            <p:nvPr/>
          </p:nvSpPr>
          <p:spPr>
            <a:xfrm>
              <a:off x="1877355" y="364502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0" name="Rechteck 119"/>
            <p:cNvSpPr/>
            <p:nvPr/>
          </p:nvSpPr>
          <p:spPr>
            <a:xfrm>
              <a:off x="2245396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1" name="Rechteck 120"/>
            <p:cNvSpPr/>
            <p:nvPr/>
          </p:nvSpPr>
          <p:spPr>
            <a:xfrm>
              <a:off x="2613437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2" name="Rechteck 121"/>
            <p:cNvSpPr/>
            <p:nvPr/>
          </p:nvSpPr>
          <p:spPr>
            <a:xfrm>
              <a:off x="2981478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3" name="Rechteck 122"/>
            <p:cNvSpPr/>
            <p:nvPr/>
          </p:nvSpPr>
          <p:spPr>
            <a:xfrm>
              <a:off x="3349519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4" name="Rechteck 123"/>
            <p:cNvSpPr/>
            <p:nvPr/>
          </p:nvSpPr>
          <p:spPr>
            <a:xfrm>
              <a:off x="3717559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5" name="Rechteck 124"/>
            <p:cNvSpPr/>
            <p:nvPr/>
          </p:nvSpPr>
          <p:spPr>
            <a:xfrm>
              <a:off x="4085600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6" name="Rechteck 125"/>
            <p:cNvSpPr/>
            <p:nvPr/>
          </p:nvSpPr>
          <p:spPr>
            <a:xfrm>
              <a:off x="4453641" y="364502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7" name="Rechteck 126"/>
            <p:cNvSpPr/>
            <p:nvPr/>
          </p:nvSpPr>
          <p:spPr>
            <a:xfrm>
              <a:off x="4821682" y="364502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8" name="Rechteck 127"/>
            <p:cNvSpPr/>
            <p:nvPr/>
          </p:nvSpPr>
          <p:spPr>
            <a:xfrm>
              <a:off x="1877355" y="3501008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9" name="Rechteck 128"/>
            <p:cNvSpPr/>
            <p:nvPr/>
          </p:nvSpPr>
          <p:spPr>
            <a:xfrm>
              <a:off x="2245396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0" name="Rechteck 129"/>
            <p:cNvSpPr/>
            <p:nvPr/>
          </p:nvSpPr>
          <p:spPr>
            <a:xfrm>
              <a:off x="2613437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1" name="Rechteck 130"/>
            <p:cNvSpPr/>
            <p:nvPr/>
          </p:nvSpPr>
          <p:spPr>
            <a:xfrm>
              <a:off x="2981478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2" name="Rechteck 131"/>
            <p:cNvSpPr/>
            <p:nvPr/>
          </p:nvSpPr>
          <p:spPr>
            <a:xfrm>
              <a:off x="3349519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3" name="Rechteck 132"/>
            <p:cNvSpPr/>
            <p:nvPr/>
          </p:nvSpPr>
          <p:spPr>
            <a:xfrm>
              <a:off x="3717559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4" name="Rechteck 133"/>
            <p:cNvSpPr/>
            <p:nvPr/>
          </p:nvSpPr>
          <p:spPr>
            <a:xfrm>
              <a:off x="4085600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5" name="Rechteck 134"/>
            <p:cNvSpPr/>
            <p:nvPr/>
          </p:nvSpPr>
          <p:spPr>
            <a:xfrm>
              <a:off x="4453641" y="350100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6" name="Rechteck 135"/>
            <p:cNvSpPr/>
            <p:nvPr/>
          </p:nvSpPr>
          <p:spPr>
            <a:xfrm>
              <a:off x="4821682" y="3501008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7" name="Rechteck 136"/>
            <p:cNvSpPr/>
            <p:nvPr/>
          </p:nvSpPr>
          <p:spPr>
            <a:xfrm>
              <a:off x="1877355" y="335699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8" name="Rechteck 137"/>
            <p:cNvSpPr/>
            <p:nvPr/>
          </p:nvSpPr>
          <p:spPr>
            <a:xfrm>
              <a:off x="2245396" y="335699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9" name="Rechteck 138"/>
            <p:cNvSpPr/>
            <p:nvPr/>
          </p:nvSpPr>
          <p:spPr>
            <a:xfrm>
              <a:off x="2613437" y="3356992"/>
              <a:ext cx="368041" cy="144016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0" name="Rechteck 139"/>
            <p:cNvSpPr/>
            <p:nvPr/>
          </p:nvSpPr>
          <p:spPr>
            <a:xfrm>
              <a:off x="2981478" y="3356992"/>
              <a:ext cx="368041" cy="144016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1" name="Rechteck 140"/>
            <p:cNvSpPr/>
            <p:nvPr/>
          </p:nvSpPr>
          <p:spPr>
            <a:xfrm>
              <a:off x="3349519" y="3356992"/>
              <a:ext cx="368041" cy="144016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2" name="Rechteck 141"/>
            <p:cNvSpPr/>
            <p:nvPr/>
          </p:nvSpPr>
          <p:spPr>
            <a:xfrm>
              <a:off x="3717559" y="335699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3" name="Rechteck 142"/>
            <p:cNvSpPr/>
            <p:nvPr/>
          </p:nvSpPr>
          <p:spPr>
            <a:xfrm>
              <a:off x="4085600" y="335699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4" name="Rechteck 143"/>
            <p:cNvSpPr/>
            <p:nvPr/>
          </p:nvSpPr>
          <p:spPr>
            <a:xfrm>
              <a:off x="4453641" y="335699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5" name="Rechteck 144"/>
            <p:cNvSpPr/>
            <p:nvPr/>
          </p:nvSpPr>
          <p:spPr>
            <a:xfrm>
              <a:off x="4821682" y="335699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6" name="Rechteck 145"/>
            <p:cNvSpPr/>
            <p:nvPr/>
          </p:nvSpPr>
          <p:spPr>
            <a:xfrm>
              <a:off x="1877355" y="3212976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7" name="Rechteck 146"/>
            <p:cNvSpPr/>
            <p:nvPr/>
          </p:nvSpPr>
          <p:spPr>
            <a:xfrm>
              <a:off x="2245396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8" name="Rechteck 147"/>
            <p:cNvSpPr/>
            <p:nvPr/>
          </p:nvSpPr>
          <p:spPr>
            <a:xfrm>
              <a:off x="2613437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9" name="Rechteck 148"/>
            <p:cNvSpPr/>
            <p:nvPr/>
          </p:nvSpPr>
          <p:spPr>
            <a:xfrm>
              <a:off x="2981478" y="3212976"/>
              <a:ext cx="368041" cy="144016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0" name="Rechteck 149"/>
            <p:cNvSpPr/>
            <p:nvPr/>
          </p:nvSpPr>
          <p:spPr>
            <a:xfrm>
              <a:off x="3349519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1" name="Rechteck 150"/>
            <p:cNvSpPr/>
            <p:nvPr/>
          </p:nvSpPr>
          <p:spPr>
            <a:xfrm>
              <a:off x="3717559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2" name="Rechteck 151"/>
            <p:cNvSpPr/>
            <p:nvPr/>
          </p:nvSpPr>
          <p:spPr>
            <a:xfrm>
              <a:off x="4085600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3" name="Rechteck 152"/>
            <p:cNvSpPr/>
            <p:nvPr/>
          </p:nvSpPr>
          <p:spPr>
            <a:xfrm>
              <a:off x="4453641" y="321297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4" name="Rechteck 153"/>
            <p:cNvSpPr/>
            <p:nvPr/>
          </p:nvSpPr>
          <p:spPr>
            <a:xfrm>
              <a:off x="4821682" y="3212976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5" name="Rechteck 154"/>
            <p:cNvSpPr/>
            <p:nvPr/>
          </p:nvSpPr>
          <p:spPr>
            <a:xfrm>
              <a:off x="1877355" y="3068960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6" name="Rechteck 155"/>
            <p:cNvSpPr/>
            <p:nvPr/>
          </p:nvSpPr>
          <p:spPr>
            <a:xfrm>
              <a:off x="2245396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7" name="Rechteck 156"/>
            <p:cNvSpPr/>
            <p:nvPr/>
          </p:nvSpPr>
          <p:spPr>
            <a:xfrm>
              <a:off x="2613437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8" name="Rechteck 157"/>
            <p:cNvSpPr/>
            <p:nvPr/>
          </p:nvSpPr>
          <p:spPr>
            <a:xfrm>
              <a:off x="2981478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9" name="Rechteck 158"/>
            <p:cNvSpPr/>
            <p:nvPr/>
          </p:nvSpPr>
          <p:spPr>
            <a:xfrm>
              <a:off x="3349519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0" name="Rechteck 159"/>
            <p:cNvSpPr/>
            <p:nvPr/>
          </p:nvSpPr>
          <p:spPr>
            <a:xfrm>
              <a:off x="3717559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1" name="Rechteck 160"/>
            <p:cNvSpPr/>
            <p:nvPr/>
          </p:nvSpPr>
          <p:spPr>
            <a:xfrm>
              <a:off x="4085600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2" name="Rechteck 161"/>
            <p:cNvSpPr/>
            <p:nvPr/>
          </p:nvSpPr>
          <p:spPr>
            <a:xfrm>
              <a:off x="4453641" y="306896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3" name="Rechteck 162"/>
            <p:cNvSpPr/>
            <p:nvPr/>
          </p:nvSpPr>
          <p:spPr>
            <a:xfrm>
              <a:off x="4821682" y="3068960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4" name="Rechteck 163"/>
            <p:cNvSpPr/>
            <p:nvPr/>
          </p:nvSpPr>
          <p:spPr>
            <a:xfrm>
              <a:off x="1877355" y="292494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5" name="Rechteck 164"/>
            <p:cNvSpPr/>
            <p:nvPr/>
          </p:nvSpPr>
          <p:spPr>
            <a:xfrm>
              <a:off x="2245396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6" name="Rechteck 165"/>
            <p:cNvSpPr/>
            <p:nvPr/>
          </p:nvSpPr>
          <p:spPr>
            <a:xfrm>
              <a:off x="2613437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7" name="Rechteck 166"/>
            <p:cNvSpPr/>
            <p:nvPr/>
          </p:nvSpPr>
          <p:spPr>
            <a:xfrm>
              <a:off x="2981478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8" name="Rechteck 167"/>
            <p:cNvSpPr/>
            <p:nvPr/>
          </p:nvSpPr>
          <p:spPr>
            <a:xfrm>
              <a:off x="3349519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9" name="Rechteck 168"/>
            <p:cNvSpPr/>
            <p:nvPr/>
          </p:nvSpPr>
          <p:spPr>
            <a:xfrm>
              <a:off x="3717559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0" name="Rechteck 169"/>
            <p:cNvSpPr/>
            <p:nvPr/>
          </p:nvSpPr>
          <p:spPr>
            <a:xfrm>
              <a:off x="4085600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1" name="Rechteck 170"/>
            <p:cNvSpPr/>
            <p:nvPr/>
          </p:nvSpPr>
          <p:spPr>
            <a:xfrm>
              <a:off x="4453641" y="292494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2" name="Rechteck 171"/>
            <p:cNvSpPr/>
            <p:nvPr/>
          </p:nvSpPr>
          <p:spPr>
            <a:xfrm>
              <a:off x="4821682" y="292494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3" name="Rechteck 172"/>
            <p:cNvSpPr/>
            <p:nvPr/>
          </p:nvSpPr>
          <p:spPr>
            <a:xfrm>
              <a:off x="1877355" y="2780928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4" name="Rechteck 173"/>
            <p:cNvSpPr/>
            <p:nvPr/>
          </p:nvSpPr>
          <p:spPr>
            <a:xfrm>
              <a:off x="2245396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5" name="Rechteck 174"/>
            <p:cNvSpPr/>
            <p:nvPr/>
          </p:nvSpPr>
          <p:spPr>
            <a:xfrm>
              <a:off x="2613437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6" name="Rechteck 175"/>
            <p:cNvSpPr/>
            <p:nvPr/>
          </p:nvSpPr>
          <p:spPr>
            <a:xfrm>
              <a:off x="2981478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7" name="Rechteck 176"/>
            <p:cNvSpPr/>
            <p:nvPr/>
          </p:nvSpPr>
          <p:spPr>
            <a:xfrm>
              <a:off x="3349519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8" name="Rechteck 177"/>
            <p:cNvSpPr/>
            <p:nvPr/>
          </p:nvSpPr>
          <p:spPr>
            <a:xfrm>
              <a:off x="3717559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9" name="Rechteck 178"/>
            <p:cNvSpPr/>
            <p:nvPr/>
          </p:nvSpPr>
          <p:spPr>
            <a:xfrm>
              <a:off x="4085600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0" name="Rechteck 179"/>
            <p:cNvSpPr/>
            <p:nvPr/>
          </p:nvSpPr>
          <p:spPr>
            <a:xfrm>
              <a:off x="4453641" y="278092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1" name="Rechteck 180"/>
            <p:cNvSpPr/>
            <p:nvPr/>
          </p:nvSpPr>
          <p:spPr>
            <a:xfrm>
              <a:off x="4821682" y="2780928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2" name="Rechteck 181"/>
            <p:cNvSpPr/>
            <p:nvPr/>
          </p:nvSpPr>
          <p:spPr>
            <a:xfrm>
              <a:off x="1877355" y="263691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3" name="Rechteck 182"/>
            <p:cNvSpPr/>
            <p:nvPr/>
          </p:nvSpPr>
          <p:spPr>
            <a:xfrm>
              <a:off x="2245396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4" name="Rechteck 183"/>
            <p:cNvSpPr/>
            <p:nvPr/>
          </p:nvSpPr>
          <p:spPr>
            <a:xfrm>
              <a:off x="2613437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5" name="Rechteck 184"/>
            <p:cNvSpPr/>
            <p:nvPr/>
          </p:nvSpPr>
          <p:spPr>
            <a:xfrm>
              <a:off x="2981478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6" name="Rechteck 185"/>
            <p:cNvSpPr/>
            <p:nvPr/>
          </p:nvSpPr>
          <p:spPr>
            <a:xfrm>
              <a:off x="3349519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7" name="Rechteck 186"/>
            <p:cNvSpPr/>
            <p:nvPr/>
          </p:nvSpPr>
          <p:spPr>
            <a:xfrm>
              <a:off x="3717559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8" name="Rechteck 187"/>
            <p:cNvSpPr/>
            <p:nvPr/>
          </p:nvSpPr>
          <p:spPr>
            <a:xfrm>
              <a:off x="4085600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9" name="Rechteck 188"/>
            <p:cNvSpPr/>
            <p:nvPr/>
          </p:nvSpPr>
          <p:spPr>
            <a:xfrm>
              <a:off x="4453641" y="263691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90" name="Rechteck 189"/>
            <p:cNvSpPr/>
            <p:nvPr/>
          </p:nvSpPr>
          <p:spPr>
            <a:xfrm>
              <a:off x="4821682" y="263691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191" name="Gerade Verbindung 190"/>
            <p:cNvCxnSpPr/>
            <p:nvPr/>
          </p:nvCxnSpPr>
          <p:spPr>
            <a:xfrm>
              <a:off x="2813459" y="414908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Gerade Verbindung 191"/>
            <p:cNvCxnSpPr/>
            <p:nvPr/>
          </p:nvCxnSpPr>
          <p:spPr>
            <a:xfrm>
              <a:off x="3173499" y="414908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Gerade Verbindung 192"/>
            <p:cNvCxnSpPr/>
            <p:nvPr/>
          </p:nvCxnSpPr>
          <p:spPr>
            <a:xfrm>
              <a:off x="3533539" y="4149080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Gerade Verbindung 193"/>
            <p:cNvCxnSpPr/>
            <p:nvPr/>
          </p:nvCxnSpPr>
          <p:spPr>
            <a:xfrm rot="5400000" flipV="1">
              <a:off x="1331640" y="3356992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Gerade Verbindung 194"/>
            <p:cNvCxnSpPr/>
            <p:nvPr/>
          </p:nvCxnSpPr>
          <p:spPr>
            <a:xfrm rot="5400000" flipV="1">
              <a:off x="1331640" y="3212976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Textfeld 195"/>
            <p:cNvSpPr txBox="1"/>
            <p:nvPr/>
          </p:nvSpPr>
          <p:spPr>
            <a:xfrm>
              <a:off x="920304" y="3356992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n</a:t>
              </a:r>
            </a:p>
          </p:txBody>
        </p:sp>
        <p:sp>
          <p:nvSpPr>
            <p:cNvPr id="197" name="Textfeld 196"/>
            <p:cNvSpPr txBox="1"/>
            <p:nvPr/>
          </p:nvSpPr>
          <p:spPr>
            <a:xfrm>
              <a:off x="848296" y="3068960"/>
              <a:ext cx="4443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n+1</a:t>
              </a:r>
            </a:p>
          </p:txBody>
        </p:sp>
        <p:sp>
          <p:nvSpPr>
            <p:cNvPr id="198" name="Textfeld 197"/>
            <p:cNvSpPr txBox="1"/>
            <p:nvPr/>
          </p:nvSpPr>
          <p:spPr>
            <a:xfrm>
              <a:off x="2453419" y="3933056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i-1</a:t>
              </a:r>
            </a:p>
          </p:txBody>
        </p:sp>
        <p:sp>
          <p:nvSpPr>
            <p:cNvPr id="199" name="Textfeld 198"/>
            <p:cNvSpPr txBox="1"/>
            <p:nvPr/>
          </p:nvSpPr>
          <p:spPr>
            <a:xfrm>
              <a:off x="2957475" y="3933056"/>
              <a:ext cx="2183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i</a:t>
              </a:r>
              <a:endParaRPr lang="en-US" sz="1200" dirty="0"/>
            </a:p>
          </p:txBody>
        </p:sp>
        <p:sp>
          <p:nvSpPr>
            <p:cNvPr id="200" name="Textfeld 199"/>
            <p:cNvSpPr txBox="1"/>
            <p:nvPr/>
          </p:nvSpPr>
          <p:spPr>
            <a:xfrm>
              <a:off x="3533539" y="3933056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i+1</a:t>
              </a:r>
            </a:p>
          </p:txBody>
        </p:sp>
        <p:sp>
          <p:nvSpPr>
            <p:cNvPr id="201" name="Rechteck 200"/>
            <p:cNvSpPr/>
            <p:nvPr/>
          </p:nvSpPr>
          <p:spPr>
            <a:xfrm>
              <a:off x="5837795" y="2708920"/>
              <a:ext cx="368041" cy="144016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02" name="Textfeld 201"/>
            <p:cNvSpPr txBox="1"/>
            <p:nvPr/>
          </p:nvSpPr>
          <p:spPr>
            <a:xfrm>
              <a:off x="6341851" y="2636912"/>
              <a:ext cx="12650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initial conditions</a:t>
              </a:r>
            </a:p>
          </p:txBody>
        </p:sp>
        <p:sp>
          <p:nvSpPr>
            <p:cNvPr id="203" name="Rechteck 202"/>
            <p:cNvSpPr/>
            <p:nvPr/>
          </p:nvSpPr>
          <p:spPr>
            <a:xfrm>
              <a:off x="5837795" y="299695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04" name="Textfeld 203"/>
            <p:cNvSpPr txBox="1"/>
            <p:nvPr/>
          </p:nvSpPr>
          <p:spPr>
            <a:xfrm>
              <a:off x="6341851" y="2924944"/>
              <a:ext cx="1572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boundary conditions</a:t>
              </a:r>
            </a:p>
          </p:txBody>
        </p:sp>
        <p:cxnSp>
          <p:nvCxnSpPr>
            <p:cNvPr id="205" name="Gerade Verbindung 204"/>
            <p:cNvCxnSpPr/>
            <p:nvPr/>
          </p:nvCxnSpPr>
          <p:spPr>
            <a:xfrm>
              <a:off x="1763688" y="2636912"/>
              <a:ext cx="0" cy="129614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Gerade Verbindung 205"/>
            <p:cNvCxnSpPr/>
            <p:nvPr/>
          </p:nvCxnSpPr>
          <p:spPr>
            <a:xfrm>
              <a:off x="5292080" y="2636912"/>
              <a:ext cx="0" cy="129614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Textfeld 206"/>
            <p:cNvSpPr txBox="1"/>
            <p:nvPr/>
          </p:nvSpPr>
          <p:spPr>
            <a:xfrm rot="5400000">
              <a:off x="1035311" y="3077257"/>
              <a:ext cx="11576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fictitious layer </a:t>
              </a:r>
            </a:p>
          </p:txBody>
        </p:sp>
        <p:sp>
          <p:nvSpPr>
            <p:cNvPr id="208" name="Textfeld 207"/>
            <p:cNvSpPr txBox="1"/>
            <p:nvPr/>
          </p:nvSpPr>
          <p:spPr>
            <a:xfrm rot="5400000">
              <a:off x="4851735" y="3077257"/>
              <a:ext cx="11576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fictitious layer 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where we use fictitious layers to include the vanishing Neumann boundary conditions (1/ 2)</a:t>
            </a:r>
          </a:p>
        </p:txBody>
      </p:sp>
      <p:grpSp>
        <p:nvGrpSpPr>
          <p:cNvPr id="3" name="Gruppieren 113"/>
          <p:cNvGrpSpPr/>
          <p:nvPr/>
        </p:nvGrpSpPr>
        <p:grpSpPr>
          <a:xfrm>
            <a:off x="405951" y="969118"/>
            <a:ext cx="8332099" cy="2117849"/>
            <a:chOff x="-180528" y="1124744"/>
            <a:chExt cx="8332099" cy="2117849"/>
          </a:xfrm>
        </p:grpSpPr>
        <p:cxnSp>
          <p:nvCxnSpPr>
            <p:cNvPr id="4" name="Gerade Verbindung mit Pfeil 3"/>
            <p:cNvCxnSpPr/>
            <p:nvPr/>
          </p:nvCxnSpPr>
          <p:spPr>
            <a:xfrm flipV="1">
              <a:off x="1568494" y="1268760"/>
              <a:ext cx="0" cy="1872208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feld 4"/>
            <p:cNvSpPr txBox="1"/>
            <p:nvPr/>
          </p:nvSpPr>
          <p:spPr>
            <a:xfrm>
              <a:off x="992430" y="1340768"/>
              <a:ext cx="56137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time t</a:t>
              </a:r>
            </a:p>
          </p:txBody>
        </p:sp>
        <p:cxnSp>
          <p:nvCxnSpPr>
            <p:cNvPr id="6" name="Gerade Verbindung mit Pfeil 5"/>
            <p:cNvCxnSpPr/>
            <p:nvPr/>
          </p:nvCxnSpPr>
          <p:spPr>
            <a:xfrm>
              <a:off x="1496486" y="3068960"/>
              <a:ext cx="451727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feld 6"/>
            <p:cNvSpPr txBox="1"/>
            <p:nvPr/>
          </p:nvSpPr>
          <p:spPr>
            <a:xfrm>
              <a:off x="6085773" y="2852936"/>
              <a:ext cx="73930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space x</a:t>
              </a:r>
            </a:p>
          </p:txBody>
        </p:sp>
        <p:cxnSp>
          <p:nvCxnSpPr>
            <p:cNvPr id="8" name="Gerade Verbindung 7"/>
            <p:cNvCxnSpPr/>
            <p:nvPr/>
          </p:nvCxnSpPr>
          <p:spPr>
            <a:xfrm>
              <a:off x="2114209" y="2996952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8"/>
            <p:cNvCxnSpPr/>
            <p:nvPr/>
          </p:nvCxnSpPr>
          <p:spPr>
            <a:xfrm>
              <a:off x="5426577" y="2996952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uppieren 35"/>
            <p:cNvGrpSpPr/>
            <p:nvPr/>
          </p:nvGrpSpPr>
          <p:grpSpPr>
            <a:xfrm>
              <a:off x="2114209" y="2636912"/>
              <a:ext cx="3312369" cy="144016"/>
              <a:chOff x="971600" y="3933056"/>
              <a:chExt cx="3240360" cy="144016"/>
            </a:xfrm>
            <a:solidFill>
              <a:schemeClr val="accent5">
                <a:lumMod val="90000"/>
              </a:schemeClr>
            </a:solidFill>
          </p:grpSpPr>
          <p:sp>
            <p:nvSpPr>
              <p:cNvPr id="104" name="Rechteck 103"/>
              <p:cNvSpPr/>
              <p:nvPr/>
            </p:nvSpPr>
            <p:spPr>
              <a:xfrm>
                <a:off x="97160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Rechteck 104"/>
              <p:cNvSpPr/>
              <p:nvPr/>
            </p:nvSpPr>
            <p:spPr>
              <a:xfrm>
                <a:off x="133164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Rechteck 105"/>
              <p:cNvSpPr/>
              <p:nvPr/>
            </p:nvSpPr>
            <p:spPr>
              <a:xfrm>
                <a:off x="169168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Rechteck 106"/>
              <p:cNvSpPr/>
              <p:nvPr/>
            </p:nvSpPr>
            <p:spPr>
              <a:xfrm>
                <a:off x="205172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Rechteck 107"/>
              <p:cNvSpPr/>
              <p:nvPr/>
            </p:nvSpPr>
            <p:spPr>
              <a:xfrm>
                <a:off x="241176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Rechteck 108"/>
              <p:cNvSpPr/>
              <p:nvPr/>
            </p:nvSpPr>
            <p:spPr>
              <a:xfrm>
                <a:off x="277180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10" name="Rechteck 109"/>
              <p:cNvSpPr/>
              <p:nvPr/>
            </p:nvSpPr>
            <p:spPr>
              <a:xfrm>
                <a:off x="313184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Rechteck 110"/>
              <p:cNvSpPr/>
              <p:nvPr/>
            </p:nvSpPr>
            <p:spPr>
              <a:xfrm>
                <a:off x="349188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Rechteck 111"/>
              <p:cNvSpPr/>
              <p:nvPr/>
            </p:nvSpPr>
            <p:spPr>
              <a:xfrm>
                <a:off x="3851920" y="3933056"/>
                <a:ext cx="360040" cy="144016"/>
              </a:xfrm>
              <a:prstGeom prst="rect">
                <a:avLst/>
              </a:prstGeom>
              <a:solidFill>
                <a:schemeClr val="tx2"/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Rechteck 10"/>
            <p:cNvSpPr/>
            <p:nvPr/>
          </p:nvSpPr>
          <p:spPr>
            <a:xfrm>
              <a:off x="2114209" y="2492896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" name="Rechteck 11"/>
            <p:cNvSpPr/>
            <p:nvPr/>
          </p:nvSpPr>
          <p:spPr>
            <a:xfrm>
              <a:off x="2482250" y="249289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" name="Rechteck 12"/>
            <p:cNvSpPr/>
            <p:nvPr/>
          </p:nvSpPr>
          <p:spPr>
            <a:xfrm>
              <a:off x="2850291" y="249289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" name="Rechteck 13"/>
            <p:cNvSpPr/>
            <p:nvPr/>
          </p:nvSpPr>
          <p:spPr>
            <a:xfrm>
              <a:off x="3218332" y="249289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" name="Rechteck 14"/>
            <p:cNvSpPr/>
            <p:nvPr/>
          </p:nvSpPr>
          <p:spPr>
            <a:xfrm>
              <a:off x="3586373" y="249289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" name="Rechteck 15"/>
            <p:cNvSpPr/>
            <p:nvPr/>
          </p:nvSpPr>
          <p:spPr>
            <a:xfrm>
              <a:off x="3954413" y="249289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" name="Rechteck 16"/>
            <p:cNvSpPr/>
            <p:nvPr/>
          </p:nvSpPr>
          <p:spPr>
            <a:xfrm>
              <a:off x="4322454" y="249289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" name="Rechteck 17"/>
            <p:cNvSpPr/>
            <p:nvPr/>
          </p:nvSpPr>
          <p:spPr>
            <a:xfrm>
              <a:off x="4690495" y="249289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9" name="Rechteck 18"/>
            <p:cNvSpPr/>
            <p:nvPr/>
          </p:nvSpPr>
          <p:spPr>
            <a:xfrm>
              <a:off x="5058536" y="2492896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0" name="Rechteck 19"/>
            <p:cNvSpPr/>
            <p:nvPr/>
          </p:nvSpPr>
          <p:spPr>
            <a:xfrm>
              <a:off x="2114209" y="2348880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2482250" y="234888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2" name="Rechteck 21"/>
            <p:cNvSpPr/>
            <p:nvPr/>
          </p:nvSpPr>
          <p:spPr>
            <a:xfrm>
              <a:off x="2850291" y="234888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3" name="Rechteck 22"/>
            <p:cNvSpPr/>
            <p:nvPr/>
          </p:nvSpPr>
          <p:spPr>
            <a:xfrm>
              <a:off x="3218332" y="234888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4" name="Rechteck 23"/>
            <p:cNvSpPr/>
            <p:nvPr/>
          </p:nvSpPr>
          <p:spPr>
            <a:xfrm>
              <a:off x="3586373" y="234888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5" name="Rechteck 24"/>
            <p:cNvSpPr/>
            <p:nvPr/>
          </p:nvSpPr>
          <p:spPr>
            <a:xfrm>
              <a:off x="3954413" y="234888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6" name="Rechteck 25"/>
            <p:cNvSpPr/>
            <p:nvPr/>
          </p:nvSpPr>
          <p:spPr>
            <a:xfrm>
              <a:off x="4322454" y="234888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7" name="Rechteck 26"/>
            <p:cNvSpPr/>
            <p:nvPr/>
          </p:nvSpPr>
          <p:spPr>
            <a:xfrm>
              <a:off x="4690495" y="234888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8" name="Rechteck 27"/>
            <p:cNvSpPr/>
            <p:nvPr/>
          </p:nvSpPr>
          <p:spPr>
            <a:xfrm>
              <a:off x="5058536" y="2348880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9" name="Rechteck 28"/>
            <p:cNvSpPr/>
            <p:nvPr/>
          </p:nvSpPr>
          <p:spPr>
            <a:xfrm>
              <a:off x="2114209" y="2204864"/>
              <a:ext cx="368041" cy="144016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0" name="Rechteck 29"/>
            <p:cNvSpPr/>
            <p:nvPr/>
          </p:nvSpPr>
          <p:spPr>
            <a:xfrm>
              <a:off x="2482250" y="2204864"/>
              <a:ext cx="368041" cy="144016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1" name="Rechteck 30"/>
            <p:cNvSpPr/>
            <p:nvPr/>
          </p:nvSpPr>
          <p:spPr>
            <a:xfrm>
              <a:off x="2850291" y="220486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2" name="Rechteck 31"/>
            <p:cNvSpPr/>
            <p:nvPr/>
          </p:nvSpPr>
          <p:spPr>
            <a:xfrm>
              <a:off x="3218332" y="220486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3" name="Rechteck 32"/>
            <p:cNvSpPr/>
            <p:nvPr/>
          </p:nvSpPr>
          <p:spPr>
            <a:xfrm>
              <a:off x="3586373" y="220486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4" name="Rechteck 33"/>
            <p:cNvSpPr/>
            <p:nvPr/>
          </p:nvSpPr>
          <p:spPr>
            <a:xfrm>
              <a:off x="3954413" y="220486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5" name="Rechteck 34"/>
            <p:cNvSpPr/>
            <p:nvPr/>
          </p:nvSpPr>
          <p:spPr>
            <a:xfrm>
              <a:off x="4322454" y="220486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6" name="Rechteck 35"/>
            <p:cNvSpPr/>
            <p:nvPr/>
          </p:nvSpPr>
          <p:spPr>
            <a:xfrm>
              <a:off x="4690495" y="220486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7" name="Rechteck 36"/>
            <p:cNvSpPr/>
            <p:nvPr/>
          </p:nvSpPr>
          <p:spPr>
            <a:xfrm>
              <a:off x="5058536" y="220486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8" name="Rechteck 37"/>
            <p:cNvSpPr/>
            <p:nvPr/>
          </p:nvSpPr>
          <p:spPr>
            <a:xfrm>
              <a:off x="2114209" y="2060848"/>
              <a:ext cx="368041" cy="144016"/>
            </a:xfrm>
            <a:prstGeom prst="rect">
              <a:avLst/>
            </a:prstGeom>
            <a:solidFill>
              <a:srgbClr val="C00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9" name="Rechteck 38"/>
            <p:cNvSpPr/>
            <p:nvPr/>
          </p:nvSpPr>
          <p:spPr>
            <a:xfrm>
              <a:off x="2482250" y="206084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0" name="Rechteck 39"/>
            <p:cNvSpPr/>
            <p:nvPr/>
          </p:nvSpPr>
          <p:spPr>
            <a:xfrm>
              <a:off x="2850291" y="206084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1" name="Rechteck 40"/>
            <p:cNvSpPr/>
            <p:nvPr/>
          </p:nvSpPr>
          <p:spPr>
            <a:xfrm>
              <a:off x="3218332" y="206084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2" name="Rechteck 41"/>
            <p:cNvSpPr/>
            <p:nvPr/>
          </p:nvSpPr>
          <p:spPr>
            <a:xfrm>
              <a:off x="3586373" y="206084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3" name="Rechteck 42"/>
            <p:cNvSpPr/>
            <p:nvPr/>
          </p:nvSpPr>
          <p:spPr>
            <a:xfrm>
              <a:off x="3954413" y="206084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4" name="Rechteck 43"/>
            <p:cNvSpPr/>
            <p:nvPr/>
          </p:nvSpPr>
          <p:spPr>
            <a:xfrm>
              <a:off x="4322454" y="206084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5" name="Rechteck 44"/>
            <p:cNvSpPr/>
            <p:nvPr/>
          </p:nvSpPr>
          <p:spPr>
            <a:xfrm>
              <a:off x="4690495" y="2060848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6" name="Rechteck 45"/>
            <p:cNvSpPr/>
            <p:nvPr/>
          </p:nvSpPr>
          <p:spPr>
            <a:xfrm>
              <a:off x="5058536" y="2060848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7" name="Rechteck 46"/>
            <p:cNvSpPr/>
            <p:nvPr/>
          </p:nvSpPr>
          <p:spPr>
            <a:xfrm>
              <a:off x="2114209" y="191683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8" name="Rechteck 47"/>
            <p:cNvSpPr/>
            <p:nvPr/>
          </p:nvSpPr>
          <p:spPr>
            <a:xfrm>
              <a:off x="2482250" y="191683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9" name="Rechteck 48"/>
            <p:cNvSpPr/>
            <p:nvPr/>
          </p:nvSpPr>
          <p:spPr>
            <a:xfrm>
              <a:off x="2850291" y="191683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0" name="Rechteck 49"/>
            <p:cNvSpPr/>
            <p:nvPr/>
          </p:nvSpPr>
          <p:spPr>
            <a:xfrm>
              <a:off x="3218332" y="191683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1" name="Rechteck 50"/>
            <p:cNvSpPr/>
            <p:nvPr/>
          </p:nvSpPr>
          <p:spPr>
            <a:xfrm>
              <a:off x="3586373" y="191683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2" name="Rechteck 51"/>
            <p:cNvSpPr/>
            <p:nvPr/>
          </p:nvSpPr>
          <p:spPr>
            <a:xfrm>
              <a:off x="3954413" y="191683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3" name="Rechteck 52"/>
            <p:cNvSpPr/>
            <p:nvPr/>
          </p:nvSpPr>
          <p:spPr>
            <a:xfrm>
              <a:off x="4322454" y="191683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4" name="Rechteck 53"/>
            <p:cNvSpPr/>
            <p:nvPr/>
          </p:nvSpPr>
          <p:spPr>
            <a:xfrm>
              <a:off x="4690495" y="1916832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5" name="Rechteck 54"/>
            <p:cNvSpPr/>
            <p:nvPr/>
          </p:nvSpPr>
          <p:spPr>
            <a:xfrm>
              <a:off x="5058536" y="1916832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6" name="Rechteck 55"/>
            <p:cNvSpPr/>
            <p:nvPr/>
          </p:nvSpPr>
          <p:spPr>
            <a:xfrm>
              <a:off x="2114209" y="1772816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7" name="Rechteck 56"/>
            <p:cNvSpPr/>
            <p:nvPr/>
          </p:nvSpPr>
          <p:spPr>
            <a:xfrm>
              <a:off x="2482250" y="177281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8" name="Rechteck 57"/>
            <p:cNvSpPr/>
            <p:nvPr/>
          </p:nvSpPr>
          <p:spPr>
            <a:xfrm>
              <a:off x="2850291" y="177281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59" name="Rechteck 58"/>
            <p:cNvSpPr/>
            <p:nvPr/>
          </p:nvSpPr>
          <p:spPr>
            <a:xfrm>
              <a:off x="3218332" y="177281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0" name="Rechteck 59"/>
            <p:cNvSpPr/>
            <p:nvPr/>
          </p:nvSpPr>
          <p:spPr>
            <a:xfrm>
              <a:off x="3586373" y="177281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1" name="Rechteck 60"/>
            <p:cNvSpPr/>
            <p:nvPr/>
          </p:nvSpPr>
          <p:spPr>
            <a:xfrm>
              <a:off x="3954413" y="177281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2" name="Rechteck 61"/>
            <p:cNvSpPr/>
            <p:nvPr/>
          </p:nvSpPr>
          <p:spPr>
            <a:xfrm>
              <a:off x="4322454" y="177281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3" name="Rechteck 62"/>
            <p:cNvSpPr/>
            <p:nvPr/>
          </p:nvSpPr>
          <p:spPr>
            <a:xfrm>
              <a:off x="4690495" y="1772816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4" name="Rechteck 63"/>
            <p:cNvSpPr/>
            <p:nvPr/>
          </p:nvSpPr>
          <p:spPr>
            <a:xfrm>
              <a:off x="5058536" y="1772816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5" name="Rechteck 64"/>
            <p:cNvSpPr/>
            <p:nvPr/>
          </p:nvSpPr>
          <p:spPr>
            <a:xfrm>
              <a:off x="2114209" y="1628800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6" name="Rechteck 65"/>
            <p:cNvSpPr/>
            <p:nvPr/>
          </p:nvSpPr>
          <p:spPr>
            <a:xfrm>
              <a:off x="2482250" y="162880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7" name="Rechteck 66"/>
            <p:cNvSpPr/>
            <p:nvPr/>
          </p:nvSpPr>
          <p:spPr>
            <a:xfrm>
              <a:off x="2850291" y="162880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8" name="Rechteck 67"/>
            <p:cNvSpPr/>
            <p:nvPr/>
          </p:nvSpPr>
          <p:spPr>
            <a:xfrm>
              <a:off x="3218332" y="162880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69" name="Rechteck 68"/>
            <p:cNvSpPr/>
            <p:nvPr/>
          </p:nvSpPr>
          <p:spPr>
            <a:xfrm>
              <a:off x="3586373" y="162880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0" name="Rechteck 69"/>
            <p:cNvSpPr/>
            <p:nvPr/>
          </p:nvSpPr>
          <p:spPr>
            <a:xfrm>
              <a:off x="3954413" y="162880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1" name="Rechteck 70"/>
            <p:cNvSpPr/>
            <p:nvPr/>
          </p:nvSpPr>
          <p:spPr>
            <a:xfrm>
              <a:off x="4322454" y="162880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2" name="Rechteck 71"/>
            <p:cNvSpPr/>
            <p:nvPr/>
          </p:nvSpPr>
          <p:spPr>
            <a:xfrm>
              <a:off x="4690495" y="1628800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3" name="Rechteck 72"/>
            <p:cNvSpPr/>
            <p:nvPr/>
          </p:nvSpPr>
          <p:spPr>
            <a:xfrm>
              <a:off x="5058536" y="1628800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4" name="Rechteck 73"/>
            <p:cNvSpPr/>
            <p:nvPr/>
          </p:nvSpPr>
          <p:spPr>
            <a:xfrm>
              <a:off x="2114209" y="148478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5" name="Rechteck 74"/>
            <p:cNvSpPr/>
            <p:nvPr/>
          </p:nvSpPr>
          <p:spPr>
            <a:xfrm>
              <a:off x="2482250" y="148478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6" name="Rechteck 75"/>
            <p:cNvSpPr/>
            <p:nvPr/>
          </p:nvSpPr>
          <p:spPr>
            <a:xfrm>
              <a:off x="2850291" y="148478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7" name="Rechteck 76"/>
            <p:cNvSpPr/>
            <p:nvPr/>
          </p:nvSpPr>
          <p:spPr>
            <a:xfrm>
              <a:off x="3218332" y="148478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8" name="Rechteck 77"/>
            <p:cNvSpPr/>
            <p:nvPr/>
          </p:nvSpPr>
          <p:spPr>
            <a:xfrm>
              <a:off x="3586373" y="148478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9" name="Rechteck 78"/>
            <p:cNvSpPr/>
            <p:nvPr/>
          </p:nvSpPr>
          <p:spPr>
            <a:xfrm>
              <a:off x="3954413" y="148478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0" name="Rechteck 79"/>
            <p:cNvSpPr/>
            <p:nvPr/>
          </p:nvSpPr>
          <p:spPr>
            <a:xfrm>
              <a:off x="4322454" y="148478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1" name="Rechteck 80"/>
            <p:cNvSpPr/>
            <p:nvPr/>
          </p:nvSpPr>
          <p:spPr>
            <a:xfrm>
              <a:off x="4690495" y="1484784"/>
              <a:ext cx="368041" cy="144016"/>
            </a:xfrm>
            <a:prstGeom prst="rect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2" name="Rechteck 81"/>
            <p:cNvSpPr/>
            <p:nvPr/>
          </p:nvSpPr>
          <p:spPr>
            <a:xfrm>
              <a:off x="5058536" y="148478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83" name="Gerade Verbindung 82"/>
            <p:cNvCxnSpPr/>
            <p:nvPr/>
          </p:nvCxnSpPr>
          <p:spPr>
            <a:xfrm>
              <a:off x="3050313" y="2996952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 Verbindung 83"/>
            <p:cNvCxnSpPr/>
            <p:nvPr/>
          </p:nvCxnSpPr>
          <p:spPr>
            <a:xfrm>
              <a:off x="3410353" y="2996952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84"/>
            <p:cNvCxnSpPr/>
            <p:nvPr/>
          </p:nvCxnSpPr>
          <p:spPr>
            <a:xfrm>
              <a:off x="3770393" y="2996952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85"/>
            <p:cNvCxnSpPr/>
            <p:nvPr/>
          </p:nvCxnSpPr>
          <p:spPr>
            <a:xfrm rot="5400000" flipV="1">
              <a:off x="1568494" y="2204864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86"/>
            <p:cNvCxnSpPr/>
            <p:nvPr/>
          </p:nvCxnSpPr>
          <p:spPr>
            <a:xfrm rot="5400000" flipV="1">
              <a:off x="1568494" y="2060848"/>
              <a:ext cx="0" cy="144016"/>
            </a:xfrm>
            <a:prstGeom prst="line">
              <a:avLst/>
            </a:prstGeom>
            <a:ln w="1270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/>
            <p:cNvSpPr txBox="1"/>
            <p:nvPr/>
          </p:nvSpPr>
          <p:spPr>
            <a:xfrm>
              <a:off x="1157158" y="2204864"/>
              <a:ext cx="2696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n</a:t>
              </a:r>
            </a:p>
          </p:txBody>
        </p:sp>
        <p:sp>
          <p:nvSpPr>
            <p:cNvPr id="89" name="Textfeld 88"/>
            <p:cNvSpPr txBox="1"/>
            <p:nvPr/>
          </p:nvSpPr>
          <p:spPr>
            <a:xfrm>
              <a:off x="1085150" y="1916832"/>
              <a:ext cx="4443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/>
                <a:t>n+1</a:t>
              </a:r>
            </a:p>
          </p:txBody>
        </p:sp>
        <p:sp>
          <p:nvSpPr>
            <p:cNvPr id="90" name="Textfeld 89"/>
            <p:cNvSpPr txBox="1"/>
            <p:nvPr/>
          </p:nvSpPr>
          <p:spPr>
            <a:xfrm>
              <a:off x="2690273" y="2780928"/>
              <a:ext cx="3545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i-1</a:t>
              </a:r>
            </a:p>
          </p:txBody>
        </p:sp>
        <p:sp>
          <p:nvSpPr>
            <p:cNvPr id="91" name="Textfeld 90"/>
            <p:cNvSpPr txBox="1"/>
            <p:nvPr/>
          </p:nvSpPr>
          <p:spPr>
            <a:xfrm>
              <a:off x="3194329" y="2780928"/>
              <a:ext cx="21833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err="1"/>
                <a:t>i</a:t>
              </a:r>
              <a:endParaRPr lang="en-US" sz="1200" dirty="0"/>
            </a:p>
          </p:txBody>
        </p:sp>
        <p:sp>
          <p:nvSpPr>
            <p:cNvPr id="92" name="Textfeld 91"/>
            <p:cNvSpPr txBox="1"/>
            <p:nvPr/>
          </p:nvSpPr>
          <p:spPr>
            <a:xfrm>
              <a:off x="3770393" y="2780928"/>
              <a:ext cx="3930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i+1</a:t>
              </a:r>
            </a:p>
          </p:txBody>
        </p:sp>
        <p:sp>
          <p:nvSpPr>
            <p:cNvPr id="93" name="Rechteck 92"/>
            <p:cNvSpPr/>
            <p:nvPr/>
          </p:nvSpPr>
          <p:spPr>
            <a:xfrm>
              <a:off x="6074649" y="1556792"/>
              <a:ext cx="368041" cy="144016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94" name="Textfeld 93"/>
            <p:cNvSpPr txBox="1"/>
            <p:nvPr/>
          </p:nvSpPr>
          <p:spPr>
            <a:xfrm>
              <a:off x="6578705" y="1484784"/>
              <a:ext cx="12650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initial conditions</a:t>
              </a:r>
            </a:p>
          </p:txBody>
        </p:sp>
        <p:sp>
          <p:nvSpPr>
            <p:cNvPr id="95" name="Rechteck 94"/>
            <p:cNvSpPr/>
            <p:nvPr/>
          </p:nvSpPr>
          <p:spPr>
            <a:xfrm>
              <a:off x="6074649" y="1844824"/>
              <a:ext cx="368041" cy="144016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96" name="Textfeld 95"/>
            <p:cNvSpPr txBox="1"/>
            <p:nvPr/>
          </p:nvSpPr>
          <p:spPr>
            <a:xfrm>
              <a:off x="6578705" y="1772816"/>
              <a:ext cx="15728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boundary conditions</a:t>
              </a:r>
            </a:p>
          </p:txBody>
        </p:sp>
        <p:cxnSp>
          <p:nvCxnSpPr>
            <p:cNvPr id="97" name="Gerade Verbindung 96"/>
            <p:cNvCxnSpPr/>
            <p:nvPr/>
          </p:nvCxnSpPr>
          <p:spPr>
            <a:xfrm>
              <a:off x="2000542" y="1484784"/>
              <a:ext cx="0" cy="129614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Gerade Verbindung 97"/>
            <p:cNvCxnSpPr/>
            <p:nvPr/>
          </p:nvCxnSpPr>
          <p:spPr>
            <a:xfrm>
              <a:off x="5528934" y="1484784"/>
              <a:ext cx="0" cy="129614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feld 98"/>
            <p:cNvSpPr txBox="1"/>
            <p:nvPr/>
          </p:nvSpPr>
          <p:spPr>
            <a:xfrm>
              <a:off x="1691680" y="1124744"/>
              <a:ext cx="11576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fictitious layer </a:t>
              </a:r>
            </a:p>
          </p:txBody>
        </p:sp>
        <p:sp>
          <p:nvSpPr>
            <p:cNvPr id="100" name="Textfeld 99"/>
            <p:cNvSpPr txBox="1"/>
            <p:nvPr/>
          </p:nvSpPr>
          <p:spPr>
            <a:xfrm rot="5400000">
              <a:off x="5088589" y="1925129"/>
              <a:ext cx="11576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fictitious layer </a:t>
              </a:r>
            </a:p>
          </p:txBody>
        </p:sp>
        <p:sp>
          <p:nvSpPr>
            <p:cNvPr id="101" name="Rechteck 100"/>
            <p:cNvSpPr/>
            <p:nvPr/>
          </p:nvSpPr>
          <p:spPr>
            <a:xfrm>
              <a:off x="1907704" y="2204864"/>
              <a:ext cx="203324" cy="144016"/>
            </a:xfrm>
            <a:prstGeom prst="rect">
              <a:avLst/>
            </a:prstGeom>
            <a:solidFill>
              <a:srgbClr val="FFC000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>
                <a:solidFill>
                  <a:schemeClr val="tx1"/>
                </a:solidFill>
              </a:endParaRPr>
            </a:p>
          </p:txBody>
        </p:sp>
        <p:cxnSp>
          <p:nvCxnSpPr>
            <p:cNvPr id="102" name="Gerade Verbindung mit Pfeil 101"/>
            <p:cNvCxnSpPr/>
            <p:nvPr/>
          </p:nvCxnSpPr>
          <p:spPr>
            <a:xfrm flipV="1">
              <a:off x="1331640" y="2420888"/>
              <a:ext cx="576064" cy="504056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feld 102"/>
            <p:cNvSpPr txBox="1"/>
            <p:nvPr/>
          </p:nvSpPr>
          <p:spPr>
            <a:xfrm>
              <a:off x="-180528" y="2780928"/>
              <a:ext cx="16561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application of Neumann conditions</a:t>
              </a:r>
            </a:p>
          </p:txBody>
        </p:sp>
      </p:grpSp>
      <p:pic>
        <p:nvPicPr>
          <p:cNvPr id="114" name="Grafik 113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43901" y="3425884"/>
            <a:ext cx="6236141" cy="13238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where we use fictitious layers to include the vanishing Neumann boundary conditions (2/ 2)</a:t>
            </a:r>
          </a:p>
        </p:txBody>
      </p:sp>
      <p:pic>
        <p:nvPicPr>
          <p:cNvPr id="113" name="Grafik 112" descr="IguanaTex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243901" y="1071552"/>
            <a:ext cx="8704236" cy="257489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corresponding code in MATLAB is easily written and executed to illustrate cell aggregation due to a high </a:t>
            </a:r>
            <a:r>
              <a:rPr lang="en-US" dirty="0" err="1"/>
              <a:t>chemotaxis</a:t>
            </a:r>
            <a:r>
              <a:rPr lang="en-US" dirty="0"/>
              <a:t> coefficient …</a:t>
            </a:r>
          </a:p>
        </p:txBody>
      </p:sp>
      <p:sp>
        <p:nvSpPr>
          <p:cNvPr id="10" name="Abgerundetes Rechteck 9"/>
          <p:cNvSpPr/>
          <p:nvPr/>
        </p:nvSpPr>
        <p:spPr>
          <a:xfrm>
            <a:off x="3786182" y="928676"/>
            <a:ext cx="5281618" cy="4143386"/>
          </a:xfrm>
          <a:prstGeom prst="roundRect">
            <a:avLst>
              <a:gd name="adj" fmla="val 0"/>
            </a:avLst>
          </a:prstGeom>
          <a:solidFill>
            <a:srgbClr val="808080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2" name="Picture 2" descr="C:\Users\Florian\Desktop\1.png"/>
          <p:cNvPicPr>
            <a:picLocks noChangeAspect="1" noChangeArrowheads="1"/>
          </p:cNvPicPr>
          <p:nvPr/>
        </p:nvPicPr>
        <p:blipFill>
          <a:blip r:embed="rId3" cstate="print"/>
          <a:srcRect t="25836"/>
          <a:stretch>
            <a:fillRect/>
          </a:stretch>
        </p:blipFill>
        <p:spPr bwMode="auto">
          <a:xfrm>
            <a:off x="3832219" y="1000114"/>
            <a:ext cx="3600400" cy="2000264"/>
          </a:xfrm>
          <a:prstGeom prst="rect">
            <a:avLst/>
          </a:prstGeom>
          <a:noFill/>
        </p:spPr>
      </p:pic>
      <p:sp>
        <p:nvSpPr>
          <p:cNvPr id="13" name="Textfeld 12"/>
          <p:cNvSpPr txBox="1"/>
          <p:nvPr/>
        </p:nvSpPr>
        <p:spPr>
          <a:xfrm>
            <a:off x="6000760" y="957779"/>
            <a:ext cx="3027186" cy="276999"/>
          </a:xfrm>
          <a:prstGeom prst="rect">
            <a:avLst/>
          </a:prstGeom>
          <a:solidFill>
            <a:srgbClr val="FFFFFF"/>
          </a:solidFill>
          <a:ln>
            <a:solidFill>
              <a:srgbClr val="000000">
                <a:lumMod val="50000"/>
                <a:lumOff val="5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Increase in amoebae concentration over time</a:t>
            </a:r>
          </a:p>
        </p:txBody>
      </p:sp>
      <p:grpSp>
        <p:nvGrpSpPr>
          <p:cNvPr id="3" name="Gruppieren 19"/>
          <p:cNvGrpSpPr/>
          <p:nvPr/>
        </p:nvGrpSpPr>
        <p:grpSpPr>
          <a:xfrm>
            <a:off x="179512" y="1049835"/>
            <a:ext cx="3394636" cy="3901068"/>
            <a:chOff x="179512" y="1000114"/>
            <a:chExt cx="3394636" cy="3901068"/>
          </a:xfrm>
        </p:grpSpPr>
        <p:sp>
          <p:nvSpPr>
            <p:cNvPr id="11" name="Textfeld 10"/>
            <p:cNvSpPr txBox="1"/>
            <p:nvPr/>
          </p:nvSpPr>
          <p:spPr>
            <a:xfrm>
              <a:off x="179512" y="1000114"/>
              <a:ext cx="3035166" cy="3901068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>
              <a:solidFill>
                <a:schemeClr val="tx2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%-------------------------------------------------------------------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2D2D8A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function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[] = SKS1Dmod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%-------------------------------------------------------------------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% finite-difference approximation of the simplified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% KS-model (see lecture)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%-------------------------------------------------------------------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k = 100; 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pi/(k-1);  x = [0:dx:pi];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n = 10000;  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dt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0.0001;  t = [0:dt:((n-1)*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dt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)];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d1 = 1;   d2 = 1;  a = 1;  b = 1;  c = 3;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u = zeros(length(t),length(x));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 = zeros(length(t),length(x));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% initial conditions (uniform distribution of amoebae and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% parabolic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chemotaxis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concentration)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2D2D8A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for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i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=1:k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u(1,i) = 0.8;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v(1,i) = 0.1*(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i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)*(pi-(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i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));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2D2D8A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end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% update according to the finite-difference scheme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2D2D8A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for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j=2:n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% interior points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2D2D8A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for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i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=2:(k-1)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uxx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(u(j-1,i+1)-2*u(j-1,i)+u(j-1,i-1))/(dx^2);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(v(j-1,i+1)-2*v(j-1,i)+v(j-1,i-1))/(dx^2);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ux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(u(j-1,i+1)-u(j-1,i-1))/(2*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   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(v(j-1,i+1)-v(j-1,i-1))/(2*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    %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    u(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j,i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) = u(j-1,i) +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dt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*( d1*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uxx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- c*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ux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- c*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    v(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j,i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) = v(j-1,i) +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dt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*( d2*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+ a*u(j-1,i) - b*v(j-1,i) 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2D2D8A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end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% boundary points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uxx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0; 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ux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0; 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0;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= 0;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u(j,1) = u(j-1,1) +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dt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*( d1*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uxx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- c*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ux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- c*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v(j,1) = v(j-1,1) +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dt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*( d2*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+ a*u(j-1,1) - b*v(j-1,1) 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u(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j,k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) = u(j-1,k) +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dt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*( d1*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uxx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- c*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ux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- c*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   v(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j,k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) = v(j-1,k) +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dt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*( d2*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vxx</a:t>
              </a: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 + a*u(j-1,k) - b*v(j-1,k) );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2D2D8A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end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mesh(u)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5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% </a:t>
              </a:r>
              <a:r>
                <a:rPr kumimoji="0" lang="en-US" sz="55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eof</a:t>
              </a:r>
              <a:endParaRPr kumimoji="0" lang="en-US" sz="55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ourier New" pitchFamily="49" charset="0"/>
                <a:cs typeface="Courier New" pitchFamily="49" charset="0"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ourier New" pitchFamily="49" charset="0"/>
                  <a:cs typeface="Courier New" pitchFamily="49" charset="0"/>
                </a:rPr>
                <a:t>%-------------------------------------------------------------------</a:t>
              </a:r>
            </a:p>
          </p:txBody>
        </p:sp>
        <p:sp>
          <p:nvSpPr>
            <p:cNvPr id="16" name="Gleichschenkliges Dreieck 15"/>
            <p:cNvSpPr/>
            <p:nvPr/>
          </p:nvSpPr>
          <p:spPr>
            <a:xfrm rot="5400000">
              <a:off x="1684192" y="2806632"/>
              <a:ext cx="3491880" cy="288032"/>
            </a:xfrm>
            <a:prstGeom prst="triangle">
              <a:avLst/>
            </a:prstGeom>
            <a:solidFill>
              <a:srgbClr val="FFFFFF">
                <a:lumMod val="85000"/>
              </a:srgbClr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19" name="Gerade Verbindung mit Pfeil 18"/>
          <p:cNvCxnSpPr/>
          <p:nvPr/>
        </p:nvCxnSpPr>
        <p:spPr>
          <a:xfrm rot="10800000">
            <a:off x="4143372" y="2357436"/>
            <a:ext cx="928694" cy="50006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3" descr="C:\Users\Florian\Desktop\1.png"/>
          <p:cNvPicPr>
            <a:picLocks noChangeAspect="1" noChangeArrowheads="1"/>
          </p:cNvPicPr>
          <p:nvPr/>
        </p:nvPicPr>
        <p:blipFill>
          <a:blip r:embed="rId4" cstate="print"/>
          <a:srcRect l="2000" t="15908" r="1989" b="2119"/>
          <a:stretch>
            <a:fillRect/>
          </a:stretch>
        </p:blipFill>
        <p:spPr bwMode="auto">
          <a:xfrm>
            <a:off x="3857620" y="2857484"/>
            <a:ext cx="3456384" cy="2214578"/>
          </a:xfrm>
          <a:prstGeom prst="rect">
            <a:avLst/>
          </a:prstGeom>
          <a:noFill/>
        </p:spPr>
      </p:pic>
      <p:sp>
        <p:nvSpPr>
          <p:cNvPr id="15" name="Textfeld 14"/>
          <p:cNvSpPr txBox="1"/>
          <p:nvPr/>
        </p:nvSpPr>
        <p:spPr>
          <a:xfrm>
            <a:off x="6000760" y="2786064"/>
            <a:ext cx="3027186" cy="276999"/>
          </a:xfrm>
          <a:prstGeom prst="rect">
            <a:avLst/>
          </a:prstGeom>
          <a:solidFill>
            <a:srgbClr val="FFFFFF"/>
          </a:solidFill>
          <a:ln>
            <a:solidFill>
              <a:srgbClr val="000000">
                <a:lumMod val="50000"/>
                <a:lumOff val="50000"/>
              </a:srgb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Increase in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chemotaxis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signal over time</a:t>
            </a:r>
          </a:p>
        </p:txBody>
      </p:sp>
      <p:cxnSp>
        <p:nvCxnSpPr>
          <p:cNvPr id="18" name="Gerade Verbindung mit Pfeil 17"/>
          <p:cNvCxnSpPr/>
          <p:nvPr/>
        </p:nvCxnSpPr>
        <p:spPr>
          <a:xfrm rot="10800000">
            <a:off x="4143372" y="4500576"/>
            <a:ext cx="928694" cy="50006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aggregation due to an increase of chemical signal production, and diffusion</a:t>
            </a:r>
          </a:p>
        </p:txBody>
      </p:sp>
      <p:grpSp>
        <p:nvGrpSpPr>
          <p:cNvPr id="11" name="Gruppieren 18"/>
          <p:cNvGrpSpPr/>
          <p:nvPr/>
        </p:nvGrpSpPr>
        <p:grpSpPr>
          <a:xfrm>
            <a:off x="714348" y="960784"/>
            <a:ext cx="3395823" cy="4039858"/>
            <a:chOff x="251520" y="960784"/>
            <a:chExt cx="4176464" cy="4968552"/>
          </a:xfrm>
        </p:grpSpPr>
        <p:sp>
          <p:nvSpPr>
            <p:cNvPr id="3" name="Abgerundetes Rechteck 2"/>
            <p:cNvSpPr/>
            <p:nvPr/>
          </p:nvSpPr>
          <p:spPr>
            <a:xfrm>
              <a:off x="251520" y="960784"/>
              <a:ext cx="4176464" cy="4968552"/>
            </a:xfrm>
            <a:prstGeom prst="roundRect">
              <a:avLst>
                <a:gd name="adj" fmla="val 1720"/>
              </a:avLst>
            </a:prstGeom>
            <a:solidFill>
              <a:srgbClr val="808080">
                <a:lumMod val="40000"/>
                <a:lumOff val="60000"/>
              </a:srgbClr>
            </a:solidFill>
            <a:ln w="2540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  <p:pic>
          <p:nvPicPr>
            <p:cNvPr id="4" name="Picture 5" descr="C:\Users\Florian\Desktop\1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39552" y="3210392"/>
              <a:ext cx="3600000" cy="2630521"/>
            </a:xfrm>
            <a:prstGeom prst="rect">
              <a:avLst/>
            </a:prstGeom>
            <a:noFill/>
          </p:spPr>
        </p:pic>
        <p:pic>
          <p:nvPicPr>
            <p:cNvPr id="5" name="Picture 4" descr="C:\Users\Florian\Desktop\1.png"/>
            <p:cNvPicPr>
              <a:picLocks noChangeAspect="1" noChangeArrowheads="1"/>
            </p:cNvPicPr>
            <p:nvPr/>
          </p:nvPicPr>
          <p:blipFill>
            <a:blip r:embed="rId3" cstate="print"/>
            <a:srcRect t="16085" b="3011"/>
            <a:stretch>
              <a:fillRect/>
            </a:stretch>
          </p:blipFill>
          <p:spPr bwMode="auto">
            <a:xfrm>
              <a:off x="539552" y="1049207"/>
              <a:ext cx="3600000" cy="2215833"/>
            </a:xfrm>
            <a:prstGeom prst="rect">
              <a:avLst/>
            </a:prstGeom>
            <a:noFill/>
          </p:spPr>
        </p:pic>
        <p:sp>
          <p:nvSpPr>
            <p:cNvPr id="6" name="Textfeld 5"/>
            <p:cNvSpPr txBox="1"/>
            <p:nvPr/>
          </p:nvSpPr>
          <p:spPr>
            <a:xfrm>
              <a:off x="2159732" y="1104800"/>
              <a:ext cx="1908212" cy="3028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amoebae concentration</a:t>
              </a:r>
            </a:p>
          </p:txBody>
        </p:sp>
        <p:sp>
          <p:nvSpPr>
            <p:cNvPr id="7" name="Textfeld 6"/>
            <p:cNvSpPr txBox="1"/>
            <p:nvPr/>
          </p:nvSpPr>
          <p:spPr>
            <a:xfrm>
              <a:off x="2159732" y="3417848"/>
              <a:ext cx="1908212" cy="3028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err="1"/>
                <a:t>chemotaxis</a:t>
              </a:r>
              <a:r>
                <a:rPr lang="en-US" sz="1000" dirty="0"/>
                <a:t> signal</a:t>
              </a:r>
            </a:p>
          </p:txBody>
        </p:sp>
        <p:sp>
          <p:nvSpPr>
            <p:cNvPr id="8" name="Ellipse 7"/>
            <p:cNvSpPr/>
            <p:nvPr/>
          </p:nvSpPr>
          <p:spPr>
            <a:xfrm>
              <a:off x="611560" y="1096008"/>
              <a:ext cx="576064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Ellipse 8"/>
            <p:cNvSpPr/>
            <p:nvPr/>
          </p:nvSpPr>
          <p:spPr>
            <a:xfrm>
              <a:off x="611560" y="3642664"/>
              <a:ext cx="576064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uppieren 17"/>
          <p:cNvGrpSpPr/>
          <p:nvPr/>
        </p:nvGrpSpPr>
        <p:grpSpPr>
          <a:xfrm>
            <a:off x="5289230" y="960784"/>
            <a:ext cx="3395823" cy="4039858"/>
            <a:chOff x="4572000" y="1000114"/>
            <a:chExt cx="4176464" cy="4968552"/>
          </a:xfrm>
        </p:grpSpPr>
        <p:sp>
          <p:nvSpPr>
            <p:cNvPr id="10" name="Abgerundetes Rechteck 9"/>
            <p:cNvSpPr/>
            <p:nvPr/>
          </p:nvSpPr>
          <p:spPr>
            <a:xfrm>
              <a:off x="4572000" y="1000114"/>
              <a:ext cx="4176464" cy="4968552"/>
            </a:xfrm>
            <a:prstGeom prst="roundRect">
              <a:avLst>
                <a:gd name="adj" fmla="val 1720"/>
              </a:avLst>
            </a:prstGeom>
            <a:solidFill>
              <a:srgbClr val="808080">
                <a:lumMod val="40000"/>
                <a:lumOff val="60000"/>
              </a:srgbClr>
            </a:solidFill>
            <a:ln w="25400" cap="flat" cmpd="sng" algn="ctr">
              <a:solidFill>
                <a:schemeClr val="tx2"/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endParaRPr lang="en-US" kern="0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19" name="Gruppieren 16"/>
            <p:cNvGrpSpPr/>
            <p:nvPr/>
          </p:nvGrpSpPr>
          <p:grpSpPr>
            <a:xfrm>
              <a:off x="4860032" y="1088537"/>
              <a:ext cx="3600000" cy="4791706"/>
              <a:chOff x="539552" y="1772816"/>
              <a:chExt cx="3600000" cy="4791706"/>
            </a:xfrm>
          </p:grpSpPr>
          <p:pic>
            <p:nvPicPr>
              <p:cNvPr id="12" name="Picture 2" descr="C:\Users\Florian\Desktop\1.png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 t="14764" b="2561"/>
              <a:stretch>
                <a:fillRect/>
              </a:stretch>
            </p:blipFill>
            <p:spPr bwMode="auto">
              <a:xfrm>
                <a:off x="539552" y="1772816"/>
                <a:ext cx="3600000" cy="2240249"/>
              </a:xfrm>
              <a:prstGeom prst="rect">
                <a:avLst/>
              </a:prstGeom>
              <a:noFill/>
            </p:spPr>
          </p:pic>
          <p:pic>
            <p:nvPicPr>
              <p:cNvPr id="13" name="Picture 3" descr="C:\Users\Florian\Desktop\1.png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 t="4672" b="3747"/>
              <a:stretch>
                <a:fillRect/>
              </a:stretch>
            </p:blipFill>
            <p:spPr bwMode="auto">
              <a:xfrm>
                <a:off x="539552" y="4077072"/>
                <a:ext cx="3600000" cy="2487450"/>
              </a:xfrm>
              <a:prstGeom prst="rect">
                <a:avLst/>
              </a:prstGeom>
              <a:noFill/>
            </p:spPr>
          </p:pic>
        </p:grpSp>
        <p:sp>
          <p:nvSpPr>
            <p:cNvPr id="14" name="Textfeld 13"/>
            <p:cNvSpPr txBox="1"/>
            <p:nvPr/>
          </p:nvSpPr>
          <p:spPr>
            <a:xfrm>
              <a:off x="6480212" y="1144130"/>
              <a:ext cx="1908212" cy="3028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amoebae concentration</a:t>
              </a:r>
            </a:p>
          </p:txBody>
        </p:sp>
        <p:sp>
          <p:nvSpPr>
            <p:cNvPr id="15" name="Textfeld 14"/>
            <p:cNvSpPr txBox="1"/>
            <p:nvPr/>
          </p:nvSpPr>
          <p:spPr>
            <a:xfrm>
              <a:off x="6480212" y="3457178"/>
              <a:ext cx="1908212" cy="30282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err="1"/>
                <a:t>chemotaxis</a:t>
              </a:r>
              <a:r>
                <a:rPr lang="en-US" sz="1000" dirty="0"/>
                <a:t> signal</a:t>
              </a:r>
            </a:p>
          </p:txBody>
        </p:sp>
        <p:sp>
          <p:nvSpPr>
            <p:cNvPr id="16" name="Ellipse 15"/>
            <p:cNvSpPr/>
            <p:nvPr/>
          </p:nvSpPr>
          <p:spPr>
            <a:xfrm>
              <a:off x="4868824" y="1144130"/>
              <a:ext cx="576064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Ellipse 16"/>
            <p:cNvSpPr/>
            <p:nvPr/>
          </p:nvSpPr>
          <p:spPr>
            <a:xfrm>
              <a:off x="4868824" y="3717162"/>
              <a:ext cx="576064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Abgerundetes Rechteck 19"/>
          <p:cNvSpPr/>
          <p:nvPr/>
        </p:nvSpPr>
        <p:spPr>
          <a:xfrm rot="16200000">
            <a:off x="-1554189" y="2800694"/>
            <a:ext cx="4039858" cy="360040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 = 30000; </a:t>
            </a:r>
            <a:r>
              <a:rPr lang="pt-BR" sz="1400" dirty="0"/>
              <a:t>d1 = 2; d2 = 1; </a:t>
            </a:r>
            <a:r>
              <a:rPr lang="pt-BR" sz="1400" b="1" dirty="0">
                <a:solidFill>
                  <a:srgbClr val="FFFF66"/>
                </a:solidFill>
              </a:rPr>
              <a:t>a = 3</a:t>
            </a:r>
            <a:r>
              <a:rPr lang="pt-BR" sz="1400" dirty="0"/>
              <a:t>; b = 1; </a:t>
            </a:r>
            <a:r>
              <a:rPr lang="pt-BR" sz="1400" b="1" dirty="0">
                <a:solidFill>
                  <a:srgbClr val="FFFF66"/>
                </a:solidFill>
              </a:rPr>
              <a:t>c = 1</a:t>
            </a:r>
            <a:r>
              <a:rPr lang="pt-BR" sz="1400" dirty="0"/>
              <a:t>;</a:t>
            </a:r>
            <a:endParaRPr lang="en-US" sz="1400" dirty="0"/>
          </a:p>
        </p:txBody>
      </p:sp>
      <p:sp>
        <p:nvSpPr>
          <p:cNvPr id="21" name="Abgerundetes Rechteck 20"/>
          <p:cNvSpPr/>
          <p:nvPr/>
        </p:nvSpPr>
        <p:spPr>
          <a:xfrm rot="16200000">
            <a:off x="3017843" y="2800693"/>
            <a:ext cx="4039858" cy="360040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 = 30000; </a:t>
            </a:r>
            <a:r>
              <a:rPr lang="pt-BR" sz="1400" b="1" dirty="0">
                <a:solidFill>
                  <a:srgbClr val="FFFF66"/>
                </a:solidFill>
              </a:rPr>
              <a:t>d</a:t>
            </a:r>
            <a:r>
              <a:rPr lang="pt-BR" sz="1400" b="1" baseline="-25000" dirty="0">
                <a:solidFill>
                  <a:srgbClr val="FFFF66"/>
                </a:solidFill>
              </a:rPr>
              <a:t>1</a:t>
            </a:r>
            <a:r>
              <a:rPr lang="pt-BR" sz="1400" b="1" dirty="0">
                <a:solidFill>
                  <a:srgbClr val="FFFF66"/>
                </a:solidFill>
              </a:rPr>
              <a:t> = 2</a:t>
            </a:r>
            <a:r>
              <a:rPr lang="pt-BR" sz="1400" dirty="0"/>
              <a:t>; d</a:t>
            </a:r>
            <a:r>
              <a:rPr lang="pt-BR" sz="1400" baseline="-25000" dirty="0"/>
              <a:t>2</a:t>
            </a:r>
            <a:r>
              <a:rPr lang="pt-BR" sz="1400" dirty="0"/>
              <a:t> = 1; a = 1; b = 1; </a:t>
            </a:r>
            <a:r>
              <a:rPr lang="pt-BR" sz="1400" b="1" dirty="0">
                <a:solidFill>
                  <a:srgbClr val="FFFF66"/>
                </a:solidFill>
              </a:rPr>
              <a:t>c = 0.1</a:t>
            </a:r>
            <a:r>
              <a:rPr lang="pt-BR" sz="1400" dirty="0"/>
              <a:t>;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use of </a:t>
            </a:r>
            <a:r>
              <a:rPr lang="en-US" dirty="0" err="1"/>
              <a:t>chemotaxis</a:t>
            </a:r>
            <a:r>
              <a:rPr lang="en-US" dirty="0"/>
              <a:t> in nature is through ants and the pheromones they secret in order to mark paths</a:t>
            </a:r>
          </a:p>
        </p:txBody>
      </p:sp>
      <p:pic>
        <p:nvPicPr>
          <p:cNvPr id="1026" name="Picture 2" descr="https://camo.githubusercontent.com/ec773027ad7f74bc86251ebabc807057abf5535d5392a611f34f625c6b9967d1/68747470733a2f2f7261772e6769746875622e636f6d2f7265617869732f616e74732f6d61737465722f73637265656e73686f74732f616e696d6174696f6e2e676966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131590"/>
            <a:ext cx="5040560" cy="2835315"/>
          </a:xfrm>
          <a:prstGeom prst="rect">
            <a:avLst/>
          </a:prstGeom>
          <a:noFill/>
        </p:spPr>
      </p:pic>
      <p:sp>
        <p:nvSpPr>
          <p:cNvPr id="4" name="Rechteck 3"/>
          <p:cNvSpPr/>
          <p:nvPr/>
        </p:nvSpPr>
        <p:spPr>
          <a:xfrm>
            <a:off x="0" y="843558"/>
            <a:ext cx="1486304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/>
              <a:t>https://github.com/reaxis/ants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5508104" y="1131590"/>
            <a:ext cx="338437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Ants walk around randomly until they find a food source, then retrace their steps and drop pheromones on the way back.</a:t>
            </a:r>
          </a:p>
          <a:p>
            <a:endParaRPr lang="en-US" sz="1400" dirty="0"/>
          </a:p>
          <a:p>
            <a:r>
              <a:rPr lang="en-US" sz="1400" dirty="0"/>
              <a:t>Pheromones are visualized by colored trails.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ctrTitle"/>
          </p:nvPr>
        </p:nvSpPr>
        <p:spPr>
          <a:xfrm>
            <a:off x="3851920" y="1275606"/>
            <a:ext cx="5040560" cy="864095"/>
          </a:xfrm>
        </p:spPr>
        <p:txBody>
          <a:bodyPr/>
          <a:lstStyle/>
          <a:p>
            <a:r>
              <a:rPr lang="en-US" noProof="0" dirty="0"/>
              <a:t>Computational Biomathematics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6917350" y="4712245"/>
            <a:ext cx="1974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noProof="0" dirty="0"/>
              <a:t>florian.rupp@kiu.edu.ge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4sBCPrLdUOGmmGtjuAVn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5ULgxRsCUC2aETaaLLML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wayLLHUoUaSByAvs2zANw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wS88IkDwk2u2UXfeYk5s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QrG_PT1jUaZ5G6vt.PRt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IYaHeW61US7GVC_CvTlV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06EWmBMUKiWbxTgKZHj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AlQONa1hU24NWfOu_k0X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9gNzT53jU6HzP9VqlC8B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V12iISWwkOOVDsSNsZR1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9,374"/>
  <p:tag name="ORIGINALWIDTH" val="3530,559"/>
  <p:tag name="LATEXADDIN" val="\documentclass{article}&#10;\usepackage{amsmath}&#10;\usepackage{amssymb}&#10;\pagestyle{empty}&#10;\begin{document}&#10;\begin{minipage}{10 cm}&#10;{\sffamily{&#10;To avoid technical complications, let $u$ and $v$ be suficently smooth time- and space-dependent functions such that&#10;\begin{itemize}&#10;\item $u$ denotes the {\it{dictyostelium discoideum}} density, and&#10;\item $v$ denotes the cAMP concentration&#10;\end{itemize}&#10;in a regular domain $\Omega$ with sufficiently smooth boundary $\partial \Omega$.&#10;}}&#10;\end{minipage}&#10;\end{document}"/>
  <p:tag name="IGUANATEXSIZE" val="20"/>
  <p:tag name="IGUANATEXCURSOR" val="474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79,49008"/>
  <p:tag name="LATEXADDIN" val="\documentclass{article}&#10;\usepackage{amsmath}&#10;\usepackage{amssymb}&#10;\pagestyle{empty}&#10;\begin{document}&#10;{\sffamily{&#10;$\Omega$&#10;}}&#10;\end{document}"/>
  <p:tag name="IGUANATEXSIZE" val="20"/>
  <p:tag name="IGUANATEXCURSOR" val="120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,2385"/>
  <p:tag name="ORIGINALWIDTH" val="153,7308"/>
  <p:tag name="LATEXADDIN" val="\documentclass{article}&#10;\usepackage{amsmath}&#10;\usepackage{amssymb}&#10;\pagestyle{empty}&#10;\begin{document}&#10;{\sffamily{&#10;$\partial \Omega$&#10;}}&#10;\end{document}"/>
  <p:tag name="IGUANATEXSIZE" val="20"/>
  <p:tag name="IGUANATEXCURSOR" val="129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35,058"/>
  <p:tag name="ORIGINALWIDTH" val="3537,308"/>
  <p:tag name="LATEXADDIN" val="\documentclass{article}&#10;\usepackage{amsmath}&#10;\usepackage{amssymb}&#10;\pagestyle{empty}&#10;\begin{document}&#10;\begin{minipage}{10 cm}&#10;{\sffamily{&#10;{\bf{Conservation of mass}} states that the rate of change $u_t$ of the amoebae density in $\Omega$ equals the net flux $\Phi$ of amoebae accross the surface $\partial \Omega$ (in-flux and out-flux) plus the net amount of amoebae $f(u)$ born and died in the domain:\\[2mm]&#10;$$&#10;\int_{\Omega} u_t \, \textrm{d} x \, \, = \, \,&#10;-\int_{\partial \Omega} \langle \Phi , \nu \rangle \, \textrm{d}\sigma \, + \,&#10;\int_{\Omega} f \, \textrm{d} x \, ,&#10;$$\\[2mm]&#10;where $\nu$ is the outward-pointing unit normal vector at a point of the surface $\partial \Omega$.&#10;}}&#10;\end{minipage}&#10;\end{document}"/>
  <p:tag name="IGUANATEXSIZE" val="20"/>
  <p:tag name="IGUANATEXCURSOR" val="137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79,49008"/>
  <p:tag name="LATEXADDIN" val="\documentclass{article}&#10;\usepackage{amsmath}&#10;\usepackage{amssymb}&#10;\pagestyle{empty}&#10;\begin{document}&#10;{\sffamily{&#10;$\Omega$&#10;}}&#10;\end{document}"/>
  <p:tag name="IGUANATEXSIZE" val="20"/>
  <p:tag name="IGUANATEXCURSOR" val="120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,2385"/>
  <p:tag name="ORIGINALWIDTH" val="153,7308"/>
  <p:tag name="LATEXADDIN" val="\documentclass{article}&#10;\usepackage{amsmath}&#10;\usepackage{amssymb}&#10;\pagestyle{empty}&#10;\begin{document}&#10;{\sffamily{&#10;$\partial \Omega$&#10;}}&#10;\end{document}"/>
  <p:tag name="IGUANATEXSIZE" val="20"/>
  <p:tag name="IGUANATEXCURSOR" val="129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,74315"/>
  <p:tag name="ORIGINALWIDTH" val="59,2426"/>
  <p:tag name="LATEXADDIN" val="\documentclass{article}&#10;\usepackage{amsmath}&#10;\usepackage{amssymb}&#10;\pagestyle{empty}&#10;\begin{document}&#10;{\sffamily{&#10;$\nu$&#10;}}&#10;\end{document}"/>
  <p:tag name="IGUANATEXSIZE" val="20"/>
  <p:tag name="IGUANATEXCURSOR" val="117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,73945"/>
  <p:tag name="ORIGINALWIDTH" val="76,49047"/>
  <p:tag name="LATEXADDIN" val="\documentclass{article}&#10;\usepackage{amsmath}&#10;\usepackage{amssymb}&#10;\pagestyle{empty}&#10;\begin{document}&#10;{\sffamily{&#10;$\Phi$&#10;}}&#10;\end{document}"/>
  <p:tag name="IGUANATEXSIZE" val="20"/>
  <p:tag name="IGUANATEXCURSOR" val="118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,2358"/>
  <p:tag name="ORIGINALWIDTH" val="62,99213"/>
  <p:tag name="LATEXADDIN" val="\documentclass{article}&#10;\usepackage{amsmath}&#10;\usepackage{amssymb}&#10;\pagestyle{empty}&#10;\begin{document}&#10;{\sffamily{&#10;$f$&#10;}}&#10;\end{document}"/>
  <p:tag name="IGUANATEXSIZE" val="20"/>
  <p:tag name="IGUANATEXCURSOR" val="115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79,49008"/>
  <p:tag name="LATEXADDIN" val="\documentclass{article}&#10;\usepackage{amsmath}&#10;\usepackage{amssymb}&#10;\pagestyle{empty}&#10;\begin{document}&#10;{\sffamily{&#10;$\Omega$&#10;}}&#10;\end{document}"/>
  <p:tag name="IGUANATEXSIZE" val="20"/>
  <p:tag name="IGUANATEXCURSOR" val="120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,2385"/>
  <p:tag name="ORIGINALWIDTH" val="153,7308"/>
  <p:tag name="LATEXADDIN" val="\documentclass{article}&#10;\usepackage{amsmath}&#10;\usepackage{amssymb}&#10;\pagestyle{empty}&#10;\begin{document}&#10;{\sffamily{&#10;$\partial \Omega$&#10;}}&#10;\end{document}"/>
  <p:tag name="IGUANATEXSIZE" val="20"/>
  <p:tag name="IGUANATEXCURSOR" val="129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31,271"/>
  <p:tag name="ORIGINALWIDTH" val="3403,825"/>
  <p:tag name="LATEXADDIN" val="\documentclass{article}&#10;\usepackage{amsmath}&#10;\usepackage{amssymb}&#10;\pagestyle{empty}&#10;\begin{document}&#10;\begin{minipage}{10 cm}&#10;{\sffamily{&#10;Due to the {\bf{Divergence Theorem}} (Theorem of Gau{\ss}) we have&#10;$$&#10;\int_{\partial \Omega} \langle \Phi , \nu \rangle \, \textrm{d}\sigma \, \, = \, \,&#10;\int_{\Omega} \textrm{div}(\Phi) \, \textrm{d} x \, ,&#10;$$&#10;and thus the conservation of mass&#10;$$&#10;\int_{\Omega} u_t \, \textrm{d} x &#10;+ \int_{\partial \Omega} \langle \Phi , \nu \rangle \, \textrm{d}\sigma \, - \,&#10;\int_{\Omega} f \, \textrm{d} x \, \, = \, \, 0 \, ,&#10;$$&#10;can be re-written as&#10;$$&#10;\int_{\Omega} \left( u_t + \textrm{div}(\Phi) - f \right) \, \textrm{d} x \, \, = \, \, 0 \, .&#10;$$&#10;}}&#10;\end{minipage}&#10;\end{document}"/>
  <p:tag name="IGUANATEXSIZE" val="20"/>
  <p:tag name="IGUANATEXCURSOR" val="677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,74315"/>
  <p:tag name="ORIGINALWIDTH" val="59,2426"/>
  <p:tag name="LATEXADDIN" val="\documentclass{article}&#10;\usepackage{amsmath}&#10;\usepackage{amssymb}&#10;\pagestyle{empty}&#10;\begin{document}&#10;{\sffamily{&#10;$\nu$&#10;}}&#10;\end{document}"/>
  <p:tag name="IGUANATEXSIZE" val="20"/>
  <p:tag name="IGUANATEXCURSOR" val="117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,73945"/>
  <p:tag name="ORIGINALWIDTH" val="76,49047"/>
  <p:tag name="LATEXADDIN" val="\documentclass{article}&#10;\usepackage{amsmath}&#10;\usepackage{amssymb}&#10;\pagestyle{empty}&#10;\begin{document}&#10;{\sffamily{&#10;$\Phi$&#10;}}&#10;\end{document}"/>
  <p:tag name="IGUANATEXSIZE" val="20"/>
  <p:tag name="IGUANATEXCURSOR" val="118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,2358"/>
  <p:tag name="ORIGINALWIDTH" val="62,99213"/>
  <p:tag name="LATEXADDIN" val="\documentclass{article}&#10;\usepackage{amsmath}&#10;\usepackage{amssymb}&#10;\pagestyle{empty}&#10;\begin{document}&#10;{\sffamily{&#10;$f$&#10;}}&#10;\end{document}"/>
  <p:tag name="IGUANATEXSIZE" val="20"/>
  <p:tag name="IGUANATEXCURSOR" val="115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,73905"/>
  <p:tag name="ORIGINALWIDTH" val="79,49008"/>
  <p:tag name="LATEXADDIN" val="\documentclass{article}&#10;\usepackage{amsmath}&#10;\usepackage{amssymb}&#10;\pagestyle{empty}&#10;\begin{document}&#10;{\sffamily{&#10;$\Omega$&#10;}}&#10;\end{document}"/>
  <p:tag name="IGUANATEXSIZE" val="20"/>
  <p:tag name="IGUANATEXCURSOR" val="120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2,2385"/>
  <p:tag name="ORIGINALWIDTH" val="153,7308"/>
  <p:tag name="LATEXADDIN" val="\documentclass{article}&#10;\usepackage{amsmath}&#10;\usepackage{amssymb}&#10;\pagestyle{empty}&#10;\begin{document}&#10;{\sffamily{&#10;$\partial \Omega$&#10;}}&#10;\end{document}"/>
  <p:tag name="IGUANATEXSIZE" val="20"/>
  <p:tag name="IGUANATEXCURSOR" val="129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80,1276"/>
  <p:tag name="ORIGINALWIDTH" val="2555,681"/>
  <p:tag name="LATEXADDIN" val="\documentclass{article}&#10;\usepackage{amsmath}&#10;\usepackage{amssymb}&#10;\pagestyle{empty}&#10;\begin{document}&#10;\begin{minipage}{10 cm}&#10;{\sffamily{&#10;The identity&#10;$$&#10;\int_{\Omega} \left( u_t + \textrm{div}(\Phi) - f \right) \, \textrm{d} x \, \, = \, \, 0 \, &#10;$$&#10;leads to the strong formulation\\[2mm]&#10;$$&#10;u_t \, \, = \, \, -\textrm{div}(\Phi) + f \, .&#10;$$&#10;}}&#10;\end{minipage}&#10;\end{document}"/>
  <p:tag name="IGUANATEXSIZE" val="20"/>
  <p:tag name="IGUANATEXCURSOR" val="250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4,74315"/>
  <p:tag name="ORIGINALWIDTH" val="59,2426"/>
  <p:tag name="LATEXADDIN" val="\documentclass{article}&#10;\usepackage{amsmath}&#10;\usepackage{amssymb}&#10;\pagestyle{empty}&#10;\begin{document}&#10;{\sffamily{&#10;$\nu$&#10;}}&#10;\end{document}"/>
  <p:tag name="IGUANATEXSIZE" val="20"/>
  <p:tag name="IGUANATEXCURSOR" val="117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,73945"/>
  <p:tag name="ORIGINALWIDTH" val="76,49047"/>
  <p:tag name="LATEXADDIN" val="\documentclass{article}&#10;\usepackage{amsmath}&#10;\usepackage{amssymb}&#10;\pagestyle{empty}&#10;\begin{document}&#10;{\sffamily{&#10;$\Phi$&#10;}}&#10;\end{document}"/>
  <p:tag name="IGUANATEXSIZE" val="20"/>
  <p:tag name="IGUANATEXCURSOR" val="118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,2358"/>
  <p:tag name="ORIGINALWIDTH" val="62,99213"/>
  <p:tag name="LATEXADDIN" val="\documentclass{article}&#10;\usepackage{amsmath}&#10;\usepackage{amssymb}&#10;\pagestyle{empty}&#10;\begin{document}&#10;{\sffamily{&#10;$f$&#10;}}&#10;\end{document}"/>
  <p:tag name="IGUANATEXSIZE" val="20"/>
  <p:tag name="IGUANATEXCURSOR" val="115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98,763"/>
  <p:tag name="ORIGINALWIDTH" val="5031,122"/>
  <p:tag name="LATEXADDIN" val="\documentclass{article}&#10;\usepackage{amsmath}&#10;\usepackage{amssymb}&#10;\pagestyle{empty}&#10;\begin{document}&#10;\begin{minipage}{14.2 cm}&#10;{\sffamily{&#10;The flux $\Phi$ through the boundary consits of a part $\Phi_{\rm{diff}}$ that is due to the diffusion of amoebae and a part $\Phi_{\rm{chem}}$ that is due to chemotaxis flux:&#10;$$&#10;\Phi \, \, = \, \, \Phi_{\rm{diff}} \, + \, \Phi_{\rm{chem}} \, .&#10;$$&#10;For $\Phi_{\rm{diff}}$:&#10;\begin{itemize}&#10;\item The diffusion of amoebae follows {\bf{Frick's law of diffusion}}, i.e. under the assumption of steady state, the flux goes from regions of high concentration to regions of low concentration, with a magnitude that is proportional to the concentration gradient:&#10;$$&#10;\Phi_{\rm{diff}} \, \, = \, \, - d_1 \nabla u \, , &#10;$$&#10;with a diffusion coefficient $d_1 \geq 0$.&#10;\end{itemize}&#10;}}&#10;\end{minipage}&#10;\end{document}"/>
  <p:tag name="IGUANATEXSIZE" val="20"/>
  <p:tag name="IGUANATEXCURSOR" val="794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82,302"/>
  <p:tag name="ORIGINALWIDTH" val="5022,873"/>
  <p:tag name="LATEXADDIN" val="\documentclass{article}&#10;\usepackage{amsmath}&#10;\usepackage{amssymb}&#10;\pagestyle{empty}&#10;\begin{document}&#10;\begin{minipage}{14.2 cm}&#10;{\sffamily{&#10;The flux $\Phi$ through the boundary consits of a part $\Phi_{\rm{diff}}$ that is due to the diffusion of amoebae and a part $\Phi_{\rm{chem}}$ that is due to chemotaxis flux:&#10;$$&#10;\Phi \, \, = \, \, \Phi_{\rm{diff}} \, + \, \Phi_{\rm{chem}} \, .&#10;$$&#10;For $\Phi_{\rm{chem}}$:&#10;\begin{itemize}&#10;\item In the cheomtaxis flux the amoebae density follows the direction of the highest chemical signal concentration: &#10;$$&#10;\Phi_{\rm{chem}} \, \, = \, \, \chi u \nabla v \, ,&#10;$$&#10;with a cheomtaxis coefficient $\chi \geq 0$.&#10;\end{itemize}&#10;}}&#10;\end{minipage}&#10;\end{document}"/>
  <p:tag name="IGUANATEXSIZE" val="20"/>
  <p:tag name="IGUANATEXCURSOR" val="427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87,4391"/>
  <p:tag name="ORIGINALWIDTH" val="4155,231"/>
  <p:tag name="LATEXADDIN" val="\documentclass{article}&#10;\usepackage{amsmath}&#10;\usepackage{amssymb}&#10;\pagestyle{empty}&#10;\begin{document}&#10;\begin{minipage}{14.2 cm}&#10;{\sffamily{&#10;Thus, the {\bf{amoebae density variation over time}} is given by\\[2mm]&#10;$$&#10;u_t \, \, = \, \, \textrm{div}\left( d_1 \nabla u - \chi u \nabla v \right) \, + \, f&#10;\, \, \stackrel{*}{=} \, \, d_1 \Delta u - \chi \textrm{div}\left( u \nabla v \right) \, + \, f \, .&#10;$$&#10;}}&#10;\end{minipage}&#10;\end{document}"/>
  <p:tag name="IGUANATEXSIZE" val="20"/>
  <p:tag name="IGUANATEXCURSOR" val="404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24,072"/>
  <p:tag name="ORIGINALWIDTH" val="5025,872"/>
  <p:tag name="LATEXADDIN" val="\documentclass{article}&#10;\usepackage{amsmath}&#10;\usepackage{amssymb}&#10;\pagestyle{empty}&#10;\begin{document}&#10;\begin{minipage}{14.2 cm}&#10;{\sffamily{&#10;Analogously, the {\bf{variation of the chemical signal concentration over time}} is derived as\\[2mm]&#10;$$&#10;v_t \, \, = \, \, \textrm{div}\left( d_2 \nabla v \right) \, + \, g \, - \, h &#10;\, \, \stackrel{*}{=} \, \, d_2 \Delta v \, + \, g \, - \, h \, ,&#10;$$\\[2mm]&#10;where $d_2 \geq 0$ is a diffusion coefficient, and&#10;\begin{itemize}&#10;\item $g$ regulates the production of the chemical signal, and&#10;\item $h$ regulates the degradation of the chemical signal.&#10;\end{itemize}&#10;}}&#10;\end{minipage}&#10;\end{document}"/>
  <p:tag name="IGUANATEXSIZE" val="20"/>
  <p:tag name="IGUANATEXCURSOR" val="139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71,316"/>
  <p:tag name="ORIGINALWIDTH" val="4260,968"/>
  <p:tag name="LATEXADDIN" val="\documentclass{article}&#10;\usepackage{amsmath}&#10;\usepackage{amssymb}&#10;\pagestyle{empty}&#10;\begin{document}&#10;\begin{minipage}{14.2 cm}&#10;{\sffamily{&#10;The complete Keller-Segel model (KS-model)&#10;$$&#10;u_t \, \, = \, \, \textrm{div}\left( d_1 \nabla u - \chi u \nabla v \right) \, + \, f \, ,&#10;\qquad&#10;v_t \, \, = \, \, \textrm{div}\left( d_2 \nabla v \right) \, + \, g \, - \, h \, ,&#10;$$&#10;gives rise to a simplified KS-model (parabolic quasi-linear equation):&#10;\begin{eqnarray*}&#10;u_t &amp; = &amp; d_1 \Delta u - \chi \textrm{div}\left(u \nabla v \right)\\[2mm]&#10;v_t &amp; = &amp; d_2 \Delta v \, + \, a u \, - \, b v &#10;\end{eqnarray*}&#10;under some additional assumptions.&#10;}}&#10;\end{minipage}&#10;\end{document}"/>
  <p:tag name="IGUANATEXSIZE" val="20"/>
  <p:tag name="IGUANATEXCURSOR" val="631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82,077"/>
  <p:tag name="ORIGINALWIDTH" val="5022,873"/>
  <p:tag name="LATEXADDIN" val="\documentclass{article}&#10;\usepackage{amsmath}&#10;\usepackage{amssymb}&#10;\pagestyle{empty}&#10;\begin{document}&#10;\begin{minipage}{14.2 cm}&#10;{\sffamily{&#10;These additional assumptions are:&#10;\begin{itemize}&#10;\item the non-negative coefficients $d_1, d_2, \chi$ are constant,&#10;\item amoebae neither reproduce nor die (i.e. $f \equiv 0$),&#10;\item the chemical signal is produced with a constant rate and is proportional to the amoebae concentration, i.e. $g = a u$,&#10;\item the chemical signal degrades with a constant rate proportional to its concentration, i.e. $h = b v$.&#10;\end{itemize}&#10;}}&#10;\end{minipage}&#10;\end{document}"/>
  <p:tag name="IGUANATEXSIZE" val="20"/>
  <p:tag name="IGUANATEXCURSOR" val="139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0,4537"/>
  <p:tag name="ORIGINALWIDTH" val="1497,563"/>
  <p:tag name="LATEXADDIN" val="\documentclass{article}&#10;\usepackage{amsmath}&#10;\usepackage{amssymb}&#10;\pagestyle{empty}&#10;\begin{document}&#10;\begin{minipage}{14.2 cm}&#10;{\sffamily{&#10;\begin{eqnarray*}&#10;u_t &amp; = &amp; d_1 \Delta u - \chi \textrm{div}\left(u \nabla v \right)\\[2mm]&#10;v_t &amp; = &amp; d_2 \Delta v \, + \, a u \, - \, b v &#10;\end{eqnarray*}&#10;}}&#10;\end{minipage}&#10;\end{document}"/>
  <p:tag name="IGUANATEXSIZE" val="20"/>
  <p:tag name="IGUANATEXCURSOR" val="139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82,4522"/>
  <p:tag name="ORIGINALWIDTH" val="1772,779"/>
  <p:tag name="LATEXADDIN" val="\documentclass{article}&#10;\usepackage{amsmath}&#10;\usepackage{amssymb}&#10;\pagestyle{empty}&#10;\begin{document}&#10;\begin{minipage}{14.2 cm}&#10;{\sffamily{&#10;\begin{eqnarray*}&#10;u_t &amp; = &amp; \textrm{div}\left( d_1 \nabla u - \chi u \nabla v \right) \, + \, f\\[2mm]&#10;v_t &amp; = &amp; \textrm{div}\left( d_2 \nabla v \right) \, + \, g \, - \, h &#10;\end{eqnarray*}&#10;}}&#10;\end{minipage}&#10;\end{document}"/>
  <p:tag name="IGUANATEXSIZE" val="20"/>
  <p:tag name="IGUANATEXCURSOR" val="328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0,4537"/>
  <p:tag name="ORIGINALWIDTH" val="1497,563"/>
  <p:tag name="LATEXADDIN" val="\documentclass{article}&#10;\usepackage{amsmath}&#10;\usepackage{amssymb}&#10;\pagestyle{empty}&#10;\begin{document}&#10;{\sffamily{&#10;\begin{eqnarray*}&#10;u_t &amp; = &amp; d_1 \Delta u - \chi \textrm{div}\left(u \nabla v \right)\\[2mm]&#10;v_t &amp; = &amp; d_2 \Delta v \, + \, a u \, - \, b v &#10;\end{eqnarray*}&#10;}}&#10;\end{document}"/>
  <p:tag name="IGUANATEXSIZE" val="20"/>
  <p:tag name="IGUANATEXCURSOR" val="113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87,964"/>
  <p:tag name="ORIGINALWIDTH" val="4517,436"/>
  <p:tag name="LATEXADDIN" val="\documentclass{article}&#10;\usepackage{amsmath}&#10;\usepackage{amssymb}&#10;\pagestyle{empty}&#10;\begin{document}&#10;\begin{minipage}{14.7 cm}&#10;{\sffamily{&#10;{\bf{Existence and Uniqueness of Solutions of Quasi-Linear Systems:}}\\[1mm]&#10;Suppose the following conditions are fullfilled for&#10;$$&#10;\left\{&#10;\begin{array}{c}&#10;u_t - a_{i,j}(x,t,u) u_{x_i,x_j} + b_i(x,t,u,u_x) u_{x_i} + b(x,t,u,u_x) \, = \, 0 \\[2mm]&#10;u_{|\partial \Omega} \, = \, 0 \, , \qquad u_{|t=0} \, = \, \varphi_0(x)&#10;\end{array}&#10;\right.&#10;$$&#10;on the space-time cylinder $Q_T = \Omega \times (0, T)$:&#10;\begin{enumerate}&#10;\item For all $(x,t) \in \overline{Q_T} \setminus \partial Q_T$ and arbitrary $u$ the following two inequalities are valid:&#10;$$&#10;a_{i,j}(x,t,u) \xi_i \xi_j \, \geq \, 0&#10;$$&#10;and&#10;$$&#10;b^{\ell}(x,t,u,p) u^{\ell} \, \geq \, -c_1 \|u\|^2 - c_2 \, , \qquad&#10;c_1, c_2 \, \geq \, 0 \quad \text{(const.)} \, .&#10;$$&#10;\end{enumerate}&#10;[\dots]&#10;}}&#10;\end{minipage}&#10;\end{document}"/>
  <p:tag name="IGUANATEXSIZE" val="20"/>
  <p:tag name="IGUANATEXCURSOR" val="879"/>
  <p:tag name="TRANSPARENCY" val="Wahr"/>
  <p:tag name="FILENAME" val=""/>
  <p:tag name="LATEXENGINEID" val="0"/>
  <p:tag name="TEMPFOLDER" val="C:\Users\Public\temp\"/>
  <p:tag name="LATEXFORMHEIGHT" val="442,5"/>
  <p:tag name="LATEXFORMWIDTH" val="594,75"/>
  <p:tag name="LATEXFORMWRAP" val="Wahr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51,969"/>
  <p:tag name="ORIGINALWIDTH" val="5029,622"/>
  <p:tag name="LATEXADDIN" val="\documentclass{article}&#10;\usepackage{amsmath}&#10;\usepackage{amssymb}&#10;\pagestyle{empty}&#10;\begin{document}&#10;\begin{minipage}{15 cm}&#10;{\sffamily{&#10;\begin{enumerate}&#10;\setcounter{enumi}{1}&#10;\item For all $(x,t) \in Q_T$, $\| u \| \leq M$, where $M$ is defined as&#10;$$&#10;\max_{Q_T} \| u(x,t) \| \, \leq \, \min_{c &gt; c_i} {\rm{e}}^{cT} \left( \max_{\Omega} \|u(x,0)\| + \sqrt{\frac{c_2}{c-c_1}} \right) \, =: \, M \, ,&#10;$$&#10;and arbitrary $p$ the functions&#10;$$&#10;a_{i,j}(x,t,u) \, , \quad b_i(x,t,u,p) \, , \quad b^{\ell}(x,t,u,p) \, , \quad&#10;\frac{\partial a_{i,j}}{\partial x_k} \, , \quad \frac{\partial a_{i,j}}{\partial u^{\ell}}&#10;$$&#10;are continuous and satisfy the inequalities&#10;$$&#10;\nu(\|u\|) \xi^2 \, \leq \, a_{i,j}(x,t,u) \xi_i \xi_j \, \leq \, \mu(\|u\|) \xi^2 \, , \qquad \nu \, &gt; \, 0 \, ,&#10;$$&#10;$$&#10;\| b_i(x,t,u,p) \| \, \leq \, \mu(\|u\|) (1+ \|p\|) \, , \quad&#10;\| b(x,t,u,p) \| \, \leq \, \left( \varepsilon(\|u\|) + P(\|p\|, \|u\|)\right) (1+ \|p\|)^2 \, ,&#10;$$&#10;where $P(\|p\|, \|u\|)\to 0$ for $\|p\| \to \infty$, while $\varepsilon(M)$ is a suffieicntly small number, [\dots]&#10;\end{enumerate}&#10;}}&#10;\end{minipage}&#10;\end{document}"/>
  <p:tag name="IGUANATEXSIZE" val="20"/>
  <p:tag name="IGUANATEXCURSOR" val="1057"/>
  <p:tag name="TRANSPARENCY" val="Wahr"/>
  <p:tag name="FILENAME" val=""/>
  <p:tag name="LATEXENGINEID" val="0"/>
  <p:tag name="TEMPFOLDER" val="C:\Users\Public\temp\"/>
  <p:tag name="LATEXFORMHEIGHT" val="553"/>
  <p:tag name="LATEXFORMWIDTH" val="594,75"/>
  <p:tag name="LATEXFORMWRAP" val="Wahr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29,059"/>
  <p:tag name="ORIGINALWIDTH" val="4435,696"/>
  <p:tag name="LATEXADDIN" val="\documentclass{article}&#10;\usepackage{amsmath}&#10;\usepackage{amssymb}&#10;\pagestyle{empty}&#10;\begin{document}&#10;\begin{minipage}{15 cm}&#10;{\sffamily{&#10;\begin{enumerate}&#10;\setcounter{enumi}{1}&#10;\item {[continued]}, as well as&#10;$$&#10;\left| \frac{\partial a_{i,j}(x,t,u)}{\partial x_k} \, , \, \frac{\partial a_{i,j}(x,t,u)}{\partial u^{\ell}} \right| \, \leq \, \mu(\| u \|) \, .&#10;$$&#10;In this sense, condition 2. gives an a priori estimate for the solution:&#10;$$&#10;\max_{Q_T} \|u_x\| \leq M_1 \, ,&#10;$$&#10;where $M_1$ depends on the previous conditions 1., 2., $\partial \Omega$, and $\max_{\Omega}\|u_x(x,0)\|$.&#10;\end{enumerate}&#10;[\dots]&#10;}}&#10;\end{minipage}&#10;\end{document}"/>
  <p:tag name="IGUANATEXSIZE" val="20"/>
  <p:tag name="IGUANATEXCURSOR" val="474"/>
  <p:tag name="TRANSPARENCY" val="Wahr"/>
  <p:tag name="FILENAME" val=""/>
  <p:tag name="LATEXENGINEID" val="0"/>
  <p:tag name="TEMPFOLDER" val="C:\Users\Public\temp\"/>
  <p:tag name="LATEXFORMHEIGHT" val="368,5"/>
  <p:tag name="LATEXFORMWIDTH" val="594,75"/>
  <p:tag name="LATEXFORMWRAP" val="Wahr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11,474"/>
  <p:tag name="ORIGINALWIDTH" val="5190,852"/>
  <p:tag name="LATEXADDIN" val="\documentclass{article}&#10;\usepackage{amsmath}&#10;\usepackage{amssymb}&#10;\pagestyle{empty}&#10;\begin{document}&#10;\begin{minipage}{14.7 cm}&#10;{\sffamily{&#10;\begin{enumerate}&#10;\setcounter{enumi}{2}&#10;\item For $(x,t) \in \overline{Q_T}$, $\|u\| \leq M$, and $\| p \| \leq M_1$ the first derivatives of the functions $a_{i,j}(x,t,u)$, $b_i(x,t,u,p)$, $b^{\ell}(x,t,u,p)$ with respect to $x$, $t$, $u$, $p$, and the second derivatives $\partial^2 a_{i,j}/ \partial u^{\ell} \partial u^{m}$, $\partial^2 a_{i,j}/ \partial u^{\ell} \partial x_k$, $\partial^2 a_{i,j}/ \partial u^{\ell} \partial t$, $\partial^2 a_{i,j}/ \partial x_k \partial t$ are continuous.&#10;\item The trace $\varphi_0(x) \in H^{2+\beta}{\overline{\Omega}}$ satisfies the compatibility conditions&#10;$$&#10;{\varphi_0}_{|x \in \partial \Omega} \, \, = \, \, 0 \, ,&#10;$$&#10;and, for $\ell = 1, 2, \dots, N$,&#10;$$&#10;\left( -a_{i,j}(x,0,0) \varphi^{\ell}_{0,x_i,x_j} - b_i(x,0,0,\varphi_{0,x}) \varphi^{\ell}_{0,x_i} + b^{\ell}(x,0,0,\varphi_{0,x}) \right)_{|x \in \partial \Omega} \, \, = \, \, 0 \, .&#10;$$&#10;\item $\partial \Omega \in H^{2+\beta}$.&#10;\end{enumerate}&#10;Then, in the class $H^{2+\beta, 1+\beta/2}(\overline{Q_T})$ there exists a unique solution $u(x,t)$.&#10;}}&#10;\end{minipage}&#10;\end{document}"/>
  <p:tag name="IGUANATEXSIZE" val="20"/>
  <p:tag name="IGUANATEXCURSOR" val="177"/>
  <p:tag name="TRANSPARENCY" val="Wahr"/>
  <p:tag name="FILENAME" val=""/>
  <p:tag name="LATEXENGINEID" val="0"/>
  <p:tag name="TEMPFOLDER" val="C:\Users\Public\temp\"/>
  <p:tag name="LATEXFORMHEIGHT" val="379,5"/>
  <p:tag name="LATEXFORMWIDTH" val="594,75"/>
  <p:tag name="LATEXFORMWRAP" val="Wahr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0,4537"/>
  <p:tag name="ORIGINALWIDTH" val="1497,563"/>
  <p:tag name="LATEXADDIN" val="\documentclass{article}&#10;\usepackage{amsmath}&#10;\usepackage{amssymb}&#10;\pagestyle{empty}&#10;\begin{document}&#10;{\sffamily{&#10;\begin{eqnarray*}&#10;u_t &amp; = &amp; d_1 \Delta u - \chi \textrm{div}\left(u \nabla v \right)\\[2mm]&#10;v_t &amp; = &amp; d_2 \Delta v \, + \, a u \, - \, b v &#10;\end{eqnarray*}&#10;}}&#10;\end{document}"/>
  <p:tag name="IGUANATEXSIZE" val="20"/>
  <p:tag name="IGUANATEXCURSOR" val="113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0,4537"/>
  <p:tag name="ORIGINALWIDTH" val="1497,563"/>
  <p:tag name="LATEXADDIN" val="\documentclass{article}&#10;\usepackage{amsmath}&#10;\usepackage{amssymb}&#10;\pagestyle{empty}&#10;\begin{document}&#10;{\sffamily{&#10;\begin{eqnarray*}&#10;u_t &amp; = &amp; d_1 \Delta u - \chi \textrm{div}\left(u \nabla v \right)\\[2mm]&#10;v_t &amp; = &amp; d_2 \Delta v \, + \, a u \, - \, b v &#10;\end{eqnarray*}&#10;}}&#10;\end{document}"/>
  <p:tag name="IGUANATEXSIZE" val="20"/>
  <p:tag name="IGUANATEXCURSOR" val="113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0,4537"/>
  <p:tag name="ORIGINALWIDTH" val="1497,563"/>
  <p:tag name="LATEXADDIN" val="\documentclass{article}&#10;\usepackage{amsmath}&#10;\usepackage{amssymb}&#10;\pagestyle{empty}&#10;\begin{document}&#10;{\sffamily{&#10;\begin{eqnarray*}&#10;u_t &amp; = &amp; d_1 \Delta u - \chi \textrm{div}\left(u \nabla v \right)\\[2mm]&#10;v_t &amp; = &amp; d_2 \Delta v \, + \, a u \, - \, b v &#10;\end{eqnarray*}&#10;}}&#10;\end{document}"/>
  <p:tag name="IGUANATEXSIZE" val="20"/>
  <p:tag name="IGUANATEXCURSOR" val="113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4,447"/>
  <p:tag name="ORIGINALWIDTH" val="3218,598"/>
  <p:tag name="LATEXADDIN" val="\documentclass{article}&#10;\usepackage{amsmath}&#10;\usepackage{amssymb}&#10;\pagestyle{empty}&#10;\begin{document}&#10;{\sffamily{&#10;$$&#10;\begin{array}{r c l c l}&#10;u_t &amp; = &amp; d_1 \Delta u - \chi \textrm{div}\left(u \nabla v \right)&#10;&amp; \stackrel{1D}{=} &amp; d_1 u_{x,x} - \chi u_x v_x - \chi u v_{x, x} \\[2mm]&#10;v_t &amp; = &amp; d_2 \Delta v \, + \, a u \, - \, b v&#10;&amp; \stackrel{1D}{=} &amp; d_2 v_{x,x} \, + \, a u \, - \, b v&#10;\end{array}&#10;$$&#10;}}&#10;\end{document}"/>
  <p:tag name="IGUANATEXSIZE" val="20"/>
  <p:tag name="IGUANATEXCURSOR" val="361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7,1467"/>
  <p:tag name="ORIGINALWIDTH" val="5192,352"/>
  <p:tag name="LATEXADDIN" val="\documentclass{article}&#10;\usepackage{amsmath}&#10;\usepackage{amssymb}&#10;\pagestyle{empty}&#10;\begin{document}&#10;\begin{minipage}{14.7 cm}&#10;{\sffamily{&#10;{\bf{Step 1:}} (Equilibrium \&amp; Equilibrium Conditions)\\[1mm]&#10;An equilibrium solution $(u^*, v^*)$ of the simplified KS-model PDE is constant both in time and space. Plugged into the PDE, this leads to&#10;$$&#10;a u^* \, \, = \, \, b v^* \, ,&#10;$$&#10;i.e. at an equilibrium the chemical signal production and degradation are balanced.&#10;}}&#10;\end{minipage}&#10;\end{document}"/>
  <p:tag name="IGUANATEXSIZE" val="20"/>
  <p:tag name="IGUANATEXCURSOR" val="461"/>
  <p:tag name="TRANSPARENCY" val="Wahr"/>
  <p:tag name="FILENAME" val=""/>
  <p:tag name="LATEXENGINEID" val="0"/>
  <p:tag name="TEMPFOLDER" val="C:\Users\Public\temp\"/>
  <p:tag name="LATEXFORMHEIGHT" val="425,5"/>
  <p:tag name="LATEXFORMWIDTH" val="594,75"/>
  <p:tag name="LATEXFORMWRAP" val="Wahr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4,447"/>
  <p:tag name="ORIGINALWIDTH" val="3218,598"/>
  <p:tag name="LATEXADDIN" val="\documentclass{article}&#10;\usepackage{amsmath}&#10;\usepackage{amssymb}&#10;\pagestyle{empty}&#10;\begin{document}&#10;{\sffamily{&#10;$$&#10;\begin{array}{r c l c l}&#10;u_t &amp; = &amp; d_1 \Delta u - \chi \textrm{div}\left(u \nabla v \right)&#10;&amp; \stackrel{1D}{=} &amp; d_1 u_{x,x} - \chi u_x v_x - \chi u v_{x, x} \\[2mm]&#10;v_t &amp; = &amp; d_2 \Delta v \, + \, a u \, - \, b v&#10;&amp; \stackrel{1D}{=} &amp; d_2 v_{x,x} \, + \, a u \, - \, b v&#10;\end{array}&#10;$$&#10;}}&#10;\end{document}"/>
  <p:tag name="IGUANATEXSIZE" val="20"/>
  <p:tag name="IGUANATEXCURSOR" val="361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9,865"/>
  <p:tag name="ORIGINALWIDTH" val="4746,907"/>
  <p:tag name="LATEXADDIN" val="\documentclass{article}&#10;\usepackage{amsmath}&#10;\usepackage{amssymb}&#10;\pagestyle{empty}&#10;\begin{document}&#10;\begin{minipage}{14.7 cm}&#10;{\sffamily{&#10;{\bf{Step 2:}} (Small Perturbation of an Equilibrium)\\[1mm]&#10;Next, we consider small perturbations of an equilibrium&#10;\begin{eqnarray*}&#10;\tilde{u}(x,t) &amp; := &amp; u^* \, + \, \delta u(x,t) \\[1mm]&#10;\tilde{v}(x,t) &amp; := &amp; v^* \, + \, \delta v(x,t) &#10;\end{eqnarray*}&#10;with $\delta u$ and $\delta v$ being rather small and sufficiently smooth, where $x \in (0, \pi)$ and $t \in (0, T)$.&#10;}}&#10;\end{minipage}&#10;\end{document}"/>
  <p:tag name="IGUANATEXSIZE" val="20"/>
  <p:tag name="IGUANATEXCURSOR" val="191"/>
  <p:tag name="TRANSPARENCY" val="Wahr"/>
  <p:tag name="FILENAME" val=""/>
  <p:tag name="LATEXENGINEID" val="0"/>
  <p:tag name="TEMPFOLDER" val="D:\iguana_temp\"/>
  <p:tag name="LATEXFORMHEIGHT" val="427"/>
  <p:tag name="LATEXFORMWIDTH" val="594,75"/>
  <p:tag name="LATEXFORMWRAP" val="Wahr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70,079"/>
  <p:tag name="ORIGINALWIDTH" val="5160,105"/>
  <p:tag name="LATEXADDIN" val="\documentclass{article}&#10;\usepackage{amsmath}&#10;\usepackage{amssymb}&#10;\pagestyle{empty}&#10;\begin{document}&#10;\begin{minipage}{14.7 cm}&#10;{\sffamily{&#10;{\bf{Step 3:}} (Linearization)\\[1mm]&#10;Plugging $\tilde{u}(x,t) := u^* + \delta u(x,t)$ and $\tilde{v}(x,t) := v^* + \delta v(x,t)$ &#10;into the simplified KS-model leads to&#10;$$&#10;\begin{array}{r c l c l}&#10;\delta u_t&#10;&amp; = &amp; d_1 \delta u_{x,x} \, - \, \chi \delta u_x  \delta v_x \, - \, \chi u^* \delta v_{x, x} \, - \, \chi \delta u \delta v_{x, x}&#10;&amp; \approx &amp; d_1 \delta u_{x,x} \, - \, \chi u^* \delta v_{x, x} \, , \\[2mm]&#10;\delta v_t &amp; = &amp;&#10;d_2 \delta v_{x,x} \, + \, a u^* \, - \, b v^* + \, a \delta u \, - \, b \delta v&#10;&amp; = &amp;&#10;d_2 \delta v_{x,x} \, + \, a \delta u \, - \, b \delta v \, ,&#10;\end{array}&#10;$$&#10;where we assumed that $\delta u_x  \delta v_x$ and $\delta u \delta v_{x, x}$ are smaller than the\\ other terms and can thus be negelcted (such that we are dealing\\ with a&#10;completely linear system only).&#10;}}&#10;\end{minipage}&#10;\end{document}"/>
  <p:tag name="IGUANATEXSIZE" val="20"/>
  <p:tag name="IGUANATEXCURSOR" val="945"/>
  <p:tag name="TRANSPARENCY" val="Wahr"/>
  <p:tag name="FILENAME" val=""/>
  <p:tag name="LATEXENGINEID" val="0"/>
  <p:tag name="TEMPFOLDER" val="C:\Users\Public\temp\"/>
  <p:tag name="LATEXFORMHEIGHT" val="433,5"/>
  <p:tag name="LATEXFORMWIDTH" val="594,75"/>
  <p:tag name="LATEXFORMWRAP" val="Wahr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4,447"/>
  <p:tag name="ORIGINALWIDTH" val="3218,598"/>
  <p:tag name="LATEXADDIN" val="\documentclass{article}&#10;\usepackage{amsmath}&#10;\usepackage{amssymb}&#10;\pagestyle{empty}&#10;\begin{document}&#10;{\sffamily{&#10;$$&#10;\begin{array}{r c l c l}&#10;u_t &amp; = &amp; d_1 \Delta u - \chi \textrm{div}\left(u \nabla v \right)&#10;&amp; \stackrel{1D}{=} &amp; d_1 u_{x,x} - \chi u_x v_x - \chi u v_{x, x} \\[2mm]&#10;v_t &amp; = &amp; d_2 \Delta v \, + \, a u \, - \, b v&#10;&amp; \stackrel{1D}{=} &amp; d_2 v_{x,x} \, + \, a u \, - \, b v&#10;\end{array}&#10;$$&#10;}}&#10;\end{document}"/>
  <p:tag name="IGUANATEXSIZE" val="20"/>
  <p:tag name="IGUANATEXCURSOR" val="361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3,8809"/>
  <p:tag name="ORIGINALWIDTH" val="4341,958"/>
  <p:tag name="LATEXADDIN" val="\documentclass{article}&#10;\usepackage{amsmath}&#10;\usepackage{amssymb}&#10;\pagestyle{empty}&#10;\begin{document}&#10;\begin{minipage}{14.7 cm}&#10;{\sffamily{&#10;{\bf{Step 3:}} (Linearization)\\[1mm]&#10;[\dots]\\[2mm]&#10;&#10;Moreover, we consider vanishing Neumann boundary conditions (no-flux), i.e.&#10;$$&#10;\delta u_x(0,t) \, = \, \delta u_x(\pi,t) \, = \, 0 \qquad \text{and} \qquad&#10;\delta v_x(0,t) \, = \, \delta v_x(\pi,t) \, = \, 0 \, .&#10;$$&#10;}}&#10;\end{minipage}&#10;\end{document}"/>
  <p:tag name="IGUANATEXSIZE" val="20"/>
  <p:tag name="IGUANATEXCURSOR" val="184"/>
  <p:tag name="TRANSPARENCY" val="Wahr"/>
  <p:tag name="FILENAME" val=""/>
  <p:tag name="LATEXENGINEID" val="0"/>
  <p:tag name="TEMPFOLDER" val="C:\Users\Public\temp\"/>
  <p:tag name="LATEXFORMHEIGHT" val="406,5"/>
  <p:tag name="LATEXFORMWIDTH" val="594,75"/>
  <p:tag name="LATEXFORMWRAP" val="Wahr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4,447"/>
  <p:tag name="ORIGINALWIDTH" val="3218,598"/>
  <p:tag name="LATEXADDIN" val="\documentclass{article}&#10;\usepackage{amsmath}&#10;\usepackage{amssymb}&#10;\pagestyle{empty}&#10;\begin{document}&#10;{\sffamily{&#10;$$&#10;\begin{array}{r c l c l}&#10;u_t &amp; = &amp; d_1 \Delta u - \chi \textrm{div}\left(u \nabla v \right)&#10;&amp; \stackrel{1D}{=} &amp; d_1 u_{x,x} - \chi u_x v_x - \chi u v_{x, x} \\[2mm]&#10;v_t &amp; = &amp; d_2 \Delta v \, + \, a u \, - \, b v&#10;&amp; \stackrel{1D}{=} &amp; d_2 v_{x,x} \, + \, a u \, - \, b v&#10;\end{array}&#10;$$&#10;}}&#10;\end{document}"/>
  <p:tag name="IGUANATEXSIZE" val="20"/>
  <p:tag name="IGUANATEXCURSOR" val="361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4,567"/>
  <p:tag name="ORIGINALWIDTH" val="4556,431"/>
  <p:tag name="LATEXADDIN" val="\documentclass{article}&#10;\usepackage{amsmath}&#10;\usepackage{amssymb}&#10;\pagestyle{empty}&#10;\begin{document}&#10;\begin{minipage}{14.7 cm}&#10;{\sffamily{&#10;{\bf{Step 4:}} (The Product-Fourier Ansatz)\\[1mm]&#10;The linearized system &#10;$$&#10;\begin{array}{r c l c l}&#10;\delta u_t&#10;&amp; = &amp; d_1 \delta u_{x,x} \, - \, \chi u^* \delta v_{x, x} \, , \\[2mm]&#10;\delta v_t &amp; = &amp;&#10;d_2 \delta v_{x,x} \, + \, a \delta u \, - \, b \delta v \, ,&#10;\end{array}&#10;$$&#10;becomes&#10;$$&#10;Y_t \, \, = \, \,&#10;\underbrace{\left(\begin{array}{c c} d_1 &amp; -\chi u^* \\ 0 &amp; d_2 \end{array}\right)}_{=: \, A} \Delta Y &#10;\, + \, \underbrace{\left(\begin{array}{c c} 0 &amp; 0 \\ a &amp; -b \end{array}\right)}_{=: \, B}  Y \, ,&#10;\quad \text{where} \quad Y \, \, := \, \, \left(\begin{array}{c} \delta u \\ \delta v \end{array}\right) \, .&#10;$$&#10;}}&#10;\end{minipage}&#10;\end{document}"/>
  <p:tag name="IGUANATEXSIZE" val="20"/>
  <p:tag name="IGUANATEXCURSOR" val="762"/>
  <p:tag name="TRANSPARENCY" val="Wahr"/>
  <p:tag name="FILENAME" val=""/>
  <p:tag name="LATEXENGINEID" val="0"/>
  <p:tag name="TEMPFOLDER" val="C:\Users\Public\temp\"/>
  <p:tag name="LATEXFORMHEIGHT" val="412"/>
  <p:tag name="LATEXFORMWIDTH" val="735,75"/>
  <p:tag name="LATEXFORMWRAP" val="Wahr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69,966"/>
  <p:tag name="ORIGINALWIDTH" val="5203,6"/>
  <p:tag name="LATEXADDIN" val="\documentclass{article}&#10;\usepackage{amsmath}&#10;\usepackage{amssymb}&#10;\pagestyle{empty}&#10;\begin{document}&#10;\begin{minipage}{14.7 cm}&#10;{\sffamily{&#10;$$&#10;Y_t \, \, = \, \,&#10;\underbrace{\left(\begin{array}{c c} d_1 &amp; -\chi u^* \\ 0 &amp; d_2 \end{array}\right)}_{=: \, A} \Delta Y &#10;\, + \, \underbrace{\left(\begin{array}{c c} 0 &amp; 0 \\ a &amp; -b \end{array}\right)}_{=: \, B}  Y \, ,&#10;\quad \text{where} \quad Y \, \, := \, \, \left(\begin{array}{c} \delta u \\ \delta v \end{array}\right) \, .&#10;$$&#10;[\dots]\\[2mm]&#10;As we are dealing with sufficiently smooth perturbations $\delta u$ and $\delta v$, we can express them in terms of a Fourier series representation in the spatial $x$-coordinate. Moreover, we assume that the perturbations separate in a time- and a space-component that are connected as a product. In order to be consitent with the vanishing Neumann boundary conditions this leads to&#10;$$&#10;\delta u \, \, = \, \, \sum_{k=0}^{\infty} c_{1,k} {\rm{e}}^{\lambda_k t} \cos(k x) \, , \quad \text{and} \quad&#10;\delta v \, \, = \, \, \sum_{k=0}^{\infty} c_{2,k} {\rm{e}}^{\lambda_k t} \cos(k x) \, ,&#10;$$&#10;(Of course, the product ansatz and the use of the same exponential coefficients $\lambda_k \in \mathbb{R}$ for $\delta u$ and $\delta v$ restricts the possible perturbations.)&#10;}}&#10;\end{minipage}&#10;\end{document}"/>
  <p:tag name="IGUANATEXSIZE" val="20"/>
  <p:tag name="IGUANATEXCURSOR" val="478"/>
  <p:tag name="TRANSPARENCY" val="Wahr"/>
  <p:tag name="FILENAME" val=""/>
  <p:tag name="LATEXENGINEID" val="0"/>
  <p:tag name="TEMPFOLDER" val="C:\Users\Public\temp\"/>
  <p:tag name="LATEXFORMHEIGHT" val="363,5"/>
  <p:tag name="LATEXFORMWIDTH" val="735,75"/>
  <p:tag name="LATEXFORMWRAP" val="Wahr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07,124"/>
  <p:tag name="ORIGINALWIDTH" val="5192,352"/>
  <p:tag name="LATEXADDIN" val="\documentclass{article}&#10;\usepackage{amsmath}&#10;\usepackage{amssymb}&#10;\pagestyle{empty}&#10;\begin{document}&#10;\begin{minipage}{14.7 cm}&#10;{\sffamily{&#10;{\bf{Step 5:}} (The Eigenvalue-Problem to Determine $\lambda_k$)\\[1mm]&#10;Plugging the Product-Fourier ansatz functions into the linearized equations $Y_t = A \Delta Y + B Y$ results, for each $k = 0, 1, \dots$ with $c_{1,k}, c_{2,k} \neq 0$, into&#10;$$&#10;\lambda_k Y \, \, = \, \, -k^2 A Y + B Y \, \, = \, \, \left( B - k^2 A \right) Y \, .&#10;$$&#10;[\dots]&#10;}}&#10;\end{minipage}&#10;\end{document}"/>
  <p:tag name="IGUANATEXSIZE" val="20"/>
  <p:tag name="IGUANATEXCURSOR" val="485"/>
  <p:tag name="TRANSPARENCY" val="Wahr"/>
  <p:tag name="FILENAME" val=""/>
  <p:tag name="LATEXENGINEID" val="0"/>
  <p:tag name="TEMPFOLDER" val="C:\Users\Public\temp\"/>
  <p:tag name="LATEXFORMHEIGHT" val="447"/>
  <p:tag name="LATEXFORMWIDTH" val="735,75"/>
  <p:tag name="LATEXFORMWRAP" val="Wahr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05,999"/>
  <p:tag name="ORIGINALWIDTH" val="4988,377"/>
  <p:tag name="LATEXADDIN" val="\documentclass{article}&#10;\usepackage{amsmath}&#10;\usepackage{amssymb}&#10;\pagestyle{empty}&#10;\begin{document}&#10;\begin{minipage}{14.7 cm}&#10;{\sffamily{&#10;[\dots]\\[2mm]&#10;Thus, the $\lambda_k \in \mathbb{R}$ result as the roots of the characteristic polynomial&#10;\begin{eqnarray*}&#10;0 &amp; = &amp;&#10;\left| \begin{array}{c c} \lambda_k + k^2 d_1 &amp; -k^2 \chi u^* \\[1mm] -a &amp; \lambda_k + b + k^2 d_2&#10;\end{array}\right| \\[2mm]&#10;&amp; = &amp;&#10;\lambda_k^2 + \underbrace{\left( k^2 (d_1 + d_2) + b \right)}_{=: \, \alpha \, \geq \, 0} \lambda_k&#10;+ k^2 \underbrace{\left( d_1 d_2 k^2 + d_1 b - a \chi u^* \right)}_{=: \, \beta} \, ,&#10;\end{eqnarray*}&#10;and by virtue of Descarte's sign rule positive values of $\lambda_k$ (instability) result from $\beta &lt; 0$ only.\\&#10;&#10;\begin{center}&#10;$\Rightarrow$ Stability/ Instability depends on the realtion between $d_1 (d_2 k^2 + b)$ and $a \chi u^*$ (for $k \neq 0$)&#10;\end{center}&#10;}}&#10;\end{minipage}&#10;\end{document}"/>
  <p:tag name="IGUANATEXSIZE" val="20"/>
  <p:tag name="IGUANATEXCURSOR" val="138"/>
  <p:tag name="TRANSPARENCY" val="Wahr"/>
  <p:tag name="FILENAME" val=""/>
  <p:tag name="LATEXENGINEID" val="0"/>
  <p:tag name="TEMPFOLDER" val="C:\Users\Public\temp\"/>
  <p:tag name="LATEXFORMHEIGHT" val="452,5"/>
  <p:tag name="LATEXFORMWIDTH" val="735,75"/>
  <p:tag name="LATEXFORMWRAP" val="Wahr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0,4537"/>
  <p:tag name="ORIGINALWIDTH" val="1497,563"/>
  <p:tag name="LATEXADDIN" val="\documentclass{article}&#10;\usepackage{amsmath}&#10;\usepackage{amssymb}&#10;\pagestyle{empty}&#10;\begin{document}&#10;{\sffamily{&#10;\begin{eqnarray*}&#10;u_t &amp; = &amp; d_1 \Delta u - \chi \textrm{div}\left(u \nabla v \right)\\[2mm]&#10;v_t &amp; = &amp; d_2 \Delta v \, + \, a u \, - \, b v &#10;\end{eqnarray*}&#10;}}&#10;\end{document}"/>
  <p:tag name="IGUANATEXSIZE" val="20"/>
  <p:tag name="IGUANATEXCURSOR" val="113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24,447"/>
  <p:tag name="ORIGINALWIDTH" val="3218,598"/>
  <p:tag name="LATEXADDIN" val="\documentclass{article}&#10;\usepackage{amsmath}&#10;\usepackage{amssymb}&#10;\pagestyle{empty}&#10;\begin{document}&#10;{\sffamily{&#10;$$&#10;\begin{array}{r c l c l}&#10;u_t &amp; = &amp; d_1 \Delta u - \chi \textrm{div}\left(u \nabla v \right)&#10;&amp; \stackrel{1D}{=} &amp; d_1 u_{x,x} - \chi u_x v_x - \chi u v_{x, x} \\[2mm]&#10;v_t &amp; = &amp; d_2 \Delta v \, + \, a u \, - \, b v&#10;&amp; \stackrel{1D}{=} &amp; d_2 v_{x,x} \, + \, a u \, - \, b v&#10;\end{array}&#10;$$&#10;}}&#10;\end{document}"/>
  <p:tag name="IGUANATEXSIZE" val="20"/>
  <p:tag name="IGUANATEXCURSOR" val="361"/>
  <p:tag name="TRANSPARENCY" val="Wahr"/>
  <p:tag name="FILENAME" val=""/>
  <p:tag name="LATEXENGINEID" val="0"/>
  <p:tag name="TEMPFOLDER" val="D:\iguana_temp\"/>
  <p:tag name="LATEXFORMHEIGHT" val="591,75"/>
  <p:tag name="LATEXFORMWIDTH" val="594,75"/>
  <p:tag name="LATEXFORMWRAP" val="Wahr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9,359"/>
  <p:tag name="ORIGINALWIDTH" val="5199,851"/>
  <p:tag name="LATEXADDIN" val="\documentclass{article}&#10;\usepackage{amsmath}&#10;\usepackage{amssymb}&#10;\pagestyle{empty}&#10;\begin{document}&#10;\begin{minipage}{14.7 cm}&#10;{\sffamily{&#10;{\bf{Finite-Differences}} for the interior points of the discetized space-time-mesh (with central difference quotients for the spatial derivaties):&#10;\begin{eqnarray*}&#10;u^{n+1}_i &amp; = &amp; u_i^n + \left( d_1 \frac{u_{i+1}^n - 2 u_i^n + u_{i-1}^n}{(\Delta x)^2}&#10;- \chi \frac{u_{i+1}^n - u_{i-1}^n}{2 \Delta x} \frac{v_{i+1}^n - v_{i-1}^n}{2 \Delta x}&#10;- \chi \frac{v_{i+1}^n - 2 v_i^n + v_{i-1}^n}{(\Delta x)^2} \right) \Delta t\\[2mm]&#10;v^{n+1}_i &amp; = &amp; v_i^n + \left( d_2 \frac{u_{i+1}^n - 2 u_i^n + u_{i-1}^n}{(\Delta x)^2}&#10;+ a u_i^n - b v_i^n \right) \Delta t&#10;\end{eqnarray*}&#10;}}&#10;\end{minipage}&#10;\end{document}"/>
  <p:tag name="IGUANATEXSIZE" val="20"/>
  <p:tag name="IGUANATEXCURSOR" val="162"/>
  <p:tag name="TRANSPARENCY" val="Wahr"/>
  <p:tag name="FILENAME" val=""/>
  <p:tag name="LATEXENGINEID" val="0"/>
  <p:tag name="TEMPFOLDER" val="D:\iguana_temp\"/>
  <p:tag name="LATEXFORMHEIGHT" val="591,75"/>
  <p:tag name="LATEXFORMWIDTH" val="735,75"/>
  <p:tag name="LATEXFORMWRAP" val="Wahr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50,6563"/>
  <p:tag name="ORIGINALWIDTH" val="3725,535"/>
  <p:tag name="LATEXADDIN" val="\documentclass{article}&#10;\usepackage{amsmath}&#10;\usepackage{amssymb}&#10;\pagestyle{empty}&#10;\begin{document}&#10;\begin{minipage}{14.7 cm}&#10;{\sffamily{&#10;For instance at the left boundary ($i=1$), we have&#10;$$&#10;\left\{ \begin{array}{r c l}&#10;0 \, \, = \, \, {u_x}_{|\partial \Omega} \, \, \approx \, \, \frac{u^n_2 - u^n_0}{2 \Delta}&#10;&amp; \, \, \Rightarrow \, \, &amp; &#10;u^n_0 \, \, = \, \, u^n_2 \\[4mm]&#10;0 \, \, = \, \, {v_x}_{|\partial \Omega} \, \, \approx \, \, \frac{v^n_2 - v^n_0}{2 \Delta}&#10;&amp; \, \, \Rightarrow \, \, &amp; &#10;v^n_0 \, \, = \, \, v^n_2&#10;\end{array} \right.&#10;$$&#10;}}&#10;\end{minipage}&#10;\end{document}"/>
  <p:tag name="IGUANATEXSIZE" val="20"/>
  <p:tag name="IGUANATEXCURSOR" val="547"/>
  <p:tag name="TRANSPARENCY" val="Wahr"/>
  <p:tag name="FILENAME" val=""/>
  <p:tag name="LATEXENGINEID" val="0"/>
  <p:tag name="TEMPFOLDER" val="C:\Users\Public\temp\"/>
  <p:tag name="LATEXFORMHEIGHT" val="479,5"/>
  <p:tag name="LATEXFORMWIDTH" val="735,75"/>
  <p:tag name="LATEXFORMWRAP" val="Wahr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60,818"/>
  <p:tag name="ORIGINALWIDTH" val="5200,6"/>
  <p:tag name="LATEXADDIN" val="\documentclass{article}&#10;\usepackage{amsmath}&#10;\usepackage{amssymb}&#10;\pagestyle{empty}&#10;\begin{document}&#10;\begin{minipage}{14.7 cm}&#10;{\sffamily{&#10;For instance at the left boundary ($i=1$), we have&#10;$$&#10;\left\{ \begin{array}{r c l}&#10;0 \, \, = \, \, {u_x}_{|\partial \Omega} \, \, \approx \, \, \frac{u^n_2 - u^n_0}{2 \Delta}&#10;&amp; \, \, \Rightarrow \, \, &amp; &#10;u^n_0 \, \, = \, \, u^n_2 \\[4mm]&#10;0 \, \, = \, \, {v_x}_{|\partial \Omega} \, \, \approx \, \, \frac{v^n_2 - v^n_0}{2 \Delta}&#10;&amp; \, \, \Rightarrow \, \, &amp; &#10;v^n_0 \, \, = \, \, v^n_2&#10;\end{array} \right.&#10;$$&#10;such that we can replace $u^n_0$ and $v^n_0$ (points on the fictitious layer) in previous the finite-difference scheme in order to apply it to boundary points.\\&#10;&#10;The same line of argumentation holds for the right boundary ($i=N$).&#10;}}&#10;\end{minipage}&#10;\end{document}"/>
  <p:tag name="IGUANATEXSIZE" val="20"/>
  <p:tag name="IGUANATEXCURSOR" val="778"/>
  <p:tag name="TRANSPARENCY" val="Wahr"/>
  <p:tag name="FILENAME" val=""/>
  <p:tag name="LATEXENGINEID" val="0"/>
  <p:tag name="TEMPFOLDER" val="D:\iguana_temp\"/>
  <p:tag name="LATEXFORMHEIGHT" val="591,75"/>
  <p:tag name="LATEXFORMWIDTH" val="735,75"/>
  <p:tag name="LATEXFORMWRAP" val="Wahr"/>
  <p:tag name="BITMAPVECTOR" val="0"/>
</p:tagLst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3364</Words>
  <Application>Microsoft Office PowerPoint</Application>
  <PresentationFormat>Bildschirmpräsentation (16:9)</PresentationFormat>
  <Paragraphs>410</Paragraphs>
  <Slides>57</Slides>
  <Notes>1</Notes>
  <HiddenSlides>6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57</vt:i4>
      </vt:variant>
    </vt:vector>
  </HeadingPairs>
  <TitlesOfParts>
    <vt:vector size="62" baseType="lpstr">
      <vt:lpstr>Courier New</vt:lpstr>
      <vt:lpstr>Symbol</vt:lpstr>
      <vt:lpstr>Calibri</vt:lpstr>
      <vt:lpstr>Arial</vt:lpstr>
      <vt:lpstr>Larissa-Design</vt:lpstr>
      <vt:lpstr>Computational Biomathematics</vt:lpstr>
      <vt:lpstr>With over 700 sub-species slime molds form a variety-rich life-form that exhibits very interesting life phases</vt:lpstr>
      <vt:lpstr>Slime molds are globally widespread with a preference to the temperate climate zone (1/ 2)</vt:lpstr>
      <vt:lpstr>Slime molds are globally widespread with a preference to the temperate climate zone (2/ 2)</vt:lpstr>
      <vt:lpstr>Plasmodial slime mold amoebae generate geodesic-path minimizing networks, other may form aggregations that act as a single organism (1/ 2)</vt:lpstr>
      <vt:lpstr>Plasmodial slime mold amoebae generate geodesic-path minimizing networks, other may form aggregations that act as a single organism (1/ 2)</vt:lpstr>
      <vt:lpstr>From the taxiomatic point of view slime molds belong to the kingdom of Protists and can be separated into plasmodial and cellular types</vt:lpstr>
      <vt:lpstr>Our key protagonist is the cellular slime mold dictyostelium discoideum that exhibits very interesting social life phases (1/ 3)</vt:lpstr>
      <vt:lpstr>Our key protagonist is the cellular slime mold dictyostelium discoideum that exhibits very interesting social life phases (2/ 3)</vt:lpstr>
      <vt:lpstr>Our key protagonist is the cellular slime mold dictyostelium discoideum that exhibits very interesting social life phases (3/ 3) </vt:lpstr>
      <vt:lpstr>We start by discussing the cell communication (in particular cell aggregation) in dictyostelium discoideum …</vt:lpstr>
      <vt:lpstr>… and then continue with cell differentiation</vt:lpstr>
      <vt:lpstr>dictyBase: dictyostelium discoideum online</vt:lpstr>
      <vt:lpstr>PowerPoint-Präsentation</vt:lpstr>
      <vt:lpstr>Chemotaxis: the dictyostelium discoideum amoebae aggregate following increasing concentrations of cAMP</vt:lpstr>
      <vt:lpstr>Biochemically, this chemotaxis is activated by cAMP and regulated by Phosphodiesterase</vt:lpstr>
      <vt:lpstr>The best known mathematical models for cell aggregation and chemotaxis were proposed with dictyostelium discoideum in mind</vt:lpstr>
      <vt:lpstr>Derivation of the Keller-Segel chemotaxis model’s key building blocks</vt:lpstr>
      <vt:lpstr>Derivation of the Keller-Segel chemotaxis model’s key building blocks</vt:lpstr>
      <vt:lpstr>Derivation of the Keller-Segel chemotaxis model’s key building blocks</vt:lpstr>
      <vt:lpstr>Derivation of the Keller-Segel chemotaxis model’s key building blocks</vt:lpstr>
      <vt:lpstr>Derivation of the Keller-Segel chemotaxis model’s key building blocks</vt:lpstr>
      <vt:lpstr>Derivation of the Keller-Segel chemotaxis model’s key building blocks</vt:lpstr>
      <vt:lpstr>Derivation of the Keller-Segel chemotaxis model’s key building blocks</vt:lpstr>
      <vt:lpstr>Derivation of the Keller-Segel chemotaxis model’s key building blocks</vt:lpstr>
      <vt:lpstr>Derivation of the Keller-Segel chemotaxis model’s key building blocks</vt:lpstr>
      <vt:lpstr>Derivation of the Keller-Segel chemotaxis model’s key building blocks</vt:lpstr>
      <vt:lpstr>PowerPoint-Präsentation</vt:lpstr>
      <vt:lpstr>The mathematical analysis of the simplified KS-model can follow a somewhat straight-forward approach</vt:lpstr>
      <vt:lpstr>First to the unique existence of solutions of systems of quasi-linear systems (Ladyzenskaja, Solonnikov &amp; Uralceva, Theorem 7.1, pp. 596) – 1/ 3</vt:lpstr>
      <vt:lpstr>First to the unique existence of solutions of systems of quasi-linear systems (Ladyzenskaja, Solonnikov &amp; Uralceva, Theorem 7.1, pp. 596) – 2a/ 3</vt:lpstr>
      <vt:lpstr>First to the unique existence of solutions of systems of quasi-linear systems (Ladyzenskaja, Solonnikov &amp; Uralceva, Theorem 7.1, pp. 596) – 2b/ 3</vt:lpstr>
      <vt:lpstr>First to the unique existence of solutions of systems of quasi-linear systems (Ladyzenskaja, Solonnikov &amp; Uralceva, Theorem 7.1, pp. 596) – 3/ 3</vt:lpstr>
      <vt:lpstr>What remains is to verify that this Existence-and-Uniqueness Theorem applies for the simplified KS-model </vt:lpstr>
      <vt:lpstr>The mathematical analysis of the simplified KS-model can follow a somewhat straight-forward approach</vt:lpstr>
      <vt:lpstr>Stability or instability of equilibrium solutions in PDE systems can be studied via different approaches (1/ 2) …</vt:lpstr>
      <vt:lpstr>Stability or instability of equilibrium solutions in PDE systems can be studied via different approaches (2/ 2) …</vt:lpstr>
      <vt:lpstr>… like spectral properties, linearization, …</vt:lpstr>
      <vt:lpstr>… and the discussion of the non-linear system </vt:lpstr>
      <vt:lpstr>Let us consider the simplified KS-model in one spatial dimension and discuss small perturbations of an equilibrium (1/ 2)</vt:lpstr>
      <vt:lpstr>Let us consider the simplified KS-model in one spatial dimension and discuss small perturbations of an equilibrium (2/ 2)</vt:lpstr>
      <vt:lpstr>Therefore, we plug the small perturbation into the governing equations …</vt:lpstr>
      <vt:lpstr>… with Neumann boundary conditions, …</vt:lpstr>
      <vt:lpstr>… and assume that the perturbations can be represented by a time- and space-product Fourier ansatz (1/ 2)</vt:lpstr>
      <vt:lpstr>… and assume that the perturbations can be represented by a time- and space-product Fourier ansatz (2/ 2)</vt:lpstr>
      <vt:lpstr>Provided that the chemotaxis coefficient is large enough there are unstable modes (values of k) in each perturbation representation</vt:lpstr>
      <vt:lpstr>Provided that the chemotaxis coefficient is large enough there are unstable modes (values of k) in each perturbation representation (2/ 2)</vt:lpstr>
      <vt:lpstr>PowerPoint-Präsentation</vt:lpstr>
      <vt:lpstr>The mathematical analysis of the simplified Keller-Segel model can follow a somewhat straight-forward approach [continued]</vt:lpstr>
      <vt:lpstr>A finite-difference discretization lays the ground for numerical simulations (1/ 2) …</vt:lpstr>
      <vt:lpstr>A finite-difference discretization lays the ground for numerical simulations (2/ 2) …</vt:lpstr>
      <vt:lpstr>… where we use fictitious layers to include the vanishing Neumann boundary conditions (1/ 2)</vt:lpstr>
      <vt:lpstr>… where we use fictitious layers to include the vanishing Neumann boundary conditions (2/ 2)</vt:lpstr>
      <vt:lpstr>A corresponding code in MATLAB is easily written and executed to illustrate cell aggregation due to a high chemotaxis coefficient …</vt:lpstr>
      <vt:lpstr>… aggregation due to an increase of chemical signal production, and diffusion</vt:lpstr>
      <vt:lpstr>Another use of chemotaxis in nature is through ants and the pheromones they secret in order to mark paths</vt:lpstr>
      <vt:lpstr>Computational Biomathematics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Florian</dc:creator>
  <cp:lastModifiedBy>Florian Rupp</cp:lastModifiedBy>
  <cp:revision>219</cp:revision>
  <dcterms:created xsi:type="dcterms:W3CDTF">2020-04-04T18:50:50Z</dcterms:created>
  <dcterms:modified xsi:type="dcterms:W3CDTF">2026-04-06T17:56:34Z</dcterms:modified>
</cp:coreProperties>
</file>
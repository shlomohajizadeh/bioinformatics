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410" r:id="rId2"/>
    <p:sldId id="426" r:id="rId3"/>
    <p:sldId id="437" r:id="rId4"/>
    <p:sldId id="438" r:id="rId5"/>
    <p:sldId id="458" r:id="rId6"/>
    <p:sldId id="452" r:id="rId7"/>
    <p:sldId id="315" r:id="rId8"/>
    <p:sldId id="318" r:id="rId9"/>
    <p:sldId id="457" r:id="rId10"/>
    <p:sldId id="394" r:id="rId11"/>
    <p:sldId id="317" r:id="rId12"/>
    <p:sldId id="427" r:id="rId13"/>
    <p:sldId id="376" r:id="rId14"/>
    <p:sldId id="429" r:id="rId15"/>
    <p:sldId id="460" r:id="rId16"/>
    <p:sldId id="461" r:id="rId17"/>
    <p:sldId id="463" r:id="rId18"/>
    <p:sldId id="464" r:id="rId19"/>
    <p:sldId id="465" r:id="rId20"/>
    <p:sldId id="466" r:id="rId21"/>
    <p:sldId id="467" r:id="rId22"/>
    <p:sldId id="468" r:id="rId23"/>
    <p:sldId id="428" r:id="rId24"/>
    <p:sldId id="469" r:id="rId25"/>
    <p:sldId id="471" r:id="rId26"/>
    <p:sldId id="370" r:id="rId27"/>
    <p:sldId id="369" r:id="rId28"/>
    <p:sldId id="367" r:id="rId29"/>
    <p:sldId id="355" r:id="rId30"/>
    <p:sldId id="368" r:id="rId31"/>
    <p:sldId id="371" r:id="rId32"/>
    <p:sldId id="347" r:id="rId33"/>
    <p:sldId id="351" r:id="rId34"/>
    <p:sldId id="475" r:id="rId35"/>
    <p:sldId id="476" r:id="rId36"/>
    <p:sldId id="430" r:id="rId37"/>
    <p:sldId id="377" r:id="rId38"/>
    <p:sldId id="378" r:id="rId39"/>
    <p:sldId id="379" r:id="rId40"/>
    <p:sldId id="380" r:id="rId41"/>
    <p:sldId id="472" r:id="rId42"/>
    <p:sldId id="473" r:id="rId43"/>
    <p:sldId id="352" r:id="rId44"/>
    <p:sldId id="353" r:id="rId45"/>
    <p:sldId id="354" r:id="rId46"/>
    <p:sldId id="474" r:id="rId47"/>
    <p:sldId id="411" r:id="rId48"/>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7356" autoAdjust="0"/>
  </p:normalViewPr>
  <p:slideViewPr>
    <p:cSldViewPr>
      <p:cViewPr varScale="1">
        <p:scale>
          <a:sx n="136" d="100"/>
          <a:sy n="136" d="100"/>
        </p:scale>
        <p:origin x="414" y="132"/>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419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3/30/2026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31.xml"/><Relationship Id="rId7" Type="http://schemas.openxmlformats.org/officeDocument/2006/relationships/image" Target="../media/image29.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2.xml"/><Relationship Id="rId11" Type="http://schemas.openxmlformats.org/officeDocument/2006/relationships/image" Target="../media/image33.png"/><Relationship Id="rId5" Type="http://schemas.openxmlformats.org/officeDocument/2006/relationships/tags" Target="../tags/tag33.xml"/><Relationship Id="rId10" Type="http://schemas.openxmlformats.org/officeDocument/2006/relationships/image" Target="../media/image32.png"/><Relationship Id="rId4" Type="http://schemas.openxmlformats.org/officeDocument/2006/relationships/tags" Target="../tags/tag32.xml"/><Relationship Id="rId9"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36.jpe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48.pn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image" Target="../media/image47.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46.png"/><Relationship Id="rId5" Type="http://schemas.openxmlformats.org/officeDocument/2006/relationships/tags" Target="../tags/tag46.xml"/><Relationship Id="rId10" Type="http://schemas.openxmlformats.org/officeDocument/2006/relationships/image" Target="../media/image45.png"/><Relationship Id="rId4" Type="http://schemas.openxmlformats.org/officeDocument/2006/relationships/tags" Target="../tags/tag45.xml"/><Relationship Id="rId9" Type="http://schemas.openxmlformats.org/officeDocument/2006/relationships/image" Target="../media/image44.png"/><Relationship Id="rId14" Type="http://schemas.openxmlformats.org/officeDocument/2006/relationships/image" Target="../media/image49.png"/></Relationships>
</file>

<file path=ppt/slides/_rels/slide33.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46.png"/><Relationship Id="rId3" Type="http://schemas.openxmlformats.org/officeDocument/2006/relationships/tags" Target="../tags/tag51.xml"/><Relationship Id="rId7" Type="http://schemas.openxmlformats.org/officeDocument/2006/relationships/slideLayout" Target="../slideLayouts/slideLayout2.xml"/><Relationship Id="rId12" Type="http://schemas.openxmlformats.org/officeDocument/2006/relationships/image" Target="../media/image54.jpe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image" Target="../media/image53.png"/><Relationship Id="rId5" Type="http://schemas.openxmlformats.org/officeDocument/2006/relationships/tags" Target="../tags/tag53.xml"/><Relationship Id="rId10" Type="http://schemas.openxmlformats.org/officeDocument/2006/relationships/image" Target="../media/image52.png"/><Relationship Id="rId4" Type="http://schemas.openxmlformats.org/officeDocument/2006/relationships/tags" Target="../tags/tag52.xml"/><Relationship Id="rId9" Type="http://schemas.openxmlformats.org/officeDocument/2006/relationships/image" Target="../media/image51.png"/><Relationship Id="rId1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54.jpe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54.jpe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2.xml"/><Relationship Id="rId1" Type="http://schemas.openxmlformats.org/officeDocument/2006/relationships/tags" Target="../tags/tag57.xml"/><Relationship Id="rId5" Type="http://schemas.openxmlformats.org/officeDocument/2006/relationships/image" Target="../media/image20.jpeg"/><Relationship Id="rId4" Type="http://schemas.openxmlformats.org/officeDocument/2006/relationships/image" Target="../media/image19.jpeg"/></Relationships>
</file>

<file path=ppt/slides/_rels/slide3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60.xml"/><Relationship Id="rId7" Type="http://schemas.openxmlformats.org/officeDocument/2006/relationships/image" Target="../media/image59.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2.xml"/><Relationship Id="rId11" Type="http://schemas.openxmlformats.org/officeDocument/2006/relationships/image" Target="../media/image33.png"/><Relationship Id="rId5" Type="http://schemas.openxmlformats.org/officeDocument/2006/relationships/tags" Target="../tags/tag62.xml"/><Relationship Id="rId10" Type="http://schemas.openxmlformats.org/officeDocument/2006/relationships/image" Target="../media/image32.png"/><Relationship Id="rId4" Type="http://schemas.openxmlformats.org/officeDocument/2006/relationships/tags" Target="../tags/tag61.xml"/><Relationship Id="rId9"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65.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3.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68.png"/></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Rejuvenating Forests &amp; Markov-Chains</a:t>
            </a:r>
          </a:p>
          <a:p>
            <a:endParaRPr lang="en-US" sz="500" noProof="0" dirty="0"/>
          </a:p>
          <a:p>
            <a:r>
              <a:rPr lang="en-US" noProof="0" dirty="0"/>
              <a:t>Lesson 2</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Administration: details about the group project</a:t>
            </a:r>
          </a:p>
          <a:p>
            <a:pPr marL="177800" lvl="1" indent="-177800">
              <a:spcAft>
                <a:spcPts val="400"/>
              </a:spcAft>
              <a:buFont typeface="Arial" pitchFamily="34" charset="0"/>
              <a:buChar char="•"/>
            </a:pPr>
            <a:r>
              <a:rPr lang="en-US" sz="1200" noProof="0" dirty="0">
                <a:solidFill>
                  <a:schemeClr val="tx1"/>
                </a:solidFill>
              </a:rPr>
              <a:t>Forest rejuvenation dynamics</a:t>
            </a:r>
          </a:p>
          <a:p>
            <a:pPr marL="177800" lvl="1" indent="-177800">
              <a:spcAft>
                <a:spcPts val="400"/>
              </a:spcAft>
              <a:buFont typeface="Arial" pitchFamily="34" charset="0"/>
              <a:buChar char="•"/>
            </a:pPr>
            <a:r>
              <a:rPr lang="en-US" sz="1200" noProof="0" dirty="0">
                <a:solidFill>
                  <a:schemeClr val="tx1"/>
                </a:solidFill>
              </a:rPr>
              <a:t>Markovian description of the forest dynamics</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156363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p:cNvSpPr txBox="1"/>
          <p:nvPr/>
        </p:nvSpPr>
        <p:spPr>
          <a:xfrm>
            <a:off x="971600" y="1131590"/>
            <a:ext cx="5238935" cy="1908215"/>
          </a:xfrm>
          <a:prstGeom prst="rect">
            <a:avLst/>
          </a:prstGeom>
          <a:noFill/>
        </p:spPr>
        <p:txBody>
          <a:bodyPr wrap="none" rtlCol="0">
            <a:spAutoFit/>
          </a:bodyPr>
          <a:lstStyle/>
          <a:p>
            <a:r>
              <a:rPr lang="en-US" b="1" noProof="0" dirty="0"/>
              <a:t>Topics</a:t>
            </a:r>
          </a:p>
          <a:p>
            <a:endParaRPr lang="en-US" sz="1000" noProof="0" dirty="0"/>
          </a:p>
          <a:p>
            <a:pPr lvl="1"/>
            <a:r>
              <a:rPr lang="en-US" b="1" noProof="0" dirty="0"/>
              <a:t>Administration: Details About the Group Project</a:t>
            </a:r>
          </a:p>
          <a:p>
            <a:pPr lvl="1"/>
            <a:endParaRPr lang="en-US" noProof="0" dirty="0"/>
          </a:p>
          <a:p>
            <a:pPr lvl="1"/>
            <a:r>
              <a:rPr lang="en-US" noProof="0" dirty="0"/>
              <a:t>Forest Rejuvenation Dynamics</a:t>
            </a:r>
          </a:p>
          <a:p>
            <a:pPr lvl="1"/>
            <a:endParaRPr lang="en-US" noProof="0" dirty="0"/>
          </a:p>
          <a:p>
            <a:pPr lvl="1"/>
            <a:r>
              <a:rPr lang="en-US" noProof="0" dirty="0"/>
              <a:t>Markovian Description of the Forest Dynamics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Grading is based on group projects (3-4 students) that will combine “literature work” with own modeling and simulation (1/ 2)</a:t>
            </a:r>
          </a:p>
        </p:txBody>
      </p:sp>
      <p:sp>
        <p:nvSpPr>
          <p:cNvPr id="6" name="Textfeld 5"/>
          <p:cNvSpPr txBox="1"/>
          <p:nvPr/>
        </p:nvSpPr>
        <p:spPr>
          <a:xfrm>
            <a:off x="1691680" y="1131590"/>
            <a:ext cx="7200800" cy="3785652"/>
          </a:xfrm>
          <a:prstGeom prst="rect">
            <a:avLst/>
          </a:prstGeom>
          <a:noFill/>
        </p:spPr>
        <p:txBody>
          <a:bodyPr wrap="square" rtlCol="0">
            <a:spAutoFit/>
          </a:bodyPr>
          <a:lstStyle/>
          <a:p>
            <a:pPr>
              <a:spcAft>
                <a:spcPts val="400"/>
              </a:spcAft>
            </a:pPr>
            <a:r>
              <a:rPr lang="en-US" sz="1400" noProof="0" dirty="0"/>
              <a:t>For the assessment I would like to combine your own research interests with traditional assessment methods:</a:t>
            </a:r>
          </a:p>
          <a:p>
            <a:pPr marL="177800" indent="-177800">
              <a:spcAft>
                <a:spcPts val="400"/>
              </a:spcAft>
              <a:buFont typeface="Arial" pitchFamily="34" charset="0"/>
              <a:buChar char="•"/>
            </a:pPr>
            <a:r>
              <a:rPr lang="en-US" sz="1400" noProof="0" dirty="0"/>
              <a:t>Research means that you are interested in a topic and want to inquire how it is working in its very core</a:t>
            </a:r>
          </a:p>
          <a:p>
            <a:pPr marL="177800" indent="-177800">
              <a:spcAft>
                <a:spcPts val="400"/>
              </a:spcAft>
            </a:pPr>
            <a:r>
              <a:rPr lang="en-US" sz="1400" noProof="0" dirty="0"/>
              <a:t>	Therefore:</a:t>
            </a:r>
          </a:p>
          <a:p>
            <a:pPr marL="361950" lvl="1" indent="-184150">
              <a:spcAft>
                <a:spcPts val="400"/>
              </a:spcAft>
              <a:buFont typeface="Symbol" pitchFamily="18" charset="2"/>
              <a:buChar char="-"/>
            </a:pPr>
            <a:r>
              <a:rPr lang="en-US" sz="1400" noProof="0" dirty="0"/>
              <a:t>you will have access to large number of topics in social science simulation  </a:t>
            </a:r>
          </a:p>
          <a:p>
            <a:pPr marL="361950" lvl="1" indent="-184150">
              <a:spcAft>
                <a:spcPts val="400"/>
              </a:spcAft>
              <a:buFont typeface="Symbol" pitchFamily="18" charset="2"/>
              <a:buChar char="-"/>
            </a:pPr>
            <a:r>
              <a:rPr lang="en-US" sz="1400" noProof="0" dirty="0"/>
              <a:t>you will get a substantial amount of freedom to steer your project</a:t>
            </a:r>
          </a:p>
          <a:p>
            <a:pPr marL="177800" indent="-177800">
              <a:spcAft>
                <a:spcPts val="400"/>
              </a:spcAft>
              <a:buFont typeface="Arial" pitchFamily="34" charset="0"/>
              <a:buChar char="•"/>
            </a:pPr>
            <a:r>
              <a:rPr lang="en-US" sz="1400" noProof="0" dirty="0"/>
              <a:t>Assessment means that you are in a somewhat save environment where you can apply those methods and tools that were discussed during the course</a:t>
            </a:r>
          </a:p>
          <a:p>
            <a:pPr marL="177800" indent="-177800">
              <a:spcAft>
                <a:spcPts val="400"/>
              </a:spcAft>
            </a:pPr>
            <a:r>
              <a:rPr lang="en-US" sz="1400" noProof="0" dirty="0"/>
              <a:t>	Therefore:</a:t>
            </a:r>
          </a:p>
          <a:p>
            <a:pPr marL="361950" lvl="1" indent="-184150">
              <a:spcAft>
                <a:spcPts val="400"/>
              </a:spcAft>
              <a:buFont typeface="Symbol" pitchFamily="18" charset="2"/>
              <a:buChar char="-"/>
            </a:pPr>
            <a:r>
              <a:rPr lang="en-US" sz="1400" noProof="0" dirty="0"/>
              <a:t>you will have to tweak the “research part” such that it boils down both to the framework of the lecture and your available time budget</a:t>
            </a:r>
          </a:p>
          <a:p>
            <a:pPr marL="361950" lvl="1" indent="-184150">
              <a:spcAft>
                <a:spcPts val="400"/>
              </a:spcAft>
              <a:buFont typeface="Symbol" pitchFamily="18" charset="2"/>
              <a:buChar char="-"/>
            </a:pPr>
            <a:r>
              <a:rPr lang="en-US" sz="1400" noProof="0" dirty="0"/>
              <a:t>you are requested to use only those methods and tools you know</a:t>
            </a:r>
          </a:p>
          <a:p>
            <a:pPr marL="176213" indent="-176213">
              <a:spcAft>
                <a:spcPts val="400"/>
              </a:spcAft>
              <a:buFont typeface="Arial" pitchFamily="34" charset="0"/>
              <a:buChar char="•"/>
            </a:pPr>
            <a:r>
              <a:rPr lang="en-US" sz="1400" b="1" noProof="0" dirty="0"/>
              <a:t>Please keep in mind, that the projects should be fun for you and lead to some nice results, you are not expected to give a comprehensive answer to any real-world problem</a:t>
            </a:r>
          </a:p>
        </p:txBody>
      </p:sp>
      <p:sp>
        <p:nvSpPr>
          <p:cNvPr id="5" name="Rechteck 4"/>
          <p:cNvSpPr/>
          <p:nvPr/>
        </p:nvSpPr>
        <p:spPr>
          <a:xfrm>
            <a:off x="1691680" y="1131590"/>
            <a:ext cx="7200800"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Gerade Verbindung 18"/>
          <p:cNvCxnSpPr/>
          <p:nvPr/>
        </p:nvCxnSpPr>
        <p:spPr>
          <a:xfrm>
            <a:off x="395536" y="2218060"/>
            <a:ext cx="216024" cy="569714"/>
          </a:xfrm>
          <a:prstGeom prst="line">
            <a:avLst/>
          </a:prstGeom>
        </p:spPr>
        <p:style>
          <a:lnRef idx="2">
            <a:schemeClr val="accent1">
              <a:shade val="50000"/>
            </a:schemeClr>
          </a:lnRef>
          <a:fillRef idx="1">
            <a:schemeClr val="accent1"/>
          </a:fillRef>
          <a:effectRef idx="0">
            <a:schemeClr val="accent1"/>
          </a:effectRef>
          <a:fontRef idx="minor">
            <a:schemeClr val="lt1"/>
          </a:fontRef>
        </p:style>
      </p:cxnSp>
      <p:sp>
        <p:nvSpPr>
          <p:cNvPr id="2" name="Titel 1"/>
          <p:cNvSpPr>
            <a:spLocks noGrp="1"/>
          </p:cNvSpPr>
          <p:nvPr>
            <p:ph type="title"/>
          </p:nvPr>
        </p:nvSpPr>
        <p:spPr/>
        <p:txBody>
          <a:bodyPr/>
          <a:lstStyle/>
          <a:p>
            <a:r>
              <a:rPr lang="en-US" noProof="0" dirty="0"/>
              <a:t>Grading is based on group projects that will combine “literature work” with own modeling and simulation (2a/ 2)</a:t>
            </a:r>
          </a:p>
        </p:txBody>
      </p:sp>
      <p:pic>
        <p:nvPicPr>
          <p:cNvPr id="1026" name="Picture 2" descr="http://jasss.soc.surrey.ac.uk/gifs/JASSSMed.GIF"/>
          <p:cNvPicPr>
            <a:picLocks noChangeAspect="1" noChangeArrowheads="1"/>
          </p:cNvPicPr>
          <p:nvPr/>
        </p:nvPicPr>
        <p:blipFill>
          <a:blip r:embed="rId2" cstate="print"/>
          <a:srcRect/>
          <a:stretch>
            <a:fillRect/>
          </a:stretch>
        </p:blipFill>
        <p:spPr bwMode="auto">
          <a:xfrm>
            <a:off x="251520" y="2872482"/>
            <a:ext cx="1800225" cy="723900"/>
          </a:xfrm>
          <a:prstGeom prst="rect">
            <a:avLst/>
          </a:prstGeom>
          <a:noFill/>
        </p:spPr>
      </p:pic>
      <p:sp>
        <p:nvSpPr>
          <p:cNvPr id="7" name="Richtungspfeil 6"/>
          <p:cNvSpPr/>
          <p:nvPr/>
        </p:nvSpPr>
        <p:spPr>
          <a:xfrm>
            <a:off x="251520" y="1131590"/>
            <a:ext cx="1584176" cy="648072"/>
          </a:xfrm>
          <a:prstGeom prst="homePlate">
            <a:avLst>
              <a:gd name="adj" fmla="val 332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Topic Selection</a:t>
            </a:r>
          </a:p>
        </p:txBody>
      </p:sp>
      <p:sp>
        <p:nvSpPr>
          <p:cNvPr id="8" name="Eingekerbter Richtungspfeil 7"/>
          <p:cNvSpPr/>
          <p:nvPr/>
        </p:nvSpPr>
        <p:spPr>
          <a:xfrm>
            <a:off x="169168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Research Question</a:t>
            </a:r>
          </a:p>
        </p:txBody>
      </p:sp>
      <p:sp>
        <p:nvSpPr>
          <p:cNvPr id="12" name="Eingekerbter Richtungspfeil 11"/>
          <p:cNvSpPr/>
          <p:nvPr/>
        </p:nvSpPr>
        <p:spPr>
          <a:xfrm>
            <a:off x="313184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Modeling</a:t>
            </a:r>
          </a:p>
        </p:txBody>
      </p:sp>
      <p:sp>
        <p:nvSpPr>
          <p:cNvPr id="13" name="Eingekerbter Richtungspfeil 12"/>
          <p:cNvSpPr/>
          <p:nvPr/>
        </p:nvSpPr>
        <p:spPr>
          <a:xfrm>
            <a:off x="457200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Simulating</a:t>
            </a:r>
          </a:p>
        </p:txBody>
      </p:sp>
      <p:sp>
        <p:nvSpPr>
          <p:cNvPr id="14" name="Eingekerbter Richtungspfeil 13"/>
          <p:cNvSpPr/>
          <p:nvPr/>
        </p:nvSpPr>
        <p:spPr>
          <a:xfrm>
            <a:off x="601216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Writing </a:t>
            </a:r>
          </a:p>
        </p:txBody>
      </p:sp>
      <p:sp>
        <p:nvSpPr>
          <p:cNvPr id="15" name="Eingekerbter Richtungspfeil 14"/>
          <p:cNvSpPr/>
          <p:nvPr/>
        </p:nvSpPr>
        <p:spPr>
          <a:xfrm>
            <a:off x="745232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Communication</a:t>
            </a:r>
          </a:p>
        </p:txBody>
      </p:sp>
      <p:cxnSp>
        <p:nvCxnSpPr>
          <p:cNvPr id="17" name="Gerade Verbindung 16"/>
          <p:cNvCxnSpPr/>
          <p:nvPr/>
        </p:nvCxnSpPr>
        <p:spPr>
          <a:xfrm>
            <a:off x="395536" y="1851670"/>
            <a:ext cx="0" cy="360040"/>
          </a:xfrm>
          <a:prstGeom prst="line">
            <a:avLst/>
          </a:prstGeom>
        </p:spPr>
        <p:style>
          <a:lnRef idx="2">
            <a:schemeClr val="accent1">
              <a:shade val="50000"/>
            </a:schemeClr>
          </a:lnRef>
          <a:fillRef idx="1">
            <a:schemeClr val="accent1"/>
          </a:fillRef>
          <a:effectRef idx="0">
            <a:schemeClr val="accent1"/>
          </a:effectRef>
          <a:fontRef idx="minor">
            <a:schemeClr val="lt1"/>
          </a:fontRef>
        </p:style>
      </p:cxnSp>
      <p:sp>
        <p:nvSpPr>
          <p:cNvPr id="21" name="Textfeld 20"/>
          <p:cNvSpPr txBox="1"/>
          <p:nvPr/>
        </p:nvSpPr>
        <p:spPr>
          <a:xfrm>
            <a:off x="251521" y="3723878"/>
            <a:ext cx="3600400" cy="984885"/>
          </a:xfrm>
          <a:prstGeom prst="rect">
            <a:avLst/>
          </a:prstGeom>
          <a:noFill/>
        </p:spPr>
        <p:txBody>
          <a:bodyPr wrap="square" rtlCol="0">
            <a:spAutoFit/>
          </a:bodyPr>
          <a:lstStyle/>
          <a:p>
            <a:pPr>
              <a:spcAft>
                <a:spcPts val="600"/>
              </a:spcAft>
            </a:pPr>
            <a:r>
              <a:rPr lang="en-US" sz="1200" noProof="0" dirty="0"/>
              <a:t>Use the “Journal of Artificial Societies and Social Simulation” as a source for ideas</a:t>
            </a:r>
          </a:p>
          <a:p>
            <a:pPr marL="177800" indent="-177800">
              <a:spcAft>
                <a:spcPts val="600"/>
              </a:spcAft>
              <a:buFont typeface="Arial" pitchFamily="34" charset="0"/>
              <a:buChar char="•"/>
            </a:pPr>
            <a:r>
              <a:rPr lang="en-US" sz="1200" noProof="0" dirty="0"/>
              <a:t>http://jasss.soc.surrey.ac.uk/JASSS.html</a:t>
            </a:r>
          </a:p>
          <a:p>
            <a:pPr marL="177800" indent="-177800">
              <a:spcAft>
                <a:spcPts val="600"/>
              </a:spcAft>
              <a:buFont typeface="Arial" pitchFamily="34" charset="0"/>
              <a:buChar char="•"/>
            </a:pPr>
            <a:r>
              <a:rPr lang="en-US" sz="1200" noProof="0" dirty="0"/>
              <a:t>http://jasss.soc.surrey.ac.uk/index_by_issue.html</a:t>
            </a:r>
          </a:p>
        </p:txBody>
      </p:sp>
      <p:cxnSp>
        <p:nvCxnSpPr>
          <p:cNvPr id="22" name="Gerade Verbindung 21"/>
          <p:cNvCxnSpPr/>
          <p:nvPr/>
        </p:nvCxnSpPr>
        <p:spPr>
          <a:xfrm>
            <a:off x="1835696" y="2211710"/>
            <a:ext cx="2304256" cy="936104"/>
          </a:xfrm>
          <a:prstGeom prst="line">
            <a:avLst/>
          </a:prstGeom>
        </p:spPr>
        <p:style>
          <a:lnRef idx="2">
            <a:schemeClr val="accent1">
              <a:shade val="50000"/>
            </a:schemeClr>
          </a:lnRef>
          <a:fillRef idx="1">
            <a:schemeClr val="accent1"/>
          </a:fillRef>
          <a:effectRef idx="0">
            <a:schemeClr val="accent1"/>
          </a:effectRef>
          <a:fontRef idx="minor">
            <a:schemeClr val="lt1"/>
          </a:fontRef>
        </p:style>
      </p:cxnSp>
      <p:cxnSp>
        <p:nvCxnSpPr>
          <p:cNvPr id="23" name="Gerade Verbindung 22"/>
          <p:cNvCxnSpPr/>
          <p:nvPr/>
        </p:nvCxnSpPr>
        <p:spPr>
          <a:xfrm>
            <a:off x="1835696" y="1845320"/>
            <a:ext cx="0" cy="360040"/>
          </a:xfrm>
          <a:prstGeom prst="line">
            <a:avLst/>
          </a:prstGeom>
        </p:spPr>
        <p:style>
          <a:lnRef idx="2">
            <a:schemeClr val="accent1">
              <a:shade val="50000"/>
            </a:schemeClr>
          </a:lnRef>
          <a:fillRef idx="1">
            <a:schemeClr val="accent1"/>
          </a:fillRef>
          <a:effectRef idx="0">
            <a:schemeClr val="accent1"/>
          </a:effectRef>
          <a:fontRef idx="minor">
            <a:schemeClr val="lt1"/>
          </a:fontRef>
        </p:style>
      </p:cxnSp>
      <p:sp>
        <p:nvSpPr>
          <p:cNvPr id="24" name="Gleichschenkliges Dreieck 23"/>
          <p:cNvSpPr/>
          <p:nvPr/>
        </p:nvSpPr>
        <p:spPr>
          <a:xfrm>
            <a:off x="2987824" y="1851670"/>
            <a:ext cx="216024" cy="144016"/>
          </a:xfrm>
          <a:prstGeom prst="triangl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feld 24"/>
          <p:cNvSpPr txBox="1"/>
          <p:nvPr/>
        </p:nvSpPr>
        <p:spPr>
          <a:xfrm>
            <a:off x="2987825" y="2067694"/>
            <a:ext cx="3384376" cy="461665"/>
          </a:xfrm>
          <a:prstGeom prst="rect">
            <a:avLst/>
          </a:prstGeom>
          <a:noFill/>
        </p:spPr>
        <p:txBody>
          <a:bodyPr wrap="square" rtlCol="0">
            <a:spAutoFit/>
          </a:bodyPr>
          <a:lstStyle/>
          <a:p>
            <a:r>
              <a:rPr lang="en-US" sz="1200" noProof="0" dirty="0"/>
              <a:t>Get my approval for your project such that we can negotiate the amount of work and fix expectations</a:t>
            </a:r>
          </a:p>
        </p:txBody>
      </p:sp>
      <p:sp>
        <p:nvSpPr>
          <p:cNvPr id="33" name="Textfeld 32"/>
          <p:cNvSpPr txBox="1"/>
          <p:nvPr/>
        </p:nvSpPr>
        <p:spPr>
          <a:xfrm>
            <a:off x="3923928" y="3219822"/>
            <a:ext cx="4968552" cy="1800493"/>
          </a:xfrm>
          <a:prstGeom prst="rect">
            <a:avLst/>
          </a:prstGeom>
          <a:noFill/>
        </p:spPr>
        <p:txBody>
          <a:bodyPr wrap="square" rtlCol="0">
            <a:spAutoFit/>
          </a:bodyPr>
          <a:lstStyle/>
          <a:p>
            <a:pPr>
              <a:spcAft>
                <a:spcPts val="600"/>
              </a:spcAft>
            </a:pPr>
            <a:r>
              <a:rPr lang="en-US" sz="1200" noProof="0" dirty="0"/>
              <a:t>Boil the article down to an interesting sub-problem (e.g., that arises in the article’s discussion section):</a:t>
            </a:r>
          </a:p>
          <a:p>
            <a:pPr marL="177800" indent="-177800">
              <a:spcAft>
                <a:spcPts val="600"/>
              </a:spcAft>
              <a:buFont typeface="Arial" pitchFamily="34" charset="0"/>
              <a:buChar char="•"/>
            </a:pPr>
            <a:r>
              <a:rPr lang="en-US" sz="1200" noProof="0" dirty="0"/>
              <a:t>Description of the situation</a:t>
            </a:r>
          </a:p>
          <a:p>
            <a:pPr marL="177800" indent="-177800">
              <a:spcAft>
                <a:spcPts val="600"/>
              </a:spcAft>
              <a:buFont typeface="Arial" pitchFamily="34" charset="0"/>
              <a:buChar char="•"/>
            </a:pPr>
            <a:r>
              <a:rPr lang="en-US" sz="1200" noProof="0" dirty="0"/>
              <a:t>Modeling approach (agent</a:t>
            </a:r>
            <a:br>
              <a:rPr lang="en-US" sz="1200" noProof="0" dirty="0"/>
            </a:br>
            <a:r>
              <a:rPr lang="en-US" sz="1200" noProof="0" dirty="0"/>
              <a:t>interactions, additional</a:t>
            </a:r>
            <a:br>
              <a:rPr lang="en-US" sz="1200" noProof="0" dirty="0"/>
            </a:br>
            <a:r>
              <a:rPr lang="en-US" sz="1200" noProof="0" dirty="0"/>
              <a:t>believe landscapes, etc.)</a:t>
            </a:r>
          </a:p>
          <a:p>
            <a:pPr marL="177800" indent="-177800">
              <a:spcAft>
                <a:spcPts val="600"/>
              </a:spcAft>
              <a:buFont typeface="Arial" pitchFamily="34" charset="0"/>
              <a:buChar char="•"/>
            </a:pPr>
            <a:r>
              <a:rPr lang="en-US" sz="1200" noProof="0" dirty="0"/>
              <a:t>Keep time and scope</a:t>
            </a:r>
            <a:br>
              <a:rPr lang="en-US" sz="1200" noProof="0" dirty="0"/>
            </a:br>
            <a:r>
              <a:rPr lang="en-US" sz="1200" noProof="0" dirty="0"/>
              <a:t>restrictions in mind</a:t>
            </a:r>
          </a:p>
        </p:txBody>
      </p:sp>
      <p:pic>
        <p:nvPicPr>
          <p:cNvPr id="9218" name="Picture 2"/>
          <p:cNvPicPr>
            <a:picLocks noChangeAspect="1" noChangeArrowheads="1"/>
          </p:cNvPicPr>
          <p:nvPr/>
        </p:nvPicPr>
        <p:blipFill>
          <a:blip r:embed="rId3" cstate="print"/>
          <a:srcRect/>
          <a:stretch>
            <a:fillRect/>
          </a:stretch>
        </p:blipFill>
        <p:spPr bwMode="auto">
          <a:xfrm>
            <a:off x="6285179" y="3706750"/>
            <a:ext cx="2694323" cy="1258392"/>
          </a:xfrm>
          <a:prstGeom prst="rect">
            <a:avLst/>
          </a:prstGeom>
          <a:noFill/>
          <a:ln w="9525">
            <a:noFill/>
            <a:miter lim="800000"/>
            <a:headEnd/>
            <a:tailEnd/>
          </a:ln>
          <a:effectLst/>
        </p:spPr>
      </p:pic>
      <p:sp>
        <p:nvSpPr>
          <p:cNvPr id="35" name="Rechteck 34"/>
          <p:cNvSpPr/>
          <p:nvPr/>
        </p:nvSpPr>
        <p:spPr>
          <a:xfrm>
            <a:off x="6228184" y="3651870"/>
            <a:ext cx="2808312" cy="13681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FFC83-BCCC-0916-F73F-8F3A88F8CF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B495308-CB2E-DB9F-277D-9A5A5AA32B98}"/>
              </a:ext>
            </a:extLst>
          </p:cNvPr>
          <p:cNvSpPr>
            <a:spLocks noGrp="1"/>
          </p:cNvSpPr>
          <p:nvPr>
            <p:ph type="title"/>
          </p:nvPr>
        </p:nvSpPr>
        <p:spPr/>
        <p:txBody>
          <a:bodyPr/>
          <a:lstStyle/>
          <a:p>
            <a:r>
              <a:rPr lang="en-US" noProof="0" dirty="0"/>
              <a:t>Grading is based on group projects that will combine “literature work” with own modeling and simulation (2b/ 2)</a:t>
            </a:r>
          </a:p>
        </p:txBody>
      </p:sp>
      <p:sp>
        <p:nvSpPr>
          <p:cNvPr id="7" name="Richtungspfeil 6">
            <a:extLst>
              <a:ext uri="{FF2B5EF4-FFF2-40B4-BE49-F238E27FC236}">
                <a16:creationId xmlns:a16="http://schemas.microsoft.com/office/drawing/2014/main" id="{BEA27EF2-1C84-5D21-33FD-A7AEE03EA6BD}"/>
              </a:ext>
            </a:extLst>
          </p:cNvPr>
          <p:cNvSpPr/>
          <p:nvPr/>
        </p:nvSpPr>
        <p:spPr>
          <a:xfrm>
            <a:off x="251520" y="1131590"/>
            <a:ext cx="1584176" cy="648072"/>
          </a:xfrm>
          <a:prstGeom prst="homePlate">
            <a:avLst>
              <a:gd name="adj" fmla="val 332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Topic Selection</a:t>
            </a:r>
          </a:p>
        </p:txBody>
      </p:sp>
      <p:sp>
        <p:nvSpPr>
          <p:cNvPr id="8" name="Eingekerbter Richtungspfeil 7">
            <a:extLst>
              <a:ext uri="{FF2B5EF4-FFF2-40B4-BE49-F238E27FC236}">
                <a16:creationId xmlns:a16="http://schemas.microsoft.com/office/drawing/2014/main" id="{C4221B8A-86D2-9A80-95F9-9094E38F2E08}"/>
              </a:ext>
            </a:extLst>
          </p:cNvPr>
          <p:cNvSpPr/>
          <p:nvPr/>
        </p:nvSpPr>
        <p:spPr>
          <a:xfrm>
            <a:off x="169168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Research Question</a:t>
            </a:r>
          </a:p>
        </p:txBody>
      </p:sp>
      <p:sp>
        <p:nvSpPr>
          <p:cNvPr id="12" name="Eingekerbter Richtungspfeil 11">
            <a:extLst>
              <a:ext uri="{FF2B5EF4-FFF2-40B4-BE49-F238E27FC236}">
                <a16:creationId xmlns:a16="http://schemas.microsoft.com/office/drawing/2014/main" id="{89AD2DB3-6FA9-8255-44CE-DC67AFD228D8}"/>
              </a:ext>
            </a:extLst>
          </p:cNvPr>
          <p:cNvSpPr/>
          <p:nvPr/>
        </p:nvSpPr>
        <p:spPr>
          <a:xfrm>
            <a:off x="313184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Modeling</a:t>
            </a:r>
          </a:p>
        </p:txBody>
      </p:sp>
      <p:sp>
        <p:nvSpPr>
          <p:cNvPr id="13" name="Eingekerbter Richtungspfeil 12">
            <a:extLst>
              <a:ext uri="{FF2B5EF4-FFF2-40B4-BE49-F238E27FC236}">
                <a16:creationId xmlns:a16="http://schemas.microsoft.com/office/drawing/2014/main" id="{4F81AAF5-8F19-4B40-1DCD-B6141820FC1C}"/>
              </a:ext>
            </a:extLst>
          </p:cNvPr>
          <p:cNvSpPr/>
          <p:nvPr/>
        </p:nvSpPr>
        <p:spPr>
          <a:xfrm>
            <a:off x="457200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Simulating</a:t>
            </a:r>
          </a:p>
        </p:txBody>
      </p:sp>
      <p:sp>
        <p:nvSpPr>
          <p:cNvPr id="14" name="Eingekerbter Richtungspfeil 13">
            <a:extLst>
              <a:ext uri="{FF2B5EF4-FFF2-40B4-BE49-F238E27FC236}">
                <a16:creationId xmlns:a16="http://schemas.microsoft.com/office/drawing/2014/main" id="{3DBC93CF-E9CA-E9D0-D741-B0084C26CBBA}"/>
              </a:ext>
            </a:extLst>
          </p:cNvPr>
          <p:cNvSpPr/>
          <p:nvPr/>
        </p:nvSpPr>
        <p:spPr>
          <a:xfrm>
            <a:off x="601216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Writing </a:t>
            </a:r>
          </a:p>
        </p:txBody>
      </p:sp>
      <p:sp>
        <p:nvSpPr>
          <p:cNvPr id="15" name="Eingekerbter Richtungspfeil 14">
            <a:extLst>
              <a:ext uri="{FF2B5EF4-FFF2-40B4-BE49-F238E27FC236}">
                <a16:creationId xmlns:a16="http://schemas.microsoft.com/office/drawing/2014/main" id="{0AFB4644-BFE4-B038-19C5-6CACC6D1DC3F}"/>
              </a:ext>
            </a:extLst>
          </p:cNvPr>
          <p:cNvSpPr/>
          <p:nvPr/>
        </p:nvSpPr>
        <p:spPr>
          <a:xfrm>
            <a:off x="7452320" y="1131590"/>
            <a:ext cx="1584176" cy="648072"/>
          </a:xfrm>
          <a:prstGeom prst="chevron">
            <a:avLst>
              <a:gd name="adj" fmla="val 31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bg1"/>
                </a:solidFill>
              </a:rPr>
              <a:t>Communication</a:t>
            </a:r>
          </a:p>
        </p:txBody>
      </p:sp>
      <p:sp>
        <p:nvSpPr>
          <p:cNvPr id="3" name="Rechteck 2">
            <a:extLst>
              <a:ext uri="{FF2B5EF4-FFF2-40B4-BE49-F238E27FC236}">
                <a16:creationId xmlns:a16="http://schemas.microsoft.com/office/drawing/2014/main" id="{5E168538-4E69-AD2D-6E66-A31FD601D812}"/>
              </a:ext>
            </a:extLst>
          </p:cNvPr>
          <p:cNvSpPr/>
          <p:nvPr/>
        </p:nvSpPr>
        <p:spPr>
          <a:xfrm>
            <a:off x="3851920" y="2499742"/>
            <a:ext cx="5040560" cy="252028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AI needs to be integrated responsibly:</a:t>
            </a:r>
          </a:p>
          <a:p>
            <a:pPr marL="266700" indent="-266700">
              <a:spcAft>
                <a:spcPts val="600"/>
              </a:spcAft>
              <a:buFont typeface="+mj-lt"/>
              <a:buAutoNum type="arabicPeriod"/>
            </a:pPr>
            <a:r>
              <a:rPr lang="en-US" sz="1400" noProof="0" dirty="0">
                <a:solidFill>
                  <a:schemeClr val="tx1"/>
                </a:solidFill>
              </a:rPr>
              <a:t>Never submit AI-generated code you do not understand.</a:t>
            </a:r>
          </a:p>
          <a:p>
            <a:pPr marL="266700" indent="-266700">
              <a:spcAft>
                <a:spcPts val="600"/>
              </a:spcAft>
              <a:buFont typeface="+mj-lt"/>
              <a:buAutoNum type="arabicPeriod"/>
            </a:pPr>
            <a:r>
              <a:rPr lang="en-US" sz="1400" noProof="0" dirty="0">
                <a:solidFill>
                  <a:schemeClr val="tx1"/>
                </a:solidFill>
              </a:rPr>
              <a:t>Always verify whether the equations in the code match the mathematical model.</a:t>
            </a:r>
          </a:p>
          <a:p>
            <a:pPr marL="266700" indent="-266700">
              <a:spcAft>
                <a:spcPts val="600"/>
              </a:spcAft>
              <a:buFont typeface="+mj-lt"/>
              <a:buAutoNum type="arabicPeriod"/>
            </a:pPr>
            <a:r>
              <a:rPr lang="en-US" sz="1400" noProof="0" dirty="0">
                <a:solidFill>
                  <a:schemeClr val="tx1"/>
                </a:solidFill>
              </a:rPr>
              <a:t>Always test units, dimensions, and parameter meanings.</a:t>
            </a:r>
          </a:p>
          <a:p>
            <a:pPr marL="266700" indent="-266700">
              <a:spcAft>
                <a:spcPts val="600"/>
              </a:spcAft>
              <a:buFont typeface="+mj-lt"/>
              <a:buAutoNum type="arabicPeriod"/>
            </a:pPr>
            <a:r>
              <a:rPr lang="en-US" sz="1400" noProof="0" dirty="0">
                <a:solidFill>
                  <a:schemeClr val="tx1"/>
                </a:solidFill>
              </a:rPr>
              <a:t>Always compare numerical output with biological expectations.</a:t>
            </a:r>
          </a:p>
          <a:p>
            <a:pPr marL="266700" indent="-266700">
              <a:spcAft>
                <a:spcPts val="600"/>
              </a:spcAft>
              <a:buFont typeface="+mj-lt"/>
              <a:buAutoNum type="arabicPeriod"/>
            </a:pPr>
            <a:r>
              <a:rPr lang="en-US" sz="1400" noProof="0" dirty="0">
                <a:solidFill>
                  <a:schemeClr val="tx1"/>
                </a:solidFill>
              </a:rPr>
              <a:t>Use AI for structure, debugging, and explanation, not for replacing reasoning.</a:t>
            </a:r>
          </a:p>
          <a:p>
            <a:pPr marL="266700" indent="-266700">
              <a:spcAft>
                <a:spcPts val="600"/>
              </a:spcAft>
              <a:buFont typeface="+mj-lt"/>
              <a:buAutoNum type="arabicPeriod"/>
            </a:pPr>
            <a:r>
              <a:rPr lang="en-US" sz="1400" noProof="0" dirty="0">
                <a:solidFill>
                  <a:schemeClr val="tx1"/>
                </a:solidFill>
              </a:rPr>
              <a:t>Document where AI was used.</a:t>
            </a:r>
          </a:p>
        </p:txBody>
      </p:sp>
      <p:cxnSp>
        <p:nvCxnSpPr>
          <p:cNvPr id="10" name="Gerade Verbindung 21">
            <a:extLst>
              <a:ext uri="{FF2B5EF4-FFF2-40B4-BE49-F238E27FC236}">
                <a16:creationId xmlns:a16="http://schemas.microsoft.com/office/drawing/2014/main" id="{3BDF9FD9-59E2-AD3B-9C5D-60A9CA5376DB}"/>
              </a:ext>
            </a:extLst>
          </p:cNvPr>
          <p:cNvCxnSpPr>
            <a:cxnSpLocks/>
          </p:cNvCxnSpPr>
          <p:nvPr/>
        </p:nvCxnSpPr>
        <p:spPr>
          <a:xfrm flipH="1">
            <a:off x="3779912" y="2211710"/>
            <a:ext cx="1512168" cy="216024"/>
          </a:xfrm>
          <a:prstGeom prst="line">
            <a:avLst/>
          </a:prstGeom>
        </p:spPr>
        <p:style>
          <a:lnRef idx="2">
            <a:schemeClr val="accent1">
              <a:shade val="50000"/>
            </a:schemeClr>
          </a:lnRef>
          <a:fillRef idx="1">
            <a:schemeClr val="accent1"/>
          </a:fillRef>
          <a:effectRef idx="0">
            <a:schemeClr val="accent1"/>
          </a:effectRef>
          <a:fontRef idx="minor">
            <a:schemeClr val="lt1"/>
          </a:fontRef>
        </p:style>
      </p:cxnSp>
      <p:cxnSp>
        <p:nvCxnSpPr>
          <p:cNvPr id="11" name="Gerade Verbindung 22">
            <a:extLst>
              <a:ext uri="{FF2B5EF4-FFF2-40B4-BE49-F238E27FC236}">
                <a16:creationId xmlns:a16="http://schemas.microsoft.com/office/drawing/2014/main" id="{16118B6F-3068-3142-A036-A5B243675585}"/>
              </a:ext>
            </a:extLst>
          </p:cNvPr>
          <p:cNvCxnSpPr/>
          <p:nvPr/>
        </p:nvCxnSpPr>
        <p:spPr>
          <a:xfrm>
            <a:off x="5292080" y="1845320"/>
            <a:ext cx="0" cy="360040"/>
          </a:xfrm>
          <a:prstGeom prst="line">
            <a:avLst/>
          </a:prstGeom>
        </p:spPr>
        <p:style>
          <a:lnRef idx="2">
            <a:schemeClr val="accent1">
              <a:shade val="50000"/>
            </a:schemeClr>
          </a:lnRef>
          <a:fillRef idx="1">
            <a:schemeClr val="accent1"/>
          </a:fillRef>
          <a:effectRef idx="0">
            <a:schemeClr val="accent1"/>
          </a:effectRef>
          <a:fontRef idx="minor">
            <a:schemeClr val="lt1"/>
          </a:fontRef>
        </p:style>
      </p:cxnSp>
      <p:cxnSp>
        <p:nvCxnSpPr>
          <p:cNvPr id="26" name="Gerade Verbindung 21">
            <a:extLst>
              <a:ext uri="{FF2B5EF4-FFF2-40B4-BE49-F238E27FC236}">
                <a16:creationId xmlns:a16="http://schemas.microsoft.com/office/drawing/2014/main" id="{2F0E5BC5-9F8C-30A7-C58E-3C0BA63D2AD8}"/>
              </a:ext>
            </a:extLst>
          </p:cNvPr>
          <p:cNvCxnSpPr>
            <a:cxnSpLocks/>
          </p:cNvCxnSpPr>
          <p:nvPr/>
        </p:nvCxnSpPr>
        <p:spPr>
          <a:xfrm>
            <a:off x="3779912" y="2427734"/>
            <a:ext cx="0" cy="2592288"/>
          </a:xfrm>
          <a:prstGeom prst="line">
            <a:avLst/>
          </a:prstGeom>
        </p:spPr>
        <p:style>
          <a:lnRef idx="2">
            <a:schemeClr val="accent1">
              <a:shade val="50000"/>
            </a:schemeClr>
          </a:lnRef>
          <a:fillRef idx="1">
            <a:schemeClr val="accent1"/>
          </a:fillRef>
          <a:effectRef idx="0">
            <a:schemeClr val="accent1"/>
          </a:effectRef>
          <a:fontRef idx="minor">
            <a:schemeClr val="lt1"/>
          </a:fontRef>
        </p:style>
      </p:cxnSp>
      <p:sp>
        <p:nvSpPr>
          <p:cNvPr id="29" name="Rechteck 28">
            <a:extLst>
              <a:ext uri="{FF2B5EF4-FFF2-40B4-BE49-F238E27FC236}">
                <a16:creationId xmlns:a16="http://schemas.microsoft.com/office/drawing/2014/main" id="{5A58908E-7818-6627-C212-17F986AC05DC}"/>
              </a:ext>
            </a:extLst>
          </p:cNvPr>
          <p:cNvSpPr/>
          <p:nvPr/>
        </p:nvSpPr>
        <p:spPr>
          <a:xfrm>
            <a:off x="971600" y="2571750"/>
            <a:ext cx="2160239" cy="2448272"/>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Key idea of AI-enhanced coding:</a:t>
            </a:r>
          </a:p>
          <a:p>
            <a:pPr algn="ctr">
              <a:spcAft>
                <a:spcPts val="600"/>
              </a:spcAft>
            </a:pPr>
            <a:r>
              <a:rPr lang="en-US" sz="1400" noProof="0" dirty="0">
                <a:solidFill>
                  <a:schemeClr val="tx1"/>
                </a:solidFill>
              </a:rPr>
              <a:t>AI can help produce code faster, but scientific quality still depends on biological understanding, mathematical reasoning, and careful validation.</a:t>
            </a:r>
          </a:p>
        </p:txBody>
      </p:sp>
    </p:spTree>
    <p:extLst>
      <p:ext uri="{BB962C8B-B14F-4D97-AF65-F5344CB8AC3E}">
        <p14:creationId xmlns:p14="http://schemas.microsoft.com/office/powerpoint/2010/main" val="256928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3AF7D9-9F73-5AF2-0E72-65F7F586EA14}"/>
              </a:ext>
            </a:extLst>
          </p:cNvPr>
          <p:cNvSpPr>
            <a:spLocks noGrp="1"/>
          </p:cNvSpPr>
          <p:nvPr>
            <p:ph type="title"/>
          </p:nvPr>
        </p:nvSpPr>
        <p:spPr/>
        <p:txBody>
          <a:bodyPr/>
          <a:lstStyle/>
          <a:p>
            <a:r>
              <a:rPr lang="en-US" noProof="0" dirty="0"/>
              <a:t>Grading:</a:t>
            </a:r>
            <a:br>
              <a:rPr lang="en-US" noProof="0" dirty="0"/>
            </a:br>
            <a:r>
              <a:rPr lang="en-US" noProof="0" dirty="0"/>
              <a:t>Group projects with peer contribution monitoring</a:t>
            </a:r>
          </a:p>
        </p:txBody>
      </p:sp>
      <p:sp>
        <p:nvSpPr>
          <p:cNvPr id="3" name="Rechteck 2">
            <a:extLst>
              <a:ext uri="{FF2B5EF4-FFF2-40B4-BE49-F238E27FC236}">
                <a16:creationId xmlns:a16="http://schemas.microsoft.com/office/drawing/2014/main" id="{1F7CB9C3-59E9-B6DD-7744-55FF1B4080EB}"/>
              </a:ext>
            </a:extLst>
          </p:cNvPr>
          <p:cNvSpPr/>
          <p:nvPr/>
        </p:nvSpPr>
        <p:spPr>
          <a:xfrm>
            <a:off x="251520" y="1131590"/>
            <a:ext cx="4248472" cy="360040"/>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Grading</a:t>
            </a:r>
          </a:p>
        </p:txBody>
      </p:sp>
      <p:sp>
        <p:nvSpPr>
          <p:cNvPr id="4" name="Rechteck 3">
            <a:extLst>
              <a:ext uri="{FF2B5EF4-FFF2-40B4-BE49-F238E27FC236}">
                <a16:creationId xmlns:a16="http://schemas.microsoft.com/office/drawing/2014/main" id="{180A0433-5680-4948-EF48-84CFEB58DC00}"/>
              </a:ext>
            </a:extLst>
          </p:cNvPr>
          <p:cNvSpPr/>
          <p:nvPr/>
        </p:nvSpPr>
        <p:spPr>
          <a:xfrm>
            <a:off x="251520" y="1616410"/>
            <a:ext cx="4248472" cy="34036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500"/>
              </a:spcAft>
            </a:pPr>
            <a:r>
              <a:rPr lang="en-US" sz="1400" u="sng" noProof="0" dirty="0">
                <a:solidFill>
                  <a:schemeClr val="tx1"/>
                </a:solidFill>
              </a:rPr>
              <a:t>Components:</a:t>
            </a:r>
          </a:p>
          <a:p>
            <a:pPr marL="182563" indent="-182563">
              <a:spcAft>
                <a:spcPts val="500"/>
              </a:spcAft>
              <a:buFont typeface="Arial" panose="020B0604020202020204" pitchFamily="34" charset="0"/>
              <a:buChar char="•"/>
            </a:pPr>
            <a:r>
              <a:rPr lang="en-US" sz="1400" noProof="0" dirty="0">
                <a:solidFill>
                  <a:schemeClr val="tx1"/>
                </a:solidFill>
              </a:rPr>
              <a:t>Group project (3-4 students per team)</a:t>
            </a:r>
          </a:p>
          <a:p>
            <a:pPr marL="182563" indent="-182563">
              <a:spcAft>
                <a:spcPts val="500"/>
              </a:spcAft>
              <a:buFont typeface="Arial" panose="020B0604020202020204" pitchFamily="34" charset="0"/>
              <a:buChar char="•"/>
            </a:pPr>
            <a:r>
              <a:rPr lang="en-US" sz="1400" noProof="0" dirty="0">
                <a:solidFill>
                  <a:schemeClr val="tx1"/>
                </a:solidFill>
              </a:rPr>
              <a:t>Individual deviation from group grade according to peer contribution</a:t>
            </a:r>
          </a:p>
          <a:p>
            <a:pPr marL="182563" indent="-182563">
              <a:spcAft>
                <a:spcPts val="500"/>
              </a:spcAft>
              <a:buFont typeface="Arial" panose="020B0604020202020204" pitchFamily="34" charset="0"/>
              <a:buChar char="•"/>
            </a:pPr>
            <a:r>
              <a:rPr lang="en-US" sz="1400" noProof="0" dirty="0">
                <a:solidFill>
                  <a:schemeClr val="tx1"/>
                </a:solidFill>
              </a:rPr>
              <a:t>Intermediate result presentation (seeing that you are on track): 30% of the grade</a:t>
            </a:r>
          </a:p>
          <a:p>
            <a:pPr marL="450850" lvl="1" indent="-184150">
              <a:spcAft>
                <a:spcPts val="500"/>
              </a:spcAft>
              <a:buFont typeface="Symbol" panose="05050102010706020507" pitchFamily="18" charset="2"/>
              <a:buChar char="-"/>
            </a:pPr>
            <a:r>
              <a:rPr lang="en-US" sz="1400" noProof="0" dirty="0">
                <a:solidFill>
                  <a:schemeClr val="tx1"/>
                </a:solidFill>
              </a:rPr>
              <a:t>at the end of the course (Friday 2</a:t>
            </a:r>
            <a:r>
              <a:rPr lang="en-US" sz="1400" baseline="30000" noProof="0" dirty="0">
                <a:solidFill>
                  <a:schemeClr val="tx1"/>
                </a:solidFill>
              </a:rPr>
              <a:t>nd</a:t>
            </a:r>
            <a:r>
              <a:rPr lang="en-US" sz="1400" noProof="0" dirty="0">
                <a:solidFill>
                  <a:schemeClr val="tx1"/>
                </a:solidFill>
              </a:rPr>
              <a:t> week)</a:t>
            </a:r>
          </a:p>
          <a:p>
            <a:pPr marL="450850" lvl="1" indent="-184150">
              <a:spcAft>
                <a:spcPts val="500"/>
              </a:spcAft>
              <a:buFont typeface="Symbol" panose="05050102010706020507" pitchFamily="18" charset="2"/>
              <a:buChar char="-"/>
            </a:pPr>
            <a:r>
              <a:rPr lang="en-US" sz="1400" noProof="0" dirty="0">
                <a:solidFill>
                  <a:schemeClr val="tx1"/>
                </a:solidFill>
              </a:rPr>
              <a:t>criteria: well-defined problem and solution approach, first results</a:t>
            </a:r>
          </a:p>
          <a:p>
            <a:pPr marL="182563" indent="-182563">
              <a:spcAft>
                <a:spcPts val="500"/>
              </a:spcAft>
              <a:buFont typeface="Arial" panose="020B0604020202020204" pitchFamily="34" charset="0"/>
              <a:buChar char="•"/>
            </a:pPr>
            <a:r>
              <a:rPr lang="en-US" sz="1400" noProof="0" dirty="0">
                <a:solidFill>
                  <a:schemeClr val="tx1"/>
                </a:solidFill>
              </a:rPr>
              <a:t>Final presentation (= report): 70% of the grade</a:t>
            </a:r>
          </a:p>
          <a:p>
            <a:pPr marL="450850" lvl="1" indent="-184150">
              <a:spcAft>
                <a:spcPts val="500"/>
              </a:spcAft>
              <a:buFont typeface="Symbol" panose="05050102010706020507" pitchFamily="18" charset="2"/>
              <a:buChar char="-"/>
            </a:pPr>
            <a:r>
              <a:rPr lang="en-US" sz="1400" noProof="0" dirty="0">
                <a:solidFill>
                  <a:schemeClr val="tx1"/>
                </a:solidFill>
              </a:rPr>
              <a:t>about 3 weeks after the end of the course</a:t>
            </a:r>
          </a:p>
          <a:p>
            <a:pPr marL="450850" lvl="1" indent="-184150">
              <a:spcAft>
                <a:spcPts val="500"/>
              </a:spcAft>
              <a:buFont typeface="Symbol" panose="05050102010706020507" pitchFamily="18" charset="2"/>
              <a:buChar char="-"/>
            </a:pPr>
            <a:r>
              <a:rPr lang="en-US" sz="1400" noProof="0" dirty="0">
                <a:solidFill>
                  <a:schemeClr val="tx1"/>
                </a:solidFill>
              </a:rPr>
              <a:t>criteria: clear presentation and comprehensive results</a:t>
            </a:r>
          </a:p>
          <a:p>
            <a:pPr marL="450850" lvl="1" indent="-184150">
              <a:spcAft>
                <a:spcPts val="500"/>
              </a:spcAft>
              <a:buFont typeface="Symbol" panose="05050102010706020507" pitchFamily="18" charset="2"/>
              <a:buChar char="-"/>
            </a:pPr>
            <a:endParaRPr lang="en-US" sz="1400" noProof="0" dirty="0">
              <a:solidFill>
                <a:schemeClr val="tx1"/>
              </a:solidFill>
            </a:endParaRPr>
          </a:p>
          <a:p>
            <a:pPr marL="182563" indent="-182563">
              <a:spcAft>
                <a:spcPts val="500"/>
              </a:spcAft>
              <a:buFont typeface="Arial" panose="020B0604020202020204" pitchFamily="34" charset="0"/>
              <a:buChar char="•"/>
            </a:pPr>
            <a:endParaRPr lang="en-US" sz="1400" noProof="0" dirty="0">
              <a:solidFill>
                <a:schemeClr val="tx1"/>
              </a:solidFill>
            </a:endParaRPr>
          </a:p>
        </p:txBody>
      </p:sp>
      <p:sp>
        <p:nvSpPr>
          <p:cNvPr id="5" name="Rechteck 4">
            <a:extLst>
              <a:ext uri="{FF2B5EF4-FFF2-40B4-BE49-F238E27FC236}">
                <a16:creationId xmlns:a16="http://schemas.microsoft.com/office/drawing/2014/main" id="{79A88D59-8559-037C-1DF1-1EF6E090552B}"/>
              </a:ext>
            </a:extLst>
          </p:cNvPr>
          <p:cNvSpPr/>
          <p:nvPr/>
        </p:nvSpPr>
        <p:spPr>
          <a:xfrm>
            <a:off x="4644010" y="1131590"/>
            <a:ext cx="4248472" cy="360040"/>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Necessary Parts of the Presentations</a:t>
            </a:r>
          </a:p>
        </p:txBody>
      </p:sp>
      <p:sp>
        <p:nvSpPr>
          <p:cNvPr id="6" name="Rechteck 5">
            <a:extLst>
              <a:ext uri="{FF2B5EF4-FFF2-40B4-BE49-F238E27FC236}">
                <a16:creationId xmlns:a16="http://schemas.microsoft.com/office/drawing/2014/main" id="{F6645C80-36AB-DAE3-4835-C4F3A4DBE501}"/>
              </a:ext>
            </a:extLst>
          </p:cNvPr>
          <p:cNvSpPr/>
          <p:nvPr/>
        </p:nvSpPr>
        <p:spPr>
          <a:xfrm>
            <a:off x="4644010" y="1616410"/>
            <a:ext cx="4248472" cy="34036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Your presentation should be clearly structured highlighting your completed work:</a:t>
            </a:r>
          </a:p>
        </p:txBody>
      </p:sp>
      <p:grpSp>
        <p:nvGrpSpPr>
          <p:cNvPr id="54" name="Gruppieren 53">
            <a:extLst>
              <a:ext uri="{FF2B5EF4-FFF2-40B4-BE49-F238E27FC236}">
                <a16:creationId xmlns:a16="http://schemas.microsoft.com/office/drawing/2014/main" id="{3CE6DB8B-A861-6B0C-2B1C-6DC1AC52BF04}"/>
              </a:ext>
            </a:extLst>
          </p:cNvPr>
          <p:cNvGrpSpPr/>
          <p:nvPr/>
        </p:nvGrpSpPr>
        <p:grpSpPr>
          <a:xfrm>
            <a:off x="5102113" y="2304820"/>
            <a:ext cx="3332267" cy="2632179"/>
            <a:chOff x="1835696" y="1131588"/>
            <a:chExt cx="4608512" cy="3640293"/>
          </a:xfrm>
        </p:grpSpPr>
        <p:grpSp>
          <p:nvGrpSpPr>
            <p:cNvPr id="55" name="Gruppieren 54">
              <a:extLst>
                <a:ext uri="{FF2B5EF4-FFF2-40B4-BE49-F238E27FC236}">
                  <a16:creationId xmlns:a16="http://schemas.microsoft.com/office/drawing/2014/main" id="{0ACF3172-9E07-6363-5C86-1F7C6D6D0505}"/>
                </a:ext>
              </a:extLst>
            </p:cNvPr>
            <p:cNvGrpSpPr/>
            <p:nvPr/>
          </p:nvGrpSpPr>
          <p:grpSpPr>
            <a:xfrm>
              <a:off x="1835696" y="1131589"/>
              <a:ext cx="1440160" cy="952115"/>
              <a:chOff x="2204120" y="2715985"/>
              <a:chExt cx="1440160" cy="952115"/>
            </a:xfrm>
          </p:grpSpPr>
          <p:grpSp>
            <p:nvGrpSpPr>
              <p:cNvPr id="96" name="Gruppieren 17">
                <a:extLst>
                  <a:ext uri="{FF2B5EF4-FFF2-40B4-BE49-F238E27FC236}">
                    <a16:creationId xmlns:a16="http://schemas.microsoft.com/office/drawing/2014/main" id="{2EFAB18D-1AC8-C07D-899F-51265DEF919D}"/>
                  </a:ext>
                </a:extLst>
              </p:cNvPr>
              <p:cNvGrpSpPr/>
              <p:nvPr/>
            </p:nvGrpSpPr>
            <p:grpSpPr>
              <a:xfrm>
                <a:off x="2204120" y="2715985"/>
                <a:ext cx="1440160" cy="952115"/>
                <a:chOff x="2627784" y="1340768"/>
                <a:chExt cx="2287290" cy="1512168"/>
              </a:xfrm>
            </p:grpSpPr>
            <p:sp>
              <p:nvSpPr>
                <p:cNvPr id="98" name="Rechteck 97">
                  <a:extLst>
                    <a:ext uri="{FF2B5EF4-FFF2-40B4-BE49-F238E27FC236}">
                      <a16:creationId xmlns:a16="http://schemas.microsoft.com/office/drawing/2014/main" id="{9A37EDD9-69C7-1FF9-2D7E-1364297906C6}"/>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99" name="Rechteck 98">
                  <a:extLst>
                    <a:ext uri="{FF2B5EF4-FFF2-40B4-BE49-F238E27FC236}">
                      <a16:creationId xmlns:a16="http://schemas.microsoft.com/office/drawing/2014/main" id="{35579CDB-9E0B-61DC-A4AF-A8EF663F5983}"/>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97" name="Textfeld 96">
                <a:extLst>
                  <a:ext uri="{FF2B5EF4-FFF2-40B4-BE49-F238E27FC236}">
                    <a16:creationId xmlns:a16="http://schemas.microsoft.com/office/drawing/2014/main" id="{8A1A467F-8AF4-2780-D854-3F72C81BC254}"/>
                  </a:ext>
                </a:extLst>
              </p:cNvPr>
              <p:cNvSpPr txBox="1"/>
              <p:nvPr/>
            </p:nvSpPr>
            <p:spPr>
              <a:xfrm>
                <a:off x="2204120" y="2966890"/>
                <a:ext cx="1440160" cy="681047"/>
              </a:xfrm>
              <a:prstGeom prst="rect">
                <a:avLst/>
              </a:prstGeom>
              <a:noFill/>
            </p:spPr>
            <p:txBody>
              <a:bodyPr wrap="square" lIns="0" rIns="0" rtlCol="0">
                <a:spAutoFit/>
              </a:bodyPr>
              <a:lstStyle/>
              <a:p>
                <a:pPr algn="ctr"/>
                <a:r>
                  <a:rPr lang="en-US" sz="1000" noProof="0" dirty="0"/>
                  <a:t>Problem</a:t>
                </a:r>
              </a:p>
              <a:p>
                <a:pPr algn="ctr"/>
                <a:r>
                  <a:rPr lang="en-US" sz="1000" noProof="0" dirty="0"/>
                  <a:t>Statement</a:t>
                </a:r>
              </a:p>
              <a:p>
                <a:pPr algn="ctr"/>
                <a:r>
                  <a:rPr lang="en-US" sz="600" noProof="0" dirty="0"/>
                  <a:t>(Situation/ Complication)</a:t>
                </a:r>
              </a:p>
            </p:txBody>
          </p:sp>
        </p:grpSp>
        <p:grpSp>
          <p:nvGrpSpPr>
            <p:cNvPr id="56" name="Gruppieren 55">
              <a:extLst>
                <a:ext uri="{FF2B5EF4-FFF2-40B4-BE49-F238E27FC236}">
                  <a16:creationId xmlns:a16="http://schemas.microsoft.com/office/drawing/2014/main" id="{49A235F8-FCCB-5672-632E-FEC80F644267}"/>
                </a:ext>
              </a:extLst>
            </p:cNvPr>
            <p:cNvGrpSpPr/>
            <p:nvPr/>
          </p:nvGrpSpPr>
          <p:grpSpPr>
            <a:xfrm>
              <a:off x="3420205" y="1131588"/>
              <a:ext cx="1440160" cy="953234"/>
              <a:chOff x="2204120" y="2715985"/>
              <a:chExt cx="1440160" cy="953234"/>
            </a:xfrm>
          </p:grpSpPr>
          <p:grpSp>
            <p:nvGrpSpPr>
              <p:cNvPr id="92" name="Gruppieren 17">
                <a:extLst>
                  <a:ext uri="{FF2B5EF4-FFF2-40B4-BE49-F238E27FC236}">
                    <a16:creationId xmlns:a16="http://schemas.microsoft.com/office/drawing/2014/main" id="{24817891-B624-EAB8-3694-B894CAF8698E}"/>
                  </a:ext>
                </a:extLst>
              </p:cNvPr>
              <p:cNvGrpSpPr/>
              <p:nvPr/>
            </p:nvGrpSpPr>
            <p:grpSpPr>
              <a:xfrm>
                <a:off x="2204120" y="2715985"/>
                <a:ext cx="1440160" cy="952115"/>
                <a:chOff x="2627784" y="1340768"/>
                <a:chExt cx="2287290" cy="1512168"/>
              </a:xfrm>
            </p:grpSpPr>
            <p:sp>
              <p:nvSpPr>
                <p:cNvPr id="94" name="Rechteck 93">
                  <a:extLst>
                    <a:ext uri="{FF2B5EF4-FFF2-40B4-BE49-F238E27FC236}">
                      <a16:creationId xmlns:a16="http://schemas.microsoft.com/office/drawing/2014/main" id="{6F3E360E-DAD3-B19A-D7DC-803BF28229CA}"/>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95" name="Rechteck 94">
                  <a:extLst>
                    <a:ext uri="{FF2B5EF4-FFF2-40B4-BE49-F238E27FC236}">
                      <a16:creationId xmlns:a16="http://schemas.microsoft.com/office/drawing/2014/main" id="{C90250D5-E02B-D312-C481-90DAF100658E}"/>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93" name="Textfeld 92">
                <a:extLst>
                  <a:ext uri="{FF2B5EF4-FFF2-40B4-BE49-F238E27FC236}">
                    <a16:creationId xmlns:a16="http://schemas.microsoft.com/office/drawing/2014/main" id="{7820A7D2-E117-0BA6-EA34-628FF480C15E}"/>
                  </a:ext>
                </a:extLst>
              </p:cNvPr>
              <p:cNvSpPr txBox="1"/>
              <p:nvPr/>
            </p:nvSpPr>
            <p:spPr>
              <a:xfrm>
                <a:off x="2204120" y="2966890"/>
                <a:ext cx="1440160" cy="702329"/>
              </a:xfrm>
              <a:prstGeom prst="rect">
                <a:avLst/>
              </a:prstGeom>
              <a:noFill/>
            </p:spPr>
            <p:txBody>
              <a:bodyPr wrap="square" lIns="0" rIns="0" rtlCol="0">
                <a:spAutoFit/>
              </a:bodyPr>
              <a:lstStyle/>
              <a:p>
                <a:pPr algn="ctr"/>
                <a:r>
                  <a:rPr lang="en-US" sz="1000" noProof="0" dirty="0"/>
                  <a:t>Your Solution</a:t>
                </a:r>
              </a:p>
              <a:p>
                <a:pPr algn="ctr"/>
                <a:r>
                  <a:rPr lang="en-US" sz="1000" noProof="0" dirty="0"/>
                  <a:t>Approach</a:t>
                </a:r>
              </a:p>
              <a:p>
                <a:pPr algn="ctr"/>
                <a:r>
                  <a:rPr lang="en-US" sz="600" noProof="0" dirty="0"/>
                  <a:t>(Solution)</a:t>
                </a:r>
              </a:p>
            </p:txBody>
          </p:sp>
        </p:grpSp>
        <p:grpSp>
          <p:nvGrpSpPr>
            <p:cNvPr id="57" name="Gruppieren 56">
              <a:extLst>
                <a:ext uri="{FF2B5EF4-FFF2-40B4-BE49-F238E27FC236}">
                  <a16:creationId xmlns:a16="http://schemas.microsoft.com/office/drawing/2014/main" id="{F331CE2F-2E6E-2BC0-93E2-A3ECBE1AED97}"/>
                </a:ext>
              </a:extLst>
            </p:cNvPr>
            <p:cNvGrpSpPr/>
            <p:nvPr/>
          </p:nvGrpSpPr>
          <p:grpSpPr>
            <a:xfrm>
              <a:off x="5004048" y="1131588"/>
              <a:ext cx="1440160" cy="952115"/>
              <a:chOff x="5004048" y="1131588"/>
              <a:chExt cx="1440160" cy="952115"/>
            </a:xfrm>
          </p:grpSpPr>
          <p:grpSp>
            <p:nvGrpSpPr>
              <p:cNvPr id="88" name="Gruppieren 17">
                <a:extLst>
                  <a:ext uri="{FF2B5EF4-FFF2-40B4-BE49-F238E27FC236}">
                    <a16:creationId xmlns:a16="http://schemas.microsoft.com/office/drawing/2014/main" id="{8C869DB2-6737-845A-ACD2-3102678CB280}"/>
                  </a:ext>
                </a:extLst>
              </p:cNvPr>
              <p:cNvGrpSpPr/>
              <p:nvPr/>
            </p:nvGrpSpPr>
            <p:grpSpPr>
              <a:xfrm>
                <a:off x="5004048" y="1131588"/>
                <a:ext cx="1440160" cy="952115"/>
                <a:chOff x="2627784" y="1340768"/>
                <a:chExt cx="2287290" cy="1512168"/>
              </a:xfrm>
            </p:grpSpPr>
            <p:sp>
              <p:nvSpPr>
                <p:cNvPr id="90" name="Rechteck 89">
                  <a:extLst>
                    <a:ext uri="{FF2B5EF4-FFF2-40B4-BE49-F238E27FC236}">
                      <a16:creationId xmlns:a16="http://schemas.microsoft.com/office/drawing/2014/main" id="{A15CE932-391A-2644-3145-F3F8ED37DA8E}"/>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91" name="Rechteck 90">
                  <a:extLst>
                    <a:ext uri="{FF2B5EF4-FFF2-40B4-BE49-F238E27FC236}">
                      <a16:creationId xmlns:a16="http://schemas.microsoft.com/office/drawing/2014/main" id="{3DD86FB9-F94B-0C1E-A99A-D51A79E6F574}"/>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89" name="Textfeld 88">
                <a:extLst>
                  <a:ext uri="{FF2B5EF4-FFF2-40B4-BE49-F238E27FC236}">
                    <a16:creationId xmlns:a16="http://schemas.microsoft.com/office/drawing/2014/main" id="{8DE2A2EF-4B18-26CB-E6BF-30C26824819D}"/>
                  </a:ext>
                </a:extLst>
              </p:cNvPr>
              <p:cNvSpPr txBox="1"/>
              <p:nvPr/>
            </p:nvSpPr>
            <p:spPr>
              <a:xfrm>
                <a:off x="5138637" y="1463494"/>
                <a:ext cx="1170993" cy="553350"/>
              </a:xfrm>
              <a:prstGeom prst="rect">
                <a:avLst/>
              </a:prstGeom>
              <a:noFill/>
            </p:spPr>
            <p:txBody>
              <a:bodyPr wrap="none" rtlCol="0">
                <a:spAutoFit/>
              </a:bodyPr>
              <a:lstStyle/>
              <a:p>
                <a:pPr algn="ctr"/>
                <a:r>
                  <a:rPr lang="en-US" sz="1000" noProof="0" dirty="0"/>
                  <a:t>Peer</a:t>
                </a:r>
              </a:p>
              <a:p>
                <a:pPr algn="ctr"/>
                <a:r>
                  <a:rPr lang="en-US" sz="1000" noProof="0" dirty="0"/>
                  <a:t>Contribution</a:t>
                </a:r>
              </a:p>
            </p:txBody>
          </p:sp>
        </p:grpSp>
        <p:grpSp>
          <p:nvGrpSpPr>
            <p:cNvPr id="58" name="Gruppieren 57">
              <a:extLst>
                <a:ext uri="{FF2B5EF4-FFF2-40B4-BE49-F238E27FC236}">
                  <a16:creationId xmlns:a16="http://schemas.microsoft.com/office/drawing/2014/main" id="{C22BA42A-ADA1-6C0D-0E0F-CF70C078BC64}"/>
                </a:ext>
              </a:extLst>
            </p:cNvPr>
            <p:cNvGrpSpPr/>
            <p:nvPr/>
          </p:nvGrpSpPr>
          <p:grpSpPr>
            <a:xfrm>
              <a:off x="1835696" y="2243810"/>
              <a:ext cx="1440160" cy="952115"/>
              <a:chOff x="1815374" y="2243810"/>
              <a:chExt cx="1440160" cy="952115"/>
            </a:xfrm>
          </p:grpSpPr>
          <p:grpSp>
            <p:nvGrpSpPr>
              <p:cNvPr id="84" name="Gruppieren 17">
                <a:extLst>
                  <a:ext uri="{FF2B5EF4-FFF2-40B4-BE49-F238E27FC236}">
                    <a16:creationId xmlns:a16="http://schemas.microsoft.com/office/drawing/2014/main" id="{DF8AC773-E5F1-2EC9-49AF-E09DBF8500D7}"/>
                  </a:ext>
                </a:extLst>
              </p:cNvPr>
              <p:cNvGrpSpPr/>
              <p:nvPr/>
            </p:nvGrpSpPr>
            <p:grpSpPr>
              <a:xfrm>
                <a:off x="1815374" y="2243810"/>
                <a:ext cx="1440160" cy="952115"/>
                <a:chOff x="2627784" y="1340768"/>
                <a:chExt cx="2287290" cy="1512168"/>
              </a:xfrm>
            </p:grpSpPr>
            <p:sp>
              <p:nvSpPr>
                <p:cNvPr id="86" name="Rechteck 85">
                  <a:extLst>
                    <a:ext uri="{FF2B5EF4-FFF2-40B4-BE49-F238E27FC236}">
                      <a16:creationId xmlns:a16="http://schemas.microsoft.com/office/drawing/2014/main" id="{43361743-8132-5C79-5716-A4763F443BF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87" name="Rechteck 86">
                  <a:extLst>
                    <a:ext uri="{FF2B5EF4-FFF2-40B4-BE49-F238E27FC236}">
                      <a16:creationId xmlns:a16="http://schemas.microsoft.com/office/drawing/2014/main" id="{385C10CD-2524-C104-757A-94C6E6DA7FFF}"/>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85" name="Textfeld 84">
                <a:extLst>
                  <a:ext uri="{FF2B5EF4-FFF2-40B4-BE49-F238E27FC236}">
                    <a16:creationId xmlns:a16="http://schemas.microsoft.com/office/drawing/2014/main" id="{134C920D-5867-68CD-50E3-3E411DBBAEF2}"/>
                  </a:ext>
                </a:extLst>
              </p:cNvPr>
              <p:cNvSpPr txBox="1"/>
              <p:nvPr/>
            </p:nvSpPr>
            <p:spPr>
              <a:xfrm>
                <a:off x="1815374" y="2584689"/>
                <a:ext cx="1440160" cy="553350"/>
              </a:xfrm>
              <a:prstGeom prst="rect">
                <a:avLst/>
              </a:prstGeom>
              <a:noFill/>
            </p:spPr>
            <p:txBody>
              <a:bodyPr wrap="square" lIns="0" rIns="0" rtlCol="0">
                <a:spAutoFit/>
              </a:bodyPr>
              <a:lstStyle/>
              <a:p>
                <a:pPr algn="ctr"/>
                <a:r>
                  <a:rPr lang="en-US" sz="1000" noProof="0" dirty="0"/>
                  <a:t>List of Completed Activities</a:t>
                </a:r>
              </a:p>
            </p:txBody>
          </p:sp>
        </p:grpSp>
        <p:grpSp>
          <p:nvGrpSpPr>
            <p:cNvPr id="59" name="Gruppieren 58">
              <a:extLst>
                <a:ext uri="{FF2B5EF4-FFF2-40B4-BE49-F238E27FC236}">
                  <a16:creationId xmlns:a16="http://schemas.microsoft.com/office/drawing/2014/main" id="{08366C7B-40A3-FC4F-9A77-F00BCF887E1C}"/>
                </a:ext>
              </a:extLst>
            </p:cNvPr>
            <p:cNvGrpSpPr/>
            <p:nvPr/>
          </p:nvGrpSpPr>
          <p:grpSpPr>
            <a:xfrm>
              <a:off x="3420205" y="2247077"/>
              <a:ext cx="1897360" cy="1409315"/>
              <a:chOff x="3421713" y="2247077"/>
              <a:chExt cx="1897360" cy="1409315"/>
            </a:xfrm>
          </p:grpSpPr>
          <p:grpSp>
            <p:nvGrpSpPr>
              <p:cNvPr id="68" name="Gruppieren 17">
                <a:extLst>
                  <a:ext uri="{FF2B5EF4-FFF2-40B4-BE49-F238E27FC236}">
                    <a16:creationId xmlns:a16="http://schemas.microsoft.com/office/drawing/2014/main" id="{4232BA04-6076-F76F-D457-CA52D807CA9B}"/>
                  </a:ext>
                </a:extLst>
              </p:cNvPr>
              <p:cNvGrpSpPr/>
              <p:nvPr/>
            </p:nvGrpSpPr>
            <p:grpSpPr>
              <a:xfrm>
                <a:off x="3878913" y="2704277"/>
                <a:ext cx="1440160" cy="952115"/>
                <a:chOff x="2627784" y="1340768"/>
                <a:chExt cx="2287290" cy="1512168"/>
              </a:xfrm>
            </p:grpSpPr>
            <p:sp>
              <p:nvSpPr>
                <p:cNvPr id="82" name="Rechteck 81">
                  <a:extLst>
                    <a:ext uri="{FF2B5EF4-FFF2-40B4-BE49-F238E27FC236}">
                      <a16:creationId xmlns:a16="http://schemas.microsoft.com/office/drawing/2014/main" id="{E009BC4B-453C-B48F-CDD4-F4C84439C06C}"/>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83" name="Rechteck 82">
                  <a:extLst>
                    <a:ext uri="{FF2B5EF4-FFF2-40B4-BE49-F238E27FC236}">
                      <a16:creationId xmlns:a16="http://schemas.microsoft.com/office/drawing/2014/main" id="{BEAFD72B-A984-7C3E-876F-01003CD889AC}"/>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69" name="Textfeld 68">
                <a:extLst>
                  <a:ext uri="{FF2B5EF4-FFF2-40B4-BE49-F238E27FC236}">
                    <a16:creationId xmlns:a16="http://schemas.microsoft.com/office/drawing/2014/main" id="{006BCFE1-F938-37ED-5CFC-B2CC85158518}"/>
                  </a:ext>
                </a:extLst>
              </p:cNvPr>
              <p:cNvSpPr txBox="1"/>
              <p:nvPr/>
            </p:nvSpPr>
            <p:spPr>
              <a:xfrm>
                <a:off x="3878914" y="3116579"/>
                <a:ext cx="1440159" cy="340522"/>
              </a:xfrm>
              <a:prstGeom prst="rect">
                <a:avLst/>
              </a:prstGeom>
              <a:noFill/>
            </p:spPr>
            <p:txBody>
              <a:bodyPr wrap="square" lIns="0" rIns="0" rtlCol="0">
                <a:spAutoFit/>
              </a:bodyPr>
              <a:lstStyle/>
              <a:p>
                <a:pPr algn="ctr"/>
                <a:r>
                  <a:rPr lang="en-US" sz="1000" noProof="0" dirty="0"/>
                  <a:t>Activity Details</a:t>
                </a:r>
              </a:p>
            </p:txBody>
          </p:sp>
          <p:grpSp>
            <p:nvGrpSpPr>
              <p:cNvPr id="70" name="Gruppieren 17">
                <a:extLst>
                  <a:ext uri="{FF2B5EF4-FFF2-40B4-BE49-F238E27FC236}">
                    <a16:creationId xmlns:a16="http://schemas.microsoft.com/office/drawing/2014/main" id="{6328765B-DE39-09AF-7C5F-6A5A5C75238A}"/>
                  </a:ext>
                </a:extLst>
              </p:cNvPr>
              <p:cNvGrpSpPr/>
              <p:nvPr/>
            </p:nvGrpSpPr>
            <p:grpSpPr>
              <a:xfrm>
                <a:off x="3726513" y="2551877"/>
                <a:ext cx="1440160" cy="952115"/>
                <a:chOff x="2627784" y="1340768"/>
                <a:chExt cx="2287290" cy="1512168"/>
              </a:xfrm>
            </p:grpSpPr>
            <p:sp>
              <p:nvSpPr>
                <p:cNvPr id="80" name="Rechteck 79">
                  <a:extLst>
                    <a:ext uri="{FF2B5EF4-FFF2-40B4-BE49-F238E27FC236}">
                      <a16:creationId xmlns:a16="http://schemas.microsoft.com/office/drawing/2014/main" id="{207A453C-EADF-7966-8491-922B12FD0DD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81" name="Rechteck 80">
                  <a:extLst>
                    <a:ext uri="{FF2B5EF4-FFF2-40B4-BE49-F238E27FC236}">
                      <a16:creationId xmlns:a16="http://schemas.microsoft.com/office/drawing/2014/main" id="{40A0057A-EB21-0D74-B51F-2DB703B59D04}"/>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71" name="Textfeld 70">
                <a:extLst>
                  <a:ext uri="{FF2B5EF4-FFF2-40B4-BE49-F238E27FC236}">
                    <a16:creationId xmlns:a16="http://schemas.microsoft.com/office/drawing/2014/main" id="{FB4DA1DA-1B29-F401-0538-7F4B86604116}"/>
                  </a:ext>
                </a:extLst>
              </p:cNvPr>
              <p:cNvSpPr txBox="1"/>
              <p:nvPr/>
            </p:nvSpPr>
            <p:spPr>
              <a:xfrm>
                <a:off x="3726513" y="2964179"/>
                <a:ext cx="1440159" cy="340522"/>
              </a:xfrm>
              <a:prstGeom prst="rect">
                <a:avLst/>
              </a:prstGeom>
              <a:noFill/>
            </p:spPr>
            <p:txBody>
              <a:bodyPr wrap="square" lIns="0" rIns="0" rtlCol="0">
                <a:spAutoFit/>
              </a:bodyPr>
              <a:lstStyle/>
              <a:p>
                <a:pPr algn="ctr"/>
                <a:r>
                  <a:rPr lang="en-US" sz="1000" noProof="0" dirty="0"/>
                  <a:t>Activity Details</a:t>
                </a:r>
              </a:p>
            </p:txBody>
          </p:sp>
          <p:grpSp>
            <p:nvGrpSpPr>
              <p:cNvPr id="72" name="Gruppieren 17">
                <a:extLst>
                  <a:ext uri="{FF2B5EF4-FFF2-40B4-BE49-F238E27FC236}">
                    <a16:creationId xmlns:a16="http://schemas.microsoft.com/office/drawing/2014/main" id="{5DF650C8-BCD7-ACF4-29F2-D2B8E2A8EE99}"/>
                  </a:ext>
                </a:extLst>
              </p:cNvPr>
              <p:cNvGrpSpPr/>
              <p:nvPr/>
            </p:nvGrpSpPr>
            <p:grpSpPr>
              <a:xfrm>
                <a:off x="3574113" y="2399477"/>
                <a:ext cx="1440160" cy="952115"/>
                <a:chOff x="2627784" y="1340768"/>
                <a:chExt cx="2287290" cy="1512168"/>
              </a:xfrm>
            </p:grpSpPr>
            <p:sp>
              <p:nvSpPr>
                <p:cNvPr id="78" name="Rechteck 77">
                  <a:extLst>
                    <a:ext uri="{FF2B5EF4-FFF2-40B4-BE49-F238E27FC236}">
                      <a16:creationId xmlns:a16="http://schemas.microsoft.com/office/drawing/2014/main" id="{D8F57A98-80D4-5BCD-A235-42FA3EE8C0AE}"/>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79" name="Rechteck 78">
                  <a:extLst>
                    <a:ext uri="{FF2B5EF4-FFF2-40B4-BE49-F238E27FC236}">
                      <a16:creationId xmlns:a16="http://schemas.microsoft.com/office/drawing/2014/main" id="{84607895-4AF9-9B9E-D849-926132EC343B}"/>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73" name="Textfeld 72">
                <a:extLst>
                  <a:ext uri="{FF2B5EF4-FFF2-40B4-BE49-F238E27FC236}">
                    <a16:creationId xmlns:a16="http://schemas.microsoft.com/office/drawing/2014/main" id="{52E10A8D-1E0F-3FC6-5870-BDE40D5729DA}"/>
                  </a:ext>
                </a:extLst>
              </p:cNvPr>
              <p:cNvSpPr txBox="1"/>
              <p:nvPr/>
            </p:nvSpPr>
            <p:spPr>
              <a:xfrm>
                <a:off x="3574114" y="2811779"/>
                <a:ext cx="1440159" cy="340522"/>
              </a:xfrm>
              <a:prstGeom prst="rect">
                <a:avLst/>
              </a:prstGeom>
              <a:noFill/>
            </p:spPr>
            <p:txBody>
              <a:bodyPr wrap="square" lIns="0" rIns="0" rtlCol="0">
                <a:spAutoFit/>
              </a:bodyPr>
              <a:lstStyle/>
              <a:p>
                <a:pPr algn="ctr"/>
                <a:r>
                  <a:rPr lang="en-US" sz="1000" noProof="0" dirty="0"/>
                  <a:t>Activity Details</a:t>
                </a:r>
              </a:p>
            </p:txBody>
          </p:sp>
          <p:grpSp>
            <p:nvGrpSpPr>
              <p:cNvPr id="74" name="Gruppieren 17">
                <a:extLst>
                  <a:ext uri="{FF2B5EF4-FFF2-40B4-BE49-F238E27FC236}">
                    <a16:creationId xmlns:a16="http://schemas.microsoft.com/office/drawing/2014/main" id="{38527724-6D8C-5F8A-641C-7B46BEB151D3}"/>
                  </a:ext>
                </a:extLst>
              </p:cNvPr>
              <p:cNvGrpSpPr/>
              <p:nvPr/>
            </p:nvGrpSpPr>
            <p:grpSpPr>
              <a:xfrm>
                <a:off x="3421713" y="2247077"/>
                <a:ext cx="1440160" cy="952115"/>
                <a:chOff x="2627784" y="1340768"/>
                <a:chExt cx="2287290" cy="1512168"/>
              </a:xfrm>
            </p:grpSpPr>
            <p:sp>
              <p:nvSpPr>
                <p:cNvPr id="76" name="Rechteck 75">
                  <a:extLst>
                    <a:ext uri="{FF2B5EF4-FFF2-40B4-BE49-F238E27FC236}">
                      <a16:creationId xmlns:a16="http://schemas.microsoft.com/office/drawing/2014/main" id="{5CA2E6F0-E3C8-5BEE-2572-CA64427620E3}"/>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77" name="Rechteck 76">
                  <a:extLst>
                    <a:ext uri="{FF2B5EF4-FFF2-40B4-BE49-F238E27FC236}">
                      <a16:creationId xmlns:a16="http://schemas.microsoft.com/office/drawing/2014/main" id="{A3F9124E-15E4-D0B9-A35B-5E9176F829E2}"/>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75" name="Textfeld 74">
                <a:extLst>
                  <a:ext uri="{FF2B5EF4-FFF2-40B4-BE49-F238E27FC236}">
                    <a16:creationId xmlns:a16="http://schemas.microsoft.com/office/drawing/2014/main" id="{8B2085A1-9202-AF0C-A124-DFC87A9B39D2}"/>
                  </a:ext>
                </a:extLst>
              </p:cNvPr>
              <p:cNvSpPr txBox="1"/>
              <p:nvPr/>
            </p:nvSpPr>
            <p:spPr>
              <a:xfrm>
                <a:off x="3421713" y="2584690"/>
                <a:ext cx="1440159" cy="553350"/>
              </a:xfrm>
              <a:prstGeom prst="rect">
                <a:avLst/>
              </a:prstGeom>
              <a:noFill/>
            </p:spPr>
            <p:txBody>
              <a:bodyPr wrap="square" lIns="0" rIns="0" rtlCol="0">
                <a:spAutoFit/>
              </a:bodyPr>
              <a:lstStyle/>
              <a:p>
                <a:pPr algn="ctr"/>
                <a:r>
                  <a:rPr lang="en-US" sz="1000" noProof="0" dirty="0"/>
                  <a:t>Activity Details/</a:t>
                </a:r>
              </a:p>
              <a:p>
                <a:pPr algn="ctr"/>
                <a:r>
                  <a:rPr lang="en-US" sz="1000" noProof="0" dirty="0"/>
                  <a:t>Results</a:t>
                </a:r>
              </a:p>
            </p:txBody>
          </p:sp>
        </p:grpSp>
        <p:grpSp>
          <p:nvGrpSpPr>
            <p:cNvPr id="60" name="Gruppieren 59">
              <a:extLst>
                <a:ext uri="{FF2B5EF4-FFF2-40B4-BE49-F238E27FC236}">
                  <a16:creationId xmlns:a16="http://schemas.microsoft.com/office/drawing/2014/main" id="{60E2090C-EA1D-ED88-224A-170D279D8E93}"/>
                </a:ext>
              </a:extLst>
            </p:cNvPr>
            <p:cNvGrpSpPr/>
            <p:nvPr/>
          </p:nvGrpSpPr>
          <p:grpSpPr>
            <a:xfrm>
              <a:off x="1835696" y="3819766"/>
              <a:ext cx="1440160" cy="952115"/>
              <a:chOff x="2204120" y="2715985"/>
              <a:chExt cx="1440160" cy="952115"/>
            </a:xfrm>
          </p:grpSpPr>
          <p:grpSp>
            <p:nvGrpSpPr>
              <p:cNvPr id="64" name="Gruppieren 17">
                <a:extLst>
                  <a:ext uri="{FF2B5EF4-FFF2-40B4-BE49-F238E27FC236}">
                    <a16:creationId xmlns:a16="http://schemas.microsoft.com/office/drawing/2014/main" id="{15AE9AE9-81E1-2E55-2C6D-A8E763DD6BF1}"/>
                  </a:ext>
                </a:extLst>
              </p:cNvPr>
              <p:cNvGrpSpPr/>
              <p:nvPr/>
            </p:nvGrpSpPr>
            <p:grpSpPr>
              <a:xfrm>
                <a:off x="2204120" y="2715985"/>
                <a:ext cx="1440160" cy="952115"/>
                <a:chOff x="2627784" y="1340768"/>
                <a:chExt cx="2287290" cy="1512168"/>
              </a:xfrm>
            </p:grpSpPr>
            <p:sp>
              <p:nvSpPr>
                <p:cNvPr id="66" name="Rechteck 65">
                  <a:extLst>
                    <a:ext uri="{FF2B5EF4-FFF2-40B4-BE49-F238E27FC236}">
                      <a16:creationId xmlns:a16="http://schemas.microsoft.com/office/drawing/2014/main" id="{8D52A8E9-23B6-27AC-8317-6E9CBBBFBD1C}"/>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67" name="Rechteck 66">
                  <a:extLst>
                    <a:ext uri="{FF2B5EF4-FFF2-40B4-BE49-F238E27FC236}">
                      <a16:creationId xmlns:a16="http://schemas.microsoft.com/office/drawing/2014/main" id="{A3B39801-AD7E-8582-53CF-CD922D5A1588}"/>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65" name="Textfeld 64">
                <a:extLst>
                  <a:ext uri="{FF2B5EF4-FFF2-40B4-BE49-F238E27FC236}">
                    <a16:creationId xmlns:a16="http://schemas.microsoft.com/office/drawing/2014/main" id="{24479048-EB7B-D2DB-34BD-A8E728C0FEA8}"/>
                  </a:ext>
                </a:extLst>
              </p:cNvPr>
              <p:cNvSpPr txBox="1"/>
              <p:nvPr/>
            </p:nvSpPr>
            <p:spPr>
              <a:xfrm>
                <a:off x="2204120" y="3052146"/>
                <a:ext cx="1440160" cy="553350"/>
              </a:xfrm>
              <a:prstGeom prst="rect">
                <a:avLst/>
              </a:prstGeom>
              <a:noFill/>
            </p:spPr>
            <p:txBody>
              <a:bodyPr wrap="square" lIns="0" rIns="0" rtlCol="0">
                <a:spAutoFit/>
              </a:bodyPr>
              <a:lstStyle/>
              <a:p>
                <a:pPr algn="ctr"/>
                <a:r>
                  <a:rPr lang="en-US" sz="1000" noProof="0" dirty="0"/>
                  <a:t>Conclusion &amp;</a:t>
                </a:r>
              </a:p>
              <a:p>
                <a:pPr algn="ctr"/>
                <a:r>
                  <a:rPr lang="en-US" sz="1000" noProof="0" dirty="0"/>
                  <a:t>Outlook</a:t>
                </a:r>
              </a:p>
            </p:txBody>
          </p:sp>
        </p:grpSp>
        <p:sp>
          <p:nvSpPr>
            <p:cNvPr id="61" name="Stern: 5 Zacken 60">
              <a:extLst>
                <a:ext uri="{FF2B5EF4-FFF2-40B4-BE49-F238E27FC236}">
                  <a16:creationId xmlns:a16="http://schemas.microsoft.com/office/drawing/2014/main" id="{18C4B81D-7C91-B35F-DD3C-05C178CDE9F4}"/>
                </a:ext>
              </a:extLst>
            </p:cNvPr>
            <p:cNvSpPr/>
            <p:nvPr/>
          </p:nvSpPr>
          <p:spPr>
            <a:xfrm>
              <a:off x="3647929" y="4292908"/>
              <a:ext cx="145435" cy="145435"/>
            </a:xfrm>
            <a:prstGeom prst="star5">
              <a:avLst/>
            </a:prstGeom>
            <a:solidFill>
              <a:srgbClr val="FFC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62" name="Textfeld 61">
              <a:extLst>
                <a:ext uri="{FF2B5EF4-FFF2-40B4-BE49-F238E27FC236}">
                  <a16:creationId xmlns:a16="http://schemas.microsoft.com/office/drawing/2014/main" id="{9E8558A9-13F8-9B53-1039-689C632C2B58}"/>
                </a:ext>
              </a:extLst>
            </p:cNvPr>
            <p:cNvSpPr txBox="1"/>
            <p:nvPr/>
          </p:nvSpPr>
          <p:spPr>
            <a:xfrm>
              <a:off x="3826788" y="4217883"/>
              <a:ext cx="2617420" cy="383088"/>
            </a:xfrm>
            <a:prstGeom prst="rect">
              <a:avLst/>
            </a:prstGeom>
            <a:noFill/>
          </p:spPr>
          <p:txBody>
            <a:bodyPr wrap="square" rtlCol="0">
              <a:spAutoFit/>
            </a:bodyPr>
            <a:lstStyle/>
            <a:p>
              <a:r>
                <a:rPr lang="en-US" sz="600" noProof="0" dirty="0"/>
                <a:t>Consider and carry-out several ways to solve the problem by different mathematical approaches</a:t>
              </a:r>
            </a:p>
          </p:txBody>
        </p:sp>
        <p:sp>
          <p:nvSpPr>
            <p:cNvPr id="63" name="Stern: 5 Zacken 62">
              <a:extLst>
                <a:ext uri="{FF2B5EF4-FFF2-40B4-BE49-F238E27FC236}">
                  <a16:creationId xmlns:a16="http://schemas.microsoft.com/office/drawing/2014/main" id="{D8413A05-399E-713C-3616-285A898FE420}"/>
                </a:ext>
              </a:extLst>
            </p:cNvPr>
            <p:cNvSpPr/>
            <p:nvPr/>
          </p:nvSpPr>
          <p:spPr>
            <a:xfrm>
              <a:off x="4606275" y="1852899"/>
              <a:ext cx="145435" cy="145435"/>
            </a:xfrm>
            <a:prstGeom prst="star5">
              <a:avLst/>
            </a:prstGeom>
            <a:solidFill>
              <a:srgbClr val="FFC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grpSp>
    </p:spTree>
    <p:extLst>
      <p:ext uri="{BB962C8B-B14F-4D97-AF65-F5344CB8AC3E}">
        <p14:creationId xmlns:p14="http://schemas.microsoft.com/office/powerpoint/2010/main" val="1483278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2394AE-FE95-585F-E3EA-70708F87CAE3}"/>
              </a:ext>
            </a:extLst>
          </p:cNvPr>
          <p:cNvSpPr>
            <a:spLocks noGrp="1"/>
          </p:cNvSpPr>
          <p:nvPr>
            <p:ph type="title"/>
          </p:nvPr>
        </p:nvSpPr>
        <p:spPr/>
        <p:txBody>
          <a:bodyPr/>
          <a:lstStyle/>
          <a:p>
            <a:r>
              <a:rPr lang="en-US" noProof="0" dirty="0"/>
              <a:t>Your presentation should be clearly structured highlighting your completed work and that you are in-time and in-scope</a:t>
            </a:r>
          </a:p>
        </p:txBody>
      </p:sp>
      <p:grpSp>
        <p:nvGrpSpPr>
          <p:cNvPr id="96" name="Gruppieren 95">
            <a:extLst>
              <a:ext uri="{FF2B5EF4-FFF2-40B4-BE49-F238E27FC236}">
                <a16:creationId xmlns:a16="http://schemas.microsoft.com/office/drawing/2014/main" id="{D66278F8-75FB-AF62-A742-3549524D62E4}"/>
              </a:ext>
            </a:extLst>
          </p:cNvPr>
          <p:cNvGrpSpPr/>
          <p:nvPr/>
        </p:nvGrpSpPr>
        <p:grpSpPr>
          <a:xfrm>
            <a:off x="251520" y="1131590"/>
            <a:ext cx="1440160" cy="952115"/>
            <a:chOff x="251520" y="1131590"/>
            <a:chExt cx="1440160" cy="952115"/>
          </a:xfrm>
        </p:grpSpPr>
        <p:grpSp>
          <p:nvGrpSpPr>
            <p:cNvPr id="4" name="Gruppieren 17">
              <a:extLst>
                <a:ext uri="{FF2B5EF4-FFF2-40B4-BE49-F238E27FC236}">
                  <a16:creationId xmlns:a16="http://schemas.microsoft.com/office/drawing/2014/main" id="{BE0B0693-2511-D3B9-C34B-240F12F258A4}"/>
                </a:ext>
              </a:extLst>
            </p:cNvPr>
            <p:cNvGrpSpPr/>
            <p:nvPr/>
          </p:nvGrpSpPr>
          <p:grpSpPr>
            <a:xfrm>
              <a:off x="251520" y="1131590"/>
              <a:ext cx="1440160" cy="952115"/>
              <a:chOff x="2627784" y="1340768"/>
              <a:chExt cx="2287290" cy="1512168"/>
            </a:xfrm>
          </p:grpSpPr>
          <p:sp>
            <p:nvSpPr>
              <p:cNvPr id="6" name="Rechteck 5">
                <a:extLst>
                  <a:ext uri="{FF2B5EF4-FFF2-40B4-BE49-F238E27FC236}">
                    <a16:creationId xmlns:a16="http://schemas.microsoft.com/office/drawing/2014/main" id="{BE63E366-76F0-07BF-65BE-A18E5E783887}"/>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7" name="Rechteck 6">
                <a:extLst>
                  <a:ext uri="{FF2B5EF4-FFF2-40B4-BE49-F238E27FC236}">
                    <a16:creationId xmlns:a16="http://schemas.microsoft.com/office/drawing/2014/main" id="{EA86E2EB-3128-BFF8-0341-CDF476FFF26D}"/>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5" name="Textfeld 4">
              <a:extLst>
                <a:ext uri="{FF2B5EF4-FFF2-40B4-BE49-F238E27FC236}">
                  <a16:creationId xmlns:a16="http://schemas.microsoft.com/office/drawing/2014/main" id="{F5C186FD-9E30-700E-8285-A3325D92B1D2}"/>
                </a:ext>
              </a:extLst>
            </p:cNvPr>
            <p:cNvSpPr txBox="1"/>
            <p:nvPr/>
          </p:nvSpPr>
          <p:spPr>
            <a:xfrm>
              <a:off x="540971" y="1535416"/>
              <a:ext cx="861261" cy="307777"/>
            </a:xfrm>
            <a:prstGeom prst="rect">
              <a:avLst/>
            </a:prstGeom>
            <a:noFill/>
          </p:spPr>
          <p:txBody>
            <a:bodyPr wrap="none" rtlCol="0">
              <a:spAutoFit/>
            </a:bodyPr>
            <a:lstStyle/>
            <a:p>
              <a:pPr algn="ctr"/>
              <a:r>
                <a:rPr lang="en-US" sz="1400" noProof="0" dirty="0"/>
                <a:t>Titlepage</a:t>
              </a:r>
            </a:p>
          </p:txBody>
        </p:sp>
      </p:grpSp>
      <p:grpSp>
        <p:nvGrpSpPr>
          <p:cNvPr id="33" name="Gruppieren 32">
            <a:extLst>
              <a:ext uri="{FF2B5EF4-FFF2-40B4-BE49-F238E27FC236}">
                <a16:creationId xmlns:a16="http://schemas.microsoft.com/office/drawing/2014/main" id="{381F59B3-2546-4688-A710-D6D5C94E63CF}"/>
              </a:ext>
            </a:extLst>
          </p:cNvPr>
          <p:cNvGrpSpPr/>
          <p:nvPr/>
        </p:nvGrpSpPr>
        <p:grpSpPr>
          <a:xfrm>
            <a:off x="1835696" y="1131589"/>
            <a:ext cx="1440160" cy="952115"/>
            <a:chOff x="2204120" y="2715985"/>
            <a:chExt cx="1440160" cy="952115"/>
          </a:xfrm>
        </p:grpSpPr>
        <p:grpSp>
          <p:nvGrpSpPr>
            <p:cNvPr id="34" name="Gruppieren 17">
              <a:extLst>
                <a:ext uri="{FF2B5EF4-FFF2-40B4-BE49-F238E27FC236}">
                  <a16:creationId xmlns:a16="http://schemas.microsoft.com/office/drawing/2014/main" id="{46426086-A6FC-12F7-8CB1-24DAAB882CED}"/>
                </a:ext>
              </a:extLst>
            </p:cNvPr>
            <p:cNvGrpSpPr/>
            <p:nvPr/>
          </p:nvGrpSpPr>
          <p:grpSpPr>
            <a:xfrm>
              <a:off x="2204120" y="2715985"/>
              <a:ext cx="1440160" cy="952115"/>
              <a:chOff x="2627784" y="1340768"/>
              <a:chExt cx="2287290" cy="1512168"/>
            </a:xfrm>
          </p:grpSpPr>
          <p:sp>
            <p:nvSpPr>
              <p:cNvPr id="36" name="Rechteck 35">
                <a:extLst>
                  <a:ext uri="{FF2B5EF4-FFF2-40B4-BE49-F238E27FC236}">
                    <a16:creationId xmlns:a16="http://schemas.microsoft.com/office/drawing/2014/main" id="{ED795BC5-3F86-B288-C2C3-5C3CF6C9F3B7}"/>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37" name="Rechteck 36">
                <a:extLst>
                  <a:ext uri="{FF2B5EF4-FFF2-40B4-BE49-F238E27FC236}">
                    <a16:creationId xmlns:a16="http://schemas.microsoft.com/office/drawing/2014/main" id="{932B2605-CAB8-02C3-8198-D9C42C6B9763}"/>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35" name="Textfeld 34">
              <a:extLst>
                <a:ext uri="{FF2B5EF4-FFF2-40B4-BE49-F238E27FC236}">
                  <a16:creationId xmlns:a16="http://schemas.microsoft.com/office/drawing/2014/main" id="{257F96AC-CE57-C631-D3F1-339679FDD0FE}"/>
                </a:ext>
              </a:extLst>
            </p:cNvPr>
            <p:cNvSpPr txBox="1"/>
            <p:nvPr/>
          </p:nvSpPr>
          <p:spPr>
            <a:xfrm>
              <a:off x="2204120" y="2966890"/>
              <a:ext cx="1440160" cy="677108"/>
            </a:xfrm>
            <a:prstGeom prst="rect">
              <a:avLst/>
            </a:prstGeom>
            <a:noFill/>
          </p:spPr>
          <p:txBody>
            <a:bodyPr wrap="square" lIns="0" rIns="0" rtlCol="0">
              <a:spAutoFit/>
            </a:bodyPr>
            <a:lstStyle/>
            <a:p>
              <a:pPr algn="ctr"/>
              <a:r>
                <a:rPr lang="en-US" sz="1400" noProof="0" dirty="0"/>
                <a:t>Problem</a:t>
              </a:r>
            </a:p>
            <a:p>
              <a:pPr algn="ctr"/>
              <a:r>
                <a:rPr lang="en-US" sz="1400" noProof="0" dirty="0"/>
                <a:t>Statement</a:t>
              </a:r>
            </a:p>
            <a:p>
              <a:pPr algn="ctr"/>
              <a:r>
                <a:rPr lang="en-US" sz="1000" noProof="0" dirty="0"/>
                <a:t>(Situation/ Complication)</a:t>
              </a:r>
            </a:p>
          </p:txBody>
        </p:sp>
      </p:grpSp>
      <p:grpSp>
        <p:nvGrpSpPr>
          <p:cNvPr id="38" name="Gruppieren 37">
            <a:extLst>
              <a:ext uri="{FF2B5EF4-FFF2-40B4-BE49-F238E27FC236}">
                <a16:creationId xmlns:a16="http://schemas.microsoft.com/office/drawing/2014/main" id="{DC6A5477-B57C-5DBC-8F2F-27A89CB6C949}"/>
              </a:ext>
            </a:extLst>
          </p:cNvPr>
          <p:cNvGrpSpPr/>
          <p:nvPr/>
        </p:nvGrpSpPr>
        <p:grpSpPr>
          <a:xfrm>
            <a:off x="3420205" y="1131588"/>
            <a:ext cx="1440160" cy="952115"/>
            <a:chOff x="2204120" y="2715985"/>
            <a:chExt cx="1440160" cy="952115"/>
          </a:xfrm>
        </p:grpSpPr>
        <p:grpSp>
          <p:nvGrpSpPr>
            <p:cNvPr id="39" name="Gruppieren 17">
              <a:extLst>
                <a:ext uri="{FF2B5EF4-FFF2-40B4-BE49-F238E27FC236}">
                  <a16:creationId xmlns:a16="http://schemas.microsoft.com/office/drawing/2014/main" id="{9B785E76-2B85-E0F3-3193-1FF646EBC554}"/>
                </a:ext>
              </a:extLst>
            </p:cNvPr>
            <p:cNvGrpSpPr/>
            <p:nvPr/>
          </p:nvGrpSpPr>
          <p:grpSpPr>
            <a:xfrm>
              <a:off x="2204120" y="2715985"/>
              <a:ext cx="1440160" cy="952115"/>
              <a:chOff x="2627784" y="1340768"/>
              <a:chExt cx="2287290" cy="1512168"/>
            </a:xfrm>
          </p:grpSpPr>
          <p:sp>
            <p:nvSpPr>
              <p:cNvPr id="41" name="Rechteck 40">
                <a:extLst>
                  <a:ext uri="{FF2B5EF4-FFF2-40B4-BE49-F238E27FC236}">
                    <a16:creationId xmlns:a16="http://schemas.microsoft.com/office/drawing/2014/main" id="{F277C39F-1B9F-5A6E-E341-C9408694EAA1}"/>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42" name="Rechteck 41">
                <a:extLst>
                  <a:ext uri="{FF2B5EF4-FFF2-40B4-BE49-F238E27FC236}">
                    <a16:creationId xmlns:a16="http://schemas.microsoft.com/office/drawing/2014/main" id="{814AF7E7-984B-F8EA-12FD-858001844E64}"/>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40" name="Textfeld 39">
              <a:extLst>
                <a:ext uri="{FF2B5EF4-FFF2-40B4-BE49-F238E27FC236}">
                  <a16:creationId xmlns:a16="http://schemas.microsoft.com/office/drawing/2014/main" id="{81280064-075D-D8E2-005B-CBCD7AFD4A9F}"/>
                </a:ext>
              </a:extLst>
            </p:cNvPr>
            <p:cNvSpPr txBox="1"/>
            <p:nvPr/>
          </p:nvSpPr>
          <p:spPr>
            <a:xfrm>
              <a:off x="2204120" y="2966890"/>
              <a:ext cx="1440160" cy="677108"/>
            </a:xfrm>
            <a:prstGeom prst="rect">
              <a:avLst/>
            </a:prstGeom>
            <a:noFill/>
          </p:spPr>
          <p:txBody>
            <a:bodyPr wrap="square" lIns="0" rIns="0" rtlCol="0">
              <a:spAutoFit/>
            </a:bodyPr>
            <a:lstStyle/>
            <a:p>
              <a:pPr algn="ctr"/>
              <a:r>
                <a:rPr lang="en-US" sz="1400" noProof="0" dirty="0"/>
                <a:t>Your Solution</a:t>
              </a:r>
            </a:p>
            <a:p>
              <a:pPr algn="ctr"/>
              <a:r>
                <a:rPr lang="en-US" sz="1400" noProof="0" dirty="0"/>
                <a:t>Approach</a:t>
              </a:r>
            </a:p>
            <a:p>
              <a:pPr algn="ctr"/>
              <a:r>
                <a:rPr lang="en-US" sz="1000" noProof="0" dirty="0"/>
                <a:t>(Solution)</a:t>
              </a:r>
            </a:p>
          </p:txBody>
        </p:sp>
      </p:grpSp>
      <p:grpSp>
        <p:nvGrpSpPr>
          <p:cNvPr id="97" name="Gruppieren 96">
            <a:extLst>
              <a:ext uri="{FF2B5EF4-FFF2-40B4-BE49-F238E27FC236}">
                <a16:creationId xmlns:a16="http://schemas.microsoft.com/office/drawing/2014/main" id="{C2F26862-BB2F-8FEF-A5F2-6A255D952822}"/>
              </a:ext>
            </a:extLst>
          </p:cNvPr>
          <p:cNvGrpSpPr/>
          <p:nvPr/>
        </p:nvGrpSpPr>
        <p:grpSpPr>
          <a:xfrm>
            <a:off x="5004048" y="1131588"/>
            <a:ext cx="1440160" cy="952115"/>
            <a:chOff x="5004048" y="1131588"/>
            <a:chExt cx="1440160" cy="952115"/>
          </a:xfrm>
        </p:grpSpPr>
        <p:grpSp>
          <p:nvGrpSpPr>
            <p:cNvPr id="44" name="Gruppieren 17">
              <a:extLst>
                <a:ext uri="{FF2B5EF4-FFF2-40B4-BE49-F238E27FC236}">
                  <a16:creationId xmlns:a16="http://schemas.microsoft.com/office/drawing/2014/main" id="{D5CFC8B9-3B98-A1BB-DDC1-80DAA1A65530}"/>
                </a:ext>
              </a:extLst>
            </p:cNvPr>
            <p:cNvGrpSpPr/>
            <p:nvPr/>
          </p:nvGrpSpPr>
          <p:grpSpPr>
            <a:xfrm>
              <a:off x="5004048" y="1131588"/>
              <a:ext cx="1440160" cy="952115"/>
              <a:chOff x="2627784" y="1340768"/>
              <a:chExt cx="2287290" cy="1512168"/>
            </a:xfrm>
          </p:grpSpPr>
          <p:sp>
            <p:nvSpPr>
              <p:cNvPr id="46" name="Rechteck 45">
                <a:extLst>
                  <a:ext uri="{FF2B5EF4-FFF2-40B4-BE49-F238E27FC236}">
                    <a16:creationId xmlns:a16="http://schemas.microsoft.com/office/drawing/2014/main" id="{8A32A76F-E27A-121E-DF80-614FEF89D359}"/>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47" name="Rechteck 46">
                <a:extLst>
                  <a:ext uri="{FF2B5EF4-FFF2-40B4-BE49-F238E27FC236}">
                    <a16:creationId xmlns:a16="http://schemas.microsoft.com/office/drawing/2014/main" id="{582A0695-2A26-3E42-4591-0A806EA7030B}"/>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45" name="Textfeld 44">
              <a:extLst>
                <a:ext uri="{FF2B5EF4-FFF2-40B4-BE49-F238E27FC236}">
                  <a16:creationId xmlns:a16="http://schemas.microsoft.com/office/drawing/2014/main" id="{989F5D08-7AF9-6519-52AD-C6E0CE1116A6}"/>
                </a:ext>
              </a:extLst>
            </p:cNvPr>
            <p:cNvSpPr txBox="1"/>
            <p:nvPr/>
          </p:nvSpPr>
          <p:spPr>
            <a:xfrm>
              <a:off x="5284971" y="1535416"/>
              <a:ext cx="878317" cy="307777"/>
            </a:xfrm>
            <a:prstGeom prst="rect">
              <a:avLst/>
            </a:prstGeom>
            <a:noFill/>
          </p:spPr>
          <p:txBody>
            <a:bodyPr wrap="none" rtlCol="0">
              <a:spAutoFit/>
            </a:bodyPr>
            <a:lstStyle/>
            <a:p>
              <a:pPr algn="ctr"/>
              <a:r>
                <a:rPr lang="en-US" sz="1400" noProof="0" dirty="0"/>
                <a:t>Roadmap</a:t>
              </a:r>
            </a:p>
          </p:txBody>
        </p:sp>
      </p:grpSp>
      <p:grpSp>
        <p:nvGrpSpPr>
          <p:cNvPr id="84" name="Gruppieren 83">
            <a:extLst>
              <a:ext uri="{FF2B5EF4-FFF2-40B4-BE49-F238E27FC236}">
                <a16:creationId xmlns:a16="http://schemas.microsoft.com/office/drawing/2014/main" id="{FBFAC830-8FFA-9426-F3D0-14420E7EF6D7}"/>
              </a:ext>
            </a:extLst>
          </p:cNvPr>
          <p:cNvGrpSpPr/>
          <p:nvPr/>
        </p:nvGrpSpPr>
        <p:grpSpPr>
          <a:xfrm>
            <a:off x="1835696" y="2243810"/>
            <a:ext cx="1440160" cy="952115"/>
            <a:chOff x="1815374" y="2243810"/>
            <a:chExt cx="1440160" cy="952115"/>
          </a:xfrm>
        </p:grpSpPr>
        <p:grpSp>
          <p:nvGrpSpPr>
            <p:cNvPr id="49" name="Gruppieren 17">
              <a:extLst>
                <a:ext uri="{FF2B5EF4-FFF2-40B4-BE49-F238E27FC236}">
                  <a16:creationId xmlns:a16="http://schemas.microsoft.com/office/drawing/2014/main" id="{B3FCE0B0-CE87-55FF-CA9F-0DD76503C41C}"/>
                </a:ext>
              </a:extLst>
            </p:cNvPr>
            <p:cNvGrpSpPr/>
            <p:nvPr/>
          </p:nvGrpSpPr>
          <p:grpSpPr>
            <a:xfrm>
              <a:off x="1815374" y="2243810"/>
              <a:ext cx="1440160" cy="952115"/>
              <a:chOff x="2627784" y="1340768"/>
              <a:chExt cx="2287290" cy="1512168"/>
            </a:xfrm>
          </p:grpSpPr>
          <p:sp>
            <p:nvSpPr>
              <p:cNvPr id="51" name="Rechteck 50">
                <a:extLst>
                  <a:ext uri="{FF2B5EF4-FFF2-40B4-BE49-F238E27FC236}">
                    <a16:creationId xmlns:a16="http://schemas.microsoft.com/office/drawing/2014/main" id="{24758BA5-87E5-48DB-8FC8-D40FEFB78D36}"/>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52" name="Rechteck 51">
                <a:extLst>
                  <a:ext uri="{FF2B5EF4-FFF2-40B4-BE49-F238E27FC236}">
                    <a16:creationId xmlns:a16="http://schemas.microsoft.com/office/drawing/2014/main" id="{16DB674A-2E43-3F10-70B5-43A7282A9DD3}"/>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50" name="Textfeld 49">
              <a:extLst>
                <a:ext uri="{FF2B5EF4-FFF2-40B4-BE49-F238E27FC236}">
                  <a16:creationId xmlns:a16="http://schemas.microsoft.com/office/drawing/2014/main" id="{50337CC0-ADA3-305D-26AD-2056BE8109D0}"/>
                </a:ext>
              </a:extLst>
            </p:cNvPr>
            <p:cNvSpPr txBox="1"/>
            <p:nvPr/>
          </p:nvSpPr>
          <p:spPr>
            <a:xfrm>
              <a:off x="1815374" y="2584689"/>
              <a:ext cx="1440160" cy="523220"/>
            </a:xfrm>
            <a:prstGeom prst="rect">
              <a:avLst/>
            </a:prstGeom>
            <a:noFill/>
          </p:spPr>
          <p:txBody>
            <a:bodyPr wrap="square" lIns="0" rIns="0" rtlCol="0">
              <a:spAutoFit/>
            </a:bodyPr>
            <a:lstStyle/>
            <a:p>
              <a:pPr algn="ctr"/>
              <a:r>
                <a:rPr lang="en-US" sz="1400" noProof="0" dirty="0"/>
                <a:t>List of Completed Activities</a:t>
              </a:r>
            </a:p>
          </p:txBody>
        </p:sp>
      </p:grpSp>
      <p:grpSp>
        <p:nvGrpSpPr>
          <p:cNvPr id="85" name="Gruppieren 84">
            <a:extLst>
              <a:ext uri="{FF2B5EF4-FFF2-40B4-BE49-F238E27FC236}">
                <a16:creationId xmlns:a16="http://schemas.microsoft.com/office/drawing/2014/main" id="{C507659F-3386-5AC9-017C-0E5C5E37C493}"/>
              </a:ext>
            </a:extLst>
          </p:cNvPr>
          <p:cNvGrpSpPr/>
          <p:nvPr/>
        </p:nvGrpSpPr>
        <p:grpSpPr>
          <a:xfrm>
            <a:off x="3420205" y="2247077"/>
            <a:ext cx="1897360" cy="1409315"/>
            <a:chOff x="3421713" y="2247077"/>
            <a:chExt cx="1897360" cy="1409315"/>
          </a:xfrm>
        </p:grpSpPr>
        <p:grpSp>
          <p:nvGrpSpPr>
            <p:cNvPr id="74" name="Gruppieren 17">
              <a:extLst>
                <a:ext uri="{FF2B5EF4-FFF2-40B4-BE49-F238E27FC236}">
                  <a16:creationId xmlns:a16="http://schemas.microsoft.com/office/drawing/2014/main" id="{97394E9F-DDF1-75C3-136B-F76D079EDFFD}"/>
                </a:ext>
              </a:extLst>
            </p:cNvPr>
            <p:cNvGrpSpPr/>
            <p:nvPr/>
          </p:nvGrpSpPr>
          <p:grpSpPr>
            <a:xfrm>
              <a:off x="3878913" y="2704277"/>
              <a:ext cx="1440160" cy="952115"/>
              <a:chOff x="2627784" y="1340768"/>
              <a:chExt cx="2287290" cy="1512168"/>
            </a:xfrm>
          </p:grpSpPr>
          <p:sp>
            <p:nvSpPr>
              <p:cNvPr id="76" name="Rechteck 75">
                <a:extLst>
                  <a:ext uri="{FF2B5EF4-FFF2-40B4-BE49-F238E27FC236}">
                    <a16:creationId xmlns:a16="http://schemas.microsoft.com/office/drawing/2014/main" id="{63AF33B9-4069-10BD-3929-07B8E6FF8DF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77" name="Rechteck 76">
                <a:extLst>
                  <a:ext uri="{FF2B5EF4-FFF2-40B4-BE49-F238E27FC236}">
                    <a16:creationId xmlns:a16="http://schemas.microsoft.com/office/drawing/2014/main" id="{2C1927AF-767E-05AA-8D23-646E47B252A6}"/>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75" name="Textfeld 74">
              <a:extLst>
                <a:ext uri="{FF2B5EF4-FFF2-40B4-BE49-F238E27FC236}">
                  <a16:creationId xmlns:a16="http://schemas.microsoft.com/office/drawing/2014/main" id="{AE702BA9-22D9-AA04-5A47-62DBD6C4E57D}"/>
                </a:ext>
              </a:extLst>
            </p:cNvPr>
            <p:cNvSpPr txBox="1"/>
            <p:nvPr/>
          </p:nvSpPr>
          <p:spPr>
            <a:xfrm>
              <a:off x="3878913" y="3116580"/>
              <a:ext cx="1440160" cy="307777"/>
            </a:xfrm>
            <a:prstGeom prst="rect">
              <a:avLst/>
            </a:prstGeom>
            <a:noFill/>
          </p:spPr>
          <p:txBody>
            <a:bodyPr wrap="square" lIns="0" rIns="0" rtlCol="0">
              <a:spAutoFit/>
            </a:bodyPr>
            <a:lstStyle/>
            <a:p>
              <a:pPr algn="ctr"/>
              <a:r>
                <a:rPr lang="en-US" sz="1400" noProof="0" dirty="0"/>
                <a:t>Activity Details</a:t>
              </a:r>
            </a:p>
          </p:txBody>
        </p:sp>
        <p:grpSp>
          <p:nvGrpSpPr>
            <p:cNvPr id="69" name="Gruppieren 17">
              <a:extLst>
                <a:ext uri="{FF2B5EF4-FFF2-40B4-BE49-F238E27FC236}">
                  <a16:creationId xmlns:a16="http://schemas.microsoft.com/office/drawing/2014/main" id="{0637E380-DEF3-8432-7F8F-A2DCA681192A}"/>
                </a:ext>
              </a:extLst>
            </p:cNvPr>
            <p:cNvGrpSpPr/>
            <p:nvPr/>
          </p:nvGrpSpPr>
          <p:grpSpPr>
            <a:xfrm>
              <a:off x="3726513" y="2551877"/>
              <a:ext cx="1440160" cy="952115"/>
              <a:chOff x="2627784" y="1340768"/>
              <a:chExt cx="2287290" cy="1512168"/>
            </a:xfrm>
          </p:grpSpPr>
          <p:sp>
            <p:nvSpPr>
              <p:cNvPr id="71" name="Rechteck 70">
                <a:extLst>
                  <a:ext uri="{FF2B5EF4-FFF2-40B4-BE49-F238E27FC236}">
                    <a16:creationId xmlns:a16="http://schemas.microsoft.com/office/drawing/2014/main" id="{56209626-5CD4-6296-5C9A-5EB096A8A81C}"/>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72" name="Rechteck 71">
                <a:extLst>
                  <a:ext uri="{FF2B5EF4-FFF2-40B4-BE49-F238E27FC236}">
                    <a16:creationId xmlns:a16="http://schemas.microsoft.com/office/drawing/2014/main" id="{491D8C12-2964-E40E-4B74-D85A925D3081}"/>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70" name="Textfeld 69">
              <a:extLst>
                <a:ext uri="{FF2B5EF4-FFF2-40B4-BE49-F238E27FC236}">
                  <a16:creationId xmlns:a16="http://schemas.microsoft.com/office/drawing/2014/main" id="{0FE31FF7-94BC-EA85-1FF9-3B4DD550E00C}"/>
                </a:ext>
              </a:extLst>
            </p:cNvPr>
            <p:cNvSpPr txBox="1"/>
            <p:nvPr/>
          </p:nvSpPr>
          <p:spPr>
            <a:xfrm>
              <a:off x="3726513" y="2964180"/>
              <a:ext cx="1440160" cy="307777"/>
            </a:xfrm>
            <a:prstGeom prst="rect">
              <a:avLst/>
            </a:prstGeom>
            <a:noFill/>
          </p:spPr>
          <p:txBody>
            <a:bodyPr wrap="square" lIns="0" rIns="0" rtlCol="0">
              <a:spAutoFit/>
            </a:bodyPr>
            <a:lstStyle/>
            <a:p>
              <a:pPr algn="ctr"/>
              <a:r>
                <a:rPr lang="en-US" sz="1400" noProof="0" dirty="0"/>
                <a:t>Activity Details</a:t>
              </a:r>
            </a:p>
          </p:txBody>
        </p:sp>
        <p:grpSp>
          <p:nvGrpSpPr>
            <p:cNvPr id="64" name="Gruppieren 17">
              <a:extLst>
                <a:ext uri="{FF2B5EF4-FFF2-40B4-BE49-F238E27FC236}">
                  <a16:creationId xmlns:a16="http://schemas.microsoft.com/office/drawing/2014/main" id="{CCF1243A-37F2-90AB-0ECA-19485F8079A3}"/>
                </a:ext>
              </a:extLst>
            </p:cNvPr>
            <p:cNvGrpSpPr/>
            <p:nvPr/>
          </p:nvGrpSpPr>
          <p:grpSpPr>
            <a:xfrm>
              <a:off x="3574113" y="2399477"/>
              <a:ext cx="1440160" cy="952115"/>
              <a:chOff x="2627784" y="1340768"/>
              <a:chExt cx="2287290" cy="1512168"/>
            </a:xfrm>
          </p:grpSpPr>
          <p:sp>
            <p:nvSpPr>
              <p:cNvPr id="66" name="Rechteck 65">
                <a:extLst>
                  <a:ext uri="{FF2B5EF4-FFF2-40B4-BE49-F238E27FC236}">
                    <a16:creationId xmlns:a16="http://schemas.microsoft.com/office/drawing/2014/main" id="{4AC9C10B-1F5E-B6D7-672C-D69037D6E14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67" name="Rechteck 66">
                <a:extLst>
                  <a:ext uri="{FF2B5EF4-FFF2-40B4-BE49-F238E27FC236}">
                    <a16:creationId xmlns:a16="http://schemas.microsoft.com/office/drawing/2014/main" id="{0136E14D-24CF-E63E-C4B5-632E4E18F381}"/>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65" name="Textfeld 64">
              <a:extLst>
                <a:ext uri="{FF2B5EF4-FFF2-40B4-BE49-F238E27FC236}">
                  <a16:creationId xmlns:a16="http://schemas.microsoft.com/office/drawing/2014/main" id="{8B1FD9BE-ABC5-0330-C18A-808A660AA474}"/>
                </a:ext>
              </a:extLst>
            </p:cNvPr>
            <p:cNvSpPr txBox="1"/>
            <p:nvPr/>
          </p:nvSpPr>
          <p:spPr>
            <a:xfrm>
              <a:off x="3574113" y="2811780"/>
              <a:ext cx="1440160" cy="307777"/>
            </a:xfrm>
            <a:prstGeom prst="rect">
              <a:avLst/>
            </a:prstGeom>
            <a:noFill/>
          </p:spPr>
          <p:txBody>
            <a:bodyPr wrap="square" lIns="0" rIns="0" rtlCol="0">
              <a:spAutoFit/>
            </a:bodyPr>
            <a:lstStyle/>
            <a:p>
              <a:pPr algn="ctr"/>
              <a:r>
                <a:rPr lang="en-US" sz="1400" noProof="0" dirty="0"/>
                <a:t>Activity Details</a:t>
              </a:r>
            </a:p>
          </p:txBody>
        </p:sp>
        <p:grpSp>
          <p:nvGrpSpPr>
            <p:cNvPr id="59" name="Gruppieren 17">
              <a:extLst>
                <a:ext uri="{FF2B5EF4-FFF2-40B4-BE49-F238E27FC236}">
                  <a16:creationId xmlns:a16="http://schemas.microsoft.com/office/drawing/2014/main" id="{1E69BDF4-B784-BD86-9C3F-9E82588318C0}"/>
                </a:ext>
              </a:extLst>
            </p:cNvPr>
            <p:cNvGrpSpPr/>
            <p:nvPr/>
          </p:nvGrpSpPr>
          <p:grpSpPr>
            <a:xfrm>
              <a:off x="3421713" y="2247077"/>
              <a:ext cx="1440160" cy="952115"/>
              <a:chOff x="2627784" y="1340768"/>
              <a:chExt cx="2287290" cy="1512168"/>
            </a:xfrm>
          </p:grpSpPr>
          <p:sp>
            <p:nvSpPr>
              <p:cNvPr id="61" name="Rechteck 60">
                <a:extLst>
                  <a:ext uri="{FF2B5EF4-FFF2-40B4-BE49-F238E27FC236}">
                    <a16:creationId xmlns:a16="http://schemas.microsoft.com/office/drawing/2014/main" id="{CAA07CBA-6F30-4C2E-9FB4-FF2E65898E31}"/>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62" name="Rechteck 61">
                <a:extLst>
                  <a:ext uri="{FF2B5EF4-FFF2-40B4-BE49-F238E27FC236}">
                    <a16:creationId xmlns:a16="http://schemas.microsoft.com/office/drawing/2014/main" id="{0B1BBDE9-9F4B-5754-745A-4C7073AC5290}"/>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60" name="Textfeld 59">
              <a:extLst>
                <a:ext uri="{FF2B5EF4-FFF2-40B4-BE49-F238E27FC236}">
                  <a16:creationId xmlns:a16="http://schemas.microsoft.com/office/drawing/2014/main" id="{55941DFE-987A-C15D-DAD8-BB14B65632DA}"/>
                </a:ext>
              </a:extLst>
            </p:cNvPr>
            <p:cNvSpPr txBox="1"/>
            <p:nvPr/>
          </p:nvSpPr>
          <p:spPr>
            <a:xfrm>
              <a:off x="3421713" y="2584689"/>
              <a:ext cx="1440160" cy="523220"/>
            </a:xfrm>
            <a:prstGeom prst="rect">
              <a:avLst/>
            </a:prstGeom>
            <a:noFill/>
          </p:spPr>
          <p:txBody>
            <a:bodyPr wrap="square" lIns="0" rIns="0" rtlCol="0">
              <a:spAutoFit/>
            </a:bodyPr>
            <a:lstStyle/>
            <a:p>
              <a:pPr algn="ctr"/>
              <a:r>
                <a:rPr lang="en-US" sz="1400" noProof="0" dirty="0"/>
                <a:t>Activity Details/</a:t>
              </a:r>
            </a:p>
            <a:p>
              <a:pPr algn="ctr"/>
              <a:r>
                <a:rPr lang="en-US" sz="1400" noProof="0" dirty="0"/>
                <a:t>Results</a:t>
              </a:r>
            </a:p>
          </p:txBody>
        </p:sp>
      </p:grpSp>
      <p:sp>
        <p:nvSpPr>
          <p:cNvPr id="83" name="Rechteck 82">
            <a:extLst>
              <a:ext uri="{FF2B5EF4-FFF2-40B4-BE49-F238E27FC236}">
                <a16:creationId xmlns:a16="http://schemas.microsoft.com/office/drawing/2014/main" id="{6C3BADA4-4CDF-0C89-C5A9-4894F16459A1}"/>
              </a:ext>
            </a:extLst>
          </p:cNvPr>
          <p:cNvSpPr/>
          <p:nvPr/>
        </p:nvSpPr>
        <p:spPr>
          <a:xfrm>
            <a:off x="6084168" y="2704277"/>
            <a:ext cx="2808312" cy="2315744"/>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Keep in mind:</a:t>
            </a:r>
          </a:p>
          <a:p>
            <a:pPr marL="266700" indent="-266700">
              <a:spcAft>
                <a:spcPts val="600"/>
              </a:spcAft>
              <a:buFont typeface="Arial" panose="020B0604020202020204" pitchFamily="34" charset="0"/>
              <a:buChar char="•"/>
            </a:pPr>
            <a:r>
              <a:rPr lang="en-US" sz="1400" noProof="0" dirty="0">
                <a:solidFill>
                  <a:schemeClr val="tx1"/>
                </a:solidFill>
              </a:rPr>
              <a:t>15 min presentation</a:t>
            </a:r>
          </a:p>
          <a:p>
            <a:pPr marL="266700" indent="-266700">
              <a:spcAft>
                <a:spcPts val="600"/>
              </a:spcAft>
              <a:buFont typeface="Arial" panose="020B0604020202020204" pitchFamily="34" charset="0"/>
              <a:buChar char="•"/>
            </a:pPr>
            <a:r>
              <a:rPr lang="en-US" sz="1400" noProof="0" dirty="0">
                <a:solidFill>
                  <a:schemeClr val="tx1"/>
                </a:solidFill>
              </a:rPr>
              <a:t>5 min for questions and answers</a:t>
            </a:r>
          </a:p>
          <a:p>
            <a:pPr marL="266700" indent="-266700">
              <a:spcAft>
                <a:spcPts val="600"/>
              </a:spcAft>
              <a:buFont typeface="Arial" panose="020B0604020202020204" pitchFamily="34" charset="0"/>
              <a:buChar char="•"/>
            </a:pPr>
            <a:r>
              <a:rPr lang="en-US" sz="1400" noProof="0" dirty="0">
                <a:solidFill>
                  <a:schemeClr val="tx1"/>
                </a:solidFill>
              </a:rPr>
              <a:t>You can embed LaTeX into PowerPoint e.g., via “</a:t>
            </a:r>
            <a:r>
              <a:rPr lang="en-US" sz="1400" noProof="0" dirty="0" err="1">
                <a:solidFill>
                  <a:schemeClr val="tx1"/>
                </a:solidFill>
              </a:rPr>
              <a:t>IguanaTex</a:t>
            </a:r>
            <a:r>
              <a:rPr lang="en-US" sz="1400" noProof="0" dirty="0">
                <a:solidFill>
                  <a:schemeClr val="tx1"/>
                </a:solidFill>
              </a:rPr>
              <a:t>”</a:t>
            </a:r>
          </a:p>
          <a:p>
            <a:pPr marL="266700" indent="-266700">
              <a:spcAft>
                <a:spcPts val="600"/>
              </a:spcAft>
              <a:buFont typeface="Arial" panose="020B0604020202020204" pitchFamily="34" charset="0"/>
              <a:buChar char="•"/>
            </a:pPr>
            <a:r>
              <a:rPr lang="en-US" sz="1400" noProof="0" dirty="0">
                <a:solidFill>
                  <a:schemeClr val="tx1"/>
                </a:solidFill>
              </a:rPr>
              <a:t>Slides should be self-explanatory</a:t>
            </a:r>
          </a:p>
          <a:p>
            <a:pPr marL="266700" indent="-266700">
              <a:spcAft>
                <a:spcPts val="600"/>
              </a:spcAft>
              <a:buFont typeface="Arial" panose="020B0604020202020204" pitchFamily="34" charset="0"/>
              <a:buChar char="•"/>
            </a:pPr>
            <a:r>
              <a:rPr lang="en-US" sz="1400" noProof="0" dirty="0">
                <a:solidFill>
                  <a:schemeClr val="tx1"/>
                </a:solidFill>
              </a:rPr>
              <a:t>Be precise</a:t>
            </a:r>
          </a:p>
        </p:txBody>
      </p:sp>
      <p:grpSp>
        <p:nvGrpSpPr>
          <p:cNvPr id="86" name="Gruppieren 85">
            <a:extLst>
              <a:ext uri="{FF2B5EF4-FFF2-40B4-BE49-F238E27FC236}">
                <a16:creationId xmlns:a16="http://schemas.microsoft.com/office/drawing/2014/main" id="{A1E9E98A-2AE8-BFEF-F6BD-134A280A7284}"/>
              </a:ext>
            </a:extLst>
          </p:cNvPr>
          <p:cNvGrpSpPr/>
          <p:nvPr/>
        </p:nvGrpSpPr>
        <p:grpSpPr>
          <a:xfrm>
            <a:off x="1835696" y="3819766"/>
            <a:ext cx="1440160" cy="952115"/>
            <a:chOff x="2204120" y="2715985"/>
            <a:chExt cx="1440160" cy="952115"/>
          </a:xfrm>
        </p:grpSpPr>
        <p:grpSp>
          <p:nvGrpSpPr>
            <p:cNvPr id="87" name="Gruppieren 17">
              <a:extLst>
                <a:ext uri="{FF2B5EF4-FFF2-40B4-BE49-F238E27FC236}">
                  <a16:creationId xmlns:a16="http://schemas.microsoft.com/office/drawing/2014/main" id="{96A7ECC4-5E31-162D-99E1-5FEFB502DE7B}"/>
                </a:ext>
              </a:extLst>
            </p:cNvPr>
            <p:cNvGrpSpPr/>
            <p:nvPr/>
          </p:nvGrpSpPr>
          <p:grpSpPr>
            <a:xfrm>
              <a:off x="2204120" y="2715985"/>
              <a:ext cx="1440160" cy="952115"/>
              <a:chOff x="2627784" y="1340768"/>
              <a:chExt cx="2287290" cy="1512168"/>
            </a:xfrm>
          </p:grpSpPr>
          <p:sp>
            <p:nvSpPr>
              <p:cNvPr id="89" name="Rechteck 88">
                <a:extLst>
                  <a:ext uri="{FF2B5EF4-FFF2-40B4-BE49-F238E27FC236}">
                    <a16:creationId xmlns:a16="http://schemas.microsoft.com/office/drawing/2014/main" id="{084687FB-EC43-A6F1-B0E7-96ABC4C62AD6}"/>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90" name="Rechteck 89">
                <a:extLst>
                  <a:ext uri="{FF2B5EF4-FFF2-40B4-BE49-F238E27FC236}">
                    <a16:creationId xmlns:a16="http://schemas.microsoft.com/office/drawing/2014/main" id="{313B918E-A927-9ABB-9C3B-B5ACAD4C6527}"/>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88" name="Textfeld 87">
              <a:extLst>
                <a:ext uri="{FF2B5EF4-FFF2-40B4-BE49-F238E27FC236}">
                  <a16:creationId xmlns:a16="http://schemas.microsoft.com/office/drawing/2014/main" id="{92A6B6DF-5F6B-A518-F561-3DE702F47B62}"/>
                </a:ext>
              </a:extLst>
            </p:cNvPr>
            <p:cNvSpPr txBox="1"/>
            <p:nvPr/>
          </p:nvSpPr>
          <p:spPr>
            <a:xfrm>
              <a:off x="2204120" y="3131187"/>
              <a:ext cx="1440160" cy="307777"/>
            </a:xfrm>
            <a:prstGeom prst="rect">
              <a:avLst/>
            </a:prstGeom>
            <a:noFill/>
          </p:spPr>
          <p:txBody>
            <a:bodyPr wrap="square" lIns="0" rIns="0" rtlCol="0">
              <a:spAutoFit/>
            </a:bodyPr>
            <a:lstStyle/>
            <a:p>
              <a:pPr algn="ctr"/>
              <a:r>
                <a:rPr lang="en-US" sz="1400" noProof="0" dirty="0"/>
                <a:t>Next Steps</a:t>
              </a:r>
            </a:p>
          </p:txBody>
        </p:sp>
      </p:grpSp>
      <p:grpSp>
        <p:nvGrpSpPr>
          <p:cNvPr id="91" name="Gruppieren 90">
            <a:extLst>
              <a:ext uri="{FF2B5EF4-FFF2-40B4-BE49-F238E27FC236}">
                <a16:creationId xmlns:a16="http://schemas.microsoft.com/office/drawing/2014/main" id="{EAC62CA6-93FC-BB48-E52C-E896A86AB3A4}"/>
              </a:ext>
            </a:extLst>
          </p:cNvPr>
          <p:cNvGrpSpPr/>
          <p:nvPr/>
        </p:nvGrpSpPr>
        <p:grpSpPr>
          <a:xfrm>
            <a:off x="6589647" y="1131588"/>
            <a:ext cx="1440160" cy="952115"/>
            <a:chOff x="2204120" y="2715985"/>
            <a:chExt cx="1440160" cy="952115"/>
          </a:xfrm>
        </p:grpSpPr>
        <p:grpSp>
          <p:nvGrpSpPr>
            <p:cNvPr id="92" name="Gruppieren 17">
              <a:extLst>
                <a:ext uri="{FF2B5EF4-FFF2-40B4-BE49-F238E27FC236}">
                  <a16:creationId xmlns:a16="http://schemas.microsoft.com/office/drawing/2014/main" id="{90ED37CB-834C-4ACC-64BE-1ED6F4D39DD1}"/>
                </a:ext>
              </a:extLst>
            </p:cNvPr>
            <p:cNvGrpSpPr/>
            <p:nvPr/>
          </p:nvGrpSpPr>
          <p:grpSpPr>
            <a:xfrm>
              <a:off x="2204120" y="2715985"/>
              <a:ext cx="1440160" cy="952115"/>
              <a:chOff x="2627784" y="1340768"/>
              <a:chExt cx="2287290" cy="1512168"/>
            </a:xfrm>
          </p:grpSpPr>
          <p:sp>
            <p:nvSpPr>
              <p:cNvPr id="94" name="Rechteck 93">
                <a:extLst>
                  <a:ext uri="{FF2B5EF4-FFF2-40B4-BE49-F238E27FC236}">
                    <a16:creationId xmlns:a16="http://schemas.microsoft.com/office/drawing/2014/main" id="{A07B736B-587C-4DED-4E38-CB543EE3F9E7}"/>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95" name="Rechteck 94">
                <a:extLst>
                  <a:ext uri="{FF2B5EF4-FFF2-40B4-BE49-F238E27FC236}">
                    <a16:creationId xmlns:a16="http://schemas.microsoft.com/office/drawing/2014/main" id="{CF2FE27F-8F0D-A41B-4F2C-92C8A2DC25C0}"/>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93" name="Textfeld 92">
              <a:extLst>
                <a:ext uri="{FF2B5EF4-FFF2-40B4-BE49-F238E27FC236}">
                  <a16:creationId xmlns:a16="http://schemas.microsoft.com/office/drawing/2014/main" id="{75D50A82-08F5-ABEE-C991-BDC045B7224E}"/>
                </a:ext>
              </a:extLst>
            </p:cNvPr>
            <p:cNvSpPr txBox="1"/>
            <p:nvPr/>
          </p:nvSpPr>
          <p:spPr>
            <a:xfrm>
              <a:off x="2204120" y="3052145"/>
              <a:ext cx="1440160" cy="523220"/>
            </a:xfrm>
            <a:prstGeom prst="rect">
              <a:avLst/>
            </a:prstGeom>
            <a:noFill/>
          </p:spPr>
          <p:txBody>
            <a:bodyPr wrap="square" lIns="0" rIns="0" rtlCol="0">
              <a:spAutoFit/>
            </a:bodyPr>
            <a:lstStyle/>
            <a:p>
              <a:pPr algn="ctr"/>
              <a:r>
                <a:rPr lang="en-US" sz="1400" noProof="0" dirty="0"/>
                <a:t>Peer</a:t>
              </a:r>
            </a:p>
            <a:p>
              <a:pPr algn="ctr"/>
              <a:r>
                <a:rPr lang="en-US" sz="1400" noProof="0" dirty="0"/>
                <a:t>Contribution</a:t>
              </a:r>
            </a:p>
          </p:txBody>
        </p:sp>
      </p:grpSp>
      <p:cxnSp>
        <p:nvCxnSpPr>
          <p:cNvPr id="8" name="Gerader Verbinder 7">
            <a:extLst>
              <a:ext uri="{FF2B5EF4-FFF2-40B4-BE49-F238E27FC236}">
                <a16:creationId xmlns:a16="http://schemas.microsoft.com/office/drawing/2014/main" id="{17B2DB52-DA52-E4D2-DD7C-1A54C3ACA5E1}"/>
              </a:ext>
            </a:extLst>
          </p:cNvPr>
          <p:cNvCxnSpPr>
            <a:cxnSpLocks/>
          </p:cNvCxnSpPr>
          <p:nvPr/>
        </p:nvCxnSpPr>
        <p:spPr>
          <a:xfrm>
            <a:off x="6012160" y="2636724"/>
            <a:ext cx="720080" cy="0"/>
          </a:xfrm>
          <a:prstGeom prst="line">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Gerader Verbinder 9">
            <a:extLst>
              <a:ext uri="{FF2B5EF4-FFF2-40B4-BE49-F238E27FC236}">
                <a16:creationId xmlns:a16="http://schemas.microsoft.com/office/drawing/2014/main" id="{7108D33F-0F4F-B0A1-B2F4-770D464355EF}"/>
              </a:ext>
            </a:extLst>
          </p:cNvPr>
          <p:cNvCxnSpPr>
            <a:cxnSpLocks/>
          </p:cNvCxnSpPr>
          <p:nvPr/>
        </p:nvCxnSpPr>
        <p:spPr>
          <a:xfrm rot="16200000">
            <a:off x="5652120" y="2996764"/>
            <a:ext cx="720080" cy="0"/>
          </a:xfrm>
          <a:prstGeom prst="line">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3" name="Stern: 5 Zacken 2">
            <a:extLst>
              <a:ext uri="{FF2B5EF4-FFF2-40B4-BE49-F238E27FC236}">
                <a16:creationId xmlns:a16="http://schemas.microsoft.com/office/drawing/2014/main" id="{8DC47081-244E-FD56-19EC-FCC48293F77B}"/>
              </a:ext>
            </a:extLst>
          </p:cNvPr>
          <p:cNvSpPr/>
          <p:nvPr/>
        </p:nvSpPr>
        <p:spPr>
          <a:xfrm>
            <a:off x="3647929" y="4529120"/>
            <a:ext cx="145435" cy="145435"/>
          </a:xfrm>
          <a:prstGeom prst="star5">
            <a:avLst/>
          </a:prstGeom>
          <a:solidFill>
            <a:srgbClr val="FFC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9" name="Textfeld 8">
            <a:extLst>
              <a:ext uri="{FF2B5EF4-FFF2-40B4-BE49-F238E27FC236}">
                <a16:creationId xmlns:a16="http://schemas.microsoft.com/office/drawing/2014/main" id="{C20B82F2-2405-9CDC-77EB-F2923A35ECEE}"/>
              </a:ext>
            </a:extLst>
          </p:cNvPr>
          <p:cNvSpPr txBox="1"/>
          <p:nvPr/>
        </p:nvSpPr>
        <p:spPr>
          <a:xfrm>
            <a:off x="3826788" y="4466024"/>
            <a:ext cx="2113362" cy="553998"/>
          </a:xfrm>
          <a:prstGeom prst="rect">
            <a:avLst/>
          </a:prstGeom>
          <a:noFill/>
        </p:spPr>
        <p:txBody>
          <a:bodyPr wrap="square" rtlCol="0">
            <a:spAutoFit/>
          </a:bodyPr>
          <a:lstStyle/>
          <a:p>
            <a:r>
              <a:rPr lang="en-US" sz="1000" noProof="0" dirty="0"/>
              <a:t>Consider and carry-out several ways to solve the problem by different mathematical approaches</a:t>
            </a:r>
          </a:p>
        </p:txBody>
      </p:sp>
      <p:sp>
        <p:nvSpPr>
          <p:cNvPr id="11" name="Stern: 5 Zacken 10">
            <a:extLst>
              <a:ext uri="{FF2B5EF4-FFF2-40B4-BE49-F238E27FC236}">
                <a16:creationId xmlns:a16="http://schemas.microsoft.com/office/drawing/2014/main" id="{F2ED6F0A-10E0-718E-4AD9-008688CBBAB1}"/>
              </a:ext>
            </a:extLst>
          </p:cNvPr>
          <p:cNvSpPr/>
          <p:nvPr/>
        </p:nvSpPr>
        <p:spPr>
          <a:xfrm>
            <a:off x="4606275" y="1852899"/>
            <a:ext cx="145435" cy="145435"/>
          </a:xfrm>
          <a:prstGeom prst="star5">
            <a:avLst/>
          </a:prstGeom>
          <a:solidFill>
            <a:srgbClr val="FFC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extLst>
      <p:ext uri="{BB962C8B-B14F-4D97-AF65-F5344CB8AC3E}">
        <p14:creationId xmlns:p14="http://schemas.microsoft.com/office/powerpoint/2010/main" val="1500343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33D33-316A-00C3-C4E8-BDF471383E0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451625D-23DF-3B75-5477-7A6D0C538272}"/>
              </a:ext>
            </a:extLst>
          </p:cNvPr>
          <p:cNvSpPr>
            <a:spLocks noGrp="1"/>
          </p:cNvSpPr>
          <p:nvPr>
            <p:ph type="title"/>
          </p:nvPr>
        </p:nvSpPr>
        <p:spPr/>
        <p:txBody>
          <a:bodyPr/>
          <a:lstStyle/>
          <a:p>
            <a:r>
              <a:rPr lang="en-US" noProof="0" dirty="0"/>
              <a:t>Remarks:</a:t>
            </a:r>
            <a:br>
              <a:rPr lang="en-US" noProof="0" dirty="0"/>
            </a:br>
            <a:r>
              <a:rPr lang="en-US" noProof="0" dirty="0"/>
              <a:t>Slide contents (1a/ 2)</a:t>
            </a:r>
          </a:p>
        </p:txBody>
      </p:sp>
      <p:grpSp>
        <p:nvGrpSpPr>
          <p:cNvPr id="3" name="Gruppieren 2">
            <a:extLst>
              <a:ext uri="{FF2B5EF4-FFF2-40B4-BE49-F238E27FC236}">
                <a16:creationId xmlns:a16="http://schemas.microsoft.com/office/drawing/2014/main" id="{9FCDC734-A946-8E15-69D8-D149AAD08D9F}"/>
              </a:ext>
            </a:extLst>
          </p:cNvPr>
          <p:cNvGrpSpPr/>
          <p:nvPr/>
        </p:nvGrpSpPr>
        <p:grpSpPr>
          <a:xfrm>
            <a:off x="251520" y="1131590"/>
            <a:ext cx="1440160" cy="952115"/>
            <a:chOff x="251520" y="1131590"/>
            <a:chExt cx="1440160" cy="952115"/>
          </a:xfrm>
        </p:grpSpPr>
        <p:grpSp>
          <p:nvGrpSpPr>
            <p:cNvPr id="4" name="Gruppieren 17">
              <a:extLst>
                <a:ext uri="{FF2B5EF4-FFF2-40B4-BE49-F238E27FC236}">
                  <a16:creationId xmlns:a16="http://schemas.microsoft.com/office/drawing/2014/main" id="{6D7A9B6D-8570-68C0-ABF2-57030E880C2B}"/>
                </a:ext>
              </a:extLst>
            </p:cNvPr>
            <p:cNvGrpSpPr/>
            <p:nvPr/>
          </p:nvGrpSpPr>
          <p:grpSpPr>
            <a:xfrm>
              <a:off x="251520" y="1131590"/>
              <a:ext cx="1440160" cy="952115"/>
              <a:chOff x="2627784" y="1340768"/>
              <a:chExt cx="2287290" cy="1512168"/>
            </a:xfrm>
          </p:grpSpPr>
          <p:sp>
            <p:nvSpPr>
              <p:cNvPr id="6" name="Rechteck 5">
                <a:extLst>
                  <a:ext uri="{FF2B5EF4-FFF2-40B4-BE49-F238E27FC236}">
                    <a16:creationId xmlns:a16="http://schemas.microsoft.com/office/drawing/2014/main" id="{DC8E18E0-DFAA-07D6-6DCF-AE53C17C296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7" name="Rechteck 6">
                <a:extLst>
                  <a:ext uri="{FF2B5EF4-FFF2-40B4-BE49-F238E27FC236}">
                    <a16:creationId xmlns:a16="http://schemas.microsoft.com/office/drawing/2014/main" id="{FCAD558E-E8E2-36A0-391E-9E6EB98CC139}"/>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5" name="Textfeld 4">
              <a:extLst>
                <a:ext uri="{FF2B5EF4-FFF2-40B4-BE49-F238E27FC236}">
                  <a16:creationId xmlns:a16="http://schemas.microsoft.com/office/drawing/2014/main" id="{B6AC4DFE-50F2-6FF4-ADB6-49F90DB7B77F}"/>
                </a:ext>
              </a:extLst>
            </p:cNvPr>
            <p:cNvSpPr txBox="1"/>
            <p:nvPr/>
          </p:nvSpPr>
          <p:spPr>
            <a:xfrm>
              <a:off x="540971" y="1535416"/>
              <a:ext cx="861261" cy="307777"/>
            </a:xfrm>
            <a:prstGeom prst="rect">
              <a:avLst/>
            </a:prstGeom>
            <a:noFill/>
          </p:spPr>
          <p:txBody>
            <a:bodyPr wrap="none" rtlCol="0">
              <a:spAutoFit/>
            </a:bodyPr>
            <a:lstStyle/>
            <a:p>
              <a:pPr algn="ctr"/>
              <a:r>
                <a:rPr lang="en-US" sz="1400" noProof="0" dirty="0"/>
                <a:t>Titlepage</a:t>
              </a:r>
            </a:p>
          </p:txBody>
        </p:sp>
      </p:grpSp>
      <p:grpSp>
        <p:nvGrpSpPr>
          <p:cNvPr id="8" name="Gruppieren 7">
            <a:extLst>
              <a:ext uri="{FF2B5EF4-FFF2-40B4-BE49-F238E27FC236}">
                <a16:creationId xmlns:a16="http://schemas.microsoft.com/office/drawing/2014/main" id="{A8AC5AB4-88A9-F62E-9F56-79704A233FCA}"/>
              </a:ext>
            </a:extLst>
          </p:cNvPr>
          <p:cNvGrpSpPr/>
          <p:nvPr/>
        </p:nvGrpSpPr>
        <p:grpSpPr>
          <a:xfrm>
            <a:off x="251520" y="2463738"/>
            <a:ext cx="1440160" cy="952115"/>
            <a:chOff x="2204120" y="2715985"/>
            <a:chExt cx="1440160" cy="952115"/>
          </a:xfrm>
        </p:grpSpPr>
        <p:grpSp>
          <p:nvGrpSpPr>
            <p:cNvPr id="9" name="Gruppieren 17">
              <a:extLst>
                <a:ext uri="{FF2B5EF4-FFF2-40B4-BE49-F238E27FC236}">
                  <a16:creationId xmlns:a16="http://schemas.microsoft.com/office/drawing/2014/main" id="{F849BA3D-60EC-C7E3-E72F-BCE299A1A428}"/>
                </a:ext>
              </a:extLst>
            </p:cNvPr>
            <p:cNvGrpSpPr/>
            <p:nvPr/>
          </p:nvGrpSpPr>
          <p:grpSpPr>
            <a:xfrm>
              <a:off x="2204120" y="2715985"/>
              <a:ext cx="1440160" cy="952115"/>
              <a:chOff x="2627784" y="1340768"/>
              <a:chExt cx="2287290" cy="1512168"/>
            </a:xfrm>
          </p:grpSpPr>
          <p:sp>
            <p:nvSpPr>
              <p:cNvPr id="11" name="Rechteck 10">
                <a:extLst>
                  <a:ext uri="{FF2B5EF4-FFF2-40B4-BE49-F238E27FC236}">
                    <a16:creationId xmlns:a16="http://schemas.microsoft.com/office/drawing/2014/main" id="{DB5C9243-4C5A-A0AB-51C8-9BF90444BEDA}"/>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12" name="Rechteck 11">
                <a:extLst>
                  <a:ext uri="{FF2B5EF4-FFF2-40B4-BE49-F238E27FC236}">
                    <a16:creationId xmlns:a16="http://schemas.microsoft.com/office/drawing/2014/main" id="{826E7E17-EDB0-7640-6414-A4FF6D13703B}"/>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10" name="Textfeld 9">
              <a:extLst>
                <a:ext uri="{FF2B5EF4-FFF2-40B4-BE49-F238E27FC236}">
                  <a16:creationId xmlns:a16="http://schemas.microsoft.com/office/drawing/2014/main" id="{B6CA6DA8-D7CF-56AA-9DEC-B2FE880EABB9}"/>
                </a:ext>
              </a:extLst>
            </p:cNvPr>
            <p:cNvSpPr txBox="1"/>
            <p:nvPr/>
          </p:nvSpPr>
          <p:spPr>
            <a:xfrm>
              <a:off x="2204120" y="2966890"/>
              <a:ext cx="1440160" cy="677108"/>
            </a:xfrm>
            <a:prstGeom prst="rect">
              <a:avLst/>
            </a:prstGeom>
            <a:noFill/>
          </p:spPr>
          <p:txBody>
            <a:bodyPr wrap="square" lIns="0" rIns="0" rtlCol="0">
              <a:spAutoFit/>
            </a:bodyPr>
            <a:lstStyle/>
            <a:p>
              <a:pPr algn="ctr"/>
              <a:r>
                <a:rPr lang="en-US" sz="1400" noProof="0" dirty="0"/>
                <a:t>Problem</a:t>
              </a:r>
            </a:p>
            <a:p>
              <a:pPr algn="ctr"/>
              <a:r>
                <a:rPr lang="en-US" sz="1400" noProof="0" dirty="0"/>
                <a:t>Statement</a:t>
              </a:r>
            </a:p>
            <a:p>
              <a:pPr algn="ctr"/>
              <a:r>
                <a:rPr lang="en-US" sz="1000" noProof="0" dirty="0"/>
                <a:t>(Situation/ Complication)</a:t>
              </a:r>
            </a:p>
          </p:txBody>
        </p:sp>
      </p:grpSp>
      <p:grpSp>
        <p:nvGrpSpPr>
          <p:cNvPr id="13" name="Gruppieren 12">
            <a:extLst>
              <a:ext uri="{FF2B5EF4-FFF2-40B4-BE49-F238E27FC236}">
                <a16:creationId xmlns:a16="http://schemas.microsoft.com/office/drawing/2014/main" id="{0A4D6E53-7FA7-2D88-0A8D-FAF88BDD9B97}"/>
              </a:ext>
            </a:extLst>
          </p:cNvPr>
          <p:cNvGrpSpPr/>
          <p:nvPr/>
        </p:nvGrpSpPr>
        <p:grpSpPr>
          <a:xfrm>
            <a:off x="251520" y="3795886"/>
            <a:ext cx="1440160" cy="952115"/>
            <a:chOff x="2204120" y="2715985"/>
            <a:chExt cx="1440160" cy="952115"/>
          </a:xfrm>
        </p:grpSpPr>
        <p:grpSp>
          <p:nvGrpSpPr>
            <p:cNvPr id="14" name="Gruppieren 17">
              <a:extLst>
                <a:ext uri="{FF2B5EF4-FFF2-40B4-BE49-F238E27FC236}">
                  <a16:creationId xmlns:a16="http://schemas.microsoft.com/office/drawing/2014/main" id="{4CDF8E78-60D3-6EB6-B092-598BBCC74711}"/>
                </a:ext>
              </a:extLst>
            </p:cNvPr>
            <p:cNvGrpSpPr/>
            <p:nvPr/>
          </p:nvGrpSpPr>
          <p:grpSpPr>
            <a:xfrm>
              <a:off x="2204120" y="2715985"/>
              <a:ext cx="1440160" cy="952115"/>
              <a:chOff x="2627784" y="1340768"/>
              <a:chExt cx="2287290" cy="1512168"/>
            </a:xfrm>
          </p:grpSpPr>
          <p:sp>
            <p:nvSpPr>
              <p:cNvPr id="16" name="Rechteck 15">
                <a:extLst>
                  <a:ext uri="{FF2B5EF4-FFF2-40B4-BE49-F238E27FC236}">
                    <a16:creationId xmlns:a16="http://schemas.microsoft.com/office/drawing/2014/main" id="{2C2F765A-46F1-E1A3-1C7F-33013D458CD5}"/>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17" name="Rechteck 16">
                <a:extLst>
                  <a:ext uri="{FF2B5EF4-FFF2-40B4-BE49-F238E27FC236}">
                    <a16:creationId xmlns:a16="http://schemas.microsoft.com/office/drawing/2014/main" id="{193031F0-FAC0-668E-8C92-1D6290B0814E}"/>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15" name="Textfeld 14">
              <a:extLst>
                <a:ext uri="{FF2B5EF4-FFF2-40B4-BE49-F238E27FC236}">
                  <a16:creationId xmlns:a16="http://schemas.microsoft.com/office/drawing/2014/main" id="{84066336-E17F-ADC7-F853-A8C74FAAC093}"/>
                </a:ext>
              </a:extLst>
            </p:cNvPr>
            <p:cNvSpPr txBox="1"/>
            <p:nvPr/>
          </p:nvSpPr>
          <p:spPr>
            <a:xfrm>
              <a:off x="2204120" y="2966890"/>
              <a:ext cx="1440160" cy="677108"/>
            </a:xfrm>
            <a:prstGeom prst="rect">
              <a:avLst/>
            </a:prstGeom>
            <a:noFill/>
          </p:spPr>
          <p:txBody>
            <a:bodyPr wrap="square" lIns="0" rIns="0" rtlCol="0">
              <a:spAutoFit/>
            </a:bodyPr>
            <a:lstStyle/>
            <a:p>
              <a:pPr algn="ctr"/>
              <a:r>
                <a:rPr lang="en-US" sz="1400" noProof="0" dirty="0"/>
                <a:t>Your Solution</a:t>
              </a:r>
            </a:p>
            <a:p>
              <a:pPr algn="ctr"/>
              <a:r>
                <a:rPr lang="en-US" sz="1400" noProof="0" dirty="0"/>
                <a:t>Approach</a:t>
              </a:r>
            </a:p>
            <a:p>
              <a:pPr algn="ctr"/>
              <a:r>
                <a:rPr lang="en-US" sz="1000" noProof="0" dirty="0"/>
                <a:t>(Solution)</a:t>
              </a:r>
            </a:p>
          </p:txBody>
        </p:sp>
      </p:grpSp>
      <p:grpSp>
        <p:nvGrpSpPr>
          <p:cNvPr id="18" name="Gruppieren 17">
            <a:extLst>
              <a:ext uri="{FF2B5EF4-FFF2-40B4-BE49-F238E27FC236}">
                <a16:creationId xmlns:a16="http://schemas.microsoft.com/office/drawing/2014/main" id="{8D19FFC5-C936-322F-EC99-3ACA592D942E}"/>
              </a:ext>
            </a:extLst>
          </p:cNvPr>
          <p:cNvGrpSpPr/>
          <p:nvPr/>
        </p:nvGrpSpPr>
        <p:grpSpPr>
          <a:xfrm>
            <a:off x="4717435" y="1147913"/>
            <a:ext cx="1440160" cy="952115"/>
            <a:chOff x="5004048" y="1131588"/>
            <a:chExt cx="1440160" cy="952115"/>
          </a:xfrm>
        </p:grpSpPr>
        <p:grpSp>
          <p:nvGrpSpPr>
            <p:cNvPr id="19" name="Gruppieren 17">
              <a:extLst>
                <a:ext uri="{FF2B5EF4-FFF2-40B4-BE49-F238E27FC236}">
                  <a16:creationId xmlns:a16="http://schemas.microsoft.com/office/drawing/2014/main" id="{06FAC66A-01B2-271E-4868-B1FD648370D3}"/>
                </a:ext>
              </a:extLst>
            </p:cNvPr>
            <p:cNvGrpSpPr/>
            <p:nvPr/>
          </p:nvGrpSpPr>
          <p:grpSpPr>
            <a:xfrm>
              <a:off x="5004048" y="1131588"/>
              <a:ext cx="1440160" cy="952115"/>
              <a:chOff x="2627784" y="1340768"/>
              <a:chExt cx="2287290" cy="1512168"/>
            </a:xfrm>
          </p:grpSpPr>
          <p:sp>
            <p:nvSpPr>
              <p:cNvPr id="21" name="Rechteck 20">
                <a:extLst>
                  <a:ext uri="{FF2B5EF4-FFF2-40B4-BE49-F238E27FC236}">
                    <a16:creationId xmlns:a16="http://schemas.microsoft.com/office/drawing/2014/main" id="{6FC046EE-3A78-92B5-78F8-F6458FBDF652}"/>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22" name="Rechteck 21">
                <a:extLst>
                  <a:ext uri="{FF2B5EF4-FFF2-40B4-BE49-F238E27FC236}">
                    <a16:creationId xmlns:a16="http://schemas.microsoft.com/office/drawing/2014/main" id="{BAEE6BCD-3B94-AD00-5BE1-6F0BF6C7A0AE}"/>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20" name="Textfeld 19">
              <a:extLst>
                <a:ext uri="{FF2B5EF4-FFF2-40B4-BE49-F238E27FC236}">
                  <a16:creationId xmlns:a16="http://schemas.microsoft.com/office/drawing/2014/main" id="{9E4151E4-C9C4-11E7-0384-11700E5088B1}"/>
                </a:ext>
              </a:extLst>
            </p:cNvPr>
            <p:cNvSpPr txBox="1"/>
            <p:nvPr/>
          </p:nvSpPr>
          <p:spPr>
            <a:xfrm>
              <a:off x="5284971" y="1535416"/>
              <a:ext cx="878317" cy="307777"/>
            </a:xfrm>
            <a:prstGeom prst="rect">
              <a:avLst/>
            </a:prstGeom>
            <a:noFill/>
          </p:spPr>
          <p:txBody>
            <a:bodyPr wrap="none" rtlCol="0">
              <a:spAutoFit/>
            </a:bodyPr>
            <a:lstStyle/>
            <a:p>
              <a:pPr algn="ctr"/>
              <a:r>
                <a:rPr lang="en-US" sz="1400" noProof="0" dirty="0"/>
                <a:t>Roadmap</a:t>
              </a:r>
            </a:p>
          </p:txBody>
        </p:sp>
      </p:grpSp>
      <p:sp>
        <p:nvSpPr>
          <p:cNvPr id="23" name="Rechteck 22">
            <a:extLst>
              <a:ext uri="{FF2B5EF4-FFF2-40B4-BE49-F238E27FC236}">
                <a16:creationId xmlns:a16="http://schemas.microsoft.com/office/drawing/2014/main" id="{3B6532DF-C765-CD30-838E-CBA614C8A00D}"/>
              </a:ext>
            </a:extLst>
          </p:cNvPr>
          <p:cNvSpPr/>
          <p:nvPr/>
        </p:nvSpPr>
        <p:spPr>
          <a:xfrm>
            <a:off x="1763688" y="1131590"/>
            <a:ext cx="2662880" cy="1224136"/>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r>
              <a:rPr lang="en-US" sz="1400" noProof="0" dirty="0">
                <a:solidFill>
                  <a:schemeClr val="tx1"/>
                </a:solidFill>
              </a:rPr>
              <a:t>&lt;title of your project&gt;</a:t>
            </a:r>
          </a:p>
          <a:p>
            <a:pPr marL="179388" indent="-179388">
              <a:buFont typeface="Arial" panose="020B0604020202020204" pitchFamily="34" charset="0"/>
              <a:buChar char="•"/>
            </a:pPr>
            <a:r>
              <a:rPr lang="en-US" sz="1400" noProof="0" dirty="0">
                <a:solidFill>
                  <a:schemeClr val="tx1"/>
                </a:solidFill>
              </a:rPr>
              <a:t>Intermediate Results Presentation</a:t>
            </a:r>
          </a:p>
          <a:p>
            <a:pPr marL="179388" indent="-179388">
              <a:buFont typeface="Arial" panose="020B0604020202020204" pitchFamily="34" charset="0"/>
              <a:buChar char="•"/>
            </a:pPr>
            <a:r>
              <a:rPr lang="en-US" sz="1400" noProof="0" dirty="0">
                <a:solidFill>
                  <a:schemeClr val="tx1"/>
                </a:solidFill>
              </a:rPr>
              <a:t>&lt;names of project team&gt;</a:t>
            </a:r>
          </a:p>
          <a:p>
            <a:pPr marL="179388" indent="-179388">
              <a:buFont typeface="Arial" panose="020B0604020202020204" pitchFamily="34" charset="0"/>
              <a:buChar char="•"/>
            </a:pPr>
            <a:r>
              <a:rPr lang="en-US" sz="1400" noProof="0" dirty="0">
                <a:solidFill>
                  <a:schemeClr val="tx1"/>
                </a:solidFill>
              </a:rPr>
              <a:t>WCU logo</a:t>
            </a:r>
          </a:p>
        </p:txBody>
      </p:sp>
      <p:sp>
        <p:nvSpPr>
          <p:cNvPr id="24" name="Rechteck 23">
            <a:extLst>
              <a:ext uri="{FF2B5EF4-FFF2-40B4-BE49-F238E27FC236}">
                <a16:creationId xmlns:a16="http://schemas.microsoft.com/office/drawing/2014/main" id="{48B6FC50-7221-EA0D-5B6A-4B82879CDEC4}"/>
              </a:ext>
            </a:extLst>
          </p:cNvPr>
          <p:cNvSpPr/>
          <p:nvPr/>
        </p:nvSpPr>
        <p:spPr>
          <a:xfrm>
            <a:off x="1779040" y="2463738"/>
            <a:ext cx="2662880" cy="1224136"/>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noProof="0" dirty="0">
                <a:solidFill>
                  <a:schemeClr val="tx1"/>
                </a:solidFill>
              </a:rPr>
              <a:t>Problem Statement:</a:t>
            </a:r>
          </a:p>
        </p:txBody>
      </p:sp>
      <p:sp>
        <p:nvSpPr>
          <p:cNvPr id="25" name="Rechteck 24">
            <a:extLst>
              <a:ext uri="{FF2B5EF4-FFF2-40B4-BE49-F238E27FC236}">
                <a16:creationId xmlns:a16="http://schemas.microsoft.com/office/drawing/2014/main" id="{78AEAA99-4F1F-BB8F-45A2-4B7F6E584403}"/>
              </a:ext>
            </a:extLst>
          </p:cNvPr>
          <p:cNvSpPr/>
          <p:nvPr/>
        </p:nvSpPr>
        <p:spPr>
          <a:xfrm>
            <a:off x="1779040" y="3795886"/>
            <a:ext cx="2662880" cy="1224136"/>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r>
              <a:rPr lang="en-US" sz="1400" noProof="0" dirty="0">
                <a:solidFill>
                  <a:schemeClr val="tx1"/>
                </a:solidFill>
              </a:rPr>
              <a:t>Describe your solution approach clearly and transparently</a:t>
            </a:r>
          </a:p>
          <a:p>
            <a:pPr marL="179388" indent="-179388">
              <a:buFont typeface="Arial" panose="020B0604020202020204" pitchFamily="34" charset="0"/>
              <a:buChar char="•"/>
            </a:pPr>
            <a:r>
              <a:rPr lang="en-US" sz="1400" noProof="0" dirty="0">
                <a:solidFill>
                  <a:schemeClr val="tx1"/>
                </a:solidFill>
              </a:rPr>
              <a:t>Shortly illustrate the benefits of this approach</a:t>
            </a:r>
          </a:p>
        </p:txBody>
      </p:sp>
      <p:sp>
        <p:nvSpPr>
          <p:cNvPr id="26" name="Rechteck 25">
            <a:extLst>
              <a:ext uri="{FF2B5EF4-FFF2-40B4-BE49-F238E27FC236}">
                <a16:creationId xmlns:a16="http://schemas.microsoft.com/office/drawing/2014/main" id="{70457552-DA6E-764F-A734-8EEDC323006C}"/>
              </a:ext>
            </a:extLst>
          </p:cNvPr>
          <p:cNvSpPr/>
          <p:nvPr/>
        </p:nvSpPr>
        <p:spPr>
          <a:xfrm>
            <a:off x="6229600" y="1131590"/>
            <a:ext cx="2662880" cy="1224136"/>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noProof="0" dirty="0">
                <a:solidFill>
                  <a:schemeClr val="tx1"/>
                </a:solidFill>
              </a:rPr>
              <a:t>The timeframe up to the final presentation:</a:t>
            </a:r>
          </a:p>
        </p:txBody>
      </p:sp>
      <p:sp>
        <p:nvSpPr>
          <p:cNvPr id="27" name="Rechteck 26">
            <a:extLst>
              <a:ext uri="{FF2B5EF4-FFF2-40B4-BE49-F238E27FC236}">
                <a16:creationId xmlns:a16="http://schemas.microsoft.com/office/drawing/2014/main" id="{103489FA-5D2B-C655-F086-1B845C6AF776}"/>
              </a:ext>
            </a:extLst>
          </p:cNvPr>
          <p:cNvSpPr/>
          <p:nvPr/>
        </p:nvSpPr>
        <p:spPr>
          <a:xfrm>
            <a:off x="4717434" y="2463738"/>
            <a:ext cx="4175045" cy="2556284"/>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Consider and carry-out several ways to solve the problem by different mathematical approaches:</a:t>
            </a:r>
          </a:p>
          <a:p>
            <a:pPr marL="179388" indent="-179388">
              <a:spcAft>
                <a:spcPts val="600"/>
              </a:spcAft>
              <a:buFont typeface="Arial" panose="020B0604020202020204" pitchFamily="34" charset="0"/>
              <a:buChar char="•"/>
            </a:pPr>
            <a:r>
              <a:rPr lang="en-US" sz="1400" noProof="0" dirty="0">
                <a:solidFill>
                  <a:schemeClr val="tx1"/>
                </a:solidFill>
              </a:rPr>
              <a:t>Besides your approach, state alternative approaches (at least two) how the problem under consideration can be solved as well</a:t>
            </a:r>
          </a:p>
          <a:p>
            <a:pPr marL="179388" indent="-179388">
              <a:spcAft>
                <a:spcPts val="600"/>
              </a:spcAft>
              <a:buFont typeface="Arial" panose="020B0604020202020204" pitchFamily="34" charset="0"/>
              <a:buChar char="•"/>
            </a:pPr>
            <a:r>
              <a:rPr lang="en-US" sz="1400" noProof="0" dirty="0">
                <a:solidFill>
                  <a:schemeClr val="tx1"/>
                </a:solidFill>
              </a:rPr>
              <a:t>Summarize, whether (where and how) these approaches were already used (literature research)</a:t>
            </a:r>
          </a:p>
          <a:p>
            <a:pPr marL="179388" indent="-179388">
              <a:spcAft>
                <a:spcPts val="600"/>
              </a:spcAft>
              <a:buFont typeface="Arial" panose="020B0604020202020204" pitchFamily="34" charset="0"/>
              <a:buChar char="•"/>
            </a:pPr>
            <a:r>
              <a:rPr lang="en-US" sz="1400" noProof="0" dirty="0">
                <a:solidFill>
                  <a:schemeClr val="tx1"/>
                </a:solidFill>
              </a:rPr>
              <a:t>Briefly discuss the pros and cons of the approaches</a:t>
            </a:r>
          </a:p>
          <a:p>
            <a:pPr marL="179388" indent="-179388">
              <a:spcAft>
                <a:spcPts val="600"/>
              </a:spcAft>
              <a:buFont typeface="Arial" panose="020B0604020202020204" pitchFamily="34" charset="0"/>
              <a:buChar char="•"/>
            </a:pPr>
            <a:r>
              <a:rPr lang="en-US" sz="1400" noProof="0" dirty="0">
                <a:solidFill>
                  <a:schemeClr val="tx1"/>
                </a:solidFill>
              </a:rPr>
              <a:t>Reason, why your solutions approach is better suited</a:t>
            </a:r>
          </a:p>
        </p:txBody>
      </p:sp>
      <p:cxnSp>
        <p:nvCxnSpPr>
          <p:cNvPr id="29" name="Verbinder: gewinkelt 28">
            <a:extLst>
              <a:ext uri="{FF2B5EF4-FFF2-40B4-BE49-F238E27FC236}">
                <a16:creationId xmlns:a16="http://schemas.microsoft.com/office/drawing/2014/main" id="{A5C2AF1D-DEE7-1D92-00A1-A3820CA5DD47}"/>
              </a:ext>
            </a:extLst>
          </p:cNvPr>
          <p:cNvCxnSpPr>
            <a:stCxn id="25" idx="3"/>
            <a:endCxn id="27" idx="1"/>
          </p:cNvCxnSpPr>
          <p:nvPr/>
        </p:nvCxnSpPr>
        <p:spPr>
          <a:xfrm flipV="1">
            <a:off x="4441920" y="3741880"/>
            <a:ext cx="275514" cy="666074"/>
          </a:xfrm>
          <a:prstGeom prst="bentConnector3">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32" name="Grafik 31">
            <a:extLst>
              <a:ext uri="{FF2B5EF4-FFF2-40B4-BE49-F238E27FC236}">
                <a16:creationId xmlns:a16="http://schemas.microsoft.com/office/drawing/2014/main" id="{F16AACE7-2EC6-0FFB-FB2F-B48C17F554DE}"/>
              </a:ext>
            </a:extLst>
          </p:cNvPr>
          <p:cNvPicPr>
            <a:picLocks noChangeAspect="1"/>
          </p:cNvPicPr>
          <p:nvPr/>
        </p:nvPicPr>
        <p:blipFill>
          <a:blip r:embed="rId2"/>
          <a:stretch>
            <a:fillRect/>
          </a:stretch>
        </p:blipFill>
        <p:spPr>
          <a:xfrm>
            <a:off x="7392120" y="1496007"/>
            <a:ext cx="1438745" cy="809294"/>
          </a:xfrm>
          <a:prstGeom prst="rect">
            <a:avLst/>
          </a:prstGeom>
          <a:ln>
            <a:solidFill>
              <a:schemeClr val="tx2"/>
            </a:solidFill>
          </a:ln>
        </p:spPr>
      </p:pic>
      <p:pic>
        <p:nvPicPr>
          <p:cNvPr id="28" name="Grafik 27">
            <a:extLst>
              <a:ext uri="{FF2B5EF4-FFF2-40B4-BE49-F238E27FC236}">
                <a16:creationId xmlns:a16="http://schemas.microsoft.com/office/drawing/2014/main" id="{2E2E16B8-BABE-E631-FDD0-572B268BA42C}"/>
              </a:ext>
            </a:extLst>
          </p:cNvPr>
          <p:cNvPicPr>
            <a:picLocks noChangeAspect="1"/>
          </p:cNvPicPr>
          <p:nvPr/>
        </p:nvPicPr>
        <p:blipFill>
          <a:blip r:embed="rId3"/>
          <a:stretch>
            <a:fillRect/>
          </a:stretch>
        </p:blipFill>
        <p:spPr>
          <a:xfrm>
            <a:off x="2948472" y="2828594"/>
            <a:ext cx="1440000" cy="810000"/>
          </a:xfrm>
          <a:prstGeom prst="rect">
            <a:avLst/>
          </a:prstGeom>
          <a:ln>
            <a:solidFill>
              <a:schemeClr val="tx2"/>
            </a:solidFill>
          </a:ln>
        </p:spPr>
      </p:pic>
    </p:spTree>
    <p:extLst>
      <p:ext uri="{BB962C8B-B14F-4D97-AF65-F5344CB8AC3E}">
        <p14:creationId xmlns:p14="http://schemas.microsoft.com/office/powerpoint/2010/main" val="276600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Remarks:</a:t>
            </a:r>
            <a:br>
              <a:rPr lang="en-US" noProof="0" dirty="0"/>
            </a:br>
            <a:r>
              <a:rPr lang="en-US" noProof="0" dirty="0"/>
              <a:t>Slide contents (1b/ 2)</a:t>
            </a:r>
          </a:p>
        </p:txBody>
      </p:sp>
      <p:sp>
        <p:nvSpPr>
          <p:cNvPr id="27" name="Rechteck 26"/>
          <p:cNvSpPr/>
          <p:nvPr/>
        </p:nvSpPr>
        <p:spPr>
          <a:xfrm>
            <a:off x="251520" y="1131590"/>
            <a:ext cx="5040560" cy="187220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200"/>
              </a:spcAft>
            </a:pPr>
            <a:r>
              <a:rPr lang="en-US" sz="1200" b="1" u="sng" noProof="0" dirty="0">
                <a:solidFill>
                  <a:schemeClr val="tx1"/>
                </a:solidFill>
              </a:rPr>
              <a:t>Situation:</a:t>
            </a:r>
          </a:p>
          <a:p>
            <a:pPr marL="180975" indent="-180975">
              <a:spcAft>
                <a:spcPts val="200"/>
              </a:spcAft>
              <a:buFont typeface="Arial" pitchFamily="34" charset="0"/>
              <a:buChar char="•"/>
            </a:pPr>
            <a:r>
              <a:rPr lang="en-US" sz="1200" noProof="0" dirty="0">
                <a:solidFill>
                  <a:schemeClr val="tx1"/>
                </a:solidFill>
              </a:rPr>
              <a:t>…</a:t>
            </a:r>
          </a:p>
        </p:txBody>
      </p:sp>
      <p:sp>
        <p:nvSpPr>
          <p:cNvPr id="31" name="Gleichschenkliges Dreieck 30"/>
          <p:cNvSpPr/>
          <p:nvPr/>
        </p:nvSpPr>
        <p:spPr>
          <a:xfrm rot="10800000">
            <a:off x="1923759" y="3075806"/>
            <a:ext cx="1656184"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Rechteck 31"/>
          <p:cNvSpPr/>
          <p:nvPr/>
        </p:nvSpPr>
        <p:spPr>
          <a:xfrm>
            <a:off x="5786446" y="1131590"/>
            <a:ext cx="3071834" cy="388843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200"/>
              </a:spcAft>
            </a:pPr>
            <a:r>
              <a:rPr lang="en-US" sz="1200" b="1" u="sng" noProof="0" dirty="0">
                <a:solidFill>
                  <a:schemeClr val="tx1"/>
                </a:solidFill>
              </a:rPr>
              <a:t>Solution:</a:t>
            </a:r>
          </a:p>
          <a:p>
            <a:pPr marL="180975" indent="-180975">
              <a:spcAft>
                <a:spcPts val="200"/>
              </a:spcAft>
              <a:buFont typeface="Arial" pitchFamily="34" charset="0"/>
              <a:buChar char="•"/>
            </a:pPr>
            <a:r>
              <a:rPr lang="en-US" sz="1200" noProof="0" dirty="0">
                <a:solidFill>
                  <a:schemeClr val="tx1"/>
                </a:solidFill>
              </a:rPr>
              <a:t>…</a:t>
            </a:r>
          </a:p>
        </p:txBody>
      </p:sp>
      <p:sp>
        <p:nvSpPr>
          <p:cNvPr id="33" name="Rechteck 32"/>
          <p:cNvSpPr/>
          <p:nvPr/>
        </p:nvSpPr>
        <p:spPr>
          <a:xfrm>
            <a:off x="251520" y="3291830"/>
            <a:ext cx="5040560" cy="17281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200"/>
              </a:spcAft>
            </a:pPr>
            <a:r>
              <a:rPr lang="en-US" sz="1200" b="1" u="sng" noProof="0" dirty="0">
                <a:solidFill>
                  <a:schemeClr val="tx1"/>
                </a:solidFill>
              </a:rPr>
              <a:t>Complication:</a:t>
            </a:r>
          </a:p>
          <a:p>
            <a:pPr marL="180975" indent="-180975">
              <a:spcAft>
                <a:spcPts val="200"/>
              </a:spcAft>
              <a:buFont typeface="Arial" pitchFamily="34" charset="0"/>
              <a:buChar char="•"/>
            </a:pPr>
            <a:r>
              <a:rPr lang="en-US" sz="1200" noProof="0" dirty="0">
                <a:solidFill>
                  <a:schemeClr val="tx1"/>
                </a:solidFill>
              </a:rPr>
              <a:t>…</a:t>
            </a:r>
          </a:p>
          <a:p>
            <a:pPr marL="180975" indent="-180975">
              <a:spcAft>
                <a:spcPts val="200"/>
              </a:spcAft>
              <a:buFont typeface="Arial" pitchFamily="34" charset="0"/>
              <a:buChar char="•"/>
            </a:pPr>
            <a:endParaRPr lang="en-US" sz="1200" noProof="0" dirty="0">
              <a:solidFill>
                <a:schemeClr val="tx1"/>
              </a:solidFill>
            </a:endParaRPr>
          </a:p>
        </p:txBody>
      </p:sp>
      <p:sp>
        <p:nvSpPr>
          <p:cNvPr id="34" name="Gleichschenkliges Dreieck 33"/>
          <p:cNvSpPr/>
          <p:nvPr/>
        </p:nvSpPr>
        <p:spPr>
          <a:xfrm rot="5400000">
            <a:off x="4608004" y="1995686"/>
            <a:ext cx="1656184"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Gleichschenkliges Dreieck 34"/>
          <p:cNvSpPr/>
          <p:nvPr/>
        </p:nvSpPr>
        <p:spPr>
          <a:xfrm rot="5400000">
            <a:off x="4608004" y="4083918"/>
            <a:ext cx="1656184"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 name="Gruppieren 2">
            <a:extLst>
              <a:ext uri="{FF2B5EF4-FFF2-40B4-BE49-F238E27FC236}">
                <a16:creationId xmlns:a16="http://schemas.microsoft.com/office/drawing/2014/main" id="{B7AEB787-2AC5-ABC4-38CA-625F47956237}"/>
              </a:ext>
            </a:extLst>
          </p:cNvPr>
          <p:cNvGrpSpPr/>
          <p:nvPr/>
        </p:nvGrpSpPr>
        <p:grpSpPr>
          <a:xfrm rot="1464192">
            <a:off x="7284955" y="1229274"/>
            <a:ext cx="1728190" cy="360040"/>
            <a:chOff x="179512" y="915566"/>
            <a:chExt cx="1728190" cy="360040"/>
          </a:xfrm>
        </p:grpSpPr>
        <p:sp>
          <p:nvSpPr>
            <p:cNvPr id="4" name="Rechteck 3">
              <a:extLst>
                <a:ext uri="{FF2B5EF4-FFF2-40B4-BE49-F238E27FC236}">
                  <a16:creationId xmlns:a16="http://schemas.microsoft.com/office/drawing/2014/main" id="{6D13E62F-401C-B2BA-8D86-9334ED793603}"/>
                </a:ext>
              </a:extLst>
            </p:cNvPr>
            <p:cNvSpPr/>
            <p:nvPr/>
          </p:nvSpPr>
          <p:spPr>
            <a:xfrm>
              <a:off x="179512" y="915566"/>
              <a:ext cx="1728190" cy="360040"/>
            </a:xfrm>
            <a:prstGeom prst="rect">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Illustration</a:t>
              </a:r>
            </a:p>
          </p:txBody>
        </p:sp>
        <p:cxnSp>
          <p:nvCxnSpPr>
            <p:cNvPr id="5" name="Gerader Verbinder 4">
              <a:extLst>
                <a:ext uri="{FF2B5EF4-FFF2-40B4-BE49-F238E27FC236}">
                  <a16:creationId xmlns:a16="http://schemas.microsoft.com/office/drawing/2014/main" id="{12F4A7D7-1FCB-6791-7EE4-5A1D9275FBC7}"/>
                </a:ext>
              </a:extLst>
            </p:cNvPr>
            <p:cNvCxnSpPr>
              <a:cxnSpLocks/>
            </p:cNvCxnSpPr>
            <p:nvPr/>
          </p:nvCxnSpPr>
          <p:spPr>
            <a:xfrm>
              <a:off x="179512" y="915566"/>
              <a:ext cx="1728190" cy="0"/>
            </a:xfrm>
            <a:prstGeom prst="line">
              <a:avLst/>
            </a:prstGeom>
            <a:solidFill>
              <a:srgbClr val="FFFF00"/>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Gerader Verbinder 5">
              <a:extLst>
                <a:ext uri="{FF2B5EF4-FFF2-40B4-BE49-F238E27FC236}">
                  <a16:creationId xmlns:a16="http://schemas.microsoft.com/office/drawing/2014/main" id="{9AA15D45-44A0-4599-6C82-BB2103FB18AB}"/>
                </a:ext>
              </a:extLst>
            </p:cNvPr>
            <p:cNvCxnSpPr/>
            <p:nvPr/>
          </p:nvCxnSpPr>
          <p:spPr>
            <a:xfrm>
              <a:off x="179512" y="1275606"/>
              <a:ext cx="1728190" cy="0"/>
            </a:xfrm>
            <a:prstGeom prst="line">
              <a:avLst/>
            </a:prstGeom>
            <a:solidFill>
              <a:srgbClr val="FFFF00"/>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pSp>
      <p:sp>
        <p:nvSpPr>
          <p:cNvPr id="7" name="Textfeld 6">
            <a:extLst>
              <a:ext uri="{FF2B5EF4-FFF2-40B4-BE49-F238E27FC236}">
                <a16:creationId xmlns:a16="http://schemas.microsoft.com/office/drawing/2014/main" id="{53A46865-200C-A27D-D569-F9B78280CBC9}"/>
              </a:ext>
            </a:extLst>
          </p:cNvPr>
          <p:cNvSpPr txBox="1"/>
          <p:nvPr/>
        </p:nvSpPr>
        <p:spPr>
          <a:xfrm>
            <a:off x="5868144" y="4209350"/>
            <a:ext cx="2880320" cy="738664"/>
          </a:xfrm>
          <a:prstGeom prst="rect">
            <a:avLst/>
          </a:prstGeom>
          <a:solidFill>
            <a:schemeClr val="tx2">
              <a:lumMod val="20000"/>
              <a:lumOff val="80000"/>
            </a:schemeClr>
          </a:solidFill>
        </p:spPr>
        <p:txBody>
          <a:bodyPr wrap="square" rtlCol="0">
            <a:spAutoFit/>
          </a:bodyPr>
          <a:lstStyle/>
          <a:p>
            <a:pPr algn="ctr"/>
            <a:r>
              <a:rPr lang="en-US" sz="1400" noProof="0" dirty="0"/>
              <a:t>Consider and carry-out several ways to solve the problem by different mathematical approaches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5C1537-7C2E-E836-6C2F-AFAA9AD3118B}"/>
              </a:ext>
            </a:extLst>
          </p:cNvPr>
          <p:cNvSpPr>
            <a:spLocks noGrp="1"/>
          </p:cNvSpPr>
          <p:nvPr>
            <p:ph type="title"/>
          </p:nvPr>
        </p:nvSpPr>
        <p:spPr/>
        <p:txBody>
          <a:bodyPr/>
          <a:lstStyle/>
          <a:p>
            <a:r>
              <a:rPr lang="en-US" noProof="0" dirty="0"/>
              <a:t>Remarks:</a:t>
            </a:r>
            <a:br>
              <a:rPr lang="en-US" noProof="0" dirty="0"/>
            </a:br>
            <a:r>
              <a:rPr lang="en-US" noProof="0" dirty="0"/>
              <a:t>Slide contents (1c/ 2)</a:t>
            </a:r>
          </a:p>
        </p:txBody>
      </p:sp>
      <p:graphicFrame>
        <p:nvGraphicFramePr>
          <p:cNvPr id="3" name="Tabelle 2">
            <a:extLst>
              <a:ext uri="{FF2B5EF4-FFF2-40B4-BE49-F238E27FC236}">
                <a16:creationId xmlns:a16="http://schemas.microsoft.com/office/drawing/2014/main" id="{0160B9AA-7427-4032-5810-111B560970EA}"/>
              </a:ext>
            </a:extLst>
          </p:cNvPr>
          <p:cNvGraphicFramePr>
            <a:graphicFrameLocks noGrp="1"/>
          </p:cNvGraphicFramePr>
          <p:nvPr>
            <p:extLst>
              <p:ext uri="{D42A27DB-BD31-4B8C-83A1-F6EECF244321}">
                <p14:modId xmlns:p14="http://schemas.microsoft.com/office/powerpoint/2010/main" val="2805219367"/>
              </p:ext>
            </p:extLst>
          </p:nvPr>
        </p:nvGraphicFramePr>
        <p:xfrm>
          <a:off x="251520" y="1131590"/>
          <a:ext cx="8640964" cy="3048000"/>
        </p:xfrm>
        <a:graphic>
          <a:graphicData uri="http://schemas.openxmlformats.org/drawingml/2006/table">
            <a:tbl>
              <a:tblPr firstRow="1" bandRow="1">
                <a:tableStyleId>{5C22544A-7EE6-4342-B048-85BDC9FD1C3A}</a:tableStyleId>
              </a:tblPr>
              <a:tblGrid>
                <a:gridCol w="3600400">
                  <a:extLst>
                    <a:ext uri="{9D8B030D-6E8A-4147-A177-3AD203B41FA5}">
                      <a16:colId xmlns:a16="http://schemas.microsoft.com/office/drawing/2014/main" val="2761205036"/>
                    </a:ext>
                  </a:extLst>
                </a:gridCol>
                <a:gridCol w="420047">
                  <a:extLst>
                    <a:ext uri="{9D8B030D-6E8A-4147-A177-3AD203B41FA5}">
                      <a16:colId xmlns:a16="http://schemas.microsoft.com/office/drawing/2014/main" val="3400787250"/>
                    </a:ext>
                  </a:extLst>
                </a:gridCol>
                <a:gridCol w="420047">
                  <a:extLst>
                    <a:ext uri="{9D8B030D-6E8A-4147-A177-3AD203B41FA5}">
                      <a16:colId xmlns:a16="http://schemas.microsoft.com/office/drawing/2014/main" val="3907225501"/>
                    </a:ext>
                  </a:extLst>
                </a:gridCol>
                <a:gridCol w="420047">
                  <a:extLst>
                    <a:ext uri="{9D8B030D-6E8A-4147-A177-3AD203B41FA5}">
                      <a16:colId xmlns:a16="http://schemas.microsoft.com/office/drawing/2014/main" val="2480921893"/>
                    </a:ext>
                  </a:extLst>
                </a:gridCol>
                <a:gridCol w="420047">
                  <a:extLst>
                    <a:ext uri="{9D8B030D-6E8A-4147-A177-3AD203B41FA5}">
                      <a16:colId xmlns:a16="http://schemas.microsoft.com/office/drawing/2014/main" val="1926578702"/>
                    </a:ext>
                  </a:extLst>
                </a:gridCol>
                <a:gridCol w="420047">
                  <a:extLst>
                    <a:ext uri="{9D8B030D-6E8A-4147-A177-3AD203B41FA5}">
                      <a16:colId xmlns:a16="http://schemas.microsoft.com/office/drawing/2014/main" val="1706061689"/>
                    </a:ext>
                  </a:extLst>
                </a:gridCol>
                <a:gridCol w="420047">
                  <a:extLst>
                    <a:ext uri="{9D8B030D-6E8A-4147-A177-3AD203B41FA5}">
                      <a16:colId xmlns:a16="http://schemas.microsoft.com/office/drawing/2014/main" val="1317306497"/>
                    </a:ext>
                  </a:extLst>
                </a:gridCol>
                <a:gridCol w="420047">
                  <a:extLst>
                    <a:ext uri="{9D8B030D-6E8A-4147-A177-3AD203B41FA5}">
                      <a16:colId xmlns:a16="http://schemas.microsoft.com/office/drawing/2014/main" val="3107498639"/>
                    </a:ext>
                  </a:extLst>
                </a:gridCol>
                <a:gridCol w="420047">
                  <a:extLst>
                    <a:ext uri="{9D8B030D-6E8A-4147-A177-3AD203B41FA5}">
                      <a16:colId xmlns:a16="http://schemas.microsoft.com/office/drawing/2014/main" val="1654013553"/>
                    </a:ext>
                  </a:extLst>
                </a:gridCol>
                <a:gridCol w="420047">
                  <a:extLst>
                    <a:ext uri="{9D8B030D-6E8A-4147-A177-3AD203B41FA5}">
                      <a16:colId xmlns:a16="http://schemas.microsoft.com/office/drawing/2014/main" val="992806437"/>
                    </a:ext>
                  </a:extLst>
                </a:gridCol>
                <a:gridCol w="420047">
                  <a:extLst>
                    <a:ext uri="{9D8B030D-6E8A-4147-A177-3AD203B41FA5}">
                      <a16:colId xmlns:a16="http://schemas.microsoft.com/office/drawing/2014/main" val="1176033818"/>
                    </a:ext>
                  </a:extLst>
                </a:gridCol>
                <a:gridCol w="420047">
                  <a:extLst>
                    <a:ext uri="{9D8B030D-6E8A-4147-A177-3AD203B41FA5}">
                      <a16:colId xmlns:a16="http://schemas.microsoft.com/office/drawing/2014/main" val="3569434495"/>
                    </a:ext>
                  </a:extLst>
                </a:gridCol>
                <a:gridCol w="420047">
                  <a:extLst>
                    <a:ext uri="{9D8B030D-6E8A-4147-A177-3AD203B41FA5}">
                      <a16:colId xmlns:a16="http://schemas.microsoft.com/office/drawing/2014/main" val="387347524"/>
                    </a:ext>
                  </a:extLst>
                </a:gridCol>
              </a:tblGrid>
              <a:tr h="0">
                <a:tc>
                  <a:txBody>
                    <a:bodyPr/>
                    <a:lstStyle/>
                    <a:p>
                      <a:r>
                        <a:rPr lang="en-US" sz="1400" noProof="0" dirty="0"/>
                        <a:t>Task</a:t>
                      </a:r>
                    </a:p>
                  </a:txBody>
                  <a:tcPr>
                    <a:solidFill>
                      <a:schemeClr val="tx2"/>
                    </a:solidFill>
                  </a:tcPr>
                </a:tc>
                <a:tc>
                  <a:txBody>
                    <a:bodyPr/>
                    <a:lstStyle/>
                    <a:p>
                      <a:pPr algn="ctr"/>
                      <a:r>
                        <a:rPr lang="en-US" sz="1400" noProof="0" dirty="0"/>
                        <a:t>1</a:t>
                      </a:r>
                    </a:p>
                  </a:txBody>
                  <a:tcPr>
                    <a:solidFill>
                      <a:schemeClr val="tx2"/>
                    </a:solidFill>
                  </a:tcPr>
                </a:tc>
                <a:tc>
                  <a:txBody>
                    <a:bodyPr/>
                    <a:lstStyle/>
                    <a:p>
                      <a:pPr algn="ctr"/>
                      <a:r>
                        <a:rPr lang="en-US" sz="1400" noProof="0" dirty="0"/>
                        <a:t>2</a:t>
                      </a:r>
                    </a:p>
                  </a:txBody>
                  <a:tcPr>
                    <a:solidFill>
                      <a:schemeClr val="tx2"/>
                    </a:solidFill>
                  </a:tcPr>
                </a:tc>
                <a:tc>
                  <a:txBody>
                    <a:bodyPr/>
                    <a:lstStyle/>
                    <a:p>
                      <a:pPr algn="ctr"/>
                      <a:r>
                        <a:rPr lang="en-US" sz="1400" noProof="0" dirty="0"/>
                        <a:t>3</a:t>
                      </a:r>
                    </a:p>
                  </a:txBody>
                  <a:tcPr>
                    <a:solidFill>
                      <a:schemeClr val="tx2"/>
                    </a:solidFill>
                  </a:tcPr>
                </a:tc>
                <a:tc>
                  <a:txBody>
                    <a:bodyPr/>
                    <a:lstStyle/>
                    <a:p>
                      <a:pPr algn="ctr"/>
                      <a:r>
                        <a:rPr lang="en-US" sz="1400" noProof="0" dirty="0"/>
                        <a:t>4</a:t>
                      </a:r>
                    </a:p>
                  </a:txBody>
                  <a:tcPr>
                    <a:solidFill>
                      <a:schemeClr val="tx2"/>
                    </a:solidFill>
                  </a:tcPr>
                </a:tc>
                <a:tc>
                  <a:txBody>
                    <a:bodyPr/>
                    <a:lstStyle/>
                    <a:p>
                      <a:pPr algn="ctr"/>
                      <a:r>
                        <a:rPr lang="en-US" sz="1400" noProof="0" dirty="0"/>
                        <a:t>5</a:t>
                      </a:r>
                    </a:p>
                  </a:txBody>
                  <a:tcPr>
                    <a:solidFill>
                      <a:schemeClr val="tx2"/>
                    </a:solidFill>
                  </a:tcPr>
                </a:tc>
                <a:tc>
                  <a:txBody>
                    <a:bodyPr/>
                    <a:lstStyle/>
                    <a:p>
                      <a:pPr algn="ctr"/>
                      <a:r>
                        <a:rPr lang="en-US" sz="1400" noProof="0" dirty="0"/>
                        <a:t>6</a:t>
                      </a:r>
                    </a:p>
                  </a:txBody>
                  <a:tcPr>
                    <a:solidFill>
                      <a:schemeClr val="tx2"/>
                    </a:solidFill>
                  </a:tcPr>
                </a:tc>
                <a:tc>
                  <a:txBody>
                    <a:bodyPr/>
                    <a:lstStyle/>
                    <a:p>
                      <a:pPr algn="ctr"/>
                      <a:r>
                        <a:rPr lang="en-US" sz="1400" noProof="0" dirty="0"/>
                        <a:t>7</a:t>
                      </a:r>
                    </a:p>
                  </a:txBody>
                  <a:tcPr>
                    <a:solidFill>
                      <a:schemeClr val="tx2"/>
                    </a:solidFill>
                  </a:tcPr>
                </a:tc>
                <a:tc>
                  <a:txBody>
                    <a:bodyPr/>
                    <a:lstStyle/>
                    <a:p>
                      <a:pPr algn="ctr"/>
                      <a:r>
                        <a:rPr lang="en-US" sz="1400" noProof="0" dirty="0"/>
                        <a:t>8</a:t>
                      </a:r>
                    </a:p>
                  </a:txBody>
                  <a:tcPr>
                    <a:solidFill>
                      <a:schemeClr val="tx2"/>
                    </a:solidFill>
                  </a:tcPr>
                </a:tc>
                <a:tc>
                  <a:txBody>
                    <a:bodyPr/>
                    <a:lstStyle/>
                    <a:p>
                      <a:pPr algn="ctr"/>
                      <a:r>
                        <a:rPr lang="en-US" sz="1400" noProof="0" dirty="0"/>
                        <a:t>9</a:t>
                      </a:r>
                    </a:p>
                  </a:txBody>
                  <a:tcPr>
                    <a:solidFill>
                      <a:schemeClr val="tx2"/>
                    </a:solidFill>
                  </a:tcPr>
                </a:tc>
                <a:tc>
                  <a:txBody>
                    <a:bodyPr/>
                    <a:lstStyle/>
                    <a:p>
                      <a:pPr algn="ctr"/>
                      <a:r>
                        <a:rPr lang="en-US" sz="1400" noProof="0" dirty="0"/>
                        <a:t>10</a:t>
                      </a:r>
                    </a:p>
                  </a:txBody>
                  <a:tcPr>
                    <a:solidFill>
                      <a:schemeClr val="tx2"/>
                    </a:solidFill>
                  </a:tcPr>
                </a:tc>
                <a:tc>
                  <a:txBody>
                    <a:bodyPr/>
                    <a:lstStyle/>
                    <a:p>
                      <a:pPr algn="ctr"/>
                      <a:r>
                        <a:rPr lang="en-US" sz="1400" noProof="0" dirty="0"/>
                        <a:t>11</a:t>
                      </a:r>
                    </a:p>
                  </a:txBody>
                  <a:tcPr>
                    <a:solidFill>
                      <a:schemeClr val="tx2"/>
                    </a:solidFill>
                  </a:tcPr>
                </a:tc>
                <a:tc>
                  <a:txBody>
                    <a:bodyPr/>
                    <a:lstStyle/>
                    <a:p>
                      <a:pPr algn="ctr"/>
                      <a:r>
                        <a:rPr lang="en-US" sz="1400" noProof="0" dirty="0"/>
                        <a:t>12</a:t>
                      </a:r>
                    </a:p>
                  </a:txBody>
                  <a:tcPr>
                    <a:solidFill>
                      <a:schemeClr val="tx2"/>
                    </a:solidFill>
                  </a:tcPr>
                </a:tc>
                <a:extLst>
                  <a:ext uri="{0D108BD9-81ED-4DB2-BD59-A6C34878D82A}">
                    <a16:rowId xmlns:a16="http://schemas.microsoft.com/office/drawing/2014/main" val="681079661"/>
                  </a:ext>
                </a:extLst>
              </a:tr>
              <a:tr h="0">
                <a:tc>
                  <a:txBody>
                    <a:bodyPr/>
                    <a:lstStyle/>
                    <a:p>
                      <a:r>
                        <a:rPr lang="en-US" sz="1400" noProof="0" dirty="0"/>
                        <a:t>Preparing the project outline</a:t>
                      </a:r>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3690326404"/>
                  </a:ext>
                </a:extLst>
              </a:tr>
              <a:tr h="0">
                <a:tc>
                  <a:txBody>
                    <a:bodyPr/>
                    <a:lstStyle/>
                    <a:p>
                      <a:r>
                        <a:rPr lang="en-US" sz="1400" noProof="0" dirty="0"/>
                        <a:t>Defining the essential scenarios</a:t>
                      </a:r>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4790913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Defining test cases for the implementation</a:t>
                      </a:r>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73591216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Implementing the mathematical model</a:t>
                      </a:r>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3270038537"/>
                  </a:ext>
                </a:extLst>
              </a:tr>
              <a:tr h="0">
                <a:tc>
                  <a:txBody>
                    <a:bodyPr/>
                    <a:lstStyle/>
                    <a:p>
                      <a:r>
                        <a:rPr lang="en-US" sz="1400" noProof="0" dirty="0"/>
                        <a:t>Testing the implementation</a:t>
                      </a:r>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1968497615"/>
                  </a:ext>
                </a:extLst>
              </a:tr>
              <a:tr h="0">
                <a:tc>
                  <a:txBody>
                    <a:bodyPr/>
                    <a:lstStyle/>
                    <a:p>
                      <a:r>
                        <a:rPr lang="en-US" sz="1400" noProof="0" dirty="0"/>
                        <a:t>Preparing the intermediate result presentation</a:t>
                      </a:r>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1191667619"/>
                  </a:ext>
                </a:extLst>
              </a:tr>
              <a:tr h="0">
                <a:tc>
                  <a:txBody>
                    <a:bodyPr/>
                    <a:lstStyle/>
                    <a:p>
                      <a:r>
                        <a:rPr lang="en-US" sz="1400" noProof="0" dirty="0"/>
                        <a:t>Exploring the defined scenarios</a:t>
                      </a:r>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90196407"/>
                  </a:ext>
                </a:extLst>
              </a:tr>
              <a:tr h="0">
                <a:tc>
                  <a:txBody>
                    <a:bodyPr/>
                    <a:lstStyle/>
                    <a:p>
                      <a:r>
                        <a:rPr lang="en-US" sz="1400" noProof="0" dirty="0"/>
                        <a:t>Further explorations</a:t>
                      </a:r>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tc>
                  <a:txBody>
                    <a:bodyPr/>
                    <a:lstStyle/>
                    <a:p>
                      <a:pPr algn="ctr"/>
                      <a:endParaRPr lang="en-US" sz="1400" noProof="0" dirty="0"/>
                    </a:p>
                  </a:txBody>
                  <a:tcPr/>
                </a:tc>
                <a:tc>
                  <a:txBody>
                    <a:bodyPr/>
                    <a:lstStyle/>
                    <a:p>
                      <a:pPr algn="ctr"/>
                      <a:endParaRPr lang="en-US" sz="1400" noProof="0" dirty="0"/>
                    </a:p>
                  </a:txBody>
                  <a:tcPr/>
                </a:tc>
                <a:extLst>
                  <a:ext uri="{0D108BD9-81ED-4DB2-BD59-A6C34878D82A}">
                    <a16:rowId xmlns:a16="http://schemas.microsoft.com/office/drawing/2014/main" val="2915903090"/>
                  </a:ext>
                </a:extLst>
              </a:tr>
              <a:tr h="0">
                <a:tc>
                  <a:txBody>
                    <a:bodyPr/>
                    <a:lstStyle/>
                    <a:p>
                      <a:r>
                        <a:rPr lang="en-US" sz="1400" noProof="0" dirty="0"/>
                        <a:t>Preparing the final presentation</a:t>
                      </a:r>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tc>
                <a:tc>
                  <a:txBody>
                    <a:bodyPr/>
                    <a:lstStyle/>
                    <a:p>
                      <a:pPr algn="ctr"/>
                      <a:endParaRPr lang="en-US" sz="1400" noProof="0" dirty="0"/>
                    </a:p>
                  </a:txBody>
                  <a:tcPr>
                    <a:solidFill>
                      <a:schemeClr val="tx2"/>
                    </a:solidFill>
                  </a:tcPr>
                </a:tc>
                <a:tc>
                  <a:txBody>
                    <a:bodyPr/>
                    <a:lstStyle/>
                    <a:p>
                      <a:pPr algn="ctr"/>
                      <a:endParaRPr lang="en-US" sz="1400" noProof="0" dirty="0"/>
                    </a:p>
                  </a:txBody>
                  <a:tcPr>
                    <a:solidFill>
                      <a:schemeClr val="tx2"/>
                    </a:solidFill>
                  </a:tcPr>
                </a:tc>
                <a:extLst>
                  <a:ext uri="{0D108BD9-81ED-4DB2-BD59-A6C34878D82A}">
                    <a16:rowId xmlns:a16="http://schemas.microsoft.com/office/drawing/2014/main" val="1758317362"/>
                  </a:ext>
                </a:extLst>
              </a:tr>
            </a:tbl>
          </a:graphicData>
        </a:graphic>
      </p:graphicFrame>
      <p:grpSp>
        <p:nvGrpSpPr>
          <p:cNvPr id="4" name="Gruppieren 3">
            <a:extLst>
              <a:ext uri="{FF2B5EF4-FFF2-40B4-BE49-F238E27FC236}">
                <a16:creationId xmlns:a16="http://schemas.microsoft.com/office/drawing/2014/main" id="{23681950-27A1-92A1-CC81-ABBCC27E044D}"/>
              </a:ext>
            </a:extLst>
          </p:cNvPr>
          <p:cNvGrpSpPr/>
          <p:nvPr/>
        </p:nvGrpSpPr>
        <p:grpSpPr>
          <a:xfrm>
            <a:off x="4602680" y="1059582"/>
            <a:ext cx="167059" cy="3456384"/>
            <a:chOff x="6286673" y="1170868"/>
            <a:chExt cx="167059" cy="3456384"/>
          </a:xfrm>
          <a:solidFill>
            <a:schemeClr val="accent2">
              <a:lumMod val="20000"/>
              <a:lumOff val="80000"/>
            </a:schemeClr>
          </a:solidFill>
        </p:grpSpPr>
        <p:sp>
          <p:nvSpPr>
            <p:cNvPr id="5" name="Gleichschenkliges Dreieck 4">
              <a:extLst>
                <a:ext uri="{FF2B5EF4-FFF2-40B4-BE49-F238E27FC236}">
                  <a16:creationId xmlns:a16="http://schemas.microsoft.com/office/drawing/2014/main" id="{7906C28F-50A3-58E6-7B16-FDCA93DF6F91}"/>
                </a:ext>
              </a:extLst>
            </p:cNvPr>
            <p:cNvSpPr/>
            <p:nvPr/>
          </p:nvSpPr>
          <p:spPr>
            <a:xfrm>
              <a:off x="6286673" y="4483236"/>
              <a:ext cx="167059" cy="144016"/>
            </a:xfrm>
            <a:prstGeom prst="triangle">
              <a:avLst/>
            </a:prstGeom>
            <a:grp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cxnSp>
          <p:nvCxnSpPr>
            <p:cNvPr id="6" name="Gerader Verbinder 5">
              <a:extLst>
                <a:ext uri="{FF2B5EF4-FFF2-40B4-BE49-F238E27FC236}">
                  <a16:creationId xmlns:a16="http://schemas.microsoft.com/office/drawing/2014/main" id="{8552558C-85A7-CE51-2108-02055AB07050}"/>
                </a:ext>
              </a:extLst>
            </p:cNvPr>
            <p:cNvCxnSpPr>
              <a:cxnSpLocks/>
            </p:cNvCxnSpPr>
            <p:nvPr/>
          </p:nvCxnSpPr>
          <p:spPr>
            <a:xfrm>
              <a:off x="6370202" y="1170868"/>
              <a:ext cx="0" cy="3309094"/>
            </a:xfrm>
            <a:prstGeom prst="line">
              <a:avLst/>
            </a:prstGeom>
            <a:grp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0" name="Gruppieren 9">
            <a:extLst>
              <a:ext uri="{FF2B5EF4-FFF2-40B4-BE49-F238E27FC236}">
                <a16:creationId xmlns:a16="http://schemas.microsoft.com/office/drawing/2014/main" id="{3A60312B-58C6-7167-5D2C-2FA3C38C7B62}"/>
              </a:ext>
            </a:extLst>
          </p:cNvPr>
          <p:cNvGrpSpPr/>
          <p:nvPr/>
        </p:nvGrpSpPr>
        <p:grpSpPr>
          <a:xfrm>
            <a:off x="8683660" y="1059582"/>
            <a:ext cx="167059" cy="3456384"/>
            <a:chOff x="6286673" y="1170868"/>
            <a:chExt cx="167059" cy="3456384"/>
          </a:xfrm>
          <a:solidFill>
            <a:schemeClr val="accent2">
              <a:lumMod val="20000"/>
              <a:lumOff val="80000"/>
            </a:schemeClr>
          </a:solidFill>
        </p:grpSpPr>
        <p:sp>
          <p:nvSpPr>
            <p:cNvPr id="11" name="Gleichschenkliges Dreieck 10">
              <a:extLst>
                <a:ext uri="{FF2B5EF4-FFF2-40B4-BE49-F238E27FC236}">
                  <a16:creationId xmlns:a16="http://schemas.microsoft.com/office/drawing/2014/main" id="{5C7A3346-13CD-03CD-1694-FE1C1921F149}"/>
                </a:ext>
              </a:extLst>
            </p:cNvPr>
            <p:cNvSpPr/>
            <p:nvPr/>
          </p:nvSpPr>
          <p:spPr>
            <a:xfrm>
              <a:off x="6286673" y="4483236"/>
              <a:ext cx="167059" cy="144016"/>
            </a:xfrm>
            <a:prstGeom prst="triangle">
              <a:avLst/>
            </a:prstGeom>
            <a:grp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cxnSp>
          <p:nvCxnSpPr>
            <p:cNvPr id="12" name="Gerader Verbinder 11">
              <a:extLst>
                <a:ext uri="{FF2B5EF4-FFF2-40B4-BE49-F238E27FC236}">
                  <a16:creationId xmlns:a16="http://schemas.microsoft.com/office/drawing/2014/main" id="{9CF4AE81-709D-29DE-E902-8384DEB1D091}"/>
                </a:ext>
              </a:extLst>
            </p:cNvPr>
            <p:cNvCxnSpPr>
              <a:cxnSpLocks/>
            </p:cNvCxnSpPr>
            <p:nvPr/>
          </p:nvCxnSpPr>
          <p:spPr>
            <a:xfrm>
              <a:off x="6370202" y="1170868"/>
              <a:ext cx="0" cy="3309094"/>
            </a:xfrm>
            <a:prstGeom prst="line">
              <a:avLst/>
            </a:prstGeom>
            <a:grp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3" name="Textfeld 12">
            <a:extLst>
              <a:ext uri="{FF2B5EF4-FFF2-40B4-BE49-F238E27FC236}">
                <a16:creationId xmlns:a16="http://schemas.microsoft.com/office/drawing/2014/main" id="{7977F972-24F6-4850-B05A-480DB328A951}"/>
              </a:ext>
            </a:extLst>
          </p:cNvPr>
          <p:cNvSpPr txBox="1"/>
          <p:nvPr/>
        </p:nvSpPr>
        <p:spPr>
          <a:xfrm>
            <a:off x="3239704" y="4414341"/>
            <a:ext cx="1446505" cy="461665"/>
          </a:xfrm>
          <a:prstGeom prst="rect">
            <a:avLst/>
          </a:prstGeom>
          <a:noFill/>
        </p:spPr>
        <p:txBody>
          <a:bodyPr wrap="square" rtlCol="0">
            <a:spAutoFit/>
          </a:bodyPr>
          <a:lstStyle/>
          <a:p>
            <a:r>
              <a:rPr lang="en-US" sz="1200" noProof="0" dirty="0">
                <a:ea typeface="Calibri"/>
                <a:cs typeface="Times New Roman"/>
              </a:rPr>
              <a:t>intermediate result presentation</a:t>
            </a:r>
            <a:endParaRPr lang="en-US" sz="1200" noProof="0" dirty="0"/>
          </a:p>
        </p:txBody>
      </p:sp>
      <p:sp>
        <p:nvSpPr>
          <p:cNvPr id="15" name="Textfeld 14">
            <a:extLst>
              <a:ext uri="{FF2B5EF4-FFF2-40B4-BE49-F238E27FC236}">
                <a16:creationId xmlns:a16="http://schemas.microsoft.com/office/drawing/2014/main" id="{5ABE7126-AFEC-03A5-3512-66618ABC0717}"/>
              </a:ext>
            </a:extLst>
          </p:cNvPr>
          <p:cNvSpPr txBox="1"/>
          <p:nvPr/>
        </p:nvSpPr>
        <p:spPr>
          <a:xfrm>
            <a:off x="7740355" y="4414341"/>
            <a:ext cx="1020809" cy="461665"/>
          </a:xfrm>
          <a:prstGeom prst="rect">
            <a:avLst/>
          </a:prstGeom>
          <a:noFill/>
        </p:spPr>
        <p:txBody>
          <a:bodyPr wrap="square" rtlCol="0">
            <a:spAutoFit/>
          </a:bodyPr>
          <a:lstStyle/>
          <a:p>
            <a:r>
              <a:rPr lang="en-US" sz="1200" noProof="0" dirty="0">
                <a:ea typeface="Calibri"/>
                <a:cs typeface="Times New Roman"/>
              </a:rPr>
              <a:t>final presentation</a:t>
            </a:r>
            <a:endParaRPr lang="en-US" sz="1200" noProof="0" dirty="0"/>
          </a:p>
        </p:txBody>
      </p:sp>
      <p:grpSp>
        <p:nvGrpSpPr>
          <p:cNvPr id="27" name="Gruppieren 26">
            <a:extLst>
              <a:ext uri="{FF2B5EF4-FFF2-40B4-BE49-F238E27FC236}">
                <a16:creationId xmlns:a16="http://schemas.microsoft.com/office/drawing/2014/main" id="{E83DCA6B-65F4-2742-17DE-D46E477F6E4B}"/>
              </a:ext>
            </a:extLst>
          </p:cNvPr>
          <p:cNvGrpSpPr/>
          <p:nvPr/>
        </p:nvGrpSpPr>
        <p:grpSpPr>
          <a:xfrm rot="1464192">
            <a:off x="7284955" y="1229274"/>
            <a:ext cx="1728190" cy="360040"/>
            <a:chOff x="179512" y="915566"/>
            <a:chExt cx="1728190" cy="360040"/>
          </a:xfrm>
        </p:grpSpPr>
        <p:sp>
          <p:nvSpPr>
            <p:cNvPr id="23" name="Rechteck 22">
              <a:extLst>
                <a:ext uri="{FF2B5EF4-FFF2-40B4-BE49-F238E27FC236}">
                  <a16:creationId xmlns:a16="http://schemas.microsoft.com/office/drawing/2014/main" id="{D930125C-59F3-F831-FDA2-B7A1234F7DD3}"/>
                </a:ext>
              </a:extLst>
            </p:cNvPr>
            <p:cNvSpPr/>
            <p:nvPr/>
          </p:nvSpPr>
          <p:spPr>
            <a:xfrm>
              <a:off x="179512" y="915566"/>
              <a:ext cx="1728190" cy="360040"/>
            </a:xfrm>
            <a:prstGeom prst="rect">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Illustration</a:t>
              </a:r>
            </a:p>
          </p:txBody>
        </p:sp>
        <p:cxnSp>
          <p:nvCxnSpPr>
            <p:cNvPr id="25" name="Gerader Verbinder 24">
              <a:extLst>
                <a:ext uri="{FF2B5EF4-FFF2-40B4-BE49-F238E27FC236}">
                  <a16:creationId xmlns:a16="http://schemas.microsoft.com/office/drawing/2014/main" id="{06CB32F6-E8AA-B4D0-1F8D-DE290ABF3DDE}"/>
                </a:ext>
              </a:extLst>
            </p:cNvPr>
            <p:cNvCxnSpPr>
              <a:cxnSpLocks/>
            </p:cNvCxnSpPr>
            <p:nvPr/>
          </p:nvCxnSpPr>
          <p:spPr>
            <a:xfrm>
              <a:off x="179512" y="915566"/>
              <a:ext cx="1728190" cy="0"/>
            </a:xfrm>
            <a:prstGeom prst="line">
              <a:avLst/>
            </a:prstGeom>
            <a:solidFill>
              <a:srgbClr val="FFFF00"/>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8ABB6660-1C0A-5D78-D0C8-14516C653FB6}"/>
                </a:ext>
              </a:extLst>
            </p:cNvPr>
            <p:cNvCxnSpPr/>
            <p:nvPr/>
          </p:nvCxnSpPr>
          <p:spPr>
            <a:xfrm>
              <a:off x="179512" y="1275606"/>
              <a:ext cx="1728190" cy="0"/>
            </a:xfrm>
            <a:prstGeom prst="line">
              <a:avLst/>
            </a:prstGeom>
            <a:solidFill>
              <a:srgbClr val="FFFF00"/>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294409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C4F22B-4A3B-6DF4-B5E6-C6B7AABC470F}"/>
              </a:ext>
            </a:extLst>
          </p:cNvPr>
          <p:cNvSpPr>
            <a:spLocks noGrp="1"/>
          </p:cNvSpPr>
          <p:nvPr>
            <p:ph type="title"/>
          </p:nvPr>
        </p:nvSpPr>
        <p:spPr/>
        <p:txBody>
          <a:bodyPr/>
          <a:lstStyle/>
          <a:p>
            <a:r>
              <a:rPr lang="en-US" noProof="0" dirty="0"/>
              <a:t>Remarks:</a:t>
            </a:r>
            <a:br>
              <a:rPr lang="en-US" noProof="0" dirty="0"/>
            </a:br>
            <a:r>
              <a:rPr lang="en-US" noProof="0" dirty="0"/>
              <a:t>Slide contents (2/ 2)</a:t>
            </a:r>
          </a:p>
        </p:txBody>
      </p:sp>
      <p:grpSp>
        <p:nvGrpSpPr>
          <p:cNvPr id="3" name="Gruppieren 2">
            <a:extLst>
              <a:ext uri="{FF2B5EF4-FFF2-40B4-BE49-F238E27FC236}">
                <a16:creationId xmlns:a16="http://schemas.microsoft.com/office/drawing/2014/main" id="{7BFA10B9-008B-1E6C-15A8-AB2326FA9955}"/>
              </a:ext>
            </a:extLst>
          </p:cNvPr>
          <p:cNvGrpSpPr/>
          <p:nvPr/>
        </p:nvGrpSpPr>
        <p:grpSpPr>
          <a:xfrm>
            <a:off x="251520" y="1131590"/>
            <a:ext cx="1440160" cy="952115"/>
            <a:chOff x="251520" y="1131590"/>
            <a:chExt cx="1440160" cy="952115"/>
          </a:xfrm>
        </p:grpSpPr>
        <p:grpSp>
          <p:nvGrpSpPr>
            <p:cNvPr id="4" name="Gruppieren 17">
              <a:extLst>
                <a:ext uri="{FF2B5EF4-FFF2-40B4-BE49-F238E27FC236}">
                  <a16:creationId xmlns:a16="http://schemas.microsoft.com/office/drawing/2014/main" id="{DBB914D8-2BAF-2AC6-02FD-D818B112480F}"/>
                </a:ext>
              </a:extLst>
            </p:cNvPr>
            <p:cNvGrpSpPr/>
            <p:nvPr/>
          </p:nvGrpSpPr>
          <p:grpSpPr>
            <a:xfrm>
              <a:off x="251520" y="1131590"/>
              <a:ext cx="1440160" cy="952115"/>
              <a:chOff x="2627784" y="1340768"/>
              <a:chExt cx="2287290" cy="1512168"/>
            </a:xfrm>
          </p:grpSpPr>
          <p:sp>
            <p:nvSpPr>
              <p:cNvPr id="6" name="Rechteck 5">
                <a:extLst>
                  <a:ext uri="{FF2B5EF4-FFF2-40B4-BE49-F238E27FC236}">
                    <a16:creationId xmlns:a16="http://schemas.microsoft.com/office/drawing/2014/main" id="{527BB95E-BEB9-CD6D-2B3C-369779CC8D89}"/>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7" name="Rechteck 6">
                <a:extLst>
                  <a:ext uri="{FF2B5EF4-FFF2-40B4-BE49-F238E27FC236}">
                    <a16:creationId xmlns:a16="http://schemas.microsoft.com/office/drawing/2014/main" id="{C9C66246-FC6D-C22E-7E5F-B3120864F6EA}"/>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grpSp>
        <p:sp>
          <p:nvSpPr>
            <p:cNvPr id="5" name="Textfeld 4">
              <a:extLst>
                <a:ext uri="{FF2B5EF4-FFF2-40B4-BE49-F238E27FC236}">
                  <a16:creationId xmlns:a16="http://schemas.microsoft.com/office/drawing/2014/main" id="{05E87DDB-7643-3893-6FCD-CE8D38FD3989}"/>
                </a:ext>
              </a:extLst>
            </p:cNvPr>
            <p:cNvSpPr txBox="1"/>
            <p:nvPr/>
          </p:nvSpPr>
          <p:spPr>
            <a:xfrm>
              <a:off x="414430" y="1465076"/>
              <a:ext cx="1114343" cy="523220"/>
            </a:xfrm>
            <a:prstGeom prst="rect">
              <a:avLst/>
            </a:prstGeom>
            <a:noFill/>
          </p:spPr>
          <p:txBody>
            <a:bodyPr wrap="none" rtlCol="0">
              <a:spAutoFit/>
            </a:bodyPr>
            <a:lstStyle/>
            <a:p>
              <a:pPr algn="ctr"/>
              <a:r>
                <a:rPr lang="en-US" sz="1400" noProof="0" dirty="0"/>
                <a:t>Peer</a:t>
              </a:r>
            </a:p>
            <a:p>
              <a:pPr algn="ctr"/>
              <a:r>
                <a:rPr lang="en-US" sz="1400" noProof="0" dirty="0"/>
                <a:t>Contribution</a:t>
              </a:r>
            </a:p>
          </p:txBody>
        </p:sp>
      </p:grpSp>
      <p:sp>
        <p:nvSpPr>
          <p:cNvPr id="8" name="Rechteck 7">
            <a:extLst>
              <a:ext uri="{FF2B5EF4-FFF2-40B4-BE49-F238E27FC236}">
                <a16:creationId xmlns:a16="http://schemas.microsoft.com/office/drawing/2014/main" id="{AE345A03-9C79-703E-B264-D615BE86647E}"/>
              </a:ext>
            </a:extLst>
          </p:cNvPr>
          <p:cNvSpPr/>
          <p:nvPr/>
        </p:nvSpPr>
        <p:spPr>
          <a:xfrm>
            <a:off x="1763688" y="1131590"/>
            <a:ext cx="7128792" cy="3888432"/>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11" name="Textfeld 10">
            <a:extLst>
              <a:ext uri="{FF2B5EF4-FFF2-40B4-BE49-F238E27FC236}">
                <a16:creationId xmlns:a16="http://schemas.microsoft.com/office/drawing/2014/main" id="{020B86CE-8954-00CF-7D9D-D5BAD17E0E7F}"/>
              </a:ext>
            </a:extLst>
          </p:cNvPr>
          <p:cNvSpPr txBox="1"/>
          <p:nvPr/>
        </p:nvSpPr>
        <p:spPr>
          <a:xfrm>
            <a:off x="1763688" y="1131590"/>
            <a:ext cx="3816423" cy="3631763"/>
          </a:xfrm>
          <a:prstGeom prst="rect">
            <a:avLst/>
          </a:prstGeom>
          <a:noFill/>
        </p:spPr>
        <p:txBody>
          <a:bodyPr wrap="square" rtlCol="0">
            <a:spAutoFit/>
          </a:bodyPr>
          <a:lstStyle/>
          <a:p>
            <a:pPr>
              <a:spcAft>
                <a:spcPts val="600"/>
              </a:spcAft>
            </a:pPr>
            <a:r>
              <a:rPr lang="en-US" sz="1400" noProof="0" dirty="0"/>
              <a:t>Peer Contribution:</a:t>
            </a:r>
          </a:p>
          <a:p>
            <a:pPr marL="179388" indent="-179388">
              <a:spcAft>
                <a:spcPts val="600"/>
              </a:spcAft>
              <a:buFont typeface="Arial" panose="020B0604020202020204" pitchFamily="34" charset="0"/>
              <a:buChar char="•"/>
            </a:pPr>
            <a:r>
              <a:rPr lang="en-US" sz="1400" noProof="0" dirty="0"/>
              <a:t>Give a “peer contribution” evaluation stating how everyone in the group has indeed contributed to the results; e.g., in form of a table:</a:t>
            </a:r>
          </a:p>
          <a:p>
            <a:pPr marL="179388" indent="-179388" algn="just">
              <a:spcAft>
                <a:spcPts val="600"/>
              </a:spcAft>
              <a:buFont typeface="Arial" panose="020B0604020202020204" pitchFamily="34" charset="0"/>
              <a:buChar char="•"/>
            </a:pPr>
            <a:endParaRPr lang="en-US" sz="1400" noProof="0" dirty="0"/>
          </a:p>
          <a:p>
            <a:pPr marL="179388" indent="-179388" algn="just">
              <a:spcAft>
                <a:spcPts val="600"/>
              </a:spcAft>
              <a:buFont typeface="Arial" panose="020B0604020202020204" pitchFamily="34" charset="0"/>
              <a:buChar char="•"/>
            </a:pPr>
            <a:endParaRPr lang="en-US" sz="1400" noProof="0" dirty="0"/>
          </a:p>
          <a:p>
            <a:pPr marL="179388" indent="-179388" algn="just">
              <a:spcAft>
                <a:spcPts val="600"/>
              </a:spcAft>
              <a:buFont typeface="Arial" panose="020B0604020202020204" pitchFamily="34" charset="0"/>
              <a:buChar char="•"/>
            </a:pPr>
            <a:endParaRPr lang="en-US" sz="1400" noProof="0" dirty="0"/>
          </a:p>
          <a:p>
            <a:pPr marL="179388" indent="-179388" algn="just">
              <a:spcAft>
                <a:spcPts val="600"/>
              </a:spcAft>
              <a:buFont typeface="Arial" panose="020B0604020202020204" pitchFamily="34" charset="0"/>
              <a:buChar char="•"/>
            </a:pPr>
            <a:endParaRPr lang="en-US" sz="1400" noProof="0" dirty="0"/>
          </a:p>
          <a:p>
            <a:pPr marL="179388" indent="-179388" algn="just">
              <a:spcAft>
                <a:spcPts val="600"/>
              </a:spcAft>
              <a:buFont typeface="Arial" panose="020B0604020202020204" pitchFamily="34" charset="0"/>
              <a:buChar char="•"/>
            </a:pPr>
            <a:endParaRPr lang="en-US" sz="1400" noProof="0" dirty="0"/>
          </a:p>
          <a:p>
            <a:pPr marL="179388" indent="-179388" algn="just">
              <a:spcAft>
                <a:spcPts val="600"/>
              </a:spcAft>
              <a:buFont typeface="Arial" panose="020B0604020202020204" pitchFamily="34" charset="0"/>
              <a:buChar char="•"/>
            </a:pPr>
            <a:endParaRPr lang="en-US" sz="800" noProof="0" dirty="0"/>
          </a:p>
          <a:p>
            <a:pPr marL="179388" indent="-179388" algn="just">
              <a:spcAft>
                <a:spcPts val="600"/>
              </a:spcAft>
              <a:buFont typeface="Arial" panose="020B0604020202020204" pitchFamily="34" charset="0"/>
              <a:buChar char="•"/>
            </a:pPr>
            <a:r>
              <a:rPr lang="en-US" sz="1400" noProof="0" dirty="0"/>
              <a:t>For the “peer contribution”, keep the honor code of the university and academic honesty in mind.</a:t>
            </a:r>
          </a:p>
        </p:txBody>
      </p:sp>
      <p:graphicFrame>
        <p:nvGraphicFramePr>
          <p:cNvPr id="12" name="Tabelle 11">
            <a:extLst>
              <a:ext uri="{FF2B5EF4-FFF2-40B4-BE49-F238E27FC236}">
                <a16:creationId xmlns:a16="http://schemas.microsoft.com/office/drawing/2014/main" id="{C965AC58-5A58-64C0-F8C2-5875C50433DE}"/>
              </a:ext>
            </a:extLst>
          </p:cNvPr>
          <p:cNvGraphicFramePr>
            <a:graphicFrameLocks noGrp="1"/>
          </p:cNvGraphicFramePr>
          <p:nvPr>
            <p:extLst>
              <p:ext uri="{D42A27DB-BD31-4B8C-83A1-F6EECF244321}">
                <p14:modId xmlns:p14="http://schemas.microsoft.com/office/powerpoint/2010/main" val="1526963856"/>
              </p:ext>
            </p:extLst>
          </p:nvPr>
        </p:nvGraphicFramePr>
        <p:xfrm>
          <a:off x="2411760" y="2427734"/>
          <a:ext cx="6408711" cy="1432560"/>
        </p:xfrm>
        <a:graphic>
          <a:graphicData uri="http://schemas.openxmlformats.org/drawingml/2006/table">
            <a:tbl>
              <a:tblPr firstRow="1" bandRow="1">
                <a:tableStyleId>{5940675A-B579-460E-94D1-54222C63F5DA}</a:tableStyleId>
              </a:tblPr>
              <a:tblGrid>
                <a:gridCol w="1944216">
                  <a:extLst>
                    <a:ext uri="{9D8B030D-6E8A-4147-A177-3AD203B41FA5}">
                      <a16:colId xmlns:a16="http://schemas.microsoft.com/office/drawing/2014/main" val="1654417324"/>
                    </a:ext>
                  </a:extLst>
                </a:gridCol>
                <a:gridCol w="1080120">
                  <a:extLst>
                    <a:ext uri="{9D8B030D-6E8A-4147-A177-3AD203B41FA5}">
                      <a16:colId xmlns:a16="http://schemas.microsoft.com/office/drawing/2014/main" val="737908663"/>
                    </a:ext>
                  </a:extLst>
                </a:gridCol>
                <a:gridCol w="768085">
                  <a:extLst>
                    <a:ext uri="{9D8B030D-6E8A-4147-A177-3AD203B41FA5}">
                      <a16:colId xmlns:a16="http://schemas.microsoft.com/office/drawing/2014/main" val="3088008222"/>
                    </a:ext>
                  </a:extLst>
                </a:gridCol>
                <a:gridCol w="768085">
                  <a:extLst>
                    <a:ext uri="{9D8B030D-6E8A-4147-A177-3AD203B41FA5}">
                      <a16:colId xmlns:a16="http://schemas.microsoft.com/office/drawing/2014/main" val="1934134408"/>
                    </a:ext>
                  </a:extLst>
                </a:gridCol>
                <a:gridCol w="768085">
                  <a:extLst>
                    <a:ext uri="{9D8B030D-6E8A-4147-A177-3AD203B41FA5}">
                      <a16:colId xmlns:a16="http://schemas.microsoft.com/office/drawing/2014/main" val="3515867070"/>
                    </a:ext>
                  </a:extLst>
                </a:gridCol>
                <a:gridCol w="1080120">
                  <a:extLst>
                    <a:ext uri="{9D8B030D-6E8A-4147-A177-3AD203B41FA5}">
                      <a16:colId xmlns:a16="http://schemas.microsoft.com/office/drawing/2014/main" val="227279900"/>
                    </a:ext>
                  </a:extLst>
                </a:gridCol>
              </a:tblGrid>
              <a:tr h="0">
                <a:tc rowSpan="2">
                  <a:txBody>
                    <a:bodyPr/>
                    <a:lstStyle/>
                    <a:p>
                      <a:r>
                        <a:rPr lang="en-US" sz="1400" noProof="0" dirty="0"/>
                        <a:t>name of</a:t>
                      </a:r>
                    </a:p>
                    <a:p>
                      <a:r>
                        <a:rPr lang="en-US" sz="1400" noProof="0" dirty="0"/>
                        <a:t>team member</a:t>
                      </a:r>
                    </a:p>
                  </a:txBody>
                  <a:tcPr anchor="b"/>
                </a:tc>
                <a:tc gridSpan="5">
                  <a:txBody>
                    <a:bodyPr/>
                    <a:lstStyle/>
                    <a:p>
                      <a:pPr algn="ctr"/>
                      <a:r>
                        <a:rPr lang="en-US" sz="1400" noProof="0" dirty="0"/>
                        <a:t>contribution relative to the other team members</a:t>
                      </a:r>
                    </a:p>
                  </a:txBody>
                  <a:tcPr/>
                </a:tc>
                <a:tc hMerge="1">
                  <a:txBody>
                    <a:bodyPr/>
                    <a:lstStyle/>
                    <a:p>
                      <a:endParaRPr lang="de-DE" sz="1400" dirty="0"/>
                    </a:p>
                  </a:txBody>
                  <a:tcPr/>
                </a:tc>
                <a:tc hMerge="1">
                  <a:txBody>
                    <a:bodyPr/>
                    <a:lstStyle/>
                    <a:p>
                      <a:endParaRPr lang="de-DE" sz="1400" dirty="0"/>
                    </a:p>
                  </a:txBody>
                  <a:tcPr/>
                </a:tc>
                <a:tc hMerge="1">
                  <a:txBody>
                    <a:bodyPr/>
                    <a:lstStyle/>
                    <a:p>
                      <a:endParaRPr lang="de-DE" sz="1400" dirty="0"/>
                    </a:p>
                  </a:txBody>
                  <a:tcPr/>
                </a:tc>
                <a:tc hMerge="1">
                  <a:txBody>
                    <a:bodyPr/>
                    <a:lstStyle/>
                    <a:p>
                      <a:endParaRPr lang="de-DE" sz="1400" dirty="0"/>
                    </a:p>
                  </a:txBody>
                  <a:tcPr/>
                </a:tc>
                <a:extLst>
                  <a:ext uri="{0D108BD9-81ED-4DB2-BD59-A6C34878D82A}">
                    <a16:rowId xmlns:a16="http://schemas.microsoft.com/office/drawing/2014/main" val="2646110672"/>
                  </a:ext>
                </a:extLst>
              </a:tr>
              <a:tr h="0">
                <a:tc vMerge="1">
                  <a:txBody>
                    <a:bodyPr/>
                    <a:lstStyle/>
                    <a:p>
                      <a:endParaRPr lang="de-DE" sz="1400" dirty="0"/>
                    </a:p>
                  </a:txBody>
                  <a:tcPr/>
                </a:tc>
                <a:tc>
                  <a:txBody>
                    <a:bodyPr/>
                    <a:lstStyle/>
                    <a:p>
                      <a:pPr algn="ctr"/>
                      <a:r>
                        <a:rPr lang="en-US" sz="1400" noProof="0" dirty="0"/>
                        <a:t>not significant</a:t>
                      </a:r>
                    </a:p>
                  </a:txBody>
                  <a:tcPr/>
                </a:tc>
                <a:tc>
                  <a:txBody>
                    <a:bodyPr/>
                    <a:lstStyle/>
                    <a:p>
                      <a:pPr algn="ctr"/>
                      <a:r>
                        <a:rPr lang="en-US" sz="1400" noProof="0" dirty="0"/>
                        <a:t>- 20%</a:t>
                      </a:r>
                    </a:p>
                  </a:txBody>
                  <a:tcPr anchor="ctr"/>
                </a:tc>
                <a:tc>
                  <a:txBody>
                    <a:bodyPr/>
                    <a:lstStyle/>
                    <a:p>
                      <a:pPr algn="ctr"/>
                      <a:r>
                        <a:rPr lang="en-US" sz="1400" noProof="0" dirty="0"/>
                        <a:t>equal</a:t>
                      </a:r>
                    </a:p>
                  </a:txBody>
                  <a:tcPr anchor="ctr"/>
                </a:tc>
                <a:tc>
                  <a:txBody>
                    <a:bodyPr/>
                    <a:lstStyle/>
                    <a:p>
                      <a:pPr algn="ctr"/>
                      <a:r>
                        <a:rPr lang="en-US" sz="1400" noProof="0" dirty="0"/>
                        <a:t>+ 20%</a:t>
                      </a:r>
                    </a:p>
                  </a:txBody>
                  <a:tcPr anchor="ctr"/>
                </a:tc>
                <a:tc>
                  <a:txBody>
                    <a:bodyPr/>
                    <a:lstStyle/>
                    <a:p>
                      <a:pPr algn="ctr"/>
                      <a:r>
                        <a:rPr lang="en-US" sz="1400" noProof="0" dirty="0"/>
                        <a:t>did everything</a:t>
                      </a:r>
                    </a:p>
                  </a:txBody>
                  <a:tcPr/>
                </a:tc>
                <a:extLst>
                  <a:ext uri="{0D108BD9-81ED-4DB2-BD59-A6C34878D82A}">
                    <a16:rowId xmlns:a16="http://schemas.microsoft.com/office/drawing/2014/main" val="1829158630"/>
                  </a:ext>
                </a:extLst>
              </a:tr>
              <a:tr h="0">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extLst>
                  <a:ext uri="{0D108BD9-81ED-4DB2-BD59-A6C34878D82A}">
                    <a16:rowId xmlns:a16="http://schemas.microsoft.com/office/drawing/2014/main" val="1859244885"/>
                  </a:ext>
                </a:extLst>
              </a:tr>
              <a:tr h="0">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extLst>
                  <a:ext uri="{0D108BD9-81ED-4DB2-BD59-A6C34878D82A}">
                    <a16:rowId xmlns:a16="http://schemas.microsoft.com/office/drawing/2014/main" val="112409219"/>
                  </a:ext>
                </a:extLst>
              </a:tr>
            </a:tbl>
          </a:graphicData>
        </a:graphic>
      </p:graphicFrame>
    </p:spTree>
    <p:extLst>
      <p:ext uri="{BB962C8B-B14F-4D97-AF65-F5344CB8AC3E}">
        <p14:creationId xmlns:p14="http://schemas.microsoft.com/office/powerpoint/2010/main" val="2387102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4EA30-460D-B093-8917-3CAD97717552}"/>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7E7A7610-339A-BE6E-77CC-B47B54FE555B}"/>
              </a:ext>
            </a:extLst>
          </p:cNvPr>
          <p:cNvSpPr/>
          <p:nvPr/>
        </p:nvSpPr>
        <p:spPr>
          <a:xfrm>
            <a:off x="971600" y="2125634"/>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6381B56E-A677-0EE5-A608-C0B742893682}"/>
              </a:ext>
            </a:extLst>
          </p:cNvPr>
          <p:cNvSpPr txBox="1"/>
          <p:nvPr/>
        </p:nvSpPr>
        <p:spPr>
          <a:xfrm>
            <a:off x="971600" y="1131590"/>
            <a:ext cx="5137881" cy="1908215"/>
          </a:xfrm>
          <a:prstGeom prst="rect">
            <a:avLst/>
          </a:prstGeom>
          <a:noFill/>
        </p:spPr>
        <p:txBody>
          <a:bodyPr wrap="none" rtlCol="0">
            <a:spAutoFit/>
          </a:bodyPr>
          <a:lstStyle/>
          <a:p>
            <a:r>
              <a:rPr lang="en-US" b="1" noProof="0" dirty="0"/>
              <a:t>Topics</a:t>
            </a:r>
          </a:p>
          <a:p>
            <a:endParaRPr lang="en-US" sz="1000" noProof="0" dirty="0"/>
          </a:p>
          <a:p>
            <a:pPr lvl="1"/>
            <a:r>
              <a:rPr lang="en-US" noProof="0" dirty="0"/>
              <a:t>Administration: Details About the Group Project</a:t>
            </a:r>
          </a:p>
          <a:p>
            <a:pPr lvl="1"/>
            <a:endParaRPr lang="en-US" noProof="0" dirty="0"/>
          </a:p>
          <a:p>
            <a:pPr lvl="1"/>
            <a:r>
              <a:rPr lang="en-US" b="1" noProof="0" dirty="0"/>
              <a:t>Forest Rejuvenation Dynamics</a:t>
            </a:r>
          </a:p>
          <a:p>
            <a:pPr lvl="1"/>
            <a:endParaRPr lang="en-US" noProof="0" dirty="0"/>
          </a:p>
          <a:p>
            <a:pPr lvl="1"/>
            <a:r>
              <a:rPr lang="en-US" noProof="0" dirty="0"/>
              <a:t>Markovian Description of the Forest Dynamics</a:t>
            </a:r>
          </a:p>
        </p:txBody>
      </p:sp>
    </p:spTree>
    <p:extLst>
      <p:ext uri="{BB962C8B-B14F-4D97-AF65-F5344CB8AC3E}">
        <p14:creationId xmlns:p14="http://schemas.microsoft.com/office/powerpoint/2010/main" val="4113958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 forest consisting of two tree species</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Example:</a:t>
            </a:r>
          </a:p>
          <a:p>
            <a:pPr algn="just">
              <a:spcAft>
                <a:spcPts val="600"/>
              </a:spcAft>
            </a:pPr>
            <a:r>
              <a:rPr lang="en-US" sz="1400" noProof="0" dirty="0">
                <a:solidFill>
                  <a:schemeClr val="tx1"/>
                </a:solidFill>
              </a:rPr>
              <a:t>We consider a simplified forest comprising red oak RO and hickory HI. We assume that the life spans of the two trees are similar.</a:t>
            </a:r>
          </a:p>
          <a:p>
            <a:pPr algn="just">
              <a:spcAft>
                <a:spcPts val="600"/>
              </a:spcAft>
            </a:pPr>
            <a:endParaRPr lang="en-US" sz="800" noProof="0" dirty="0">
              <a:solidFill>
                <a:schemeClr val="tx1"/>
              </a:solidFill>
            </a:endParaRPr>
          </a:p>
          <a:p>
            <a:pPr algn="just">
              <a:spcAft>
                <a:spcPts val="600"/>
              </a:spcAft>
            </a:pPr>
            <a:r>
              <a:rPr lang="en-US" sz="1400" noProof="0" dirty="0">
                <a:solidFill>
                  <a:schemeClr val="tx1"/>
                </a:solidFill>
              </a:rPr>
              <a:t>In each generation,</a:t>
            </a:r>
          </a:p>
          <a:p>
            <a:pPr marL="182563" indent="-182563">
              <a:spcAft>
                <a:spcPts val="600"/>
              </a:spcAft>
              <a:buFont typeface="Arial" panose="020B0604020202020204" pitchFamily="34" charset="0"/>
              <a:buChar char="•"/>
            </a:pPr>
            <a:r>
              <a:rPr lang="en-US" sz="1400" noProof="0" dirty="0">
                <a:solidFill>
                  <a:schemeClr val="tx1"/>
                </a:solidFill>
              </a:rPr>
              <a:t>red oak may be replaced by itself or by hickory, and</a:t>
            </a:r>
          </a:p>
          <a:p>
            <a:pPr marL="182563" indent="-182563">
              <a:spcAft>
                <a:spcPts val="600"/>
              </a:spcAft>
              <a:buFont typeface="Arial" panose="020B0604020202020204" pitchFamily="34" charset="0"/>
              <a:buChar char="•"/>
            </a:pPr>
            <a:r>
              <a:rPr lang="en-US" sz="1400" noProof="0" dirty="0">
                <a:solidFill>
                  <a:schemeClr val="tx1"/>
                </a:solidFill>
              </a:rPr>
              <a:t>hickory may be replaced by itself or red oak.</a:t>
            </a:r>
          </a:p>
          <a:p>
            <a:pPr>
              <a:spcAft>
                <a:spcPts val="600"/>
              </a:spcAft>
            </a:pPr>
            <a:endParaRPr lang="en-US" sz="800" noProof="0" dirty="0">
              <a:solidFill>
                <a:schemeClr val="tx1"/>
              </a:solidFill>
            </a:endParaRPr>
          </a:p>
          <a:p>
            <a:pPr>
              <a:spcAft>
                <a:spcPts val="600"/>
              </a:spcAft>
            </a:pPr>
            <a:r>
              <a:rPr lang="en-US" sz="1400" noProof="0" dirty="0">
                <a:solidFill>
                  <a:schemeClr val="tx1"/>
                </a:solidFill>
              </a:rPr>
              <a:t>For example, suppose that when</a:t>
            </a:r>
          </a:p>
          <a:p>
            <a:pPr marL="182563" indent="-182563">
              <a:spcAft>
                <a:spcPts val="600"/>
              </a:spcAft>
              <a:buFont typeface="Arial" panose="020B0604020202020204" pitchFamily="34" charset="0"/>
              <a:buChar char="•"/>
            </a:pPr>
            <a:r>
              <a:rPr lang="en-US" sz="1400" noProof="0" dirty="0">
                <a:solidFill>
                  <a:schemeClr val="tx1"/>
                </a:solidFill>
              </a:rPr>
              <a:t>a red oak tree dies, it is equally likely to be replaced by hickory or red oak, and that when</a:t>
            </a:r>
          </a:p>
          <a:p>
            <a:pPr marL="182563" indent="-182563">
              <a:spcAft>
                <a:spcPts val="600"/>
              </a:spcAft>
              <a:buFont typeface="Arial" panose="020B0604020202020204" pitchFamily="34" charset="0"/>
              <a:buChar char="•"/>
            </a:pPr>
            <a:r>
              <a:rPr lang="en-US" sz="1400" noProof="0" dirty="0">
                <a:solidFill>
                  <a:schemeClr val="tx1"/>
                </a:solidFill>
              </a:rPr>
              <a:t>a hickory tree dies; it has probability 0.74 of being replaced by red oak and 0.26 of being replaced by hickory.</a:t>
            </a:r>
          </a:p>
        </p:txBody>
      </p:sp>
      <p:pic>
        <p:nvPicPr>
          <p:cNvPr id="14338" name="Picture 2" descr="The Role of Red Oaks in the Oak Wilt Cycle | AustinTexas.gov"/>
          <p:cNvPicPr>
            <a:picLocks noChangeAspect="1" noChangeArrowheads="1"/>
          </p:cNvPicPr>
          <p:nvPr/>
        </p:nvPicPr>
        <p:blipFill>
          <a:blip r:embed="rId2" cstate="print"/>
          <a:srcRect/>
          <a:stretch>
            <a:fillRect/>
          </a:stretch>
        </p:blipFill>
        <p:spPr bwMode="auto">
          <a:xfrm>
            <a:off x="251520" y="1131590"/>
            <a:ext cx="1296144" cy="1296144"/>
          </a:xfrm>
          <a:prstGeom prst="rect">
            <a:avLst/>
          </a:prstGeom>
          <a:noFill/>
        </p:spPr>
      </p:pic>
      <p:sp>
        <p:nvSpPr>
          <p:cNvPr id="7" name="Textfeld 6"/>
          <p:cNvSpPr txBox="1"/>
          <p:nvPr/>
        </p:nvSpPr>
        <p:spPr>
          <a:xfrm>
            <a:off x="251520" y="2283718"/>
            <a:ext cx="653897" cy="276999"/>
          </a:xfrm>
          <a:prstGeom prst="rect">
            <a:avLst/>
          </a:prstGeom>
          <a:noFill/>
        </p:spPr>
        <p:txBody>
          <a:bodyPr wrap="none" rtlCol="0">
            <a:spAutoFit/>
          </a:bodyPr>
          <a:lstStyle/>
          <a:p>
            <a:r>
              <a:rPr lang="en-US" sz="1200" noProof="0" dirty="0"/>
              <a:t>red oak</a:t>
            </a:r>
          </a:p>
        </p:txBody>
      </p:sp>
      <p:pic>
        <p:nvPicPr>
          <p:cNvPr id="14340" name="Picture 4 2" descr="Schuppenrindenhickory (Carya ovata) als Gartenbaum, Straßenbaum und  Forstpflanze - Baumschule für Klimawandelgehölze"/>
          <p:cNvPicPr>
            <a:picLocks noChangeAspect="1" noChangeArrowheads="1"/>
          </p:cNvPicPr>
          <p:nvPr/>
        </p:nvPicPr>
        <p:blipFill>
          <a:blip r:embed="rId3" cstate="print"/>
          <a:srcRect/>
          <a:stretch>
            <a:fillRect/>
          </a:stretch>
        </p:blipFill>
        <p:spPr bwMode="auto">
          <a:xfrm>
            <a:off x="179512" y="2715766"/>
            <a:ext cx="1368152" cy="1368152"/>
          </a:xfrm>
          <a:prstGeom prst="rect">
            <a:avLst/>
          </a:prstGeom>
          <a:noFill/>
        </p:spPr>
      </p:pic>
      <p:sp>
        <p:nvSpPr>
          <p:cNvPr id="8" name="Textfeld 7"/>
          <p:cNvSpPr txBox="1"/>
          <p:nvPr/>
        </p:nvSpPr>
        <p:spPr>
          <a:xfrm>
            <a:off x="251520" y="4083918"/>
            <a:ext cx="635495" cy="276999"/>
          </a:xfrm>
          <a:prstGeom prst="rect">
            <a:avLst/>
          </a:prstGeom>
          <a:noFill/>
        </p:spPr>
        <p:txBody>
          <a:bodyPr wrap="none" rtlCol="0">
            <a:spAutoFit/>
          </a:bodyPr>
          <a:lstStyle/>
          <a:p>
            <a:r>
              <a:rPr lang="en-US" sz="1200" noProof="0" dirty="0"/>
              <a:t>hickory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1803A2-0D28-DB2B-ADC7-B1FC4667DB6A}"/>
              </a:ext>
            </a:extLst>
          </p:cNvPr>
          <p:cNvSpPr>
            <a:spLocks noGrp="1"/>
          </p:cNvSpPr>
          <p:nvPr>
            <p:ph type="title"/>
          </p:nvPr>
        </p:nvSpPr>
        <p:spPr/>
        <p:txBody>
          <a:bodyPr/>
          <a:lstStyle/>
          <a:p>
            <a:r>
              <a:rPr lang="en-US" noProof="0" dirty="0"/>
              <a:t>As starting point of the AI-enhanced coding, we take this information and generate a prompt (1/ 3)</a:t>
            </a:r>
          </a:p>
        </p:txBody>
      </p:sp>
      <p:sp>
        <p:nvSpPr>
          <p:cNvPr id="5" name="Rechteck 4">
            <a:extLst>
              <a:ext uri="{FF2B5EF4-FFF2-40B4-BE49-F238E27FC236}">
                <a16:creationId xmlns:a16="http://schemas.microsoft.com/office/drawing/2014/main" id="{D18D056D-FCF8-21F1-54BC-FE808F79A507}"/>
              </a:ext>
            </a:extLst>
          </p:cNvPr>
          <p:cNvSpPr/>
          <p:nvPr/>
        </p:nvSpPr>
        <p:spPr>
          <a:xfrm>
            <a:off x="1691680" y="1131590"/>
            <a:ext cx="3528392"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Task:</a:t>
            </a:r>
          </a:p>
          <a:p>
            <a:pPr>
              <a:spcAft>
                <a:spcPts val="600"/>
              </a:spcAft>
            </a:pPr>
            <a:r>
              <a:rPr lang="en-US" sz="1400" noProof="0" dirty="0">
                <a:solidFill>
                  <a:schemeClr val="tx1"/>
                </a:solidFill>
              </a:rPr>
              <a:t>Write a modular and extensible Python project for simulating a stochastic forest model on an N x N lattice with initially two species: red oak (RO) and hickory (HI).</a:t>
            </a:r>
          </a:p>
          <a:p>
            <a:pPr>
              <a:spcAft>
                <a:spcPts val="600"/>
              </a:spcAft>
            </a:pPr>
            <a:r>
              <a:rPr lang="en-US" sz="1400" b="1" noProof="0" dirty="0">
                <a:solidFill>
                  <a:schemeClr val="tx1"/>
                </a:solidFill>
              </a:rPr>
              <a:t>Biological rules:</a:t>
            </a:r>
          </a:p>
          <a:p>
            <a:pPr marL="182563" indent="-182563">
              <a:spcAft>
                <a:spcPts val="600"/>
              </a:spcAft>
              <a:buFont typeface="Arial" panose="020B0604020202020204" pitchFamily="34" charset="0"/>
              <a:buChar char="•"/>
            </a:pPr>
            <a:r>
              <a:rPr lang="en-US" sz="1400" noProof="0" dirty="0">
                <a:solidFill>
                  <a:schemeClr val="tx1"/>
                </a:solidFill>
              </a:rPr>
              <a:t>Each lattice cell contains one tree.</a:t>
            </a:r>
          </a:p>
          <a:p>
            <a:pPr marL="182563" indent="-182563">
              <a:spcAft>
                <a:spcPts val="600"/>
              </a:spcAft>
              <a:buFont typeface="Arial" panose="020B0604020202020204" pitchFamily="34" charset="0"/>
              <a:buChar char="•"/>
            </a:pPr>
            <a:r>
              <a:rPr lang="en-US" sz="1400" noProof="0" dirty="0">
                <a:solidFill>
                  <a:schemeClr val="tx1"/>
                </a:solidFill>
              </a:rPr>
              <a:t>State space: RO or HI.</a:t>
            </a:r>
          </a:p>
          <a:p>
            <a:pPr marL="182563" indent="-182563">
              <a:spcAft>
                <a:spcPts val="600"/>
              </a:spcAft>
              <a:buFont typeface="Arial" panose="020B0604020202020204" pitchFamily="34" charset="0"/>
              <a:buChar char="•"/>
            </a:pPr>
            <a:r>
              <a:rPr lang="en-US" sz="1400" noProof="0" dirty="0">
                <a:solidFill>
                  <a:schemeClr val="tx1"/>
                </a:solidFill>
              </a:rPr>
              <a:t>Time is discrete, with T steps.</a:t>
            </a:r>
          </a:p>
          <a:p>
            <a:pPr marL="182563" indent="-182563">
              <a:spcAft>
                <a:spcPts val="600"/>
              </a:spcAft>
              <a:buFont typeface="Arial" panose="020B0604020202020204" pitchFamily="34" charset="0"/>
              <a:buChar char="•"/>
            </a:pPr>
            <a:r>
              <a:rPr lang="en-US" sz="1400" noProof="0" dirty="0">
                <a:solidFill>
                  <a:schemeClr val="tx1"/>
                </a:solidFill>
              </a:rPr>
              <a:t>Update rule for each cell:</a:t>
            </a:r>
          </a:p>
          <a:p>
            <a:pPr marL="450850" lvl="1" indent="-268288">
              <a:spcAft>
                <a:spcPts val="600"/>
              </a:spcAft>
              <a:buFont typeface="Symbol" panose="05050102010706020507" pitchFamily="18" charset="2"/>
              <a:buChar char="-"/>
            </a:pPr>
            <a:r>
              <a:rPr lang="en-US" sz="1400" noProof="0" dirty="0">
                <a:solidFill>
                  <a:schemeClr val="tx1"/>
                </a:solidFill>
              </a:rPr>
              <a:t>RO -&gt; RO with probability 0.50</a:t>
            </a:r>
          </a:p>
          <a:p>
            <a:pPr marL="450850" lvl="1" indent="-268288">
              <a:spcAft>
                <a:spcPts val="600"/>
              </a:spcAft>
              <a:buFont typeface="Symbol" panose="05050102010706020507" pitchFamily="18" charset="2"/>
              <a:buChar char="-"/>
            </a:pPr>
            <a:r>
              <a:rPr lang="en-US" sz="1400" noProof="0" dirty="0">
                <a:solidFill>
                  <a:schemeClr val="tx1"/>
                </a:solidFill>
              </a:rPr>
              <a:t>RO -&gt; HI with probability 0.50</a:t>
            </a:r>
          </a:p>
          <a:p>
            <a:pPr marL="450850" lvl="1" indent="-268288">
              <a:spcAft>
                <a:spcPts val="600"/>
              </a:spcAft>
              <a:buFont typeface="Symbol" panose="05050102010706020507" pitchFamily="18" charset="2"/>
              <a:buChar char="-"/>
            </a:pPr>
            <a:r>
              <a:rPr lang="en-US" sz="1400" noProof="0" dirty="0">
                <a:solidFill>
                  <a:schemeClr val="tx1"/>
                </a:solidFill>
              </a:rPr>
              <a:t> HI -&gt; RO with probability 0.74</a:t>
            </a:r>
          </a:p>
          <a:p>
            <a:pPr marL="450850" lvl="1" indent="-268288">
              <a:spcAft>
                <a:spcPts val="600"/>
              </a:spcAft>
              <a:buFont typeface="Symbol" panose="05050102010706020507" pitchFamily="18" charset="2"/>
              <a:buChar char="-"/>
            </a:pPr>
            <a:r>
              <a:rPr lang="en-US" sz="1400" noProof="0" dirty="0">
                <a:solidFill>
                  <a:schemeClr val="tx1"/>
                </a:solidFill>
              </a:rPr>
              <a:t> HI -&gt; HI with probability 0.26</a:t>
            </a:r>
          </a:p>
        </p:txBody>
      </p:sp>
      <p:sp>
        <p:nvSpPr>
          <p:cNvPr id="6" name="Rechteck 5">
            <a:extLst>
              <a:ext uri="{FF2B5EF4-FFF2-40B4-BE49-F238E27FC236}">
                <a16:creationId xmlns:a16="http://schemas.microsoft.com/office/drawing/2014/main" id="{BC40D3F3-C820-AC5C-667C-E9D2699AEE2F}"/>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7" name="Rechteck 6">
            <a:extLst>
              <a:ext uri="{FF2B5EF4-FFF2-40B4-BE49-F238E27FC236}">
                <a16:creationId xmlns:a16="http://schemas.microsoft.com/office/drawing/2014/main" id="{C87EA98D-8522-EEA6-3BFD-0245D8EF6B2B}"/>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8" name="Rechteck 7">
            <a:extLst>
              <a:ext uri="{FF2B5EF4-FFF2-40B4-BE49-F238E27FC236}">
                <a16:creationId xmlns:a16="http://schemas.microsoft.com/office/drawing/2014/main" id="{3B2EE2E2-FCCB-7DE7-DB26-0F9844C4FBF4}"/>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9" name="Rechteck 8">
            <a:extLst>
              <a:ext uri="{FF2B5EF4-FFF2-40B4-BE49-F238E27FC236}">
                <a16:creationId xmlns:a16="http://schemas.microsoft.com/office/drawing/2014/main" id="{4B460B0E-C607-A223-5F4E-734C7BF25A5E}"/>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10" name="Rechteck 9">
            <a:extLst>
              <a:ext uri="{FF2B5EF4-FFF2-40B4-BE49-F238E27FC236}">
                <a16:creationId xmlns:a16="http://schemas.microsoft.com/office/drawing/2014/main" id="{33848411-216F-EF2E-B5F2-349FC14012C4}"/>
              </a:ext>
            </a:extLst>
          </p:cNvPr>
          <p:cNvSpPr/>
          <p:nvPr/>
        </p:nvSpPr>
        <p:spPr>
          <a:xfrm>
            <a:off x="5364088" y="1131590"/>
            <a:ext cx="3528392"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Software design requirements:</a:t>
            </a:r>
          </a:p>
          <a:p>
            <a:pPr marL="182563" indent="-182563">
              <a:spcAft>
                <a:spcPts val="600"/>
              </a:spcAft>
              <a:buFont typeface="Arial" panose="020B0604020202020204" pitchFamily="34" charset="0"/>
              <a:buChar char="•"/>
            </a:pPr>
            <a:r>
              <a:rPr lang="en-US" sz="1400" noProof="0" dirty="0">
                <a:solidFill>
                  <a:schemeClr val="tx1"/>
                </a:solidFill>
              </a:rPr>
              <a:t>Split the code into separate files for initialization, dynamics, visualization, and execution.</a:t>
            </a:r>
          </a:p>
          <a:p>
            <a:pPr marL="182563" indent="-182563">
              <a:spcAft>
                <a:spcPts val="600"/>
              </a:spcAft>
              <a:buFont typeface="Arial" panose="020B0604020202020204" pitchFamily="34" charset="0"/>
              <a:buChar char="•"/>
            </a:pPr>
            <a:r>
              <a:rPr lang="en-US" sz="1400" noProof="0" dirty="0">
                <a:solidFill>
                  <a:schemeClr val="tx1"/>
                </a:solidFill>
              </a:rPr>
              <a:t>The code must be written so that these modules can later be replaced independently.</a:t>
            </a:r>
          </a:p>
          <a:p>
            <a:pPr marL="182563" indent="-182563">
              <a:spcAft>
                <a:spcPts val="600"/>
              </a:spcAft>
              <a:buFont typeface="Arial" panose="020B0604020202020204" pitchFamily="34" charset="0"/>
              <a:buChar char="•"/>
            </a:pPr>
            <a:r>
              <a:rPr lang="en-US" sz="1400" noProof="0" dirty="0">
                <a:solidFill>
                  <a:schemeClr val="tx1"/>
                </a:solidFill>
              </a:rPr>
              <a:t>Use functions rather than hard-coded script logic.</a:t>
            </a:r>
          </a:p>
          <a:p>
            <a:pPr marL="182563" indent="-182563">
              <a:spcAft>
                <a:spcPts val="600"/>
              </a:spcAft>
              <a:buFont typeface="Arial" panose="020B0604020202020204" pitchFamily="34" charset="0"/>
              <a:buChar char="•"/>
            </a:pPr>
            <a:r>
              <a:rPr lang="en-US" sz="1400" noProof="0" dirty="0">
                <a:solidFill>
                  <a:schemeClr val="tx1"/>
                </a:solidFill>
              </a:rPr>
              <a:t>Use NumPy arrays for the lattice.</a:t>
            </a:r>
          </a:p>
          <a:p>
            <a:pPr marL="182563" indent="-182563">
              <a:spcAft>
                <a:spcPts val="600"/>
              </a:spcAft>
              <a:buFont typeface="Arial" panose="020B0604020202020204" pitchFamily="34" charset="0"/>
              <a:buChar char="•"/>
            </a:pPr>
            <a:r>
              <a:rPr lang="en-US" sz="1400" noProof="0" dirty="0">
                <a:solidFill>
                  <a:schemeClr val="tx1"/>
                </a:solidFill>
              </a:rPr>
              <a:t>Use matplotlib for visualization.</a:t>
            </a:r>
          </a:p>
          <a:p>
            <a:pPr marL="182563" indent="-182563">
              <a:spcAft>
                <a:spcPts val="600"/>
              </a:spcAft>
              <a:buFont typeface="Arial" panose="020B0604020202020204" pitchFamily="34" charset="0"/>
              <a:buChar char="•"/>
            </a:pPr>
            <a:r>
              <a:rPr lang="en-US" sz="1400" noProof="0" dirty="0">
                <a:solidFill>
                  <a:schemeClr val="tx1"/>
                </a:solidFill>
              </a:rPr>
              <a:t>Include docstrings and concise comments.</a:t>
            </a:r>
          </a:p>
          <a:p>
            <a:pPr marL="182563" indent="-182563">
              <a:spcAft>
                <a:spcPts val="600"/>
              </a:spcAft>
              <a:buFont typeface="Arial" panose="020B0604020202020204" pitchFamily="34" charset="0"/>
              <a:buChar char="•"/>
            </a:pPr>
            <a:r>
              <a:rPr lang="en-US" sz="1400" noProof="0" dirty="0">
                <a:solidFill>
                  <a:schemeClr val="tx1"/>
                </a:solidFill>
              </a:rPr>
              <a:t>Keep the code readable for university students who are not familiar with coding.</a:t>
            </a:r>
          </a:p>
        </p:txBody>
      </p:sp>
    </p:spTree>
    <p:extLst>
      <p:ext uri="{BB962C8B-B14F-4D97-AF65-F5344CB8AC3E}">
        <p14:creationId xmlns:p14="http://schemas.microsoft.com/office/powerpoint/2010/main" val="3878534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33100-A9D0-4BF0-FB16-AA4F5E1A48C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8216E52-3361-5B56-B542-B24E5DC44F76}"/>
              </a:ext>
            </a:extLst>
          </p:cNvPr>
          <p:cNvSpPr>
            <a:spLocks noGrp="1"/>
          </p:cNvSpPr>
          <p:nvPr>
            <p:ph type="title"/>
          </p:nvPr>
        </p:nvSpPr>
        <p:spPr/>
        <p:txBody>
          <a:bodyPr/>
          <a:lstStyle/>
          <a:p>
            <a:r>
              <a:rPr lang="en-US" noProof="0" dirty="0"/>
              <a:t>As starting point of the AI-enhanced coding, we take this information and generate a prompt (2/ 3)</a:t>
            </a:r>
          </a:p>
        </p:txBody>
      </p:sp>
      <p:sp>
        <p:nvSpPr>
          <p:cNvPr id="5" name="Rechteck 4">
            <a:extLst>
              <a:ext uri="{FF2B5EF4-FFF2-40B4-BE49-F238E27FC236}">
                <a16:creationId xmlns:a16="http://schemas.microsoft.com/office/drawing/2014/main" id="{A77B5721-46E6-8EBC-2A8F-04BE9AAC160D}"/>
              </a:ext>
            </a:extLst>
          </p:cNvPr>
          <p:cNvSpPr/>
          <p:nvPr/>
        </p:nvSpPr>
        <p:spPr>
          <a:xfrm>
            <a:off x="1691680" y="1131590"/>
            <a:ext cx="3528392" cy="32124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Project structure</a:t>
            </a:r>
            <a:r>
              <a:rPr lang="en-US" sz="1400" noProof="0" dirty="0">
                <a:solidFill>
                  <a:schemeClr val="tx1"/>
                </a:solidFill>
              </a:rPr>
              <a:t>:</a:t>
            </a:r>
          </a:p>
          <a:p>
            <a:pPr marL="182563" indent="-182563">
              <a:spcAft>
                <a:spcPts val="600"/>
              </a:spcAft>
              <a:buFont typeface="Arial" panose="020B0604020202020204" pitchFamily="34" charset="0"/>
              <a:buChar char="•"/>
            </a:pPr>
            <a:r>
              <a:rPr lang="en-US" sz="1400" noProof="0" dirty="0">
                <a:solidFill>
                  <a:schemeClr val="tx1"/>
                </a:solidFill>
              </a:rPr>
              <a:t>“forest.py”: main entry point that contains the model parameters and configuration, seed for the random number generator, as well as the call of the required time stepping routines</a:t>
            </a:r>
          </a:p>
          <a:p>
            <a:pPr marL="182563" indent="-182563">
              <a:spcAft>
                <a:spcPts val="600"/>
              </a:spcAft>
              <a:buFont typeface="Arial" panose="020B0604020202020204" pitchFamily="34" charset="0"/>
              <a:buChar char="•"/>
            </a:pPr>
            <a:r>
              <a:rPr lang="en-US" sz="1400" noProof="0" dirty="0">
                <a:solidFill>
                  <a:schemeClr val="tx1"/>
                </a:solidFill>
              </a:rPr>
              <a:t>“initialization.py”: functions to generate the initial lattice</a:t>
            </a:r>
          </a:p>
          <a:p>
            <a:pPr marL="182563" indent="-182563">
              <a:spcAft>
                <a:spcPts val="600"/>
              </a:spcAft>
              <a:buFont typeface="Arial" panose="020B0604020202020204" pitchFamily="34" charset="0"/>
              <a:buChar char="•"/>
            </a:pPr>
            <a:r>
              <a:rPr lang="en-US" sz="1400" noProof="0" dirty="0">
                <a:solidFill>
                  <a:schemeClr val="tx1"/>
                </a:solidFill>
              </a:rPr>
              <a:t>“dynamics.py”: functions for one simulation step and full simulation</a:t>
            </a:r>
          </a:p>
          <a:p>
            <a:pPr marL="182563" indent="-182563">
              <a:spcAft>
                <a:spcPts val="600"/>
              </a:spcAft>
              <a:buFont typeface="Arial" panose="020B0604020202020204" pitchFamily="34" charset="0"/>
              <a:buChar char="•"/>
            </a:pPr>
            <a:r>
              <a:rPr lang="en-US" sz="1400" noProof="0" dirty="0">
                <a:solidFill>
                  <a:schemeClr val="tx1"/>
                </a:solidFill>
              </a:rPr>
              <a:t>“visualization.py”: functions for lattice plotting, time-series plotting, and optional animation</a:t>
            </a:r>
          </a:p>
        </p:txBody>
      </p:sp>
      <p:sp>
        <p:nvSpPr>
          <p:cNvPr id="6" name="Rechteck 5">
            <a:extLst>
              <a:ext uri="{FF2B5EF4-FFF2-40B4-BE49-F238E27FC236}">
                <a16:creationId xmlns:a16="http://schemas.microsoft.com/office/drawing/2014/main" id="{EC81CA4D-6D34-3C50-2BE0-D0AA5FFF6C42}"/>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7" name="Rechteck 6">
            <a:extLst>
              <a:ext uri="{FF2B5EF4-FFF2-40B4-BE49-F238E27FC236}">
                <a16:creationId xmlns:a16="http://schemas.microsoft.com/office/drawing/2014/main" id="{576BD034-BFD0-5BDA-2AB2-4ECB8D4C13EC}"/>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8" name="Rechteck 7">
            <a:extLst>
              <a:ext uri="{FF2B5EF4-FFF2-40B4-BE49-F238E27FC236}">
                <a16:creationId xmlns:a16="http://schemas.microsoft.com/office/drawing/2014/main" id="{1126183B-9523-4E44-D46B-06212BA5A1F0}"/>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9" name="Rechteck 8">
            <a:extLst>
              <a:ext uri="{FF2B5EF4-FFF2-40B4-BE49-F238E27FC236}">
                <a16:creationId xmlns:a16="http://schemas.microsoft.com/office/drawing/2014/main" id="{44131903-F9F2-6755-5D24-CEFFAF18D29C}"/>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3" name="Rechteck 2">
            <a:extLst>
              <a:ext uri="{FF2B5EF4-FFF2-40B4-BE49-F238E27FC236}">
                <a16:creationId xmlns:a16="http://schemas.microsoft.com/office/drawing/2014/main" id="{4913868F-855E-F4A1-CA00-F52B9C09CDCF}"/>
              </a:ext>
            </a:extLst>
          </p:cNvPr>
          <p:cNvSpPr/>
          <p:nvPr/>
        </p:nvSpPr>
        <p:spPr>
          <a:xfrm>
            <a:off x="1691680" y="4443958"/>
            <a:ext cx="7200800" cy="57606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Remark:</a:t>
            </a:r>
            <a:r>
              <a:rPr lang="en-US" sz="1400" noProof="0" dirty="0">
                <a:solidFill>
                  <a:schemeClr val="tx1"/>
                </a:solidFill>
              </a:rPr>
              <a:t> for purposes, where there a several model parameters and configuration that are not varied, it makes sense to have them in a separate file, e.g., “parameters.py”.</a:t>
            </a:r>
          </a:p>
        </p:txBody>
      </p:sp>
      <p:sp>
        <p:nvSpPr>
          <p:cNvPr id="4" name="Rechteck 3">
            <a:extLst>
              <a:ext uri="{FF2B5EF4-FFF2-40B4-BE49-F238E27FC236}">
                <a16:creationId xmlns:a16="http://schemas.microsoft.com/office/drawing/2014/main" id="{EEB97F38-C314-FE53-1D33-BD0B50C506EB}"/>
              </a:ext>
            </a:extLst>
          </p:cNvPr>
          <p:cNvSpPr/>
          <p:nvPr/>
        </p:nvSpPr>
        <p:spPr>
          <a:xfrm>
            <a:off x="5364088" y="1131590"/>
            <a:ext cx="1440160" cy="321241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forest.py</a:t>
            </a:r>
          </a:p>
          <a:p>
            <a:pPr algn="ctr"/>
            <a:endParaRPr lang="en-US" sz="1400" noProof="0" dirty="0">
              <a:solidFill>
                <a:schemeClr val="tx1"/>
              </a:solidFill>
            </a:endParaRPr>
          </a:p>
          <a:p>
            <a:r>
              <a:rPr lang="en-US" sz="1400" noProof="0" dirty="0">
                <a:solidFill>
                  <a:schemeClr val="tx1"/>
                </a:solidFill>
              </a:rPr>
              <a:t>parameters</a:t>
            </a:r>
          </a:p>
          <a:p>
            <a:endParaRPr lang="en-US" sz="500" noProof="0" dirty="0">
              <a:solidFill>
                <a:schemeClr val="tx1"/>
              </a:solidFill>
            </a:endParaRPr>
          </a:p>
          <a:p>
            <a:r>
              <a:rPr lang="en-US" sz="1400" noProof="0" dirty="0">
                <a:solidFill>
                  <a:schemeClr val="tx1"/>
                </a:solidFill>
              </a:rPr>
              <a:t>seed</a:t>
            </a:r>
          </a:p>
        </p:txBody>
      </p:sp>
      <p:sp>
        <p:nvSpPr>
          <p:cNvPr id="12" name="Pfeil: Fünfeck 11">
            <a:extLst>
              <a:ext uri="{FF2B5EF4-FFF2-40B4-BE49-F238E27FC236}">
                <a16:creationId xmlns:a16="http://schemas.microsoft.com/office/drawing/2014/main" id="{D562DA0E-69AF-C56D-F809-CA5F7C5448BB}"/>
              </a:ext>
            </a:extLst>
          </p:cNvPr>
          <p:cNvSpPr/>
          <p:nvPr/>
        </p:nvSpPr>
        <p:spPr>
          <a:xfrm rot="10800000" flipV="1">
            <a:off x="6178232" y="2227627"/>
            <a:ext cx="2714248" cy="488139"/>
          </a:xfrm>
          <a:prstGeom prst="homePlat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initialization.py</a:t>
            </a:r>
          </a:p>
        </p:txBody>
      </p:sp>
      <p:sp>
        <p:nvSpPr>
          <p:cNvPr id="13" name="Pfeil: Fünfeck 12">
            <a:extLst>
              <a:ext uri="{FF2B5EF4-FFF2-40B4-BE49-F238E27FC236}">
                <a16:creationId xmlns:a16="http://schemas.microsoft.com/office/drawing/2014/main" id="{87CC6A85-3568-A0AC-B41A-EE3B26D997E0}"/>
              </a:ext>
            </a:extLst>
          </p:cNvPr>
          <p:cNvSpPr/>
          <p:nvPr/>
        </p:nvSpPr>
        <p:spPr>
          <a:xfrm rot="10800000" flipV="1">
            <a:off x="6178232" y="2947707"/>
            <a:ext cx="2714248" cy="488139"/>
          </a:xfrm>
          <a:prstGeom prst="homePlat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dynamics.py</a:t>
            </a:r>
          </a:p>
        </p:txBody>
      </p:sp>
      <p:sp>
        <p:nvSpPr>
          <p:cNvPr id="14" name="Pfeil: Fünfeck 13">
            <a:extLst>
              <a:ext uri="{FF2B5EF4-FFF2-40B4-BE49-F238E27FC236}">
                <a16:creationId xmlns:a16="http://schemas.microsoft.com/office/drawing/2014/main" id="{A271F16C-74E2-B32D-9F9C-AAD1C4F3689D}"/>
              </a:ext>
            </a:extLst>
          </p:cNvPr>
          <p:cNvSpPr/>
          <p:nvPr/>
        </p:nvSpPr>
        <p:spPr>
          <a:xfrm rot="10800000" flipV="1">
            <a:off x="6178232" y="3667787"/>
            <a:ext cx="2714248" cy="488139"/>
          </a:xfrm>
          <a:prstGeom prst="homePlat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visualization.py</a:t>
            </a:r>
          </a:p>
        </p:txBody>
      </p:sp>
      <p:sp>
        <p:nvSpPr>
          <p:cNvPr id="16" name="Pfeil: gebogen 15">
            <a:extLst>
              <a:ext uri="{FF2B5EF4-FFF2-40B4-BE49-F238E27FC236}">
                <a16:creationId xmlns:a16="http://schemas.microsoft.com/office/drawing/2014/main" id="{A70CE68A-CCB0-3B8D-823D-0B161E6A75DC}"/>
              </a:ext>
            </a:extLst>
          </p:cNvPr>
          <p:cNvSpPr/>
          <p:nvPr/>
        </p:nvSpPr>
        <p:spPr>
          <a:xfrm rot="2288521" flipV="1">
            <a:off x="5564891" y="2812935"/>
            <a:ext cx="720080" cy="720080"/>
          </a:xfrm>
          <a:prstGeom prst="circularArrow">
            <a:avLst>
              <a:gd name="adj1" fmla="val 12500"/>
              <a:gd name="adj2" fmla="val 1142319"/>
              <a:gd name="adj3" fmla="val 20457681"/>
              <a:gd name="adj4" fmla="val 4349517"/>
              <a:gd name="adj5" fmla="val 1250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Tree>
    <p:extLst>
      <p:ext uri="{BB962C8B-B14F-4D97-AF65-F5344CB8AC3E}">
        <p14:creationId xmlns:p14="http://schemas.microsoft.com/office/powerpoint/2010/main" val="1481824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304E-3891-CD17-4228-927148CBE4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3A86B2-74DA-4506-BAA6-80CC97D94FDF}"/>
              </a:ext>
            </a:extLst>
          </p:cNvPr>
          <p:cNvSpPr>
            <a:spLocks noGrp="1"/>
          </p:cNvSpPr>
          <p:nvPr>
            <p:ph type="title"/>
          </p:nvPr>
        </p:nvSpPr>
        <p:spPr/>
        <p:txBody>
          <a:bodyPr/>
          <a:lstStyle/>
          <a:p>
            <a:r>
              <a:rPr lang="en-US" noProof="0" dirty="0"/>
              <a:t>As starting point of the AI-enhanced coding, we take this information and generate a prompt (3/ 3)</a:t>
            </a:r>
          </a:p>
        </p:txBody>
      </p:sp>
      <p:sp>
        <p:nvSpPr>
          <p:cNvPr id="6" name="Rechteck 5">
            <a:extLst>
              <a:ext uri="{FF2B5EF4-FFF2-40B4-BE49-F238E27FC236}">
                <a16:creationId xmlns:a16="http://schemas.microsoft.com/office/drawing/2014/main" id="{AC86BC88-EE8C-598A-A8EE-429CDEE8AB61}"/>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7" name="Rechteck 6">
            <a:extLst>
              <a:ext uri="{FF2B5EF4-FFF2-40B4-BE49-F238E27FC236}">
                <a16:creationId xmlns:a16="http://schemas.microsoft.com/office/drawing/2014/main" id="{F6C6C6F8-2ADA-834C-0E81-19E740C1E971}"/>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8" name="Rechteck 7">
            <a:extLst>
              <a:ext uri="{FF2B5EF4-FFF2-40B4-BE49-F238E27FC236}">
                <a16:creationId xmlns:a16="http://schemas.microsoft.com/office/drawing/2014/main" id="{778AAFA6-599C-AC09-79D1-A433892278FF}"/>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9" name="Rechteck 8">
            <a:extLst>
              <a:ext uri="{FF2B5EF4-FFF2-40B4-BE49-F238E27FC236}">
                <a16:creationId xmlns:a16="http://schemas.microsoft.com/office/drawing/2014/main" id="{F08D53F5-9FBA-75F2-E690-10724DC306EC}"/>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10" name="Rechteck 9">
            <a:extLst>
              <a:ext uri="{FF2B5EF4-FFF2-40B4-BE49-F238E27FC236}">
                <a16:creationId xmlns:a16="http://schemas.microsoft.com/office/drawing/2014/main" id="{D24EC0EE-A2D5-7512-D1B0-CC453A471364}"/>
              </a:ext>
            </a:extLst>
          </p:cNvPr>
          <p:cNvSpPr/>
          <p:nvPr/>
        </p:nvSpPr>
        <p:spPr>
          <a:xfrm>
            <a:off x="5364088" y="1131590"/>
            <a:ext cx="3528392" cy="201622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Please provide:</a:t>
            </a:r>
          </a:p>
          <a:p>
            <a:pPr marL="179388" indent="-179388">
              <a:spcAft>
                <a:spcPts val="600"/>
              </a:spcAft>
              <a:buFont typeface="Arial" panose="020B0604020202020204" pitchFamily="34" charset="0"/>
              <a:buChar char="•"/>
            </a:pPr>
            <a:r>
              <a:rPr lang="en-US" sz="1400" noProof="0" dirty="0">
                <a:solidFill>
                  <a:schemeClr val="tx1"/>
                </a:solidFill>
              </a:rPr>
              <a:t>full code for each file,</a:t>
            </a:r>
          </a:p>
          <a:p>
            <a:pPr marL="179388" indent="-179388">
              <a:spcAft>
                <a:spcPts val="600"/>
              </a:spcAft>
              <a:buFont typeface="Arial" panose="020B0604020202020204" pitchFamily="34" charset="0"/>
              <a:buChar char="•"/>
            </a:pPr>
            <a:r>
              <a:rPr lang="en-US" sz="1400" noProof="0" dirty="0">
                <a:solidFill>
                  <a:schemeClr val="tx1"/>
                </a:solidFill>
              </a:rPr>
              <a:t>a short explanation of the program structure,</a:t>
            </a:r>
          </a:p>
          <a:p>
            <a:pPr marL="179388" indent="-179388">
              <a:spcAft>
                <a:spcPts val="600"/>
              </a:spcAft>
              <a:buFont typeface="Arial" panose="020B0604020202020204" pitchFamily="34" charset="0"/>
              <a:buChar char="•"/>
            </a:pPr>
            <a:r>
              <a:rPr lang="en-US" sz="1400" noProof="0" dirty="0">
                <a:solidFill>
                  <a:schemeClr val="tx1"/>
                </a:solidFill>
              </a:rPr>
              <a:t>brief instructions for execution, as well as</a:t>
            </a:r>
          </a:p>
          <a:p>
            <a:pPr marL="179388" indent="-179388">
              <a:spcAft>
                <a:spcPts val="600"/>
              </a:spcAft>
              <a:buFont typeface="Arial" panose="020B0604020202020204" pitchFamily="34" charset="0"/>
              <a:buChar char="•"/>
            </a:pPr>
            <a:r>
              <a:rPr lang="en-US" sz="1400" noProof="0" dirty="0">
                <a:solidFill>
                  <a:schemeClr val="tx1"/>
                </a:solidFill>
              </a:rPr>
              <a:t>a design that is simple, modular, and suitable for teaching.</a:t>
            </a:r>
          </a:p>
        </p:txBody>
      </p:sp>
      <p:sp>
        <p:nvSpPr>
          <p:cNvPr id="4" name="Rechteck 3">
            <a:extLst>
              <a:ext uri="{FF2B5EF4-FFF2-40B4-BE49-F238E27FC236}">
                <a16:creationId xmlns:a16="http://schemas.microsoft.com/office/drawing/2014/main" id="{2C9EBB6C-3BBA-D093-3859-4DDCDAA5F1FC}"/>
              </a:ext>
            </a:extLst>
          </p:cNvPr>
          <p:cNvSpPr/>
          <p:nvPr/>
        </p:nvSpPr>
        <p:spPr>
          <a:xfrm>
            <a:off x="1691680" y="1131590"/>
            <a:ext cx="3528392"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Output requirements:</a:t>
            </a:r>
          </a:p>
          <a:p>
            <a:pPr marL="182563" indent="-182563">
              <a:spcAft>
                <a:spcPts val="600"/>
              </a:spcAft>
              <a:buFont typeface="Arial" panose="020B0604020202020204" pitchFamily="34" charset="0"/>
              <a:buChar char="•"/>
            </a:pPr>
            <a:r>
              <a:rPr lang="en-US" sz="1400" noProof="0" dirty="0">
                <a:solidFill>
                  <a:schemeClr val="tx1"/>
                </a:solidFill>
              </a:rPr>
              <a:t>Show the lattice evolution with RO as red and HI as green cells.</a:t>
            </a:r>
          </a:p>
          <a:p>
            <a:pPr marL="182563" indent="-182563">
              <a:spcAft>
                <a:spcPts val="600"/>
              </a:spcAft>
              <a:buFont typeface="Arial" panose="020B0604020202020204" pitchFamily="34" charset="0"/>
              <a:buChar char="•"/>
            </a:pPr>
            <a:r>
              <a:rPr lang="en-US" sz="1400" noProof="0" dirty="0">
                <a:solidFill>
                  <a:schemeClr val="tx1"/>
                </a:solidFill>
              </a:rPr>
              <a:t>Plot the number of RO and HI trees over time.</a:t>
            </a:r>
          </a:p>
          <a:p>
            <a:pPr marL="182563" indent="-182563">
              <a:spcAft>
                <a:spcPts val="600"/>
              </a:spcAft>
              <a:buFont typeface="Arial" panose="020B0604020202020204" pitchFamily="34" charset="0"/>
              <a:buChar char="•"/>
            </a:pPr>
            <a:r>
              <a:rPr lang="en-US" sz="1400" noProof="0" dirty="0">
                <a:solidFill>
                  <a:schemeClr val="tx1"/>
                </a:solidFill>
              </a:rPr>
              <a:t>Store the lattice state history so that animations or later analysis are possible.</a:t>
            </a:r>
          </a:p>
          <a:p>
            <a:pPr marL="182563" indent="-182563">
              <a:spcAft>
                <a:spcPts val="600"/>
              </a:spcAft>
              <a:buFont typeface="Arial" panose="020B0604020202020204" pitchFamily="34" charset="0"/>
              <a:buChar char="•"/>
            </a:pPr>
            <a:r>
              <a:rPr lang="en-US" sz="1400" noProof="0" dirty="0">
                <a:solidFill>
                  <a:schemeClr val="tx1"/>
                </a:solidFill>
              </a:rPr>
              <a:t>Store the initial and the final state of the lattice in separate .</a:t>
            </a:r>
            <a:r>
              <a:rPr lang="en-US" sz="1400" noProof="0" dirty="0" err="1">
                <a:solidFill>
                  <a:schemeClr val="tx1"/>
                </a:solidFill>
              </a:rPr>
              <a:t>png</a:t>
            </a:r>
            <a:r>
              <a:rPr lang="en-US" sz="1400" noProof="0" dirty="0">
                <a:solidFill>
                  <a:schemeClr val="tx1"/>
                </a:solidFill>
              </a:rPr>
              <a:t> files.</a:t>
            </a:r>
          </a:p>
          <a:p>
            <a:pPr marL="182563" indent="-182563">
              <a:spcAft>
                <a:spcPts val="600"/>
              </a:spcAft>
              <a:buFont typeface="Arial" panose="020B0604020202020204" pitchFamily="34" charset="0"/>
              <a:buChar char="•"/>
            </a:pPr>
            <a:r>
              <a:rPr lang="en-US" sz="1400" noProof="0" dirty="0">
                <a:solidFill>
                  <a:schemeClr val="tx1"/>
                </a:solidFill>
              </a:rPr>
              <a:t>Give the initial percentage of RO and HI as well as the final percentage.</a:t>
            </a:r>
          </a:p>
          <a:p>
            <a:pPr marL="182563" indent="-182563">
              <a:spcAft>
                <a:spcPts val="600"/>
              </a:spcAft>
              <a:buFont typeface="Arial" panose="020B0604020202020204" pitchFamily="34" charset="0"/>
              <a:buChar char="•"/>
            </a:pPr>
            <a:r>
              <a:rPr lang="en-US" sz="1400" noProof="0" dirty="0">
                <a:solidFill>
                  <a:schemeClr val="tx1"/>
                </a:solidFill>
              </a:rPr>
              <a:t>Make it easy to replace the update rule later, for example with neighborhood-dependent dynamics.</a:t>
            </a:r>
          </a:p>
        </p:txBody>
      </p:sp>
      <p:sp>
        <p:nvSpPr>
          <p:cNvPr id="11" name="Rechteck 10">
            <a:extLst>
              <a:ext uri="{FF2B5EF4-FFF2-40B4-BE49-F238E27FC236}">
                <a16:creationId xmlns:a16="http://schemas.microsoft.com/office/drawing/2014/main" id="{7F252F9B-C278-7C74-0658-061ECC8D9300}"/>
              </a:ext>
            </a:extLst>
          </p:cNvPr>
          <p:cNvSpPr/>
          <p:nvPr/>
        </p:nvSpPr>
        <p:spPr>
          <a:xfrm>
            <a:off x="5364088" y="3291830"/>
            <a:ext cx="3528392" cy="172819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noProof="0" dirty="0">
                <a:solidFill>
                  <a:schemeClr val="tx1"/>
                </a:solidFill>
              </a:rPr>
              <a:t>Such a specification prompt can also be generated with the support of AI.</a:t>
            </a:r>
          </a:p>
          <a:p>
            <a:pPr algn="ctr">
              <a:spcAft>
                <a:spcPts val="600"/>
              </a:spcAft>
            </a:pPr>
            <a:r>
              <a:rPr lang="en-US" sz="1400" noProof="0" dirty="0">
                <a:solidFill>
                  <a:schemeClr val="tx1"/>
                </a:solidFill>
              </a:rPr>
              <a:t>E.g., take the word description in the example and apply an LLM to design a prompt that lets AI write a modular python program with the given requirements. (Augment this prompt if necessary.)</a:t>
            </a:r>
          </a:p>
        </p:txBody>
      </p:sp>
    </p:spTree>
    <p:extLst>
      <p:ext uri="{BB962C8B-B14F-4D97-AF65-F5344CB8AC3E}">
        <p14:creationId xmlns:p14="http://schemas.microsoft.com/office/powerpoint/2010/main" val="268871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503227-A538-7AF9-620B-F7788A1A9361}"/>
              </a:ext>
            </a:extLst>
          </p:cNvPr>
          <p:cNvSpPr>
            <a:spLocks noGrp="1"/>
          </p:cNvSpPr>
          <p:nvPr>
            <p:ph type="title"/>
          </p:nvPr>
        </p:nvSpPr>
        <p:spPr/>
        <p:txBody>
          <a:bodyPr/>
          <a:lstStyle/>
          <a:p>
            <a:r>
              <a:rPr lang="en-US" noProof="0" dirty="0"/>
              <a:t>Results:</a:t>
            </a:r>
            <a:br>
              <a:rPr lang="en-US" noProof="0" dirty="0"/>
            </a:br>
            <a:r>
              <a:rPr lang="en-US" noProof="0" dirty="0"/>
              <a:t>Time evolution for the forest with two tree species (1/ 2)</a:t>
            </a:r>
          </a:p>
        </p:txBody>
      </p:sp>
      <p:sp>
        <p:nvSpPr>
          <p:cNvPr id="3" name="Textfeld 2">
            <a:extLst>
              <a:ext uri="{FF2B5EF4-FFF2-40B4-BE49-F238E27FC236}">
                <a16:creationId xmlns:a16="http://schemas.microsoft.com/office/drawing/2014/main" id="{37C4EFC2-5AD5-A659-C626-20723DBAEED7}"/>
              </a:ext>
            </a:extLst>
          </p:cNvPr>
          <p:cNvSpPr txBox="1"/>
          <p:nvPr/>
        </p:nvSpPr>
        <p:spPr>
          <a:xfrm>
            <a:off x="251520" y="1131590"/>
            <a:ext cx="2880320" cy="3908762"/>
          </a:xfrm>
          <a:prstGeom prst="rect">
            <a:avLst/>
          </a:prstGeom>
          <a:solidFill>
            <a:schemeClr val="tx2">
              <a:lumMod val="20000"/>
              <a:lumOff val="80000"/>
            </a:schemeClr>
          </a:solidFill>
        </p:spPr>
        <p:txBody>
          <a:bodyPr wrap="square" rtlCol="0">
            <a:spAutoFit/>
          </a:bodyPr>
          <a:lstStyle/>
          <a:p>
            <a:r>
              <a:rPr lang="en-US" sz="800" noProof="0" dirty="0">
                <a:latin typeface="Courier New" panose="02070309020205020404" pitchFamily="49" charset="0"/>
                <a:cs typeface="Courier New" panose="02070309020205020404" pitchFamily="49" charset="0"/>
              </a:rPr>
              <a:t>============================================STOCHASTIC FOREST MODEL SIMULATION</a:t>
            </a:r>
          </a:p>
          <a:p>
            <a:r>
              <a:rPr lang="en-US" sz="800" noProof="0" dirty="0">
                <a:latin typeface="Courier New" panose="02070309020205020404" pitchFamily="49" charset="0"/>
                <a:cs typeface="Courier New" panose="02070309020205020404" pitchFamily="49" charset="0"/>
              </a:rPr>
              <a:t>============================================Lattice size: 50 x 50</a:t>
            </a:r>
          </a:p>
          <a:p>
            <a:r>
              <a:rPr lang="en-US" sz="800" noProof="0" dirty="0">
                <a:latin typeface="Courier New" panose="02070309020205020404" pitchFamily="49" charset="0"/>
                <a:cs typeface="Courier New" panose="02070309020205020404" pitchFamily="49" charset="0"/>
              </a:rPr>
              <a:t>Time steps: 100</a:t>
            </a:r>
          </a:p>
          <a:p>
            <a:r>
              <a:rPr lang="en-US" sz="800" noProof="0" dirty="0">
                <a:latin typeface="Courier New" panose="02070309020205020404" pitchFamily="49" charset="0"/>
                <a:cs typeface="Courier New" panose="02070309020205020404" pitchFamily="49" charset="0"/>
              </a:rPr>
              <a:t>Random seed: 42</a:t>
            </a:r>
          </a:p>
          <a:p>
            <a:r>
              <a:rPr lang="en-US" sz="800" noProof="0" dirty="0">
                <a:latin typeface="Courier New" panose="02070309020205020404" pitchFamily="49" charset="0"/>
                <a:cs typeface="Courier New" panose="02070309020205020404" pitchFamily="49" charset="0"/>
              </a:rPr>
              <a:t>Initial P(RO): 0.5</a:t>
            </a:r>
          </a:p>
          <a:p>
            <a:r>
              <a:rPr lang="en-US" sz="800" noProof="0" dirty="0">
                <a:latin typeface="Courier New" panose="02070309020205020404" pitchFamily="49" charset="0"/>
                <a:cs typeface="Courier New" panose="02070309020205020404" pitchFamily="49" charset="0"/>
              </a:rPr>
              <a:t>Transition rules:</a:t>
            </a:r>
          </a:p>
          <a:p>
            <a:r>
              <a:rPr lang="en-US" sz="800" noProof="0" dirty="0">
                <a:latin typeface="Courier New" panose="02070309020205020404" pitchFamily="49" charset="0"/>
                <a:cs typeface="Courier New" panose="02070309020205020404" pitchFamily="49" charset="0"/>
              </a:rPr>
              <a:t>  RO -&gt; RO: 0.50</a:t>
            </a:r>
          </a:p>
          <a:p>
            <a:r>
              <a:rPr lang="en-US" sz="800" noProof="0" dirty="0">
                <a:latin typeface="Courier New" panose="02070309020205020404" pitchFamily="49" charset="0"/>
                <a:cs typeface="Courier New" panose="02070309020205020404" pitchFamily="49" charset="0"/>
              </a:rPr>
              <a:t>  RO -&gt; HI: 0.50</a:t>
            </a:r>
          </a:p>
          <a:p>
            <a:r>
              <a:rPr lang="en-US" sz="800" noProof="0" dirty="0">
                <a:latin typeface="Courier New" panose="02070309020205020404" pitchFamily="49" charset="0"/>
                <a:cs typeface="Courier New" panose="02070309020205020404" pitchFamily="49" charset="0"/>
              </a:rPr>
              <a:t>  HI -&gt; RO: 0.74</a:t>
            </a:r>
          </a:p>
          <a:p>
            <a:r>
              <a:rPr lang="en-US" sz="800" noProof="0" dirty="0">
                <a:latin typeface="Courier New" panose="02070309020205020404" pitchFamily="49" charset="0"/>
                <a:cs typeface="Courier New" panose="02070309020205020404" pitchFamily="49" charset="0"/>
              </a:rPr>
              <a:t>  HI -&gt; HI: 0.26</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============================================SIMULATION STATISTICS</a:t>
            </a:r>
          </a:p>
          <a:p>
            <a:r>
              <a:rPr lang="en-US" sz="800" noProof="0" dirty="0">
                <a:latin typeface="Courier New" panose="02070309020205020404" pitchFamily="49" charset="0"/>
                <a:cs typeface="Courier New" panose="02070309020205020404" pitchFamily="49" charset="0"/>
              </a:rPr>
              <a:t>============================================Total cells: 2500</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Initial state:</a:t>
            </a:r>
          </a:p>
          <a:p>
            <a:r>
              <a:rPr lang="en-US" sz="800" noProof="0" dirty="0">
                <a:latin typeface="Courier New" panose="02070309020205020404" pitchFamily="49" charset="0"/>
                <a:cs typeface="Courier New" panose="02070309020205020404" pitchFamily="49" charset="0"/>
              </a:rPr>
              <a:t>  Red Oak (RO):   1238 trees (49.52%)</a:t>
            </a:r>
          </a:p>
          <a:p>
            <a:r>
              <a:rPr lang="en-US" sz="800" noProof="0" dirty="0">
                <a:latin typeface="Courier New" panose="02070309020205020404" pitchFamily="49" charset="0"/>
                <a:cs typeface="Courier New" panose="02070309020205020404" pitchFamily="49" charset="0"/>
              </a:rPr>
              <a:t>  Hickory (HI):   1262 trees (50.48%)</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Final state:</a:t>
            </a:r>
          </a:p>
          <a:p>
            <a:r>
              <a:rPr lang="en-US" sz="800" noProof="0" dirty="0">
                <a:latin typeface="Courier New" panose="02070309020205020404" pitchFamily="49" charset="0"/>
                <a:cs typeface="Courier New" panose="02070309020205020404" pitchFamily="49" charset="0"/>
              </a:rPr>
              <a:t>  Red Oak (RO):   1540 trees (61.60%)</a:t>
            </a:r>
          </a:p>
          <a:p>
            <a:r>
              <a:rPr lang="en-US" sz="800" noProof="0" dirty="0">
                <a:latin typeface="Courier New" panose="02070309020205020404" pitchFamily="49" charset="0"/>
                <a:cs typeface="Courier New" panose="02070309020205020404" pitchFamily="49" charset="0"/>
              </a:rPr>
              <a:t>  Hickory (HI):    960 trees (38.40%)</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Change:</a:t>
            </a:r>
          </a:p>
          <a:p>
            <a:r>
              <a:rPr lang="en-US" sz="800" noProof="0" dirty="0">
                <a:latin typeface="Courier New" panose="02070309020205020404" pitchFamily="49" charset="0"/>
                <a:cs typeface="Courier New" panose="02070309020205020404" pitchFamily="49" charset="0"/>
              </a:rPr>
              <a:t>  Red Oak (RO):    +302 trees (+12.08%)</a:t>
            </a:r>
          </a:p>
          <a:p>
            <a:r>
              <a:rPr lang="en-US" sz="800" noProof="0" dirty="0">
                <a:latin typeface="Courier New" panose="02070309020205020404" pitchFamily="49" charset="0"/>
                <a:cs typeface="Courier New" panose="02070309020205020404" pitchFamily="49" charset="0"/>
              </a:rPr>
              <a:t>  Hickory (HI):    -302 trees (-12.08%)</a:t>
            </a:r>
          </a:p>
          <a:p>
            <a:r>
              <a:rPr lang="en-US" sz="800" noProof="0" dirty="0">
                <a:latin typeface="Courier New" panose="02070309020205020404" pitchFamily="49" charset="0"/>
                <a:cs typeface="Courier New" panose="02070309020205020404" pitchFamily="49" charset="0"/>
              </a:rPr>
              <a:t>============================================</a:t>
            </a:r>
          </a:p>
        </p:txBody>
      </p:sp>
      <p:pic>
        <p:nvPicPr>
          <p:cNvPr id="7" name="Grafik 6">
            <a:extLst>
              <a:ext uri="{FF2B5EF4-FFF2-40B4-BE49-F238E27FC236}">
                <a16:creationId xmlns:a16="http://schemas.microsoft.com/office/drawing/2014/main" id="{FAF76A31-6905-1C18-CA34-2CB80178CAAF}"/>
              </a:ext>
            </a:extLst>
          </p:cNvPr>
          <p:cNvPicPr>
            <a:picLocks noChangeAspect="1"/>
          </p:cNvPicPr>
          <p:nvPr/>
        </p:nvPicPr>
        <p:blipFill>
          <a:blip r:embed="rId2" cstate="print">
            <a:extLst>
              <a:ext uri="{28A0092B-C50C-407E-A947-70E740481C1C}">
                <a14:useLocalDpi xmlns:a14="http://schemas.microsoft.com/office/drawing/2010/main" val="0"/>
              </a:ext>
            </a:extLst>
          </a:blip>
          <a:srcRect t="8852" r="22222"/>
          <a:stretch>
            <a:fillRect/>
          </a:stretch>
        </p:blipFill>
        <p:spPr>
          <a:xfrm>
            <a:off x="3563888" y="1059582"/>
            <a:ext cx="2520280" cy="2966059"/>
          </a:xfrm>
          <a:prstGeom prst="rect">
            <a:avLst/>
          </a:prstGeom>
        </p:spPr>
      </p:pic>
      <p:pic>
        <p:nvPicPr>
          <p:cNvPr id="9" name="Grafik 8">
            <a:extLst>
              <a:ext uri="{FF2B5EF4-FFF2-40B4-BE49-F238E27FC236}">
                <a16:creationId xmlns:a16="http://schemas.microsoft.com/office/drawing/2014/main" id="{641EB696-20B9-AE3E-9ABC-5EB8190232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1834925"/>
            <a:ext cx="3240000" cy="3253730"/>
          </a:xfrm>
          <a:prstGeom prst="rect">
            <a:avLst/>
          </a:prstGeom>
        </p:spPr>
      </p:pic>
      <p:sp>
        <p:nvSpPr>
          <p:cNvPr id="10" name="Freeform 37">
            <a:extLst>
              <a:ext uri="{FF2B5EF4-FFF2-40B4-BE49-F238E27FC236}">
                <a16:creationId xmlns:a16="http://schemas.microsoft.com/office/drawing/2014/main" id="{B9F01695-04E8-2C81-6AEB-231BFAFA445B}"/>
              </a:ext>
            </a:extLst>
          </p:cNvPr>
          <p:cNvSpPr>
            <a:spLocks/>
          </p:cNvSpPr>
          <p:nvPr/>
        </p:nvSpPr>
        <p:spPr bwMode="auto">
          <a:xfrm rot="17542969" flipH="1">
            <a:off x="5146235" y="2458480"/>
            <a:ext cx="1041132" cy="1939250"/>
          </a:xfrm>
          <a:custGeom>
            <a:avLst/>
            <a:gdLst>
              <a:gd name="T0" fmla="*/ 75 w 1149"/>
              <a:gd name="T1" fmla="*/ 36 h 2226"/>
              <a:gd name="T2" fmla="*/ 174 w 1149"/>
              <a:gd name="T3" fmla="*/ 87 h 2226"/>
              <a:gd name="T4" fmla="*/ 285 w 1149"/>
              <a:gd name="T5" fmla="*/ 162 h 2226"/>
              <a:gd name="T6" fmla="*/ 417 w 1149"/>
              <a:gd name="T7" fmla="*/ 282 h 2226"/>
              <a:gd name="T8" fmla="*/ 513 w 1149"/>
              <a:gd name="T9" fmla="*/ 405 h 2226"/>
              <a:gd name="T10" fmla="*/ 591 w 1149"/>
              <a:gd name="T11" fmla="*/ 528 h 2226"/>
              <a:gd name="T12" fmla="*/ 657 w 1149"/>
              <a:gd name="T13" fmla="*/ 666 h 2226"/>
              <a:gd name="T14" fmla="*/ 717 w 1149"/>
              <a:gd name="T15" fmla="*/ 813 h 2226"/>
              <a:gd name="T16" fmla="*/ 762 w 1149"/>
              <a:gd name="T17" fmla="*/ 969 h 2226"/>
              <a:gd name="T18" fmla="*/ 792 w 1149"/>
              <a:gd name="T19" fmla="*/ 1149 h 2226"/>
              <a:gd name="T20" fmla="*/ 813 w 1149"/>
              <a:gd name="T21" fmla="*/ 1332 h 2226"/>
              <a:gd name="T22" fmla="*/ 813 w 1149"/>
              <a:gd name="T23" fmla="*/ 1479 h 2226"/>
              <a:gd name="T24" fmla="*/ 804 w 1149"/>
              <a:gd name="T25" fmla="*/ 1635 h 2226"/>
              <a:gd name="T26" fmla="*/ 780 w 1149"/>
              <a:gd name="T27" fmla="*/ 1785 h 2226"/>
              <a:gd name="T28" fmla="*/ 591 w 1149"/>
              <a:gd name="T29" fmla="*/ 1830 h 2226"/>
              <a:gd name="T30" fmla="*/ 1149 w 1149"/>
              <a:gd name="T31" fmla="*/ 1971 h 2226"/>
              <a:gd name="T32" fmla="*/ 1008 w 1149"/>
              <a:gd name="T33" fmla="*/ 1869 h 2226"/>
              <a:gd name="T34" fmla="*/ 1038 w 1149"/>
              <a:gd name="T35" fmla="*/ 1716 h 2226"/>
              <a:gd name="T36" fmla="*/ 1050 w 1149"/>
              <a:gd name="T37" fmla="*/ 1566 h 2226"/>
              <a:gd name="T38" fmla="*/ 1053 w 1149"/>
              <a:gd name="T39" fmla="*/ 1395 h 2226"/>
              <a:gd name="T40" fmla="*/ 1035 w 1149"/>
              <a:gd name="T41" fmla="*/ 1206 h 2226"/>
              <a:gd name="T42" fmla="*/ 1005 w 1149"/>
              <a:gd name="T43" fmla="*/ 1050 h 2226"/>
              <a:gd name="T44" fmla="*/ 963 w 1149"/>
              <a:gd name="T45" fmla="*/ 900 h 2226"/>
              <a:gd name="T46" fmla="*/ 912 w 1149"/>
              <a:gd name="T47" fmla="*/ 762 h 2226"/>
              <a:gd name="T48" fmla="*/ 837 w 1149"/>
              <a:gd name="T49" fmla="*/ 603 h 2226"/>
              <a:gd name="T50" fmla="*/ 750 w 1149"/>
              <a:gd name="T51" fmla="*/ 462 h 2226"/>
              <a:gd name="T52" fmla="*/ 669 w 1149"/>
              <a:gd name="T53" fmla="*/ 363 h 2226"/>
              <a:gd name="T54" fmla="*/ 558 w 1149"/>
              <a:gd name="T55" fmla="*/ 249 h 2226"/>
              <a:gd name="T56" fmla="*/ 433 w 1149"/>
              <a:gd name="T57" fmla="*/ 157 h 2226"/>
              <a:gd name="T58" fmla="*/ 297 w 1149"/>
              <a:gd name="T59" fmla="*/ 81 h 2226"/>
              <a:gd name="T60" fmla="*/ 153 w 1149"/>
              <a:gd name="T61" fmla="*/ 24 h 2226"/>
              <a:gd name="T62" fmla="*/ 0 w 1149"/>
              <a:gd name="T63" fmla="*/ 0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9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spTree>
    <p:extLst>
      <p:ext uri="{BB962C8B-B14F-4D97-AF65-F5344CB8AC3E}">
        <p14:creationId xmlns:p14="http://schemas.microsoft.com/office/powerpoint/2010/main" val="2418044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BB5EB-B154-B92A-341C-28E09B315A8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5998164-C58B-2543-1686-E6D6AEC9A808}"/>
              </a:ext>
            </a:extLst>
          </p:cNvPr>
          <p:cNvSpPr>
            <a:spLocks noGrp="1"/>
          </p:cNvSpPr>
          <p:nvPr>
            <p:ph type="title"/>
          </p:nvPr>
        </p:nvSpPr>
        <p:spPr/>
        <p:txBody>
          <a:bodyPr/>
          <a:lstStyle/>
          <a:p>
            <a:r>
              <a:rPr lang="en-US" noProof="0" dirty="0"/>
              <a:t>Results:</a:t>
            </a:r>
            <a:br>
              <a:rPr lang="en-US" noProof="0" dirty="0"/>
            </a:br>
            <a:r>
              <a:rPr lang="en-US" noProof="0" dirty="0"/>
              <a:t>Time evolution for the forest with two tree species (2/ 2)</a:t>
            </a:r>
          </a:p>
        </p:txBody>
      </p:sp>
      <p:pic>
        <p:nvPicPr>
          <p:cNvPr id="5" name="Grafik 4">
            <a:extLst>
              <a:ext uri="{FF2B5EF4-FFF2-40B4-BE49-F238E27FC236}">
                <a16:creationId xmlns:a16="http://schemas.microsoft.com/office/drawing/2014/main" id="{45AD8F16-1562-91E5-CA02-E6A326E0A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486320"/>
            <a:ext cx="3569704" cy="3569704"/>
          </a:xfrm>
          <a:prstGeom prst="rect">
            <a:avLst/>
          </a:prstGeom>
        </p:spPr>
      </p:pic>
      <p:sp>
        <p:nvSpPr>
          <p:cNvPr id="4" name="Rechteck 3">
            <a:extLst>
              <a:ext uri="{FF2B5EF4-FFF2-40B4-BE49-F238E27FC236}">
                <a16:creationId xmlns:a16="http://schemas.microsoft.com/office/drawing/2014/main" id="{54FF5DA7-A519-90F4-31E7-1AC24F996D5E}"/>
              </a:ext>
            </a:extLst>
          </p:cNvPr>
          <p:cNvSpPr/>
          <p:nvPr/>
        </p:nvSpPr>
        <p:spPr>
          <a:xfrm>
            <a:off x="3923929" y="1131590"/>
            <a:ext cx="4968552"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series</a:t>
            </a:r>
          </a:p>
        </p:txBody>
      </p:sp>
      <p:sp>
        <p:nvSpPr>
          <p:cNvPr id="6" name="Rechteck 5">
            <a:extLst>
              <a:ext uri="{FF2B5EF4-FFF2-40B4-BE49-F238E27FC236}">
                <a16:creationId xmlns:a16="http://schemas.microsoft.com/office/drawing/2014/main" id="{A060A3FB-C64E-13B5-EAB4-A0CBDB8B73D1}"/>
              </a:ext>
            </a:extLst>
          </p:cNvPr>
          <p:cNvSpPr/>
          <p:nvPr/>
        </p:nvSpPr>
        <p:spPr>
          <a:xfrm>
            <a:off x="251521" y="1131590"/>
            <a:ext cx="356970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Animation (100 steps)</a:t>
            </a:r>
          </a:p>
        </p:txBody>
      </p:sp>
      <p:sp>
        <p:nvSpPr>
          <p:cNvPr id="7" name="Rechteck 6">
            <a:extLst>
              <a:ext uri="{FF2B5EF4-FFF2-40B4-BE49-F238E27FC236}">
                <a16:creationId xmlns:a16="http://schemas.microsoft.com/office/drawing/2014/main" id="{A9C8A6D5-0322-BE91-76C0-D51CCB891EE8}"/>
              </a:ext>
            </a:extLst>
          </p:cNvPr>
          <p:cNvSpPr/>
          <p:nvPr/>
        </p:nvSpPr>
        <p:spPr>
          <a:xfrm>
            <a:off x="3923929" y="1491630"/>
            <a:ext cx="4968552" cy="356970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8" name="Rechteck 7">
            <a:extLst>
              <a:ext uri="{FF2B5EF4-FFF2-40B4-BE49-F238E27FC236}">
                <a16:creationId xmlns:a16="http://schemas.microsoft.com/office/drawing/2014/main" id="{C4438397-7BD9-FDAD-C8BF-F0A4B70BB360}"/>
              </a:ext>
            </a:extLst>
          </p:cNvPr>
          <p:cNvSpPr/>
          <p:nvPr/>
        </p:nvSpPr>
        <p:spPr>
          <a:xfrm>
            <a:off x="251520" y="1491630"/>
            <a:ext cx="3569704" cy="356970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pic>
        <p:nvPicPr>
          <p:cNvPr id="10" name="Grafik 9">
            <a:extLst>
              <a:ext uri="{FF2B5EF4-FFF2-40B4-BE49-F238E27FC236}">
                <a16:creationId xmlns:a16="http://schemas.microsoft.com/office/drawing/2014/main" id="{06CD41B4-A352-E2F3-0EC3-ED3239B069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3666" y="1563638"/>
            <a:ext cx="4709079" cy="2808312"/>
          </a:xfrm>
          <a:prstGeom prst="rect">
            <a:avLst/>
          </a:prstGeom>
        </p:spPr>
      </p:pic>
      <p:sp>
        <p:nvSpPr>
          <p:cNvPr id="11" name="Textfeld 10">
            <a:extLst>
              <a:ext uri="{FF2B5EF4-FFF2-40B4-BE49-F238E27FC236}">
                <a16:creationId xmlns:a16="http://schemas.microsoft.com/office/drawing/2014/main" id="{1435C271-B509-0B24-2669-FF965E350B0A}"/>
              </a:ext>
            </a:extLst>
          </p:cNvPr>
          <p:cNvSpPr txBox="1"/>
          <p:nvPr/>
        </p:nvSpPr>
        <p:spPr>
          <a:xfrm>
            <a:off x="3923928" y="4443958"/>
            <a:ext cx="2999411" cy="600164"/>
          </a:xfrm>
          <a:prstGeom prst="rect">
            <a:avLst/>
          </a:prstGeom>
          <a:noFill/>
        </p:spPr>
        <p:txBody>
          <a:bodyPr wrap="none" rtlCol="0">
            <a:spAutoFit/>
          </a:bodyPr>
          <a:lstStyle/>
          <a:p>
            <a:pPr>
              <a:spcAft>
                <a:spcPts val="600"/>
              </a:spcAft>
            </a:pPr>
            <a:r>
              <a:rPr lang="en-US" sz="1400" noProof="0" dirty="0"/>
              <a:t>Approx. long-time average:</a:t>
            </a:r>
          </a:p>
          <a:p>
            <a:pPr>
              <a:spcAft>
                <a:spcPts val="600"/>
              </a:spcAft>
            </a:pPr>
            <a:r>
              <a:rPr lang="en-US" sz="1400" noProof="0" dirty="0"/>
              <a:t>RO </a:t>
            </a:r>
            <a:r>
              <a:rPr lang="en-US" sz="1400" noProof="0" dirty="0">
                <a:sym typeface="Symbol" panose="05050102010706020507" pitchFamily="18" charset="2"/>
              </a:rPr>
              <a:t></a:t>
            </a:r>
            <a:r>
              <a:rPr lang="en-US" sz="1400" noProof="0" dirty="0"/>
              <a:t> 1500 (60 %) and HI </a:t>
            </a:r>
            <a:r>
              <a:rPr lang="en-US" sz="1400" noProof="0" dirty="0">
                <a:sym typeface="Symbol" panose="05050102010706020507" pitchFamily="18" charset="2"/>
              </a:rPr>
              <a:t></a:t>
            </a:r>
            <a:r>
              <a:rPr lang="en-US" sz="1400" noProof="0" dirty="0"/>
              <a:t> 1000 (40 %)</a:t>
            </a:r>
          </a:p>
        </p:txBody>
      </p:sp>
    </p:spTree>
    <p:extLst>
      <p:ext uri="{BB962C8B-B14F-4D97-AF65-F5344CB8AC3E}">
        <p14:creationId xmlns:p14="http://schemas.microsoft.com/office/powerpoint/2010/main" val="2178678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EEA267DB-A544-EDFF-BA58-7A73E07B486C}"/>
              </a:ext>
            </a:extLst>
          </p:cNvPr>
          <p:cNvSpPr/>
          <p:nvPr/>
        </p:nvSpPr>
        <p:spPr>
          <a:xfrm>
            <a:off x="251520" y="1131590"/>
            <a:ext cx="1224136" cy="612068"/>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HI</a:t>
            </a:r>
          </a:p>
        </p:txBody>
      </p:sp>
      <p:sp>
        <p:nvSpPr>
          <p:cNvPr id="8" name="Rechteck 7">
            <a:extLst>
              <a:ext uri="{FF2B5EF4-FFF2-40B4-BE49-F238E27FC236}">
                <a16:creationId xmlns:a16="http://schemas.microsoft.com/office/drawing/2014/main" id="{50FC8F7A-1D48-BF21-E797-13C7D4CD03C2}"/>
              </a:ext>
            </a:extLst>
          </p:cNvPr>
          <p:cNvSpPr/>
          <p:nvPr/>
        </p:nvSpPr>
        <p:spPr>
          <a:xfrm>
            <a:off x="251520" y="1742424"/>
            <a:ext cx="1224136" cy="61206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RO</a:t>
            </a:r>
          </a:p>
        </p:txBody>
      </p:sp>
      <p:sp>
        <p:nvSpPr>
          <p:cNvPr id="2" name="Titel 1">
            <a:extLst>
              <a:ext uri="{FF2B5EF4-FFF2-40B4-BE49-F238E27FC236}">
                <a16:creationId xmlns:a16="http://schemas.microsoft.com/office/drawing/2014/main" id="{3E7001EE-F37A-0553-2326-A5E755409293}"/>
              </a:ext>
            </a:extLst>
          </p:cNvPr>
          <p:cNvSpPr>
            <a:spLocks noGrp="1"/>
          </p:cNvSpPr>
          <p:nvPr>
            <p:ph type="title"/>
          </p:nvPr>
        </p:nvSpPr>
        <p:spPr/>
        <p:txBody>
          <a:bodyPr/>
          <a:lstStyle/>
          <a:p>
            <a:r>
              <a:rPr lang="en-US" noProof="0" dirty="0"/>
              <a:t>Example [cont.]:</a:t>
            </a:r>
            <a:br>
              <a:rPr lang="en-US" noProof="0" dirty="0"/>
            </a:br>
            <a:r>
              <a:rPr lang="en-US" noProof="0" dirty="0"/>
              <a:t>Mixing/ invasion of previously separated pure plantations</a:t>
            </a:r>
          </a:p>
        </p:txBody>
      </p:sp>
      <p:sp>
        <p:nvSpPr>
          <p:cNvPr id="3" name="Rechteck 2">
            <a:extLst>
              <a:ext uri="{FF2B5EF4-FFF2-40B4-BE49-F238E27FC236}">
                <a16:creationId xmlns:a16="http://schemas.microsoft.com/office/drawing/2014/main" id="{17B76CC3-BC59-ACF6-DFDA-009519F8A867}"/>
              </a:ext>
            </a:extLst>
          </p:cNvPr>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Example [cont.]:</a:t>
            </a:r>
          </a:p>
          <a:p>
            <a:pPr algn="just">
              <a:spcAft>
                <a:spcPts val="600"/>
              </a:spcAft>
            </a:pPr>
            <a:r>
              <a:rPr lang="en-US" sz="1400" noProof="0" dirty="0">
                <a:solidFill>
                  <a:schemeClr val="tx1"/>
                </a:solidFill>
              </a:rPr>
              <a:t>We next include the spatial surrounding of the trees in the replacement mechanism and assume two separate pure plantations to simulate mixing between the plantations (or invasion of tree types into the pure plantations of the other type).</a:t>
            </a:r>
          </a:p>
          <a:p>
            <a:pPr>
              <a:spcAft>
                <a:spcPts val="600"/>
              </a:spcAft>
            </a:pPr>
            <a:endParaRPr lang="en-US" sz="800" noProof="0" dirty="0">
              <a:solidFill>
                <a:schemeClr val="tx1"/>
              </a:solidFill>
            </a:endParaRPr>
          </a:p>
          <a:p>
            <a:pPr>
              <a:spcAft>
                <a:spcPts val="600"/>
              </a:spcAft>
            </a:pPr>
            <a:r>
              <a:rPr lang="en-US" sz="1400" noProof="0" dirty="0">
                <a:solidFill>
                  <a:schemeClr val="tx1"/>
                </a:solidFill>
              </a:rPr>
              <a:t>Thus, let’s continue with the previous setting, but assume some changes:</a:t>
            </a:r>
          </a:p>
          <a:p>
            <a:pPr marL="177800" indent="-177800">
              <a:spcAft>
                <a:spcPts val="600"/>
              </a:spcAft>
              <a:buFont typeface="Arial" panose="020B0604020202020204" pitchFamily="34" charset="0"/>
              <a:buChar char="•"/>
            </a:pPr>
            <a:r>
              <a:rPr lang="en-US" sz="1400" noProof="0" dirty="0">
                <a:solidFill>
                  <a:schemeClr val="tx1"/>
                </a:solidFill>
              </a:rPr>
              <a:t>Each tree hast 8 neighbors (north, north-east, east, south-east, south, south-west, west, north-west)</a:t>
            </a:r>
          </a:p>
          <a:p>
            <a:pPr marL="177800" indent="-177800">
              <a:spcAft>
                <a:spcPts val="600"/>
              </a:spcAft>
              <a:buFont typeface="Arial" panose="020B0604020202020204" pitchFamily="34" charset="0"/>
              <a:buChar char="•"/>
            </a:pPr>
            <a:r>
              <a:rPr lang="en-US" sz="1400" noProof="0" dirty="0">
                <a:solidFill>
                  <a:schemeClr val="tx1"/>
                </a:solidFill>
              </a:rPr>
              <a:t>A RO tree is always replaced by a RO tree if all its 8 neighbors are RO, and it is replaced equally likely by a RO or a HI tree if at least one of its 8 neighbors is a HI tree. </a:t>
            </a:r>
          </a:p>
          <a:p>
            <a:pPr marL="177800" indent="-177800">
              <a:spcAft>
                <a:spcPts val="600"/>
              </a:spcAft>
              <a:buFont typeface="Arial" panose="020B0604020202020204" pitchFamily="34" charset="0"/>
              <a:buChar char="•"/>
            </a:pPr>
            <a:r>
              <a:rPr lang="en-US" sz="1400" noProof="0" dirty="0">
                <a:solidFill>
                  <a:schemeClr val="tx1"/>
                </a:solidFill>
              </a:rPr>
              <a:t>A HI tree is always replaced by a HI tree if all its 8 neighbors are HI, and it is replaced with a 74% chance by a RO and a 26% chance by a HI tree if at least one of its 8 neighbors is a RO tree. </a:t>
            </a:r>
          </a:p>
          <a:p>
            <a:pPr marL="177800" indent="-177800">
              <a:spcAft>
                <a:spcPts val="600"/>
              </a:spcAft>
              <a:buFont typeface="Arial" panose="020B0604020202020204" pitchFamily="34" charset="0"/>
              <a:buChar char="•"/>
            </a:pPr>
            <a:r>
              <a:rPr lang="en-US" sz="1400" noProof="0" dirty="0">
                <a:solidFill>
                  <a:schemeClr val="tx1"/>
                </a:solidFill>
              </a:rPr>
              <a:t>Initially the </a:t>
            </a:r>
            <a:r>
              <a:rPr lang="en-US" sz="1400" noProof="0" dirty="0" err="1">
                <a:solidFill>
                  <a:schemeClr val="tx1"/>
                </a:solidFill>
              </a:rPr>
              <a:t>NxN</a:t>
            </a:r>
            <a:r>
              <a:rPr lang="en-US" sz="1400" noProof="0" dirty="0">
                <a:solidFill>
                  <a:schemeClr val="tx1"/>
                </a:solidFill>
              </a:rPr>
              <a:t> lattice is divided such that the lower </a:t>
            </a:r>
            <a:r>
              <a:rPr lang="en-US" sz="1400" noProof="0" dirty="0" err="1">
                <a:solidFill>
                  <a:schemeClr val="tx1"/>
                </a:solidFill>
              </a:rPr>
              <a:t>Nx</a:t>
            </a:r>
            <a:r>
              <a:rPr lang="en-US" sz="1400" noProof="0" dirty="0">
                <a:solidFill>
                  <a:schemeClr val="tx1"/>
                </a:solidFill>
              </a:rPr>
              <a:t>(N/2) part is occupied by RO trees only and the upper </a:t>
            </a:r>
            <a:r>
              <a:rPr lang="en-US" sz="1400" noProof="0" dirty="0" err="1">
                <a:solidFill>
                  <a:schemeClr val="tx1"/>
                </a:solidFill>
              </a:rPr>
              <a:t>Nx</a:t>
            </a:r>
            <a:r>
              <a:rPr lang="en-US" sz="1400" noProof="0" dirty="0">
                <a:solidFill>
                  <a:schemeClr val="tx1"/>
                </a:solidFill>
              </a:rPr>
              <a:t>(N/2) part is occupied by HI trees only.</a:t>
            </a:r>
          </a:p>
        </p:txBody>
      </p:sp>
      <p:sp>
        <p:nvSpPr>
          <p:cNvPr id="4" name="Rechteck 3">
            <a:extLst>
              <a:ext uri="{FF2B5EF4-FFF2-40B4-BE49-F238E27FC236}">
                <a16:creationId xmlns:a16="http://schemas.microsoft.com/office/drawing/2014/main" id="{F0CE6FD7-59C5-283A-4947-A9748FCF43E3}"/>
              </a:ext>
            </a:extLst>
          </p:cNvPr>
          <p:cNvSpPr/>
          <p:nvPr/>
        </p:nvSpPr>
        <p:spPr>
          <a:xfrm>
            <a:off x="251520" y="1131590"/>
            <a:ext cx="1224136" cy="122413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spTree>
    <p:extLst>
      <p:ext uri="{BB962C8B-B14F-4D97-AF65-F5344CB8AC3E}">
        <p14:creationId xmlns:p14="http://schemas.microsoft.com/office/powerpoint/2010/main" val="2132386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98CCC9-2C6A-DFD2-A7BB-CC0390B8A686}"/>
              </a:ext>
            </a:extLst>
          </p:cNvPr>
          <p:cNvSpPr>
            <a:spLocks noGrp="1"/>
          </p:cNvSpPr>
          <p:nvPr>
            <p:ph type="title"/>
          </p:nvPr>
        </p:nvSpPr>
        <p:spPr/>
        <p:txBody>
          <a:bodyPr/>
          <a:lstStyle/>
          <a:p>
            <a:r>
              <a:rPr lang="en-US" noProof="0" dirty="0"/>
              <a:t>We again start with the prompt for the AI coding</a:t>
            </a:r>
          </a:p>
        </p:txBody>
      </p:sp>
      <p:sp>
        <p:nvSpPr>
          <p:cNvPr id="3" name="Rechteck 2">
            <a:extLst>
              <a:ext uri="{FF2B5EF4-FFF2-40B4-BE49-F238E27FC236}">
                <a16:creationId xmlns:a16="http://schemas.microsoft.com/office/drawing/2014/main" id="{E6EBC6F7-8706-6BF4-A480-52B3789E9A33}"/>
              </a:ext>
            </a:extLst>
          </p:cNvPr>
          <p:cNvSpPr/>
          <p:nvPr/>
        </p:nvSpPr>
        <p:spPr>
          <a:xfrm>
            <a:off x="251520" y="1131590"/>
            <a:ext cx="2808312"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noProof="0" dirty="0">
                <a:solidFill>
                  <a:schemeClr val="tx1"/>
                </a:solidFill>
              </a:rPr>
              <a:t>Task:</a:t>
            </a:r>
            <a:br>
              <a:rPr lang="en-US" sz="1000" noProof="0" dirty="0">
                <a:solidFill>
                  <a:schemeClr val="tx1"/>
                </a:solidFill>
              </a:rPr>
            </a:br>
            <a:r>
              <a:rPr lang="en-US" sz="1000" noProof="0" dirty="0">
                <a:solidFill>
                  <a:schemeClr val="tx1"/>
                </a:solidFill>
              </a:rPr>
              <a:t>Update the existing modular Python lattice simulation project to include spatially dependent replacement rules based on the 8-cell Moore neighborhood (fixed boundary conditions).</a:t>
            </a:r>
          </a:p>
          <a:p>
            <a:endParaRPr lang="en-US" sz="1000" noProof="0" dirty="0">
              <a:solidFill>
                <a:schemeClr val="tx1"/>
              </a:solidFill>
            </a:endParaRPr>
          </a:p>
          <a:p>
            <a:r>
              <a:rPr lang="en-US" sz="1000" b="1" noProof="0" dirty="0">
                <a:solidFill>
                  <a:schemeClr val="tx1"/>
                </a:solidFill>
              </a:rPr>
              <a:t>Important:</a:t>
            </a:r>
          </a:p>
          <a:p>
            <a:pPr marL="171450" indent="-171450">
              <a:buFont typeface="Arial" panose="020B0604020202020204" pitchFamily="34" charset="0"/>
              <a:buChar char="•"/>
            </a:pPr>
            <a:r>
              <a:rPr lang="en-US" sz="1000" noProof="0" dirty="0">
                <a:solidFill>
                  <a:schemeClr val="tx1"/>
                </a:solidFill>
              </a:rPr>
              <a:t>Modify the existing files instead of creating a completely new project.</a:t>
            </a:r>
          </a:p>
          <a:p>
            <a:pPr marL="171450" indent="-171450">
              <a:buFont typeface="Arial" panose="020B0604020202020204" pitchFamily="34" charset="0"/>
              <a:buChar char="•"/>
            </a:pPr>
            <a:r>
              <a:rPr lang="en-US" sz="1000" noProof="0" dirty="0">
                <a:solidFill>
                  <a:schemeClr val="tx1"/>
                </a:solidFill>
              </a:rPr>
              <a:t>Preserve the modular design with separate files for initialization, dynamics, visualization, and execution.</a:t>
            </a:r>
          </a:p>
          <a:p>
            <a:endParaRPr lang="en-US" sz="1000" noProof="0" dirty="0">
              <a:solidFill>
                <a:schemeClr val="tx1"/>
              </a:solidFill>
            </a:endParaRPr>
          </a:p>
          <a:p>
            <a:r>
              <a:rPr lang="en-US" sz="1000" b="1" noProof="0" dirty="0">
                <a:solidFill>
                  <a:schemeClr val="tx1"/>
                </a:solidFill>
              </a:rPr>
              <a:t>Model:</a:t>
            </a:r>
          </a:p>
          <a:p>
            <a:r>
              <a:rPr lang="en-US" sz="1000" noProof="0" dirty="0">
                <a:solidFill>
                  <a:schemeClr val="tx1"/>
                </a:solidFill>
              </a:rPr>
              <a:t>The lattice is N x N and each site contains either:</a:t>
            </a:r>
          </a:p>
          <a:p>
            <a:pPr marL="171450" indent="-171450">
              <a:buFont typeface="Arial" panose="020B0604020202020204" pitchFamily="34" charset="0"/>
              <a:buChar char="•"/>
            </a:pPr>
            <a:r>
              <a:rPr lang="en-US" sz="1000" noProof="0" dirty="0">
                <a:solidFill>
                  <a:schemeClr val="tx1"/>
                </a:solidFill>
              </a:rPr>
              <a:t>RO = red oak</a:t>
            </a:r>
          </a:p>
          <a:p>
            <a:pPr marL="171450" indent="-171450">
              <a:buFont typeface="Arial" panose="020B0604020202020204" pitchFamily="34" charset="0"/>
              <a:buChar char="•"/>
            </a:pPr>
            <a:r>
              <a:rPr lang="en-US" sz="1000" noProof="0" dirty="0">
                <a:solidFill>
                  <a:schemeClr val="tx1"/>
                </a:solidFill>
              </a:rPr>
              <a:t>HI = hickory</a:t>
            </a:r>
          </a:p>
          <a:p>
            <a:endParaRPr lang="en-US" sz="1000" noProof="0" dirty="0">
              <a:solidFill>
                <a:schemeClr val="tx1"/>
              </a:solidFill>
            </a:endParaRPr>
          </a:p>
          <a:p>
            <a:r>
              <a:rPr lang="en-US" sz="1000" b="1" noProof="0" dirty="0">
                <a:solidFill>
                  <a:schemeClr val="tx1"/>
                </a:solidFill>
              </a:rPr>
              <a:t>Initial state:</a:t>
            </a:r>
          </a:p>
          <a:p>
            <a:pPr marL="171450" indent="-171450">
              <a:buFont typeface="Arial" panose="020B0604020202020204" pitchFamily="34" charset="0"/>
              <a:buChar char="•"/>
            </a:pPr>
            <a:r>
              <a:rPr lang="en-US" sz="1000" noProof="0" dirty="0">
                <a:solidFill>
                  <a:schemeClr val="tx1"/>
                </a:solidFill>
              </a:rPr>
              <a:t>upper half of the lattice: HI only</a:t>
            </a:r>
          </a:p>
          <a:p>
            <a:pPr marL="171450" indent="-171450">
              <a:buFont typeface="Arial" panose="020B0604020202020204" pitchFamily="34" charset="0"/>
              <a:buChar char="•"/>
            </a:pPr>
            <a:r>
              <a:rPr lang="en-US" sz="1000" noProof="0" dirty="0">
                <a:solidFill>
                  <a:schemeClr val="tx1"/>
                </a:solidFill>
              </a:rPr>
              <a:t>lower half of the lattice: RO only</a:t>
            </a:r>
          </a:p>
          <a:p>
            <a:endParaRPr lang="en-US" sz="1000" noProof="0" dirty="0">
              <a:solidFill>
                <a:schemeClr val="tx1"/>
              </a:solidFill>
            </a:endParaRPr>
          </a:p>
          <a:p>
            <a:r>
              <a:rPr lang="en-US" sz="1000" b="1" noProof="0" dirty="0">
                <a:solidFill>
                  <a:schemeClr val="tx1"/>
                </a:solidFill>
              </a:rPr>
              <a:t>Neighborhood:</a:t>
            </a:r>
          </a:p>
          <a:p>
            <a:r>
              <a:rPr lang="en-US" sz="1000" noProof="0" dirty="0">
                <a:solidFill>
                  <a:schemeClr val="tx1"/>
                </a:solidFill>
              </a:rPr>
              <a:t>Each cell has 8 neighbors (Moore neighborhood).</a:t>
            </a:r>
          </a:p>
        </p:txBody>
      </p:sp>
      <p:sp>
        <p:nvSpPr>
          <p:cNvPr id="4" name="Rechteck 3">
            <a:extLst>
              <a:ext uri="{FF2B5EF4-FFF2-40B4-BE49-F238E27FC236}">
                <a16:creationId xmlns:a16="http://schemas.microsoft.com/office/drawing/2014/main" id="{7C585652-AAED-7A68-0B19-182504206F75}"/>
              </a:ext>
            </a:extLst>
          </p:cNvPr>
          <p:cNvSpPr/>
          <p:nvPr/>
        </p:nvSpPr>
        <p:spPr>
          <a:xfrm>
            <a:off x="3167844" y="1131590"/>
            <a:ext cx="2808312"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noProof="0" dirty="0">
                <a:solidFill>
                  <a:schemeClr val="tx1"/>
                </a:solidFill>
              </a:rPr>
              <a:t>Update rules for one time step:</a:t>
            </a:r>
          </a:p>
          <a:p>
            <a:pPr marL="171450" indent="-171450">
              <a:buFont typeface="Arial" panose="020B0604020202020204" pitchFamily="34" charset="0"/>
              <a:buChar char="•"/>
            </a:pPr>
            <a:r>
              <a:rPr lang="en-US" sz="1000" noProof="0" dirty="0">
                <a:solidFill>
                  <a:schemeClr val="tx1"/>
                </a:solidFill>
              </a:rPr>
              <a:t>If the current cell is RO:</a:t>
            </a:r>
          </a:p>
          <a:p>
            <a:pPr marL="358775" lvl="1" indent="-177800">
              <a:buFont typeface="Symbol" panose="05050102010706020507" pitchFamily="18" charset="2"/>
              <a:buChar char="-"/>
            </a:pPr>
            <a:r>
              <a:rPr lang="en-US" sz="1000" noProof="0" dirty="0">
                <a:solidFill>
                  <a:schemeClr val="tx1"/>
                </a:solidFill>
              </a:rPr>
              <a:t>if all 8 neighbors are RO, the new state is RO with probability 1</a:t>
            </a:r>
          </a:p>
          <a:p>
            <a:pPr marL="358775" lvl="1" indent="-177800">
              <a:buFont typeface="Symbol" panose="05050102010706020507" pitchFamily="18" charset="2"/>
              <a:buChar char="-"/>
            </a:pPr>
            <a:r>
              <a:rPr lang="en-US" sz="1000" noProof="0" dirty="0">
                <a:solidFill>
                  <a:schemeClr val="tx1"/>
                </a:solidFill>
              </a:rPr>
              <a:t>otherwise, the new state is:</a:t>
            </a:r>
          </a:p>
          <a:p>
            <a:pPr marL="628650" lvl="1" indent="-171450">
              <a:buFont typeface="+mj-lt"/>
              <a:buAutoNum type="romanLcPeriod"/>
            </a:pPr>
            <a:r>
              <a:rPr lang="en-US" sz="1000" noProof="0" dirty="0">
                <a:solidFill>
                  <a:schemeClr val="tx1"/>
                </a:solidFill>
              </a:rPr>
              <a:t>RO with probability 0.50</a:t>
            </a:r>
          </a:p>
          <a:p>
            <a:pPr marL="628650" lvl="1" indent="-171450">
              <a:buFont typeface="+mj-lt"/>
              <a:buAutoNum type="romanLcPeriod"/>
            </a:pPr>
            <a:r>
              <a:rPr lang="en-US" sz="1000" noProof="0" dirty="0">
                <a:solidFill>
                  <a:schemeClr val="tx1"/>
                </a:solidFill>
              </a:rPr>
              <a:t>HI with probability 0.50</a:t>
            </a:r>
          </a:p>
          <a:p>
            <a:pPr marL="171450" indent="-171450">
              <a:buFont typeface="Arial" panose="020B0604020202020204" pitchFamily="34" charset="0"/>
              <a:buChar char="•"/>
            </a:pPr>
            <a:r>
              <a:rPr lang="en-US" sz="1000" noProof="0" dirty="0">
                <a:solidFill>
                  <a:schemeClr val="tx1"/>
                </a:solidFill>
              </a:rPr>
              <a:t>If the current cell is HI:</a:t>
            </a:r>
          </a:p>
          <a:p>
            <a:pPr marL="358775" lvl="1" indent="-177800">
              <a:buFont typeface="Symbol" panose="05050102010706020507" pitchFamily="18" charset="2"/>
              <a:buChar char="-"/>
            </a:pPr>
            <a:r>
              <a:rPr lang="en-US" sz="1000" noProof="0" dirty="0">
                <a:solidFill>
                  <a:schemeClr val="tx1"/>
                </a:solidFill>
              </a:rPr>
              <a:t>if all 8 neighbors are HI, the new state is HI with probability 1</a:t>
            </a:r>
          </a:p>
          <a:p>
            <a:pPr marL="358775" lvl="1" indent="-177800">
              <a:buFont typeface="Symbol" panose="05050102010706020507" pitchFamily="18" charset="2"/>
              <a:buChar char="-"/>
            </a:pPr>
            <a:r>
              <a:rPr lang="en-US" sz="1000" noProof="0" dirty="0">
                <a:solidFill>
                  <a:schemeClr val="tx1"/>
                </a:solidFill>
              </a:rPr>
              <a:t>otherwise, the new state is:</a:t>
            </a:r>
          </a:p>
          <a:p>
            <a:pPr marL="628650" lvl="1" indent="-171450">
              <a:buFont typeface="+mj-lt"/>
              <a:buAutoNum type="romanLcPeriod"/>
            </a:pPr>
            <a:r>
              <a:rPr lang="en-US" sz="1000" noProof="0" dirty="0">
                <a:solidFill>
                  <a:schemeClr val="tx1"/>
                </a:solidFill>
              </a:rPr>
              <a:t>RO with probability 0.74</a:t>
            </a:r>
          </a:p>
          <a:p>
            <a:pPr marL="628650" lvl="1" indent="-171450">
              <a:buFont typeface="+mj-lt"/>
              <a:buAutoNum type="romanLcPeriod"/>
            </a:pPr>
            <a:r>
              <a:rPr lang="en-US" sz="1000" noProof="0" dirty="0">
                <a:solidFill>
                  <a:schemeClr val="tx1"/>
                </a:solidFill>
              </a:rPr>
              <a:t>HI with probability 0.26</a:t>
            </a:r>
          </a:p>
          <a:p>
            <a:pPr lvl="1"/>
            <a:endParaRPr lang="en-US" sz="1000" noProof="0" dirty="0">
              <a:solidFill>
                <a:schemeClr val="tx1"/>
              </a:solidFill>
            </a:endParaRPr>
          </a:p>
          <a:p>
            <a:r>
              <a:rPr lang="en-US" sz="1000" b="1" noProof="0" dirty="0">
                <a:solidFill>
                  <a:schemeClr val="tx1"/>
                </a:solidFill>
              </a:rPr>
              <a:t>Technical requirements:</a:t>
            </a:r>
          </a:p>
          <a:p>
            <a:pPr marL="171450" indent="-171450">
              <a:buFont typeface="Arial" panose="020B0604020202020204" pitchFamily="34" charset="0"/>
              <a:buChar char="•"/>
            </a:pPr>
            <a:r>
              <a:rPr lang="en-US" sz="1000" noProof="0" dirty="0">
                <a:solidFill>
                  <a:schemeClr val="tx1"/>
                </a:solidFill>
              </a:rPr>
              <a:t>Update “initialization.py” to generate the two-plantation initial lattice.</a:t>
            </a:r>
          </a:p>
          <a:p>
            <a:pPr marL="171450" indent="-171450">
              <a:buFont typeface="Arial" panose="020B0604020202020204" pitchFamily="34" charset="0"/>
              <a:buChar char="•"/>
            </a:pPr>
            <a:r>
              <a:rPr lang="en-US" sz="1000" noProof="0" dirty="0">
                <a:solidFill>
                  <a:schemeClr val="tx1"/>
                </a:solidFill>
              </a:rPr>
              <a:t>Update “dynamics.py” to:</a:t>
            </a:r>
          </a:p>
          <a:p>
            <a:pPr marL="358775" lvl="1" indent="-177800">
              <a:buFont typeface="Symbol" panose="05050102010706020507" pitchFamily="18" charset="2"/>
              <a:buChar char="-"/>
            </a:pPr>
            <a:r>
              <a:rPr lang="en-US" sz="1000" noProof="0" dirty="0">
                <a:solidFill>
                  <a:schemeClr val="tx1"/>
                </a:solidFill>
              </a:rPr>
              <a:t>compute the Moore neighborhood of each cell</a:t>
            </a:r>
          </a:p>
          <a:p>
            <a:pPr marL="358775" lvl="1" indent="-177800">
              <a:buFont typeface="Symbol" panose="05050102010706020507" pitchFamily="18" charset="2"/>
              <a:buChar char="-"/>
            </a:pPr>
            <a:r>
              <a:rPr lang="en-US" sz="1000" noProof="0" dirty="0">
                <a:solidFill>
                  <a:schemeClr val="tx1"/>
                </a:solidFill>
              </a:rPr>
              <a:t>apply the new replacement rule</a:t>
            </a:r>
          </a:p>
          <a:p>
            <a:pPr marL="358775" lvl="1" indent="-177800">
              <a:buFont typeface="Symbol" panose="05050102010706020507" pitchFamily="18" charset="2"/>
              <a:buChar char="-"/>
            </a:pPr>
            <a:r>
              <a:rPr lang="en-US" sz="1000" noProof="0" dirty="0">
                <a:solidFill>
                  <a:schemeClr val="tx1"/>
                </a:solidFill>
              </a:rPr>
              <a:t>perform synchronous updating of the whole lattice</a:t>
            </a:r>
          </a:p>
          <a:p>
            <a:pPr marL="182563" indent="-182563">
              <a:buFont typeface="Arial" panose="020B0604020202020204" pitchFamily="34" charset="0"/>
              <a:buChar char="•"/>
            </a:pPr>
            <a:r>
              <a:rPr lang="en-US" sz="1000" noProof="0" dirty="0">
                <a:solidFill>
                  <a:schemeClr val="tx1"/>
                </a:solidFill>
              </a:rPr>
              <a:t>Document the chosen boundary condition clearly.</a:t>
            </a:r>
          </a:p>
        </p:txBody>
      </p:sp>
      <p:sp>
        <p:nvSpPr>
          <p:cNvPr id="5" name="Rechteck 4">
            <a:extLst>
              <a:ext uri="{FF2B5EF4-FFF2-40B4-BE49-F238E27FC236}">
                <a16:creationId xmlns:a16="http://schemas.microsoft.com/office/drawing/2014/main" id="{FEFC924A-3F9B-7D14-602A-8B8A066BF596}"/>
              </a:ext>
            </a:extLst>
          </p:cNvPr>
          <p:cNvSpPr/>
          <p:nvPr/>
        </p:nvSpPr>
        <p:spPr>
          <a:xfrm>
            <a:off x="6084168" y="1131590"/>
            <a:ext cx="2808312" cy="216024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000" noProof="0" dirty="0">
                <a:solidFill>
                  <a:schemeClr val="tx1"/>
                </a:solidFill>
              </a:rPr>
              <a:t>Keep “visualization.py” able to:</a:t>
            </a:r>
          </a:p>
          <a:p>
            <a:pPr marL="358775" lvl="1" indent="-177800">
              <a:buFont typeface="Symbol" panose="05050102010706020507" pitchFamily="18" charset="2"/>
              <a:buChar char="-"/>
            </a:pPr>
            <a:r>
              <a:rPr lang="en-US" sz="1000" noProof="0" dirty="0">
                <a:solidFill>
                  <a:schemeClr val="tx1"/>
                </a:solidFill>
              </a:rPr>
              <a:t>display the lattice over time with RO in red and HI in green</a:t>
            </a:r>
          </a:p>
          <a:p>
            <a:pPr marL="358775" lvl="1" indent="-177800">
              <a:buFont typeface="Symbol" panose="05050102010706020507" pitchFamily="18" charset="2"/>
              <a:buChar char="-"/>
            </a:pPr>
            <a:r>
              <a:rPr lang="en-US" sz="1000" noProof="0" dirty="0">
                <a:solidFill>
                  <a:schemeClr val="tx1"/>
                </a:solidFill>
              </a:rPr>
              <a:t>plot the number of RO and HI cells versus time</a:t>
            </a:r>
          </a:p>
          <a:p>
            <a:pPr marL="171450" indent="-171450">
              <a:buFont typeface="Arial" panose="020B0604020202020204" pitchFamily="34" charset="0"/>
              <a:buChar char="•"/>
            </a:pPr>
            <a:r>
              <a:rPr lang="en-US" sz="1000" noProof="0" dirty="0">
                <a:solidFill>
                  <a:schemeClr val="tx1"/>
                </a:solidFill>
              </a:rPr>
              <a:t>Keep parameters such as N, T, random seed, and probabilities easy to change.</a:t>
            </a:r>
          </a:p>
          <a:p>
            <a:pPr marL="171450" indent="-171450">
              <a:buFont typeface="Arial" panose="020B0604020202020204" pitchFamily="34" charset="0"/>
              <a:buChar char="•"/>
            </a:pPr>
            <a:r>
              <a:rPr lang="en-US" sz="1000" noProof="0" dirty="0">
                <a:solidFill>
                  <a:schemeClr val="tx1"/>
                </a:solidFill>
              </a:rPr>
              <a:t>Use readable, well-commented code for teaching purposes.</a:t>
            </a:r>
          </a:p>
          <a:p>
            <a:pPr marL="171450" indent="-171450">
              <a:buFont typeface="Arial" panose="020B0604020202020204" pitchFamily="34" charset="0"/>
              <a:buChar char="•"/>
            </a:pPr>
            <a:r>
              <a:rPr lang="en-US" sz="1000" noProof="0" dirty="0">
                <a:solidFill>
                  <a:schemeClr val="tx1"/>
                </a:solidFill>
              </a:rPr>
              <a:t>Return the full updated code file by file.</a:t>
            </a:r>
          </a:p>
          <a:p>
            <a:pPr marL="171450" indent="-171450">
              <a:buFont typeface="Arial" panose="020B0604020202020204" pitchFamily="34" charset="0"/>
              <a:buChar char="•"/>
            </a:pPr>
            <a:r>
              <a:rPr lang="en-US" sz="1000" noProof="0" dirty="0">
                <a:solidFill>
                  <a:schemeClr val="tx1"/>
                </a:solidFill>
              </a:rPr>
              <a:t>Briefly explain which functions were added or modified.</a:t>
            </a:r>
          </a:p>
          <a:p>
            <a:pPr marL="171450" indent="-171450">
              <a:buFont typeface="Arial" panose="020B0604020202020204" pitchFamily="34" charset="0"/>
              <a:buChar char="•"/>
            </a:pPr>
            <a:r>
              <a:rPr lang="en-US" sz="1000" noProof="0" dirty="0">
                <a:solidFill>
                  <a:schemeClr val="tx1"/>
                </a:solidFill>
              </a:rPr>
              <a:t>Document the changes</a:t>
            </a:r>
          </a:p>
        </p:txBody>
      </p:sp>
      <p:sp>
        <p:nvSpPr>
          <p:cNvPr id="6" name="Rechteck 5">
            <a:extLst>
              <a:ext uri="{FF2B5EF4-FFF2-40B4-BE49-F238E27FC236}">
                <a16:creationId xmlns:a16="http://schemas.microsoft.com/office/drawing/2014/main" id="{86215366-79DC-F1B5-9375-3083DCEF1617}"/>
              </a:ext>
            </a:extLst>
          </p:cNvPr>
          <p:cNvSpPr/>
          <p:nvPr/>
        </p:nvSpPr>
        <p:spPr>
          <a:xfrm>
            <a:off x="6084168" y="3435846"/>
            <a:ext cx="2808312" cy="158417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200" noProof="0" dirty="0">
                <a:solidFill>
                  <a:schemeClr val="tx1"/>
                </a:solidFill>
              </a:rPr>
              <a:t>When asking AI to modify a scientific program, one should not only describe the new biology but also specify which software structure must be preserved. </a:t>
            </a:r>
          </a:p>
          <a:p>
            <a:pPr algn="ctr">
              <a:spcAft>
                <a:spcPts val="600"/>
              </a:spcAft>
            </a:pPr>
            <a:r>
              <a:rPr lang="en-US" sz="1200" noProof="0" dirty="0">
                <a:solidFill>
                  <a:schemeClr val="tx1"/>
                </a:solidFill>
              </a:rPr>
              <a:t>Otherwise, the AI may solve the mathematical problem but destroy the program design.</a:t>
            </a:r>
          </a:p>
        </p:txBody>
      </p:sp>
    </p:spTree>
    <p:extLst>
      <p:ext uri="{BB962C8B-B14F-4D97-AF65-F5344CB8AC3E}">
        <p14:creationId xmlns:p14="http://schemas.microsoft.com/office/powerpoint/2010/main" val="2282755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CD5242-5F56-409A-2FA4-461F64D5F1F3}"/>
              </a:ext>
            </a:extLst>
          </p:cNvPr>
          <p:cNvSpPr>
            <a:spLocks noGrp="1"/>
          </p:cNvSpPr>
          <p:nvPr>
            <p:ph type="title"/>
          </p:nvPr>
        </p:nvSpPr>
        <p:spPr/>
        <p:txBody>
          <a:bodyPr/>
          <a:lstStyle/>
          <a:p>
            <a:r>
              <a:rPr lang="en-US" noProof="0" dirty="0"/>
              <a:t>Results:</a:t>
            </a:r>
            <a:br>
              <a:rPr lang="en-US" noProof="0" dirty="0"/>
            </a:br>
            <a:r>
              <a:rPr lang="en-US" noProof="0" dirty="0"/>
              <a:t>Time evolution for the forest mixing example (1/ 2)</a:t>
            </a:r>
          </a:p>
        </p:txBody>
      </p:sp>
      <p:sp>
        <p:nvSpPr>
          <p:cNvPr id="3" name="Textfeld 2">
            <a:extLst>
              <a:ext uri="{FF2B5EF4-FFF2-40B4-BE49-F238E27FC236}">
                <a16:creationId xmlns:a16="http://schemas.microsoft.com/office/drawing/2014/main" id="{A3F85295-E24A-1C33-519C-6C8E07642302}"/>
              </a:ext>
            </a:extLst>
          </p:cNvPr>
          <p:cNvSpPr txBox="1"/>
          <p:nvPr/>
        </p:nvSpPr>
        <p:spPr>
          <a:xfrm>
            <a:off x="251520" y="1131590"/>
            <a:ext cx="2880320" cy="3908762"/>
          </a:xfrm>
          <a:prstGeom prst="rect">
            <a:avLst/>
          </a:prstGeom>
          <a:solidFill>
            <a:schemeClr val="tx2">
              <a:lumMod val="20000"/>
              <a:lumOff val="80000"/>
            </a:schemeClr>
          </a:solidFill>
        </p:spPr>
        <p:txBody>
          <a:bodyPr wrap="square" rtlCol="0">
            <a:spAutoFit/>
          </a:bodyPr>
          <a:lstStyle/>
          <a:p>
            <a:r>
              <a:rPr lang="en-US" sz="800" noProof="0" dirty="0">
                <a:latin typeface="Courier New" panose="02070309020205020404" pitchFamily="49" charset="0"/>
                <a:cs typeface="Courier New" panose="02070309020205020404" pitchFamily="49" charset="0"/>
              </a:rPr>
              <a:t>============================================STOCHASTIC FOREST MODEL SIMULATION</a:t>
            </a:r>
          </a:p>
          <a:p>
            <a:r>
              <a:rPr lang="en-US" sz="800" noProof="0" dirty="0">
                <a:latin typeface="Courier New" panose="02070309020205020404" pitchFamily="49" charset="0"/>
                <a:cs typeface="Courier New" panose="02070309020205020404" pitchFamily="49" charset="0"/>
              </a:rPr>
              <a:t>============================================Lattice size: 100 x 100</a:t>
            </a:r>
          </a:p>
          <a:p>
            <a:r>
              <a:rPr lang="en-US" sz="800" noProof="0" dirty="0">
                <a:latin typeface="Courier New" panose="02070309020205020404" pitchFamily="49" charset="0"/>
                <a:cs typeface="Courier New" panose="02070309020205020404" pitchFamily="49" charset="0"/>
              </a:rPr>
              <a:t>Time steps: 200</a:t>
            </a:r>
          </a:p>
          <a:p>
            <a:r>
              <a:rPr lang="en-US" sz="800" noProof="0" dirty="0">
                <a:latin typeface="Courier New" panose="02070309020205020404" pitchFamily="49" charset="0"/>
                <a:cs typeface="Courier New" panose="02070309020205020404" pitchFamily="49" charset="0"/>
              </a:rPr>
              <a:t>Random seed: 42</a:t>
            </a:r>
          </a:p>
          <a:p>
            <a:r>
              <a:rPr lang="en-US" sz="800" noProof="0" dirty="0">
                <a:latin typeface="Courier New" panose="02070309020205020404" pitchFamily="49" charset="0"/>
                <a:cs typeface="Courier New" panose="02070309020205020404" pitchFamily="49" charset="0"/>
              </a:rPr>
              <a:t>Boundary condition: torus topology</a:t>
            </a:r>
          </a:p>
          <a:p>
            <a:r>
              <a:rPr lang="en-US" sz="800" noProof="0" dirty="0">
                <a:latin typeface="Courier New" panose="02070309020205020404" pitchFamily="49" charset="0"/>
                <a:cs typeface="Courier New" panose="02070309020205020404" pitchFamily="49" charset="0"/>
              </a:rPr>
              <a:t>Neighborhood: Moore (8 cells)</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Initial condition: Two-plantation setup</a:t>
            </a:r>
          </a:p>
          <a:p>
            <a:r>
              <a:rPr lang="en-US" sz="800" noProof="0" dirty="0">
                <a:latin typeface="Courier New" panose="02070309020205020404" pitchFamily="49" charset="0"/>
                <a:cs typeface="Courier New" panose="02070309020205020404" pitchFamily="49" charset="0"/>
              </a:rPr>
              <a:t>  Upper half (rows 0-49): Hickory (HI) only</a:t>
            </a:r>
          </a:p>
          <a:p>
            <a:r>
              <a:rPr lang="en-US" sz="800" noProof="0" dirty="0">
                <a:latin typeface="Courier New" panose="02070309020205020404" pitchFamily="49" charset="0"/>
                <a:cs typeface="Courier New" panose="02070309020205020404" pitchFamily="49" charset="0"/>
              </a:rPr>
              <a:t>  Lower half (rows 50-99): Red Oak (RO) only</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============================================SIMULATION STATISTICS</a:t>
            </a:r>
          </a:p>
          <a:p>
            <a:r>
              <a:rPr lang="en-US" sz="800" noProof="0" dirty="0">
                <a:latin typeface="Courier New" panose="02070309020205020404" pitchFamily="49" charset="0"/>
                <a:cs typeface="Courier New" panose="02070309020205020404" pitchFamily="49" charset="0"/>
              </a:rPr>
              <a:t>============================================Total cells: 10000</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Initial state:</a:t>
            </a:r>
          </a:p>
          <a:p>
            <a:r>
              <a:rPr lang="en-US" sz="800" noProof="0" dirty="0">
                <a:latin typeface="Courier New" panose="02070309020205020404" pitchFamily="49" charset="0"/>
                <a:cs typeface="Courier New" panose="02070309020205020404" pitchFamily="49" charset="0"/>
              </a:rPr>
              <a:t>  Red Oak (RO):   5000 trees (50.00%)</a:t>
            </a:r>
          </a:p>
          <a:p>
            <a:r>
              <a:rPr lang="en-US" sz="800" noProof="0" dirty="0">
                <a:latin typeface="Courier New" panose="02070309020205020404" pitchFamily="49" charset="0"/>
                <a:cs typeface="Courier New" panose="02070309020205020404" pitchFamily="49" charset="0"/>
              </a:rPr>
              <a:t>  Hickory (HI):   5000 trees (50.00%)</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Final state:</a:t>
            </a:r>
          </a:p>
          <a:p>
            <a:r>
              <a:rPr lang="en-US" sz="800" noProof="0" dirty="0">
                <a:latin typeface="Courier New" panose="02070309020205020404" pitchFamily="49" charset="0"/>
                <a:cs typeface="Courier New" panose="02070309020205020404" pitchFamily="49" charset="0"/>
              </a:rPr>
              <a:t>  Red Oak (RO):   5975 trees (59.75%)</a:t>
            </a:r>
          </a:p>
          <a:p>
            <a:r>
              <a:rPr lang="en-US" sz="800" noProof="0" dirty="0">
                <a:latin typeface="Courier New" panose="02070309020205020404" pitchFamily="49" charset="0"/>
                <a:cs typeface="Courier New" panose="02070309020205020404" pitchFamily="49" charset="0"/>
              </a:rPr>
              <a:t>  Hickory (HI):   4025 trees (40.25%)</a:t>
            </a:r>
          </a:p>
          <a:p>
            <a:endParaRPr lang="en-US" sz="800" noProof="0" dirty="0">
              <a:latin typeface="Courier New" panose="02070309020205020404" pitchFamily="49" charset="0"/>
              <a:cs typeface="Courier New" panose="02070309020205020404" pitchFamily="49" charset="0"/>
            </a:endParaRPr>
          </a:p>
          <a:p>
            <a:r>
              <a:rPr lang="en-US" sz="800" noProof="0" dirty="0">
                <a:latin typeface="Courier New" panose="02070309020205020404" pitchFamily="49" charset="0"/>
                <a:cs typeface="Courier New" panose="02070309020205020404" pitchFamily="49" charset="0"/>
              </a:rPr>
              <a:t>Change:</a:t>
            </a:r>
          </a:p>
          <a:p>
            <a:r>
              <a:rPr lang="en-US" sz="800" noProof="0" dirty="0">
                <a:latin typeface="Courier New" panose="02070309020205020404" pitchFamily="49" charset="0"/>
                <a:cs typeface="Courier New" panose="02070309020205020404" pitchFamily="49" charset="0"/>
              </a:rPr>
              <a:t>  Red Oak (RO):    +975 trees ( +9.75%)</a:t>
            </a:r>
          </a:p>
          <a:p>
            <a:r>
              <a:rPr lang="en-US" sz="800" noProof="0" dirty="0">
                <a:latin typeface="Courier New" panose="02070309020205020404" pitchFamily="49" charset="0"/>
                <a:cs typeface="Courier New" panose="02070309020205020404" pitchFamily="49" charset="0"/>
              </a:rPr>
              <a:t>  Hickory (HI):    -975 trees ( -9.75%)</a:t>
            </a:r>
          </a:p>
          <a:p>
            <a:r>
              <a:rPr lang="en-US" sz="800" noProof="0" dirty="0">
                <a:latin typeface="Courier New" panose="02070309020205020404" pitchFamily="49" charset="0"/>
                <a:cs typeface="Courier New" panose="02070309020205020404" pitchFamily="49" charset="0"/>
              </a:rPr>
              <a:t>============================================</a:t>
            </a:r>
          </a:p>
        </p:txBody>
      </p:sp>
      <p:pic>
        <p:nvPicPr>
          <p:cNvPr id="11" name="Grafik 10">
            <a:extLst>
              <a:ext uri="{FF2B5EF4-FFF2-40B4-BE49-F238E27FC236}">
                <a16:creationId xmlns:a16="http://schemas.microsoft.com/office/drawing/2014/main" id="{CF89999E-CD3C-F023-922D-12313084492C}"/>
              </a:ext>
            </a:extLst>
          </p:cNvPr>
          <p:cNvPicPr>
            <a:picLocks noChangeAspect="1"/>
          </p:cNvPicPr>
          <p:nvPr/>
        </p:nvPicPr>
        <p:blipFill>
          <a:blip r:embed="rId2" cstate="print">
            <a:extLst>
              <a:ext uri="{28A0092B-C50C-407E-A947-70E740481C1C}">
                <a14:useLocalDpi xmlns:a14="http://schemas.microsoft.com/office/drawing/2010/main" val="0"/>
              </a:ext>
            </a:extLst>
          </a:blip>
          <a:srcRect t="6639" r="22214" b="7050"/>
          <a:stretch>
            <a:fillRect/>
          </a:stretch>
        </p:blipFill>
        <p:spPr>
          <a:xfrm>
            <a:off x="3563888" y="1059582"/>
            <a:ext cx="2520280" cy="2808312"/>
          </a:xfrm>
          <a:prstGeom prst="rect">
            <a:avLst/>
          </a:prstGeom>
        </p:spPr>
      </p:pic>
      <p:pic>
        <p:nvPicPr>
          <p:cNvPr id="7" name="Grafik 6">
            <a:extLst>
              <a:ext uri="{FF2B5EF4-FFF2-40B4-BE49-F238E27FC236}">
                <a16:creationId xmlns:a16="http://schemas.microsoft.com/office/drawing/2014/main" id="{5034DF33-B660-AB41-25E9-40E2F9781D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1834926"/>
            <a:ext cx="3240000" cy="3253729"/>
          </a:xfrm>
          <a:prstGeom prst="rect">
            <a:avLst/>
          </a:prstGeom>
        </p:spPr>
      </p:pic>
      <p:sp>
        <p:nvSpPr>
          <p:cNvPr id="6" name="Freeform 37">
            <a:extLst>
              <a:ext uri="{FF2B5EF4-FFF2-40B4-BE49-F238E27FC236}">
                <a16:creationId xmlns:a16="http://schemas.microsoft.com/office/drawing/2014/main" id="{8C2C16FD-88F1-15EA-85E0-D74200E14838}"/>
              </a:ext>
            </a:extLst>
          </p:cNvPr>
          <p:cNvSpPr>
            <a:spLocks/>
          </p:cNvSpPr>
          <p:nvPr/>
        </p:nvSpPr>
        <p:spPr bwMode="auto">
          <a:xfrm rot="17542969" flipH="1">
            <a:off x="5146235" y="2458480"/>
            <a:ext cx="1041132" cy="1939250"/>
          </a:xfrm>
          <a:custGeom>
            <a:avLst/>
            <a:gdLst>
              <a:gd name="T0" fmla="*/ 75 w 1149"/>
              <a:gd name="T1" fmla="*/ 36 h 2226"/>
              <a:gd name="T2" fmla="*/ 174 w 1149"/>
              <a:gd name="T3" fmla="*/ 87 h 2226"/>
              <a:gd name="T4" fmla="*/ 285 w 1149"/>
              <a:gd name="T5" fmla="*/ 162 h 2226"/>
              <a:gd name="T6" fmla="*/ 417 w 1149"/>
              <a:gd name="T7" fmla="*/ 282 h 2226"/>
              <a:gd name="T8" fmla="*/ 513 w 1149"/>
              <a:gd name="T9" fmla="*/ 405 h 2226"/>
              <a:gd name="T10" fmla="*/ 591 w 1149"/>
              <a:gd name="T11" fmla="*/ 528 h 2226"/>
              <a:gd name="T12" fmla="*/ 657 w 1149"/>
              <a:gd name="T13" fmla="*/ 666 h 2226"/>
              <a:gd name="T14" fmla="*/ 717 w 1149"/>
              <a:gd name="T15" fmla="*/ 813 h 2226"/>
              <a:gd name="T16" fmla="*/ 762 w 1149"/>
              <a:gd name="T17" fmla="*/ 969 h 2226"/>
              <a:gd name="T18" fmla="*/ 792 w 1149"/>
              <a:gd name="T19" fmla="*/ 1149 h 2226"/>
              <a:gd name="T20" fmla="*/ 813 w 1149"/>
              <a:gd name="T21" fmla="*/ 1332 h 2226"/>
              <a:gd name="T22" fmla="*/ 813 w 1149"/>
              <a:gd name="T23" fmla="*/ 1479 h 2226"/>
              <a:gd name="T24" fmla="*/ 804 w 1149"/>
              <a:gd name="T25" fmla="*/ 1635 h 2226"/>
              <a:gd name="T26" fmla="*/ 780 w 1149"/>
              <a:gd name="T27" fmla="*/ 1785 h 2226"/>
              <a:gd name="T28" fmla="*/ 591 w 1149"/>
              <a:gd name="T29" fmla="*/ 1830 h 2226"/>
              <a:gd name="T30" fmla="*/ 1149 w 1149"/>
              <a:gd name="T31" fmla="*/ 1971 h 2226"/>
              <a:gd name="T32" fmla="*/ 1008 w 1149"/>
              <a:gd name="T33" fmla="*/ 1869 h 2226"/>
              <a:gd name="T34" fmla="*/ 1038 w 1149"/>
              <a:gd name="T35" fmla="*/ 1716 h 2226"/>
              <a:gd name="T36" fmla="*/ 1050 w 1149"/>
              <a:gd name="T37" fmla="*/ 1566 h 2226"/>
              <a:gd name="T38" fmla="*/ 1053 w 1149"/>
              <a:gd name="T39" fmla="*/ 1395 h 2226"/>
              <a:gd name="T40" fmla="*/ 1035 w 1149"/>
              <a:gd name="T41" fmla="*/ 1206 h 2226"/>
              <a:gd name="T42" fmla="*/ 1005 w 1149"/>
              <a:gd name="T43" fmla="*/ 1050 h 2226"/>
              <a:gd name="T44" fmla="*/ 963 w 1149"/>
              <a:gd name="T45" fmla="*/ 900 h 2226"/>
              <a:gd name="T46" fmla="*/ 912 w 1149"/>
              <a:gd name="T47" fmla="*/ 762 h 2226"/>
              <a:gd name="T48" fmla="*/ 837 w 1149"/>
              <a:gd name="T49" fmla="*/ 603 h 2226"/>
              <a:gd name="T50" fmla="*/ 750 w 1149"/>
              <a:gd name="T51" fmla="*/ 462 h 2226"/>
              <a:gd name="T52" fmla="*/ 669 w 1149"/>
              <a:gd name="T53" fmla="*/ 363 h 2226"/>
              <a:gd name="T54" fmla="*/ 558 w 1149"/>
              <a:gd name="T55" fmla="*/ 249 h 2226"/>
              <a:gd name="T56" fmla="*/ 433 w 1149"/>
              <a:gd name="T57" fmla="*/ 157 h 2226"/>
              <a:gd name="T58" fmla="*/ 297 w 1149"/>
              <a:gd name="T59" fmla="*/ 81 h 2226"/>
              <a:gd name="T60" fmla="*/ 153 w 1149"/>
              <a:gd name="T61" fmla="*/ 24 h 2226"/>
              <a:gd name="T62" fmla="*/ 0 w 1149"/>
              <a:gd name="T63" fmla="*/ 0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9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spTree>
    <p:extLst>
      <p:ext uri="{BB962C8B-B14F-4D97-AF65-F5344CB8AC3E}">
        <p14:creationId xmlns:p14="http://schemas.microsoft.com/office/powerpoint/2010/main" val="442945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8D7B-A379-AB1E-B838-FC70E632F559}"/>
            </a:ext>
          </a:extLst>
        </p:cNvPr>
        <p:cNvGrpSpPr/>
        <p:nvPr/>
      </p:nvGrpSpPr>
      <p:grpSpPr>
        <a:xfrm>
          <a:off x="0" y="0"/>
          <a:ext cx="0" cy="0"/>
          <a:chOff x="0" y="0"/>
          <a:chExt cx="0" cy="0"/>
        </a:xfrm>
      </p:grpSpPr>
      <p:pic>
        <p:nvPicPr>
          <p:cNvPr id="12" name="Grafik 11">
            <a:extLst>
              <a:ext uri="{FF2B5EF4-FFF2-40B4-BE49-F238E27FC236}">
                <a16:creationId xmlns:a16="http://schemas.microsoft.com/office/drawing/2014/main" id="{B73A413E-E79F-A69E-8EA3-2183838E2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491630"/>
            <a:ext cx="3569704" cy="3569704"/>
          </a:xfrm>
          <a:prstGeom prst="rect">
            <a:avLst/>
          </a:prstGeom>
        </p:spPr>
      </p:pic>
      <p:sp>
        <p:nvSpPr>
          <p:cNvPr id="2" name="Titel 1">
            <a:extLst>
              <a:ext uri="{FF2B5EF4-FFF2-40B4-BE49-F238E27FC236}">
                <a16:creationId xmlns:a16="http://schemas.microsoft.com/office/drawing/2014/main" id="{1977BFA9-DF1E-9DA5-06D4-53BB7B3ABBC3}"/>
              </a:ext>
            </a:extLst>
          </p:cNvPr>
          <p:cNvSpPr>
            <a:spLocks noGrp="1"/>
          </p:cNvSpPr>
          <p:nvPr>
            <p:ph type="title"/>
          </p:nvPr>
        </p:nvSpPr>
        <p:spPr/>
        <p:txBody>
          <a:bodyPr/>
          <a:lstStyle/>
          <a:p>
            <a:r>
              <a:rPr lang="en-US" noProof="0" dirty="0"/>
              <a:t>Results:</a:t>
            </a:r>
            <a:br>
              <a:rPr lang="en-US" noProof="0" dirty="0"/>
            </a:br>
            <a:r>
              <a:rPr lang="en-US" noProof="0" dirty="0"/>
              <a:t>Time evolution for the forest mixing example (2/ 2)</a:t>
            </a:r>
          </a:p>
        </p:txBody>
      </p:sp>
      <p:sp>
        <p:nvSpPr>
          <p:cNvPr id="3" name="Rechteck 2">
            <a:extLst>
              <a:ext uri="{FF2B5EF4-FFF2-40B4-BE49-F238E27FC236}">
                <a16:creationId xmlns:a16="http://schemas.microsoft.com/office/drawing/2014/main" id="{E80787A2-50BE-E04A-473C-C9C8489675B1}"/>
              </a:ext>
            </a:extLst>
          </p:cNvPr>
          <p:cNvSpPr/>
          <p:nvPr/>
        </p:nvSpPr>
        <p:spPr>
          <a:xfrm>
            <a:off x="3923929" y="1131590"/>
            <a:ext cx="4968552"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series</a:t>
            </a:r>
          </a:p>
        </p:txBody>
      </p:sp>
      <p:sp>
        <p:nvSpPr>
          <p:cNvPr id="4" name="Rechteck 3">
            <a:extLst>
              <a:ext uri="{FF2B5EF4-FFF2-40B4-BE49-F238E27FC236}">
                <a16:creationId xmlns:a16="http://schemas.microsoft.com/office/drawing/2014/main" id="{D3526092-E688-C3F3-1068-786F6C3AD63D}"/>
              </a:ext>
            </a:extLst>
          </p:cNvPr>
          <p:cNvSpPr/>
          <p:nvPr/>
        </p:nvSpPr>
        <p:spPr>
          <a:xfrm>
            <a:off x="251521" y="1131590"/>
            <a:ext cx="356970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Animation (200 steps)</a:t>
            </a:r>
          </a:p>
        </p:txBody>
      </p:sp>
      <p:sp>
        <p:nvSpPr>
          <p:cNvPr id="5" name="Rechteck 4">
            <a:extLst>
              <a:ext uri="{FF2B5EF4-FFF2-40B4-BE49-F238E27FC236}">
                <a16:creationId xmlns:a16="http://schemas.microsoft.com/office/drawing/2014/main" id="{959B35FE-2837-810A-9F45-AEE40081A409}"/>
              </a:ext>
            </a:extLst>
          </p:cNvPr>
          <p:cNvSpPr/>
          <p:nvPr/>
        </p:nvSpPr>
        <p:spPr>
          <a:xfrm>
            <a:off x="3923929" y="1491630"/>
            <a:ext cx="4968552" cy="356970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6" name="Rechteck 5">
            <a:extLst>
              <a:ext uri="{FF2B5EF4-FFF2-40B4-BE49-F238E27FC236}">
                <a16:creationId xmlns:a16="http://schemas.microsoft.com/office/drawing/2014/main" id="{754607F2-85E3-C032-690B-3776767D6AA0}"/>
              </a:ext>
            </a:extLst>
          </p:cNvPr>
          <p:cNvSpPr/>
          <p:nvPr/>
        </p:nvSpPr>
        <p:spPr>
          <a:xfrm>
            <a:off x="251520" y="1491630"/>
            <a:ext cx="3569704" cy="356970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pic>
        <p:nvPicPr>
          <p:cNvPr id="8" name="Grafik 7">
            <a:extLst>
              <a:ext uri="{FF2B5EF4-FFF2-40B4-BE49-F238E27FC236}">
                <a16:creationId xmlns:a16="http://schemas.microsoft.com/office/drawing/2014/main" id="{BE12E67E-E822-5ADA-E7DF-6045C2789B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5937" y="1563638"/>
            <a:ext cx="4824536" cy="2877166"/>
          </a:xfrm>
          <a:prstGeom prst="rect">
            <a:avLst/>
          </a:prstGeom>
        </p:spPr>
      </p:pic>
    </p:spTree>
    <p:extLst>
      <p:ext uri="{BB962C8B-B14F-4D97-AF65-F5344CB8AC3E}">
        <p14:creationId xmlns:p14="http://schemas.microsoft.com/office/powerpoint/2010/main" val="692511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EEBB6-E16E-FCA5-B1D0-BD1AB0B132CD}"/>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FDDC641B-A223-153E-70A4-DC7B139B989B}"/>
              </a:ext>
            </a:extLst>
          </p:cNvPr>
          <p:cNvSpPr/>
          <p:nvPr/>
        </p:nvSpPr>
        <p:spPr>
          <a:xfrm>
            <a:off x="971600" y="2657826"/>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09B5583D-5BFA-6720-DC58-DCE81CC8BC3F}"/>
              </a:ext>
            </a:extLst>
          </p:cNvPr>
          <p:cNvSpPr txBox="1"/>
          <p:nvPr/>
        </p:nvSpPr>
        <p:spPr>
          <a:xfrm>
            <a:off x="971600" y="1131590"/>
            <a:ext cx="5137881" cy="1908215"/>
          </a:xfrm>
          <a:prstGeom prst="rect">
            <a:avLst/>
          </a:prstGeom>
          <a:noFill/>
        </p:spPr>
        <p:txBody>
          <a:bodyPr wrap="none" rtlCol="0">
            <a:spAutoFit/>
          </a:bodyPr>
          <a:lstStyle/>
          <a:p>
            <a:r>
              <a:rPr lang="en-US" b="1" noProof="0" dirty="0"/>
              <a:t>Topics</a:t>
            </a:r>
          </a:p>
          <a:p>
            <a:endParaRPr lang="en-US" sz="1000" noProof="0" dirty="0"/>
          </a:p>
          <a:p>
            <a:pPr lvl="1"/>
            <a:r>
              <a:rPr lang="en-US" noProof="0" dirty="0"/>
              <a:t>Administration: Details About the Group Project</a:t>
            </a:r>
          </a:p>
          <a:p>
            <a:pPr lvl="1"/>
            <a:endParaRPr lang="en-US" noProof="0" dirty="0"/>
          </a:p>
          <a:p>
            <a:pPr lvl="1"/>
            <a:r>
              <a:rPr lang="en-US" noProof="0" dirty="0"/>
              <a:t>Forest Rejuvenation Dynamics</a:t>
            </a:r>
          </a:p>
          <a:p>
            <a:pPr lvl="1"/>
            <a:endParaRPr lang="en-US" noProof="0" dirty="0"/>
          </a:p>
          <a:p>
            <a:pPr lvl="1"/>
            <a:r>
              <a:rPr lang="en-US" b="1" noProof="0" dirty="0"/>
              <a:t>Markovian Description of the Forest Dynamics</a:t>
            </a:r>
          </a:p>
        </p:txBody>
      </p:sp>
    </p:spTree>
    <p:extLst>
      <p:ext uri="{BB962C8B-B14F-4D97-AF65-F5344CB8AC3E}">
        <p14:creationId xmlns:p14="http://schemas.microsoft.com/office/powerpoint/2010/main" val="1895712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Grafik 80">
            <a:extLst>
              <a:ext uri="{FF2B5EF4-FFF2-40B4-BE49-F238E27FC236}">
                <a16:creationId xmlns:a16="http://schemas.microsoft.com/office/drawing/2014/main" id="{92399F64-9E8E-9225-DDB7-1EB258A5615F}"/>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491878" y="1203585"/>
            <a:ext cx="5318791" cy="3692043"/>
          </a:xfrm>
          <a:prstGeom prst="rect">
            <a:avLst/>
          </a:prstGeom>
          <a:noFill/>
          <a:ln/>
          <a:effectLst/>
        </p:spPr>
      </p:pic>
      <p:sp>
        <p:nvSpPr>
          <p:cNvPr id="2" name="Titel 1">
            <a:extLst>
              <a:ext uri="{FF2B5EF4-FFF2-40B4-BE49-F238E27FC236}">
                <a16:creationId xmlns:a16="http://schemas.microsoft.com/office/drawing/2014/main" id="{A8249B21-9728-EE6E-7744-CBAD3BD0EEF2}"/>
              </a:ext>
            </a:extLst>
          </p:cNvPr>
          <p:cNvSpPr>
            <a:spLocks noGrp="1"/>
          </p:cNvSpPr>
          <p:nvPr>
            <p:ph type="title"/>
          </p:nvPr>
        </p:nvSpPr>
        <p:spPr/>
        <p:txBody>
          <a:bodyPr/>
          <a:lstStyle/>
          <a:p>
            <a:r>
              <a:rPr lang="en-US" noProof="0" dirty="0"/>
              <a:t>The forest dynamics are governed by changes of the states of the lattice cells …</a:t>
            </a:r>
          </a:p>
        </p:txBody>
      </p:sp>
      <p:sp>
        <p:nvSpPr>
          <p:cNvPr id="3" name="Rechteck 2">
            <a:extLst>
              <a:ext uri="{FF2B5EF4-FFF2-40B4-BE49-F238E27FC236}">
                <a16:creationId xmlns:a16="http://schemas.microsoft.com/office/drawing/2014/main" id="{E7746759-35A5-2544-4EFA-335D9DBD033C}"/>
              </a:ext>
            </a:extLst>
          </p:cNvPr>
          <p:cNvSpPr/>
          <p:nvPr/>
        </p:nvSpPr>
        <p:spPr>
          <a:xfrm>
            <a:off x="3419872" y="1131590"/>
            <a:ext cx="5472608"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endParaRPr lang="en-US" sz="1400" noProof="0" dirty="0">
              <a:solidFill>
                <a:schemeClr val="tx1"/>
              </a:solidFill>
            </a:endParaRPr>
          </a:p>
        </p:txBody>
      </p:sp>
      <p:grpSp>
        <p:nvGrpSpPr>
          <p:cNvPr id="21" name="Gruppieren 20">
            <a:extLst>
              <a:ext uri="{FF2B5EF4-FFF2-40B4-BE49-F238E27FC236}">
                <a16:creationId xmlns:a16="http://schemas.microsoft.com/office/drawing/2014/main" id="{562C75BC-C67A-1584-5733-69AD52A611CC}"/>
              </a:ext>
            </a:extLst>
          </p:cNvPr>
          <p:cNvGrpSpPr/>
          <p:nvPr/>
        </p:nvGrpSpPr>
        <p:grpSpPr>
          <a:xfrm>
            <a:off x="251520" y="3147814"/>
            <a:ext cx="2880320" cy="1872208"/>
            <a:chOff x="251520" y="2571750"/>
            <a:chExt cx="2880320" cy="1872208"/>
          </a:xfrm>
        </p:grpSpPr>
        <p:sp>
          <p:nvSpPr>
            <p:cNvPr id="20" name="Freihandform: Form 19">
              <a:extLst>
                <a:ext uri="{FF2B5EF4-FFF2-40B4-BE49-F238E27FC236}">
                  <a16:creationId xmlns:a16="http://schemas.microsoft.com/office/drawing/2014/main" id="{B8E696E4-12DB-5E7A-BA18-1784CE65F1FB}"/>
                </a:ext>
              </a:extLst>
            </p:cNvPr>
            <p:cNvSpPr/>
            <p:nvPr/>
          </p:nvSpPr>
          <p:spPr>
            <a:xfrm>
              <a:off x="1526564" y="2722098"/>
              <a:ext cx="1047824" cy="752512"/>
            </a:xfrm>
            <a:custGeom>
              <a:avLst/>
              <a:gdLst>
                <a:gd name="csX0" fmla="*/ 232117 w 1062111"/>
                <a:gd name="csY0" fmla="*/ 175847 h 759656"/>
                <a:gd name="csX1" fmla="*/ 0 w 1062111"/>
                <a:gd name="csY1" fmla="*/ 759656 h 759656"/>
                <a:gd name="csX2" fmla="*/ 822960 w 1062111"/>
                <a:gd name="csY2" fmla="*/ 548640 h 759656"/>
                <a:gd name="csX3" fmla="*/ 1062111 w 1062111"/>
                <a:gd name="csY3" fmla="*/ 0 h 759656"/>
                <a:gd name="csX4" fmla="*/ 232117 w 1062111"/>
                <a:gd name="csY4" fmla="*/ 175847 h 759656"/>
                <a:gd name="csX0" fmla="*/ 251167 w 1062111"/>
                <a:gd name="csY0" fmla="*/ 190135 h 759656"/>
                <a:gd name="csX1" fmla="*/ 0 w 1062111"/>
                <a:gd name="csY1" fmla="*/ 759656 h 759656"/>
                <a:gd name="csX2" fmla="*/ 822960 w 1062111"/>
                <a:gd name="csY2" fmla="*/ 548640 h 759656"/>
                <a:gd name="csX3" fmla="*/ 1062111 w 1062111"/>
                <a:gd name="csY3" fmla="*/ 0 h 759656"/>
                <a:gd name="csX4" fmla="*/ 251167 w 1062111"/>
                <a:gd name="csY4" fmla="*/ 190135 h 759656"/>
                <a:gd name="csX0" fmla="*/ 227355 w 1038299"/>
                <a:gd name="csY0" fmla="*/ 190135 h 759656"/>
                <a:gd name="csX1" fmla="*/ 0 w 1038299"/>
                <a:gd name="csY1" fmla="*/ 759656 h 759656"/>
                <a:gd name="csX2" fmla="*/ 799148 w 1038299"/>
                <a:gd name="csY2" fmla="*/ 548640 h 759656"/>
                <a:gd name="csX3" fmla="*/ 1038299 w 1038299"/>
                <a:gd name="csY3" fmla="*/ 0 h 759656"/>
                <a:gd name="csX4" fmla="*/ 227355 w 1038299"/>
                <a:gd name="csY4" fmla="*/ 190135 h 759656"/>
                <a:gd name="csX0" fmla="*/ 236880 w 1047824"/>
                <a:gd name="csY0" fmla="*/ 190135 h 752512"/>
                <a:gd name="csX1" fmla="*/ 0 w 1047824"/>
                <a:gd name="csY1" fmla="*/ 752512 h 752512"/>
                <a:gd name="csX2" fmla="*/ 808673 w 1047824"/>
                <a:gd name="csY2" fmla="*/ 548640 h 752512"/>
                <a:gd name="csX3" fmla="*/ 1047824 w 1047824"/>
                <a:gd name="csY3" fmla="*/ 0 h 752512"/>
                <a:gd name="csX4" fmla="*/ 236880 w 1047824"/>
                <a:gd name="csY4" fmla="*/ 190135 h 752512"/>
              </a:gdLst>
              <a:ahLst/>
              <a:cxnLst>
                <a:cxn ang="0">
                  <a:pos x="csX0" y="csY0"/>
                </a:cxn>
                <a:cxn ang="0">
                  <a:pos x="csX1" y="csY1"/>
                </a:cxn>
                <a:cxn ang="0">
                  <a:pos x="csX2" y="csY2"/>
                </a:cxn>
                <a:cxn ang="0">
                  <a:pos x="csX3" y="csY3"/>
                </a:cxn>
                <a:cxn ang="0">
                  <a:pos x="csX4" y="csY4"/>
                </a:cxn>
              </a:cxnLst>
              <a:rect l="l" t="t" r="r" b="b"/>
              <a:pathLst>
                <a:path w="1047824" h="752512">
                  <a:moveTo>
                    <a:pt x="236880" y="190135"/>
                  </a:moveTo>
                  <a:lnTo>
                    <a:pt x="0" y="752512"/>
                  </a:lnTo>
                  <a:lnTo>
                    <a:pt x="808673" y="548640"/>
                  </a:lnTo>
                  <a:lnTo>
                    <a:pt x="1047824" y="0"/>
                  </a:lnTo>
                  <a:lnTo>
                    <a:pt x="236880" y="190135"/>
                  </a:lnTo>
                  <a:close/>
                </a:path>
              </a:pathLst>
            </a:cu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5" name="Gerader Verbinder 4">
              <a:extLst>
                <a:ext uri="{FF2B5EF4-FFF2-40B4-BE49-F238E27FC236}">
                  <a16:creationId xmlns:a16="http://schemas.microsoft.com/office/drawing/2014/main" id="{0625AD52-BDF8-B13E-565F-1C126D240450}"/>
                </a:ext>
              </a:extLst>
            </p:cNvPr>
            <p:cNvCxnSpPr>
              <a:cxnSpLocks/>
            </p:cNvCxnSpPr>
            <p:nvPr/>
          </p:nvCxnSpPr>
          <p:spPr>
            <a:xfrm flipV="1">
              <a:off x="251520" y="2571750"/>
              <a:ext cx="288032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Gerader Verbinder 7">
              <a:extLst>
                <a:ext uri="{FF2B5EF4-FFF2-40B4-BE49-F238E27FC236}">
                  <a16:creationId xmlns:a16="http://schemas.microsoft.com/office/drawing/2014/main" id="{5A461672-6C2C-7F8C-9092-97B3D40BD7E9}"/>
                </a:ext>
              </a:extLst>
            </p:cNvPr>
            <p:cNvCxnSpPr>
              <a:cxnSpLocks/>
            </p:cNvCxnSpPr>
            <p:nvPr/>
          </p:nvCxnSpPr>
          <p:spPr>
            <a:xfrm flipV="1">
              <a:off x="251520" y="3075806"/>
              <a:ext cx="288032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Gerader Verbinder 8">
              <a:extLst>
                <a:ext uri="{FF2B5EF4-FFF2-40B4-BE49-F238E27FC236}">
                  <a16:creationId xmlns:a16="http://schemas.microsoft.com/office/drawing/2014/main" id="{7F5E6C46-8074-D7AB-F74F-DD990F0FF658}"/>
                </a:ext>
              </a:extLst>
            </p:cNvPr>
            <p:cNvCxnSpPr>
              <a:cxnSpLocks/>
            </p:cNvCxnSpPr>
            <p:nvPr/>
          </p:nvCxnSpPr>
          <p:spPr>
            <a:xfrm flipV="1">
              <a:off x="251520" y="3579862"/>
              <a:ext cx="288032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Gerader Verbinder 10">
              <a:extLst>
                <a:ext uri="{FF2B5EF4-FFF2-40B4-BE49-F238E27FC236}">
                  <a16:creationId xmlns:a16="http://schemas.microsoft.com/office/drawing/2014/main" id="{C1C5A7BE-9CDE-F489-6B3C-9195941D8BA9}"/>
                </a:ext>
              </a:extLst>
            </p:cNvPr>
            <p:cNvCxnSpPr/>
            <p:nvPr/>
          </p:nvCxnSpPr>
          <p:spPr>
            <a:xfrm flipH="1">
              <a:off x="395536" y="2859782"/>
              <a:ext cx="648072" cy="158417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Gerader Verbinder 11">
              <a:extLst>
                <a:ext uri="{FF2B5EF4-FFF2-40B4-BE49-F238E27FC236}">
                  <a16:creationId xmlns:a16="http://schemas.microsoft.com/office/drawing/2014/main" id="{AD494D05-CCDF-3760-6AD1-EE6008D5930C}"/>
                </a:ext>
              </a:extLst>
            </p:cNvPr>
            <p:cNvCxnSpPr/>
            <p:nvPr/>
          </p:nvCxnSpPr>
          <p:spPr>
            <a:xfrm flipH="1">
              <a:off x="1187624" y="2715766"/>
              <a:ext cx="648072" cy="158417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r Verbinder 12">
              <a:extLst>
                <a:ext uri="{FF2B5EF4-FFF2-40B4-BE49-F238E27FC236}">
                  <a16:creationId xmlns:a16="http://schemas.microsoft.com/office/drawing/2014/main" id="{1FA1AA0F-CE3E-E26E-B12B-BA27B0F07AA1}"/>
                </a:ext>
              </a:extLst>
            </p:cNvPr>
            <p:cNvCxnSpPr/>
            <p:nvPr/>
          </p:nvCxnSpPr>
          <p:spPr>
            <a:xfrm flipH="1">
              <a:off x="1979712" y="2571750"/>
              <a:ext cx="648072" cy="158417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Gerader Verbinder 13">
              <a:extLst>
                <a:ext uri="{FF2B5EF4-FFF2-40B4-BE49-F238E27FC236}">
                  <a16:creationId xmlns:a16="http://schemas.microsoft.com/office/drawing/2014/main" id="{F3626A0C-0072-5CF9-ED27-8C92354FAC3E}"/>
                </a:ext>
              </a:extLst>
            </p:cNvPr>
            <p:cNvCxnSpPr>
              <a:cxnSpLocks/>
            </p:cNvCxnSpPr>
            <p:nvPr/>
          </p:nvCxnSpPr>
          <p:spPr>
            <a:xfrm flipH="1">
              <a:off x="2771800" y="3219822"/>
              <a:ext cx="342038" cy="792088"/>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3" name="Gerader Verbinder 22">
            <a:extLst>
              <a:ext uri="{FF2B5EF4-FFF2-40B4-BE49-F238E27FC236}">
                <a16:creationId xmlns:a16="http://schemas.microsoft.com/office/drawing/2014/main" id="{CDC9E61C-EB56-F3A0-B037-0CA32E4FEDC1}"/>
              </a:ext>
            </a:extLst>
          </p:cNvPr>
          <p:cNvCxnSpPr>
            <a:cxnSpLocks/>
          </p:cNvCxnSpPr>
          <p:nvPr/>
        </p:nvCxnSpPr>
        <p:spPr>
          <a:xfrm>
            <a:off x="251520" y="2715766"/>
            <a:ext cx="1512168" cy="958652"/>
          </a:xfrm>
          <a:prstGeom prst="line">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Gerader Verbinder 24">
            <a:extLst>
              <a:ext uri="{FF2B5EF4-FFF2-40B4-BE49-F238E27FC236}">
                <a16:creationId xmlns:a16="http://schemas.microsoft.com/office/drawing/2014/main" id="{2B0AA154-0A5E-C932-AF7D-94592F88767A}"/>
              </a:ext>
            </a:extLst>
          </p:cNvPr>
          <p:cNvCxnSpPr>
            <a:cxnSpLocks/>
          </p:cNvCxnSpPr>
          <p:nvPr/>
        </p:nvCxnSpPr>
        <p:spPr>
          <a:xfrm flipV="1">
            <a:off x="2303748" y="2715766"/>
            <a:ext cx="810090" cy="864096"/>
          </a:xfrm>
          <a:prstGeom prst="line">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7" name="Ellipse 26">
            <a:extLst>
              <a:ext uri="{FF2B5EF4-FFF2-40B4-BE49-F238E27FC236}">
                <a16:creationId xmlns:a16="http://schemas.microsoft.com/office/drawing/2014/main" id="{3242110C-CBDB-2320-0654-985723C77D45}"/>
              </a:ext>
            </a:extLst>
          </p:cNvPr>
          <p:cNvSpPr/>
          <p:nvPr/>
        </p:nvSpPr>
        <p:spPr>
          <a:xfrm>
            <a:off x="2465766" y="2002315"/>
            <a:ext cx="648072" cy="648072"/>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HI</a:t>
            </a:r>
          </a:p>
        </p:txBody>
      </p:sp>
      <p:sp>
        <p:nvSpPr>
          <p:cNvPr id="28" name="Ellipse 27">
            <a:extLst>
              <a:ext uri="{FF2B5EF4-FFF2-40B4-BE49-F238E27FC236}">
                <a16:creationId xmlns:a16="http://schemas.microsoft.com/office/drawing/2014/main" id="{BD8A6098-6E8E-2867-942A-427FC6146CB0}"/>
              </a:ext>
            </a:extLst>
          </p:cNvPr>
          <p:cNvSpPr/>
          <p:nvPr/>
        </p:nvSpPr>
        <p:spPr>
          <a:xfrm>
            <a:off x="276920" y="2002315"/>
            <a:ext cx="648072" cy="648072"/>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RO</a:t>
            </a:r>
          </a:p>
        </p:txBody>
      </p:sp>
      <p:sp>
        <p:nvSpPr>
          <p:cNvPr id="29" name="Textfeld 28">
            <a:extLst>
              <a:ext uri="{FF2B5EF4-FFF2-40B4-BE49-F238E27FC236}">
                <a16:creationId xmlns:a16="http://schemas.microsoft.com/office/drawing/2014/main" id="{BE3DE7AB-1A74-7D88-6B88-F3B8CC4211C2}"/>
              </a:ext>
            </a:extLst>
          </p:cNvPr>
          <p:cNvSpPr txBox="1"/>
          <p:nvPr/>
        </p:nvSpPr>
        <p:spPr>
          <a:xfrm>
            <a:off x="251520" y="1131590"/>
            <a:ext cx="2880320" cy="307777"/>
          </a:xfrm>
          <a:prstGeom prst="rect">
            <a:avLst/>
          </a:prstGeom>
          <a:solidFill>
            <a:schemeClr val="bg1">
              <a:lumMod val="95000"/>
            </a:schemeClr>
          </a:solidFill>
        </p:spPr>
        <p:txBody>
          <a:bodyPr wrap="square" rtlCol="0">
            <a:spAutoFit/>
          </a:bodyPr>
          <a:lstStyle/>
          <a:p>
            <a:r>
              <a:rPr lang="en-US" sz="1400" noProof="0" dirty="0"/>
              <a:t>state space per lattice cell</a:t>
            </a:r>
          </a:p>
        </p:txBody>
      </p:sp>
      <p:sp>
        <p:nvSpPr>
          <p:cNvPr id="30" name="Textfeld 29">
            <a:extLst>
              <a:ext uri="{FF2B5EF4-FFF2-40B4-BE49-F238E27FC236}">
                <a16:creationId xmlns:a16="http://schemas.microsoft.com/office/drawing/2014/main" id="{3038531E-D671-129D-B653-993F87B15D33}"/>
              </a:ext>
            </a:extLst>
          </p:cNvPr>
          <p:cNvSpPr txBox="1"/>
          <p:nvPr/>
        </p:nvSpPr>
        <p:spPr>
          <a:xfrm>
            <a:off x="1331639" y="4712245"/>
            <a:ext cx="1800201" cy="307777"/>
          </a:xfrm>
          <a:prstGeom prst="rect">
            <a:avLst/>
          </a:prstGeom>
          <a:solidFill>
            <a:schemeClr val="bg1">
              <a:lumMod val="95000"/>
            </a:schemeClr>
          </a:solidFill>
        </p:spPr>
        <p:txBody>
          <a:bodyPr wrap="square" rtlCol="0">
            <a:spAutoFit/>
          </a:bodyPr>
          <a:lstStyle/>
          <a:p>
            <a:pPr algn="r"/>
            <a:r>
              <a:rPr lang="en-US" sz="1400" noProof="0" dirty="0"/>
              <a:t>lattice space</a:t>
            </a:r>
          </a:p>
        </p:txBody>
      </p:sp>
      <p:pic>
        <p:nvPicPr>
          <p:cNvPr id="32" name="Grafik 31">
            <a:extLst>
              <a:ext uri="{FF2B5EF4-FFF2-40B4-BE49-F238E27FC236}">
                <a16:creationId xmlns:a16="http://schemas.microsoft.com/office/drawing/2014/main" id="{3E7299A6-7DD8-D9F3-2416-F56111E61EB7}"/>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65588" y="1559436"/>
            <a:ext cx="959840" cy="127065"/>
          </a:xfrm>
          <a:prstGeom prst="rect">
            <a:avLst/>
          </a:prstGeom>
        </p:spPr>
      </p:pic>
      <p:pic>
        <p:nvPicPr>
          <p:cNvPr id="35" name="Grafik 34">
            <a:extLst>
              <a:ext uri="{FF2B5EF4-FFF2-40B4-BE49-F238E27FC236}">
                <a16:creationId xmlns:a16="http://schemas.microsoft.com/office/drawing/2014/main" id="{902C50E8-6AF9-2B5F-3FCE-AD6E40326D32}"/>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250779" y="1973521"/>
            <a:ext cx="914600" cy="127355"/>
          </a:xfrm>
          <a:prstGeom prst="rect">
            <a:avLst/>
          </a:prstGeom>
        </p:spPr>
      </p:pic>
      <p:pic>
        <p:nvPicPr>
          <p:cNvPr id="71" name="Grafik 70">
            <a:extLst>
              <a:ext uri="{FF2B5EF4-FFF2-40B4-BE49-F238E27FC236}">
                <a16:creationId xmlns:a16="http://schemas.microsoft.com/office/drawing/2014/main" id="{E50A043F-8AFA-07F9-75C9-E4BD5D14B36C}"/>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2153820" y="1555564"/>
            <a:ext cx="949884" cy="127936"/>
          </a:xfrm>
          <a:prstGeom prst="rect">
            <a:avLst/>
          </a:prstGeom>
        </p:spPr>
      </p:pic>
      <p:pic>
        <p:nvPicPr>
          <p:cNvPr id="69" name="Grafik 68">
            <a:extLst>
              <a:ext uri="{FF2B5EF4-FFF2-40B4-BE49-F238E27FC236}">
                <a16:creationId xmlns:a16="http://schemas.microsoft.com/office/drawing/2014/main" id="{D233F24F-8B84-76C5-AC46-33D14A7F8F58}"/>
              </a:ext>
            </a:extLst>
          </p:cNvPr>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1235572" y="2551826"/>
            <a:ext cx="998769" cy="129150"/>
          </a:xfrm>
          <a:prstGeom prst="rect">
            <a:avLst/>
          </a:prstGeom>
        </p:spPr>
      </p:pic>
      <p:grpSp>
        <p:nvGrpSpPr>
          <p:cNvPr id="64" name="Gruppieren 63">
            <a:extLst>
              <a:ext uri="{FF2B5EF4-FFF2-40B4-BE49-F238E27FC236}">
                <a16:creationId xmlns:a16="http://schemas.microsoft.com/office/drawing/2014/main" id="{E01264E5-968C-5EE8-3A37-999AED3BCB4C}"/>
              </a:ext>
            </a:extLst>
          </p:cNvPr>
          <p:cNvGrpSpPr/>
          <p:nvPr/>
        </p:nvGrpSpPr>
        <p:grpSpPr>
          <a:xfrm>
            <a:off x="989454" y="2211710"/>
            <a:ext cx="1411850" cy="216024"/>
            <a:chOff x="997000" y="2211710"/>
            <a:chExt cx="1411850" cy="216024"/>
          </a:xfrm>
        </p:grpSpPr>
        <p:cxnSp>
          <p:nvCxnSpPr>
            <p:cNvPr id="43" name="Gerade Verbindung mit Pfeil 42">
              <a:extLst>
                <a:ext uri="{FF2B5EF4-FFF2-40B4-BE49-F238E27FC236}">
                  <a16:creationId xmlns:a16="http://schemas.microsoft.com/office/drawing/2014/main" id="{6044B480-D4FF-2863-2480-041265BA98C6}"/>
                </a:ext>
              </a:extLst>
            </p:cNvPr>
            <p:cNvCxnSpPr>
              <a:cxnSpLocks/>
            </p:cNvCxnSpPr>
            <p:nvPr/>
          </p:nvCxnSpPr>
          <p:spPr>
            <a:xfrm>
              <a:off x="997000" y="2211710"/>
              <a:ext cx="1411850" cy="0"/>
            </a:xfrm>
            <a:prstGeom prst="straightConnector1">
              <a:avLst/>
            </a:prstGeom>
            <a:solidFill>
              <a:schemeClr val="bg1">
                <a:lumMod val="95000"/>
              </a:schemeClr>
            </a:solidFill>
            <a:ln>
              <a:solidFill>
                <a:schemeClr val="tx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44" name="Gerade Verbindung mit Pfeil 43">
              <a:extLst>
                <a:ext uri="{FF2B5EF4-FFF2-40B4-BE49-F238E27FC236}">
                  <a16:creationId xmlns:a16="http://schemas.microsoft.com/office/drawing/2014/main" id="{F3299D47-5A08-604D-EE9E-30C7ACC23EE6}"/>
                </a:ext>
              </a:extLst>
            </p:cNvPr>
            <p:cNvCxnSpPr>
              <a:cxnSpLocks/>
            </p:cNvCxnSpPr>
            <p:nvPr/>
          </p:nvCxnSpPr>
          <p:spPr>
            <a:xfrm flipH="1">
              <a:off x="997000" y="2427734"/>
              <a:ext cx="1411850" cy="0"/>
            </a:xfrm>
            <a:prstGeom prst="straightConnector1">
              <a:avLst/>
            </a:prstGeom>
            <a:solidFill>
              <a:schemeClr val="bg1">
                <a:lumMod val="95000"/>
              </a:schemeClr>
            </a:solidFill>
            <a:ln>
              <a:solidFill>
                <a:schemeClr val="tx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grpSp>
      <p:grpSp>
        <p:nvGrpSpPr>
          <p:cNvPr id="57" name="Gruppieren 56">
            <a:extLst>
              <a:ext uri="{FF2B5EF4-FFF2-40B4-BE49-F238E27FC236}">
                <a16:creationId xmlns:a16="http://schemas.microsoft.com/office/drawing/2014/main" id="{2D555153-0AA9-A5A5-9AD0-1C2C7A4D6A87}"/>
              </a:ext>
            </a:extLst>
          </p:cNvPr>
          <p:cNvGrpSpPr/>
          <p:nvPr/>
        </p:nvGrpSpPr>
        <p:grpSpPr>
          <a:xfrm>
            <a:off x="2411760" y="1779662"/>
            <a:ext cx="720080" cy="317561"/>
            <a:chOff x="2411760" y="1779662"/>
            <a:chExt cx="720080" cy="317561"/>
          </a:xfrm>
        </p:grpSpPr>
        <p:cxnSp>
          <p:nvCxnSpPr>
            <p:cNvPr id="46" name="Gerader Verbinder 45">
              <a:extLst>
                <a:ext uri="{FF2B5EF4-FFF2-40B4-BE49-F238E27FC236}">
                  <a16:creationId xmlns:a16="http://schemas.microsoft.com/office/drawing/2014/main" id="{C9E1995E-9DEF-05F2-A6E7-973D31C64FD2}"/>
                </a:ext>
              </a:extLst>
            </p:cNvPr>
            <p:cNvCxnSpPr>
              <a:cxnSpLocks/>
            </p:cNvCxnSpPr>
            <p:nvPr/>
          </p:nvCxnSpPr>
          <p:spPr>
            <a:xfrm flipH="1" flipV="1">
              <a:off x="2411760" y="1923678"/>
              <a:ext cx="89312" cy="131794"/>
            </a:xfrm>
            <a:prstGeom prst="line">
              <a:avLst/>
            </a:prstGeom>
            <a:solidFill>
              <a:schemeClr val="bg1">
                <a:lumMod val="95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48" name="Gerader Verbinder 47">
              <a:extLst>
                <a:ext uri="{FF2B5EF4-FFF2-40B4-BE49-F238E27FC236}">
                  <a16:creationId xmlns:a16="http://schemas.microsoft.com/office/drawing/2014/main" id="{7084B3A7-86E8-8DB2-53F1-DBDA37B5F9EB}"/>
                </a:ext>
              </a:extLst>
            </p:cNvPr>
            <p:cNvCxnSpPr/>
            <p:nvPr/>
          </p:nvCxnSpPr>
          <p:spPr>
            <a:xfrm flipV="1">
              <a:off x="2411760" y="1779662"/>
              <a:ext cx="0" cy="144016"/>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50" name="Gerader Verbinder 49">
              <a:extLst>
                <a:ext uri="{FF2B5EF4-FFF2-40B4-BE49-F238E27FC236}">
                  <a16:creationId xmlns:a16="http://schemas.microsoft.com/office/drawing/2014/main" id="{10EEA850-42E5-7823-CE01-2B94AF851F69}"/>
                </a:ext>
              </a:extLst>
            </p:cNvPr>
            <p:cNvCxnSpPr/>
            <p:nvPr/>
          </p:nvCxnSpPr>
          <p:spPr>
            <a:xfrm>
              <a:off x="2411760" y="1779662"/>
              <a:ext cx="720080" cy="0"/>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52" name="Gerader Verbinder 51">
              <a:extLst>
                <a:ext uri="{FF2B5EF4-FFF2-40B4-BE49-F238E27FC236}">
                  <a16:creationId xmlns:a16="http://schemas.microsoft.com/office/drawing/2014/main" id="{791705AB-1D9F-E877-0E16-BA9C45985887}"/>
                </a:ext>
              </a:extLst>
            </p:cNvPr>
            <p:cNvCxnSpPr/>
            <p:nvPr/>
          </p:nvCxnSpPr>
          <p:spPr>
            <a:xfrm>
              <a:off x="3131840" y="1779662"/>
              <a:ext cx="0" cy="144016"/>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54" name="Gerader Verbinder 53">
              <a:extLst>
                <a:ext uri="{FF2B5EF4-FFF2-40B4-BE49-F238E27FC236}">
                  <a16:creationId xmlns:a16="http://schemas.microsoft.com/office/drawing/2014/main" id="{BE6AD1DD-94E8-B055-992D-CA8C858853CB}"/>
                </a:ext>
              </a:extLst>
            </p:cNvPr>
            <p:cNvCxnSpPr>
              <a:endCxn id="27" idx="7"/>
            </p:cNvCxnSpPr>
            <p:nvPr/>
          </p:nvCxnSpPr>
          <p:spPr>
            <a:xfrm flipH="1">
              <a:off x="3018930" y="1923678"/>
              <a:ext cx="112910" cy="173545"/>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58" name="Gruppieren 57">
            <a:extLst>
              <a:ext uri="{FF2B5EF4-FFF2-40B4-BE49-F238E27FC236}">
                <a16:creationId xmlns:a16="http://schemas.microsoft.com/office/drawing/2014/main" id="{27799464-B98E-6520-9C28-11FB9ED0736B}"/>
              </a:ext>
            </a:extLst>
          </p:cNvPr>
          <p:cNvGrpSpPr/>
          <p:nvPr/>
        </p:nvGrpSpPr>
        <p:grpSpPr>
          <a:xfrm flipH="1">
            <a:off x="251520" y="1779662"/>
            <a:ext cx="720080" cy="317561"/>
            <a:chOff x="2411760" y="1779662"/>
            <a:chExt cx="720080" cy="317561"/>
          </a:xfrm>
        </p:grpSpPr>
        <p:cxnSp>
          <p:nvCxnSpPr>
            <p:cNvPr id="59" name="Gerader Verbinder 58">
              <a:extLst>
                <a:ext uri="{FF2B5EF4-FFF2-40B4-BE49-F238E27FC236}">
                  <a16:creationId xmlns:a16="http://schemas.microsoft.com/office/drawing/2014/main" id="{7CB42932-6DF8-1603-613A-606917772BEA}"/>
                </a:ext>
              </a:extLst>
            </p:cNvPr>
            <p:cNvCxnSpPr>
              <a:cxnSpLocks/>
            </p:cNvCxnSpPr>
            <p:nvPr/>
          </p:nvCxnSpPr>
          <p:spPr>
            <a:xfrm flipH="1" flipV="1">
              <a:off x="2411760" y="1923678"/>
              <a:ext cx="89312" cy="131794"/>
            </a:xfrm>
            <a:prstGeom prst="line">
              <a:avLst/>
            </a:prstGeom>
            <a:solidFill>
              <a:schemeClr val="bg1">
                <a:lumMod val="95000"/>
              </a:schemeClr>
            </a:solidFill>
            <a:ln>
              <a:solidFill>
                <a:schemeClr val="tx2"/>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60" name="Gerader Verbinder 59">
              <a:extLst>
                <a:ext uri="{FF2B5EF4-FFF2-40B4-BE49-F238E27FC236}">
                  <a16:creationId xmlns:a16="http://schemas.microsoft.com/office/drawing/2014/main" id="{855D8EA5-D828-B20E-5706-B294301C5FF5}"/>
                </a:ext>
              </a:extLst>
            </p:cNvPr>
            <p:cNvCxnSpPr/>
            <p:nvPr/>
          </p:nvCxnSpPr>
          <p:spPr>
            <a:xfrm flipV="1">
              <a:off x="2411760" y="1779662"/>
              <a:ext cx="0" cy="144016"/>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61" name="Gerader Verbinder 60">
              <a:extLst>
                <a:ext uri="{FF2B5EF4-FFF2-40B4-BE49-F238E27FC236}">
                  <a16:creationId xmlns:a16="http://schemas.microsoft.com/office/drawing/2014/main" id="{F4F05375-9236-AD18-0506-C666D7E0D0F6}"/>
                </a:ext>
              </a:extLst>
            </p:cNvPr>
            <p:cNvCxnSpPr/>
            <p:nvPr/>
          </p:nvCxnSpPr>
          <p:spPr>
            <a:xfrm>
              <a:off x="2411760" y="1779662"/>
              <a:ext cx="720080" cy="0"/>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62" name="Gerader Verbinder 61">
              <a:extLst>
                <a:ext uri="{FF2B5EF4-FFF2-40B4-BE49-F238E27FC236}">
                  <a16:creationId xmlns:a16="http://schemas.microsoft.com/office/drawing/2014/main" id="{0D6D6BA4-9D9F-63FF-8B28-387DB070C0DD}"/>
                </a:ext>
              </a:extLst>
            </p:cNvPr>
            <p:cNvCxnSpPr/>
            <p:nvPr/>
          </p:nvCxnSpPr>
          <p:spPr>
            <a:xfrm>
              <a:off x="3131840" y="1779662"/>
              <a:ext cx="0" cy="144016"/>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63" name="Gerader Verbinder 62">
              <a:extLst>
                <a:ext uri="{FF2B5EF4-FFF2-40B4-BE49-F238E27FC236}">
                  <a16:creationId xmlns:a16="http://schemas.microsoft.com/office/drawing/2014/main" id="{BE82746A-3477-1D29-1FA1-72C9438D923A}"/>
                </a:ext>
              </a:extLst>
            </p:cNvPr>
            <p:cNvCxnSpPr/>
            <p:nvPr/>
          </p:nvCxnSpPr>
          <p:spPr>
            <a:xfrm flipH="1">
              <a:off x="3018930" y="1923678"/>
              <a:ext cx="112910" cy="173545"/>
            </a:xfrm>
            <a:prstGeom prst="line">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35723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5BB2FF-7D59-5A69-4E64-685DEBC44B68}"/>
              </a:ext>
            </a:extLst>
          </p:cNvPr>
          <p:cNvSpPr>
            <a:spLocks noGrp="1"/>
          </p:cNvSpPr>
          <p:nvPr>
            <p:ph type="title"/>
          </p:nvPr>
        </p:nvSpPr>
        <p:spPr/>
        <p:txBody>
          <a:bodyPr/>
          <a:lstStyle/>
          <a:p>
            <a:r>
              <a:rPr lang="en-US" noProof="0" dirty="0"/>
              <a:t>… such that </a:t>
            </a:r>
            <a:r>
              <a:rPr lang="en-US" noProof="0" dirty="0" err="1"/>
              <a:t>w.r.t.</a:t>
            </a:r>
            <a:r>
              <a:rPr lang="en-US" noProof="0" dirty="0"/>
              <a:t> to time evolution a stochastic process gets established</a:t>
            </a:r>
          </a:p>
        </p:txBody>
      </p:sp>
      <p:sp>
        <p:nvSpPr>
          <p:cNvPr id="3" name="Rechteck 2">
            <a:extLst>
              <a:ext uri="{FF2B5EF4-FFF2-40B4-BE49-F238E27FC236}">
                <a16:creationId xmlns:a16="http://schemas.microsoft.com/office/drawing/2014/main" id="{61BC6D03-E431-5199-FB53-2604414F1A75}"/>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 name="Grafik 11">
            <a:extLst>
              <a:ext uri="{FF2B5EF4-FFF2-40B4-BE49-F238E27FC236}">
                <a16:creationId xmlns:a16="http://schemas.microsoft.com/office/drawing/2014/main" id="{486E8FB5-6555-7184-907B-C618DBC5D6A3}"/>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88"/>
            <a:ext cx="7064623" cy="2800729"/>
          </a:xfrm>
          <a:prstGeom prst="rect">
            <a:avLst/>
          </a:prstGeom>
          <a:noFill/>
          <a:ln/>
          <a:effectLst/>
        </p:spPr>
      </p:pic>
    </p:spTree>
    <p:extLst>
      <p:ext uri="{BB962C8B-B14F-4D97-AF65-F5344CB8AC3E}">
        <p14:creationId xmlns:p14="http://schemas.microsoft.com/office/powerpoint/2010/main" val="2689750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One way to describe such changes of states is by virtue of Markov processes</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fik 7">
            <a:extLst>
              <a:ext uri="{FF2B5EF4-FFF2-40B4-BE49-F238E27FC236}">
                <a16:creationId xmlns:a16="http://schemas.microsoft.com/office/drawing/2014/main" id="{FE1CFCE5-F46C-ABA8-442D-5EA2D8F085E2}"/>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88"/>
            <a:ext cx="7064013" cy="3210647"/>
          </a:xfrm>
          <a:prstGeom prst="rect">
            <a:avLst/>
          </a:prstGeom>
          <a:noFill/>
          <a:ln/>
          <a:effectLst/>
        </p:spPr>
      </p:pic>
      <p:pic>
        <p:nvPicPr>
          <p:cNvPr id="33794" name="Picture 2" descr="https://upload.wikimedia.org/wikipedia/commons/thumb/a/a8/Andrei_Markov.jpg/220px-Andrei_Markov.jpg"/>
          <p:cNvPicPr>
            <a:picLocks noChangeAspect="1" noChangeArrowheads="1"/>
          </p:cNvPicPr>
          <p:nvPr/>
        </p:nvPicPr>
        <p:blipFill>
          <a:blip r:embed="rId4" cstate="print"/>
          <a:srcRect/>
          <a:stretch>
            <a:fillRect/>
          </a:stretch>
        </p:blipFill>
        <p:spPr bwMode="auto">
          <a:xfrm>
            <a:off x="251520" y="1131590"/>
            <a:ext cx="1224136" cy="1752741"/>
          </a:xfrm>
          <a:prstGeom prst="rect">
            <a:avLst/>
          </a:prstGeom>
          <a:noFill/>
        </p:spPr>
      </p:pic>
      <p:sp>
        <p:nvSpPr>
          <p:cNvPr id="7" name="Textfeld 6"/>
          <p:cNvSpPr txBox="1"/>
          <p:nvPr/>
        </p:nvSpPr>
        <p:spPr>
          <a:xfrm>
            <a:off x="179512" y="2931790"/>
            <a:ext cx="1368152" cy="553998"/>
          </a:xfrm>
          <a:prstGeom prst="rect">
            <a:avLst/>
          </a:prstGeom>
          <a:noFill/>
        </p:spPr>
        <p:txBody>
          <a:bodyPr wrap="square" rtlCol="0">
            <a:spAutoFit/>
          </a:bodyPr>
          <a:lstStyle/>
          <a:p>
            <a:pPr algn="ctr"/>
            <a:r>
              <a:rPr lang="en-US" sz="1000" b="1" noProof="0" dirty="0"/>
              <a:t>Andrey </a:t>
            </a:r>
            <a:r>
              <a:rPr lang="en-US" sz="1000" b="1" noProof="0" dirty="0" err="1"/>
              <a:t>Andreyevich</a:t>
            </a:r>
            <a:r>
              <a:rPr lang="en-US" sz="1000" b="1" noProof="0" dirty="0"/>
              <a:t> Markov</a:t>
            </a:r>
            <a:endParaRPr lang="en-US" sz="1000" noProof="0" dirty="0"/>
          </a:p>
          <a:p>
            <a:pPr algn="ctr"/>
            <a:r>
              <a:rPr lang="en-US" sz="1000" noProof="0" dirty="0"/>
              <a:t>(1856 – 1922)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Definition:</a:t>
            </a:r>
            <a:br>
              <a:rPr lang="en-US" noProof="0" dirty="0"/>
            </a:br>
            <a:r>
              <a:rPr lang="en-US" noProof="0" dirty="0"/>
              <a:t>States &amp; Distributions (1/ 2)</a:t>
            </a:r>
          </a:p>
        </p:txBody>
      </p:sp>
      <p:sp>
        <p:nvSpPr>
          <p:cNvPr id="3" name="Rechteck 2"/>
          <p:cNvSpPr/>
          <p:nvPr/>
        </p:nvSpPr>
        <p:spPr>
          <a:xfrm>
            <a:off x="1691680" y="1131590"/>
            <a:ext cx="7200800" cy="388843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descr="IguanaTex_tmp.png"/>
          <p:cNvPicPr>
            <a:picLocks noChangeAspect="1"/>
          </p:cNvPicPr>
          <p:nvPr>
            <p:custDataLst>
              <p:tags r:id="rId1"/>
            </p:custDataLst>
          </p:nvPr>
        </p:nvPicPr>
        <p:blipFill>
          <a:blip r:embed="rId3" cstate="print"/>
          <a:stretch>
            <a:fillRect/>
          </a:stretch>
        </p:blipFill>
        <p:spPr>
          <a:xfrm>
            <a:off x="1763690" y="1203555"/>
            <a:ext cx="7068818" cy="3448494"/>
          </a:xfrm>
          <a:prstGeom prst="rect">
            <a:avLst/>
          </a:prstGeom>
          <a:noFill/>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Definition:</a:t>
            </a:r>
            <a:br>
              <a:rPr lang="en-US" noProof="0" dirty="0"/>
            </a:br>
            <a:r>
              <a:rPr lang="en-US" noProof="0" dirty="0"/>
              <a:t>States &amp; Distributions (2/ 2)</a:t>
            </a:r>
          </a:p>
        </p:txBody>
      </p:sp>
      <p:sp>
        <p:nvSpPr>
          <p:cNvPr id="3" name="Rechteck 2"/>
          <p:cNvSpPr/>
          <p:nvPr/>
        </p:nvSpPr>
        <p:spPr>
          <a:xfrm>
            <a:off x="1691680" y="1131590"/>
            <a:ext cx="7200800" cy="129614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descr="IguanaTex_tmp.png"/>
          <p:cNvPicPr>
            <a:picLocks noChangeAspect="1"/>
          </p:cNvPicPr>
          <p:nvPr>
            <p:custDataLst>
              <p:tags r:id="rId1"/>
            </p:custDataLst>
          </p:nvPr>
        </p:nvPicPr>
        <p:blipFill>
          <a:blip r:embed="rId4" cstate="print"/>
          <a:stretch>
            <a:fillRect/>
          </a:stretch>
        </p:blipFill>
        <p:spPr>
          <a:xfrm>
            <a:off x="1763690" y="1203555"/>
            <a:ext cx="7057942" cy="1070461"/>
          </a:xfrm>
          <a:prstGeom prst="rect">
            <a:avLst/>
          </a:prstGeom>
          <a:noFill/>
          <a:ln/>
          <a:effectLst/>
        </p:spPr>
      </p:pic>
      <p:pic>
        <p:nvPicPr>
          <p:cNvPr id="7" name="Picture 2" descr="Markov Chain Explained | Built In"/>
          <p:cNvPicPr>
            <a:picLocks noChangeAspect="1" noChangeArrowheads="1"/>
          </p:cNvPicPr>
          <p:nvPr/>
        </p:nvPicPr>
        <p:blipFill>
          <a:blip r:embed="rId5" cstate="print"/>
          <a:srcRect l="25372" t="13773" r="28189" b="15831"/>
          <a:stretch>
            <a:fillRect/>
          </a:stretch>
        </p:blipFill>
        <p:spPr bwMode="auto">
          <a:xfrm>
            <a:off x="192574" y="2571750"/>
            <a:ext cx="1278924" cy="1368152"/>
          </a:xfrm>
          <a:prstGeom prst="rect">
            <a:avLst/>
          </a:prstGeom>
          <a:noFill/>
        </p:spPr>
      </p:pic>
      <p:sp>
        <p:nvSpPr>
          <p:cNvPr id="8" name="Rechteck 7"/>
          <p:cNvSpPr/>
          <p:nvPr/>
        </p:nvSpPr>
        <p:spPr>
          <a:xfrm>
            <a:off x="1691680" y="2571750"/>
            <a:ext cx="7200800" cy="244827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fik 12" descr="IguanaTex_tmp.png"/>
          <p:cNvPicPr>
            <a:picLocks noChangeAspect="1"/>
          </p:cNvPicPr>
          <p:nvPr>
            <p:custDataLst>
              <p:tags r:id="rId2"/>
            </p:custDataLst>
          </p:nvPr>
        </p:nvPicPr>
        <p:blipFill>
          <a:blip r:embed="rId6" cstate="print"/>
          <a:stretch>
            <a:fillRect/>
          </a:stretch>
        </p:blipFill>
        <p:spPr>
          <a:xfrm>
            <a:off x="1763690" y="2643714"/>
            <a:ext cx="7056080" cy="2030134"/>
          </a:xfrm>
          <a:prstGeom prst="rect">
            <a:avLst/>
          </a:prstGeom>
          <a:noFill/>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Diagrams and stochastic matrices</a:t>
            </a:r>
          </a:p>
        </p:txBody>
      </p:sp>
      <p:sp>
        <p:nvSpPr>
          <p:cNvPr id="3" name="Rechteck 2"/>
          <p:cNvSpPr/>
          <p:nvPr/>
        </p:nvSpPr>
        <p:spPr>
          <a:xfrm>
            <a:off x="3419872" y="1131590"/>
            <a:ext cx="5472608"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066F79A5-727C-69F0-E7F4-75AB2703CD1A}"/>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491877" y="1203596"/>
            <a:ext cx="5329396" cy="3069785"/>
          </a:xfrm>
          <a:prstGeom prst="rect">
            <a:avLst/>
          </a:prstGeom>
          <a:noFill/>
          <a:ln/>
          <a:effectLst/>
        </p:spPr>
      </p:pic>
      <p:grpSp>
        <p:nvGrpSpPr>
          <p:cNvPr id="24" name="Gruppieren 23"/>
          <p:cNvGrpSpPr/>
          <p:nvPr/>
        </p:nvGrpSpPr>
        <p:grpSpPr>
          <a:xfrm>
            <a:off x="539552" y="1491630"/>
            <a:ext cx="2016224" cy="514601"/>
            <a:chOff x="323528" y="1491630"/>
            <a:chExt cx="2016224" cy="514601"/>
          </a:xfrm>
        </p:grpSpPr>
        <p:sp>
          <p:nvSpPr>
            <p:cNvPr id="10" name="Ellipse 9"/>
            <p:cNvSpPr/>
            <p:nvPr/>
          </p:nvSpPr>
          <p:spPr>
            <a:xfrm>
              <a:off x="323528" y="1707654"/>
              <a:ext cx="72008" cy="72008"/>
            </a:xfrm>
            <a:prstGeom prst="ellipse">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3" name="Ellipse 12"/>
            <p:cNvSpPr/>
            <p:nvPr/>
          </p:nvSpPr>
          <p:spPr>
            <a:xfrm>
              <a:off x="2267744" y="1707654"/>
              <a:ext cx="72008" cy="72008"/>
            </a:xfrm>
            <a:prstGeom prst="ellipse">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grpSp>
          <p:nvGrpSpPr>
            <p:cNvPr id="17" name="Gruppieren 16"/>
            <p:cNvGrpSpPr/>
            <p:nvPr/>
          </p:nvGrpSpPr>
          <p:grpSpPr>
            <a:xfrm>
              <a:off x="384991" y="1491630"/>
              <a:ext cx="1893298" cy="226569"/>
              <a:chOff x="384991" y="1491630"/>
              <a:chExt cx="1893298" cy="226569"/>
            </a:xfrm>
          </p:grpSpPr>
          <p:cxnSp>
            <p:nvCxnSpPr>
              <p:cNvPr id="12" name="Gerade Verbindung 11"/>
              <p:cNvCxnSpPr>
                <a:stCxn id="10" idx="7"/>
              </p:cNvCxnSpPr>
              <p:nvPr/>
            </p:nvCxnSpPr>
            <p:spPr>
              <a:xfrm flipV="1">
                <a:off x="384991" y="1491630"/>
                <a:ext cx="298577" cy="22656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Gerade Verbindung 13"/>
              <p:cNvCxnSpPr/>
              <p:nvPr/>
            </p:nvCxnSpPr>
            <p:spPr>
              <a:xfrm flipH="1" flipV="1">
                <a:off x="1979712" y="1491630"/>
                <a:ext cx="298577" cy="226569"/>
              </a:xfrm>
              <a:prstGeom prst="line">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a:off x="683568" y="1491630"/>
                <a:ext cx="1296144"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8" name="Gruppieren 17"/>
            <p:cNvGrpSpPr/>
            <p:nvPr/>
          </p:nvGrpSpPr>
          <p:grpSpPr>
            <a:xfrm rot="10800000">
              <a:off x="384992" y="1779662"/>
              <a:ext cx="1893298" cy="226569"/>
              <a:chOff x="384991" y="1491630"/>
              <a:chExt cx="1893298" cy="226569"/>
            </a:xfrm>
          </p:grpSpPr>
          <p:cxnSp>
            <p:nvCxnSpPr>
              <p:cNvPr id="19" name="Gerade Verbindung 18"/>
              <p:cNvCxnSpPr/>
              <p:nvPr/>
            </p:nvCxnSpPr>
            <p:spPr>
              <a:xfrm flipV="1">
                <a:off x="384991" y="1491630"/>
                <a:ext cx="298577" cy="22656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p:nvCxnSpPr>
            <p:spPr>
              <a:xfrm flipH="1" flipV="1">
                <a:off x="1979712" y="1491630"/>
                <a:ext cx="298577" cy="226569"/>
              </a:xfrm>
              <a:prstGeom prst="line">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p:nvCxnSpPr>
            <p:spPr>
              <a:xfrm>
                <a:off x="683568" y="1491630"/>
                <a:ext cx="1296144"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grpSp>
      </p:grpSp>
      <p:sp>
        <p:nvSpPr>
          <p:cNvPr id="22" name="Textfeld 21"/>
          <p:cNvSpPr txBox="1"/>
          <p:nvPr/>
        </p:nvSpPr>
        <p:spPr>
          <a:xfrm>
            <a:off x="2589684" y="1590501"/>
            <a:ext cx="276038" cy="307777"/>
          </a:xfrm>
          <a:prstGeom prst="rect">
            <a:avLst/>
          </a:prstGeom>
          <a:noFill/>
        </p:spPr>
        <p:txBody>
          <a:bodyPr wrap="none" rtlCol="0">
            <a:spAutoFit/>
          </a:bodyPr>
          <a:lstStyle/>
          <a:p>
            <a:r>
              <a:rPr lang="en-US" sz="1400" noProof="0" dirty="0"/>
              <a:t>2</a:t>
            </a:r>
          </a:p>
        </p:txBody>
      </p:sp>
      <p:sp>
        <p:nvSpPr>
          <p:cNvPr id="23" name="Textfeld 22"/>
          <p:cNvSpPr txBox="1"/>
          <p:nvPr/>
        </p:nvSpPr>
        <p:spPr>
          <a:xfrm>
            <a:off x="251520" y="1590501"/>
            <a:ext cx="276038" cy="307777"/>
          </a:xfrm>
          <a:prstGeom prst="rect">
            <a:avLst/>
          </a:prstGeom>
          <a:noFill/>
        </p:spPr>
        <p:txBody>
          <a:bodyPr wrap="none" rtlCol="0">
            <a:spAutoFit/>
          </a:bodyPr>
          <a:lstStyle/>
          <a:p>
            <a:r>
              <a:rPr lang="en-US" sz="1400" noProof="0" dirty="0"/>
              <a:t>1</a:t>
            </a:r>
          </a:p>
        </p:txBody>
      </p:sp>
      <p:sp>
        <p:nvSpPr>
          <p:cNvPr id="25" name="Textfeld 24"/>
          <p:cNvSpPr txBox="1"/>
          <p:nvPr/>
        </p:nvSpPr>
        <p:spPr>
          <a:xfrm>
            <a:off x="1403648" y="1178198"/>
            <a:ext cx="298480" cy="307777"/>
          </a:xfrm>
          <a:prstGeom prst="rect">
            <a:avLst/>
          </a:prstGeom>
          <a:noFill/>
        </p:spPr>
        <p:txBody>
          <a:bodyPr wrap="none" rtlCol="0">
            <a:spAutoFit/>
          </a:bodyPr>
          <a:lstStyle/>
          <a:p>
            <a:r>
              <a:rPr lang="en-US" sz="1400" noProof="0" dirty="0">
                <a:sym typeface="Symbol"/>
              </a:rPr>
              <a:t></a:t>
            </a:r>
            <a:endParaRPr lang="en-US" sz="1400" noProof="0" dirty="0"/>
          </a:p>
        </p:txBody>
      </p:sp>
      <p:sp>
        <p:nvSpPr>
          <p:cNvPr id="26" name="Textfeld 25"/>
          <p:cNvSpPr txBox="1"/>
          <p:nvPr/>
        </p:nvSpPr>
        <p:spPr>
          <a:xfrm>
            <a:off x="1396530" y="2008386"/>
            <a:ext cx="282450" cy="307777"/>
          </a:xfrm>
          <a:prstGeom prst="rect">
            <a:avLst/>
          </a:prstGeom>
          <a:noFill/>
        </p:spPr>
        <p:txBody>
          <a:bodyPr wrap="none" rtlCol="0">
            <a:spAutoFit/>
          </a:bodyPr>
          <a:lstStyle/>
          <a:p>
            <a:r>
              <a:rPr lang="en-US" sz="1400" noProof="0" dirty="0">
                <a:sym typeface="Symbol"/>
              </a:rPr>
              <a:t></a:t>
            </a:r>
            <a:endParaRPr lang="en-US" sz="1400" noProof="0" dirty="0"/>
          </a:p>
        </p:txBody>
      </p:sp>
      <p:sp>
        <p:nvSpPr>
          <p:cNvPr id="27" name="Ellipse 26"/>
          <p:cNvSpPr/>
          <p:nvPr/>
        </p:nvSpPr>
        <p:spPr>
          <a:xfrm>
            <a:off x="251520" y="1131590"/>
            <a:ext cx="288032" cy="288032"/>
          </a:xfrm>
          <a:prstGeom prst="ellipse">
            <a:avLst/>
          </a:prstGeom>
          <a:solidFill>
            <a:srgbClr val="FFC000"/>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solidFill>
                  <a:schemeClr val="tx1"/>
                </a:solidFill>
              </a:rPr>
              <a:t>1</a:t>
            </a:r>
          </a:p>
        </p:txBody>
      </p:sp>
      <p:sp>
        <p:nvSpPr>
          <p:cNvPr id="28" name="Ellipse 27"/>
          <p:cNvSpPr/>
          <p:nvPr/>
        </p:nvSpPr>
        <p:spPr>
          <a:xfrm>
            <a:off x="251520" y="2571750"/>
            <a:ext cx="288032" cy="288032"/>
          </a:xfrm>
          <a:prstGeom prst="ellipse">
            <a:avLst/>
          </a:prstGeom>
          <a:solidFill>
            <a:srgbClr val="FFC000"/>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solidFill>
                  <a:schemeClr val="tx1"/>
                </a:solidFill>
              </a:rPr>
              <a:t>2</a:t>
            </a:r>
          </a:p>
        </p:txBody>
      </p:sp>
      <p:sp>
        <p:nvSpPr>
          <p:cNvPr id="29" name="Gleichschenkliges Dreieck 28"/>
          <p:cNvSpPr/>
          <p:nvPr/>
        </p:nvSpPr>
        <p:spPr>
          <a:xfrm>
            <a:off x="611560" y="2787774"/>
            <a:ext cx="1754114" cy="1512168"/>
          </a:xfrm>
          <a:prstGeom prst="triangl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noProof="0" dirty="0">
              <a:solidFill>
                <a:schemeClr val="tx1"/>
              </a:solidFill>
            </a:endParaRPr>
          </a:p>
        </p:txBody>
      </p:sp>
      <p:sp>
        <p:nvSpPr>
          <p:cNvPr id="31" name="Ellipse 30"/>
          <p:cNvSpPr/>
          <p:nvPr/>
        </p:nvSpPr>
        <p:spPr>
          <a:xfrm>
            <a:off x="575692" y="4267200"/>
            <a:ext cx="72008" cy="72008"/>
          </a:xfrm>
          <a:prstGeom prst="ellipse">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32" name="Ellipse 31"/>
          <p:cNvSpPr/>
          <p:nvPr/>
        </p:nvSpPr>
        <p:spPr>
          <a:xfrm>
            <a:off x="1452066" y="2763292"/>
            <a:ext cx="72008" cy="72008"/>
          </a:xfrm>
          <a:prstGeom prst="ellipse">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33" name="Ellipse 32"/>
          <p:cNvSpPr/>
          <p:nvPr/>
        </p:nvSpPr>
        <p:spPr>
          <a:xfrm>
            <a:off x="2321942" y="4260850"/>
            <a:ext cx="72008" cy="72008"/>
          </a:xfrm>
          <a:prstGeom prst="ellipse">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34" name="Textfeld 33"/>
          <p:cNvSpPr txBox="1"/>
          <p:nvPr/>
        </p:nvSpPr>
        <p:spPr>
          <a:xfrm>
            <a:off x="2365152" y="4299942"/>
            <a:ext cx="276038" cy="307777"/>
          </a:xfrm>
          <a:prstGeom prst="rect">
            <a:avLst/>
          </a:prstGeom>
          <a:noFill/>
        </p:spPr>
        <p:txBody>
          <a:bodyPr wrap="none" rtlCol="0">
            <a:spAutoFit/>
          </a:bodyPr>
          <a:lstStyle/>
          <a:p>
            <a:r>
              <a:rPr lang="en-US" sz="1400" noProof="0" dirty="0"/>
              <a:t>2</a:t>
            </a:r>
          </a:p>
        </p:txBody>
      </p:sp>
      <p:sp>
        <p:nvSpPr>
          <p:cNvPr id="35" name="Textfeld 34"/>
          <p:cNvSpPr txBox="1"/>
          <p:nvPr/>
        </p:nvSpPr>
        <p:spPr>
          <a:xfrm>
            <a:off x="329878" y="4299942"/>
            <a:ext cx="276038" cy="307777"/>
          </a:xfrm>
          <a:prstGeom prst="rect">
            <a:avLst/>
          </a:prstGeom>
          <a:noFill/>
        </p:spPr>
        <p:txBody>
          <a:bodyPr wrap="none" rtlCol="0">
            <a:spAutoFit/>
          </a:bodyPr>
          <a:lstStyle/>
          <a:p>
            <a:r>
              <a:rPr lang="en-US" sz="1400" noProof="0" dirty="0"/>
              <a:t>3</a:t>
            </a:r>
          </a:p>
        </p:txBody>
      </p:sp>
      <p:sp>
        <p:nvSpPr>
          <p:cNvPr id="36" name="Textfeld 35"/>
          <p:cNvSpPr txBox="1"/>
          <p:nvPr/>
        </p:nvSpPr>
        <p:spPr>
          <a:xfrm>
            <a:off x="1547664" y="2571750"/>
            <a:ext cx="276038" cy="307777"/>
          </a:xfrm>
          <a:prstGeom prst="rect">
            <a:avLst/>
          </a:prstGeom>
          <a:noFill/>
        </p:spPr>
        <p:txBody>
          <a:bodyPr wrap="none" rtlCol="0">
            <a:spAutoFit/>
          </a:bodyPr>
          <a:lstStyle/>
          <a:p>
            <a:r>
              <a:rPr lang="en-US" sz="1400" noProof="0" dirty="0"/>
              <a:t>1</a:t>
            </a:r>
          </a:p>
        </p:txBody>
      </p:sp>
      <p:cxnSp>
        <p:nvCxnSpPr>
          <p:cNvPr id="38" name="Gerade Verbindung mit Pfeil 37"/>
          <p:cNvCxnSpPr/>
          <p:nvPr/>
        </p:nvCxnSpPr>
        <p:spPr>
          <a:xfrm>
            <a:off x="937692" y="4365600"/>
            <a:ext cx="1080120" cy="0"/>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Gerade Verbindung mit Pfeil 40"/>
          <p:cNvCxnSpPr/>
          <p:nvPr/>
        </p:nvCxnSpPr>
        <p:spPr>
          <a:xfrm flipH="1">
            <a:off x="730176" y="3219822"/>
            <a:ext cx="432048" cy="718046"/>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Gerade Verbindung mit Pfeil 43"/>
          <p:cNvCxnSpPr/>
          <p:nvPr/>
        </p:nvCxnSpPr>
        <p:spPr>
          <a:xfrm flipH="1" flipV="1">
            <a:off x="1776388" y="3160514"/>
            <a:ext cx="432048" cy="718046"/>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539552" y="3291830"/>
            <a:ext cx="412292" cy="307777"/>
          </a:xfrm>
          <a:prstGeom prst="rect">
            <a:avLst/>
          </a:prstGeom>
          <a:noFill/>
        </p:spPr>
        <p:txBody>
          <a:bodyPr wrap="none" rtlCol="0">
            <a:spAutoFit/>
          </a:bodyPr>
          <a:lstStyle/>
          <a:p>
            <a:r>
              <a:rPr lang="en-US" sz="1400" noProof="0" dirty="0"/>
              <a:t>0.5</a:t>
            </a:r>
          </a:p>
        </p:txBody>
      </p:sp>
      <p:sp>
        <p:nvSpPr>
          <p:cNvPr id="46" name="Textfeld 45"/>
          <p:cNvSpPr txBox="1"/>
          <p:nvPr/>
        </p:nvSpPr>
        <p:spPr>
          <a:xfrm>
            <a:off x="1259632" y="4371950"/>
            <a:ext cx="412292" cy="307777"/>
          </a:xfrm>
          <a:prstGeom prst="rect">
            <a:avLst/>
          </a:prstGeom>
          <a:noFill/>
        </p:spPr>
        <p:txBody>
          <a:bodyPr wrap="none" rtlCol="0">
            <a:spAutoFit/>
          </a:bodyPr>
          <a:lstStyle/>
          <a:p>
            <a:r>
              <a:rPr lang="en-US" sz="1400" noProof="0" dirty="0"/>
              <a:t>0.5</a:t>
            </a:r>
          </a:p>
        </p:txBody>
      </p:sp>
      <p:sp>
        <p:nvSpPr>
          <p:cNvPr id="47" name="Textfeld 46"/>
          <p:cNvSpPr txBox="1"/>
          <p:nvPr/>
        </p:nvSpPr>
        <p:spPr>
          <a:xfrm>
            <a:off x="2051720" y="3219822"/>
            <a:ext cx="276038" cy="307777"/>
          </a:xfrm>
          <a:prstGeom prst="rect">
            <a:avLst/>
          </a:prstGeom>
          <a:noFill/>
        </p:spPr>
        <p:txBody>
          <a:bodyPr wrap="none" rtlCol="0">
            <a:spAutoFit/>
          </a:bodyPr>
          <a:lstStyle/>
          <a:p>
            <a:r>
              <a:rPr lang="en-US" sz="1400" noProof="0" dirty="0"/>
              <a:t>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Definition:</a:t>
            </a:r>
            <a:br>
              <a:rPr lang="en-US" noProof="0" dirty="0"/>
            </a:br>
            <a:r>
              <a:rPr lang="en-US" noProof="0" dirty="0"/>
              <a:t>Markov Chain (1/ 2)</a:t>
            </a:r>
          </a:p>
        </p:txBody>
      </p:sp>
      <p:sp>
        <p:nvSpPr>
          <p:cNvPr id="3" name="Rechteck 2"/>
          <p:cNvSpPr/>
          <p:nvPr/>
        </p:nvSpPr>
        <p:spPr>
          <a:xfrm>
            <a:off x="1691680" y="1131590"/>
            <a:ext cx="7200800" cy="388843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 name="Grafik 6" descr="IguanaTex_tmp.png"/>
          <p:cNvPicPr>
            <a:picLocks noChangeAspect="1"/>
          </p:cNvPicPr>
          <p:nvPr>
            <p:custDataLst>
              <p:tags r:id="rId1"/>
            </p:custDataLst>
          </p:nvPr>
        </p:nvPicPr>
        <p:blipFill>
          <a:blip r:embed="rId3" cstate="print"/>
          <a:stretch>
            <a:fillRect/>
          </a:stretch>
        </p:blipFill>
        <p:spPr>
          <a:xfrm>
            <a:off x="1763690" y="1203556"/>
            <a:ext cx="7060678" cy="2968227"/>
          </a:xfrm>
          <a:prstGeom prst="rect">
            <a:avLst/>
          </a:prstGeom>
          <a:noFill/>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Definition:</a:t>
            </a:r>
            <a:br>
              <a:rPr lang="en-US" noProof="0" dirty="0"/>
            </a:br>
            <a:r>
              <a:rPr lang="en-US" noProof="0" dirty="0"/>
              <a:t>Markov Chain (2/ 2)</a:t>
            </a:r>
          </a:p>
        </p:txBody>
      </p:sp>
      <p:sp>
        <p:nvSpPr>
          <p:cNvPr id="3" name="Rechteck 2"/>
          <p:cNvSpPr/>
          <p:nvPr/>
        </p:nvSpPr>
        <p:spPr>
          <a:xfrm>
            <a:off x="1691680" y="1131590"/>
            <a:ext cx="7200800" cy="388843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descr="IguanaTex_tmp.png"/>
          <p:cNvPicPr>
            <a:picLocks noChangeAspect="1"/>
          </p:cNvPicPr>
          <p:nvPr>
            <p:custDataLst>
              <p:tags r:id="rId1"/>
            </p:custDataLst>
          </p:nvPr>
        </p:nvPicPr>
        <p:blipFill>
          <a:blip r:embed="rId3" cstate="print"/>
          <a:stretch>
            <a:fillRect/>
          </a:stretch>
        </p:blipFill>
        <p:spPr>
          <a:xfrm>
            <a:off x="1763690" y="1203555"/>
            <a:ext cx="7072437" cy="2854962"/>
          </a:xfrm>
          <a:prstGeom prst="rect">
            <a:avLst/>
          </a:prstGeom>
          <a:noFill/>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Virus mutation</a:t>
            </a:r>
          </a:p>
        </p:txBody>
      </p:sp>
      <p:sp>
        <p:nvSpPr>
          <p:cNvPr id="5" name="Rechteck 4"/>
          <p:cNvSpPr/>
          <p:nvPr/>
        </p:nvSpPr>
        <p:spPr>
          <a:xfrm>
            <a:off x="3419872" y="1131590"/>
            <a:ext cx="5472608" cy="165618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feld 5"/>
          <p:cNvSpPr txBox="1"/>
          <p:nvPr/>
        </p:nvSpPr>
        <p:spPr>
          <a:xfrm>
            <a:off x="251520" y="4299942"/>
            <a:ext cx="2880320" cy="707886"/>
          </a:xfrm>
          <a:prstGeom prst="rect">
            <a:avLst/>
          </a:prstGeom>
          <a:noFill/>
        </p:spPr>
        <p:txBody>
          <a:bodyPr wrap="square" rtlCol="0">
            <a:spAutoFit/>
          </a:bodyPr>
          <a:lstStyle/>
          <a:p>
            <a:pPr algn="just"/>
            <a:r>
              <a:rPr lang="de-DE" sz="1000" dirty="0"/>
              <a:t>J.D. Ahlers, I.M. </a:t>
            </a:r>
            <a:r>
              <a:rPr lang="de-DE" sz="1000" dirty="0" err="1"/>
              <a:t>Belyakov</a:t>
            </a:r>
            <a:r>
              <a:rPr lang="de-DE" sz="1000" dirty="0"/>
              <a:t> (2010): </a:t>
            </a:r>
            <a:r>
              <a:rPr lang="en-US" sz="1000" dirty="0"/>
              <a:t>Lessons learned from natural infection: focusing on the design of protective T cell vaccines for HIV/ AIDS, Trends in Immunology, Volume 31, Issue 3, pp. 120–130</a:t>
            </a:r>
          </a:p>
        </p:txBody>
      </p:sp>
      <p:pic>
        <p:nvPicPr>
          <p:cNvPr id="7" name="Grafik 6">
            <a:extLst>
              <a:ext uri="{FF2B5EF4-FFF2-40B4-BE49-F238E27FC236}">
                <a16:creationId xmlns:a16="http://schemas.microsoft.com/office/drawing/2014/main" id="{90797786-D325-955D-839E-4B7BFCEFC192}"/>
              </a:ext>
            </a:extLst>
          </p:cNvPr>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3491877" y="1203597"/>
            <a:ext cx="5327586" cy="1484582"/>
          </a:xfrm>
          <a:prstGeom prst="rect">
            <a:avLst/>
          </a:prstGeom>
          <a:noFill/>
          <a:ln/>
          <a:effectLst/>
        </p:spPr>
      </p:pic>
      <p:sp>
        <p:nvSpPr>
          <p:cNvPr id="10" name="Rechteck 9"/>
          <p:cNvSpPr/>
          <p:nvPr/>
        </p:nvSpPr>
        <p:spPr>
          <a:xfrm>
            <a:off x="3419872" y="2931790"/>
            <a:ext cx="5472608" cy="20882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fik 15">
            <a:extLst>
              <a:ext uri="{FF2B5EF4-FFF2-40B4-BE49-F238E27FC236}">
                <a16:creationId xmlns:a16="http://schemas.microsoft.com/office/drawing/2014/main" id="{3172D7CD-1721-D585-A927-7E589070DBC2}"/>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3491877" y="3003797"/>
            <a:ext cx="5327313" cy="1782487"/>
          </a:xfrm>
          <a:prstGeom prst="rect">
            <a:avLst/>
          </a:prstGeom>
          <a:noFill/>
          <a:ln/>
          <a:effectLst/>
        </p:spPr>
      </p:pic>
      <p:grpSp>
        <p:nvGrpSpPr>
          <p:cNvPr id="18" name="Gruppieren 17">
            <a:extLst>
              <a:ext uri="{FF2B5EF4-FFF2-40B4-BE49-F238E27FC236}">
                <a16:creationId xmlns:a16="http://schemas.microsoft.com/office/drawing/2014/main" id="{63A0E63E-D17A-4958-922D-DE03BAAA2897}"/>
              </a:ext>
            </a:extLst>
          </p:cNvPr>
          <p:cNvGrpSpPr/>
          <p:nvPr/>
        </p:nvGrpSpPr>
        <p:grpSpPr>
          <a:xfrm>
            <a:off x="618594" y="2555701"/>
            <a:ext cx="2160240" cy="438398"/>
            <a:chOff x="755576" y="3141464"/>
            <a:chExt cx="2160240" cy="438398"/>
          </a:xfrm>
        </p:grpSpPr>
        <p:sp>
          <p:nvSpPr>
            <p:cNvPr id="11" name="Ellipse 10"/>
            <p:cNvSpPr/>
            <p:nvPr/>
          </p:nvSpPr>
          <p:spPr>
            <a:xfrm>
              <a:off x="755576" y="3147814"/>
              <a:ext cx="216024" cy="216024"/>
            </a:xfrm>
            <a:prstGeom prst="ellipse">
              <a:avLst/>
            </a:prstGeom>
            <a:solidFill>
              <a:schemeClr val="accent3">
                <a:lumMod val="20000"/>
                <a:lumOff val="80000"/>
              </a:scheme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3" name="Ellipse 12"/>
            <p:cNvSpPr/>
            <p:nvPr/>
          </p:nvSpPr>
          <p:spPr>
            <a:xfrm>
              <a:off x="1403648" y="3147814"/>
              <a:ext cx="216024" cy="216024"/>
            </a:xfrm>
            <a:prstGeom prst="ellipse">
              <a:avLst/>
            </a:prstGeom>
            <a:solidFill>
              <a:schemeClr val="accent3">
                <a:lumMod val="20000"/>
                <a:lumOff val="80000"/>
              </a:scheme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4" name="Ellipse 13"/>
            <p:cNvSpPr/>
            <p:nvPr/>
          </p:nvSpPr>
          <p:spPr>
            <a:xfrm>
              <a:off x="2051720" y="3147814"/>
              <a:ext cx="216024" cy="216024"/>
            </a:xfrm>
            <a:prstGeom prst="ellipse">
              <a:avLst/>
            </a:prstGeom>
            <a:solidFill>
              <a:schemeClr val="accent3">
                <a:lumMod val="20000"/>
                <a:lumOff val="80000"/>
              </a:scheme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5" name="Ellipse 14"/>
            <p:cNvSpPr/>
            <p:nvPr/>
          </p:nvSpPr>
          <p:spPr>
            <a:xfrm>
              <a:off x="2699792" y="3147814"/>
              <a:ext cx="216024" cy="216024"/>
            </a:xfrm>
            <a:prstGeom prst="ellipse">
              <a:avLst/>
            </a:prstGeom>
            <a:solidFill>
              <a:schemeClr val="accent3">
                <a:lumMod val="20000"/>
                <a:lumOff val="80000"/>
              </a:scheme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cxnSp>
          <p:nvCxnSpPr>
            <p:cNvPr id="17" name="Gewinkelte Verbindung 16"/>
            <p:cNvCxnSpPr>
              <a:stCxn id="14" idx="0"/>
              <a:endCxn id="11" idx="0"/>
            </p:cNvCxnSpPr>
            <p:nvPr/>
          </p:nvCxnSpPr>
          <p:spPr>
            <a:xfrm rot="16200000" flipV="1">
              <a:off x="1511660" y="2499742"/>
              <a:ext cx="12700" cy="1296144"/>
            </a:xfrm>
            <a:prstGeom prst="bentConnector3">
              <a:avLst>
                <a:gd name="adj1" fmla="val 1800000"/>
              </a:avLst>
            </a:prstGeom>
            <a:no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Gerade Verbindung mit Pfeil 23"/>
            <p:cNvCxnSpPr>
              <a:stCxn id="14" idx="6"/>
              <a:endCxn id="15" idx="2"/>
            </p:cNvCxnSpPr>
            <p:nvPr/>
          </p:nvCxnSpPr>
          <p:spPr>
            <a:xfrm>
              <a:off x="2267744" y="3255826"/>
              <a:ext cx="432048" cy="0"/>
            </a:xfrm>
            <a:prstGeom prst="straightConnector1">
              <a:avLst/>
            </a:prstGeom>
            <a:no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6" name="Gerade Verbindung mit Pfeil 25"/>
            <p:cNvCxnSpPr>
              <a:stCxn id="14" idx="2"/>
              <a:endCxn id="13" idx="6"/>
            </p:cNvCxnSpPr>
            <p:nvPr/>
          </p:nvCxnSpPr>
          <p:spPr>
            <a:xfrm flipH="1">
              <a:off x="1619672" y="3255826"/>
              <a:ext cx="432048" cy="0"/>
            </a:xfrm>
            <a:prstGeom prst="straightConnector1">
              <a:avLst/>
            </a:prstGeom>
            <a:no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8" name="Gerade Verbindung 27"/>
            <p:cNvCxnSpPr>
              <a:stCxn id="14" idx="3"/>
            </p:cNvCxnSpPr>
            <p:nvPr/>
          </p:nvCxnSpPr>
          <p:spPr>
            <a:xfrm flipH="1">
              <a:off x="1979712" y="3332202"/>
              <a:ext cx="103644" cy="103644"/>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Gerade Verbindung 29"/>
            <p:cNvCxnSpPr/>
            <p:nvPr/>
          </p:nvCxnSpPr>
          <p:spPr>
            <a:xfrm>
              <a:off x="1979712" y="3435846"/>
              <a:ext cx="0" cy="144016"/>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Gerade Verbindung 31"/>
            <p:cNvCxnSpPr/>
            <p:nvPr/>
          </p:nvCxnSpPr>
          <p:spPr>
            <a:xfrm>
              <a:off x="1979712" y="3579862"/>
              <a:ext cx="360040" cy="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Gerade Verbindung mit Pfeil 33"/>
            <p:cNvCxnSpPr>
              <a:endCxn id="14" idx="5"/>
            </p:cNvCxnSpPr>
            <p:nvPr/>
          </p:nvCxnSpPr>
          <p:spPr>
            <a:xfrm flipH="1" flipV="1">
              <a:off x="2236108" y="3332202"/>
              <a:ext cx="103644" cy="103644"/>
            </a:xfrm>
            <a:prstGeom prst="straightConnector1">
              <a:avLst/>
            </a:prstGeom>
            <a:no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Gerade Verbindung 40"/>
            <p:cNvCxnSpPr/>
            <p:nvPr/>
          </p:nvCxnSpPr>
          <p:spPr>
            <a:xfrm flipV="1">
              <a:off x="2339752" y="3435846"/>
              <a:ext cx="0" cy="144016"/>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grpSp>
      <p:pic>
        <p:nvPicPr>
          <p:cNvPr id="21" name="Grafik 20">
            <a:extLst>
              <a:ext uri="{FF2B5EF4-FFF2-40B4-BE49-F238E27FC236}">
                <a16:creationId xmlns:a16="http://schemas.microsoft.com/office/drawing/2014/main" id="{67D3D376-878A-03FB-029A-EC0A1B6217DE}"/>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852705" y="3066107"/>
            <a:ext cx="343031" cy="103297"/>
          </a:xfrm>
          <a:prstGeom prst="rect">
            <a:avLst/>
          </a:prstGeom>
        </p:spPr>
      </p:pic>
      <p:pic>
        <p:nvPicPr>
          <p:cNvPr id="25" name="Grafik 24">
            <a:extLst>
              <a:ext uri="{FF2B5EF4-FFF2-40B4-BE49-F238E27FC236}">
                <a16:creationId xmlns:a16="http://schemas.microsoft.com/office/drawing/2014/main" id="{491A3F19-29B0-C3F1-09C6-9081F294BEFA}"/>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325812" y="3228800"/>
            <a:ext cx="814288" cy="279054"/>
          </a:xfrm>
          <a:prstGeom prst="rect">
            <a:avLst/>
          </a:prstGeom>
        </p:spPr>
      </p:pic>
      <p:pic>
        <p:nvPicPr>
          <p:cNvPr id="31" name="Grafik 30">
            <a:extLst>
              <a:ext uri="{FF2B5EF4-FFF2-40B4-BE49-F238E27FC236}">
                <a16:creationId xmlns:a16="http://schemas.microsoft.com/office/drawing/2014/main" id="{C51749DD-E78E-D270-059C-42316CE4D971}"/>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533345" y="2355726"/>
            <a:ext cx="85249" cy="140132"/>
          </a:xfrm>
          <a:prstGeom prst="rect">
            <a:avLst/>
          </a:prstGeom>
        </p:spPr>
      </p:pic>
      <p:pic>
        <p:nvPicPr>
          <p:cNvPr id="33" name="Grafik 32">
            <a:extLst>
              <a:ext uri="{FF2B5EF4-FFF2-40B4-BE49-F238E27FC236}">
                <a16:creationId xmlns:a16="http://schemas.microsoft.com/office/drawing/2014/main" id="{F3412A2F-7AFF-28BC-4717-0872D364EF27}"/>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1698714" y="2453556"/>
            <a:ext cx="85249" cy="140132"/>
          </a:xfrm>
          <a:prstGeom prst="rect">
            <a:avLst/>
          </a:prstGeom>
        </p:spPr>
      </p:pic>
      <p:pic>
        <p:nvPicPr>
          <p:cNvPr id="35" name="Grafik 34">
            <a:extLst>
              <a:ext uri="{FF2B5EF4-FFF2-40B4-BE49-F238E27FC236}">
                <a16:creationId xmlns:a16="http://schemas.microsoft.com/office/drawing/2014/main" id="{C5B70503-C1CF-AC6B-054F-B54C03EA2903}"/>
              </a:ext>
            </a:extLst>
          </p:cNvPr>
          <p:cNvPicPr>
            <a:picLocks noChangeAspect="1"/>
          </p:cNvPicPr>
          <p:nvPr>
            <p:custDataLst>
              <p:tags r:id="rId7"/>
            </p:custDataLst>
          </p:nvPr>
        </p:nvPicPr>
        <p:blipFill>
          <a:blip r:embed="rId13" cstate="print">
            <a:extLst>
              <a:ext uri="{28A0092B-C50C-407E-A947-70E740481C1C}">
                <a14:useLocalDpi xmlns:a14="http://schemas.microsoft.com/office/drawing/2010/main" val="0"/>
              </a:ext>
            </a:extLst>
          </a:blip>
          <a:stretch>
            <a:fillRect/>
          </a:stretch>
        </p:blipFill>
        <p:spPr>
          <a:xfrm>
            <a:off x="2290921" y="2452358"/>
            <a:ext cx="85249" cy="140132"/>
          </a:xfrm>
          <a:prstGeom prst="rect">
            <a:avLst/>
          </a:prstGeom>
        </p:spPr>
      </p:pic>
      <p:pic>
        <p:nvPicPr>
          <p:cNvPr id="37" name="Grafik 36">
            <a:extLst>
              <a:ext uri="{FF2B5EF4-FFF2-40B4-BE49-F238E27FC236}">
                <a16:creationId xmlns:a16="http://schemas.microsoft.com/office/drawing/2014/main" id="{DE778BFF-D20C-C2CF-AF1C-24CDF1A2619E}"/>
              </a:ext>
            </a:extLst>
          </p:cNvPr>
          <p:cNvPicPr>
            <a:picLocks noChangeAspect="1"/>
          </p:cNvPicPr>
          <p:nvPr/>
        </p:nvPicPr>
        <p:blipFill>
          <a:blip r:embed="rId14"/>
          <a:srcRect l="2214" t="22635" r="5209" b="22295"/>
          <a:stretch>
            <a:fillRect/>
          </a:stretch>
        </p:blipFill>
        <p:spPr>
          <a:xfrm>
            <a:off x="179512" y="1131590"/>
            <a:ext cx="3011095" cy="94035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Virus mutation</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fik 5" descr="IguanaTex_tmp.png"/>
          <p:cNvPicPr>
            <a:picLocks noChangeAspect="1"/>
          </p:cNvPicPr>
          <p:nvPr>
            <p:custDataLst>
              <p:tags r:id="rId1"/>
            </p:custDataLst>
          </p:nvPr>
        </p:nvPicPr>
        <p:blipFill>
          <a:blip r:embed="rId8" cstate="print"/>
          <a:stretch>
            <a:fillRect/>
          </a:stretch>
        </p:blipFill>
        <p:spPr>
          <a:xfrm>
            <a:off x="1763690" y="1203555"/>
            <a:ext cx="7065596" cy="1575087"/>
          </a:xfrm>
          <a:prstGeom prst="rect">
            <a:avLst/>
          </a:prstGeom>
          <a:noFill/>
          <a:ln/>
          <a:effectLst/>
        </p:spPr>
      </p:pic>
      <p:pic>
        <p:nvPicPr>
          <p:cNvPr id="10" name="Grafik 9" descr="IguanaTex_tmp.png"/>
          <p:cNvPicPr>
            <a:picLocks noChangeAspect="1"/>
          </p:cNvPicPr>
          <p:nvPr>
            <p:custDataLst>
              <p:tags r:id="rId2"/>
            </p:custDataLst>
          </p:nvPr>
        </p:nvPicPr>
        <p:blipFill>
          <a:blip r:embed="rId9" cstate="print"/>
          <a:stretch>
            <a:fillRect/>
          </a:stretch>
        </p:blipFill>
        <p:spPr>
          <a:xfrm>
            <a:off x="1763691" y="3973778"/>
            <a:ext cx="5803855" cy="974236"/>
          </a:xfrm>
          <a:prstGeom prst="rect">
            <a:avLst/>
          </a:prstGeom>
          <a:noFill/>
          <a:ln/>
          <a:effectLst/>
        </p:spPr>
      </p:pic>
      <p:sp>
        <p:nvSpPr>
          <p:cNvPr id="4" name="Ellipse 3">
            <a:extLst>
              <a:ext uri="{FF2B5EF4-FFF2-40B4-BE49-F238E27FC236}">
                <a16:creationId xmlns:a16="http://schemas.microsoft.com/office/drawing/2014/main" id="{03525581-F4A1-B0E7-4407-9FAA21F0766B}"/>
              </a:ext>
            </a:extLst>
          </p:cNvPr>
          <p:cNvSpPr/>
          <p:nvPr/>
        </p:nvSpPr>
        <p:spPr>
          <a:xfrm>
            <a:off x="6040766" y="3002788"/>
            <a:ext cx="914600" cy="648072"/>
          </a:xfrm>
          <a:prstGeom prst="ellips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other</a:t>
            </a:r>
          </a:p>
        </p:txBody>
      </p:sp>
      <p:sp>
        <p:nvSpPr>
          <p:cNvPr id="5" name="Ellipse 4">
            <a:extLst>
              <a:ext uri="{FF2B5EF4-FFF2-40B4-BE49-F238E27FC236}">
                <a16:creationId xmlns:a16="http://schemas.microsoft.com/office/drawing/2014/main" id="{F2A1A21A-D836-69E3-833F-A05695CE2F32}"/>
              </a:ext>
            </a:extLst>
          </p:cNvPr>
          <p:cNvSpPr/>
          <p:nvPr/>
        </p:nvSpPr>
        <p:spPr>
          <a:xfrm>
            <a:off x="3585392" y="3002788"/>
            <a:ext cx="914600" cy="648072"/>
          </a:xfrm>
          <a:prstGeom prst="ellips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initial</a:t>
            </a:r>
          </a:p>
        </p:txBody>
      </p:sp>
      <p:pic>
        <p:nvPicPr>
          <p:cNvPr id="15" name="Grafik 14">
            <a:extLst>
              <a:ext uri="{FF2B5EF4-FFF2-40B4-BE49-F238E27FC236}">
                <a16:creationId xmlns:a16="http://schemas.microsoft.com/office/drawing/2014/main" id="{2CA9D1FB-36BB-DABA-4DE0-6E6D11E30E9B}"/>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5227341" y="3003798"/>
            <a:ext cx="86076" cy="68873"/>
          </a:xfrm>
          <a:prstGeom prst="rect">
            <a:avLst/>
          </a:prstGeom>
        </p:spPr>
      </p:pic>
      <p:pic>
        <p:nvPicPr>
          <p:cNvPr id="17" name="Grafik 16">
            <a:extLst>
              <a:ext uri="{FF2B5EF4-FFF2-40B4-BE49-F238E27FC236}">
                <a16:creationId xmlns:a16="http://schemas.microsoft.com/office/drawing/2014/main" id="{BE2D6DB7-5A29-88D3-96FF-6028E9380D15}"/>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4933567" y="3552300"/>
            <a:ext cx="673625" cy="155519"/>
          </a:xfrm>
          <a:prstGeom prst="rect">
            <a:avLst/>
          </a:prstGeom>
        </p:spPr>
      </p:pic>
      <p:grpSp>
        <p:nvGrpSpPr>
          <p:cNvPr id="11" name="Gruppieren 10">
            <a:extLst>
              <a:ext uri="{FF2B5EF4-FFF2-40B4-BE49-F238E27FC236}">
                <a16:creationId xmlns:a16="http://schemas.microsoft.com/office/drawing/2014/main" id="{D8762704-8DB5-DD43-A369-2A113770864F}"/>
              </a:ext>
            </a:extLst>
          </p:cNvPr>
          <p:cNvGrpSpPr/>
          <p:nvPr/>
        </p:nvGrpSpPr>
        <p:grpSpPr>
          <a:xfrm>
            <a:off x="4564454" y="3212183"/>
            <a:ext cx="1411850" cy="216024"/>
            <a:chOff x="997000" y="2211710"/>
            <a:chExt cx="1411850" cy="216024"/>
          </a:xfrm>
        </p:grpSpPr>
        <p:cxnSp>
          <p:nvCxnSpPr>
            <p:cNvPr id="12" name="Gerade Verbindung mit Pfeil 11">
              <a:extLst>
                <a:ext uri="{FF2B5EF4-FFF2-40B4-BE49-F238E27FC236}">
                  <a16:creationId xmlns:a16="http://schemas.microsoft.com/office/drawing/2014/main" id="{B40EE779-F0D2-7F6A-0815-627590FD41E4}"/>
                </a:ext>
              </a:extLst>
            </p:cNvPr>
            <p:cNvCxnSpPr>
              <a:cxnSpLocks/>
            </p:cNvCxnSpPr>
            <p:nvPr/>
          </p:nvCxnSpPr>
          <p:spPr>
            <a:xfrm>
              <a:off x="997000" y="2211710"/>
              <a:ext cx="1411850" cy="0"/>
            </a:xfrm>
            <a:prstGeom prst="straightConnector1">
              <a:avLst/>
            </a:prstGeom>
            <a:solidFill>
              <a:schemeClr val="bg1">
                <a:lumMod val="95000"/>
              </a:schemeClr>
            </a:solid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13" name="Gerade Verbindung mit Pfeil 12">
              <a:extLst>
                <a:ext uri="{FF2B5EF4-FFF2-40B4-BE49-F238E27FC236}">
                  <a16:creationId xmlns:a16="http://schemas.microsoft.com/office/drawing/2014/main" id="{3E8C48CA-DA32-D054-8AFD-AC413FE2B484}"/>
                </a:ext>
              </a:extLst>
            </p:cNvPr>
            <p:cNvCxnSpPr>
              <a:cxnSpLocks/>
            </p:cNvCxnSpPr>
            <p:nvPr/>
          </p:nvCxnSpPr>
          <p:spPr>
            <a:xfrm flipH="1">
              <a:off x="997000" y="2427734"/>
              <a:ext cx="1411850" cy="0"/>
            </a:xfrm>
            <a:prstGeom prst="straightConnector1">
              <a:avLst/>
            </a:prstGeom>
            <a:solidFill>
              <a:schemeClr val="bg1">
                <a:lumMod val="95000"/>
              </a:schemeClr>
            </a:solid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grpSp>
      <p:pic>
        <p:nvPicPr>
          <p:cNvPr id="1026" name="Picture 2" descr="RACGP - What's the difference between mutations, variants and strains?">
            <a:extLst>
              <a:ext uri="{FF2B5EF4-FFF2-40B4-BE49-F238E27FC236}">
                <a16:creationId xmlns:a16="http://schemas.microsoft.com/office/drawing/2014/main" id="{963F7FDB-1469-8F95-633E-FC13C3DB602A}"/>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9560"/>
          <a:stretch>
            <a:fillRect/>
          </a:stretch>
        </p:blipFill>
        <p:spPr bwMode="auto">
          <a:xfrm rot="5400000">
            <a:off x="-719398" y="1914609"/>
            <a:ext cx="3112102" cy="1314282"/>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uppieren 6">
            <a:extLst>
              <a:ext uri="{FF2B5EF4-FFF2-40B4-BE49-F238E27FC236}">
                <a16:creationId xmlns:a16="http://schemas.microsoft.com/office/drawing/2014/main" id="{E569093B-3CF9-185E-B5F2-245848A5512D}"/>
              </a:ext>
            </a:extLst>
          </p:cNvPr>
          <p:cNvGrpSpPr/>
          <p:nvPr/>
        </p:nvGrpSpPr>
        <p:grpSpPr>
          <a:xfrm rot="5400000" flipH="1">
            <a:off x="6595326" y="3159261"/>
            <a:ext cx="720080" cy="317561"/>
            <a:chOff x="2411760" y="1779662"/>
            <a:chExt cx="720080" cy="317561"/>
          </a:xfrm>
        </p:grpSpPr>
        <p:cxnSp>
          <p:nvCxnSpPr>
            <p:cNvPr id="8" name="Gerader Verbinder 7">
              <a:extLst>
                <a:ext uri="{FF2B5EF4-FFF2-40B4-BE49-F238E27FC236}">
                  <a16:creationId xmlns:a16="http://schemas.microsoft.com/office/drawing/2014/main" id="{C4CDD83C-FF16-DE8B-D18A-7BDF18D27F76}"/>
                </a:ext>
              </a:extLst>
            </p:cNvPr>
            <p:cNvCxnSpPr>
              <a:cxnSpLocks/>
            </p:cNvCxnSpPr>
            <p:nvPr/>
          </p:nvCxnSpPr>
          <p:spPr>
            <a:xfrm flipH="1" flipV="1">
              <a:off x="2411760" y="1923678"/>
              <a:ext cx="89312" cy="131794"/>
            </a:xfrm>
            <a:prstGeom prst="line">
              <a:avLst/>
            </a:prstGeom>
            <a:solidFill>
              <a:schemeClr val="bg1">
                <a:lumMod val="95000"/>
              </a:schemeClr>
            </a:solidFill>
            <a:ln>
              <a:solidFill>
                <a:srgbClr val="00B050"/>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9" name="Gerader Verbinder 8">
              <a:extLst>
                <a:ext uri="{FF2B5EF4-FFF2-40B4-BE49-F238E27FC236}">
                  <a16:creationId xmlns:a16="http://schemas.microsoft.com/office/drawing/2014/main" id="{73385FA6-103C-290A-3DD7-DCF7C0B529E2}"/>
                </a:ext>
              </a:extLst>
            </p:cNvPr>
            <p:cNvCxnSpPr/>
            <p:nvPr/>
          </p:nvCxnSpPr>
          <p:spPr>
            <a:xfrm flipV="1">
              <a:off x="241176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14" name="Gerader Verbinder 13">
              <a:extLst>
                <a:ext uri="{FF2B5EF4-FFF2-40B4-BE49-F238E27FC236}">
                  <a16:creationId xmlns:a16="http://schemas.microsoft.com/office/drawing/2014/main" id="{296B6EAF-AD66-4DEF-DDAE-6DCFBD3DCB64}"/>
                </a:ext>
              </a:extLst>
            </p:cNvPr>
            <p:cNvCxnSpPr/>
            <p:nvPr/>
          </p:nvCxnSpPr>
          <p:spPr>
            <a:xfrm>
              <a:off x="2411760" y="1779662"/>
              <a:ext cx="720080" cy="0"/>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16" name="Gerader Verbinder 15">
              <a:extLst>
                <a:ext uri="{FF2B5EF4-FFF2-40B4-BE49-F238E27FC236}">
                  <a16:creationId xmlns:a16="http://schemas.microsoft.com/office/drawing/2014/main" id="{20E35D9B-CB13-84BB-C543-A8615D613694}"/>
                </a:ext>
              </a:extLst>
            </p:cNvPr>
            <p:cNvCxnSpPr/>
            <p:nvPr/>
          </p:nvCxnSpPr>
          <p:spPr>
            <a:xfrm>
              <a:off x="313184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18" name="Gerader Verbinder 17">
              <a:extLst>
                <a:ext uri="{FF2B5EF4-FFF2-40B4-BE49-F238E27FC236}">
                  <a16:creationId xmlns:a16="http://schemas.microsoft.com/office/drawing/2014/main" id="{347E817E-3756-3C79-3EAF-6F93E032E823}"/>
                </a:ext>
              </a:extLst>
            </p:cNvPr>
            <p:cNvCxnSpPr/>
            <p:nvPr/>
          </p:nvCxnSpPr>
          <p:spPr>
            <a:xfrm flipH="1">
              <a:off x="3018930" y="1923678"/>
              <a:ext cx="112910" cy="173545"/>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19" name="Gruppieren 18">
            <a:extLst>
              <a:ext uri="{FF2B5EF4-FFF2-40B4-BE49-F238E27FC236}">
                <a16:creationId xmlns:a16="http://schemas.microsoft.com/office/drawing/2014/main" id="{69F2DB46-752C-BCF7-5E5A-37F8E56AFE4C}"/>
              </a:ext>
            </a:extLst>
          </p:cNvPr>
          <p:cNvGrpSpPr/>
          <p:nvPr/>
        </p:nvGrpSpPr>
        <p:grpSpPr>
          <a:xfrm rot="5400000" flipV="1">
            <a:off x="3211737" y="3159261"/>
            <a:ext cx="720080" cy="317561"/>
            <a:chOff x="2411760" y="1779662"/>
            <a:chExt cx="720080" cy="317561"/>
          </a:xfrm>
        </p:grpSpPr>
        <p:cxnSp>
          <p:nvCxnSpPr>
            <p:cNvPr id="20" name="Gerader Verbinder 19">
              <a:extLst>
                <a:ext uri="{FF2B5EF4-FFF2-40B4-BE49-F238E27FC236}">
                  <a16:creationId xmlns:a16="http://schemas.microsoft.com/office/drawing/2014/main" id="{25939200-0F28-33E1-4C92-FDED1E8ED811}"/>
                </a:ext>
              </a:extLst>
            </p:cNvPr>
            <p:cNvCxnSpPr>
              <a:cxnSpLocks/>
            </p:cNvCxnSpPr>
            <p:nvPr/>
          </p:nvCxnSpPr>
          <p:spPr>
            <a:xfrm flipH="1" flipV="1">
              <a:off x="2411760" y="1923678"/>
              <a:ext cx="89312" cy="131794"/>
            </a:xfrm>
            <a:prstGeom prst="line">
              <a:avLst/>
            </a:prstGeom>
            <a:solidFill>
              <a:schemeClr val="bg1">
                <a:lumMod val="95000"/>
              </a:schemeClr>
            </a:solidFill>
            <a:ln>
              <a:solidFill>
                <a:srgbClr val="00B050"/>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1" name="Gerader Verbinder 20">
              <a:extLst>
                <a:ext uri="{FF2B5EF4-FFF2-40B4-BE49-F238E27FC236}">
                  <a16:creationId xmlns:a16="http://schemas.microsoft.com/office/drawing/2014/main" id="{C0A3012B-16E5-15A1-1B9B-6EBC6A746285}"/>
                </a:ext>
              </a:extLst>
            </p:cNvPr>
            <p:cNvCxnSpPr/>
            <p:nvPr/>
          </p:nvCxnSpPr>
          <p:spPr>
            <a:xfrm flipV="1">
              <a:off x="241176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2" name="Gerader Verbinder 21">
              <a:extLst>
                <a:ext uri="{FF2B5EF4-FFF2-40B4-BE49-F238E27FC236}">
                  <a16:creationId xmlns:a16="http://schemas.microsoft.com/office/drawing/2014/main" id="{72D41747-B61B-0732-F5B5-576079990208}"/>
                </a:ext>
              </a:extLst>
            </p:cNvPr>
            <p:cNvCxnSpPr/>
            <p:nvPr/>
          </p:nvCxnSpPr>
          <p:spPr>
            <a:xfrm>
              <a:off x="2411760" y="1779662"/>
              <a:ext cx="720080" cy="0"/>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3" name="Gerader Verbinder 22">
              <a:extLst>
                <a:ext uri="{FF2B5EF4-FFF2-40B4-BE49-F238E27FC236}">
                  <a16:creationId xmlns:a16="http://schemas.microsoft.com/office/drawing/2014/main" id="{5F77C4D8-28F8-FEC8-77B8-BAB67182DFC1}"/>
                </a:ext>
              </a:extLst>
            </p:cNvPr>
            <p:cNvCxnSpPr/>
            <p:nvPr/>
          </p:nvCxnSpPr>
          <p:spPr>
            <a:xfrm>
              <a:off x="313184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4" name="Gerader Verbinder 23">
              <a:extLst>
                <a:ext uri="{FF2B5EF4-FFF2-40B4-BE49-F238E27FC236}">
                  <a16:creationId xmlns:a16="http://schemas.microsoft.com/office/drawing/2014/main" id="{BF56A345-49A5-9E98-3307-B454A6003CB1}"/>
                </a:ext>
              </a:extLst>
            </p:cNvPr>
            <p:cNvCxnSpPr/>
            <p:nvPr/>
          </p:nvCxnSpPr>
          <p:spPr>
            <a:xfrm flipH="1">
              <a:off x="3018930" y="1923678"/>
              <a:ext cx="112910" cy="173545"/>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grpSp>
      <p:pic>
        <p:nvPicPr>
          <p:cNvPr id="27" name="Grafik 26">
            <a:extLst>
              <a:ext uri="{FF2B5EF4-FFF2-40B4-BE49-F238E27FC236}">
                <a16:creationId xmlns:a16="http://schemas.microsoft.com/office/drawing/2014/main" id="{79777678-C3F5-9F9B-4F75-4A2AEE7E975E}"/>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2943524" y="3028390"/>
            <a:ext cx="343031" cy="103297"/>
          </a:xfrm>
          <a:prstGeom prst="rect">
            <a:avLst/>
          </a:prstGeom>
        </p:spPr>
      </p:pic>
      <p:pic>
        <p:nvPicPr>
          <p:cNvPr id="31" name="Grafik 30">
            <a:extLst>
              <a:ext uri="{FF2B5EF4-FFF2-40B4-BE49-F238E27FC236}">
                <a16:creationId xmlns:a16="http://schemas.microsoft.com/office/drawing/2014/main" id="{392E1ED0-4AC3-379E-B0FB-1617F0A173B0}"/>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7247583" y="3381160"/>
            <a:ext cx="789478" cy="31815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Virus mutation</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IguanaTex_tmp.png"/>
          <p:cNvPicPr>
            <a:picLocks noChangeAspect="1"/>
          </p:cNvPicPr>
          <p:nvPr>
            <p:custDataLst>
              <p:tags r:id="rId1"/>
            </p:custDataLst>
          </p:nvPr>
        </p:nvPicPr>
        <p:blipFill>
          <a:blip r:embed="rId3" cstate="print"/>
          <a:stretch>
            <a:fillRect/>
          </a:stretch>
        </p:blipFill>
        <p:spPr>
          <a:xfrm>
            <a:off x="1763690" y="1203549"/>
            <a:ext cx="7087773" cy="3763052"/>
          </a:xfrm>
          <a:prstGeom prst="rect">
            <a:avLst/>
          </a:prstGeom>
          <a:noFill/>
          <a:ln/>
          <a:effectLst/>
        </p:spPr>
      </p:pic>
      <p:pic>
        <p:nvPicPr>
          <p:cNvPr id="4" name="Picture 2" descr="RACGP - What's the difference between mutations, variants and strains?">
            <a:extLst>
              <a:ext uri="{FF2B5EF4-FFF2-40B4-BE49-F238E27FC236}">
                <a16:creationId xmlns:a16="http://schemas.microsoft.com/office/drawing/2014/main" id="{77BF5D37-10AE-C3A6-0B12-7F95DE64FBE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9560"/>
          <a:stretch>
            <a:fillRect/>
          </a:stretch>
        </p:blipFill>
        <p:spPr bwMode="auto">
          <a:xfrm rot="5400000">
            <a:off x="-719398" y="1914609"/>
            <a:ext cx="3112102" cy="13142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a:t>
            </a:r>
            <a:br>
              <a:rPr lang="en-US" dirty="0"/>
            </a:br>
            <a:r>
              <a:rPr lang="en-US" dirty="0"/>
              <a:t>Virus mutation</a:t>
            </a:r>
          </a:p>
        </p:txBody>
      </p:sp>
      <p:sp>
        <p:nvSpPr>
          <p:cNvPr id="3" name="Rechteck 2"/>
          <p:cNvSpPr/>
          <p:nvPr/>
        </p:nvSpPr>
        <p:spPr>
          <a:xfrm>
            <a:off x="1691680" y="1131590"/>
            <a:ext cx="7200800" cy="230425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fik 4" descr="IguanaTex_tmp.png"/>
          <p:cNvPicPr>
            <a:picLocks noChangeAspect="1"/>
          </p:cNvPicPr>
          <p:nvPr>
            <p:custDataLst>
              <p:tags r:id="rId1"/>
            </p:custDataLst>
          </p:nvPr>
        </p:nvPicPr>
        <p:blipFill>
          <a:blip r:embed="rId3" cstate="print"/>
          <a:stretch>
            <a:fillRect/>
          </a:stretch>
        </p:blipFill>
        <p:spPr>
          <a:xfrm>
            <a:off x="1763691" y="1203552"/>
            <a:ext cx="7068585" cy="2115684"/>
          </a:xfrm>
          <a:prstGeom prst="rect">
            <a:avLst/>
          </a:prstGeom>
          <a:noFill/>
          <a:ln/>
          <a:effectLst/>
        </p:spPr>
      </p:pic>
      <p:pic>
        <p:nvPicPr>
          <p:cNvPr id="4" name="Picture 2" descr="RACGP - What's the difference between mutations, variants and strains?">
            <a:extLst>
              <a:ext uri="{FF2B5EF4-FFF2-40B4-BE49-F238E27FC236}">
                <a16:creationId xmlns:a16="http://schemas.microsoft.com/office/drawing/2014/main" id="{756C3BF3-252A-9218-82D1-09BBA13970E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9560"/>
          <a:stretch>
            <a:fillRect/>
          </a:stretch>
        </p:blipFill>
        <p:spPr bwMode="auto">
          <a:xfrm rot="5400000">
            <a:off x="-719398" y="1914609"/>
            <a:ext cx="3112102" cy="13142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A22CC-B9C4-403A-C322-52EB47B5F88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389F180-5CC2-D715-95A3-3B81DDC84C68}"/>
              </a:ext>
            </a:extLst>
          </p:cNvPr>
          <p:cNvSpPr>
            <a:spLocks noGrp="1"/>
          </p:cNvSpPr>
          <p:nvPr>
            <p:ph type="title"/>
          </p:nvPr>
        </p:nvSpPr>
        <p:spPr/>
        <p:txBody>
          <a:bodyPr/>
          <a:lstStyle/>
          <a:p>
            <a:r>
              <a:rPr lang="en-US" noProof="0" dirty="0"/>
              <a:t>Example [continued]:</a:t>
            </a:r>
            <a:br>
              <a:rPr lang="en-US" noProof="0" dirty="0"/>
            </a:br>
            <a:r>
              <a:rPr lang="en-US" noProof="0" dirty="0"/>
              <a:t>Markov chain for a forest consisting of two tree species</a:t>
            </a:r>
          </a:p>
        </p:txBody>
      </p:sp>
      <p:sp>
        <p:nvSpPr>
          <p:cNvPr id="3" name="Rechteck 2">
            <a:extLst>
              <a:ext uri="{FF2B5EF4-FFF2-40B4-BE49-F238E27FC236}">
                <a16:creationId xmlns:a16="http://schemas.microsoft.com/office/drawing/2014/main" id="{58B35F2F-F9C9-D247-E361-3D7923953C2C}"/>
              </a:ext>
            </a:extLst>
          </p:cNvPr>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descr="IguanaTex_tmp.png">
            <a:extLst>
              <a:ext uri="{FF2B5EF4-FFF2-40B4-BE49-F238E27FC236}">
                <a16:creationId xmlns:a16="http://schemas.microsoft.com/office/drawing/2014/main" id="{D193F85C-4280-80C6-FB41-C4AA8BFE6EB5}"/>
              </a:ext>
            </a:extLst>
          </p:cNvPr>
          <p:cNvPicPr>
            <a:picLocks noChangeAspect="1"/>
          </p:cNvPicPr>
          <p:nvPr>
            <p:custDataLst>
              <p:tags r:id="rId1"/>
            </p:custDataLst>
          </p:nvPr>
        </p:nvPicPr>
        <p:blipFill>
          <a:blip r:embed="rId3" cstate="print"/>
          <a:stretch>
            <a:fillRect/>
          </a:stretch>
        </p:blipFill>
        <p:spPr>
          <a:xfrm>
            <a:off x="1763690" y="1203586"/>
            <a:ext cx="7066299" cy="3770021"/>
          </a:xfrm>
          <a:prstGeom prst="rect">
            <a:avLst/>
          </a:prstGeom>
          <a:noFill/>
          <a:ln/>
          <a:effectLst/>
        </p:spPr>
      </p:pic>
      <p:pic>
        <p:nvPicPr>
          <p:cNvPr id="14338" name="Picture 2" descr="The Role of Red Oaks in the Oak Wilt Cycle | AustinTexas.gov">
            <a:extLst>
              <a:ext uri="{FF2B5EF4-FFF2-40B4-BE49-F238E27FC236}">
                <a16:creationId xmlns:a16="http://schemas.microsoft.com/office/drawing/2014/main" id="{028ECF9D-F846-1AE7-E638-B36EC5C8CE50}"/>
              </a:ext>
            </a:extLst>
          </p:cNvPr>
          <p:cNvPicPr>
            <a:picLocks noChangeAspect="1" noChangeArrowheads="1"/>
          </p:cNvPicPr>
          <p:nvPr/>
        </p:nvPicPr>
        <p:blipFill>
          <a:blip r:embed="rId4" cstate="print"/>
          <a:srcRect/>
          <a:stretch>
            <a:fillRect/>
          </a:stretch>
        </p:blipFill>
        <p:spPr bwMode="auto">
          <a:xfrm>
            <a:off x="251520" y="1131590"/>
            <a:ext cx="1296144" cy="1296144"/>
          </a:xfrm>
          <a:prstGeom prst="rect">
            <a:avLst/>
          </a:prstGeom>
          <a:noFill/>
        </p:spPr>
      </p:pic>
      <p:sp>
        <p:nvSpPr>
          <p:cNvPr id="7" name="Textfeld 6">
            <a:extLst>
              <a:ext uri="{FF2B5EF4-FFF2-40B4-BE49-F238E27FC236}">
                <a16:creationId xmlns:a16="http://schemas.microsoft.com/office/drawing/2014/main" id="{1FAD9AB5-8B35-7BC7-073F-433F48BED621}"/>
              </a:ext>
            </a:extLst>
          </p:cNvPr>
          <p:cNvSpPr txBox="1"/>
          <p:nvPr/>
        </p:nvSpPr>
        <p:spPr>
          <a:xfrm>
            <a:off x="251520" y="2283718"/>
            <a:ext cx="653897" cy="276999"/>
          </a:xfrm>
          <a:prstGeom prst="rect">
            <a:avLst/>
          </a:prstGeom>
          <a:noFill/>
        </p:spPr>
        <p:txBody>
          <a:bodyPr wrap="none" rtlCol="0">
            <a:spAutoFit/>
          </a:bodyPr>
          <a:lstStyle/>
          <a:p>
            <a:r>
              <a:rPr lang="en-US" sz="1200" noProof="0" dirty="0"/>
              <a:t>red oak</a:t>
            </a:r>
          </a:p>
        </p:txBody>
      </p:sp>
      <p:pic>
        <p:nvPicPr>
          <p:cNvPr id="14340" name="Picture 4" descr="Schuppenrindenhickory (Carya ovata) als Gartenbaum, Straßenbaum und  Forstpflanze - Baumschule für Klimawandelgehölze">
            <a:extLst>
              <a:ext uri="{FF2B5EF4-FFF2-40B4-BE49-F238E27FC236}">
                <a16:creationId xmlns:a16="http://schemas.microsoft.com/office/drawing/2014/main" id="{76F2B2A8-D875-FB4C-B7FF-CC34B172C512}"/>
              </a:ext>
            </a:extLst>
          </p:cNvPr>
          <p:cNvPicPr>
            <a:picLocks noChangeAspect="1" noChangeArrowheads="1"/>
          </p:cNvPicPr>
          <p:nvPr/>
        </p:nvPicPr>
        <p:blipFill>
          <a:blip r:embed="rId5" cstate="print"/>
          <a:srcRect/>
          <a:stretch>
            <a:fillRect/>
          </a:stretch>
        </p:blipFill>
        <p:spPr bwMode="auto">
          <a:xfrm>
            <a:off x="179512" y="2715766"/>
            <a:ext cx="1368152" cy="1368152"/>
          </a:xfrm>
          <a:prstGeom prst="rect">
            <a:avLst/>
          </a:prstGeom>
          <a:noFill/>
        </p:spPr>
      </p:pic>
      <p:sp>
        <p:nvSpPr>
          <p:cNvPr id="8" name="Textfeld 7">
            <a:extLst>
              <a:ext uri="{FF2B5EF4-FFF2-40B4-BE49-F238E27FC236}">
                <a16:creationId xmlns:a16="http://schemas.microsoft.com/office/drawing/2014/main" id="{4EECB8F7-A279-BF72-7CED-CAA943835A75}"/>
              </a:ext>
            </a:extLst>
          </p:cNvPr>
          <p:cNvSpPr txBox="1"/>
          <p:nvPr/>
        </p:nvSpPr>
        <p:spPr>
          <a:xfrm>
            <a:off x="251520" y="4083918"/>
            <a:ext cx="635495" cy="276999"/>
          </a:xfrm>
          <a:prstGeom prst="rect">
            <a:avLst/>
          </a:prstGeom>
          <a:noFill/>
        </p:spPr>
        <p:txBody>
          <a:bodyPr wrap="none" rtlCol="0">
            <a:spAutoFit/>
          </a:bodyPr>
          <a:lstStyle/>
          <a:p>
            <a:r>
              <a:rPr lang="en-US" sz="1200" noProof="0" dirty="0"/>
              <a:t>hickory</a:t>
            </a:r>
          </a:p>
        </p:txBody>
      </p:sp>
    </p:spTree>
    <p:extLst>
      <p:ext uri="{BB962C8B-B14F-4D97-AF65-F5344CB8AC3E}">
        <p14:creationId xmlns:p14="http://schemas.microsoft.com/office/powerpoint/2010/main" val="1529832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Markov chain for a forest consisting of two tree species</a:t>
            </a:r>
          </a:p>
        </p:txBody>
      </p:sp>
      <p:sp>
        <p:nvSpPr>
          <p:cNvPr id="3" name="Rechteck 2"/>
          <p:cNvSpPr/>
          <p:nvPr/>
        </p:nvSpPr>
        <p:spPr>
          <a:xfrm>
            <a:off x="3419872" y="1131590"/>
            <a:ext cx="5472608"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fik 10" descr="IguanaTex_tmp.png"/>
          <p:cNvPicPr>
            <a:picLocks noChangeAspect="1"/>
          </p:cNvPicPr>
          <p:nvPr>
            <p:custDataLst>
              <p:tags r:id="rId1"/>
            </p:custDataLst>
          </p:nvPr>
        </p:nvPicPr>
        <p:blipFill>
          <a:blip r:embed="rId7" cstate="print"/>
          <a:stretch>
            <a:fillRect/>
          </a:stretch>
        </p:blipFill>
        <p:spPr>
          <a:xfrm>
            <a:off x="3491877" y="1203596"/>
            <a:ext cx="5337032" cy="3694962"/>
          </a:xfrm>
          <a:prstGeom prst="rect">
            <a:avLst/>
          </a:prstGeom>
          <a:noFill/>
          <a:ln/>
          <a:effectLst/>
        </p:spPr>
      </p:pic>
      <p:sp>
        <p:nvSpPr>
          <p:cNvPr id="6" name="Textfeld 5"/>
          <p:cNvSpPr txBox="1"/>
          <p:nvPr/>
        </p:nvSpPr>
        <p:spPr>
          <a:xfrm>
            <a:off x="251520" y="1131590"/>
            <a:ext cx="2880320" cy="461665"/>
          </a:xfrm>
          <a:prstGeom prst="rect">
            <a:avLst/>
          </a:prstGeom>
          <a:solidFill>
            <a:schemeClr val="bg1">
              <a:lumMod val="85000"/>
            </a:schemeClr>
          </a:solidFill>
        </p:spPr>
        <p:txBody>
          <a:bodyPr wrap="square" rtlCol="0">
            <a:spAutoFit/>
          </a:bodyPr>
          <a:lstStyle/>
          <a:p>
            <a:r>
              <a:rPr lang="en-US" sz="1200" noProof="0" dirty="0"/>
              <a:t>Transitions between red oak and hickory vegetation:</a:t>
            </a:r>
          </a:p>
        </p:txBody>
      </p:sp>
      <p:graphicFrame>
        <p:nvGraphicFramePr>
          <p:cNvPr id="8" name="Tabelle 7"/>
          <p:cNvGraphicFramePr>
            <a:graphicFrameLocks noGrp="1"/>
          </p:cNvGraphicFramePr>
          <p:nvPr>
            <p:extLst>
              <p:ext uri="{D42A27DB-BD31-4B8C-83A1-F6EECF244321}">
                <p14:modId xmlns:p14="http://schemas.microsoft.com/office/powerpoint/2010/main" val="2055584707"/>
              </p:ext>
            </p:extLst>
          </p:nvPr>
        </p:nvGraphicFramePr>
        <p:xfrm>
          <a:off x="251520" y="3075806"/>
          <a:ext cx="2880321" cy="1097280"/>
        </p:xfrm>
        <a:graphic>
          <a:graphicData uri="http://schemas.openxmlformats.org/drawingml/2006/table">
            <a:tbl>
              <a:tblPr firstRow="1" bandRow="1">
                <a:tableStyleId>{2D5ABB26-0587-4C30-8999-92F81FD0307C}</a:tableStyleId>
              </a:tblPr>
              <a:tblGrid>
                <a:gridCol w="960107">
                  <a:extLst>
                    <a:ext uri="{9D8B030D-6E8A-4147-A177-3AD203B41FA5}">
                      <a16:colId xmlns:a16="http://schemas.microsoft.com/office/drawing/2014/main" val="20000"/>
                    </a:ext>
                  </a:extLst>
                </a:gridCol>
                <a:gridCol w="960107">
                  <a:extLst>
                    <a:ext uri="{9D8B030D-6E8A-4147-A177-3AD203B41FA5}">
                      <a16:colId xmlns:a16="http://schemas.microsoft.com/office/drawing/2014/main" val="20001"/>
                    </a:ext>
                  </a:extLst>
                </a:gridCol>
                <a:gridCol w="960107">
                  <a:extLst>
                    <a:ext uri="{9D8B030D-6E8A-4147-A177-3AD203B41FA5}">
                      <a16:colId xmlns:a16="http://schemas.microsoft.com/office/drawing/2014/main" val="20002"/>
                    </a:ext>
                  </a:extLst>
                </a:gridCol>
              </a:tblGrid>
              <a:tr h="0">
                <a:tc>
                  <a:txBody>
                    <a:bodyPr/>
                    <a:lstStyle/>
                    <a:p>
                      <a:pPr algn="ctr"/>
                      <a:endParaRPr lang="en-US" sz="1200" noProof="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200" noProof="0" dirty="0"/>
                        <a:t>Canopy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r>
                        <a:rPr lang="en-US" sz="1200" noProof="0" dirty="0"/>
                        <a:t>% Samplings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200" noProof="0" dirty="0"/>
                        <a:t>Red</a:t>
                      </a:r>
                      <a:r>
                        <a:rPr lang="en-US" sz="1200" baseline="0" noProof="0" dirty="0"/>
                        <a:t> oak</a:t>
                      </a:r>
                      <a:endParaRPr lang="en-US"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Hickory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sz="1200" noProof="0" dirty="0"/>
                        <a:t>Red oak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200" noProof="0"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0.74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en-US" sz="1200" noProof="0" dirty="0"/>
                        <a:t>Hickory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200" noProof="0"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Ellipse 3">
            <a:extLst>
              <a:ext uri="{FF2B5EF4-FFF2-40B4-BE49-F238E27FC236}">
                <a16:creationId xmlns:a16="http://schemas.microsoft.com/office/drawing/2014/main" id="{3536BC58-6DBE-A8C8-CCB1-0C1772CA8B01}"/>
              </a:ext>
            </a:extLst>
          </p:cNvPr>
          <p:cNvSpPr/>
          <p:nvPr/>
        </p:nvSpPr>
        <p:spPr>
          <a:xfrm>
            <a:off x="2465766" y="2154405"/>
            <a:ext cx="648072" cy="648072"/>
          </a:xfrm>
          <a:prstGeom prst="ellips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HI</a:t>
            </a:r>
          </a:p>
        </p:txBody>
      </p:sp>
      <p:sp>
        <p:nvSpPr>
          <p:cNvPr id="5" name="Ellipse 4">
            <a:extLst>
              <a:ext uri="{FF2B5EF4-FFF2-40B4-BE49-F238E27FC236}">
                <a16:creationId xmlns:a16="http://schemas.microsoft.com/office/drawing/2014/main" id="{A26E4888-BF87-D674-EB8B-32189344D0B7}"/>
              </a:ext>
            </a:extLst>
          </p:cNvPr>
          <p:cNvSpPr/>
          <p:nvPr/>
        </p:nvSpPr>
        <p:spPr>
          <a:xfrm>
            <a:off x="276920" y="2154405"/>
            <a:ext cx="648072" cy="648072"/>
          </a:xfrm>
          <a:prstGeom prst="ellips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RO</a:t>
            </a:r>
          </a:p>
        </p:txBody>
      </p:sp>
      <p:pic>
        <p:nvPicPr>
          <p:cNvPr id="7" name="Grafik 6">
            <a:extLst>
              <a:ext uri="{FF2B5EF4-FFF2-40B4-BE49-F238E27FC236}">
                <a16:creationId xmlns:a16="http://schemas.microsoft.com/office/drawing/2014/main" id="{D1DC3433-D2E6-DE0E-D820-ED4CDDFC8DFE}"/>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65588" y="1711526"/>
            <a:ext cx="959840" cy="127065"/>
          </a:xfrm>
          <a:prstGeom prst="rect">
            <a:avLst/>
          </a:prstGeom>
        </p:spPr>
      </p:pic>
      <p:pic>
        <p:nvPicPr>
          <p:cNvPr id="9" name="Grafik 8">
            <a:extLst>
              <a:ext uri="{FF2B5EF4-FFF2-40B4-BE49-F238E27FC236}">
                <a16:creationId xmlns:a16="http://schemas.microsoft.com/office/drawing/2014/main" id="{66E899F4-6515-3E87-C00A-1E682878FE7C}"/>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250779" y="2125611"/>
            <a:ext cx="914600" cy="127355"/>
          </a:xfrm>
          <a:prstGeom prst="rect">
            <a:avLst/>
          </a:prstGeom>
        </p:spPr>
      </p:pic>
      <p:pic>
        <p:nvPicPr>
          <p:cNvPr id="10" name="Grafik 9">
            <a:extLst>
              <a:ext uri="{FF2B5EF4-FFF2-40B4-BE49-F238E27FC236}">
                <a16:creationId xmlns:a16="http://schemas.microsoft.com/office/drawing/2014/main" id="{AB41E3D5-1F68-77CF-7FB8-188ECC42AFF6}"/>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2153820" y="1707654"/>
            <a:ext cx="949884" cy="127936"/>
          </a:xfrm>
          <a:prstGeom prst="rect">
            <a:avLst/>
          </a:prstGeom>
        </p:spPr>
      </p:pic>
      <p:pic>
        <p:nvPicPr>
          <p:cNvPr id="12" name="Grafik 11">
            <a:extLst>
              <a:ext uri="{FF2B5EF4-FFF2-40B4-BE49-F238E27FC236}">
                <a16:creationId xmlns:a16="http://schemas.microsoft.com/office/drawing/2014/main" id="{441D5519-5EDC-E55B-379A-963F446E1757}"/>
              </a:ext>
            </a:extLst>
          </p:cNvPr>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1235572" y="2703916"/>
            <a:ext cx="998769" cy="129150"/>
          </a:xfrm>
          <a:prstGeom prst="rect">
            <a:avLst/>
          </a:prstGeom>
        </p:spPr>
      </p:pic>
      <p:grpSp>
        <p:nvGrpSpPr>
          <p:cNvPr id="13" name="Gruppieren 12">
            <a:extLst>
              <a:ext uri="{FF2B5EF4-FFF2-40B4-BE49-F238E27FC236}">
                <a16:creationId xmlns:a16="http://schemas.microsoft.com/office/drawing/2014/main" id="{353D6DD0-E6AB-D497-9E3E-F5F52A04E4A1}"/>
              </a:ext>
            </a:extLst>
          </p:cNvPr>
          <p:cNvGrpSpPr/>
          <p:nvPr/>
        </p:nvGrpSpPr>
        <p:grpSpPr>
          <a:xfrm>
            <a:off x="989454" y="2363800"/>
            <a:ext cx="1411850" cy="216024"/>
            <a:chOff x="997000" y="2211710"/>
            <a:chExt cx="1411850" cy="216024"/>
          </a:xfrm>
        </p:grpSpPr>
        <p:cxnSp>
          <p:nvCxnSpPr>
            <p:cNvPr id="14" name="Gerade Verbindung mit Pfeil 13">
              <a:extLst>
                <a:ext uri="{FF2B5EF4-FFF2-40B4-BE49-F238E27FC236}">
                  <a16:creationId xmlns:a16="http://schemas.microsoft.com/office/drawing/2014/main" id="{4EB3177A-318A-47EC-0CFF-44DD245892C7}"/>
                </a:ext>
              </a:extLst>
            </p:cNvPr>
            <p:cNvCxnSpPr>
              <a:cxnSpLocks/>
            </p:cNvCxnSpPr>
            <p:nvPr/>
          </p:nvCxnSpPr>
          <p:spPr>
            <a:xfrm>
              <a:off x="997000" y="2211710"/>
              <a:ext cx="1411850" cy="0"/>
            </a:xfrm>
            <a:prstGeom prst="straightConnector1">
              <a:avLst/>
            </a:prstGeom>
            <a:solidFill>
              <a:schemeClr val="bg1">
                <a:lumMod val="95000"/>
              </a:schemeClr>
            </a:solid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15" name="Gerade Verbindung mit Pfeil 14">
              <a:extLst>
                <a:ext uri="{FF2B5EF4-FFF2-40B4-BE49-F238E27FC236}">
                  <a16:creationId xmlns:a16="http://schemas.microsoft.com/office/drawing/2014/main" id="{F9A30F0A-9322-87A1-80BC-31778986710B}"/>
                </a:ext>
              </a:extLst>
            </p:cNvPr>
            <p:cNvCxnSpPr>
              <a:cxnSpLocks/>
            </p:cNvCxnSpPr>
            <p:nvPr/>
          </p:nvCxnSpPr>
          <p:spPr>
            <a:xfrm flipH="1">
              <a:off x="997000" y="2427734"/>
              <a:ext cx="1411850" cy="0"/>
            </a:xfrm>
            <a:prstGeom prst="straightConnector1">
              <a:avLst/>
            </a:prstGeom>
            <a:solidFill>
              <a:schemeClr val="bg1">
                <a:lumMod val="95000"/>
              </a:schemeClr>
            </a:solid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grpSp>
      <p:grpSp>
        <p:nvGrpSpPr>
          <p:cNvPr id="16" name="Gruppieren 15">
            <a:extLst>
              <a:ext uri="{FF2B5EF4-FFF2-40B4-BE49-F238E27FC236}">
                <a16:creationId xmlns:a16="http://schemas.microsoft.com/office/drawing/2014/main" id="{548E2CD2-26A2-558D-B395-7B11EDAB25A0}"/>
              </a:ext>
            </a:extLst>
          </p:cNvPr>
          <p:cNvGrpSpPr/>
          <p:nvPr/>
        </p:nvGrpSpPr>
        <p:grpSpPr>
          <a:xfrm>
            <a:off x="2411760" y="1931752"/>
            <a:ext cx="720080" cy="309487"/>
            <a:chOff x="2411760" y="1779662"/>
            <a:chExt cx="720080" cy="309487"/>
          </a:xfrm>
        </p:grpSpPr>
        <p:cxnSp>
          <p:nvCxnSpPr>
            <p:cNvPr id="17" name="Gerader Verbinder 16">
              <a:extLst>
                <a:ext uri="{FF2B5EF4-FFF2-40B4-BE49-F238E27FC236}">
                  <a16:creationId xmlns:a16="http://schemas.microsoft.com/office/drawing/2014/main" id="{6A5BACF8-3D43-BA4C-4DBA-1F2C27E1EE95}"/>
                </a:ext>
              </a:extLst>
            </p:cNvPr>
            <p:cNvCxnSpPr>
              <a:cxnSpLocks/>
            </p:cNvCxnSpPr>
            <p:nvPr/>
          </p:nvCxnSpPr>
          <p:spPr>
            <a:xfrm flipH="1" flipV="1">
              <a:off x="2411760" y="1923678"/>
              <a:ext cx="89312" cy="131794"/>
            </a:xfrm>
            <a:prstGeom prst="line">
              <a:avLst/>
            </a:prstGeom>
            <a:solidFill>
              <a:schemeClr val="bg1">
                <a:lumMod val="95000"/>
              </a:schemeClr>
            </a:solidFill>
            <a:ln>
              <a:solidFill>
                <a:srgbClr val="00B050"/>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18" name="Gerader Verbinder 17">
              <a:extLst>
                <a:ext uri="{FF2B5EF4-FFF2-40B4-BE49-F238E27FC236}">
                  <a16:creationId xmlns:a16="http://schemas.microsoft.com/office/drawing/2014/main" id="{D6123C15-2D56-FE64-468C-C0EAAA462F7D}"/>
                </a:ext>
              </a:extLst>
            </p:cNvPr>
            <p:cNvCxnSpPr/>
            <p:nvPr/>
          </p:nvCxnSpPr>
          <p:spPr>
            <a:xfrm flipV="1">
              <a:off x="241176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19" name="Gerader Verbinder 18">
              <a:extLst>
                <a:ext uri="{FF2B5EF4-FFF2-40B4-BE49-F238E27FC236}">
                  <a16:creationId xmlns:a16="http://schemas.microsoft.com/office/drawing/2014/main" id="{1671A84A-A231-681C-4619-04612D98E77B}"/>
                </a:ext>
              </a:extLst>
            </p:cNvPr>
            <p:cNvCxnSpPr/>
            <p:nvPr/>
          </p:nvCxnSpPr>
          <p:spPr>
            <a:xfrm>
              <a:off x="2411760" y="1779662"/>
              <a:ext cx="720080" cy="0"/>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0" name="Gerader Verbinder 19">
              <a:extLst>
                <a:ext uri="{FF2B5EF4-FFF2-40B4-BE49-F238E27FC236}">
                  <a16:creationId xmlns:a16="http://schemas.microsoft.com/office/drawing/2014/main" id="{CD0E1FF0-53B0-660F-3699-433A4365B802}"/>
                </a:ext>
              </a:extLst>
            </p:cNvPr>
            <p:cNvCxnSpPr>
              <a:cxnSpLocks/>
            </p:cNvCxnSpPr>
            <p:nvPr/>
          </p:nvCxnSpPr>
          <p:spPr>
            <a:xfrm>
              <a:off x="313184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1" name="Gerader Verbinder 20">
              <a:extLst>
                <a:ext uri="{FF2B5EF4-FFF2-40B4-BE49-F238E27FC236}">
                  <a16:creationId xmlns:a16="http://schemas.microsoft.com/office/drawing/2014/main" id="{86A01EAB-3046-C9E3-7407-251B18FFB115}"/>
                </a:ext>
              </a:extLst>
            </p:cNvPr>
            <p:cNvCxnSpPr>
              <a:cxnSpLocks/>
            </p:cNvCxnSpPr>
            <p:nvPr/>
          </p:nvCxnSpPr>
          <p:spPr>
            <a:xfrm flipH="1">
              <a:off x="3018930" y="1915604"/>
              <a:ext cx="112910" cy="173545"/>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22" name="Gruppieren 21">
            <a:extLst>
              <a:ext uri="{FF2B5EF4-FFF2-40B4-BE49-F238E27FC236}">
                <a16:creationId xmlns:a16="http://schemas.microsoft.com/office/drawing/2014/main" id="{28493925-036F-4385-A804-92B95F6A8AE4}"/>
              </a:ext>
            </a:extLst>
          </p:cNvPr>
          <p:cNvGrpSpPr/>
          <p:nvPr/>
        </p:nvGrpSpPr>
        <p:grpSpPr>
          <a:xfrm flipH="1">
            <a:off x="251520" y="1931752"/>
            <a:ext cx="720080" cy="317561"/>
            <a:chOff x="2411760" y="1779662"/>
            <a:chExt cx="720080" cy="317561"/>
          </a:xfrm>
        </p:grpSpPr>
        <p:cxnSp>
          <p:nvCxnSpPr>
            <p:cNvPr id="23" name="Gerader Verbinder 22">
              <a:extLst>
                <a:ext uri="{FF2B5EF4-FFF2-40B4-BE49-F238E27FC236}">
                  <a16:creationId xmlns:a16="http://schemas.microsoft.com/office/drawing/2014/main" id="{75EAC983-2CD9-BDBF-217F-110BA8A0D8D5}"/>
                </a:ext>
              </a:extLst>
            </p:cNvPr>
            <p:cNvCxnSpPr>
              <a:cxnSpLocks/>
            </p:cNvCxnSpPr>
            <p:nvPr/>
          </p:nvCxnSpPr>
          <p:spPr>
            <a:xfrm flipH="1" flipV="1">
              <a:off x="2411760" y="1923678"/>
              <a:ext cx="89312" cy="131794"/>
            </a:xfrm>
            <a:prstGeom prst="line">
              <a:avLst/>
            </a:prstGeom>
            <a:solidFill>
              <a:schemeClr val="bg1">
                <a:lumMod val="95000"/>
              </a:schemeClr>
            </a:solidFill>
            <a:ln>
              <a:solidFill>
                <a:srgbClr val="00B050"/>
              </a:solidFill>
              <a:headEnd type="triangl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4" name="Gerader Verbinder 23">
              <a:extLst>
                <a:ext uri="{FF2B5EF4-FFF2-40B4-BE49-F238E27FC236}">
                  <a16:creationId xmlns:a16="http://schemas.microsoft.com/office/drawing/2014/main" id="{B39D4329-6DC4-F9B8-AE8A-6547F6888D40}"/>
                </a:ext>
              </a:extLst>
            </p:cNvPr>
            <p:cNvCxnSpPr/>
            <p:nvPr/>
          </p:nvCxnSpPr>
          <p:spPr>
            <a:xfrm flipV="1">
              <a:off x="241176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Gerader Verbinder 24">
              <a:extLst>
                <a:ext uri="{FF2B5EF4-FFF2-40B4-BE49-F238E27FC236}">
                  <a16:creationId xmlns:a16="http://schemas.microsoft.com/office/drawing/2014/main" id="{284B45D6-F6E1-14FF-A88B-E8DB9FBE2F7C}"/>
                </a:ext>
              </a:extLst>
            </p:cNvPr>
            <p:cNvCxnSpPr/>
            <p:nvPr/>
          </p:nvCxnSpPr>
          <p:spPr>
            <a:xfrm>
              <a:off x="2411760" y="1779662"/>
              <a:ext cx="720080" cy="0"/>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E1D70841-EFDE-2621-6B54-3A70C72CFA85}"/>
                </a:ext>
              </a:extLst>
            </p:cNvPr>
            <p:cNvCxnSpPr/>
            <p:nvPr/>
          </p:nvCxnSpPr>
          <p:spPr>
            <a:xfrm>
              <a:off x="3131840" y="1779662"/>
              <a:ext cx="0" cy="144016"/>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69D9B41A-FAC4-8BCB-5990-7F2C3F0B7978}"/>
                </a:ext>
              </a:extLst>
            </p:cNvPr>
            <p:cNvCxnSpPr/>
            <p:nvPr/>
          </p:nvCxnSpPr>
          <p:spPr>
            <a:xfrm flipH="1">
              <a:off x="3018930" y="1923678"/>
              <a:ext cx="112910" cy="173545"/>
            </a:xfrm>
            <a:prstGeom prst="line">
              <a:avLst/>
            </a:prstGeom>
            <a:solidFill>
              <a:schemeClr val="bg1">
                <a:lumMod val="95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Markov chain for a forest consisting of two tree species</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 name="Grafik 11" descr="IguanaTex_tmp.png"/>
          <p:cNvPicPr>
            <a:picLocks noChangeAspect="1"/>
          </p:cNvPicPr>
          <p:nvPr>
            <p:custDataLst>
              <p:tags r:id="rId1"/>
            </p:custDataLst>
          </p:nvPr>
        </p:nvPicPr>
        <p:blipFill>
          <a:blip r:embed="rId3" cstate="print"/>
          <a:stretch>
            <a:fillRect/>
          </a:stretch>
        </p:blipFill>
        <p:spPr>
          <a:xfrm>
            <a:off x="1763690" y="1203582"/>
            <a:ext cx="7058647" cy="3444248"/>
          </a:xfrm>
          <a:prstGeom prst="rect">
            <a:avLst/>
          </a:prstGeom>
          <a:noFill/>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Markov chain for a forest consisting of two tree species</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 name="Grafik 4" descr="IguanaTex_tmp.png"/>
          <p:cNvPicPr>
            <a:picLocks noChangeAspect="1"/>
          </p:cNvPicPr>
          <p:nvPr>
            <p:custDataLst>
              <p:tags r:id="rId1"/>
            </p:custDataLst>
          </p:nvPr>
        </p:nvPicPr>
        <p:blipFill>
          <a:blip r:embed="rId3" cstate="print"/>
          <a:stretch>
            <a:fillRect/>
          </a:stretch>
        </p:blipFill>
        <p:spPr>
          <a:xfrm>
            <a:off x="1763691" y="1203581"/>
            <a:ext cx="7054989" cy="3282966"/>
          </a:xfrm>
          <a:prstGeom prst="rect">
            <a:avLst/>
          </a:prstGeom>
          <a:noFill/>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Markov chain for a forest consisting of two tree species</a:t>
            </a:r>
          </a:p>
        </p:txBody>
      </p:sp>
      <p:sp>
        <p:nvSpPr>
          <p:cNvPr id="3" name="Rechteck 2"/>
          <p:cNvSpPr/>
          <p:nvPr/>
        </p:nvSpPr>
        <p:spPr>
          <a:xfrm>
            <a:off x="1691680" y="1131590"/>
            <a:ext cx="7200800" cy="172819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descr="IguanaTex_tmp.png"/>
          <p:cNvPicPr>
            <a:picLocks noChangeAspect="1"/>
          </p:cNvPicPr>
          <p:nvPr>
            <p:custDataLst>
              <p:tags r:id="rId1"/>
            </p:custDataLst>
          </p:nvPr>
        </p:nvPicPr>
        <p:blipFill>
          <a:blip r:embed="rId3" cstate="print"/>
          <a:stretch>
            <a:fillRect/>
          </a:stretch>
        </p:blipFill>
        <p:spPr>
          <a:xfrm>
            <a:off x="1763691" y="1203580"/>
            <a:ext cx="6065073" cy="1358208"/>
          </a:xfrm>
          <a:prstGeom prst="rect">
            <a:avLst/>
          </a:prstGeom>
          <a:noFill/>
          <a:ln/>
          <a:effectLst/>
        </p:spPr>
      </p:pic>
      <p:pic>
        <p:nvPicPr>
          <p:cNvPr id="4" name="Grafik 3">
            <a:extLst>
              <a:ext uri="{FF2B5EF4-FFF2-40B4-BE49-F238E27FC236}">
                <a16:creationId xmlns:a16="http://schemas.microsoft.com/office/drawing/2014/main" id="{23BF3FF0-0724-520C-93C5-90D732645C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5678" y="3134306"/>
            <a:ext cx="3104354" cy="1851317"/>
          </a:xfrm>
          <a:prstGeom prst="rect">
            <a:avLst/>
          </a:prstGeom>
        </p:spPr>
      </p:pic>
      <p:sp>
        <p:nvSpPr>
          <p:cNvPr id="5" name="Textfeld 4">
            <a:extLst>
              <a:ext uri="{FF2B5EF4-FFF2-40B4-BE49-F238E27FC236}">
                <a16:creationId xmlns:a16="http://schemas.microsoft.com/office/drawing/2014/main" id="{D6372414-27C6-CC60-665C-40388922C2F3}"/>
              </a:ext>
            </a:extLst>
          </p:cNvPr>
          <p:cNvSpPr txBox="1"/>
          <p:nvPr/>
        </p:nvSpPr>
        <p:spPr>
          <a:xfrm>
            <a:off x="5131620" y="3075806"/>
            <a:ext cx="3760860" cy="1107996"/>
          </a:xfrm>
          <a:prstGeom prst="rect">
            <a:avLst/>
          </a:prstGeom>
          <a:noFill/>
        </p:spPr>
        <p:txBody>
          <a:bodyPr wrap="square" rtlCol="0">
            <a:spAutoFit/>
          </a:bodyPr>
          <a:lstStyle/>
          <a:p>
            <a:pPr>
              <a:spcAft>
                <a:spcPts val="600"/>
              </a:spcAft>
            </a:pPr>
            <a:r>
              <a:rPr lang="en-US" sz="1400" b="1" noProof="0" dirty="0"/>
              <a:t>Recall:</a:t>
            </a:r>
          </a:p>
          <a:p>
            <a:pPr>
              <a:spcAft>
                <a:spcPts val="600"/>
              </a:spcAft>
            </a:pPr>
            <a:r>
              <a:rPr lang="en-US" sz="1400" noProof="0" dirty="0"/>
              <a:t>Our simulations gave the approximate long-time average of</a:t>
            </a:r>
          </a:p>
          <a:p>
            <a:pPr algn="ctr">
              <a:spcAft>
                <a:spcPts val="600"/>
              </a:spcAft>
            </a:pPr>
            <a:r>
              <a:rPr lang="en-US" sz="1400" noProof="0" dirty="0"/>
              <a:t>RO </a:t>
            </a:r>
            <a:r>
              <a:rPr lang="en-US" sz="1400" noProof="0" dirty="0">
                <a:sym typeface="Symbol" panose="05050102010706020507" pitchFamily="18" charset="2"/>
              </a:rPr>
              <a:t></a:t>
            </a:r>
            <a:r>
              <a:rPr lang="en-US" sz="1400" noProof="0" dirty="0"/>
              <a:t> 1500 (60 %) and HI </a:t>
            </a:r>
            <a:r>
              <a:rPr lang="en-US" sz="1400" noProof="0" dirty="0">
                <a:sym typeface="Symbol" panose="05050102010706020507" pitchFamily="18" charset="2"/>
              </a:rPr>
              <a:t></a:t>
            </a:r>
            <a:r>
              <a:rPr lang="en-US" sz="1400" noProof="0" dirty="0"/>
              <a:t> 1000 (40 %)</a:t>
            </a:r>
          </a:p>
        </p:txBody>
      </p:sp>
      <p:sp>
        <p:nvSpPr>
          <p:cNvPr id="7" name="Rechteck 6">
            <a:extLst>
              <a:ext uri="{FF2B5EF4-FFF2-40B4-BE49-F238E27FC236}">
                <a16:creationId xmlns:a16="http://schemas.microsoft.com/office/drawing/2014/main" id="{30B80D1A-84CB-A461-DB08-CF4A280D2926}"/>
              </a:ext>
            </a:extLst>
          </p:cNvPr>
          <p:cNvSpPr/>
          <p:nvPr/>
        </p:nvSpPr>
        <p:spPr>
          <a:xfrm>
            <a:off x="1691680" y="3075806"/>
            <a:ext cx="7200800" cy="196831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B2C8E6-F35A-E29C-866B-3DAE7EB59F41}"/>
              </a:ext>
            </a:extLst>
          </p:cNvPr>
          <p:cNvSpPr>
            <a:spLocks noGrp="1"/>
          </p:cNvSpPr>
          <p:nvPr>
            <p:ph type="title"/>
          </p:nvPr>
        </p:nvSpPr>
        <p:spPr/>
        <p:txBody>
          <a:bodyPr/>
          <a:lstStyle/>
          <a:p>
            <a:r>
              <a:rPr lang="en-US" noProof="0" dirty="0"/>
              <a:t>Of course, in a real forest there are more than just two tree species (1/ 2)</a:t>
            </a:r>
          </a:p>
        </p:txBody>
      </p:sp>
      <p:sp>
        <p:nvSpPr>
          <p:cNvPr id="6" name="Rechteck 5">
            <a:extLst>
              <a:ext uri="{FF2B5EF4-FFF2-40B4-BE49-F238E27FC236}">
                <a16:creationId xmlns:a16="http://schemas.microsoft.com/office/drawing/2014/main" id="{B4437BF0-8193-3147-1BCA-EB26CCB25C80}"/>
              </a:ext>
            </a:extLst>
          </p:cNvPr>
          <p:cNvSpPr/>
          <p:nvPr/>
        </p:nvSpPr>
        <p:spPr>
          <a:xfrm>
            <a:off x="3419872" y="1131589"/>
            <a:ext cx="5472608" cy="3888433"/>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sz="1400" noProof="0" dirty="0">
                <a:solidFill>
                  <a:schemeClr val="tx1"/>
                </a:solidFill>
              </a:rPr>
              <a:t>In his 1975 article H.S. Horn studied the woods in New Jersey and was able to empirically obtain the replacement probabilities between the 11 key tree species therein.</a:t>
            </a:r>
          </a:p>
          <a:p>
            <a:pPr algn="just"/>
            <a:endParaRPr lang="en-US" sz="1400" noProof="0" dirty="0">
              <a:solidFill>
                <a:schemeClr val="tx1"/>
              </a:solidFill>
            </a:endParaRPr>
          </a:p>
          <a:p>
            <a:pPr algn="just"/>
            <a:r>
              <a:rPr lang="en-US" sz="1400" noProof="0" dirty="0">
                <a:solidFill>
                  <a:schemeClr val="tx1"/>
                </a:solidFill>
              </a:rPr>
              <a:t>Based on Horn’s studies, the following table</a:t>
            </a:r>
            <a:r>
              <a:rPr lang="en-US" sz="1400" baseline="30000" noProof="0" dirty="0">
                <a:solidFill>
                  <a:schemeClr val="tx1"/>
                </a:solidFill>
              </a:rPr>
              <a:t>*)</a:t>
            </a:r>
            <a:r>
              <a:rPr lang="en-US" sz="1400" noProof="0" dirty="0">
                <a:solidFill>
                  <a:schemeClr val="tx1"/>
                </a:solidFill>
              </a:rPr>
              <a:t> provides probabilities for the replacement of existing trees by others:</a:t>
            </a:r>
          </a:p>
          <a:p>
            <a:pPr algn="just"/>
            <a:r>
              <a:rPr lang="en-US" sz="1400" noProof="0" dirty="0">
                <a:solidFill>
                  <a:schemeClr val="tx1"/>
                </a:solidFill>
              </a:rPr>
              <a:t>  </a:t>
            </a:r>
          </a:p>
        </p:txBody>
      </p:sp>
      <p:pic>
        <p:nvPicPr>
          <p:cNvPr id="1026" name="Picture 2" descr="10 Best forest trails in Princeton | AllTrails">
            <a:extLst>
              <a:ext uri="{FF2B5EF4-FFF2-40B4-BE49-F238E27FC236}">
                <a16:creationId xmlns:a16="http://schemas.microsoft.com/office/drawing/2014/main" id="{39C6D34A-C1E6-1E3D-8117-F3E843C6A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31591"/>
            <a:ext cx="2880320" cy="2160240"/>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5EC6F747-BC82-1E3C-750A-07E8151AF166}"/>
              </a:ext>
            </a:extLst>
          </p:cNvPr>
          <p:cNvSpPr/>
          <p:nvPr/>
        </p:nvSpPr>
        <p:spPr>
          <a:xfrm>
            <a:off x="395536" y="2715766"/>
            <a:ext cx="2592288" cy="5760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 name="Grafik 6">
            <a:extLst>
              <a:ext uri="{FF2B5EF4-FFF2-40B4-BE49-F238E27FC236}">
                <a16:creationId xmlns:a16="http://schemas.microsoft.com/office/drawing/2014/main" id="{5CA32C53-90E2-65F8-FE17-8D47FE0EB474}"/>
              </a:ext>
            </a:extLst>
          </p:cNvPr>
          <p:cNvPicPr>
            <a:picLocks noChangeAspect="1"/>
          </p:cNvPicPr>
          <p:nvPr/>
        </p:nvPicPr>
        <p:blipFill>
          <a:blip r:embed="rId3"/>
          <a:stretch>
            <a:fillRect/>
          </a:stretch>
        </p:blipFill>
        <p:spPr>
          <a:xfrm>
            <a:off x="446344" y="2830925"/>
            <a:ext cx="2490672" cy="2160240"/>
          </a:xfrm>
          <a:prstGeom prst="rect">
            <a:avLst/>
          </a:prstGeom>
        </p:spPr>
      </p:pic>
      <p:graphicFrame>
        <p:nvGraphicFramePr>
          <p:cNvPr id="9" name="Tabelle 8">
            <a:extLst>
              <a:ext uri="{FF2B5EF4-FFF2-40B4-BE49-F238E27FC236}">
                <a16:creationId xmlns:a16="http://schemas.microsoft.com/office/drawing/2014/main" id="{56A94DF6-AD15-756D-5210-D4A138642B8D}"/>
              </a:ext>
            </a:extLst>
          </p:cNvPr>
          <p:cNvGraphicFramePr>
            <a:graphicFrameLocks noGrp="1"/>
          </p:cNvGraphicFramePr>
          <p:nvPr>
            <p:extLst>
              <p:ext uri="{D42A27DB-BD31-4B8C-83A1-F6EECF244321}">
                <p14:modId xmlns:p14="http://schemas.microsoft.com/office/powerpoint/2010/main" val="1299786594"/>
              </p:ext>
            </p:extLst>
          </p:nvPr>
        </p:nvGraphicFramePr>
        <p:xfrm>
          <a:off x="3563887" y="2571750"/>
          <a:ext cx="5184574" cy="1463040"/>
        </p:xfrm>
        <a:graphic>
          <a:graphicData uri="http://schemas.openxmlformats.org/drawingml/2006/table">
            <a:tbl>
              <a:tblPr firstRow="1" bandRow="1">
                <a:tableStyleId>{5C22544A-7EE6-4342-B048-85BDC9FD1C3A}</a:tableStyleId>
              </a:tblPr>
              <a:tblGrid>
                <a:gridCol w="1152129">
                  <a:extLst>
                    <a:ext uri="{9D8B030D-6E8A-4147-A177-3AD203B41FA5}">
                      <a16:colId xmlns:a16="http://schemas.microsoft.com/office/drawing/2014/main" val="4175970704"/>
                    </a:ext>
                  </a:extLst>
                </a:gridCol>
                <a:gridCol w="806489">
                  <a:extLst>
                    <a:ext uri="{9D8B030D-6E8A-4147-A177-3AD203B41FA5}">
                      <a16:colId xmlns:a16="http://schemas.microsoft.com/office/drawing/2014/main" val="1518534427"/>
                    </a:ext>
                  </a:extLst>
                </a:gridCol>
                <a:gridCol w="806489">
                  <a:extLst>
                    <a:ext uri="{9D8B030D-6E8A-4147-A177-3AD203B41FA5}">
                      <a16:colId xmlns:a16="http://schemas.microsoft.com/office/drawing/2014/main" val="3508142742"/>
                    </a:ext>
                  </a:extLst>
                </a:gridCol>
                <a:gridCol w="806489">
                  <a:extLst>
                    <a:ext uri="{9D8B030D-6E8A-4147-A177-3AD203B41FA5}">
                      <a16:colId xmlns:a16="http://schemas.microsoft.com/office/drawing/2014/main" val="3226159571"/>
                    </a:ext>
                  </a:extLst>
                </a:gridCol>
                <a:gridCol w="806489">
                  <a:extLst>
                    <a:ext uri="{9D8B030D-6E8A-4147-A177-3AD203B41FA5}">
                      <a16:colId xmlns:a16="http://schemas.microsoft.com/office/drawing/2014/main" val="3766302329"/>
                    </a:ext>
                  </a:extLst>
                </a:gridCol>
                <a:gridCol w="806489">
                  <a:extLst>
                    <a:ext uri="{9D8B030D-6E8A-4147-A177-3AD203B41FA5}">
                      <a16:colId xmlns:a16="http://schemas.microsoft.com/office/drawing/2014/main" val="2077348918"/>
                    </a:ext>
                  </a:extLst>
                </a:gridCol>
              </a:tblGrid>
              <a:tr h="0">
                <a:tc>
                  <a:txBody>
                    <a:bodyPr/>
                    <a:lstStyle/>
                    <a:p>
                      <a:endParaRPr lang="en-US" sz="1000" noProof="0" dirty="0"/>
                    </a:p>
                  </a:txBody>
                  <a:tcPr>
                    <a:solidFill>
                      <a:schemeClr val="bg1"/>
                    </a:solidFill>
                  </a:tcPr>
                </a:tc>
                <a:tc>
                  <a:txBody>
                    <a:bodyPr/>
                    <a:lstStyle/>
                    <a:p>
                      <a:pPr algn="ctr"/>
                      <a:r>
                        <a:rPr lang="en-US" sz="1000" noProof="0" dirty="0"/>
                        <a:t>RO</a:t>
                      </a:r>
                    </a:p>
                  </a:txBody>
                  <a:tcPr>
                    <a:solidFill>
                      <a:schemeClr val="tx2"/>
                    </a:solidFill>
                  </a:tcPr>
                </a:tc>
                <a:tc>
                  <a:txBody>
                    <a:bodyPr/>
                    <a:lstStyle/>
                    <a:p>
                      <a:pPr algn="ctr"/>
                      <a:r>
                        <a:rPr lang="en-US" sz="1000" noProof="0" dirty="0"/>
                        <a:t>HI</a:t>
                      </a:r>
                    </a:p>
                  </a:txBody>
                  <a:tcPr>
                    <a:solidFill>
                      <a:schemeClr val="tx2"/>
                    </a:solidFill>
                  </a:tcPr>
                </a:tc>
                <a:tc>
                  <a:txBody>
                    <a:bodyPr/>
                    <a:lstStyle/>
                    <a:p>
                      <a:pPr algn="ctr"/>
                      <a:r>
                        <a:rPr lang="en-US" sz="1000" noProof="0" dirty="0"/>
                        <a:t>TU</a:t>
                      </a:r>
                    </a:p>
                  </a:txBody>
                  <a:tcPr>
                    <a:solidFill>
                      <a:schemeClr val="tx2"/>
                    </a:solidFill>
                  </a:tcPr>
                </a:tc>
                <a:tc>
                  <a:txBody>
                    <a:bodyPr/>
                    <a:lstStyle/>
                    <a:p>
                      <a:pPr algn="ctr"/>
                      <a:r>
                        <a:rPr lang="en-US" sz="1000" noProof="0" dirty="0"/>
                        <a:t>RM</a:t>
                      </a:r>
                    </a:p>
                  </a:txBody>
                  <a:tcPr>
                    <a:solidFill>
                      <a:schemeClr val="tx2"/>
                    </a:solidFill>
                  </a:tcPr>
                </a:tc>
                <a:tc>
                  <a:txBody>
                    <a:bodyPr/>
                    <a:lstStyle/>
                    <a:p>
                      <a:pPr algn="ctr"/>
                      <a:r>
                        <a:rPr lang="en-US" sz="1000" noProof="0" dirty="0"/>
                        <a:t>BE</a:t>
                      </a:r>
                    </a:p>
                  </a:txBody>
                  <a:tcPr>
                    <a:solidFill>
                      <a:schemeClr val="tx2"/>
                    </a:solidFill>
                  </a:tcPr>
                </a:tc>
                <a:extLst>
                  <a:ext uri="{0D108BD9-81ED-4DB2-BD59-A6C34878D82A}">
                    <a16:rowId xmlns:a16="http://schemas.microsoft.com/office/drawing/2014/main" val="93504587"/>
                  </a:ext>
                </a:extLst>
              </a:tr>
              <a:tr h="0">
                <a:tc>
                  <a:txBody>
                    <a:bodyPr/>
                    <a:lstStyle/>
                    <a:p>
                      <a:r>
                        <a:rPr lang="en-US" sz="1000" b="1" noProof="0" dirty="0">
                          <a:solidFill>
                            <a:schemeClr val="bg1"/>
                          </a:solidFill>
                        </a:rPr>
                        <a:t>Red oak (RO)</a:t>
                      </a:r>
                    </a:p>
                  </a:txBody>
                  <a:tcPr>
                    <a:solidFill>
                      <a:schemeClr val="tx2"/>
                    </a:solidFill>
                  </a:tcPr>
                </a:tc>
                <a:tc>
                  <a:txBody>
                    <a:bodyPr/>
                    <a:lstStyle/>
                    <a:p>
                      <a:pPr algn="ctr"/>
                      <a:r>
                        <a:rPr lang="en-US" sz="1000" noProof="0" dirty="0"/>
                        <a:t>0.12</a:t>
                      </a:r>
                    </a:p>
                  </a:txBody>
                  <a:tcPr/>
                </a:tc>
                <a:tc>
                  <a:txBody>
                    <a:bodyPr/>
                    <a:lstStyle/>
                    <a:p>
                      <a:pPr algn="ctr"/>
                      <a:r>
                        <a:rPr lang="en-US" sz="1000" noProof="0" dirty="0"/>
                        <a:t>0.14</a:t>
                      </a:r>
                    </a:p>
                  </a:txBody>
                  <a:tcPr/>
                </a:tc>
                <a:tc>
                  <a:txBody>
                    <a:bodyPr/>
                    <a:lstStyle/>
                    <a:p>
                      <a:pPr algn="ctr"/>
                      <a:r>
                        <a:rPr lang="en-US" sz="1000" noProof="0" dirty="0"/>
                        <a:t>0.12</a:t>
                      </a:r>
                    </a:p>
                  </a:txBody>
                  <a:tcPr/>
                </a:tc>
                <a:tc>
                  <a:txBody>
                    <a:bodyPr/>
                    <a:lstStyle/>
                    <a:p>
                      <a:pPr algn="ctr"/>
                      <a:r>
                        <a:rPr lang="en-US" sz="1000" noProof="0" dirty="0"/>
                        <a:t>0.12</a:t>
                      </a:r>
                    </a:p>
                  </a:txBody>
                  <a:tcPr/>
                </a:tc>
                <a:tc>
                  <a:txBody>
                    <a:bodyPr/>
                    <a:lstStyle/>
                    <a:p>
                      <a:pPr algn="ctr"/>
                      <a:r>
                        <a:rPr lang="en-US" sz="1000" noProof="0" dirty="0"/>
                        <a:t>0.13</a:t>
                      </a:r>
                    </a:p>
                  </a:txBody>
                  <a:tcPr/>
                </a:tc>
                <a:extLst>
                  <a:ext uri="{0D108BD9-81ED-4DB2-BD59-A6C34878D82A}">
                    <a16:rowId xmlns:a16="http://schemas.microsoft.com/office/drawing/2014/main" val="4003614850"/>
                  </a:ext>
                </a:extLst>
              </a:tr>
              <a:tr h="0">
                <a:tc>
                  <a:txBody>
                    <a:bodyPr/>
                    <a:lstStyle/>
                    <a:p>
                      <a:r>
                        <a:rPr lang="en-US" sz="1000" b="1" noProof="0" dirty="0">
                          <a:solidFill>
                            <a:schemeClr val="bg1"/>
                          </a:solidFill>
                        </a:rPr>
                        <a:t>Hickory (HI)</a:t>
                      </a:r>
                    </a:p>
                  </a:txBody>
                  <a:tcPr>
                    <a:solidFill>
                      <a:schemeClr val="tx2"/>
                    </a:solidFill>
                  </a:tcPr>
                </a:tc>
                <a:tc>
                  <a:txBody>
                    <a:bodyPr/>
                    <a:lstStyle/>
                    <a:p>
                      <a:pPr algn="ctr"/>
                      <a:r>
                        <a:rPr lang="en-US" sz="1000" noProof="0" dirty="0"/>
                        <a:t>0.12</a:t>
                      </a:r>
                    </a:p>
                  </a:txBody>
                  <a:tcPr/>
                </a:tc>
                <a:tc>
                  <a:txBody>
                    <a:bodyPr/>
                    <a:lstStyle/>
                    <a:p>
                      <a:pPr algn="ctr"/>
                      <a:r>
                        <a:rPr lang="en-US" sz="1000" noProof="0" dirty="0"/>
                        <a:t>0.05</a:t>
                      </a:r>
                    </a:p>
                  </a:txBody>
                  <a:tcPr/>
                </a:tc>
                <a:tc>
                  <a:txBody>
                    <a:bodyPr/>
                    <a:lstStyle/>
                    <a:p>
                      <a:pPr algn="ctr"/>
                      <a:r>
                        <a:rPr lang="en-US" sz="1000" noProof="0" dirty="0"/>
                        <a:t>0.08</a:t>
                      </a:r>
                    </a:p>
                  </a:txBody>
                  <a:tcPr/>
                </a:tc>
                <a:tc>
                  <a:txBody>
                    <a:bodyPr/>
                    <a:lstStyle/>
                    <a:p>
                      <a:pPr algn="ctr"/>
                      <a:r>
                        <a:rPr lang="en-US" sz="1000" noProof="0" dirty="0"/>
                        <a:t>0.28</a:t>
                      </a:r>
                    </a:p>
                  </a:txBody>
                  <a:tcPr/>
                </a:tc>
                <a:tc>
                  <a:txBody>
                    <a:bodyPr/>
                    <a:lstStyle/>
                    <a:p>
                      <a:pPr algn="ctr"/>
                      <a:r>
                        <a:rPr lang="en-US" sz="1000" noProof="0" dirty="0"/>
                        <a:t>0.27</a:t>
                      </a:r>
                    </a:p>
                  </a:txBody>
                  <a:tcPr/>
                </a:tc>
                <a:extLst>
                  <a:ext uri="{0D108BD9-81ED-4DB2-BD59-A6C34878D82A}">
                    <a16:rowId xmlns:a16="http://schemas.microsoft.com/office/drawing/2014/main" val="3314546928"/>
                  </a:ext>
                </a:extLst>
              </a:tr>
              <a:tr h="0">
                <a:tc>
                  <a:txBody>
                    <a:bodyPr/>
                    <a:lstStyle/>
                    <a:p>
                      <a:r>
                        <a:rPr lang="en-US" sz="1000" b="1" noProof="0" dirty="0">
                          <a:solidFill>
                            <a:schemeClr val="bg1"/>
                          </a:solidFill>
                        </a:rPr>
                        <a:t>Tulip tree (TU)</a:t>
                      </a:r>
                    </a:p>
                  </a:txBody>
                  <a:tcPr>
                    <a:solidFill>
                      <a:schemeClr val="tx2"/>
                    </a:solidFill>
                  </a:tcPr>
                </a:tc>
                <a:tc>
                  <a:txBody>
                    <a:bodyPr/>
                    <a:lstStyle/>
                    <a:p>
                      <a:pPr algn="ctr"/>
                      <a:r>
                        <a:rPr lang="en-US" sz="1000" noProof="0" dirty="0"/>
                        <a:t>0.12</a:t>
                      </a:r>
                    </a:p>
                  </a:txBody>
                  <a:tcPr/>
                </a:tc>
                <a:tc>
                  <a:txBody>
                    <a:bodyPr/>
                    <a:lstStyle/>
                    <a:p>
                      <a:pPr algn="ctr"/>
                      <a:r>
                        <a:rPr lang="en-US" sz="1000" noProof="0" dirty="0"/>
                        <a:t>0.10</a:t>
                      </a:r>
                    </a:p>
                  </a:txBody>
                  <a:tcPr/>
                </a:tc>
                <a:tc>
                  <a:txBody>
                    <a:bodyPr/>
                    <a:lstStyle/>
                    <a:p>
                      <a:pPr algn="ctr"/>
                      <a:r>
                        <a:rPr lang="en-US" sz="1000" noProof="0" dirty="0"/>
                        <a:t>0.10</a:t>
                      </a:r>
                    </a:p>
                  </a:txBody>
                  <a:tcPr/>
                </a:tc>
                <a:tc>
                  <a:txBody>
                    <a:bodyPr/>
                    <a:lstStyle/>
                    <a:p>
                      <a:pPr algn="ctr"/>
                      <a:r>
                        <a:rPr lang="en-US" sz="1000" noProof="0" dirty="0"/>
                        <a:t>0.05</a:t>
                      </a:r>
                    </a:p>
                  </a:txBody>
                  <a:tcPr/>
                </a:tc>
                <a:tc>
                  <a:txBody>
                    <a:bodyPr/>
                    <a:lstStyle/>
                    <a:p>
                      <a:pPr algn="ctr"/>
                      <a:r>
                        <a:rPr lang="en-US" sz="1000" noProof="0" dirty="0"/>
                        <a:t>0.08</a:t>
                      </a:r>
                    </a:p>
                  </a:txBody>
                  <a:tcPr/>
                </a:tc>
                <a:extLst>
                  <a:ext uri="{0D108BD9-81ED-4DB2-BD59-A6C34878D82A}">
                    <a16:rowId xmlns:a16="http://schemas.microsoft.com/office/drawing/2014/main" val="2004834107"/>
                  </a:ext>
                </a:extLst>
              </a:tr>
              <a:tr h="0">
                <a:tc>
                  <a:txBody>
                    <a:bodyPr/>
                    <a:lstStyle/>
                    <a:p>
                      <a:r>
                        <a:rPr lang="en-US" sz="1000" b="1" noProof="0" dirty="0">
                          <a:solidFill>
                            <a:schemeClr val="bg1"/>
                          </a:solidFill>
                        </a:rPr>
                        <a:t>Red maple (RM)</a:t>
                      </a:r>
                    </a:p>
                  </a:txBody>
                  <a:tcPr>
                    <a:solidFill>
                      <a:schemeClr val="tx2"/>
                    </a:solidFill>
                  </a:tcPr>
                </a:tc>
                <a:tc>
                  <a:txBody>
                    <a:bodyPr/>
                    <a:lstStyle/>
                    <a:p>
                      <a:pPr algn="ctr"/>
                      <a:r>
                        <a:rPr lang="en-US" sz="1000" noProof="0" dirty="0"/>
                        <a:t>0.42</a:t>
                      </a:r>
                    </a:p>
                  </a:txBody>
                  <a:tcPr/>
                </a:tc>
                <a:tc>
                  <a:txBody>
                    <a:bodyPr/>
                    <a:lstStyle/>
                    <a:p>
                      <a:pPr algn="ctr"/>
                      <a:r>
                        <a:rPr lang="en-US" sz="1000" noProof="0" dirty="0"/>
                        <a:t>0.53</a:t>
                      </a:r>
                    </a:p>
                  </a:txBody>
                  <a:tcPr/>
                </a:tc>
                <a:tc>
                  <a:txBody>
                    <a:bodyPr/>
                    <a:lstStyle/>
                    <a:p>
                      <a:pPr algn="ctr"/>
                      <a:r>
                        <a:rPr lang="en-US" sz="1000" noProof="0" dirty="0"/>
                        <a:t>0.32</a:t>
                      </a:r>
                    </a:p>
                  </a:txBody>
                  <a:tcPr/>
                </a:tc>
                <a:tc>
                  <a:txBody>
                    <a:bodyPr/>
                    <a:lstStyle/>
                    <a:p>
                      <a:pPr algn="ctr"/>
                      <a:r>
                        <a:rPr lang="en-US" sz="1000" noProof="0" dirty="0"/>
                        <a:t>0.20</a:t>
                      </a:r>
                    </a:p>
                  </a:txBody>
                  <a:tcPr/>
                </a:tc>
                <a:tc>
                  <a:txBody>
                    <a:bodyPr/>
                    <a:lstStyle/>
                    <a:p>
                      <a:pPr algn="ctr"/>
                      <a:r>
                        <a:rPr lang="en-US" sz="1000" noProof="0" dirty="0"/>
                        <a:t>0.19</a:t>
                      </a:r>
                    </a:p>
                  </a:txBody>
                  <a:tcPr/>
                </a:tc>
                <a:extLst>
                  <a:ext uri="{0D108BD9-81ED-4DB2-BD59-A6C34878D82A}">
                    <a16:rowId xmlns:a16="http://schemas.microsoft.com/office/drawing/2014/main" val="52597733"/>
                  </a:ext>
                </a:extLst>
              </a:tr>
              <a:tr h="0">
                <a:tc>
                  <a:txBody>
                    <a:bodyPr/>
                    <a:lstStyle/>
                    <a:p>
                      <a:r>
                        <a:rPr lang="en-US" sz="1000" b="1" noProof="0" dirty="0">
                          <a:solidFill>
                            <a:schemeClr val="bg1"/>
                          </a:solidFill>
                        </a:rPr>
                        <a:t>Beech (BE)</a:t>
                      </a:r>
                    </a:p>
                  </a:txBody>
                  <a:tcPr>
                    <a:solidFill>
                      <a:schemeClr val="tx2"/>
                    </a:solidFill>
                  </a:tcPr>
                </a:tc>
                <a:tc>
                  <a:txBody>
                    <a:bodyPr/>
                    <a:lstStyle/>
                    <a:p>
                      <a:pPr algn="ctr"/>
                      <a:r>
                        <a:rPr lang="en-US" sz="1000" noProof="0" dirty="0"/>
                        <a:t>0.22</a:t>
                      </a:r>
                    </a:p>
                  </a:txBody>
                  <a:tcPr/>
                </a:tc>
                <a:tc>
                  <a:txBody>
                    <a:bodyPr/>
                    <a:lstStyle/>
                    <a:p>
                      <a:pPr algn="ctr"/>
                      <a:r>
                        <a:rPr lang="en-US" sz="1000" noProof="0" dirty="0"/>
                        <a:t>0.18</a:t>
                      </a:r>
                    </a:p>
                  </a:txBody>
                  <a:tcPr/>
                </a:tc>
                <a:tc>
                  <a:txBody>
                    <a:bodyPr/>
                    <a:lstStyle/>
                    <a:p>
                      <a:pPr algn="ctr"/>
                      <a:r>
                        <a:rPr lang="en-US" sz="1000" noProof="0" dirty="0"/>
                        <a:t>0.38</a:t>
                      </a:r>
                    </a:p>
                  </a:txBody>
                  <a:tcPr/>
                </a:tc>
                <a:tc>
                  <a:txBody>
                    <a:bodyPr/>
                    <a:lstStyle/>
                    <a:p>
                      <a:pPr algn="ctr"/>
                      <a:r>
                        <a:rPr lang="en-US" sz="1000" noProof="0" dirty="0"/>
                        <a:t>0.35</a:t>
                      </a:r>
                    </a:p>
                  </a:txBody>
                  <a:tcPr/>
                </a:tc>
                <a:tc>
                  <a:txBody>
                    <a:bodyPr/>
                    <a:lstStyle/>
                    <a:p>
                      <a:pPr algn="ctr"/>
                      <a:r>
                        <a:rPr lang="en-US" sz="1000" noProof="0" dirty="0"/>
                        <a:t>0.33</a:t>
                      </a:r>
                    </a:p>
                  </a:txBody>
                  <a:tcPr/>
                </a:tc>
                <a:extLst>
                  <a:ext uri="{0D108BD9-81ED-4DB2-BD59-A6C34878D82A}">
                    <a16:rowId xmlns:a16="http://schemas.microsoft.com/office/drawing/2014/main" val="1955930862"/>
                  </a:ext>
                </a:extLst>
              </a:tr>
            </a:tbl>
          </a:graphicData>
        </a:graphic>
      </p:graphicFrame>
      <p:sp>
        <p:nvSpPr>
          <p:cNvPr id="10" name="Textfeld 9">
            <a:extLst>
              <a:ext uri="{FF2B5EF4-FFF2-40B4-BE49-F238E27FC236}">
                <a16:creationId xmlns:a16="http://schemas.microsoft.com/office/drawing/2014/main" id="{F7D22B6C-1FA9-8707-F27C-B4D9D28E74AB}"/>
              </a:ext>
            </a:extLst>
          </p:cNvPr>
          <p:cNvSpPr txBox="1"/>
          <p:nvPr/>
        </p:nvSpPr>
        <p:spPr>
          <a:xfrm>
            <a:off x="3419872" y="4804578"/>
            <a:ext cx="3438762" cy="215444"/>
          </a:xfrm>
          <a:prstGeom prst="rect">
            <a:avLst/>
          </a:prstGeom>
          <a:noFill/>
        </p:spPr>
        <p:txBody>
          <a:bodyPr wrap="none" rtlCol="0">
            <a:spAutoFit/>
          </a:bodyPr>
          <a:lstStyle/>
          <a:p>
            <a:r>
              <a:rPr lang="en-US" sz="800" baseline="30000" noProof="0" dirty="0"/>
              <a:t>*)</a:t>
            </a:r>
            <a:r>
              <a:rPr lang="en-US" sz="800" noProof="0" dirty="0"/>
              <a:t> taken from G. de Vries et al. (2006): A Course in Mathematical Biology, SIAM</a:t>
            </a:r>
          </a:p>
        </p:txBody>
      </p:sp>
    </p:spTree>
    <p:extLst>
      <p:ext uri="{BB962C8B-B14F-4D97-AF65-F5344CB8AC3E}">
        <p14:creationId xmlns:p14="http://schemas.microsoft.com/office/powerpoint/2010/main" val="3304782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0F2FD1-6B7A-3B37-863B-AAD1D7920BA2}"/>
              </a:ext>
            </a:extLst>
          </p:cNvPr>
          <p:cNvSpPr>
            <a:spLocks noGrp="1"/>
          </p:cNvSpPr>
          <p:nvPr>
            <p:ph type="title"/>
          </p:nvPr>
        </p:nvSpPr>
        <p:spPr/>
        <p:txBody>
          <a:bodyPr/>
          <a:lstStyle/>
          <a:p>
            <a:r>
              <a:rPr lang="en-US" noProof="0" dirty="0"/>
              <a:t>Of course, in a real forest there are more than just two tree species (2/ 2)</a:t>
            </a:r>
          </a:p>
        </p:txBody>
      </p:sp>
      <p:sp>
        <p:nvSpPr>
          <p:cNvPr id="3" name="Rechteck 2">
            <a:extLst>
              <a:ext uri="{FF2B5EF4-FFF2-40B4-BE49-F238E27FC236}">
                <a16:creationId xmlns:a16="http://schemas.microsoft.com/office/drawing/2014/main" id="{A5666F1E-A50E-D6AE-DC56-00598C000029}"/>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8" name="Grafik 17">
            <a:extLst>
              <a:ext uri="{FF2B5EF4-FFF2-40B4-BE49-F238E27FC236}">
                <a16:creationId xmlns:a16="http://schemas.microsoft.com/office/drawing/2014/main" id="{5955FC1E-D7F0-8277-186A-04770D9F51AA}"/>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1" y="1203579"/>
            <a:ext cx="7079870" cy="3406707"/>
          </a:xfrm>
          <a:prstGeom prst="rect">
            <a:avLst/>
          </a:prstGeom>
          <a:noFill/>
          <a:ln/>
          <a:effectLst/>
        </p:spPr>
      </p:pic>
    </p:spTree>
    <p:extLst>
      <p:ext uri="{BB962C8B-B14F-4D97-AF65-F5344CB8AC3E}">
        <p14:creationId xmlns:p14="http://schemas.microsoft.com/office/powerpoint/2010/main" val="3603820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Training of an octopus</a:t>
            </a:r>
          </a:p>
        </p:txBody>
      </p:sp>
      <p:pic>
        <p:nvPicPr>
          <p:cNvPr id="3" name="Picture 2" descr="http://stream1.gifsoup.com/view7/4457258/octopus-through-hole-o.gif"/>
          <p:cNvPicPr>
            <a:picLocks noChangeAspect="1" noChangeArrowheads="1" noCrop="1"/>
          </p:cNvPicPr>
          <p:nvPr/>
        </p:nvPicPr>
        <p:blipFill>
          <a:blip r:embed="rId3" cstate="print"/>
          <a:srcRect/>
          <a:stretch>
            <a:fillRect/>
          </a:stretch>
        </p:blipFill>
        <p:spPr bwMode="auto">
          <a:xfrm>
            <a:off x="251520" y="1131590"/>
            <a:ext cx="2880320" cy="2160241"/>
          </a:xfrm>
          <a:prstGeom prst="rect">
            <a:avLst/>
          </a:prstGeom>
          <a:noFill/>
        </p:spPr>
      </p:pic>
      <p:sp>
        <p:nvSpPr>
          <p:cNvPr id="4" name="Rechteck 3"/>
          <p:cNvSpPr/>
          <p:nvPr/>
        </p:nvSpPr>
        <p:spPr>
          <a:xfrm>
            <a:off x="3419872" y="1131590"/>
            <a:ext cx="5472608"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7" name="Grafik 6">
            <a:extLst>
              <a:ext uri="{FF2B5EF4-FFF2-40B4-BE49-F238E27FC236}">
                <a16:creationId xmlns:a16="http://schemas.microsoft.com/office/drawing/2014/main" id="{3C124A9A-D32F-4750-D1C4-A3EE6E5A2A1D}"/>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491877" y="1203596"/>
            <a:ext cx="5325507" cy="2659191"/>
          </a:xfrm>
          <a:prstGeom prst="rect">
            <a:avLst/>
          </a:prstGeom>
          <a:noFill/>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Training of an octopus</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fik 7">
            <a:extLst>
              <a:ext uri="{FF2B5EF4-FFF2-40B4-BE49-F238E27FC236}">
                <a16:creationId xmlns:a16="http://schemas.microsoft.com/office/drawing/2014/main" id="{3CEE9943-C270-8E97-F246-4CEC8357908D}"/>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55"/>
            <a:ext cx="7071440" cy="3128529"/>
          </a:xfrm>
          <a:prstGeom prst="rect">
            <a:avLst/>
          </a:prstGeom>
          <a:noFill/>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Training of an octopus</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9" name="Grafik 18">
            <a:extLst>
              <a:ext uri="{FF2B5EF4-FFF2-40B4-BE49-F238E27FC236}">
                <a16:creationId xmlns:a16="http://schemas.microsoft.com/office/drawing/2014/main" id="{94278012-BE74-6D93-3C21-3F81C5B308B3}"/>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52"/>
            <a:ext cx="7094473" cy="2269867"/>
          </a:xfrm>
          <a:prstGeom prst="rect">
            <a:avLst/>
          </a:prstGeom>
          <a:noFill/>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8867A-682D-54DB-8B77-D62D5FBCE71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156990A-B8A0-3925-DE8F-795C552A49DD}"/>
              </a:ext>
            </a:extLst>
          </p:cNvPr>
          <p:cNvSpPr>
            <a:spLocks noGrp="1"/>
          </p:cNvSpPr>
          <p:nvPr>
            <p:ph type="title"/>
          </p:nvPr>
        </p:nvSpPr>
        <p:spPr/>
        <p:txBody>
          <a:bodyPr/>
          <a:lstStyle/>
          <a:p>
            <a:r>
              <a:rPr lang="en-US" noProof="0" dirty="0"/>
              <a:t>Example:</a:t>
            </a:r>
            <a:br>
              <a:rPr lang="en-US" noProof="0" dirty="0"/>
            </a:br>
            <a:r>
              <a:rPr lang="en-US" noProof="0" dirty="0"/>
              <a:t>Training of an octopus</a:t>
            </a:r>
          </a:p>
        </p:txBody>
      </p:sp>
      <p:sp>
        <p:nvSpPr>
          <p:cNvPr id="3" name="Rechteck 2">
            <a:extLst>
              <a:ext uri="{FF2B5EF4-FFF2-40B4-BE49-F238E27FC236}">
                <a16:creationId xmlns:a16="http://schemas.microsoft.com/office/drawing/2014/main" id="{61CDDC6F-1CF8-1D4D-C430-D7088867B331}"/>
              </a:ext>
            </a:extLst>
          </p:cNvPr>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6BEEA00A-AF47-C610-0A41-7309BF25D941}"/>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51"/>
            <a:ext cx="7110089" cy="3589872"/>
          </a:xfrm>
          <a:prstGeom prst="rect">
            <a:avLst/>
          </a:prstGeom>
          <a:noFill/>
          <a:ln/>
          <a:effectLst/>
        </p:spPr>
      </p:pic>
      <p:sp>
        <p:nvSpPr>
          <p:cNvPr id="6" name="Rechteck 5">
            <a:extLst>
              <a:ext uri="{FF2B5EF4-FFF2-40B4-BE49-F238E27FC236}">
                <a16:creationId xmlns:a16="http://schemas.microsoft.com/office/drawing/2014/main" id="{3683E249-2FCE-0FA1-C71F-983FCA65671D}"/>
              </a:ext>
            </a:extLst>
          </p:cNvPr>
          <p:cNvSpPr/>
          <p:nvPr/>
        </p:nvSpPr>
        <p:spPr>
          <a:xfrm>
            <a:off x="5148064" y="1426656"/>
            <a:ext cx="576064" cy="72008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hteck 6">
            <a:extLst>
              <a:ext uri="{FF2B5EF4-FFF2-40B4-BE49-F238E27FC236}">
                <a16:creationId xmlns:a16="http://schemas.microsoft.com/office/drawing/2014/main" id="{037AE861-2E42-9C21-B319-7C955103A6FB}"/>
              </a:ext>
            </a:extLst>
          </p:cNvPr>
          <p:cNvSpPr/>
          <p:nvPr/>
        </p:nvSpPr>
        <p:spPr>
          <a:xfrm>
            <a:off x="5724128" y="2146736"/>
            <a:ext cx="432048" cy="36004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7220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021,747"/>
  <p:tag name="ORIGINALWIDTH" val="3325,834"/>
  <p:tag name="LATEXADDIN" val="\documentclass{article}\pagestyle{empty}&#10;\usepackage{amsmath}&#10;\usepackage{amsfonts}&#10;\usepackage{amssymb}&#10;\begin{document}&#10;\begin{minipage}{9.4 cm}&#10;{\sffamily{&#10;The forest dynamics can be viewed as governed by the changes between the two states red oak ($RO$) and hickory ($HI$) of each lattice cell.&#10;These changes are represented by transition operators which give the probabilities for each such change a state can undergo:&#10;\begin{itemize}&#10;\item $T_{RO \to RO} = \mathbb{P}( RO | RO ) = 0.5$ (transition RO to RO)\\[-5mm]&#10;\item $T_{RO \to HI} = \mathbb{P}( HI | RO ) = 0.5$ (transition RO to HI)\\[-5mm]&#10;\item $T_{HI \to HI} = \mathbb{P}( HI | HI ) = 0.26$ (transition HI to HI)\\[-5mm]&#10;\item $T_{HI \to RO} = \mathbb{P}( RO | HI ) = 0.74$ (transition HI to RO)&#10;\end{itemize}&#10;For each state, the sum of the transition operators that lead to a change from this state must be equal to $1$.&#10;&#10;}}&#10;\end{minipage}&#10;\end{document}"/>
  <p:tag name="IGUANATEXSIZE" val="20"/>
  <p:tag name="IGUANATEXCURSOR" val="729"/>
  <p:tag name="TRANSPARENCY" val="Wahr"/>
  <p:tag name="LATEXENGINEID" val="0"/>
  <p:tag name="TEMPFOLDER" val="c:\temp\"/>
  <p:tag name="LATEXFORMHEIGHT" val="482,25"/>
  <p:tag name="LATEXFORMWIDTH" val="1030,5"/>
  <p:tag name="LATEXFORMWRAP" val="Wahr"/>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87,4016"/>
  <p:tag name="LATEXADDIN" val="\documentclass{article}&#10;\usepackage{amsmath}&#10;\pagestyle{empty}&#10;\begin{document}&#10;$$&#10;T_{\text{RO} \to \text{RO}} = 0.5&#10;$$&#10;&#10;&#10;&#10;\end{document}"/>
  <p:tag name="IGUANATEXSIZE" val="20"/>
  <p:tag name="IGUANATEXCURSOR" val="116"/>
  <p:tag name="TRANSPARENCY" val="Wahr"/>
  <p:tag name="LATEXENGINEID" val="0"/>
  <p:tag name="TEMPFOLDER" val="c:\temp\"/>
  <p:tag name="LATEXFORMHEIGHT" val="312"/>
  <p:tag name="LATEXFORMWIDTH" val="384"/>
  <p:tag name="LATEXFORMWRAP" val="Wahr"/>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49,9063"/>
  <p:tag name="LATEXADDIN" val="\documentclass{article}&#10;\usepackage{amsmath}&#10;\pagestyle{empty}&#10;\begin{document}&#10;$$&#10;T_{\text{RO} \to \text{HI}} = 0.5&#10;$$&#10;&#10;&#10;&#10;\end{document}"/>
  <p:tag name="IGUANATEXSIZE" val="20"/>
  <p:tag name="IGUANATEXCURSOR" val="108"/>
  <p:tag name="TRANSPARENCY" val="Wahr"/>
  <p:tag name="LATEXENGINEID" val="0"/>
  <p:tag name="TEMPFOLDER" val="c:\temp\"/>
  <p:tag name="LATEXFORMHEIGHT" val="312"/>
  <p:tag name="LATEXFORMWIDTH" val="384"/>
  <p:tag name="LATEXFORMWRAP" val="Wahr"/>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76,9029"/>
  <p:tag name="LATEXADDIN" val="\documentclass{article}&#10;\usepackage{amsmath}&#10;\pagestyle{empty}&#10;\begin{document}&#10;$$&#10;T_{\text{HI} \to \text{HI}} = 0.26&#10;$$&#10;&#10;&#10;&#10;\end{document}"/>
  <p:tag name="IGUANATEXSIZE" val="20"/>
  <p:tag name="IGUANATEXCURSOR" val="117"/>
  <p:tag name="TRANSPARENCY" val="Wahr"/>
  <p:tag name="LATEXENGINEID" val="0"/>
  <p:tag name="TEMPFOLDER" val="c:\temp\"/>
  <p:tag name="LATEXFORMHEIGHT" val="312"/>
  <p:tag name="LATEXFORMWIDTH" val="384"/>
  <p:tag name="LATEXFORMWRAP" val="Wahr"/>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04,9868"/>
  <p:tag name="ORIGINALWIDTH" val="815,898"/>
  <p:tag name="LATEXADDIN" val="\documentclass{article}&#10;\usepackage{amsmath}&#10;\pagestyle{empty}&#10;\begin{document}&#10;$$&#10;T_{\text{HI} \to \text{RO}} = 0.74&#10;$$&#10;&#10;&#10;&#10;\end{document}"/>
  <p:tag name="IGUANATEXSIZE" val="20"/>
  <p:tag name="IGUANATEXCURSOR" val="117"/>
  <p:tag name="TRANSPARENCY" val="Wahr"/>
  <p:tag name="LATEXENGINEID" val="0"/>
  <p:tag name="TEMPFOLDER" val="c:\temp\"/>
  <p:tag name="LATEXFORMHEIGHT" val="312"/>
  <p:tag name="LATEXFORMWIDTH" val="384"/>
  <p:tag name="LATEXFORMWRAP" val="Wahr"/>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598,05"/>
  <p:tag name="ORIGINALWIDTH" val="4458,193"/>
  <p:tag name="LATEXADDIN" val="\documentclass{article}\pagestyle{empty}&#10;\usepackage{amsmath}&#10;\usepackage{amsfonts}&#10;\usepackage{amssymb}&#10;\begin{document}&#10;\begin{minipage}{12.6 cm}&#10;{\sffamily{&#10;The contitional probability&#10;$$&#10;\mathbb{P}( A | B)&#10;$$&#10;is read as the probability that the event $A$ occurs given that the event $B$ has occured. This makes&#10;it well suited for describing changes from an event $B$ to an event $A$.\\[2mm]&#10;We can follow the change in a random variable as a parameter, such as time $t \in \mathbb{T}$ with $\mathbb{T} = \mathbb{N}_0$ ({\bf{discrete time}}) or&#10;$t \in \mathbb{R}$ ({\bf{continuous time}}), increases.\\[2mm]&#10;A family of random variables&#10;$$&#10;\{X(t)\}_{t \in \mathbb{T}} \, ,&#10;$$&#10;indexed by a parameter $t$, is called a {\bf{stochastic process}}.&#10;&#10;}}&#10;\end{minipage}&#10;\end{document}"/>
  <p:tag name="IGUANATEXSIZE" val="20"/>
  <p:tag name="IGUANATEXCURSOR" val="213"/>
  <p:tag name="TRANSPARENCY" val="Wahr"/>
  <p:tag name="LATEXENGINEID" val="0"/>
  <p:tag name="TEMPFOLDER" val="c:\temp\"/>
  <p:tag name="LATEXFORMHEIGHT" val="482,25"/>
  <p:tag name="LATEXFORMWIDTH" val="1030,5"/>
  <p:tag name="LATEXFORMWRAP" val="Wahr"/>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834,271"/>
  <p:tag name="ORIGINALWIDTH" val="4458,943"/>
  <p:tag name="LATEXADDIN" val="\documentclass{article}\pagestyle{empty}&#10;\usepackage{amsmath}&#10;\usepackage{amsfonts}&#10;\usepackage{amssymb}&#10;\begin{document}&#10;\begin{minipage}{12.6 cm}&#10;{\sffamily{&#10;The simplest stochastic processes are those which can be completely characterized by their&#10;current state, and where past states of a variable do not affect future outcomes.\\[2mm]&#10;A stochastic process $\{X(t)\}$ is called a {\bf{Markov process}} if it is history-independent. In the case with $t$&#10;being a discrete sequence $t_1, t_2, \dots$, it is a one-step memory process, that is,&#10;$$&#10;\begin{array}{l}&#10;\mathbb{P}\left( \, X(t_1) \, = \, x_1 \, | \, X(t_{i-1}) = x_2 \, \cap \, X(t_{i-2}) = x_3 \, \cap \, \dots \, \right) \\[1mm]&#10;\begin{array}{c l}&#10;= &amp; \mathbb{P}\left( \, X(t_1) \, = \, x_1 \, | \, X(t_{i-1}) \, = \, x_2 \, \right)&#10;\end{array} \end{array}&#10;$$&#10;Markov processes are sometimes referred to as being {\bf{memory less}}; i.e., the&#10;next state for the stochastic process depends only upon the current state. \\[2mm]&#10;A {\bf{Markov chain}}&#10;is a model which tracks the progression of a Markov process from time step to time step.&#10;&#10;}}&#10;\end{minipage}&#10;\end{document}"/>
  <p:tag name="IGUANATEXSIZE" val="20"/>
  <p:tag name="IGUANATEXCURSOR" val="988"/>
  <p:tag name="TRANSPARENCY" val="Wahr"/>
  <p:tag name="LATEXENGINEID" val="0"/>
  <p:tag name="TEMPFOLDER" val="c:\temp\"/>
  <p:tag name="LATEXFORMHEIGHT" val="482,25"/>
  <p:tag name="LATEXFORMWIDTH" val="1030,5"/>
  <p:tag name="LATEXFORMWRAP" val="Wahr"/>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865,017"/>
  <p:tag name="ORIGINALWIDTH" val="4386,952"/>
  <p:tag name="LATEXADDIN" val="\documentclass{article}\pagestyle{empty}&#10;\usepackage{amsmath}&#10;\usepackage{amsfonts}&#10;\usepackage{amssymb}&#10;\begin{document}&#10;\begin{minipage}{12.4 cm}&#10;{\sffamily{&#10;{\bf{Definition: (States \&amp; Distributions)}}\\[1mm]&#10;Let $(\Omega, \mathcal{A}, \mathbb{P})$ a probability space and $\mathbb{S} \subset \mathbb{N}$ be a countable set. Each $s \in \mathbb{S}$ is called a {\bf{state}} and $\mathbb{S}$ is called the {\bf{state-space}}.\\[2mm]&#10;We say that the vector $\lambda = (\lambda_s)_{s \in \mathbb{S}}$ is a {\bf{measure}} on the state space $\mathbb{S}$ if $0 \leq t_s &lt; \infty$ for all $s \in \mathbb{S}$. If in addition the {\bf{total mass}} $\sum_{s \in \mathbb{S}} \lambda_s$ equals $1$, then we call $\lambda$ a {\bf{distribution}}.\\[2mm]&#10;Recall that a random variable $X$ with values in $\mathbb{S}$ is a function $X : \Omega \to \mathbb{S}$. Suppose we set&#10;$$&#10; \lambda_s \, \, := \, \, \mathbb{P}\left(X = s \right) \, \, = \, \, \mathbb{P}\left( \left\{ \omega : X(\omega) = s \right\} \right) \, .&#10;$$&#10;Then $\lambda$ defines a density, the {\bf{distribution of $X$}}. We think of $X$ as modeling a random state which takes the value $s$ with probability $\lambda_s$.&#10;}}&#10;\end{minipage}&#10;\end{document}"/>
  <p:tag name="IGUANATEXSIZE" val="20"/>
  <p:tag name="IGUANATEXCURSOR" val="743"/>
  <p:tag name="TRANSPARENCY" val="Wahr"/>
  <p:tag name="FILENAME" val=""/>
  <p:tag name="LATEXENGINEID" val="0"/>
  <p:tag name="TEMPFOLDER" val="D:\iguana_temp\"/>
  <p:tag name="LATEXFORMHEIGHT" val="482,25"/>
  <p:tag name="LATEXFORMWIDTH" val="1030,5"/>
  <p:tag name="LATEXFORMWRAP" val="Wahr"/>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578,9276"/>
  <p:tag name="ORIGINALWIDTH" val="4380,203"/>
  <p:tag name="LATEXADDIN" val="\documentclass{article}\pagestyle{empty}&#10;\usepackage{amsmath}&#10;\usepackage{amsfonts}&#10;\usepackage{amssymb}&#10;\begin{document}&#10;\begin{minipage}{12.4 cm}&#10;{\sffamily{&#10;{\bf{Definition: (Stochastic Matrix)}}\\[1mm]&#10;A matrix $P := (p_{i,j})_{i, j \in \mathbb{S}}$ is called {\bf{stochastic}} if every column vector $(p_{i,j})_{ i \in \mathbb{S}}$ is a distribution. Such stochastic matrices store the information of transitions between states.&#10;}}&#10;\end{minipage}&#10;\end{document}"/>
  <p:tag name="IGUANATEXSIZE" val="20"/>
  <p:tag name="IGUANATEXCURSOR" val="195"/>
  <p:tag name="TRANSPARENCY" val="Wahr"/>
  <p:tag name="FILENAME" val=""/>
  <p:tag name="LATEXENGINEID" val="0"/>
  <p:tag name="TEMPFOLDER" val="D:\iguana_temp\"/>
  <p:tag name="LATEXFORMHEIGHT" val="482,25"/>
  <p:tag name="LATEXFORMWIDTH" val="1030,5"/>
  <p:tag name="LATEXFORMWRAP" val="Wahr"/>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094,113"/>
  <p:tag name="ORIGINALWIDTH" val="4377,203"/>
  <p:tag name="LATEXADDIN" val="\documentclass{article}\pagestyle{empty}&#10;\usepackage{amsmath}&#10;\usepackage{amsfonts}&#10;\usepackage{amssymb}&#10;\begin{document}&#10;\begin{minipage}{12.4 cm}&#10;{\sffamily{&#10;{\bf{Example: (Stochastic Matrix)}}\\[1mm]&#10;The stochastic matrix&#10;$$&#10;P \, \, = \, \, \begin{pmatrix} 0.2 &amp; 0.6 &amp; 0.1 \\ 0.3 &amp; 0 &amp; 0.7 \\ 0.5 &amp; 0.4 &amp; 0.2\end{pmatrix}&#10;$$&#10;represents the transitions between three states as illustrated on the left-hand side. (Think of multiplying a&#10;state vector from the right-hand side.)&#10;}}&#10;\end{minipage}&#10;\end{document}"/>
  <p:tag name="IGUANATEXSIZE" val="20"/>
  <p:tag name="IGUANATEXCURSOR" val="402"/>
  <p:tag name="TRANSPARENCY" val="Wahr"/>
  <p:tag name="FILENAME" val=""/>
  <p:tag name="LATEXENGINEID" val="0"/>
  <p:tag name="TEMPFOLDER" val="D:\iguana_temp\"/>
  <p:tag name="LATEXFORMHEIGHT" val="482,25"/>
  <p:tag name="LATEXFORMWIDTH" val="1030,5"/>
  <p:tag name="LATEXFORMWRAP" val="Wahr"/>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890,514"/>
  <p:tag name="ORIGINALWIDTH" val="3394,825"/>
  <p:tag name="LATEXADDIN" val="\documentclass{article}\pagestyle{empty}&#10;\usepackage{amsmath}&#10;\usepackage{amsfonts}&#10;\usepackage{amssymb}&#10;\begin{document}&#10;\begin{minipage}{9.6 cm}&#10;{\sffamily{&#10;{\bf{Example:}}\\[1mm]&#10;There is a one-to-one correspondence between stochastic matrices $P$ and the sort of diagrams&#10;we used last time.\\[2mm] Here are two examples:&#10;$$&#10;P_1 \, \, = \, \, \begin{pmatrix} 1-\alpha &amp; \beta \\ \alpha &amp; 1-\beta \end{pmatrix}&#10;$$&#10;and&#10;$$&#10;P_2 \, \, = \, \, \begin{pmatrix} 0 &amp; 0 &amp; \tfrac{1}{2} \\[1.5mm] 1 &amp; \tfrac{1}{2} &amp; 0 \\[1.5mm] 0 &amp; \tfrac{1}{2} &amp; \tfrac{1}{2} \end{pmatrix} \, .&#10;$$&#10;}}&#10;\end{minipage}&#10;\end{document}"/>
  <p:tag name="IGUANATEXSIZE" val="20"/>
  <p:tag name="IGUANATEXCURSOR" val="301"/>
  <p:tag name="TRANSPARENCY" val="Wahr"/>
  <p:tag name="LATEXENGINEID" val="0"/>
  <p:tag name="TEMPFOLDER" val="c:\temp\"/>
  <p:tag name="LATEXFORMHEIGHT" val="482,25"/>
  <p:tag name="LATEXFORMWIDTH" val="1030,5"/>
  <p:tag name="LATEXFORMWRAP" val="Wahr"/>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604,8"/>
  <p:tag name="ORIGINALWIDTH" val="4381,703"/>
  <p:tag name="LATEXADDIN" val="\documentclass{article}\pagestyle{empty}&#10;\usepackage{amsmath}&#10;\usepackage{amsfonts}&#10;\usepackage{amssymb}&#10;\begin{document}&#10;\begin{minipage}{12.4 cm}&#10;{\sffamily{&#10;{\bf{Definition: (Markov Chain)}}\\[1mm]&#10;We say that a sequence $\{X_n\}_{n \geq 0}$ of random variables is a {\bf{Markov chain}} with initial distribution $\lambda$ and {\bf{transition matrix}} $P$ (where $P$ is a stochastic matrix) if&#10;\begin{itemize}&#10;\item $X_0$ has distribution $\lambda$,&#10;\item for $n \geq 0$, conditional on $X_n = i$, the random variable $X_{n+1}$ has distribution $(p_{i,j})_{i \in \mathbb{S}}$ ($j$-th column of $P$)&#10;\item and is independent of the history $X_0, \dots, X_{n - 1}$.&#10;\end{itemize}&#10;&#10;[\dots]}}&#10;\end{minipage}&#10;\end{document}"/>
  <p:tag name="IGUANATEXSIZE" val="20"/>
  <p:tag name="IGUANATEXCURSOR" val="689"/>
  <p:tag name="TRANSPARENCY" val="Wahr"/>
  <p:tag name="FILENAME" val=""/>
  <p:tag name="LATEXENGINEID" val="0"/>
  <p:tag name="TEMPFOLDER" val="D:\iguana_temp\"/>
  <p:tag name="LATEXFORMHEIGHT" val="482,25"/>
  <p:tag name="LATEXFORMWIDTH" val="1030,5"/>
  <p:tag name="LATEXFORMWRAP" val="Wahr"/>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544,057"/>
  <p:tag name="ORIGINALWIDTH" val="4389,202"/>
  <p:tag name="LATEXADDIN" val="\documentclass{article}\pagestyle{empty}&#10;\usepackage{amsmath}&#10;\usepackage{amsfonts}&#10;\usepackage{amssymb}&#10;\begin{document}&#10;\begin{minipage}{12.4 cm}&#10;{\sffamily{&#10;[\dots]\\[2mm]&#10;More explicitly, these defining conditions state that, for $n \geq 0$ and $i_0, \dots, i_{n+1} \in \mathbb{S}$,&#10;\begin{enumerate}&#10;\item $\mathbb{P}( X_0 = i_0) = \lambda_{i_0}$,&#10;\item $\mathbb{P}( X_{n+1} = i_{n+1} | X_0 = i_0 , \dots , X_n = i_n) = \mathbb{P}(X_{n+1} = i_{n+1} | X_n = i_n) = p_{i_{n+1}, i_n}$.&#10;\end{enumerate}&#10;We say that $\{X_n\}_{n \geq 0}$ is $\text{\bf{Markov}}(\lambda, P)$ for short.&#10;&#10;If $\{X_n\}_{0 \leq n \leq N}$ is a finite sequence of random variables satisfying both properties for $n = 0, \dots, N-1$, then we again say $\{X_n\}_{0 \leq n \leq N}$ is $\text{\bf{Markov}}(\lambda, P)$.}}&#10;\end{minipage}&#10;\end{document}"/>
  <p:tag name="IGUANATEXSIZE" val="20"/>
  <p:tag name="IGUANATEXCURSOR" val="174"/>
  <p:tag name="TRANSPARENCY" val="Wahr"/>
  <p:tag name="FILENAME" val=""/>
  <p:tag name="LATEXENGINEID" val="0"/>
  <p:tag name="TEMPFOLDER" val="D:\iguana_temp\"/>
  <p:tag name="LATEXFORMHEIGHT" val="482,25"/>
  <p:tag name="LATEXFORMWIDTH" val="1030,5"/>
  <p:tag name="LATEXFORMWRAP" val="Wahr"/>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914,8856"/>
  <p:tag name="ORIGINALWIDTH" val="3396,325"/>
  <p:tag name="LATEXADDIN" val="\documentclass{article}\pagestyle{empty}&#10;\usepackage{amsmath}&#10;\usepackage{amsfonts}&#10;\usepackage{amssymb}&#10;\begin{document}&#10;\begin{minipage}{9.6 cm}&#10;{\sffamily{&#10;{\bf{Example:(Virus Mutation):}}\\&#10;Suppose a virus can exist in $N$ different strains and in each generation either stays the same, or with&#10;probability $\alpha$ mutates to another strain, which is chosen at random.\\[2mm] What is the probability that the strain&#10;in the $n$-th generation is the same as that in the $0$-th?}}&#10;\end{minipage}&#10;\end{document}"/>
  <p:tag name="IGUANATEXSIZE" val="20"/>
  <p:tag name="IGUANATEXCURSOR" val="171"/>
  <p:tag name="TRANSPARENCY" val="Wahr"/>
  <p:tag name="LATEXENGINEID" val="0"/>
  <p:tag name="TEMPFOLDER" val="c:\temp\"/>
  <p:tag name="LATEXFORMHEIGHT" val="482,25"/>
  <p:tag name="LATEXFORMWIDTH" val="1030,5"/>
  <p:tag name="LATEXFORMWRAP" val="Wahr"/>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097,863"/>
  <p:tag name="ORIGINALWIDTH" val="3395,575"/>
  <p:tag name="LATEXADDIN" val="\documentclass{article}\pagestyle{empty}&#10;\usepackage{amsmath}&#10;\usepackage{amsfonts}&#10;\usepackage{amssymb}&#10;\begin{document}&#10;\begin{minipage}{9.6 cm}&#10;{\sffamily{&#10;{\bf{Solution:}}\\&#10;We could model this process as an $N$-state chain, with a $N \times N$ transition matrix $P$ given by&#10;$$&#10;p_{i,i} \, \, = \, \, 1 - \alpha \, , \quad p_{j,i} \, \, = \, \, \frac{\alpha}{N-1} \quad \text{for $i \neq j$} \, .&#10;$$&#10;Then the answer we want would be found by computing $p^{(n)}_{1,1}$.&#10;}}&#10;\end{minipage}&#10;\end{document}"/>
  <p:tag name="IGUANATEXSIZE" val="20"/>
  <p:tag name="IGUANATEXCURSOR" val="172"/>
  <p:tag name="TRANSPARENCY" val="Wahr"/>
  <p:tag name="LATEXENGINEID" val="0"/>
  <p:tag name="TEMPFOLDER" val="c:\temp\"/>
  <p:tag name="LATEXFORMHEIGHT" val="482,25"/>
  <p:tag name="LATEXFORMWIDTH" val="1030,5"/>
  <p:tag name="LATEXFORMWRAP" val="Wahr"/>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78,9651"/>
  <p:tag name="LATEXADDIN" val="\documentclass{article}&#10;\usepackage{amsmath}&#10;\pagestyle{empty}&#10;\begin{document}&#10;$$&#10;1-\alpha&#10;$$&#10;&#10;&#10;&#10;\end{document}"/>
  <p:tag name="IGUANATEXSIZE" val="20"/>
  <p:tag name="IGUANATEXCURSOR" val="85"/>
  <p:tag name="TRANSPARENCY" val="Wahr"/>
  <p:tag name="LATEXENGINEID" val="0"/>
  <p:tag name="TEMPFOLDER" val="c:\temp\"/>
  <p:tag name="LATEXFORMHEIGHT" val="312"/>
  <p:tag name="LATEXFORMWIDTH" val="384"/>
  <p:tag name="LATEXFORMWRAP" val="Wahr"/>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659,9175"/>
  <p:tag name="LATEXADDIN" val="\documentclass{article}&#10;\usepackage{amsmath}&#10;\pagestyle{empty}&#10;\begin{document}&#10;$$&#10;\beta \, := \, \frac{\alpha}{N-1} &#10;$$&#10;&#10;&#10;&#10;\end{document}"/>
  <p:tag name="IGUANATEXSIZE" val="20"/>
  <p:tag name="IGUANATEXCURSOR" val="116"/>
  <p:tag name="TRANSPARENCY" val="Wahr"/>
  <p:tag name="LATEXENGINEID" val="0"/>
  <p:tag name="TEMPFOLDER" val="c:\temp\"/>
  <p:tag name="LATEXFORMHEIGHT" val="312"/>
  <p:tag name="LATEXFORMWIDTH" val="384"/>
  <p:tag name="LATEXFORMWRAP" val="Wahr"/>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68,99134"/>
  <p:tag name="LATEXADDIN" val="\documentclass{article}&#10;\usepackage{amsmath}&#10;\pagestyle{empty}&#10;\begin{document}&#10;$$&#10;\beta&#10;$$&#10;&#10;&#10;&#10;\end{document}"/>
  <p:tag name="IGUANATEXSIZE" val="20"/>
  <p:tag name="IGUANATEXCURSOR" val="88"/>
  <p:tag name="TRANSPARENCY" val="Wahr"/>
  <p:tag name="LATEXENGINEID" val="0"/>
  <p:tag name="TEMPFOLDER" val="c:\temp\"/>
  <p:tag name="LATEXFORMHEIGHT" val="312"/>
  <p:tag name="LATEXFORMWIDTH" val="384"/>
  <p:tag name="LATEXFORMWRAP" val="Wahr"/>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68,99134"/>
  <p:tag name="LATEXADDIN" val="\documentclass{article}&#10;\usepackage{amsmath}&#10;\pagestyle{empty}&#10;\begin{document}&#10;$$&#10;\beta&#10;$$&#10;&#10;&#10;&#10;\end{document}"/>
  <p:tag name="IGUANATEXSIZE" val="20"/>
  <p:tag name="IGUANATEXCURSOR" val="88"/>
  <p:tag name="TRANSPARENCY" val="Wahr"/>
  <p:tag name="LATEXENGINEID" val="0"/>
  <p:tag name="TEMPFOLDER" val="c:\temp\"/>
  <p:tag name="LATEXFORMHEIGHT" val="312"/>
  <p:tag name="LATEXFORMWIDTH" val="384"/>
  <p:tag name="LATEXFORMWRAP" val="Wahr"/>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68,99134"/>
  <p:tag name="LATEXADDIN" val="\documentclass{article}&#10;\usepackage{amsmath}&#10;\pagestyle{empty}&#10;\begin{document}&#10;$$&#10;\beta&#10;$$&#10;&#10;&#10;&#10;\end{document}"/>
  <p:tag name="IGUANATEXSIZE" val="20"/>
  <p:tag name="IGUANATEXCURSOR" val="88"/>
  <p:tag name="TRANSPARENCY" val="Wahr"/>
  <p:tag name="LATEXENGINEID" val="0"/>
  <p:tag name="TEMPFOLDER" val="c:\temp\"/>
  <p:tag name="LATEXFORMHEIGHT" val="312"/>
  <p:tag name="LATEXFORMWIDTH" val="384"/>
  <p:tag name="LATEXFORMWRAP" val="Wahr"/>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851,1437"/>
  <p:tag name="ORIGINALWIDTH" val="4385,452"/>
  <p:tag name="LATEXADDIN" val="\documentclass{article}\pagestyle{empty}&#10;\usepackage{amsmath}&#10;\usepackage{amsfonts}&#10;\usepackage{amssymb}&#10;\begin{document}&#10;\begin{minipage}{12.4 cm}&#10;{\sffamily{&#10;In this example there is a much simpler approach, which relies on exploiting the symmetry present in the mutation rules.\\[2mm]&#10;At any time a transition is made from the initial state to another with probability $\alpha$, and a transition from another state&#10;to the initial state with probability $\alpha/(N - 1)$.\\[2mm]&#10;Thus we have a two-state chain with diagram&#10;}}&#10;\end{minipage}&#10;\end{document}"/>
  <p:tag name="IGUANATEXSIZE" val="20"/>
  <p:tag name="IGUANATEXCURSOR" val="481"/>
  <p:tag name="TRANSPARENCY" val="Wahr"/>
  <p:tag name="FILENAME" val=""/>
  <p:tag name="LATEXENGINEID" val="0"/>
  <p:tag name="TEMPFOLDER" val="D:\iguana_temp\"/>
  <p:tag name="LATEXFORMHEIGHT" val="482,25"/>
  <p:tag name="LATEXFORMWIDTH" val="1030,5"/>
  <p:tag name="LATEXFORMWRAP" val="Wahr"/>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521,9348"/>
  <p:tag name="ORIGINALWIDTH" val="3601,05"/>
  <p:tag name="LATEXADDIN" val="\documentclass{article}\pagestyle{empty}&#10;\usepackage{amsmath}&#10;\usepackage{amsfonts}&#10;\usepackage{amssymb}&#10;\begin{document}&#10;\begin{minipage}{12.4 cm}&#10;{\sffamily{&#10;with the transition matrix&#10;$$&#10;P \, \, = \, \, \left( \begin{array}{c c}&#10; 1-\alpha &amp; \beta \\ \alpha &amp; 1 - \beta&#10;\end{array} \right) \qquad \text{where} \quad \beta \, \, := \, \, \frac{\alpha}{N-1} \, .&#10;$$&#10;}}&#10;\end{minipage}&#10;\end{document}"/>
  <p:tag name="IGUANATEXSIZE" val="20"/>
  <p:tag name="IGUANATEXCURSOR" val="362"/>
  <p:tag name="TRANSPARENCY" val="Wahr"/>
  <p:tag name="FILENAME" val=""/>
  <p:tag name="LATEXENGINEID" val="0"/>
  <p:tag name="TEMPFOLDER" val="D:\iguana_temp\"/>
  <p:tag name="LATEXFORMHEIGHT" val="482,25"/>
  <p:tag name="LATEXFORMWIDTH" val="1030,5"/>
  <p:tag name="LATEXFORMWRAP" val="Wahr"/>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70,49118"/>
  <p:tag name="LATEXADDIN" val="\documentclass{article}&#10;\usepackage{amsmath}&#10;\pagestyle{empty}&#10;\begin{document}&#10;$$&#10;\alpha&#10;$$&#10;&#10;&#10;&#10;\end{document}"/>
  <p:tag name="IGUANATEXSIZE" val="20"/>
  <p:tag name="IGUANATEXCURSOR" val="89"/>
  <p:tag name="TRANSPARENCY" val="Wahr"/>
  <p:tag name="LATEXENGINEID" val="0"/>
  <p:tag name="TEMPFOLDER" val="c:\temp\"/>
  <p:tag name="LATEXFORMHEIGHT" val="312"/>
  <p:tag name="LATEXFORMWIDTH" val="384"/>
  <p:tag name="LATEXFORMWRAP" val="Wahr"/>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549,6813"/>
  <p:tag name="LATEXADDIN" val="\documentclass{article}&#10;\usepackage{amsmath}&#10;\pagestyle{empty}&#10;\begin{document}&#10;$$&#10;\alpha/ (N-1)&#10;$$&#10;&#10;&#10;&#10;\end{document}"/>
  <p:tag name="IGUANATEXSIZE" val="20"/>
  <p:tag name="IGUANATEXCURSOR" val="96"/>
  <p:tag name="TRANSPARENCY" val="Wahr"/>
  <p:tag name="LATEXENGINEID" val="0"/>
  <p:tag name="TEMPFOLDER" val="c:\temp\"/>
  <p:tag name="LATEXFORMHEIGHT" val="312"/>
  <p:tag name="LATEXFORMWIDTH" val="384"/>
  <p:tag name="LATEXFORMWRAP" val="Wahr"/>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78,9651"/>
  <p:tag name="LATEXADDIN" val="\documentclass{article}&#10;\usepackage{amsmath}&#10;\pagestyle{empty}&#10;\begin{document}&#10;$$&#10;1- \alpha&#10;$$&#10;&#10;&#10;&#10;\end{document}"/>
  <p:tag name="IGUANATEXSIZE" val="20"/>
  <p:tag name="IGUANATEXCURSOR" val="86"/>
  <p:tag name="TRANSPARENCY" val="Wahr"/>
  <p:tag name="LATEXENGINEID" val="0"/>
  <p:tag name="TEMPFOLDER" val="c:\temp\"/>
  <p:tag name="LATEXFORMHEIGHT" val="312"/>
  <p:tag name="LATEXFORMWIDTH" val="384"/>
  <p:tag name="LATEXFORMWRAP" val="Wahr"/>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255,718"/>
  <p:tag name="ORIGINALWIDTH" val="643,4196"/>
  <p:tag name="LATEXADDIN" val="\documentclass{article}&#10;\usepackage{amsmath}&#10;\pagestyle{empty}&#10;\begin{document}&#10;$$&#10;1 - \frac{\alpha}{(N-1)}&#10;$$&#10;&#10;&#10;&#10;\end{document}"/>
  <p:tag name="IGUANATEXSIZE" val="20"/>
  <p:tag name="IGUANATEXCURSOR" val="107"/>
  <p:tag name="TRANSPARENCY" val="Wahr"/>
  <p:tag name="LATEXENGINEID" val="0"/>
  <p:tag name="TEMPFOLDER" val="c:\temp\"/>
  <p:tag name="LATEXFORMHEIGHT" val="312"/>
  <p:tag name="LATEXFORMWIDTH" val="384"/>
  <p:tag name="LATEXFORMWRAP" val="Wahr"/>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2032,246"/>
  <p:tag name="ORIGINALWIDTH" val="4395,951"/>
  <p:tag name="LATEXADDIN" val="\documentclass{article}\pagestyle{empty}&#10;\usepackage{amsmath}&#10;\usepackage{amsfonts}&#10;\usepackage{amssymb}&#10;\begin{document}&#10;\begin{minipage}{12.4 cm}&#10;{\sffamily{&#10;We exploit the relation $P^{n+1} = P P^n$ to write&#10;$$&#10;p^{(n+1)}_{1,1} \, \, = \, \, p_{2,1}^{(n)} \cdot \beta + p_{1,1}^{(n)} \cdot \left( 1 - \alpha \right) \, .&#10;$$&#10;We also know that $p_{1,1}^{(n)} + p_{2,1}^{(n)} = 1$ (columns of a stochastic matrix),&#10;so by eliminating $p_{2,1}^{(n)}$ we get the recurrence relation for $p_{1,1}^{(n)}$&#10;$$&#10;p^{(n+1)}_{1,1} \, \, = \, \, \left( 1- \alpha - \beta\right) \cdot p_{1,1}^{(n)} + \beta \, ,&#10;\quad p_{1,1}^{(0)} \, \, = \, \, 1 \, ,&#10;$$&#10;which has the unique solution&#10;$$&#10;p_{1,1}^{(n)} \, \, = \, \left\{ \begin{array}{l c l}&#10;\frac{\beta}{\alpha + \beta} + \frac{\alpha}{\alpha + \beta} \left(1 - \alpha - \beta\right)^n&#10; &amp; &amp; \text{for $\alpha + \beta &gt; 0$}\\[2mm]&#10;1 &amp; &amp; \text{for $\alpha + \beta = 0$}&#10;\end{array} \right. \, .&#10;$$&#10;&#10;}}&#10;\end{minipage}&#10;\end{document}"/>
  <p:tag name="IGUANATEXSIZE" val="20"/>
  <p:tag name="IGUANATEXCURSOR" val="411"/>
  <p:tag name="TRANSPARENCY" val="Wahr"/>
  <p:tag name="FILENAME" val=""/>
  <p:tag name="LATEXENGINEID" val="0"/>
  <p:tag name="TEMPFOLDER" val="D:\iguana_temp\"/>
  <p:tag name="LATEXFORMHEIGHT" val="482,25"/>
  <p:tag name="LATEXFORMWIDTH" val="1030,5"/>
  <p:tag name="LATEXFORMWRAP" val="Wahr"/>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142,857"/>
  <p:tag name="ORIGINALWIDTH" val="4385,452"/>
  <p:tag name="LATEXADDIN" val="\documentclass{article}\pagestyle{empty}&#10;\usepackage{amsmath}&#10;\usepackage{amsfonts}&#10;\usepackage{amssymb}&#10;\begin{document}&#10;\begin{minipage}{12.4 cm}&#10;{\sffamily{&#10;Finall, replacing $\beta$ by $\alpha/ (N - 1)$, we find that the desired&#10;probability is&#10;$$&#10; \frac{1}{N} + \left( 1 - \frac{1}{N} \right) \left( 1 - \frac{\alpha N}{N-1} \right)^n \, .&#10;$$&#10;&#10;\vspace{0.5cm}&#10;{\bf{Beware:}} in examples having less symmetry, this sort of lumping together&#10;of states may not produce a Markov chain.&#10;&#10;}}&#10;\end{minipage}&#10;\end{document}"/>
  <p:tag name="IGUANATEXSIZE" val="20"/>
  <p:tag name="IGUANATEXCURSOR" val="362"/>
  <p:tag name="TRANSPARENCY" val="Wahr"/>
  <p:tag name="FILENAME" val=""/>
  <p:tag name="LATEXENGINEID" val="0"/>
  <p:tag name="TEMPFOLDER" val="D:\iguana_temp\"/>
  <p:tag name="LATEXFORMHEIGHT" val="482,25"/>
  <p:tag name="LATEXFORMWIDTH" val="1030,5"/>
  <p:tag name="LATEXFORMWRAP" val="Wahr"/>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2152,231"/>
  <p:tag name="ORIGINALWIDTH" val="4459,693"/>
  <p:tag name="LATEXADDIN" val="\documentclass{article}\pagestyle{empty}&#10;\usepackage{amsmath}&#10;\usepackage{amsfonts}&#10;\usepackage{amssymb}&#10;\begin{document}&#10;\begin{minipage}{12.6 cm}&#10;{\sffamily{&#10;{\bf{Example:}}\\[1mm]&#10;One example of a Markov chain involves succession in plant communities. As plant&#10;communities mature to a climax ecosystem, certain plant species replace others. In this&#10;section, we study succession in plant communities with Markov chains.\\[2mm]&#10;By way of example, consider a population comprising red oak $RO$ and hickory $HI$. At any point in&#10;space, the sample space of possible outcomes is $\mathcal{S} = \{RO , HI \}$. We assume that the&#10;life spans of the two trees are similar.\\[2mm]&#10;In each generation, red oak may be replaced by itself or by hickory, and hickory may be&#10;replaced by itself or red oak. This is a Markov process, with the index $t$ indicating the&#10;generation.\\[2mm]&#10;For example, suppose that when a red oak tree dies, it is equally likely to be replaced&#10;by hickory or red oak, and that when a hickory tree dies, it has probability $0.74$ of being&#10;replaced by red oak and $0.26$ of being replaced by hickory.&#10;}}&#10;\end{minipage}&#10;\end{document}"/>
  <p:tag name="IGUANATEXSIZE" val="20"/>
  <p:tag name="IGUANATEXCURSOR" val="897"/>
  <p:tag name="TRANSPARENCY" val="Wahr"/>
  <p:tag name="FILENAME" val=""/>
  <p:tag name="LATEXENGINEID" val="0"/>
  <p:tag name="TEMPFOLDER" val="D:\iguana_temp\"/>
  <p:tag name="LATEXFORMHEIGHT" val="482,25"/>
  <p:tag name="LATEXFORMWIDTH" val="1030,5"/>
  <p:tag name="LATEXFORMWRAP" val="Wahr"/>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2281,215"/>
  <p:tag name="ORIGINALWIDTH" val="3403,075"/>
  <p:tag name="LATEXADDIN" val="\documentclass{article}\pagestyle{empty}&#10;\usepackage{amsmath}&#10;\usepackage{amsfonts}&#10;\usepackage{amssymb}&#10;\begin{document}&#10;\begin{minipage}{9.6 cm}&#10;{\sffamily{&#10;These transitions can be shown in either a graphical or a tabular format. Note that the columns of&#10;the table sum to $1$.\\[2mm]&#10;The table format can be translated into a transition matrix. For example, the entries&#10;can be written in a transition matrix $P$,&#10;$$&#10;P \, \, = \, \, \begin{pmatrix} 0.5 &amp; 0.74 \\ 0.5 &amp; 0.26 \end{pmatrix} \, .&#10;$$&#10;To track the changes in the system over time, we define a vector $u_t = (o_t,h_t)^T$ which&#10;describes the probability of red oak and of hickory at a given location in the forest after $t$&#10;generations.\\[2mm] In the case of a large homogeneous forest, the same transition model would&#10;apply at every point in space. Hence, $o_t$ and $h_t$ can be interpreted as the proportions of red&#10;oak and hickory in a large statistically homogeneous forest ecosystem.&#10;}}&#10;\end{minipage}&#10;\end{document}"/>
  <p:tag name="IGUANATEXSIZE" val="20"/>
  <p:tag name="IGUANATEXCURSOR" val="231"/>
  <p:tag name="TRANSPARENCY" val="Wahr"/>
  <p:tag name="FILENAME" val=""/>
  <p:tag name="LATEXENGINEID" val="0"/>
  <p:tag name="TEMPFOLDER" val="D:\iguana_temp\"/>
  <p:tag name="LATEXFORMHEIGHT" val="482,25"/>
  <p:tag name="LATEXFORMWIDTH" val="1030,5"/>
  <p:tag name="LATEXFORMWRAP" val="Wahr"/>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87,4016"/>
  <p:tag name="LATEXADDIN" val="\documentclass{article}&#10;\usepackage{amsmath}&#10;\pagestyle{empty}&#10;\begin{document}&#10;$$&#10;T_{\text{RO} \to \text{RO}} = 0.5&#10;$$&#10;&#10;&#10;&#10;\end{document}"/>
  <p:tag name="IGUANATEXSIZE" val="20"/>
  <p:tag name="IGUANATEXCURSOR" val="116"/>
  <p:tag name="TRANSPARENCY" val="Wahr"/>
  <p:tag name="LATEXENGINEID" val="0"/>
  <p:tag name="TEMPFOLDER" val="c:\temp\"/>
  <p:tag name="LATEXFORMHEIGHT" val="312"/>
  <p:tag name="LATEXFORMWIDTH" val="384"/>
  <p:tag name="LATEXFORMWRAP" val="Wahr"/>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49,9063"/>
  <p:tag name="LATEXADDIN" val="\documentclass{article}&#10;\usepackage{amsmath}&#10;\pagestyle{empty}&#10;\begin{document}&#10;$$&#10;T_{\text{RO} \to \text{HI}} = 0.5&#10;$$&#10;&#10;&#10;&#10;\end{document}"/>
  <p:tag name="IGUANATEXSIZE" val="20"/>
  <p:tag name="IGUANATEXCURSOR" val="108"/>
  <p:tag name="TRANSPARENCY" val="Wahr"/>
  <p:tag name="LATEXENGINEID" val="0"/>
  <p:tag name="TEMPFOLDER" val="c:\temp\"/>
  <p:tag name="LATEXFORMHEIGHT" val="312"/>
  <p:tag name="LATEXFORMWIDTH" val="384"/>
  <p:tag name="LATEXFORMWRAP" val="Wahr"/>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76,9029"/>
  <p:tag name="LATEXADDIN" val="\documentclass{article}&#10;\usepackage{amsmath}&#10;\pagestyle{empty}&#10;\begin{document}&#10;$$&#10;T_{\text{HI} \to \text{HI}} = 0.26&#10;$$&#10;&#10;&#10;&#10;\end{document}"/>
  <p:tag name="IGUANATEXSIZE" val="20"/>
  <p:tag name="IGUANATEXCURSOR" val="117"/>
  <p:tag name="TRANSPARENCY" val="Wahr"/>
  <p:tag name="LATEXENGINEID" val="0"/>
  <p:tag name="TEMPFOLDER" val="c:\temp\"/>
  <p:tag name="LATEXFORMHEIGHT" val="312"/>
  <p:tag name="LATEXFORMWIDTH" val="384"/>
  <p:tag name="LATEXFORMWRAP" val="Wahr"/>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104,9868"/>
  <p:tag name="ORIGINALWIDTH" val="815,898"/>
  <p:tag name="LATEXADDIN" val="\documentclass{article}&#10;\usepackage{amsmath}&#10;\pagestyle{empty}&#10;\begin{document}&#10;$$&#10;T_{\text{HI} \to \text{RO}} = 0.74&#10;$$&#10;&#10;&#10;&#10;\end{document}"/>
  <p:tag name="IGUANATEXSIZE" val="20"/>
  <p:tag name="IGUANATEXCURSOR" val="117"/>
  <p:tag name="TRANSPARENCY" val="Wahr"/>
  <p:tag name="LATEXENGINEID" val="0"/>
  <p:tag name="TEMPFOLDER" val="c:\temp\"/>
  <p:tag name="LATEXFORMHEIGHT" val="312"/>
  <p:tag name="LATEXFORMWIDTH" val="384"/>
  <p:tag name="LATEXFORMWRAP" val="Wahr"/>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1959,505"/>
  <p:tag name="ORIGINALWIDTH" val="4450,694"/>
  <p:tag name="LATEXADDIN" val="\documentclass{article}\pagestyle{empty}&#10;\usepackage{amsmath}&#10;\usepackage{amsfonts}&#10;\usepackage{amssymb}&#10;\begin{document}&#10;\begin{minipage}{12.6 cm}&#10;{\sffamily{&#10;If we suppose that the forest is initially $50\%$ red oak and $50\%$ hickory, then $u_0 = (0.5,0.5)^T$. To find $u_1$, we calculate as follows:\\[-7mm]&#10;{\small{&#10;\begin{center}&#10;\begin{tabular}{c c c c c c c c c}&#10;&amp; &amp; proportion &amp; &amp; probability &amp; &amp; proportion &amp; &amp; probability\\&#10;$o_1$ &amp; = &amp; of red oak &amp; $\cdot$ &amp; red oak is replaced &amp; $+$ &amp; of hickory &amp; $\cdot$ &amp; hickory is replaced\\&#10;&amp; &amp; at time $0$ &amp; &amp; by red oak &amp; &amp; at time $0$ &amp; &amp; by red oak \\[1mm]&#10;&amp; = &amp; $0.5$ &amp; $\cdot$ &amp; $0.5$ &amp; $+$ &amp; $0.5$ &amp; $\cdot$ &amp; $0.74$ \\[1mm]&#10;&amp; = &amp; $0.62$&#10;\end{tabular} &#10;&#10;\vspace{0.3cm}&#10;\begin{tabular}{c c c c c c c c c}&#10;&amp; &amp; proportion &amp; &amp; probability &amp; &amp; proportion &amp; &amp; probability\\&#10;$h_1$ &amp; = &amp; of red oak &amp; $\cdot$ &amp; red oak is replaced &amp; $+$ &amp; of hickory &amp; $\cdot$ &amp; hickory is replaced\\&#10;&amp; &amp; at time $0$ &amp; &amp; by hickory &amp; &amp; at time $0$ &amp; &amp; by hickory \\[1mm]&#10;&amp; = &amp; $0.5$ &amp; $\cdot$ &amp; $0.5$ &amp; $+$ &amp; $0.5$ &amp; $\cdot$ &amp; $0.26$ \\[1mm]&#10;&amp; = &amp; $0.38$&#10;\end{tabular} &#10;\end{center}&#10;}}&#10;&#10;}}&#10;\end{minipage}&#10;\end{document}"/>
  <p:tag name="IGUANATEXSIZE" val="20"/>
  <p:tag name="IGUANATEXCURSOR" val="724"/>
  <p:tag name="TRANSPARENCY" val="Wahr"/>
  <p:tag name="FILENAME" val=""/>
  <p:tag name="LATEXENGINEID" val="0"/>
  <p:tag name="TEMPFOLDER" val="D:\iguana_temp\"/>
  <p:tag name="LATEXFORMHEIGHT" val="482,25"/>
  <p:tag name="LATEXFORMWIDTH" val="1030,5"/>
  <p:tag name="LATEXFORMWRAP" val="Wahr"/>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1867,267"/>
  <p:tag name="ORIGINALWIDTH" val="4447,694"/>
  <p:tag name="LATEXADDIN" val="\documentclass{article}\pagestyle{empty}&#10;\usepackage{amsmath}&#10;\usepackage{amsfonts}&#10;\usepackage{amssymb}&#10;\begin{document}&#10;\begin{minipage}{12.6 cm}&#10;{\sffamily{&#10;In terms of the matrix fomulation, we can write&#10;$$&#10;u_1 \, \, = \, \, P \, u_0 \, , \qquad&#10;u_2 \, \, = \, \, P \, u_2 \, , \qquad \dots&#10;$$&#10;If we continue this process, we observe that the forest approaches an equilibrium&#10;value. For example,&#10;$$&#10;u_4 \, \, = \, \, \begin{pmatrix} 0.596 \\ 0.404 \end{pmatrix} \, , \qquad&#10;u_5 \, \, = \, \, \begin{pmatrix} 0.597 \\ 0.403 \end{pmatrix} \, .&#10;$$&#10;The forest has reached an equilibrium $u^*$ when&#10;$$&#10;P \, u^* \, \, = \, \, u^* \, .&#10;$$&#10;Hence, the equilibrium $u^*$ is an eigenvector corresponding to eigenvalue $\lambda = 1$.&#10;}}&#10;\end{minipage}&#10;\end{document}"/>
  <p:tag name="IGUANATEXSIZE" val="20"/>
  <p:tag name="IGUANATEXCURSOR" val="725"/>
  <p:tag name="TRANSPARENCY" val="Wahr"/>
  <p:tag name="FILENAME" val=""/>
  <p:tag name="LATEXENGINEID" val="0"/>
  <p:tag name="TEMPFOLDER" val="D:\iguana_temp\"/>
  <p:tag name="LATEXFORMHEIGHT" val="482,25"/>
  <p:tag name="LATEXFORMWIDTH" val="1030,5"/>
  <p:tag name="LATEXFORMWRAP" val="Wahr"/>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772,4034"/>
  <p:tag name="ORIGINALWIDTH" val="3823,022"/>
  <p:tag name="LATEXADDIN" val="\documentclass{article}\pagestyle{empty}&#10;\usepackage{amsmath}&#10;\usepackage{amsfonts}&#10;\usepackage{amssymb}&#10;\begin{document}&#10;\begin{minipage}{12.6 cm}&#10;{\sffamily{&#10;To calculate the eigenvector we solve&#10;$$&#10;(P - \mathbb{I}) \, u^* \, \, = \, \, 0 \qquad \Longrightarrow \qquad&#10;\begin{pmatrix} -0.5 &amp; 0.74 \\ 0.5 &amp; -0.74 \end{pmatrix} \begin{pmatrix} o^* \\ h^* \end{pmatrix} \, \, = \, \, 0 \, ,&#10;$$&#10;which has the solution $o^* = 0.597$ and $h^* = 0.403$.}}&#10;\end{minipage}&#10;\end{document}"/>
  <p:tag name="IGUANATEXSIZE" val="20"/>
  <p:tag name="IGUANATEXCURSOR" val="447"/>
  <p:tag name="TRANSPARENCY" val="Wahr"/>
  <p:tag name="FILENAME" val=""/>
  <p:tag name="LATEXENGINEID" val="0"/>
  <p:tag name="TEMPFOLDER" val="D:\iguana_temp\"/>
  <p:tag name="LATEXFORMHEIGHT" val="482,25"/>
  <p:tag name="LATEXFORMWIDTH" val="1030,5"/>
  <p:tag name="LATEXFORMWRAP" val="Wahr"/>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1934,008"/>
  <p:tag name="ORIGINALWIDTH" val="4460,442"/>
  <p:tag name="LATEXADDIN" val="\documentclass{article}\pagestyle{empty}&#10;\usepackage{amsmath}&#10;\usepackage{amsfonts}&#10;\usepackage{amssymb}&#10;\begin{document}&#10;\begin{minipage}{12.6 cm}&#10;{\sffamily{&#10;Let $P$ be the transition matrix of the forest , i.e.,&#10;$$&#10;P \, \, = \, \, \begin{pmatrix}&#10;0.12 &amp; 0.14 &amp; 0.12 &amp; 0.12 &amp; 0.13 \\&#10;0.12 &amp; 0.05 &amp; 0.08 &amp; 0.28 &amp; 0.27 \\&#10;0.12 &amp; 0.10 &amp; 0.10 &amp; 0.05 &amp; 0.08 \\&#10;0.42 &amp; 0.53 &amp; 0.32 &amp; 0.20 &amp; 0.19 \\&#10;0.22 &amp; 0.18 &amp; 0.38 &amp; 0.35 &amp; 0.33 \\&#10;\end{pmatrix}&#10;$$&#10;The stationary distribution $u^* \in \mathbb{R}^5$ satisfies the eigenvalue equation $u^* = P u^*$ or $(P - \mathbb{I}) u^* = 0$ and is thus gained by solving a linear system of equations.\\[2mm]&#10;We obtain the unique stationary distribution&#10;$$&#10;u^* \, \, \approx \, \, \begin{pmatrix} 0.25974823 &amp; 0.40013469 &amp; 0.16713644 &amp; 0.61261846 &amp; 0.60760771 \end{pmatrix}^T \, .&#10;$$&#10;&#10;}}&#10;\end{minipage}&#10;\end{document}"/>
  <p:tag name="IGUANATEXSIZE" val="20"/>
  <p:tag name="IGUANATEXCURSOR" val="204"/>
  <p:tag name="TRANSPARENCY" val="Wahr"/>
  <p:tag name="LATEXENGINEID" val="0"/>
  <p:tag name="TEMPFOLDER" val="c:\temp\"/>
  <p:tag name="LATEXFORMHEIGHT" val="482,25"/>
  <p:tag name="LATEXFORMWIDTH" val="1030,5"/>
  <p:tag name="LATEXFORMWRAP" val="Wahr"/>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1640,795"/>
  <p:tag name="ORIGINALWIDTH" val="3394,825"/>
  <p:tag name="LATEXADDIN" val="\documentclass{article}\pagestyle{empty}&#10;\usepackage{amsmath}&#10;\usepackage{amsfonts}&#10;\usepackage{amssymb}&#10;\begin{document}&#10;\begin{minipage}{9.6 cm}&#10;{\sffamily{&#10;{\bf{Example:}}\\[1mm]&#10;An octopus is trained to choose object $A$ from a pair of objects $A$, $B$&#10;by being given repeated trials in which it is shown both and is rewarded&#10;with food if it chooses $A$. The octopus may be in one of three states of mind:&#10;\begin{itemize}&#10;\item in state 1 it cannot remember which object is rewarded and is equally likely&#10; to choose either;&#10;\item in state 2 it remembers and chooses $A$ but may forget&#10; again;&#10;\item in state 3 it remembers and chooses $A$ and never forgets.&#10;\end{itemize}&#10;&#10;}}&#10;\end{minipage}&#10;\end{document}"/>
  <p:tag name="IGUANATEXSIZE" val="20"/>
  <p:tag name="IGUANATEXCURSOR" val="171"/>
  <p:tag name="TRANSPARENCY" val="Wahr"/>
  <p:tag name="LATEXENGINEID" val="0"/>
  <p:tag name="TEMPFOLDER" val="c:\temp\"/>
  <p:tag name="LATEXFORMHEIGHT" val="482,25"/>
  <p:tag name="LATEXFORMWIDTH" val="1030,5"/>
  <p:tag name="LATEXFORMWRAP" val="Wahr"/>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1683,54"/>
  <p:tag name="ORIGINALWIDTH" val="4382,452"/>
  <p:tag name="LATEXADDIN" val="\documentclass{article}\pagestyle{empty}&#10;\usepackage{amsmath}&#10;\usepackage{amsfonts}&#10;\usepackage{amssymb}&#10;\begin{document}&#10;\begin{minipage}{12.4 cm}&#10;{\sffamily{&#10;After each trial it may change its state of mind according to the transition matrix\\[-2mm]&#10;$$&#10;P \, \, = \, \, \begin{pmatrix} \tfrac{1}{2} &amp; \tfrac{1}{2} &amp; 0 \\[1.5mm] \tfrac{1}{2} &amp; \tfrac{1}{12} &amp; 0 \\[1.5mm] 0 &amp; \tfrac{5}{12} &amp; 1 \end{pmatrix}&#10;$$&#10;It is in state 1 before the first trial.\\[-5.5mm]&#10;\begin{itemize}&#10;\item[{\bf{a)}}] Compute the stationary distribution.&#10;\item[{\bf{b)}}] Someone suggests that the record of successive choices (a sequence of $A$s&#10; and $B$s) might arise from a two-state Markov chain with constant transition&#10; probabilities. Discuss whether this is possible.&#10;\end{itemize}&#10;}}&#10;\end{minipage}&#10;\end{document}"/>
  <p:tag name="IGUANATEXSIZE" val="20"/>
  <p:tag name="IGUANATEXCURSOR" val="544"/>
  <p:tag name="TRANSPARENCY" val="Wahr"/>
  <p:tag name="LATEXENGINEID" val="0"/>
  <p:tag name="TEMPFOLDER" val="c:\temp\"/>
  <p:tag name="LATEXFORMHEIGHT" val="482,25"/>
  <p:tag name="LATEXFORMWIDTH" val="1030,5"/>
  <p:tag name="LATEXFORMWRAP" val="Wahr"/>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OUTPUTDPI" val="1200"/>
  <p:tag name="ORIGINALHEIGHT" val="1214,848"/>
  <p:tag name="ORIGINALWIDTH" val="4386,952"/>
  <p:tag name="LATEXADDIN" val="\documentclass{article}\pagestyle{empty}&#10;\usepackage{amsmath}&#10;\usepackage{amsfonts}&#10;\usepackage{amssymb}&#10;\begin{document}&#10;\begin{minipage}{12.4 cm}&#10;{\sffamily{&#10;Ad {\bf{a)}}: As previously, we obtain the stationary distribution $u^*$ as solution of the homogeneous system of linear equations $(P - \mathbb{I}) u^* = 0$, i.e.,&#10;$$&#10;u^* \, \, = \, \, \begin{pmatrix} 0 &amp; 0 &amp; 1 \end{pmatrix}^T \, .&#10;$$&#10;We again have the $u^*$ is the only eigenvector corresponding to the eigenvalue $\lambda = 1$.\\[2mm] Thus the octopus will eventually reach state 3 where it remembers and chooses A and never forget.&#10;}}&#10;\end{minipage}&#10;\end{document}"/>
  <p:tag name="IGUANATEXSIZE" val="20"/>
  <p:tag name="IGUANATEXCURSOR" val="497"/>
  <p:tag name="TRANSPARENCY" val="Wahr"/>
  <p:tag name="LATEXENGINEID" val="0"/>
  <p:tag name="TEMPFOLDER" val="c:\temp\"/>
  <p:tag name="LATEXFORMHEIGHT" val="482,25"/>
  <p:tag name="LATEXFORMWIDTH" val="1030,5"/>
  <p:tag name="LATEXFORMWRAP" val="Wahr"/>
  <p:tag name="BITMAPVECTOR" val="0"/>
</p:tagLst>
</file>

<file path=ppt/tags/tag70.xml><?xml version="1.0" encoding="utf-8"?>
<p:tagLst xmlns:a="http://schemas.openxmlformats.org/drawingml/2006/main" xmlns:r="http://schemas.openxmlformats.org/officeDocument/2006/relationships" xmlns:p="http://schemas.openxmlformats.org/presentationml/2006/main">
  <p:tag name="OUTPUTDPI" val="1200"/>
  <p:tag name="ORIGINALHEIGHT" val="1919,01"/>
  <p:tag name="ORIGINALWIDTH" val="4395,201"/>
  <p:tag name="LATEXADDIN" val="\documentclass{article}\pagestyle{empty}&#10;\usepackage{amsmath}&#10;\usepackage{amsfonts}&#10;\usepackage{amssymb}&#10;\begin{document}&#10;\begin{minipage}{12.4 cm}&#10;{\sffamily{&#10;Ad {\bf{b)}}: We see that&#10;$$&#10;P \, \, = \, \, \begin{pmatrix} \tfrac{1}{2} &amp; \tfrac{1}{2} &amp; 0 \\[1.5mm] \tfrac{1}{2} &amp; \tfrac{1}{12} &amp; 0 \\[1.5mm] 0 &amp; \tfrac{5}{12} &amp; 1 \end{pmatrix}&#10;$$&#10;has a block structure that allows us to compress the matrix into the following $2 \times 2$-transition matrix&#10;$$&#10;\tilde{P} \, \, = \, \, \begin{pmatrix} \tfrac{7}{12} &amp; 0 \\[1.5mm] \tfrac{5}{12} &amp; 1 \end{pmatrix} \, .&#10;$$&#10;Here, the transition probability $\frac{5}{12}$ from the upper block to the lower block is kept such that the upper block reduces to the value $\frac{7}{12}$ in order to keep the property of stochatic matrices of having column sum equal to $1$.&#10;}}&#10;\end{minipage}&#10;\end{document}"/>
  <p:tag name="IGUANATEXSIZE" val="20"/>
  <p:tag name="IGUANATEXCURSOR" val="809"/>
  <p:tag name="TRANSPARENCY" val="Wahr"/>
  <p:tag name="LATEXENGINEID" val="0"/>
  <p:tag name="TEMPFOLDER" val="c:\temp\"/>
  <p:tag name="LATEXFORMHEIGHT" val="482,25"/>
  <p:tag name="LATEXFORMWIDTH" val="1030,5"/>
  <p:tag name="LATEXFORMWRAP" val="Wahr"/>
  <p:tag name="BITMAPVECTOR" val="0"/>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3310</Words>
  <Application>Microsoft Office PowerPoint</Application>
  <PresentationFormat>Bildschirmpräsentation (16:9)</PresentationFormat>
  <Paragraphs>503</Paragraphs>
  <Slides>47</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47</vt:i4>
      </vt:variant>
    </vt:vector>
  </HeadingPairs>
  <TitlesOfParts>
    <vt:vector size="52" baseType="lpstr">
      <vt:lpstr>Arial</vt:lpstr>
      <vt:lpstr>Calibri</vt:lpstr>
      <vt:lpstr>Courier New</vt:lpstr>
      <vt:lpstr>Symbol</vt:lpstr>
      <vt:lpstr>Larissa-Design</vt:lpstr>
      <vt:lpstr>Computational Biomathematics</vt:lpstr>
      <vt:lpstr>PowerPoint-Präsentation</vt:lpstr>
      <vt:lpstr>Grading is based on group projects (3-4 students) that will combine “literature work” with own modeling and simulation (1/ 2)</vt:lpstr>
      <vt:lpstr>Grading is based on group projects that will combine “literature work” with own modeling and simulation (2a/ 2)</vt:lpstr>
      <vt:lpstr>Grading is based on group projects that will combine “literature work” with own modeling and simulation (2b/ 2)</vt:lpstr>
      <vt:lpstr>Grading: Group projects with peer contribution monitoring</vt:lpstr>
      <vt:lpstr>Your presentation should be clearly structured highlighting your completed work and that you are in-time and in-scope</vt:lpstr>
      <vt:lpstr>Remarks: Slide contents (1a/ 2)</vt:lpstr>
      <vt:lpstr>Remarks: Slide contents (1b/ 2)</vt:lpstr>
      <vt:lpstr>Remarks: Slide contents (1c/ 2)</vt:lpstr>
      <vt:lpstr>Remarks: Slide contents (2/ 2)</vt:lpstr>
      <vt:lpstr>PowerPoint-Präsentation</vt:lpstr>
      <vt:lpstr>Example: A forest consisting of two tree species</vt:lpstr>
      <vt:lpstr>As starting point of the AI-enhanced coding, we take this information and generate a prompt (1/ 3)</vt:lpstr>
      <vt:lpstr>As starting point of the AI-enhanced coding, we take this information and generate a prompt (2/ 3)</vt:lpstr>
      <vt:lpstr>As starting point of the AI-enhanced coding, we take this information and generate a prompt (3/ 3)</vt:lpstr>
      <vt:lpstr>Results: Time evolution for the forest with two tree species (1/ 2)</vt:lpstr>
      <vt:lpstr>Results: Time evolution for the forest with two tree species (2/ 2)</vt:lpstr>
      <vt:lpstr>Example [cont.]: Mixing/ invasion of previously separated pure plantations</vt:lpstr>
      <vt:lpstr>We again start with the prompt for the AI coding</vt:lpstr>
      <vt:lpstr>Results: Time evolution for the forest mixing example (1/ 2)</vt:lpstr>
      <vt:lpstr>Results: Time evolution for the forest mixing example (2/ 2)</vt:lpstr>
      <vt:lpstr>PowerPoint-Präsentation</vt:lpstr>
      <vt:lpstr>The forest dynamics are governed by changes of the states of the lattice cells …</vt:lpstr>
      <vt:lpstr>… such that w.r.t. to time evolution a stochastic process gets established</vt:lpstr>
      <vt:lpstr>One way to describe such changes of states is by virtue of Markov processes</vt:lpstr>
      <vt:lpstr>Definition: States &amp; Distributions (1/ 2)</vt:lpstr>
      <vt:lpstr>Definition: States &amp; Distributions (2/ 2)</vt:lpstr>
      <vt:lpstr>Example: Diagrams and stochastic matrices</vt:lpstr>
      <vt:lpstr>Definition: Markov Chain (1/ 2)</vt:lpstr>
      <vt:lpstr>Definition: Markov Chain (2/ 2)</vt:lpstr>
      <vt:lpstr>Example: Virus mutation</vt:lpstr>
      <vt:lpstr>Example: Virus mutation</vt:lpstr>
      <vt:lpstr>Example: Virus mutation</vt:lpstr>
      <vt:lpstr>Example: Virus mutation</vt:lpstr>
      <vt:lpstr>Example [continued]: Markov chain for a forest consisting of two tree species</vt:lpstr>
      <vt:lpstr>Example: Markov chain for a forest consisting of two tree species</vt:lpstr>
      <vt:lpstr>Example: Markov chain for a forest consisting of two tree species</vt:lpstr>
      <vt:lpstr>Example: Markov chain for a forest consisting of two tree species</vt:lpstr>
      <vt:lpstr>Example: Markov chain for a forest consisting of two tree species</vt:lpstr>
      <vt:lpstr>Of course, in a real forest there are more than just two tree species (1/ 2)</vt:lpstr>
      <vt:lpstr>Of course, in a real forest there are more than just two tree species (2/ 2)</vt:lpstr>
      <vt:lpstr>Example: Training of an octopus</vt:lpstr>
      <vt:lpstr>Example: Training of an octopus</vt:lpstr>
      <vt:lpstr>Example: Training of an octopus</vt:lpstr>
      <vt:lpstr>Example: Training of an octopus</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247</cp:revision>
  <dcterms:created xsi:type="dcterms:W3CDTF">2020-04-04T18:50:50Z</dcterms:created>
  <dcterms:modified xsi:type="dcterms:W3CDTF">2026-03-30T19:17:34Z</dcterms:modified>
</cp:coreProperties>
</file>
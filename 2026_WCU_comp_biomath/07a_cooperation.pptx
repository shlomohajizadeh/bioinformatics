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charts/chart1.xml" ContentType="application/vnd.openxmlformats-officedocument.drawingml.chart+xml"/>
  <Override PartName="/ppt/drawings/drawing1.xml" ContentType="application/vnd.openxmlformats-officedocument.drawingml.chartshape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2.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3.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3"/>
  </p:notesMasterIdLst>
  <p:sldIdLst>
    <p:sldId id="410" r:id="rId2"/>
    <p:sldId id="417" r:id="rId3"/>
    <p:sldId id="375" r:id="rId4"/>
    <p:sldId id="424" r:id="rId5"/>
    <p:sldId id="363" r:id="rId6"/>
    <p:sldId id="400" r:id="rId7"/>
    <p:sldId id="401" r:id="rId8"/>
    <p:sldId id="403" r:id="rId9"/>
    <p:sldId id="404" r:id="rId10"/>
    <p:sldId id="405" r:id="rId11"/>
    <p:sldId id="406" r:id="rId12"/>
    <p:sldId id="446" r:id="rId13"/>
    <p:sldId id="450" r:id="rId14"/>
    <p:sldId id="409" r:id="rId15"/>
    <p:sldId id="447" r:id="rId16"/>
    <p:sldId id="448" r:id="rId17"/>
    <p:sldId id="412" r:id="rId18"/>
    <p:sldId id="413" r:id="rId19"/>
    <p:sldId id="414" r:id="rId20"/>
    <p:sldId id="415" r:id="rId21"/>
    <p:sldId id="416" r:id="rId22"/>
    <p:sldId id="449" r:id="rId23"/>
    <p:sldId id="418" r:id="rId24"/>
    <p:sldId id="419" r:id="rId25"/>
    <p:sldId id="420" r:id="rId26"/>
    <p:sldId id="421" r:id="rId27"/>
    <p:sldId id="422" r:id="rId28"/>
    <p:sldId id="452" r:id="rId29"/>
    <p:sldId id="436" r:id="rId30"/>
    <p:sldId id="437" r:id="rId31"/>
    <p:sldId id="438" r:id="rId32"/>
    <p:sldId id="439" r:id="rId33"/>
    <p:sldId id="393" r:id="rId34"/>
    <p:sldId id="394" r:id="rId35"/>
    <p:sldId id="397" r:id="rId36"/>
    <p:sldId id="398" r:id="rId37"/>
    <p:sldId id="451" r:id="rId38"/>
    <p:sldId id="443" r:id="rId39"/>
    <p:sldId id="453" r:id="rId40"/>
    <p:sldId id="335" r:id="rId41"/>
    <p:sldId id="336" r:id="rId42"/>
    <p:sldId id="337" r:id="rId43"/>
    <p:sldId id="339" r:id="rId44"/>
    <p:sldId id="342" r:id="rId45"/>
    <p:sldId id="340" r:id="rId46"/>
    <p:sldId id="343" r:id="rId47"/>
    <p:sldId id="341" r:id="rId48"/>
    <p:sldId id="358" r:id="rId49"/>
    <p:sldId id="353" r:id="rId50"/>
    <p:sldId id="354" r:id="rId51"/>
    <p:sldId id="411" r:id="rId52"/>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7356" autoAdjust="0"/>
  </p:normalViewPr>
  <p:slideViewPr>
    <p:cSldViewPr>
      <p:cViewPr varScale="1">
        <p:scale>
          <a:sx n="86" d="100"/>
          <a:sy n="86" d="100"/>
        </p:scale>
        <p:origin x="702" y="84"/>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12"/>
    </mc:Choice>
    <mc:Fallback>
      <c:style val="12"/>
    </mc:Fallback>
  </mc:AlternateContent>
  <c:chart>
    <c:autoTitleDeleted val="1"/>
    <c:plotArea>
      <c:layout/>
      <c:barChart>
        <c:barDir val="bar"/>
        <c:grouping val="clustered"/>
        <c:varyColors val="0"/>
        <c:ser>
          <c:idx val="0"/>
          <c:order val="0"/>
          <c:tx>
            <c:strRef>
              <c:f>Tabelle1!$B$1</c:f>
              <c:strCache>
                <c:ptCount val="1"/>
                <c:pt idx="0">
                  <c:v>Auswertung der ersten Runde des Turnieres</c:v>
                </c:pt>
              </c:strCache>
            </c:strRef>
          </c:tx>
          <c:invertIfNegative val="0"/>
          <c:dPt>
            <c:idx val="0"/>
            <c:invertIfNegative val="0"/>
            <c:bubble3D val="0"/>
            <c:spPr>
              <a:solidFill>
                <a:schemeClr val="tx2">
                  <a:lumMod val="40000"/>
                  <a:lumOff val="60000"/>
                </a:schemeClr>
              </a:solidFill>
            </c:spPr>
            <c:extLst>
              <c:ext xmlns:c16="http://schemas.microsoft.com/office/drawing/2014/chart" uri="{C3380CC4-5D6E-409C-BE32-E72D297353CC}">
                <c16:uniqueId val="{00000000-906A-45A5-84D6-F3D9EE4B48A8}"/>
              </c:ext>
            </c:extLst>
          </c:dPt>
          <c:dPt>
            <c:idx val="1"/>
            <c:invertIfNegative val="0"/>
            <c:bubble3D val="0"/>
            <c:spPr>
              <a:solidFill>
                <a:schemeClr val="tx2">
                  <a:lumMod val="40000"/>
                  <a:lumOff val="60000"/>
                </a:schemeClr>
              </a:solidFill>
            </c:spPr>
            <c:extLst>
              <c:ext xmlns:c16="http://schemas.microsoft.com/office/drawing/2014/chart" uri="{C3380CC4-5D6E-409C-BE32-E72D297353CC}">
                <c16:uniqueId val="{00000001-906A-45A5-84D6-F3D9EE4B48A8}"/>
              </c:ext>
            </c:extLst>
          </c:dPt>
          <c:dPt>
            <c:idx val="2"/>
            <c:invertIfNegative val="0"/>
            <c:bubble3D val="0"/>
            <c:spPr>
              <a:solidFill>
                <a:schemeClr val="tx2">
                  <a:lumMod val="40000"/>
                  <a:lumOff val="60000"/>
                </a:schemeClr>
              </a:solidFill>
            </c:spPr>
            <c:extLst>
              <c:ext xmlns:c16="http://schemas.microsoft.com/office/drawing/2014/chart" uri="{C3380CC4-5D6E-409C-BE32-E72D297353CC}">
                <c16:uniqueId val="{00000002-906A-45A5-84D6-F3D9EE4B48A8}"/>
              </c:ext>
            </c:extLst>
          </c:dPt>
          <c:dPt>
            <c:idx val="3"/>
            <c:invertIfNegative val="0"/>
            <c:bubble3D val="0"/>
            <c:spPr>
              <a:solidFill>
                <a:schemeClr val="tx2">
                  <a:lumMod val="40000"/>
                  <a:lumOff val="60000"/>
                </a:schemeClr>
              </a:solidFill>
            </c:spPr>
            <c:extLst>
              <c:ext xmlns:c16="http://schemas.microsoft.com/office/drawing/2014/chart" uri="{C3380CC4-5D6E-409C-BE32-E72D297353CC}">
                <c16:uniqueId val="{00000003-906A-45A5-84D6-F3D9EE4B48A8}"/>
              </c:ext>
            </c:extLst>
          </c:dPt>
          <c:dPt>
            <c:idx val="4"/>
            <c:invertIfNegative val="0"/>
            <c:bubble3D val="0"/>
            <c:spPr>
              <a:solidFill>
                <a:schemeClr val="tx2">
                  <a:lumMod val="40000"/>
                  <a:lumOff val="60000"/>
                </a:schemeClr>
              </a:solidFill>
            </c:spPr>
            <c:extLst>
              <c:ext xmlns:c16="http://schemas.microsoft.com/office/drawing/2014/chart" uri="{C3380CC4-5D6E-409C-BE32-E72D297353CC}">
                <c16:uniqueId val="{00000004-906A-45A5-84D6-F3D9EE4B48A8}"/>
              </c:ext>
            </c:extLst>
          </c:dPt>
          <c:dPt>
            <c:idx val="5"/>
            <c:invertIfNegative val="0"/>
            <c:bubble3D val="0"/>
            <c:spPr>
              <a:solidFill>
                <a:schemeClr val="tx2">
                  <a:lumMod val="40000"/>
                  <a:lumOff val="60000"/>
                </a:schemeClr>
              </a:solidFill>
            </c:spPr>
            <c:extLst>
              <c:ext xmlns:c16="http://schemas.microsoft.com/office/drawing/2014/chart" uri="{C3380CC4-5D6E-409C-BE32-E72D297353CC}">
                <c16:uniqueId val="{00000005-906A-45A5-84D6-F3D9EE4B48A8}"/>
              </c:ext>
            </c:extLst>
          </c:dPt>
          <c:dPt>
            <c:idx val="6"/>
            <c:invertIfNegative val="0"/>
            <c:bubble3D val="0"/>
            <c:spPr>
              <a:solidFill>
                <a:schemeClr val="tx2">
                  <a:lumMod val="40000"/>
                  <a:lumOff val="60000"/>
                </a:schemeClr>
              </a:solidFill>
            </c:spPr>
            <c:extLst>
              <c:ext xmlns:c16="http://schemas.microsoft.com/office/drawing/2014/chart" uri="{C3380CC4-5D6E-409C-BE32-E72D297353CC}">
                <c16:uniqueId val="{00000006-906A-45A5-84D6-F3D9EE4B48A8}"/>
              </c:ext>
            </c:extLst>
          </c:dPt>
          <c:dPt>
            <c:idx val="7"/>
            <c:invertIfNegative val="0"/>
            <c:bubble3D val="0"/>
            <c:spPr>
              <a:solidFill>
                <a:schemeClr val="tx2"/>
              </a:solidFill>
            </c:spPr>
            <c:extLst>
              <c:ext xmlns:c16="http://schemas.microsoft.com/office/drawing/2014/chart" uri="{C3380CC4-5D6E-409C-BE32-E72D297353CC}">
                <c16:uniqueId val="{00000007-906A-45A5-84D6-F3D9EE4B48A8}"/>
              </c:ext>
            </c:extLst>
          </c:dPt>
          <c:dPt>
            <c:idx val="8"/>
            <c:invertIfNegative val="0"/>
            <c:bubble3D val="0"/>
            <c:spPr>
              <a:solidFill>
                <a:schemeClr val="tx2"/>
              </a:solidFill>
            </c:spPr>
            <c:extLst>
              <c:ext xmlns:c16="http://schemas.microsoft.com/office/drawing/2014/chart" uri="{C3380CC4-5D6E-409C-BE32-E72D297353CC}">
                <c16:uniqueId val="{00000008-906A-45A5-84D6-F3D9EE4B48A8}"/>
              </c:ext>
            </c:extLst>
          </c:dPt>
          <c:dPt>
            <c:idx val="9"/>
            <c:invertIfNegative val="0"/>
            <c:bubble3D val="0"/>
            <c:spPr>
              <a:solidFill>
                <a:schemeClr val="tx2"/>
              </a:solidFill>
            </c:spPr>
            <c:extLst>
              <c:ext xmlns:c16="http://schemas.microsoft.com/office/drawing/2014/chart" uri="{C3380CC4-5D6E-409C-BE32-E72D297353CC}">
                <c16:uniqueId val="{00000009-906A-45A5-84D6-F3D9EE4B48A8}"/>
              </c:ext>
            </c:extLst>
          </c:dPt>
          <c:dPt>
            <c:idx val="10"/>
            <c:invertIfNegative val="0"/>
            <c:bubble3D val="0"/>
            <c:spPr>
              <a:solidFill>
                <a:schemeClr val="tx2"/>
              </a:solidFill>
            </c:spPr>
            <c:extLst>
              <c:ext xmlns:c16="http://schemas.microsoft.com/office/drawing/2014/chart" uri="{C3380CC4-5D6E-409C-BE32-E72D297353CC}">
                <c16:uniqueId val="{0000000A-906A-45A5-84D6-F3D9EE4B48A8}"/>
              </c:ext>
            </c:extLst>
          </c:dPt>
          <c:dPt>
            <c:idx val="11"/>
            <c:invertIfNegative val="0"/>
            <c:bubble3D val="0"/>
            <c:spPr>
              <a:solidFill>
                <a:schemeClr val="tx2"/>
              </a:solidFill>
            </c:spPr>
            <c:extLst>
              <c:ext xmlns:c16="http://schemas.microsoft.com/office/drawing/2014/chart" uri="{C3380CC4-5D6E-409C-BE32-E72D297353CC}">
                <c16:uniqueId val="{0000000B-906A-45A5-84D6-F3D9EE4B48A8}"/>
              </c:ext>
            </c:extLst>
          </c:dPt>
          <c:dPt>
            <c:idx val="12"/>
            <c:invertIfNegative val="0"/>
            <c:bubble3D val="0"/>
            <c:spPr>
              <a:solidFill>
                <a:schemeClr val="tx2"/>
              </a:solidFill>
            </c:spPr>
            <c:extLst>
              <c:ext xmlns:c16="http://schemas.microsoft.com/office/drawing/2014/chart" uri="{C3380CC4-5D6E-409C-BE32-E72D297353CC}">
                <c16:uniqueId val="{0000000C-906A-45A5-84D6-F3D9EE4B48A8}"/>
              </c:ext>
            </c:extLst>
          </c:dPt>
          <c:dPt>
            <c:idx val="13"/>
            <c:invertIfNegative val="0"/>
            <c:bubble3D val="0"/>
            <c:spPr>
              <a:solidFill>
                <a:schemeClr val="tx2"/>
              </a:solidFill>
            </c:spPr>
            <c:extLst>
              <c:ext xmlns:c16="http://schemas.microsoft.com/office/drawing/2014/chart" uri="{C3380CC4-5D6E-409C-BE32-E72D297353CC}">
                <c16:uniqueId val="{0000000D-906A-45A5-84D6-F3D9EE4B48A8}"/>
              </c:ext>
            </c:extLst>
          </c:dPt>
          <c:dPt>
            <c:idx val="14"/>
            <c:invertIfNegative val="0"/>
            <c:bubble3D val="0"/>
            <c:spPr>
              <a:solidFill>
                <a:schemeClr val="tx2"/>
              </a:solidFill>
            </c:spPr>
            <c:extLst>
              <c:ext xmlns:c16="http://schemas.microsoft.com/office/drawing/2014/chart" uri="{C3380CC4-5D6E-409C-BE32-E72D297353CC}">
                <c16:uniqueId val="{0000000E-906A-45A5-84D6-F3D9EE4B48A8}"/>
              </c:ext>
            </c:extLst>
          </c:dPt>
          <c:dLbls>
            <c:spPr>
              <a:noFill/>
              <a:ln>
                <a:noFill/>
              </a:ln>
              <a:effectLst/>
            </c:spPr>
            <c:txPr>
              <a:bodyPr/>
              <a:lstStyle/>
              <a:p>
                <a:pPr>
                  <a:defRPr sz="1200"/>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Tabelle1!$A$2:$A$16</c:f>
              <c:strCache>
                <c:ptCount val="15"/>
                <c:pt idx="0">
                  <c:v>RANDOM</c:v>
                </c:pt>
                <c:pt idx="1">
                  <c:v>Anonym</c:v>
                </c:pt>
                <c:pt idx="2">
                  <c:v>TULLOCK</c:v>
                </c:pt>
                <c:pt idx="3">
                  <c:v>JOSS</c:v>
                </c:pt>
                <c:pt idx="4">
                  <c:v>FELD</c:v>
                </c:pt>
                <c:pt idx="5">
                  <c:v>DOWNING</c:v>
                </c:pt>
                <c:pt idx="6">
                  <c:v>GRASSKAMP</c:v>
                </c:pt>
                <c:pt idx="7">
                  <c:v>DAVIS</c:v>
                </c:pt>
                <c:pt idx="8">
                  <c:v>FRIEDMAN</c:v>
                </c:pt>
                <c:pt idx="9">
                  <c:v>STEIN &amp; RAP</c:v>
                </c:pt>
                <c:pt idx="10">
                  <c:v>SHUBIK</c:v>
                </c:pt>
                <c:pt idx="11">
                  <c:v>GROFMAN</c:v>
                </c:pt>
                <c:pt idx="12">
                  <c:v>NYDEGGER</c:v>
                </c:pt>
                <c:pt idx="13">
                  <c:v>TIDE &amp; CHIER</c:v>
                </c:pt>
                <c:pt idx="14">
                  <c:v>TIT FOR TAT</c:v>
                </c:pt>
              </c:strCache>
            </c:strRef>
          </c:cat>
          <c:val>
            <c:numRef>
              <c:f>Tabelle1!$B$2:$B$16</c:f>
              <c:numCache>
                <c:formatCode>General</c:formatCode>
                <c:ptCount val="15"/>
                <c:pt idx="0">
                  <c:v>276</c:v>
                </c:pt>
                <c:pt idx="1">
                  <c:v>282</c:v>
                </c:pt>
                <c:pt idx="2">
                  <c:v>301</c:v>
                </c:pt>
                <c:pt idx="3">
                  <c:v>304</c:v>
                </c:pt>
                <c:pt idx="4">
                  <c:v>328</c:v>
                </c:pt>
                <c:pt idx="5">
                  <c:v>391</c:v>
                </c:pt>
                <c:pt idx="6">
                  <c:v>401</c:v>
                </c:pt>
                <c:pt idx="7">
                  <c:v>472</c:v>
                </c:pt>
                <c:pt idx="8">
                  <c:v>472</c:v>
                </c:pt>
                <c:pt idx="9">
                  <c:v>478</c:v>
                </c:pt>
                <c:pt idx="10">
                  <c:v>481</c:v>
                </c:pt>
                <c:pt idx="11">
                  <c:v>482</c:v>
                </c:pt>
                <c:pt idx="12">
                  <c:v>486</c:v>
                </c:pt>
                <c:pt idx="13">
                  <c:v>500</c:v>
                </c:pt>
                <c:pt idx="14">
                  <c:v>504</c:v>
                </c:pt>
              </c:numCache>
            </c:numRef>
          </c:val>
          <c:extLst>
            <c:ext xmlns:c16="http://schemas.microsoft.com/office/drawing/2014/chart" uri="{C3380CC4-5D6E-409C-BE32-E72D297353CC}">
              <c16:uniqueId val="{0000000F-906A-45A5-84D6-F3D9EE4B48A8}"/>
            </c:ext>
          </c:extLst>
        </c:ser>
        <c:dLbls>
          <c:showLegendKey val="0"/>
          <c:showVal val="0"/>
          <c:showCatName val="0"/>
          <c:showSerName val="0"/>
          <c:showPercent val="0"/>
          <c:showBubbleSize val="0"/>
        </c:dLbls>
        <c:gapWidth val="150"/>
        <c:axId val="210466688"/>
        <c:axId val="210468224"/>
      </c:barChart>
      <c:catAx>
        <c:axId val="210466688"/>
        <c:scaling>
          <c:orientation val="minMax"/>
        </c:scaling>
        <c:delete val="0"/>
        <c:axPos val="l"/>
        <c:numFmt formatCode="General" sourceLinked="0"/>
        <c:majorTickMark val="none"/>
        <c:minorTickMark val="none"/>
        <c:tickLblPos val="nextTo"/>
        <c:txPr>
          <a:bodyPr/>
          <a:lstStyle/>
          <a:p>
            <a:pPr>
              <a:defRPr sz="1200"/>
            </a:pPr>
            <a:endParaRPr lang="de-DE"/>
          </a:p>
        </c:txPr>
        <c:crossAx val="210468224"/>
        <c:crosses val="autoZero"/>
        <c:auto val="1"/>
        <c:lblAlgn val="ctr"/>
        <c:lblOffset val="100"/>
        <c:noMultiLvlLbl val="0"/>
      </c:catAx>
      <c:valAx>
        <c:axId val="210468224"/>
        <c:scaling>
          <c:orientation val="minMax"/>
          <c:max val="510"/>
          <c:min val="0"/>
        </c:scaling>
        <c:delete val="0"/>
        <c:axPos val="b"/>
        <c:majorGridlines/>
        <c:numFmt formatCode="General" sourceLinked="1"/>
        <c:majorTickMark val="none"/>
        <c:minorTickMark val="none"/>
        <c:tickLblPos val="nextTo"/>
        <c:txPr>
          <a:bodyPr/>
          <a:lstStyle/>
          <a:p>
            <a:pPr>
              <a:defRPr sz="1200"/>
            </a:pPr>
            <a:endParaRPr lang="de-DE"/>
          </a:p>
        </c:txPr>
        <c:crossAx val="210466688"/>
        <c:crosses val="autoZero"/>
        <c:crossBetween val="between"/>
      </c:valAx>
    </c:plotArea>
    <c:plotVisOnly val="1"/>
    <c:dispBlanksAs val="gap"/>
    <c:showDLblsOverMax val="0"/>
  </c:chart>
  <c:txPr>
    <a:bodyPr/>
    <a:lstStyle/>
    <a:p>
      <a:pPr>
        <a:defRPr sz="1800"/>
      </a:pPr>
      <a:endParaRPr lang="de-DE"/>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0.00858</cdr:x>
      <cdr:y>0.03509</cdr:y>
    </cdr:from>
    <cdr:to>
      <cdr:x>0.12016</cdr:x>
      <cdr:y>0.08772</cdr:y>
    </cdr:to>
    <cdr:sp macro="" textlink="">
      <cdr:nvSpPr>
        <cdr:cNvPr id="2" name="Rechteck 1"/>
        <cdr:cNvSpPr/>
      </cdr:nvSpPr>
      <cdr:spPr>
        <a:xfrm xmlns:a="http://schemas.openxmlformats.org/drawingml/2006/main">
          <a:off x="72008" y="144016"/>
          <a:ext cx="936104" cy="216024"/>
        </a:xfrm>
        <a:prstGeom xmlns:a="http://schemas.openxmlformats.org/drawingml/2006/main" prst="rect">
          <a:avLst/>
        </a:prstGeom>
        <a:noFill xmlns:a="http://schemas.openxmlformats.org/drawingml/2006/main"/>
        <a:ln xmlns:a="http://schemas.openxmlformats.org/drawingml/2006/main">
          <a:solidFill>
            <a:srgbClr val="FF3300"/>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p xmlns:a="http://schemas.openxmlformats.org/drawingml/2006/main">
          <a:endParaRPr lang="de-DE"/>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4/6/2026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fld id="{886D9863-1F7C-4322-A504-D05019FDB20E}" type="slidenum">
              <a:rPr lang="en-US" smtClean="0"/>
              <a:pPr/>
              <a:t>45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fld id="{886D9863-1F7C-4322-A504-D05019FDB20E}" type="slidenum">
              <a:rPr lang="en-US" smtClean="0"/>
              <a:pPr/>
              <a:t>46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fld id="{886D9863-1F7C-4322-A504-D05019FDB20E}" type="slidenum">
              <a:rPr lang="en-US" smtClean="0"/>
              <a:pPr/>
              <a:t>48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10" Type="http://schemas.openxmlformats.org/officeDocument/2006/relationships/image" Target="../media/image17.jpeg"/><Relationship Id="rId4" Type="http://schemas.openxmlformats.org/officeDocument/2006/relationships/tags" Target="../tags/tag32.xml"/><Relationship Id="rId9"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image" Target="../media/image17.jpeg"/><Relationship Id="rId4" Type="http://schemas.openxmlformats.org/officeDocument/2006/relationships/tags" Target="../tags/tag40.xml"/><Relationship Id="rId9"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11.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51.xml"/><Relationship Id="rId5" Type="http://schemas.openxmlformats.org/officeDocument/2006/relationships/image" Target="../media/image22.jpe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gif"/><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0.jpe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39.jpeg"/><Relationship Id="rId5" Type="http://schemas.openxmlformats.org/officeDocument/2006/relationships/image" Target="../media/image38.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3.jpe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35.jpeg"/><Relationship Id="rId5" Type="http://schemas.openxmlformats.org/officeDocument/2006/relationships/image" Target="../media/image42.pn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46.jpe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47.png"/><Relationship Id="rId4" Type="http://schemas.openxmlformats.org/officeDocument/2006/relationships/notesSlide" Target="../notesSlides/notesSlide1.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48.png"/><Relationship Id="rId4" Type="http://schemas.openxmlformats.org/officeDocument/2006/relationships/notesSlide" Target="../notesSlides/notesSlide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50.png"/><Relationship Id="rId4" Type="http://schemas.openxmlformats.org/officeDocument/2006/relationships/notesSlide" Target="../notesSlides/notesSlide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The Evolution of Cooperation</a:t>
            </a:r>
          </a:p>
          <a:p>
            <a:endParaRPr lang="en-US" sz="500" noProof="0" dirty="0"/>
          </a:p>
          <a:p>
            <a:r>
              <a:rPr lang="en-US" noProof="0"/>
              <a:t>Lesson 7</a:t>
            </a:r>
            <a:endParaRPr lang="en-US" noProof="0" dirty="0"/>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The Prisoner’s Dilemma</a:t>
            </a:r>
          </a:p>
          <a:p>
            <a:pPr marL="177800" lvl="1" indent="-177800">
              <a:spcAft>
                <a:spcPts val="400"/>
              </a:spcAft>
              <a:buFont typeface="Arial" pitchFamily="34" charset="0"/>
              <a:buChar char="•"/>
            </a:pPr>
            <a:r>
              <a:rPr lang="en-US" sz="1200" noProof="0" dirty="0">
                <a:solidFill>
                  <a:schemeClr val="tx1"/>
                </a:solidFill>
              </a:rPr>
              <a:t>The iterated Prisoner’s Dilemma</a:t>
            </a:r>
          </a:p>
          <a:p>
            <a:pPr marL="177800" lvl="1" indent="-177800">
              <a:spcAft>
                <a:spcPts val="400"/>
              </a:spcAft>
              <a:buFont typeface="Arial" pitchFamily="34" charset="0"/>
              <a:buChar char="•"/>
            </a:pPr>
            <a:r>
              <a:rPr lang="en-US" sz="1200" noProof="0" dirty="0">
                <a:solidFill>
                  <a:schemeClr val="tx1"/>
                </a:solidFill>
              </a:rPr>
              <a:t>Nash equilibria</a:t>
            </a:r>
          </a:p>
          <a:p>
            <a:pPr marL="177800" lvl="1" indent="-177800">
              <a:spcAft>
                <a:spcPts val="400"/>
              </a:spcAft>
              <a:buFont typeface="Arial" pitchFamily="34" charset="0"/>
              <a:buChar char="•"/>
            </a:pPr>
            <a:r>
              <a:rPr lang="en-US" sz="1200" noProof="0" dirty="0">
                <a:solidFill>
                  <a:schemeClr val="tx1"/>
                </a:solidFill>
              </a:rPr>
              <a:t>Nash equilibria in the Chicken Game</a:t>
            </a:r>
          </a:p>
          <a:p>
            <a:pPr marL="177800" lvl="1" indent="-177800">
              <a:spcAft>
                <a:spcPts val="400"/>
              </a:spcAft>
              <a:buFont typeface="Arial" pitchFamily="34" charset="0"/>
              <a:buChar char="•"/>
            </a:pPr>
            <a:endParaRPr lang="en-US" sz="1200" noProof="0" dirty="0">
              <a:solidFill>
                <a:schemeClr val="tx1"/>
              </a:solidFill>
            </a:endParaRPr>
          </a:p>
          <a:p>
            <a:pPr marL="177800" lvl="1" indent="-177800">
              <a:spcAft>
                <a:spcPts val="400"/>
              </a:spcAft>
              <a:buFont typeface="Arial" pitchFamily="34" charset="0"/>
              <a:buChar char="•"/>
            </a:pPr>
            <a:endParaRPr lang="en-US" sz="1200" noProof="0" dirty="0">
              <a:solidFill>
                <a:schemeClr val="tx1"/>
              </a:solidFill>
            </a:endParaRP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8C09E-0D9F-DEA7-46E8-DFE82CD6EFE3}"/>
              </a:ext>
            </a:extLst>
          </p:cNvPr>
          <p:cNvSpPr>
            <a:spLocks noGrp="1"/>
          </p:cNvSpPr>
          <p:nvPr>
            <p:ph type="title"/>
          </p:nvPr>
        </p:nvSpPr>
        <p:spPr/>
        <p:txBody>
          <a:bodyPr/>
          <a:lstStyle/>
          <a:p>
            <a:r>
              <a:rPr lang="en-US" noProof="0" dirty="0"/>
              <a:t>Smith argues that our actions are a result of our need to be both “lovable and praiseworthy” in the eyes of the “impartial spectator”</a:t>
            </a:r>
          </a:p>
        </p:txBody>
      </p:sp>
      <p:sp>
        <p:nvSpPr>
          <p:cNvPr id="3" name="Nach oben gekrümmter Pfeil 2">
            <a:extLst>
              <a:ext uri="{FF2B5EF4-FFF2-40B4-BE49-F238E27FC236}">
                <a16:creationId xmlns:a16="http://schemas.microsoft.com/office/drawing/2014/main" id="{57E5CA3F-CB87-1CFC-5A41-86EA7304FAC1}"/>
              </a:ext>
            </a:extLst>
          </p:cNvPr>
          <p:cNvSpPr/>
          <p:nvPr/>
        </p:nvSpPr>
        <p:spPr>
          <a:xfrm>
            <a:off x="6516216" y="2389562"/>
            <a:ext cx="1008112" cy="360040"/>
          </a:xfrm>
          <a:prstGeom prst="curved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6" name="Gerade Verbindung 5">
            <a:extLst>
              <a:ext uri="{FF2B5EF4-FFF2-40B4-BE49-F238E27FC236}">
                <a16:creationId xmlns:a16="http://schemas.microsoft.com/office/drawing/2014/main" id="{C9609D5B-2FEA-98EA-76D8-CC30F6A68BA4}"/>
              </a:ext>
            </a:extLst>
          </p:cNvPr>
          <p:cNvCxnSpPr>
            <a:stCxn id="81" idx="0"/>
          </p:cNvCxnSpPr>
          <p:nvPr/>
        </p:nvCxnSpPr>
        <p:spPr>
          <a:xfrm>
            <a:off x="1998370" y="2203326"/>
            <a:ext cx="1133470" cy="29641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7" name="Ellipse 6">
            <a:extLst>
              <a:ext uri="{FF2B5EF4-FFF2-40B4-BE49-F238E27FC236}">
                <a16:creationId xmlns:a16="http://schemas.microsoft.com/office/drawing/2014/main" id="{BCE84DC5-3D77-FB7F-43C7-C42EC24FF048}"/>
              </a:ext>
            </a:extLst>
          </p:cNvPr>
          <p:cNvSpPr/>
          <p:nvPr/>
        </p:nvSpPr>
        <p:spPr>
          <a:xfrm>
            <a:off x="3347864"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Gleichschenkliges Dreieck 7">
            <a:extLst>
              <a:ext uri="{FF2B5EF4-FFF2-40B4-BE49-F238E27FC236}">
                <a16:creationId xmlns:a16="http://schemas.microsoft.com/office/drawing/2014/main" id="{B332E21C-8923-1E5D-ED1D-47D45B9F12E0}"/>
              </a:ext>
            </a:extLst>
          </p:cNvPr>
          <p:cNvSpPr/>
          <p:nvPr/>
        </p:nvSpPr>
        <p:spPr>
          <a:xfrm>
            <a:off x="3059584" y="1347614"/>
            <a:ext cx="501176" cy="432048"/>
          </a:xfrm>
          <a:prstGeom prst="triangle">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Ellipse 8">
            <a:extLst>
              <a:ext uri="{FF2B5EF4-FFF2-40B4-BE49-F238E27FC236}">
                <a16:creationId xmlns:a16="http://schemas.microsoft.com/office/drawing/2014/main" id="{CB63DF7A-3791-4C8A-606F-E4D431696220}"/>
              </a:ext>
            </a:extLst>
          </p:cNvPr>
          <p:cNvSpPr/>
          <p:nvPr/>
        </p:nvSpPr>
        <p:spPr>
          <a:xfrm>
            <a:off x="3131592" y="1131590"/>
            <a:ext cx="360040" cy="360040"/>
          </a:xfrm>
          <a:prstGeom prst="ellipse">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feld 9">
            <a:extLst>
              <a:ext uri="{FF2B5EF4-FFF2-40B4-BE49-F238E27FC236}">
                <a16:creationId xmlns:a16="http://schemas.microsoft.com/office/drawing/2014/main" id="{CC5F1688-D66F-B2FA-4F76-4DCB72F3E7C6}"/>
              </a:ext>
            </a:extLst>
          </p:cNvPr>
          <p:cNvSpPr txBox="1"/>
          <p:nvPr/>
        </p:nvSpPr>
        <p:spPr>
          <a:xfrm>
            <a:off x="3821300" y="1689452"/>
            <a:ext cx="701666" cy="307777"/>
          </a:xfrm>
          <a:prstGeom prst="rect">
            <a:avLst/>
          </a:prstGeom>
          <a:noFill/>
        </p:spPr>
        <p:txBody>
          <a:bodyPr wrap="none" rtlCol="0">
            <a:spAutoFit/>
          </a:bodyPr>
          <a:lstStyle/>
          <a:p>
            <a:pPr algn="ctr"/>
            <a:r>
              <a:rPr lang="en-US" sz="1400" noProof="0" dirty="0"/>
              <a:t>desires</a:t>
            </a:r>
          </a:p>
        </p:txBody>
      </p:sp>
      <p:sp>
        <p:nvSpPr>
          <p:cNvPr id="11" name="Nach oben gekrümmter Pfeil 10">
            <a:extLst>
              <a:ext uri="{FF2B5EF4-FFF2-40B4-BE49-F238E27FC236}">
                <a16:creationId xmlns:a16="http://schemas.microsoft.com/office/drawing/2014/main" id="{4445F8C6-5BAC-EED2-B88D-419E94640AB0}"/>
              </a:ext>
            </a:extLst>
          </p:cNvPr>
          <p:cNvSpPr/>
          <p:nvPr/>
        </p:nvSpPr>
        <p:spPr>
          <a:xfrm>
            <a:off x="4499992" y="2427734"/>
            <a:ext cx="1008112" cy="360040"/>
          </a:xfrm>
          <a:prstGeom prst="curved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
        <p:nvSpPr>
          <p:cNvPr id="12" name="Ellipse 11">
            <a:extLst>
              <a:ext uri="{FF2B5EF4-FFF2-40B4-BE49-F238E27FC236}">
                <a16:creationId xmlns:a16="http://schemas.microsoft.com/office/drawing/2014/main" id="{CE66CC3D-C212-ED69-028E-74291008E6DE}"/>
              </a:ext>
            </a:extLst>
          </p:cNvPr>
          <p:cNvSpPr/>
          <p:nvPr/>
        </p:nvSpPr>
        <p:spPr>
          <a:xfrm>
            <a:off x="5220072"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feld 12">
            <a:extLst>
              <a:ext uri="{FF2B5EF4-FFF2-40B4-BE49-F238E27FC236}">
                <a16:creationId xmlns:a16="http://schemas.microsoft.com/office/drawing/2014/main" id="{084C9557-947A-9C4F-8EEA-3608251A817D}"/>
              </a:ext>
            </a:extLst>
          </p:cNvPr>
          <p:cNvSpPr txBox="1"/>
          <p:nvPr/>
        </p:nvSpPr>
        <p:spPr>
          <a:xfrm>
            <a:off x="5257497" y="1412588"/>
            <a:ext cx="1573700" cy="738664"/>
          </a:xfrm>
          <a:prstGeom prst="rect">
            <a:avLst/>
          </a:prstGeom>
          <a:noFill/>
        </p:spPr>
        <p:txBody>
          <a:bodyPr wrap="none" rtlCol="0">
            <a:spAutoFit/>
          </a:bodyPr>
          <a:lstStyle/>
          <a:p>
            <a:pPr algn="ctr"/>
            <a:r>
              <a:rPr lang="en-US" sz="1400" noProof="0" dirty="0"/>
              <a:t>optimal</a:t>
            </a:r>
          </a:p>
          <a:p>
            <a:pPr algn="ctr"/>
            <a:r>
              <a:rPr lang="en-US" sz="1400" noProof="0" dirty="0"/>
              <a:t>judgment of the</a:t>
            </a:r>
          </a:p>
          <a:p>
            <a:pPr algn="ctr"/>
            <a:r>
              <a:rPr lang="en-US" sz="1400" noProof="0" dirty="0"/>
              <a:t>impartial spectator</a:t>
            </a:r>
          </a:p>
        </p:txBody>
      </p:sp>
      <p:sp>
        <p:nvSpPr>
          <p:cNvPr id="14" name="Ellipse 13">
            <a:extLst>
              <a:ext uri="{FF2B5EF4-FFF2-40B4-BE49-F238E27FC236}">
                <a16:creationId xmlns:a16="http://schemas.microsoft.com/office/drawing/2014/main" id="{BDCDDBCC-BF82-3A1C-21E6-F4CC162DF770}"/>
              </a:ext>
            </a:extLst>
          </p:cNvPr>
          <p:cNvSpPr/>
          <p:nvPr/>
        </p:nvSpPr>
        <p:spPr>
          <a:xfrm>
            <a:off x="7236296"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extfeld 14">
            <a:extLst>
              <a:ext uri="{FF2B5EF4-FFF2-40B4-BE49-F238E27FC236}">
                <a16:creationId xmlns:a16="http://schemas.microsoft.com/office/drawing/2014/main" id="{C6BBB0F3-7AB8-8C9B-E389-77293D9A4C56}"/>
              </a:ext>
            </a:extLst>
          </p:cNvPr>
          <p:cNvSpPr txBox="1"/>
          <p:nvPr/>
        </p:nvSpPr>
        <p:spPr>
          <a:xfrm>
            <a:off x="7709964" y="1707654"/>
            <a:ext cx="708848" cy="307777"/>
          </a:xfrm>
          <a:prstGeom prst="rect">
            <a:avLst/>
          </a:prstGeom>
          <a:noFill/>
        </p:spPr>
        <p:txBody>
          <a:bodyPr wrap="none" rtlCol="0">
            <a:spAutoFit/>
          </a:bodyPr>
          <a:lstStyle/>
          <a:p>
            <a:pPr algn="ctr"/>
            <a:r>
              <a:rPr lang="en-US" sz="1400" noProof="0" dirty="0"/>
              <a:t>actions</a:t>
            </a:r>
          </a:p>
        </p:txBody>
      </p:sp>
      <p:grpSp>
        <p:nvGrpSpPr>
          <p:cNvPr id="16" name="Gruppieren 18">
            <a:extLst>
              <a:ext uri="{FF2B5EF4-FFF2-40B4-BE49-F238E27FC236}">
                <a16:creationId xmlns:a16="http://schemas.microsoft.com/office/drawing/2014/main" id="{CDD6B1E5-AD09-E32F-3059-02669C3380DC}"/>
              </a:ext>
            </a:extLst>
          </p:cNvPr>
          <p:cNvGrpSpPr/>
          <p:nvPr/>
        </p:nvGrpSpPr>
        <p:grpSpPr>
          <a:xfrm>
            <a:off x="1475656" y="1449710"/>
            <a:ext cx="383320" cy="495672"/>
            <a:chOff x="2051720" y="5093568"/>
            <a:chExt cx="501176" cy="648072"/>
          </a:xfrm>
          <a:solidFill>
            <a:srgbClr val="FFCC66"/>
          </a:solidFill>
        </p:grpSpPr>
        <p:sp>
          <p:nvSpPr>
            <p:cNvPr id="17" name="Gleichschenkliges Dreieck 16">
              <a:extLst>
                <a:ext uri="{FF2B5EF4-FFF2-40B4-BE49-F238E27FC236}">
                  <a16:creationId xmlns:a16="http://schemas.microsoft.com/office/drawing/2014/main" id="{85F5705B-D949-F334-6104-3EC71ABE1E4C}"/>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Ellipse 17">
              <a:extLst>
                <a:ext uri="{FF2B5EF4-FFF2-40B4-BE49-F238E27FC236}">
                  <a16:creationId xmlns:a16="http://schemas.microsoft.com/office/drawing/2014/main" id="{6D20102C-FE14-26B3-2F90-CAE1B6910454}"/>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uppieren 19">
            <a:extLst>
              <a:ext uri="{FF2B5EF4-FFF2-40B4-BE49-F238E27FC236}">
                <a16:creationId xmlns:a16="http://schemas.microsoft.com/office/drawing/2014/main" id="{AE4916E6-C862-59BB-BA43-002D865E3FE0}"/>
              </a:ext>
            </a:extLst>
          </p:cNvPr>
          <p:cNvGrpSpPr/>
          <p:nvPr/>
        </p:nvGrpSpPr>
        <p:grpSpPr>
          <a:xfrm>
            <a:off x="1043608" y="1441326"/>
            <a:ext cx="383320" cy="495672"/>
            <a:chOff x="2051720" y="5093568"/>
            <a:chExt cx="501176" cy="648072"/>
          </a:xfrm>
          <a:solidFill>
            <a:srgbClr val="FFCC66"/>
          </a:solidFill>
        </p:grpSpPr>
        <p:sp>
          <p:nvSpPr>
            <p:cNvPr id="20" name="Gleichschenkliges Dreieck 19">
              <a:extLst>
                <a:ext uri="{FF2B5EF4-FFF2-40B4-BE49-F238E27FC236}">
                  <a16:creationId xmlns:a16="http://schemas.microsoft.com/office/drawing/2014/main" id="{773D7AFD-E4CC-4695-EC32-E4B32C87792A}"/>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Ellipse 20">
              <a:extLst>
                <a:ext uri="{FF2B5EF4-FFF2-40B4-BE49-F238E27FC236}">
                  <a16:creationId xmlns:a16="http://schemas.microsoft.com/office/drawing/2014/main" id="{E52B2122-2741-35DC-C6A0-3BE577E12C75}"/>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2" name="Gruppieren 22">
            <a:extLst>
              <a:ext uri="{FF2B5EF4-FFF2-40B4-BE49-F238E27FC236}">
                <a16:creationId xmlns:a16="http://schemas.microsoft.com/office/drawing/2014/main" id="{A6704168-C892-703A-21D9-336CF1E61613}"/>
              </a:ext>
            </a:extLst>
          </p:cNvPr>
          <p:cNvGrpSpPr/>
          <p:nvPr/>
        </p:nvGrpSpPr>
        <p:grpSpPr>
          <a:xfrm>
            <a:off x="611560" y="1432942"/>
            <a:ext cx="383320" cy="495672"/>
            <a:chOff x="2051720" y="5093568"/>
            <a:chExt cx="501176" cy="648072"/>
          </a:xfrm>
          <a:solidFill>
            <a:srgbClr val="FFCC66"/>
          </a:solidFill>
        </p:grpSpPr>
        <p:sp>
          <p:nvSpPr>
            <p:cNvPr id="23" name="Gleichschenkliges Dreieck 22">
              <a:extLst>
                <a:ext uri="{FF2B5EF4-FFF2-40B4-BE49-F238E27FC236}">
                  <a16:creationId xmlns:a16="http://schemas.microsoft.com/office/drawing/2014/main" id="{12CD79D5-A9F8-C16B-9B08-2E02546E7CEC}"/>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Ellipse 23">
              <a:extLst>
                <a:ext uri="{FF2B5EF4-FFF2-40B4-BE49-F238E27FC236}">
                  <a16:creationId xmlns:a16="http://schemas.microsoft.com/office/drawing/2014/main" id="{E5FFA5A7-E8E9-C4C3-8CF9-1B3509DEC916}"/>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5" name="Gruppieren 25">
            <a:extLst>
              <a:ext uri="{FF2B5EF4-FFF2-40B4-BE49-F238E27FC236}">
                <a16:creationId xmlns:a16="http://schemas.microsoft.com/office/drawing/2014/main" id="{4C09BF35-CB92-D306-C2CD-B812C27535B4}"/>
              </a:ext>
            </a:extLst>
          </p:cNvPr>
          <p:cNvGrpSpPr/>
          <p:nvPr/>
        </p:nvGrpSpPr>
        <p:grpSpPr>
          <a:xfrm>
            <a:off x="179512" y="1424558"/>
            <a:ext cx="383320" cy="495672"/>
            <a:chOff x="2051720" y="5093568"/>
            <a:chExt cx="501176" cy="648072"/>
          </a:xfrm>
          <a:solidFill>
            <a:srgbClr val="FFCC66"/>
          </a:solidFill>
        </p:grpSpPr>
        <p:sp>
          <p:nvSpPr>
            <p:cNvPr id="26" name="Gleichschenkliges Dreieck 25">
              <a:extLst>
                <a:ext uri="{FF2B5EF4-FFF2-40B4-BE49-F238E27FC236}">
                  <a16:creationId xmlns:a16="http://schemas.microsoft.com/office/drawing/2014/main" id="{537638D1-569E-21AF-7602-0F1B7B861172}"/>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Ellipse 26">
              <a:extLst>
                <a:ext uri="{FF2B5EF4-FFF2-40B4-BE49-F238E27FC236}">
                  <a16:creationId xmlns:a16="http://schemas.microsoft.com/office/drawing/2014/main" id="{59626547-9107-FB3E-79AF-50F11B55778F}"/>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8" name="Gruppieren 28">
            <a:extLst>
              <a:ext uri="{FF2B5EF4-FFF2-40B4-BE49-F238E27FC236}">
                <a16:creationId xmlns:a16="http://schemas.microsoft.com/office/drawing/2014/main" id="{DF1B5DB4-7857-C568-CCA2-113E5F1B97CB}"/>
              </a:ext>
            </a:extLst>
          </p:cNvPr>
          <p:cNvGrpSpPr/>
          <p:nvPr/>
        </p:nvGrpSpPr>
        <p:grpSpPr>
          <a:xfrm>
            <a:off x="1628056" y="1602110"/>
            <a:ext cx="383320" cy="495672"/>
            <a:chOff x="2051720" y="5093568"/>
            <a:chExt cx="501176" cy="648072"/>
          </a:xfrm>
          <a:solidFill>
            <a:srgbClr val="FFCC66"/>
          </a:solidFill>
        </p:grpSpPr>
        <p:sp>
          <p:nvSpPr>
            <p:cNvPr id="29" name="Gleichschenkliges Dreieck 28">
              <a:extLst>
                <a:ext uri="{FF2B5EF4-FFF2-40B4-BE49-F238E27FC236}">
                  <a16:creationId xmlns:a16="http://schemas.microsoft.com/office/drawing/2014/main" id="{74E1E7C4-97AB-DA9A-BBDB-2AB10D93F3C9}"/>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Ellipse 29">
              <a:extLst>
                <a:ext uri="{FF2B5EF4-FFF2-40B4-BE49-F238E27FC236}">
                  <a16:creationId xmlns:a16="http://schemas.microsoft.com/office/drawing/2014/main" id="{2B38BE16-E330-FB6C-1DD4-3CED1E6884B5}"/>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1" name="Gruppieren 31">
            <a:extLst>
              <a:ext uri="{FF2B5EF4-FFF2-40B4-BE49-F238E27FC236}">
                <a16:creationId xmlns:a16="http://schemas.microsoft.com/office/drawing/2014/main" id="{A7CEA861-B38C-231B-D0A8-A9531ED9146C}"/>
              </a:ext>
            </a:extLst>
          </p:cNvPr>
          <p:cNvGrpSpPr/>
          <p:nvPr/>
        </p:nvGrpSpPr>
        <p:grpSpPr>
          <a:xfrm>
            <a:off x="1196008" y="1593726"/>
            <a:ext cx="383320" cy="495672"/>
            <a:chOff x="2051720" y="5093568"/>
            <a:chExt cx="501176" cy="648072"/>
          </a:xfrm>
          <a:solidFill>
            <a:srgbClr val="FFCC66"/>
          </a:solidFill>
        </p:grpSpPr>
        <p:sp>
          <p:nvSpPr>
            <p:cNvPr id="32" name="Gleichschenkliges Dreieck 31">
              <a:extLst>
                <a:ext uri="{FF2B5EF4-FFF2-40B4-BE49-F238E27FC236}">
                  <a16:creationId xmlns:a16="http://schemas.microsoft.com/office/drawing/2014/main" id="{B467EC61-F6D2-39EB-55C2-17139BC3228A}"/>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Ellipse 32">
              <a:extLst>
                <a:ext uri="{FF2B5EF4-FFF2-40B4-BE49-F238E27FC236}">
                  <a16:creationId xmlns:a16="http://schemas.microsoft.com/office/drawing/2014/main" id="{EBA3D727-9707-910C-6B3E-7E4156BFF1E3}"/>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4" name="Gruppieren 34">
            <a:extLst>
              <a:ext uri="{FF2B5EF4-FFF2-40B4-BE49-F238E27FC236}">
                <a16:creationId xmlns:a16="http://schemas.microsoft.com/office/drawing/2014/main" id="{9142868F-D47E-4309-59DB-7FC6C0004215}"/>
              </a:ext>
            </a:extLst>
          </p:cNvPr>
          <p:cNvGrpSpPr/>
          <p:nvPr/>
        </p:nvGrpSpPr>
        <p:grpSpPr>
          <a:xfrm>
            <a:off x="763960" y="1585342"/>
            <a:ext cx="383320" cy="495672"/>
            <a:chOff x="2051720" y="5093568"/>
            <a:chExt cx="501176" cy="648072"/>
          </a:xfrm>
          <a:solidFill>
            <a:srgbClr val="FFCC66"/>
          </a:solidFill>
        </p:grpSpPr>
        <p:sp>
          <p:nvSpPr>
            <p:cNvPr id="35" name="Gleichschenkliges Dreieck 34">
              <a:extLst>
                <a:ext uri="{FF2B5EF4-FFF2-40B4-BE49-F238E27FC236}">
                  <a16:creationId xmlns:a16="http://schemas.microsoft.com/office/drawing/2014/main" id="{698FD4B6-21CA-790F-C83D-AD7A4E6693E7}"/>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Ellipse 35">
              <a:extLst>
                <a:ext uri="{FF2B5EF4-FFF2-40B4-BE49-F238E27FC236}">
                  <a16:creationId xmlns:a16="http://schemas.microsoft.com/office/drawing/2014/main" id="{1074EB27-8856-1069-FA5A-F0D50400E33B}"/>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7" name="Gruppieren 37">
            <a:extLst>
              <a:ext uri="{FF2B5EF4-FFF2-40B4-BE49-F238E27FC236}">
                <a16:creationId xmlns:a16="http://schemas.microsoft.com/office/drawing/2014/main" id="{0E906B53-09ED-7F38-851C-0B86F6219698}"/>
              </a:ext>
            </a:extLst>
          </p:cNvPr>
          <p:cNvGrpSpPr/>
          <p:nvPr/>
        </p:nvGrpSpPr>
        <p:grpSpPr>
          <a:xfrm>
            <a:off x="331912" y="1576958"/>
            <a:ext cx="383320" cy="495672"/>
            <a:chOff x="2051720" y="5093568"/>
            <a:chExt cx="501176" cy="648072"/>
          </a:xfrm>
          <a:solidFill>
            <a:srgbClr val="FFCC66"/>
          </a:solidFill>
        </p:grpSpPr>
        <p:sp>
          <p:nvSpPr>
            <p:cNvPr id="38" name="Gleichschenkliges Dreieck 37">
              <a:extLst>
                <a:ext uri="{FF2B5EF4-FFF2-40B4-BE49-F238E27FC236}">
                  <a16:creationId xmlns:a16="http://schemas.microsoft.com/office/drawing/2014/main" id="{0EEEC8EE-73A8-BE15-FCF8-F598D0D76735}"/>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 name="Ellipse 38">
              <a:extLst>
                <a:ext uri="{FF2B5EF4-FFF2-40B4-BE49-F238E27FC236}">
                  <a16:creationId xmlns:a16="http://schemas.microsoft.com/office/drawing/2014/main" id="{A9232E54-2EE4-9B18-DD74-CE7BD671445D}"/>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0" name="Gruppieren 40">
            <a:extLst>
              <a:ext uri="{FF2B5EF4-FFF2-40B4-BE49-F238E27FC236}">
                <a16:creationId xmlns:a16="http://schemas.microsoft.com/office/drawing/2014/main" id="{FCF906E7-5970-FE9D-2FA8-86DDABC2CF3F}"/>
              </a:ext>
            </a:extLst>
          </p:cNvPr>
          <p:cNvGrpSpPr/>
          <p:nvPr/>
        </p:nvGrpSpPr>
        <p:grpSpPr>
          <a:xfrm>
            <a:off x="1780456" y="1754510"/>
            <a:ext cx="383320" cy="495672"/>
            <a:chOff x="2051720" y="5093568"/>
            <a:chExt cx="501176" cy="648072"/>
          </a:xfrm>
          <a:solidFill>
            <a:srgbClr val="FFC000"/>
          </a:solidFill>
        </p:grpSpPr>
        <p:sp>
          <p:nvSpPr>
            <p:cNvPr id="41" name="Gleichschenkliges Dreieck 40">
              <a:extLst>
                <a:ext uri="{FF2B5EF4-FFF2-40B4-BE49-F238E27FC236}">
                  <a16:creationId xmlns:a16="http://schemas.microsoft.com/office/drawing/2014/main" id="{301F8709-2A93-149A-F7B6-34D2C4289119}"/>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2" name="Ellipse 41">
              <a:extLst>
                <a:ext uri="{FF2B5EF4-FFF2-40B4-BE49-F238E27FC236}">
                  <a16:creationId xmlns:a16="http://schemas.microsoft.com/office/drawing/2014/main" id="{E90A4CA0-BB6F-F3B4-FF6B-91CB900B4872}"/>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3" name="Gruppieren 43">
            <a:extLst>
              <a:ext uri="{FF2B5EF4-FFF2-40B4-BE49-F238E27FC236}">
                <a16:creationId xmlns:a16="http://schemas.microsoft.com/office/drawing/2014/main" id="{0CCECF7D-A74E-E012-EB64-64509F921376}"/>
              </a:ext>
            </a:extLst>
          </p:cNvPr>
          <p:cNvGrpSpPr/>
          <p:nvPr/>
        </p:nvGrpSpPr>
        <p:grpSpPr>
          <a:xfrm>
            <a:off x="1348408" y="1746126"/>
            <a:ext cx="383320" cy="495672"/>
            <a:chOff x="2051720" y="5093568"/>
            <a:chExt cx="501176" cy="648072"/>
          </a:xfrm>
          <a:solidFill>
            <a:srgbClr val="FFCC66"/>
          </a:solidFill>
        </p:grpSpPr>
        <p:sp>
          <p:nvSpPr>
            <p:cNvPr id="44" name="Gleichschenkliges Dreieck 43">
              <a:extLst>
                <a:ext uri="{FF2B5EF4-FFF2-40B4-BE49-F238E27FC236}">
                  <a16:creationId xmlns:a16="http://schemas.microsoft.com/office/drawing/2014/main" id="{7164AB95-660F-D9B3-8570-BC41ECCF870B}"/>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5" name="Ellipse 44">
              <a:extLst>
                <a:ext uri="{FF2B5EF4-FFF2-40B4-BE49-F238E27FC236}">
                  <a16:creationId xmlns:a16="http://schemas.microsoft.com/office/drawing/2014/main" id="{560A89AE-7119-39F4-DADB-C9FFBB9D2859}"/>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6" name="Gruppieren 46">
            <a:extLst>
              <a:ext uri="{FF2B5EF4-FFF2-40B4-BE49-F238E27FC236}">
                <a16:creationId xmlns:a16="http://schemas.microsoft.com/office/drawing/2014/main" id="{1EDF10F9-3DD2-B6D4-09B0-5DC7FC16E486}"/>
              </a:ext>
            </a:extLst>
          </p:cNvPr>
          <p:cNvGrpSpPr/>
          <p:nvPr/>
        </p:nvGrpSpPr>
        <p:grpSpPr>
          <a:xfrm>
            <a:off x="916360" y="1737742"/>
            <a:ext cx="383320" cy="495672"/>
            <a:chOff x="2051720" y="5093568"/>
            <a:chExt cx="501176" cy="648072"/>
          </a:xfrm>
          <a:solidFill>
            <a:srgbClr val="FFCC66"/>
          </a:solidFill>
        </p:grpSpPr>
        <p:sp>
          <p:nvSpPr>
            <p:cNvPr id="47" name="Gleichschenkliges Dreieck 46">
              <a:extLst>
                <a:ext uri="{FF2B5EF4-FFF2-40B4-BE49-F238E27FC236}">
                  <a16:creationId xmlns:a16="http://schemas.microsoft.com/office/drawing/2014/main" id="{66F401D6-225A-BEDD-1F46-2939D10A2688}"/>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8" name="Ellipse 47">
              <a:extLst>
                <a:ext uri="{FF2B5EF4-FFF2-40B4-BE49-F238E27FC236}">
                  <a16:creationId xmlns:a16="http://schemas.microsoft.com/office/drawing/2014/main" id="{5C452768-8484-558D-E82D-21608C456916}"/>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9" name="Gruppieren 49">
            <a:extLst>
              <a:ext uri="{FF2B5EF4-FFF2-40B4-BE49-F238E27FC236}">
                <a16:creationId xmlns:a16="http://schemas.microsoft.com/office/drawing/2014/main" id="{C19D4E96-14E3-4372-8F04-8115DBDC2CE1}"/>
              </a:ext>
            </a:extLst>
          </p:cNvPr>
          <p:cNvGrpSpPr/>
          <p:nvPr/>
        </p:nvGrpSpPr>
        <p:grpSpPr>
          <a:xfrm>
            <a:off x="484312" y="1729358"/>
            <a:ext cx="383320" cy="495672"/>
            <a:chOff x="2051720" y="5093568"/>
            <a:chExt cx="501176" cy="648072"/>
          </a:xfrm>
          <a:solidFill>
            <a:srgbClr val="FFCC66"/>
          </a:solidFill>
        </p:grpSpPr>
        <p:sp>
          <p:nvSpPr>
            <p:cNvPr id="50" name="Gleichschenkliges Dreieck 49">
              <a:extLst>
                <a:ext uri="{FF2B5EF4-FFF2-40B4-BE49-F238E27FC236}">
                  <a16:creationId xmlns:a16="http://schemas.microsoft.com/office/drawing/2014/main" id="{9EF30C97-218F-1D45-DD65-FFF9C25F8E2D}"/>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Ellipse 50">
              <a:extLst>
                <a:ext uri="{FF2B5EF4-FFF2-40B4-BE49-F238E27FC236}">
                  <a16:creationId xmlns:a16="http://schemas.microsoft.com/office/drawing/2014/main" id="{C9A7CDC5-1D76-CF76-9157-F50BCABC8CB7}"/>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2" name="Gruppieren 52">
            <a:extLst>
              <a:ext uri="{FF2B5EF4-FFF2-40B4-BE49-F238E27FC236}">
                <a16:creationId xmlns:a16="http://schemas.microsoft.com/office/drawing/2014/main" id="{638303CB-06FC-EBD3-88DF-E8189168D905}"/>
              </a:ext>
            </a:extLst>
          </p:cNvPr>
          <p:cNvGrpSpPr/>
          <p:nvPr/>
        </p:nvGrpSpPr>
        <p:grpSpPr>
          <a:xfrm>
            <a:off x="1932856" y="1906910"/>
            <a:ext cx="383320" cy="495672"/>
            <a:chOff x="2051720" y="5093568"/>
            <a:chExt cx="501176" cy="648072"/>
          </a:xfrm>
          <a:solidFill>
            <a:srgbClr val="FFCC66"/>
          </a:solidFill>
        </p:grpSpPr>
        <p:sp>
          <p:nvSpPr>
            <p:cNvPr id="53" name="Gleichschenkliges Dreieck 52">
              <a:extLst>
                <a:ext uri="{FF2B5EF4-FFF2-40B4-BE49-F238E27FC236}">
                  <a16:creationId xmlns:a16="http://schemas.microsoft.com/office/drawing/2014/main" id="{3E2C997A-A9D3-6CC9-EFE3-6AB55CA4FE77}"/>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Ellipse 53">
              <a:extLst>
                <a:ext uri="{FF2B5EF4-FFF2-40B4-BE49-F238E27FC236}">
                  <a16:creationId xmlns:a16="http://schemas.microsoft.com/office/drawing/2014/main" id="{31A5A83A-481A-D39F-A8F4-F2DA3FE79A13}"/>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5" name="Gruppieren 55">
            <a:extLst>
              <a:ext uri="{FF2B5EF4-FFF2-40B4-BE49-F238E27FC236}">
                <a16:creationId xmlns:a16="http://schemas.microsoft.com/office/drawing/2014/main" id="{C2B70996-21A7-4422-4CB0-A4782DC6C4DE}"/>
              </a:ext>
            </a:extLst>
          </p:cNvPr>
          <p:cNvGrpSpPr/>
          <p:nvPr/>
        </p:nvGrpSpPr>
        <p:grpSpPr>
          <a:xfrm>
            <a:off x="1500808" y="1898526"/>
            <a:ext cx="383320" cy="495672"/>
            <a:chOff x="2051720" y="5093568"/>
            <a:chExt cx="501176" cy="648072"/>
          </a:xfrm>
          <a:solidFill>
            <a:srgbClr val="FFCC66"/>
          </a:solidFill>
        </p:grpSpPr>
        <p:sp>
          <p:nvSpPr>
            <p:cNvPr id="56" name="Gleichschenkliges Dreieck 55">
              <a:extLst>
                <a:ext uri="{FF2B5EF4-FFF2-40B4-BE49-F238E27FC236}">
                  <a16:creationId xmlns:a16="http://schemas.microsoft.com/office/drawing/2014/main" id="{2386C7D7-62C6-59D4-80A6-14377C426246}"/>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7" name="Ellipse 56">
              <a:extLst>
                <a:ext uri="{FF2B5EF4-FFF2-40B4-BE49-F238E27FC236}">
                  <a16:creationId xmlns:a16="http://schemas.microsoft.com/office/drawing/2014/main" id="{CAA7E7E6-953C-BB8C-1717-CE0176B814CF}"/>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8" name="Gruppieren 58">
            <a:extLst>
              <a:ext uri="{FF2B5EF4-FFF2-40B4-BE49-F238E27FC236}">
                <a16:creationId xmlns:a16="http://schemas.microsoft.com/office/drawing/2014/main" id="{0F2075DB-02F3-7999-22B1-D4DF22B33BB6}"/>
              </a:ext>
            </a:extLst>
          </p:cNvPr>
          <p:cNvGrpSpPr/>
          <p:nvPr/>
        </p:nvGrpSpPr>
        <p:grpSpPr>
          <a:xfrm>
            <a:off x="1068760" y="1890142"/>
            <a:ext cx="383320" cy="495672"/>
            <a:chOff x="2051720" y="5093568"/>
            <a:chExt cx="501176" cy="648072"/>
          </a:xfrm>
          <a:solidFill>
            <a:srgbClr val="FFCC66"/>
          </a:solidFill>
        </p:grpSpPr>
        <p:sp>
          <p:nvSpPr>
            <p:cNvPr id="59" name="Gleichschenkliges Dreieck 58">
              <a:extLst>
                <a:ext uri="{FF2B5EF4-FFF2-40B4-BE49-F238E27FC236}">
                  <a16:creationId xmlns:a16="http://schemas.microsoft.com/office/drawing/2014/main" id="{0EBED4B6-2F57-38C0-34C8-4704E45019AA}"/>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0" name="Ellipse 59">
              <a:extLst>
                <a:ext uri="{FF2B5EF4-FFF2-40B4-BE49-F238E27FC236}">
                  <a16:creationId xmlns:a16="http://schemas.microsoft.com/office/drawing/2014/main" id="{D8D1BF4F-FFEA-9341-3DFF-4BCFB509C250}"/>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1" name="Gruppieren 61">
            <a:extLst>
              <a:ext uri="{FF2B5EF4-FFF2-40B4-BE49-F238E27FC236}">
                <a16:creationId xmlns:a16="http://schemas.microsoft.com/office/drawing/2014/main" id="{FBBE8E7B-4EC6-1F0C-4FB5-2FB966ED67B4}"/>
              </a:ext>
            </a:extLst>
          </p:cNvPr>
          <p:cNvGrpSpPr/>
          <p:nvPr/>
        </p:nvGrpSpPr>
        <p:grpSpPr>
          <a:xfrm>
            <a:off x="636712" y="1881758"/>
            <a:ext cx="383320" cy="495672"/>
            <a:chOff x="2051720" y="5093568"/>
            <a:chExt cx="501176" cy="648072"/>
          </a:xfrm>
          <a:solidFill>
            <a:srgbClr val="FFCC66"/>
          </a:solidFill>
        </p:grpSpPr>
        <p:sp>
          <p:nvSpPr>
            <p:cNvPr id="62" name="Gleichschenkliges Dreieck 61">
              <a:extLst>
                <a:ext uri="{FF2B5EF4-FFF2-40B4-BE49-F238E27FC236}">
                  <a16:creationId xmlns:a16="http://schemas.microsoft.com/office/drawing/2014/main" id="{FF2CDD6B-4058-A804-8CB7-99ACBF92D268}"/>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Ellipse 62">
              <a:extLst>
                <a:ext uri="{FF2B5EF4-FFF2-40B4-BE49-F238E27FC236}">
                  <a16:creationId xmlns:a16="http://schemas.microsoft.com/office/drawing/2014/main" id="{FAFA6792-0258-BC8E-08FE-9D3A23F7E13C}"/>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4" name="Gruppieren 64">
            <a:extLst>
              <a:ext uri="{FF2B5EF4-FFF2-40B4-BE49-F238E27FC236}">
                <a16:creationId xmlns:a16="http://schemas.microsoft.com/office/drawing/2014/main" id="{81CF5558-091A-EB61-2A9C-2790C155FED6}"/>
              </a:ext>
            </a:extLst>
          </p:cNvPr>
          <p:cNvGrpSpPr/>
          <p:nvPr/>
        </p:nvGrpSpPr>
        <p:grpSpPr>
          <a:xfrm>
            <a:off x="2085256" y="2059310"/>
            <a:ext cx="383320" cy="495672"/>
            <a:chOff x="2051720" y="5093568"/>
            <a:chExt cx="501176" cy="648072"/>
          </a:xfrm>
          <a:solidFill>
            <a:srgbClr val="FFCC66"/>
          </a:solidFill>
        </p:grpSpPr>
        <p:sp>
          <p:nvSpPr>
            <p:cNvPr id="65" name="Gleichschenkliges Dreieck 64">
              <a:extLst>
                <a:ext uri="{FF2B5EF4-FFF2-40B4-BE49-F238E27FC236}">
                  <a16:creationId xmlns:a16="http://schemas.microsoft.com/office/drawing/2014/main" id="{4A6546A3-2242-A97A-5C35-C6803AA63A4A}"/>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6" name="Ellipse 65">
              <a:extLst>
                <a:ext uri="{FF2B5EF4-FFF2-40B4-BE49-F238E27FC236}">
                  <a16:creationId xmlns:a16="http://schemas.microsoft.com/office/drawing/2014/main" id="{49559650-F5C5-F7FC-333E-CE49C55D46F2}"/>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7" name="Gruppieren 67">
            <a:extLst>
              <a:ext uri="{FF2B5EF4-FFF2-40B4-BE49-F238E27FC236}">
                <a16:creationId xmlns:a16="http://schemas.microsoft.com/office/drawing/2014/main" id="{C06E05B1-9CBF-75BF-62D0-E8229A2E8C4C}"/>
              </a:ext>
            </a:extLst>
          </p:cNvPr>
          <p:cNvGrpSpPr/>
          <p:nvPr/>
        </p:nvGrpSpPr>
        <p:grpSpPr>
          <a:xfrm>
            <a:off x="1653208" y="2050926"/>
            <a:ext cx="383320" cy="495672"/>
            <a:chOff x="2051720" y="5093568"/>
            <a:chExt cx="501176" cy="648072"/>
          </a:xfrm>
          <a:solidFill>
            <a:srgbClr val="FFCC66"/>
          </a:solidFill>
        </p:grpSpPr>
        <p:sp>
          <p:nvSpPr>
            <p:cNvPr id="68" name="Gleichschenkliges Dreieck 67">
              <a:extLst>
                <a:ext uri="{FF2B5EF4-FFF2-40B4-BE49-F238E27FC236}">
                  <a16:creationId xmlns:a16="http://schemas.microsoft.com/office/drawing/2014/main" id="{A99834AE-037D-70E2-CEAC-42A8E3AC68D1}"/>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9" name="Ellipse 68">
              <a:extLst>
                <a:ext uri="{FF2B5EF4-FFF2-40B4-BE49-F238E27FC236}">
                  <a16:creationId xmlns:a16="http://schemas.microsoft.com/office/drawing/2014/main" id="{47B68A46-F453-5778-6724-FA00556CDB16}"/>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0" name="Gruppieren 70">
            <a:extLst>
              <a:ext uri="{FF2B5EF4-FFF2-40B4-BE49-F238E27FC236}">
                <a16:creationId xmlns:a16="http://schemas.microsoft.com/office/drawing/2014/main" id="{723FC2C6-64E2-8AB8-4D2E-B0930FE82517}"/>
              </a:ext>
            </a:extLst>
          </p:cNvPr>
          <p:cNvGrpSpPr/>
          <p:nvPr/>
        </p:nvGrpSpPr>
        <p:grpSpPr>
          <a:xfrm>
            <a:off x="1221160" y="2042542"/>
            <a:ext cx="383320" cy="495672"/>
            <a:chOff x="2051720" y="5093568"/>
            <a:chExt cx="501176" cy="648072"/>
          </a:xfrm>
          <a:solidFill>
            <a:srgbClr val="FFCC66"/>
          </a:solidFill>
        </p:grpSpPr>
        <p:sp>
          <p:nvSpPr>
            <p:cNvPr id="71" name="Gleichschenkliges Dreieck 70">
              <a:extLst>
                <a:ext uri="{FF2B5EF4-FFF2-40B4-BE49-F238E27FC236}">
                  <a16:creationId xmlns:a16="http://schemas.microsoft.com/office/drawing/2014/main" id="{915D8B2D-EE37-BA72-57FF-2E3E1D4E0A33}"/>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2" name="Ellipse 71">
              <a:extLst>
                <a:ext uri="{FF2B5EF4-FFF2-40B4-BE49-F238E27FC236}">
                  <a16:creationId xmlns:a16="http://schemas.microsoft.com/office/drawing/2014/main" id="{A75A4AB4-1331-07FB-7ABB-1E88AF84BEC3}"/>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3" name="Gruppieren 73">
            <a:extLst>
              <a:ext uri="{FF2B5EF4-FFF2-40B4-BE49-F238E27FC236}">
                <a16:creationId xmlns:a16="http://schemas.microsoft.com/office/drawing/2014/main" id="{D17394A6-3F6E-322B-2AC8-879ACC990466}"/>
              </a:ext>
            </a:extLst>
          </p:cNvPr>
          <p:cNvGrpSpPr/>
          <p:nvPr/>
        </p:nvGrpSpPr>
        <p:grpSpPr>
          <a:xfrm>
            <a:off x="789112" y="2034158"/>
            <a:ext cx="383320" cy="495672"/>
            <a:chOff x="2051720" y="5093568"/>
            <a:chExt cx="501176" cy="648072"/>
          </a:xfrm>
          <a:solidFill>
            <a:srgbClr val="FFCC66"/>
          </a:solidFill>
        </p:grpSpPr>
        <p:sp>
          <p:nvSpPr>
            <p:cNvPr id="74" name="Gleichschenkliges Dreieck 73">
              <a:extLst>
                <a:ext uri="{FF2B5EF4-FFF2-40B4-BE49-F238E27FC236}">
                  <a16:creationId xmlns:a16="http://schemas.microsoft.com/office/drawing/2014/main" id="{1A5A8E10-4FC6-C25C-7CA8-48339673F129}"/>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5" name="Ellipse 74">
              <a:extLst>
                <a:ext uri="{FF2B5EF4-FFF2-40B4-BE49-F238E27FC236}">
                  <a16:creationId xmlns:a16="http://schemas.microsoft.com/office/drawing/2014/main" id="{39AD8D2B-6C36-A66D-B722-040993F32A45}"/>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6" name="Gruppieren 76">
            <a:extLst>
              <a:ext uri="{FF2B5EF4-FFF2-40B4-BE49-F238E27FC236}">
                <a16:creationId xmlns:a16="http://schemas.microsoft.com/office/drawing/2014/main" id="{BBC133B7-C260-0211-9C94-6B353B14F560}"/>
              </a:ext>
            </a:extLst>
          </p:cNvPr>
          <p:cNvGrpSpPr/>
          <p:nvPr/>
        </p:nvGrpSpPr>
        <p:grpSpPr>
          <a:xfrm>
            <a:off x="2237656" y="2211710"/>
            <a:ext cx="383320" cy="495672"/>
            <a:chOff x="2051720" y="5093568"/>
            <a:chExt cx="501176" cy="648072"/>
          </a:xfrm>
          <a:solidFill>
            <a:srgbClr val="FFCC66"/>
          </a:solidFill>
        </p:grpSpPr>
        <p:sp>
          <p:nvSpPr>
            <p:cNvPr id="77" name="Gleichschenkliges Dreieck 76">
              <a:extLst>
                <a:ext uri="{FF2B5EF4-FFF2-40B4-BE49-F238E27FC236}">
                  <a16:creationId xmlns:a16="http://schemas.microsoft.com/office/drawing/2014/main" id="{3F397F9C-5EE4-740B-D6D3-919ACBAB3BAB}"/>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8" name="Ellipse 77">
              <a:extLst>
                <a:ext uri="{FF2B5EF4-FFF2-40B4-BE49-F238E27FC236}">
                  <a16:creationId xmlns:a16="http://schemas.microsoft.com/office/drawing/2014/main" id="{4BAD148B-2255-D002-09EF-77F582CDF53F}"/>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9" name="Gruppieren 79">
            <a:extLst>
              <a:ext uri="{FF2B5EF4-FFF2-40B4-BE49-F238E27FC236}">
                <a16:creationId xmlns:a16="http://schemas.microsoft.com/office/drawing/2014/main" id="{C167BFAE-BBFA-2D68-CFB5-565B3E9043CD}"/>
              </a:ext>
            </a:extLst>
          </p:cNvPr>
          <p:cNvGrpSpPr/>
          <p:nvPr/>
        </p:nvGrpSpPr>
        <p:grpSpPr>
          <a:xfrm>
            <a:off x="1805608" y="2203326"/>
            <a:ext cx="383320" cy="495672"/>
            <a:chOff x="2051720" y="5093568"/>
            <a:chExt cx="501176" cy="648072"/>
          </a:xfrm>
          <a:solidFill>
            <a:srgbClr val="FFCC66"/>
          </a:solidFill>
        </p:grpSpPr>
        <p:sp>
          <p:nvSpPr>
            <p:cNvPr id="80" name="Gleichschenkliges Dreieck 79">
              <a:extLst>
                <a:ext uri="{FF2B5EF4-FFF2-40B4-BE49-F238E27FC236}">
                  <a16:creationId xmlns:a16="http://schemas.microsoft.com/office/drawing/2014/main" id="{5DD8BAF3-CE01-8E70-36A0-6471F715939B}"/>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1" name="Ellipse 80">
              <a:extLst>
                <a:ext uri="{FF2B5EF4-FFF2-40B4-BE49-F238E27FC236}">
                  <a16:creationId xmlns:a16="http://schemas.microsoft.com/office/drawing/2014/main" id="{C12CED3A-21D1-D37B-90C7-EEFD23FFCB57}"/>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2" name="Gruppieren 82">
            <a:extLst>
              <a:ext uri="{FF2B5EF4-FFF2-40B4-BE49-F238E27FC236}">
                <a16:creationId xmlns:a16="http://schemas.microsoft.com/office/drawing/2014/main" id="{240B7C02-A737-DF02-52F8-C1AD192A97BE}"/>
              </a:ext>
            </a:extLst>
          </p:cNvPr>
          <p:cNvGrpSpPr/>
          <p:nvPr/>
        </p:nvGrpSpPr>
        <p:grpSpPr>
          <a:xfrm>
            <a:off x="1373560" y="2194942"/>
            <a:ext cx="383320" cy="495672"/>
            <a:chOff x="2051720" y="5093568"/>
            <a:chExt cx="501176" cy="648072"/>
          </a:xfrm>
          <a:solidFill>
            <a:srgbClr val="FFCC66"/>
          </a:solidFill>
        </p:grpSpPr>
        <p:sp>
          <p:nvSpPr>
            <p:cNvPr id="83" name="Gleichschenkliges Dreieck 82">
              <a:extLst>
                <a:ext uri="{FF2B5EF4-FFF2-40B4-BE49-F238E27FC236}">
                  <a16:creationId xmlns:a16="http://schemas.microsoft.com/office/drawing/2014/main" id="{70E7171F-5289-FD8E-4194-D4D5ABEBE21F}"/>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4" name="Ellipse 83">
              <a:extLst>
                <a:ext uri="{FF2B5EF4-FFF2-40B4-BE49-F238E27FC236}">
                  <a16:creationId xmlns:a16="http://schemas.microsoft.com/office/drawing/2014/main" id="{DA533EE4-A631-D316-A884-BF54CC48BC50}"/>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5" name="Gruppieren 85">
            <a:extLst>
              <a:ext uri="{FF2B5EF4-FFF2-40B4-BE49-F238E27FC236}">
                <a16:creationId xmlns:a16="http://schemas.microsoft.com/office/drawing/2014/main" id="{F52064F4-1D1A-3F88-FECC-7AD84CDE7092}"/>
              </a:ext>
            </a:extLst>
          </p:cNvPr>
          <p:cNvGrpSpPr/>
          <p:nvPr/>
        </p:nvGrpSpPr>
        <p:grpSpPr>
          <a:xfrm>
            <a:off x="941512" y="2186558"/>
            <a:ext cx="383320" cy="495672"/>
            <a:chOff x="2051720" y="5093568"/>
            <a:chExt cx="501176" cy="648072"/>
          </a:xfrm>
          <a:solidFill>
            <a:srgbClr val="FFCC66"/>
          </a:solidFill>
        </p:grpSpPr>
        <p:sp>
          <p:nvSpPr>
            <p:cNvPr id="86" name="Gleichschenkliges Dreieck 85">
              <a:extLst>
                <a:ext uri="{FF2B5EF4-FFF2-40B4-BE49-F238E27FC236}">
                  <a16:creationId xmlns:a16="http://schemas.microsoft.com/office/drawing/2014/main" id="{2C6785CF-8477-DB34-4B4D-4F5DB1680A86}"/>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7" name="Ellipse 86">
              <a:extLst>
                <a:ext uri="{FF2B5EF4-FFF2-40B4-BE49-F238E27FC236}">
                  <a16:creationId xmlns:a16="http://schemas.microsoft.com/office/drawing/2014/main" id="{207F7EAF-326F-95D9-4C3D-0A00994E0F39}"/>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8" name="Gruppieren 88">
            <a:extLst>
              <a:ext uri="{FF2B5EF4-FFF2-40B4-BE49-F238E27FC236}">
                <a16:creationId xmlns:a16="http://schemas.microsoft.com/office/drawing/2014/main" id="{F418CB69-4AA6-8B3E-7B6D-40DF86991A56}"/>
              </a:ext>
            </a:extLst>
          </p:cNvPr>
          <p:cNvGrpSpPr/>
          <p:nvPr/>
        </p:nvGrpSpPr>
        <p:grpSpPr>
          <a:xfrm>
            <a:off x="2390056" y="2364110"/>
            <a:ext cx="383320" cy="495672"/>
            <a:chOff x="2051720" y="5093568"/>
            <a:chExt cx="501176" cy="648072"/>
          </a:xfrm>
          <a:solidFill>
            <a:srgbClr val="FFCC66"/>
          </a:solidFill>
        </p:grpSpPr>
        <p:sp>
          <p:nvSpPr>
            <p:cNvPr id="89" name="Gleichschenkliges Dreieck 88">
              <a:extLst>
                <a:ext uri="{FF2B5EF4-FFF2-40B4-BE49-F238E27FC236}">
                  <a16:creationId xmlns:a16="http://schemas.microsoft.com/office/drawing/2014/main" id="{606AEA21-5819-3B17-DC6E-74F1D8215D11}"/>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0" name="Ellipse 89">
              <a:extLst>
                <a:ext uri="{FF2B5EF4-FFF2-40B4-BE49-F238E27FC236}">
                  <a16:creationId xmlns:a16="http://schemas.microsoft.com/office/drawing/2014/main" id="{C40B7809-0035-649C-A980-671D483523D0}"/>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1" name="Gruppieren 91">
            <a:extLst>
              <a:ext uri="{FF2B5EF4-FFF2-40B4-BE49-F238E27FC236}">
                <a16:creationId xmlns:a16="http://schemas.microsoft.com/office/drawing/2014/main" id="{264367CC-D99F-6181-74BC-2269517E3028}"/>
              </a:ext>
            </a:extLst>
          </p:cNvPr>
          <p:cNvGrpSpPr/>
          <p:nvPr/>
        </p:nvGrpSpPr>
        <p:grpSpPr>
          <a:xfrm>
            <a:off x="1958008" y="2355726"/>
            <a:ext cx="383320" cy="495672"/>
            <a:chOff x="2051720" y="5093568"/>
            <a:chExt cx="501176" cy="648072"/>
          </a:xfrm>
          <a:solidFill>
            <a:srgbClr val="FFCC66"/>
          </a:solidFill>
        </p:grpSpPr>
        <p:sp>
          <p:nvSpPr>
            <p:cNvPr id="92" name="Gleichschenkliges Dreieck 91">
              <a:extLst>
                <a:ext uri="{FF2B5EF4-FFF2-40B4-BE49-F238E27FC236}">
                  <a16:creationId xmlns:a16="http://schemas.microsoft.com/office/drawing/2014/main" id="{D17D0F22-9DA9-23A0-01B9-5937991E49FE}"/>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3" name="Ellipse 92">
              <a:extLst>
                <a:ext uri="{FF2B5EF4-FFF2-40B4-BE49-F238E27FC236}">
                  <a16:creationId xmlns:a16="http://schemas.microsoft.com/office/drawing/2014/main" id="{714A6F5B-3B25-A4B6-94F6-730E12D419B0}"/>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4" name="Gruppieren 94">
            <a:extLst>
              <a:ext uri="{FF2B5EF4-FFF2-40B4-BE49-F238E27FC236}">
                <a16:creationId xmlns:a16="http://schemas.microsoft.com/office/drawing/2014/main" id="{B7536583-0189-7EE2-4E5C-3E1E934BAC45}"/>
              </a:ext>
            </a:extLst>
          </p:cNvPr>
          <p:cNvGrpSpPr/>
          <p:nvPr/>
        </p:nvGrpSpPr>
        <p:grpSpPr>
          <a:xfrm>
            <a:off x="1525960" y="2347342"/>
            <a:ext cx="383320" cy="495672"/>
            <a:chOff x="2051720" y="5093568"/>
            <a:chExt cx="501176" cy="648072"/>
          </a:xfrm>
          <a:solidFill>
            <a:srgbClr val="FFCC66"/>
          </a:solidFill>
        </p:grpSpPr>
        <p:sp>
          <p:nvSpPr>
            <p:cNvPr id="95" name="Gleichschenkliges Dreieck 94">
              <a:extLst>
                <a:ext uri="{FF2B5EF4-FFF2-40B4-BE49-F238E27FC236}">
                  <a16:creationId xmlns:a16="http://schemas.microsoft.com/office/drawing/2014/main" id="{FCD82B33-2A72-D08D-0BA3-4E3977DDB558}"/>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6" name="Ellipse 95">
              <a:extLst>
                <a:ext uri="{FF2B5EF4-FFF2-40B4-BE49-F238E27FC236}">
                  <a16:creationId xmlns:a16="http://schemas.microsoft.com/office/drawing/2014/main" id="{A7193DDA-71B0-43C1-8C3F-9643A662E298}"/>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7" name="Gruppieren 97">
            <a:extLst>
              <a:ext uri="{FF2B5EF4-FFF2-40B4-BE49-F238E27FC236}">
                <a16:creationId xmlns:a16="http://schemas.microsoft.com/office/drawing/2014/main" id="{980CE99A-A2D7-EEA7-E7EF-AD8B909EEF12}"/>
              </a:ext>
            </a:extLst>
          </p:cNvPr>
          <p:cNvGrpSpPr/>
          <p:nvPr/>
        </p:nvGrpSpPr>
        <p:grpSpPr>
          <a:xfrm>
            <a:off x="1093912" y="2338958"/>
            <a:ext cx="383320" cy="495672"/>
            <a:chOff x="2051720" y="5093568"/>
            <a:chExt cx="501176" cy="648072"/>
          </a:xfrm>
          <a:solidFill>
            <a:srgbClr val="FFCC66"/>
          </a:solidFill>
        </p:grpSpPr>
        <p:sp>
          <p:nvSpPr>
            <p:cNvPr id="98" name="Gleichschenkliges Dreieck 97">
              <a:extLst>
                <a:ext uri="{FF2B5EF4-FFF2-40B4-BE49-F238E27FC236}">
                  <a16:creationId xmlns:a16="http://schemas.microsoft.com/office/drawing/2014/main" id="{E55B8E69-E831-9D75-EA35-54AE82C2C87A}"/>
                </a:ext>
              </a:extLst>
            </p:cNvPr>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9" name="Ellipse 98">
              <a:extLst>
                <a:ext uri="{FF2B5EF4-FFF2-40B4-BE49-F238E27FC236}">
                  <a16:creationId xmlns:a16="http://schemas.microsoft.com/office/drawing/2014/main" id="{1636F21D-2F1B-6679-8327-2527192D4F56}"/>
                </a:ext>
              </a:extLst>
            </p:cNvPr>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0" name="Textfeld 99">
            <a:extLst>
              <a:ext uri="{FF2B5EF4-FFF2-40B4-BE49-F238E27FC236}">
                <a16:creationId xmlns:a16="http://schemas.microsoft.com/office/drawing/2014/main" id="{7BC1003E-07A7-CFC8-E810-F80ABDFDDB6D}"/>
              </a:ext>
            </a:extLst>
          </p:cNvPr>
          <p:cNvSpPr txBox="1"/>
          <p:nvPr/>
        </p:nvSpPr>
        <p:spPr>
          <a:xfrm>
            <a:off x="241354" y="915566"/>
            <a:ext cx="853118" cy="307777"/>
          </a:xfrm>
          <a:prstGeom prst="rect">
            <a:avLst/>
          </a:prstGeom>
          <a:noFill/>
        </p:spPr>
        <p:txBody>
          <a:bodyPr wrap="none" rtlCol="0">
            <a:spAutoFit/>
          </a:bodyPr>
          <a:lstStyle/>
          <a:p>
            <a:r>
              <a:rPr lang="en-US" sz="1400" noProof="0" dirty="0"/>
              <a:t>economy</a:t>
            </a:r>
          </a:p>
        </p:txBody>
      </p:sp>
      <p:cxnSp>
        <p:nvCxnSpPr>
          <p:cNvPr id="101" name="Gerade Verbindung 100">
            <a:extLst>
              <a:ext uri="{FF2B5EF4-FFF2-40B4-BE49-F238E27FC236}">
                <a16:creationId xmlns:a16="http://schemas.microsoft.com/office/drawing/2014/main" id="{E0F812BD-032C-CD7F-FF2A-E2D41813EF37}"/>
              </a:ext>
            </a:extLst>
          </p:cNvPr>
          <p:cNvCxnSpPr/>
          <p:nvPr/>
        </p:nvCxnSpPr>
        <p:spPr>
          <a:xfrm flipV="1">
            <a:off x="1979712" y="915566"/>
            <a:ext cx="1152128" cy="792088"/>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02" name="Textfeld 101">
            <a:extLst>
              <a:ext uri="{FF2B5EF4-FFF2-40B4-BE49-F238E27FC236}">
                <a16:creationId xmlns:a16="http://schemas.microsoft.com/office/drawing/2014/main" id="{D23CB7DA-0A3E-F3C1-3E06-F06A9EB4FB27}"/>
              </a:ext>
            </a:extLst>
          </p:cNvPr>
          <p:cNvSpPr txBox="1"/>
          <p:nvPr/>
        </p:nvSpPr>
        <p:spPr>
          <a:xfrm>
            <a:off x="3491880" y="843558"/>
            <a:ext cx="598304" cy="307777"/>
          </a:xfrm>
          <a:prstGeom prst="rect">
            <a:avLst/>
          </a:prstGeom>
          <a:noFill/>
        </p:spPr>
        <p:txBody>
          <a:bodyPr wrap="none" rtlCol="0">
            <a:spAutoFit/>
          </a:bodyPr>
          <a:lstStyle/>
          <a:p>
            <a:pPr algn="ctr"/>
            <a:r>
              <a:rPr lang="en-US" sz="1400" noProof="0" dirty="0"/>
              <a:t>agent</a:t>
            </a:r>
          </a:p>
        </p:txBody>
      </p:sp>
      <p:sp>
        <p:nvSpPr>
          <p:cNvPr id="103" name="Ellipse 102">
            <a:extLst>
              <a:ext uri="{FF2B5EF4-FFF2-40B4-BE49-F238E27FC236}">
                <a16:creationId xmlns:a16="http://schemas.microsoft.com/office/drawing/2014/main" id="{A5F3BA28-ACDF-835D-1CB2-AD651F6D3497}"/>
              </a:ext>
            </a:extLst>
          </p:cNvPr>
          <p:cNvSpPr/>
          <p:nvPr/>
        </p:nvSpPr>
        <p:spPr>
          <a:xfrm>
            <a:off x="5076056" y="990307"/>
            <a:ext cx="3943253" cy="1799928"/>
          </a:xfrm>
          <a:prstGeom prst="ellipse">
            <a:avLst/>
          </a:prstGeom>
          <a:noFill/>
          <a:ln>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 name="Textfeld 103">
            <a:extLst>
              <a:ext uri="{FF2B5EF4-FFF2-40B4-BE49-F238E27FC236}">
                <a16:creationId xmlns:a16="http://schemas.microsoft.com/office/drawing/2014/main" id="{5869AEFA-58A1-FC52-3497-A65A74355446}"/>
              </a:ext>
            </a:extLst>
          </p:cNvPr>
          <p:cNvSpPr txBox="1"/>
          <p:nvPr/>
        </p:nvSpPr>
        <p:spPr>
          <a:xfrm>
            <a:off x="6417798" y="1059582"/>
            <a:ext cx="1259768" cy="307777"/>
          </a:xfrm>
          <a:prstGeom prst="rect">
            <a:avLst/>
          </a:prstGeom>
          <a:noFill/>
        </p:spPr>
        <p:txBody>
          <a:bodyPr wrap="none" rtlCol="0">
            <a:spAutoFit/>
          </a:bodyPr>
          <a:lstStyle/>
          <a:p>
            <a:pPr algn="ctr"/>
            <a:r>
              <a:rPr lang="en-US" sz="1400" noProof="0" dirty="0"/>
              <a:t>rational choice</a:t>
            </a:r>
          </a:p>
        </p:txBody>
      </p:sp>
      <p:sp>
        <p:nvSpPr>
          <p:cNvPr id="105" name="Rechteck 104">
            <a:extLst>
              <a:ext uri="{FF2B5EF4-FFF2-40B4-BE49-F238E27FC236}">
                <a16:creationId xmlns:a16="http://schemas.microsoft.com/office/drawing/2014/main" id="{ADB4738C-D41F-51E7-649C-A4C74F6AC41E}"/>
              </a:ext>
            </a:extLst>
          </p:cNvPr>
          <p:cNvSpPr/>
          <p:nvPr/>
        </p:nvSpPr>
        <p:spPr>
          <a:xfrm>
            <a:off x="251520" y="3867894"/>
            <a:ext cx="8784976" cy="115212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6" name="Textfeld 105">
            <a:extLst>
              <a:ext uri="{FF2B5EF4-FFF2-40B4-BE49-F238E27FC236}">
                <a16:creationId xmlns:a16="http://schemas.microsoft.com/office/drawing/2014/main" id="{CE5C06B9-2EE1-D94D-7D59-E4463D83CC8B}"/>
              </a:ext>
            </a:extLst>
          </p:cNvPr>
          <p:cNvSpPr txBox="1"/>
          <p:nvPr/>
        </p:nvSpPr>
        <p:spPr>
          <a:xfrm>
            <a:off x="1475656" y="3860860"/>
            <a:ext cx="7488832" cy="1169551"/>
          </a:xfrm>
          <a:prstGeom prst="rect">
            <a:avLst/>
          </a:prstGeom>
          <a:noFill/>
        </p:spPr>
        <p:txBody>
          <a:bodyPr wrap="square" rtlCol="0">
            <a:spAutoFit/>
          </a:bodyPr>
          <a:lstStyle/>
          <a:p>
            <a:pPr algn="just"/>
            <a:r>
              <a:rPr lang="en-US" sz="1400" noProof="0" dirty="0"/>
              <a:t>According to Adam Smith (1723 – 1790), human actions are primarily determined by an internal tension between passions (desires/ emotions) and the moral constraints of an “impartial spectator” (independent, neutral observer) within the mind. In his “Theory of Moral Sentiments” he states that actions are moderated by sympathy—our ability to put ourselves in another's place—to achieve social harmony.</a:t>
            </a:r>
          </a:p>
        </p:txBody>
      </p:sp>
      <p:pic>
        <p:nvPicPr>
          <p:cNvPr id="1026" name="Picture 2" descr="Was ist die „unsichtbare Hand“ von Adam Smith? | Philosophie Magazin">
            <a:extLst>
              <a:ext uri="{FF2B5EF4-FFF2-40B4-BE49-F238E27FC236}">
                <a16:creationId xmlns:a16="http://schemas.microsoft.com/office/drawing/2014/main" id="{501D89BA-7332-BC96-18DC-851866F87C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112" r="33655"/>
          <a:stretch>
            <a:fillRect/>
          </a:stretch>
        </p:blipFill>
        <p:spPr bwMode="auto">
          <a:xfrm>
            <a:off x="107504" y="3003798"/>
            <a:ext cx="1272405" cy="1727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75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The rational choice happens due to a self-optimization of the agents, i.e., due to utility (= “happiness”) maximization</a:t>
            </a:r>
          </a:p>
        </p:txBody>
      </p:sp>
      <p:sp>
        <p:nvSpPr>
          <p:cNvPr id="3" name="Nach oben gekrümmter Pfeil 2"/>
          <p:cNvSpPr/>
          <p:nvPr/>
        </p:nvSpPr>
        <p:spPr>
          <a:xfrm>
            <a:off x="6516216" y="2389562"/>
            <a:ext cx="1008112" cy="360040"/>
          </a:xfrm>
          <a:prstGeom prst="curvedUp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
        <p:nvSpPr>
          <p:cNvPr id="4" name="Ellipse 3"/>
          <p:cNvSpPr/>
          <p:nvPr/>
        </p:nvSpPr>
        <p:spPr>
          <a:xfrm>
            <a:off x="6183794" y="2821610"/>
            <a:ext cx="1656184" cy="90899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Textfeld 4"/>
          <p:cNvSpPr txBox="1"/>
          <p:nvPr/>
        </p:nvSpPr>
        <p:spPr>
          <a:xfrm>
            <a:off x="6485942" y="3003798"/>
            <a:ext cx="1051891" cy="523220"/>
          </a:xfrm>
          <a:prstGeom prst="rect">
            <a:avLst/>
          </a:prstGeom>
          <a:noFill/>
        </p:spPr>
        <p:txBody>
          <a:bodyPr wrap="none" rtlCol="0">
            <a:spAutoFit/>
          </a:bodyPr>
          <a:lstStyle/>
          <a:p>
            <a:pPr algn="ctr"/>
            <a:r>
              <a:rPr lang="en-US" sz="1400" noProof="0" dirty="0"/>
              <a:t>utilities</a:t>
            </a:r>
          </a:p>
          <a:p>
            <a:pPr algn="ctr"/>
            <a:r>
              <a:rPr lang="en-US" sz="1400" noProof="0" dirty="0"/>
              <a:t>= happiness</a:t>
            </a:r>
          </a:p>
        </p:txBody>
      </p:sp>
      <p:cxnSp>
        <p:nvCxnSpPr>
          <p:cNvPr id="6" name="Gerade Verbindung 5"/>
          <p:cNvCxnSpPr>
            <a:stCxn id="81" idx="0"/>
          </p:cNvCxnSpPr>
          <p:nvPr/>
        </p:nvCxnSpPr>
        <p:spPr>
          <a:xfrm>
            <a:off x="1998370" y="2203326"/>
            <a:ext cx="1133470" cy="29641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7" name="Ellipse 6"/>
          <p:cNvSpPr/>
          <p:nvPr/>
        </p:nvSpPr>
        <p:spPr>
          <a:xfrm>
            <a:off x="3347864"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Gleichschenkliges Dreieck 7"/>
          <p:cNvSpPr/>
          <p:nvPr/>
        </p:nvSpPr>
        <p:spPr>
          <a:xfrm>
            <a:off x="3059584" y="1347614"/>
            <a:ext cx="501176" cy="432048"/>
          </a:xfrm>
          <a:prstGeom prst="triangle">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Ellipse 8"/>
          <p:cNvSpPr/>
          <p:nvPr/>
        </p:nvSpPr>
        <p:spPr>
          <a:xfrm>
            <a:off x="3131592" y="1131590"/>
            <a:ext cx="360040" cy="360040"/>
          </a:xfrm>
          <a:prstGeom prst="ellipse">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feld 9"/>
          <p:cNvSpPr txBox="1"/>
          <p:nvPr/>
        </p:nvSpPr>
        <p:spPr>
          <a:xfrm>
            <a:off x="3821300" y="1689452"/>
            <a:ext cx="701666" cy="307777"/>
          </a:xfrm>
          <a:prstGeom prst="rect">
            <a:avLst/>
          </a:prstGeom>
          <a:noFill/>
        </p:spPr>
        <p:txBody>
          <a:bodyPr wrap="none" rtlCol="0">
            <a:spAutoFit/>
          </a:bodyPr>
          <a:lstStyle/>
          <a:p>
            <a:pPr algn="ctr"/>
            <a:r>
              <a:rPr lang="en-US" sz="1400" noProof="0" dirty="0"/>
              <a:t>desires</a:t>
            </a:r>
          </a:p>
        </p:txBody>
      </p:sp>
      <p:sp>
        <p:nvSpPr>
          <p:cNvPr id="11" name="Nach oben gekrümmter Pfeil 10"/>
          <p:cNvSpPr/>
          <p:nvPr/>
        </p:nvSpPr>
        <p:spPr>
          <a:xfrm>
            <a:off x="4499992" y="2427734"/>
            <a:ext cx="1008112" cy="360040"/>
          </a:xfrm>
          <a:prstGeom prst="curved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
        <p:nvSpPr>
          <p:cNvPr id="12" name="Ellipse 11"/>
          <p:cNvSpPr/>
          <p:nvPr/>
        </p:nvSpPr>
        <p:spPr>
          <a:xfrm>
            <a:off x="5220072"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feld 12"/>
          <p:cNvSpPr txBox="1"/>
          <p:nvPr/>
        </p:nvSpPr>
        <p:spPr>
          <a:xfrm>
            <a:off x="5520609" y="1689452"/>
            <a:ext cx="1047466" cy="307777"/>
          </a:xfrm>
          <a:prstGeom prst="rect">
            <a:avLst/>
          </a:prstGeom>
          <a:noFill/>
        </p:spPr>
        <p:txBody>
          <a:bodyPr wrap="none" rtlCol="0">
            <a:spAutoFit/>
          </a:bodyPr>
          <a:lstStyle/>
          <a:p>
            <a:pPr algn="ctr"/>
            <a:r>
              <a:rPr lang="en-US" sz="1400" noProof="0" dirty="0"/>
              <a:t>preferences</a:t>
            </a:r>
          </a:p>
        </p:txBody>
      </p:sp>
      <p:sp>
        <p:nvSpPr>
          <p:cNvPr id="14" name="Ellipse 13"/>
          <p:cNvSpPr/>
          <p:nvPr/>
        </p:nvSpPr>
        <p:spPr>
          <a:xfrm>
            <a:off x="7236296"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extfeld 14"/>
          <p:cNvSpPr txBox="1"/>
          <p:nvPr/>
        </p:nvSpPr>
        <p:spPr>
          <a:xfrm>
            <a:off x="7709964" y="1707654"/>
            <a:ext cx="708848" cy="307777"/>
          </a:xfrm>
          <a:prstGeom prst="rect">
            <a:avLst/>
          </a:prstGeom>
          <a:noFill/>
        </p:spPr>
        <p:txBody>
          <a:bodyPr wrap="none" rtlCol="0">
            <a:spAutoFit/>
          </a:bodyPr>
          <a:lstStyle/>
          <a:p>
            <a:pPr algn="ctr"/>
            <a:r>
              <a:rPr lang="en-US" sz="1400" noProof="0" dirty="0"/>
              <a:t>actions</a:t>
            </a:r>
          </a:p>
        </p:txBody>
      </p:sp>
      <p:grpSp>
        <p:nvGrpSpPr>
          <p:cNvPr id="16" name="Gruppieren 18"/>
          <p:cNvGrpSpPr/>
          <p:nvPr/>
        </p:nvGrpSpPr>
        <p:grpSpPr>
          <a:xfrm>
            <a:off x="1475656" y="1449710"/>
            <a:ext cx="383320" cy="495672"/>
            <a:chOff x="2051720" y="5093568"/>
            <a:chExt cx="501176" cy="648072"/>
          </a:xfrm>
          <a:solidFill>
            <a:srgbClr val="FFCC66"/>
          </a:solidFill>
        </p:grpSpPr>
        <p:sp>
          <p:nvSpPr>
            <p:cNvPr id="17" name="Gleichschenkliges Dreieck 16"/>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Ellipse 17"/>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uppieren 19"/>
          <p:cNvGrpSpPr/>
          <p:nvPr/>
        </p:nvGrpSpPr>
        <p:grpSpPr>
          <a:xfrm>
            <a:off x="1043608" y="1441326"/>
            <a:ext cx="383320" cy="495672"/>
            <a:chOff x="2051720" y="5093568"/>
            <a:chExt cx="501176" cy="648072"/>
          </a:xfrm>
          <a:solidFill>
            <a:srgbClr val="FFCC66"/>
          </a:solidFill>
        </p:grpSpPr>
        <p:sp>
          <p:nvSpPr>
            <p:cNvPr id="20" name="Gleichschenkliges Dreieck 19"/>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Ellipse 20"/>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2" name="Gruppieren 22"/>
          <p:cNvGrpSpPr/>
          <p:nvPr/>
        </p:nvGrpSpPr>
        <p:grpSpPr>
          <a:xfrm>
            <a:off x="611560" y="1432942"/>
            <a:ext cx="383320" cy="495672"/>
            <a:chOff x="2051720" y="5093568"/>
            <a:chExt cx="501176" cy="648072"/>
          </a:xfrm>
          <a:solidFill>
            <a:srgbClr val="FFCC66"/>
          </a:solidFill>
        </p:grpSpPr>
        <p:sp>
          <p:nvSpPr>
            <p:cNvPr id="23" name="Gleichschenkliges Dreieck 22"/>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Ellipse 23"/>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5" name="Gruppieren 25"/>
          <p:cNvGrpSpPr/>
          <p:nvPr/>
        </p:nvGrpSpPr>
        <p:grpSpPr>
          <a:xfrm>
            <a:off x="179512" y="1424558"/>
            <a:ext cx="383320" cy="495672"/>
            <a:chOff x="2051720" y="5093568"/>
            <a:chExt cx="501176" cy="648072"/>
          </a:xfrm>
          <a:solidFill>
            <a:srgbClr val="FFCC66"/>
          </a:solidFill>
        </p:grpSpPr>
        <p:sp>
          <p:nvSpPr>
            <p:cNvPr id="26" name="Gleichschenkliges Dreieck 25"/>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Ellipse 26"/>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8" name="Gruppieren 28"/>
          <p:cNvGrpSpPr/>
          <p:nvPr/>
        </p:nvGrpSpPr>
        <p:grpSpPr>
          <a:xfrm>
            <a:off x="1628056" y="1602110"/>
            <a:ext cx="383320" cy="495672"/>
            <a:chOff x="2051720" y="5093568"/>
            <a:chExt cx="501176" cy="648072"/>
          </a:xfrm>
          <a:solidFill>
            <a:srgbClr val="FFCC66"/>
          </a:solidFill>
        </p:grpSpPr>
        <p:sp>
          <p:nvSpPr>
            <p:cNvPr id="29" name="Gleichschenkliges Dreieck 28"/>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Ellipse 29"/>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1" name="Gruppieren 31"/>
          <p:cNvGrpSpPr/>
          <p:nvPr/>
        </p:nvGrpSpPr>
        <p:grpSpPr>
          <a:xfrm>
            <a:off x="1196008" y="1593726"/>
            <a:ext cx="383320" cy="495672"/>
            <a:chOff x="2051720" y="5093568"/>
            <a:chExt cx="501176" cy="648072"/>
          </a:xfrm>
          <a:solidFill>
            <a:srgbClr val="FFCC66"/>
          </a:solidFill>
        </p:grpSpPr>
        <p:sp>
          <p:nvSpPr>
            <p:cNvPr id="32" name="Gleichschenkliges Dreieck 31"/>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Ellipse 32"/>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4" name="Gruppieren 34"/>
          <p:cNvGrpSpPr/>
          <p:nvPr/>
        </p:nvGrpSpPr>
        <p:grpSpPr>
          <a:xfrm>
            <a:off x="763960" y="1585342"/>
            <a:ext cx="383320" cy="495672"/>
            <a:chOff x="2051720" y="5093568"/>
            <a:chExt cx="501176" cy="648072"/>
          </a:xfrm>
          <a:solidFill>
            <a:srgbClr val="FFCC66"/>
          </a:solidFill>
        </p:grpSpPr>
        <p:sp>
          <p:nvSpPr>
            <p:cNvPr id="35" name="Gleichschenkliges Dreieck 34"/>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Ellipse 35"/>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7" name="Gruppieren 37"/>
          <p:cNvGrpSpPr/>
          <p:nvPr/>
        </p:nvGrpSpPr>
        <p:grpSpPr>
          <a:xfrm>
            <a:off x="331912" y="1576958"/>
            <a:ext cx="383320" cy="495672"/>
            <a:chOff x="2051720" y="5093568"/>
            <a:chExt cx="501176" cy="648072"/>
          </a:xfrm>
          <a:solidFill>
            <a:srgbClr val="FFCC66"/>
          </a:solidFill>
        </p:grpSpPr>
        <p:sp>
          <p:nvSpPr>
            <p:cNvPr id="38" name="Gleichschenkliges Dreieck 37"/>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 name="Ellipse 38"/>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0" name="Gruppieren 40"/>
          <p:cNvGrpSpPr/>
          <p:nvPr/>
        </p:nvGrpSpPr>
        <p:grpSpPr>
          <a:xfrm>
            <a:off x="1780456" y="1754510"/>
            <a:ext cx="383320" cy="495672"/>
            <a:chOff x="2051720" y="5093568"/>
            <a:chExt cx="501176" cy="648072"/>
          </a:xfrm>
          <a:solidFill>
            <a:srgbClr val="FFC000"/>
          </a:solidFill>
        </p:grpSpPr>
        <p:sp>
          <p:nvSpPr>
            <p:cNvPr id="41" name="Gleichschenkliges Dreieck 40"/>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2" name="Ellipse 41"/>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3" name="Gruppieren 43"/>
          <p:cNvGrpSpPr/>
          <p:nvPr/>
        </p:nvGrpSpPr>
        <p:grpSpPr>
          <a:xfrm>
            <a:off x="1348408" y="1746126"/>
            <a:ext cx="383320" cy="495672"/>
            <a:chOff x="2051720" y="5093568"/>
            <a:chExt cx="501176" cy="648072"/>
          </a:xfrm>
          <a:solidFill>
            <a:srgbClr val="FFCC66"/>
          </a:solidFill>
        </p:grpSpPr>
        <p:sp>
          <p:nvSpPr>
            <p:cNvPr id="44" name="Gleichschenkliges Dreieck 43"/>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5" name="Ellipse 44"/>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6" name="Gruppieren 46"/>
          <p:cNvGrpSpPr/>
          <p:nvPr/>
        </p:nvGrpSpPr>
        <p:grpSpPr>
          <a:xfrm>
            <a:off x="916360" y="1737742"/>
            <a:ext cx="383320" cy="495672"/>
            <a:chOff x="2051720" y="5093568"/>
            <a:chExt cx="501176" cy="648072"/>
          </a:xfrm>
          <a:solidFill>
            <a:srgbClr val="FFCC66"/>
          </a:solidFill>
        </p:grpSpPr>
        <p:sp>
          <p:nvSpPr>
            <p:cNvPr id="47" name="Gleichschenkliges Dreieck 46"/>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8" name="Ellipse 47"/>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9" name="Gruppieren 49"/>
          <p:cNvGrpSpPr/>
          <p:nvPr/>
        </p:nvGrpSpPr>
        <p:grpSpPr>
          <a:xfrm>
            <a:off x="484312" y="1729358"/>
            <a:ext cx="383320" cy="495672"/>
            <a:chOff x="2051720" y="5093568"/>
            <a:chExt cx="501176" cy="648072"/>
          </a:xfrm>
          <a:solidFill>
            <a:srgbClr val="FFCC66"/>
          </a:solidFill>
        </p:grpSpPr>
        <p:sp>
          <p:nvSpPr>
            <p:cNvPr id="50" name="Gleichschenkliges Dreieck 49"/>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Ellipse 50"/>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2" name="Gruppieren 52"/>
          <p:cNvGrpSpPr/>
          <p:nvPr/>
        </p:nvGrpSpPr>
        <p:grpSpPr>
          <a:xfrm>
            <a:off x="1932856" y="1906910"/>
            <a:ext cx="383320" cy="495672"/>
            <a:chOff x="2051720" y="5093568"/>
            <a:chExt cx="501176" cy="648072"/>
          </a:xfrm>
          <a:solidFill>
            <a:srgbClr val="FFCC66"/>
          </a:solidFill>
        </p:grpSpPr>
        <p:sp>
          <p:nvSpPr>
            <p:cNvPr id="53" name="Gleichschenkliges Dreieck 52"/>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Ellipse 53"/>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5" name="Gruppieren 55"/>
          <p:cNvGrpSpPr/>
          <p:nvPr/>
        </p:nvGrpSpPr>
        <p:grpSpPr>
          <a:xfrm>
            <a:off x="1500808" y="1898526"/>
            <a:ext cx="383320" cy="495672"/>
            <a:chOff x="2051720" y="5093568"/>
            <a:chExt cx="501176" cy="648072"/>
          </a:xfrm>
          <a:solidFill>
            <a:srgbClr val="FFCC66"/>
          </a:solidFill>
        </p:grpSpPr>
        <p:sp>
          <p:nvSpPr>
            <p:cNvPr id="56" name="Gleichschenkliges Dreieck 55"/>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7" name="Ellipse 56"/>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8" name="Gruppieren 58"/>
          <p:cNvGrpSpPr/>
          <p:nvPr/>
        </p:nvGrpSpPr>
        <p:grpSpPr>
          <a:xfrm>
            <a:off x="1068760" y="1890142"/>
            <a:ext cx="383320" cy="495672"/>
            <a:chOff x="2051720" y="5093568"/>
            <a:chExt cx="501176" cy="648072"/>
          </a:xfrm>
          <a:solidFill>
            <a:srgbClr val="FFCC66"/>
          </a:solidFill>
        </p:grpSpPr>
        <p:sp>
          <p:nvSpPr>
            <p:cNvPr id="59" name="Gleichschenkliges Dreieck 58"/>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0" name="Ellipse 59"/>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1" name="Gruppieren 61"/>
          <p:cNvGrpSpPr/>
          <p:nvPr/>
        </p:nvGrpSpPr>
        <p:grpSpPr>
          <a:xfrm>
            <a:off x="636712" y="1881758"/>
            <a:ext cx="383320" cy="495672"/>
            <a:chOff x="2051720" y="5093568"/>
            <a:chExt cx="501176" cy="648072"/>
          </a:xfrm>
          <a:solidFill>
            <a:srgbClr val="FFCC66"/>
          </a:solidFill>
        </p:grpSpPr>
        <p:sp>
          <p:nvSpPr>
            <p:cNvPr id="62" name="Gleichschenkliges Dreieck 61"/>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Ellipse 62"/>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4" name="Gruppieren 64"/>
          <p:cNvGrpSpPr/>
          <p:nvPr/>
        </p:nvGrpSpPr>
        <p:grpSpPr>
          <a:xfrm>
            <a:off x="2085256" y="2059310"/>
            <a:ext cx="383320" cy="495672"/>
            <a:chOff x="2051720" y="5093568"/>
            <a:chExt cx="501176" cy="648072"/>
          </a:xfrm>
          <a:solidFill>
            <a:srgbClr val="FFCC66"/>
          </a:solidFill>
        </p:grpSpPr>
        <p:sp>
          <p:nvSpPr>
            <p:cNvPr id="65" name="Gleichschenkliges Dreieck 64"/>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6" name="Ellipse 65"/>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7" name="Gruppieren 67"/>
          <p:cNvGrpSpPr/>
          <p:nvPr/>
        </p:nvGrpSpPr>
        <p:grpSpPr>
          <a:xfrm>
            <a:off x="1653208" y="2050926"/>
            <a:ext cx="383320" cy="495672"/>
            <a:chOff x="2051720" y="5093568"/>
            <a:chExt cx="501176" cy="648072"/>
          </a:xfrm>
          <a:solidFill>
            <a:srgbClr val="FFCC66"/>
          </a:solidFill>
        </p:grpSpPr>
        <p:sp>
          <p:nvSpPr>
            <p:cNvPr id="68" name="Gleichschenkliges Dreieck 67"/>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9" name="Ellipse 68"/>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0" name="Gruppieren 70"/>
          <p:cNvGrpSpPr/>
          <p:nvPr/>
        </p:nvGrpSpPr>
        <p:grpSpPr>
          <a:xfrm>
            <a:off x="1221160" y="2042542"/>
            <a:ext cx="383320" cy="495672"/>
            <a:chOff x="2051720" y="5093568"/>
            <a:chExt cx="501176" cy="648072"/>
          </a:xfrm>
          <a:solidFill>
            <a:srgbClr val="FFCC66"/>
          </a:solidFill>
        </p:grpSpPr>
        <p:sp>
          <p:nvSpPr>
            <p:cNvPr id="71" name="Gleichschenkliges Dreieck 70"/>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2" name="Ellipse 71"/>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3" name="Gruppieren 73"/>
          <p:cNvGrpSpPr/>
          <p:nvPr/>
        </p:nvGrpSpPr>
        <p:grpSpPr>
          <a:xfrm>
            <a:off x="789112" y="2034158"/>
            <a:ext cx="383320" cy="495672"/>
            <a:chOff x="2051720" y="5093568"/>
            <a:chExt cx="501176" cy="648072"/>
          </a:xfrm>
          <a:solidFill>
            <a:srgbClr val="FFCC66"/>
          </a:solidFill>
        </p:grpSpPr>
        <p:sp>
          <p:nvSpPr>
            <p:cNvPr id="74" name="Gleichschenkliges Dreieck 73"/>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5" name="Ellipse 74"/>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6" name="Gruppieren 76"/>
          <p:cNvGrpSpPr/>
          <p:nvPr/>
        </p:nvGrpSpPr>
        <p:grpSpPr>
          <a:xfrm>
            <a:off x="2237656" y="2211710"/>
            <a:ext cx="383320" cy="495672"/>
            <a:chOff x="2051720" y="5093568"/>
            <a:chExt cx="501176" cy="648072"/>
          </a:xfrm>
          <a:solidFill>
            <a:srgbClr val="FFCC66"/>
          </a:solidFill>
        </p:grpSpPr>
        <p:sp>
          <p:nvSpPr>
            <p:cNvPr id="77" name="Gleichschenkliges Dreieck 76"/>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8" name="Ellipse 77"/>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9" name="Gruppieren 79"/>
          <p:cNvGrpSpPr/>
          <p:nvPr/>
        </p:nvGrpSpPr>
        <p:grpSpPr>
          <a:xfrm>
            <a:off x="1805608" y="2203326"/>
            <a:ext cx="383320" cy="495672"/>
            <a:chOff x="2051720" y="5093568"/>
            <a:chExt cx="501176" cy="648072"/>
          </a:xfrm>
          <a:solidFill>
            <a:srgbClr val="FFCC66"/>
          </a:solidFill>
        </p:grpSpPr>
        <p:sp>
          <p:nvSpPr>
            <p:cNvPr id="80" name="Gleichschenkliges Dreieck 79"/>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1" name="Ellipse 80"/>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2" name="Gruppieren 82"/>
          <p:cNvGrpSpPr/>
          <p:nvPr/>
        </p:nvGrpSpPr>
        <p:grpSpPr>
          <a:xfrm>
            <a:off x="1373560" y="2194942"/>
            <a:ext cx="383320" cy="495672"/>
            <a:chOff x="2051720" y="5093568"/>
            <a:chExt cx="501176" cy="648072"/>
          </a:xfrm>
          <a:solidFill>
            <a:srgbClr val="FFCC66"/>
          </a:solidFill>
        </p:grpSpPr>
        <p:sp>
          <p:nvSpPr>
            <p:cNvPr id="83" name="Gleichschenkliges Dreieck 82"/>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4" name="Ellipse 83"/>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5" name="Gruppieren 85"/>
          <p:cNvGrpSpPr/>
          <p:nvPr/>
        </p:nvGrpSpPr>
        <p:grpSpPr>
          <a:xfrm>
            <a:off x="941512" y="2186558"/>
            <a:ext cx="383320" cy="495672"/>
            <a:chOff x="2051720" y="5093568"/>
            <a:chExt cx="501176" cy="648072"/>
          </a:xfrm>
          <a:solidFill>
            <a:srgbClr val="FFCC66"/>
          </a:solidFill>
        </p:grpSpPr>
        <p:sp>
          <p:nvSpPr>
            <p:cNvPr id="86" name="Gleichschenkliges Dreieck 85"/>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7" name="Ellipse 86"/>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8" name="Gruppieren 88"/>
          <p:cNvGrpSpPr/>
          <p:nvPr/>
        </p:nvGrpSpPr>
        <p:grpSpPr>
          <a:xfrm>
            <a:off x="2390056" y="2364110"/>
            <a:ext cx="383320" cy="495672"/>
            <a:chOff x="2051720" y="5093568"/>
            <a:chExt cx="501176" cy="648072"/>
          </a:xfrm>
          <a:solidFill>
            <a:srgbClr val="FFCC66"/>
          </a:solidFill>
        </p:grpSpPr>
        <p:sp>
          <p:nvSpPr>
            <p:cNvPr id="89" name="Gleichschenkliges Dreieck 88"/>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0" name="Ellipse 89"/>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1" name="Gruppieren 91"/>
          <p:cNvGrpSpPr/>
          <p:nvPr/>
        </p:nvGrpSpPr>
        <p:grpSpPr>
          <a:xfrm>
            <a:off x="1958008" y="2355726"/>
            <a:ext cx="383320" cy="495672"/>
            <a:chOff x="2051720" y="5093568"/>
            <a:chExt cx="501176" cy="648072"/>
          </a:xfrm>
          <a:solidFill>
            <a:srgbClr val="FFCC66"/>
          </a:solidFill>
        </p:grpSpPr>
        <p:sp>
          <p:nvSpPr>
            <p:cNvPr id="92" name="Gleichschenkliges Dreieck 91"/>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3" name="Ellipse 92"/>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4" name="Gruppieren 94"/>
          <p:cNvGrpSpPr/>
          <p:nvPr/>
        </p:nvGrpSpPr>
        <p:grpSpPr>
          <a:xfrm>
            <a:off x="1525960" y="2347342"/>
            <a:ext cx="383320" cy="495672"/>
            <a:chOff x="2051720" y="5093568"/>
            <a:chExt cx="501176" cy="648072"/>
          </a:xfrm>
          <a:solidFill>
            <a:srgbClr val="FFCC66"/>
          </a:solidFill>
        </p:grpSpPr>
        <p:sp>
          <p:nvSpPr>
            <p:cNvPr id="95" name="Gleichschenkliges Dreieck 94"/>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6" name="Ellipse 95"/>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7" name="Gruppieren 97"/>
          <p:cNvGrpSpPr/>
          <p:nvPr/>
        </p:nvGrpSpPr>
        <p:grpSpPr>
          <a:xfrm>
            <a:off x="1093912" y="2338958"/>
            <a:ext cx="383320" cy="495672"/>
            <a:chOff x="2051720" y="5093568"/>
            <a:chExt cx="501176" cy="648072"/>
          </a:xfrm>
          <a:solidFill>
            <a:srgbClr val="FFCC66"/>
          </a:solidFill>
        </p:grpSpPr>
        <p:sp>
          <p:nvSpPr>
            <p:cNvPr id="98" name="Gleichschenkliges Dreieck 97"/>
            <p:cNvSpPr/>
            <p:nvPr/>
          </p:nvSpPr>
          <p:spPr>
            <a:xfrm>
              <a:off x="2051720" y="5309592"/>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9" name="Ellipse 98"/>
            <p:cNvSpPr/>
            <p:nvPr/>
          </p:nvSpPr>
          <p:spPr>
            <a:xfrm>
              <a:off x="2123728" y="5093568"/>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0" name="Textfeld 99"/>
          <p:cNvSpPr txBox="1"/>
          <p:nvPr/>
        </p:nvSpPr>
        <p:spPr>
          <a:xfrm>
            <a:off x="241354" y="915566"/>
            <a:ext cx="853118" cy="307777"/>
          </a:xfrm>
          <a:prstGeom prst="rect">
            <a:avLst/>
          </a:prstGeom>
          <a:noFill/>
        </p:spPr>
        <p:txBody>
          <a:bodyPr wrap="none" rtlCol="0">
            <a:spAutoFit/>
          </a:bodyPr>
          <a:lstStyle/>
          <a:p>
            <a:r>
              <a:rPr lang="en-US" sz="1400" noProof="0" dirty="0"/>
              <a:t>economy</a:t>
            </a:r>
          </a:p>
        </p:txBody>
      </p:sp>
      <p:cxnSp>
        <p:nvCxnSpPr>
          <p:cNvPr id="101" name="Gerade Verbindung 100"/>
          <p:cNvCxnSpPr/>
          <p:nvPr/>
        </p:nvCxnSpPr>
        <p:spPr>
          <a:xfrm flipV="1">
            <a:off x="1979712" y="915566"/>
            <a:ext cx="1152128" cy="792088"/>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02" name="Textfeld 101"/>
          <p:cNvSpPr txBox="1"/>
          <p:nvPr/>
        </p:nvSpPr>
        <p:spPr>
          <a:xfrm>
            <a:off x="3491880" y="843558"/>
            <a:ext cx="598304" cy="307777"/>
          </a:xfrm>
          <a:prstGeom prst="rect">
            <a:avLst/>
          </a:prstGeom>
          <a:noFill/>
        </p:spPr>
        <p:txBody>
          <a:bodyPr wrap="none" rtlCol="0">
            <a:spAutoFit/>
          </a:bodyPr>
          <a:lstStyle/>
          <a:p>
            <a:pPr algn="ctr"/>
            <a:r>
              <a:rPr lang="en-US" sz="1400" noProof="0" dirty="0"/>
              <a:t>agent</a:t>
            </a:r>
          </a:p>
        </p:txBody>
      </p:sp>
      <p:sp>
        <p:nvSpPr>
          <p:cNvPr id="103" name="Ellipse 102"/>
          <p:cNvSpPr/>
          <p:nvPr/>
        </p:nvSpPr>
        <p:spPr>
          <a:xfrm>
            <a:off x="5076056" y="990307"/>
            <a:ext cx="3943253" cy="1799928"/>
          </a:xfrm>
          <a:prstGeom prst="ellipse">
            <a:avLst/>
          </a:prstGeom>
          <a:noFill/>
          <a:ln>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 name="Textfeld 103"/>
          <p:cNvSpPr txBox="1"/>
          <p:nvPr/>
        </p:nvSpPr>
        <p:spPr>
          <a:xfrm>
            <a:off x="6417798" y="1059582"/>
            <a:ext cx="1259768" cy="307777"/>
          </a:xfrm>
          <a:prstGeom prst="rect">
            <a:avLst/>
          </a:prstGeom>
          <a:noFill/>
        </p:spPr>
        <p:txBody>
          <a:bodyPr wrap="none" rtlCol="0">
            <a:spAutoFit/>
          </a:bodyPr>
          <a:lstStyle/>
          <a:p>
            <a:pPr algn="ctr"/>
            <a:r>
              <a:rPr lang="en-US" sz="1400" noProof="0" dirty="0"/>
              <a:t>rational choice</a:t>
            </a:r>
          </a:p>
        </p:txBody>
      </p:sp>
      <p:sp>
        <p:nvSpPr>
          <p:cNvPr id="105" name="Rechteck 104"/>
          <p:cNvSpPr/>
          <p:nvPr/>
        </p:nvSpPr>
        <p:spPr>
          <a:xfrm>
            <a:off x="251520" y="3867894"/>
            <a:ext cx="8784976" cy="115212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6" name="Textfeld 105"/>
          <p:cNvSpPr txBox="1"/>
          <p:nvPr/>
        </p:nvSpPr>
        <p:spPr>
          <a:xfrm>
            <a:off x="1475656" y="3928433"/>
            <a:ext cx="7488832" cy="1031051"/>
          </a:xfrm>
          <a:prstGeom prst="rect">
            <a:avLst/>
          </a:prstGeom>
          <a:noFill/>
        </p:spPr>
        <p:txBody>
          <a:bodyPr wrap="square" rtlCol="0">
            <a:spAutoFit/>
          </a:bodyPr>
          <a:lstStyle/>
          <a:p>
            <a:pPr algn="just"/>
            <a:r>
              <a:rPr lang="en-US" sz="1400" noProof="0" dirty="0"/>
              <a:t>The principle of utility judges any action to be right by the tendency it appears to have to augment or diminish the happiness of the party whose interests are in question … if that party by the community the happiness of the community, if a particular individual, the happiness of that individual.</a:t>
            </a:r>
          </a:p>
          <a:p>
            <a:pPr algn="just"/>
            <a:endParaRPr lang="en-US" sz="500" noProof="0" dirty="0"/>
          </a:p>
          <a:p>
            <a:pPr algn="r"/>
            <a:r>
              <a:rPr lang="en-US" sz="1400" noProof="0" dirty="0"/>
              <a:t>(</a:t>
            </a:r>
            <a:r>
              <a:rPr lang="en-US" sz="1400" cap="small" noProof="0" dirty="0"/>
              <a:t>Jeremy Bentham</a:t>
            </a:r>
            <a:r>
              <a:rPr lang="en-US" sz="1400" noProof="0" dirty="0"/>
              <a:t>, 1748 – 1832)</a:t>
            </a:r>
          </a:p>
        </p:txBody>
      </p:sp>
      <p:pic>
        <p:nvPicPr>
          <p:cNvPr id="107" name="Picture 2" descr="https://upload.wikimedia.org/wikipedia/commons/c/c8/Jeremy_Bentham_by_Henry_William_Pickersgill_detail.jpg"/>
          <p:cNvPicPr>
            <a:picLocks noChangeAspect="1" noChangeArrowheads="1"/>
          </p:cNvPicPr>
          <p:nvPr/>
        </p:nvPicPr>
        <p:blipFill>
          <a:blip r:embed="rId2" cstate="print"/>
          <a:srcRect/>
          <a:stretch>
            <a:fillRect/>
          </a:stretch>
        </p:blipFill>
        <p:spPr bwMode="auto">
          <a:xfrm>
            <a:off x="107504" y="3003798"/>
            <a:ext cx="1272405" cy="172819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5" grpId="0" animBg="1"/>
      <p:bldP spid="10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FC7D33-1DFC-D1AC-415B-E1031301A976}"/>
              </a:ext>
            </a:extLst>
          </p:cNvPr>
          <p:cNvSpPr>
            <a:spLocks noGrp="1"/>
          </p:cNvSpPr>
          <p:nvPr>
            <p:ph type="title"/>
          </p:nvPr>
        </p:nvSpPr>
        <p:spPr/>
        <p:txBody>
          <a:bodyPr/>
          <a:lstStyle/>
          <a:p>
            <a:r>
              <a:rPr lang="en-US" noProof="0" dirty="0"/>
              <a:t>In Game Theory we put ourselves into the shoes of the other self-optimizing player and evaluate the use/ utility of an event/ outcome for them</a:t>
            </a:r>
          </a:p>
        </p:txBody>
      </p:sp>
      <p:grpSp>
        <p:nvGrpSpPr>
          <p:cNvPr id="5" name="Gruppieren 4">
            <a:extLst>
              <a:ext uri="{FF2B5EF4-FFF2-40B4-BE49-F238E27FC236}">
                <a16:creationId xmlns:a16="http://schemas.microsoft.com/office/drawing/2014/main" id="{15C0A7AF-CA3A-6A69-4018-9B65DB6F0EAE}"/>
              </a:ext>
            </a:extLst>
          </p:cNvPr>
          <p:cNvGrpSpPr/>
          <p:nvPr/>
        </p:nvGrpSpPr>
        <p:grpSpPr>
          <a:xfrm>
            <a:off x="323528" y="3400676"/>
            <a:ext cx="501176" cy="648072"/>
            <a:chOff x="3059584" y="1131590"/>
            <a:chExt cx="501176" cy="648072"/>
          </a:xfrm>
          <a:solidFill>
            <a:srgbClr val="C00000"/>
          </a:solidFill>
        </p:grpSpPr>
        <p:sp>
          <p:nvSpPr>
            <p:cNvPr id="3" name="Gleichschenkliges Dreieck 2">
              <a:extLst>
                <a:ext uri="{FF2B5EF4-FFF2-40B4-BE49-F238E27FC236}">
                  <a16:creationId xmlns:a16="http://schemas.microsoft.com/office/drawing/2014/main" id="{6B2AF97D-375C-6812-3C47-33BA484ABCA1}"/>
                </a:ext>
              </a:extLst>
            </p:cNvPr>
            <p:cNvSpPr/>
            <p:nvPr/>
          </p:nvSpPr>
          <p:spPr>
            <a:xfrm>
              <a:off x="3059584" y="1347614"/>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Ellipse 3">
              <a:extLst>
                <a:ext uri="{FF2B5EF4-FFF2-40B4-BE49-F238E27FC236}">
                  <a16:creationId xmlns:a16="http://schemas.microsoft.com/office/drawing/2014/main" id="{F12046EA-7F46-A0C9-4512-89EE95CBE6F5}"/>
                </a:ext>
              </a:extLst>
            </p:cNvPr>
            <p:cNvSpPr/>
            <p:nvPr/>
          </p:nvSpPr>
          <p:spPr>
            <a:xfrm>
              <a:off x="3131592" y="1131590"/>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uppieren 5">
            <a:extLst>
              <a:ext uri="{FF2B5EF4-FFF2-40B4-BE49-F238E27FC236}">
                <a16:creationId xmlns:a16="http://schemas.microsoft.com/office/drawing/2014/main" id="{10973F55-44F2-06D7-E863-C5ABDBFA0982}"/>
              </a:ext>
            </a:extLst>
          </p:cNvPr>
          <p:cNvGrpSpPr/>
          <p:nvPr/>
        </p:nvGrpSpPr>
        <p:grpSpPr>
          <a:xfrm>
            <a:off x="2537554" y="1131590"/>
            <a:ext cx="501176" cy="648072"/>
            <a:chOff x="3059584" y="1131590"/>
            <a:chExt cx="501176" cy="648072"/>
          </a:xfrm>
          <a:solidFill>
            <a:schemeClr val="accent1"/>
          </a:solidFill>
        </p:grpSpPr>
        <p:sp>
          <p:nvSpPr>
            <p:cNvPr id="7" name="Gleichschenkliges Dreieck 6">
              <a:extLst>
                <a:ext uri="{FF2B5EF4-FFF2-40B4-BE49-F238E27FC236}">
                  <a16:creationId xmlns:a16="http://schemas.microsoft.com/office/drawing/2014/main" id="{9FBF8DA8-A5B7-A9C9-B163-BC071D22D4CE}"/>
                </a:ext>
              </a:extLst>
            </p:cNvPr>
            <p:cNvSpPr/>
            <p:nvPr/>
          </p:nvSpPr>
          <p:spPr>
            <a:xfrm>
              <a:off x="3059584" y="1347614"/>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Ellipse 7">
              <a:extLst>
                <a:ext uri="{FF2B5EF4-FFF2-40B4-BE49-F238E27FC236}">
                  <a16:creationId xmlns:a16="http://schemas.microsoft.com/office/drawing/2014/main" id="{97215BBC-99B5-0CB9-8A48-1B48A5DC284B}"/>
                </a:ext>
              </a:extLst>
            </p:cNvPr>
            <p:cNvSpPr/>
            <p:nvPr/>
          </p:nvSpPr>
          <p:spPr>
            <a:xfrm>
              <a:off x="3131592" y="1131590"/>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3" name="Gruppieren 32">
            <a:extLst>
              <a:ext uri="{FF2B5EF4-FFF2-40B4-BE49-F238E27FC236}">
                <a16:creationId xmlns:a16="http://schemas.microsoft.com/office/drawing/2014/main" id="{D9F70746-6FD2-42E6-5FAF-1CC8BB56E265}"/>
              </a:ext>
            </a:extLst>
          </p:cNvPr>
          <p:cNvGrpSpPr/>
          <p:nvPr/>
        </p:nvGrpSpPr>
        <p:grpSpPr>
          <a:xfrm>
            <a:off x="971600" y="1923678"/>
            <a:ext cx="2886016" cy="2880320"/>
            <a:chOff x="3126144" y="1851670"/>
            <a:chExt cx="2886016" cy="2880320"/>
          </a:xfrm>
        </p:grpSpPr>
        <p:sp>
          <p:nvSpPr>
            <p:cNvPr id="9" name="Rechteck 8">
              <a:extLst>
                <a:ext uri="{FF2B5EF4-FFF2-40B4-BE49-F238E27FC236}">
                  <a16:creationId xmlns:a16="http://schemas.microsoft.com/office/drawing/2014/main" id="{69DE6608-9C9A-9674-3804-13DA2B1F4BE4}"/>
                </a:ext>
              </a:extLst>
            </p:cNvPr>
            <p:cNvSpPr/>
            <p:nvPr/>
          </p:nvSpPr>
          <p:spPr>
            <a:xfrm>
              <a:off x="3851920" y="1851670"/>
              <a:ext cx="2160240"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hteck 9">
              <a:extLst>
                <a:ext uri="{FF2B5EF4-FFF2-40B4-BE49-F238E27FC236}">
                  <a16:creationId xmlns:a16="http://schemas.microsoft.com/office/drawing/2014/main" id="{A05AA78F-5C0B-C572-73F0-C68FC60639F1}"/>
                </a:ext>
              </a:extLst>
            </p:cNvPr>
            <p:cNvSpPr/>
            <p:nvPr/>
          </p:nvSpPr>
          <p:spPr>
            <a:xfrm>
              <a:off x="3131840" y="2571750"/>
              <a:ext cx="2880320" cy="216024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2" name="Gerader Verbinder 11">
              <a:extLst>
                <a:ext uri="{FF2B5EF4-FFF2-40B4-BE49-F238E27FC236}">
                  <a16:creationId xmlns:a16="http://schemas.microsoft.com/office/drawing/2014/main" id="{89F50E71-3FFE-9EA4-21E9-27A4C29B9616}"/>
                </a:ext>
              </a:extLst>
            </p:cNvPr>
            <p:cNvCxnSpPr>
              <a:endCxn id="10" idx="2"/>
            </p:cNvCxnSpPr>
            <p:nvPr/>
          </p:nvCxnSpPr>
          <p:spPr>
            <a:xfrm>
              <a:off x="4572000" y="1851670"/>
              <a:ext cx="0" cy="288032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4" name="Gerader Verbinder 13">
              <a:extLst>
                <a:ext uri="{FF2B5EF4-FFF2-40B4-BE49-F238E27FC236}">
                  <a16:creationId xmlns:a16="http://schemas.microsoft.com/office/drawing/2014/main" id="{390069E0-ED34-03BD-1AB9-7084A7A69F9E}"/>
                </a:ext>
              </a:extLst>
            </p:cNvPr>
            <p:cNvCxnSpPr/>
            <p:nvPr/>
          </p:nvCxnSpPr>
          <p:spPr>
            <a:xfrm>
              <a:off x="5292080" y="1851670"/>
              <a:ext cx="0" cy="288032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6" name="Gerader Verbinder 15">
              <a:extLst>
                <a:ext uri="{FF2B5EF4-FFF2-40B4-BE49-F238E27FC236}">
                  <a16:creationId xmlns:a16="http://schemas.microsoft.com/office/drawing/2014/main" id="{DC97D9FD-DEBC-559D-1F25-C52EB2AFFACF}"/>
                </a:ext>
              </a:extLst>
            </p:cNvPr>
            <p:cNvCxnSpPr/>
            <p:nvPr/>
          </p:nvCxnSpPr>
          <p:spPr>
            <a:xfrm>
              <a:off x="3131840" y="3291830"/>
              <a:ext cx="288032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Gerader Verbinder 16">
              <a:extLst>
                <a:ext uri="{FF2B5EF4-FFF2-40B4-BE49-F238E27FC236}">
                  <a16:creationId xmlns:a16="http://schemas.microsoft.com/office/drawing/2014/main" id="{B02B0723-2BA2-C65D-841C-944D40E3B7CC}"/>
                </a:ext>
              </a:extLst>
            </p:cNvPr>
            <p:cNvCxnSpPr/>
            <p:nvPr/>
          </p:nvCxnSpPr>
          <p:spPr>
            <a:xfrm>
              <a:off x="3131840" y="4011910"/>
              <a:ext cx="288032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8" name="Textfeld 17">
              <a:extLst>
                <a:ext uri="{FF2B5EF4-FFF2-40B4-BE49-F238E27FC236}">
                  <a16:creationId xmlns:a16="http://schemas.microsoft.com/office/drawing/2014/main" id="{2B087160-AAB3-E31B-A672-C41C667BB556}"/>
                </a:ext>
              </a:extLst>
            </p:cNvPr>
            <p:cNvSpPr txBox="1"/>
            <p:nvPr/>
          </p:nvSpPr>
          <p:spPr>
            <a:xfrm>
              <a:off x="3872898" y="1966069"/>
              <a:ext cx="684866" cy="461665"/>
            </a:xfrm>
            <a:prstGeom prst="rect">
              <a:avLst/>
            </a:prstGeom>
            <a:noFill/>
          </p:spPr>
          <p:txBody>
            <a:bodyPr wrap="none" rtlCol="0">
              <a:spAutoFit/>
            </a:bodyPr>
            <a:lstStyle/>
            <a:p>
              <a:pPr algn="ctr"/>
              <a:r>
                <a:rPr lang="en-US" sz="1200" noProof="0" dirty="0">
                  <a:solidFill>
                    <a:schemeClr val="tx2"/>
                  </a:solidFill>
                </a:rPr>
                <a:t>strategy</a:t>
              </a:r>
            </a:p>
            <a:p>
              <a:pPr algn="ctr"/>
              <a:r>
                <a:rPr lang="en-US" sz="1200" noProof="0" dirty="0">
                  <a:solidFill>
                    <a:schemeClr val="tx2"/>
                  </a:solidFill>
                </a:rPr>
                <a:t>1</a:t>
              </a:r>
            </a:p>
          </p:txBody>
        </p:sp>
        <p:sp>
          <p:nvSpPr>
            <p:cNvPr id="19" name="Textfeld 18">
              <a:extLst>
                <a:ext uri="{FF2B5EF4-FFF2-40B4-BE49-F238E27FC236}">
                  <a16:creationId xmlns:a16="http://schemas.microsoft.com/office/drawing/2014/main" id="{5CBF9E0A-F182-1901-BB85-CEE91B05957A}"/>
                </a:ext>
              </a:extLst>
            </p:cNvPr>
            <p:cNvSpPr txBox="1"/>
            <p:nvPr/>
          </p:nvSpPr>
          <p:spPr>
            <a:xfrm>
              <a:off x="4569976" y="1966069"/>
              <a:ext cx="722104" cy="461665"/>
            </a:xfrm>
            <a:prstGeom prst="rect">
              <a:avLst/>
            </a:prstGeom>
            <a:noFill/>
          </p:spPr>
          <p:txBody>
            <a:bodyPr wrap="square" rtlCol="0">
              <a:spAutoFit/>
            </a:bodyPr>
            <a:lstStyle/>
            <a:p>
              <a:pPr algn="ctr"/>
              <a:r>
                <a:rPr lang="en-US" sz="1200" noProof="0" dirty="0">
                  <a:solidFill>
                    <a:schemeClr val="tx2"/>
                  </a:solidFill>
                </a:rPr>
                <a:t>strategy</a:t>
              </a:r>
            </a:p>
            <a:p>
              <a:pPr algn="ctr"/>
              <a:r>
                <a:rPr lang="en-US" sz="1200" noProof="0" dirty="0">
                  <a:solidFill>
                    <a:schemeClr val="tx2"/>
                  </a:solidFill>
                </a:rPr>
                <a:t>2</a:t>
              </a:r>
            </a:p>
          </p:txBody>
        </p:sp>
        <p:sp>
          <p:nvSpPr>
            <p:cNvPr id="20" name="Textfeld 19">
              <a:extLst>
                <a:ext uri="{FF2B5EF4-FFF2-40B4-BE49-F238E27FC236}">
                  <a16:creationId xmlns:a16="http://schemas.microsoft.com/office/drawing/2014/main" id="{7E47CD3E-6821-B25F-FF52-47432CDE4FDC}"/>
                </a:ext>
              </a:extLst>
            </p:cNvPr>
            <p:cNvSpPr txBox="1"/>
            <p:nvPr/>
          </p:nvSpPr>
          <p:spPr>
            <a:xfrm>
              <a:off x="5304292" y="1966069"/>
              <a:ext cx="705843" cy="461665"/>
            </a:xfrm>
            <a:prstGeom prst="rect">
              <a:avLst/>
            </a:prstGeom>
            <a:noFill/>
          </p:spPr>
          <p:txBody>
            <a:bodyPr wrap="square" rtlCol="0">
              <a:spAutoFit/>
            </a:bodyPr>
            <a:lstStyle/>
            <a:p>
              <a:pPr algn="ctr"/>
              <a:r>
                <a:rPr lang="en-US" sz="1200" noProof="0" dirty="0">
                  <a:solidFill>
                    <a:schemeClr val="tx2"/>
                  </a:solidFill>
                </a:rPr>
                <a:t>strategy</a:t>
              </a:r>
            </a:p>
            <a:p>
              <a:pPr algn="ctr"/>
              <a:r>
                <a:rPr lang="en-US" sz="1200" noProof="0" dirty="0">
                  <a:solidFill>
                    <a:schemeClr val="tx2"/>
                  </a:solidFill>
                </a:rPr>
                <a:t>…</a:t>
              </a:r>
            </a:p>
          </p:txBody>
        </p:sp>
        <p:sp>
          <p:nvSpPr>
            <p:cNvPr id="21" name="Textfeld 20">
              <a:extLst>
                <a:ext uri="{FF2B5EF4-FFF2-40B4-BE49-F238E27FC236}">
                  <a16:creationId xmlns:a16="http://schemas.microsoft.com/office/drawing/2014/main" id="{1184BAC2-BBEA-B454-6F7A-3E0FB855F2F6}"/>
                </a:ext>
              </a:extLst>
            </p:cNvPr>
            <p:cNvSpPr txBox="1"/>
            <p:nvPr/>
          </p:nvSpPr>
          <p:spPr>
            <a:xfrm>
              <a:off x="3126144" y="2717752"/>
              <a:ext cx="725775" cy="461665"/>
            </a:xfrm>
            <a:prstGeom prst="rect">
              <a:avLst/>
            </a:prstGeom>
            <a:noFill/>
          </p:spPr>
          <p:txBody>
            <a:bodyPr wrap="square" rtlCol="0">
              <a:spAutoFit/>
            </a:bodyPr>
            <a:lstStyle/>
            <a:p>
              <a:pPr algn="ctr"/>
              <a:r>
                <a:rPr lang="en-US" sz="1200" noProof="0" dirty="0">
                  <a:solidFill>
                    <a:srgbClr val="C00000"/>
                  </a:solidFill>
                </a:rPr>
                <a:t>strategy</a:t>
              </a:r>
            </a:p>
            <a:p>
              <a:pPr algn="ctr"/>
              <a:r>
                <a:rPr lang="en-US" sz="1200" noProof="0" dirty="0">
                  <a:solidFill>
                    <a:srgbClr val="C00000"/>
                  </a:solidFill>
                </a:rPr>
                <a:t>1</a:t>
              </a:r>
            </a:p>
          </p:txBody>
        </p:sp>
        <p:sp>
          <p:nvSpPr>
            <p:cNvPr id="22" name="Textfeld 21">
              <a:extLst>
                <a:ext uri="{FF2B5EF4-FFF2-40B4-BE49-F238E27FC236}">
                  <a16:creationId xmlns:a16="http://schemas.microsoft.com/office/drawing/2014/main" id="{B9FEAA53-463E-E7B6-3F87-A8565171DB9F}"/>
                </a:ext>
              </a:extLst>
            </p:cNvPr>
            <p:cNvSpPr txBox="1"/>
            <p:nvPr/>
          </p:nvSpPr>
          <p:spPr>
            <a:xfrm>
              <a:off x="3126145" y="3448905"/>
              <a:ext cx="725775" cy="461665"/>
            </a:xfrm>
            <a:prstGeom prst="rect">
              <a:avLst/>
            </a:prstGeom>
            <a:noFill/>
          </p:spPr>
          <p:txBody>
            <a:bodyPr wrap="square" rtlCol="0">
              <a:spAutoFit/>
            </a:bodyPr>
            <a:lstStyle/>
            <a:p>
              <a:pPr algn="ctr"/>
              <a:r>
                <a:rPr lang="en-US" sz="1200" noProof="0" dirty="0">
                  <a:solidFill>
                    <a:srgbClr val="C00000"/>
                  </a:solidFill>
                </a:rPr>
                <a:t>strategy</a:t>
              </a:r>
            </a:p>
            <a:p>
              <a:pPr algn="ctr"/>
              <a:r>
                <a:rPr lang="en-US" sz="1200" noProof="0" dirty="0">
                  <a:solidFill>
                    <a:srgbClr val="C00000"/>
                  </a:solidFill>
                </a:rPr>
                <a:t>2</a:t>
              </a:r>
            </a:p>
          </p:txBody>
        </p:sp>
        <p:sp>
          <p:nvSpPr>
            <p:cNvPr id="23" name="Textfeld 22">
              <a:extLst>
                <a:ext uri="{FF2B5EF4-FFF2-40B4-BE49-F238E27FC236}">
                  <a16:creationId xmlns:a16="http://schemas.microsoft.com/office/drawing/2014/main" id="{A89F1E66-A9DC-12EC-BEBE-75EB301AEE7C}"/>
                </a:ext>
              </a:extLst>
            </p:cNvPr>
            <p:cNvSpPr txBox="1"/>
            <p:nvPr/>
          </p:nvSpPr>
          <p:spPr>
            <a:xfrm>
              <a:off x="3126146" y="4155926"/>
              <a:ext cx="725775" cy="461665"/>
            </a:xfrm>
            <a:prstGeom prst="rect">
              <a:avLst/>
            </a:prstGeom>
            <a:noFill/>
          </p:spPr>
          <p:txBody>
            <a:bodyPr wrap="square" rtlCol="0">
              <a:spAutoFit/>
            </a:bodyPr>
            <a:lstStyle/>
            <a:p>
              <a:pPr algn="ctr"/>
              <a:r>
                <a:rPr lang="en-US" sz="1200" noProof="0" dirty="0">
                  <a:solidFill>
                    <a:srgbClr val="C00000"/>
                  </a:solidFill>
                </a:rPr>
                <a:t>strategy</a:t>
              </a:r>
            </a:p>
            <a:p>
              <a:pPr algn="ctr"/>
              <a:r>
                <a:rPr lang="en-US" sz="1200" noProof="0" dirty="0">
                  <a:solidFill>
                    <a:srgbClr val="C00000"/>
                  </a:solidFill>
                </a:rPr>
                <a:t>…</a:t>
              </a:r>
            </a:p>
          </p:txBody>
        </p:sp>
        <p:sp>
          <p:nvSpPr>
            <p:cNvPr id="24" name="Textfeld 23">
              <a:extLst>
                <a:ext uri="{FF2B5EF4-FFF2-40B4-BE49-F238E27FC236}">
                  <a16:creationId xmlns:a16="http://schemas.microsoft.com/office/drawing/2014/main" id="{5E7EEA20-E3DE-1DA9-8D44-F853DA7AD7A7}"/>
                </a:ext>
              </a:extLst>
            </p:cNvPr>
            <p:cNvSpPr txBox="1"/>
            <p:nvPr/>
          </p:nvSpPr>
          <p:spPr>
            <a:xfrm>
              <a:off x="4072126" y="4155926"/>
              <a:ext cx="290464" cy="276999"/>
            </a:xfrm>
            <a:prstGeom prst="rect">
              <a:avLst/>
            </a:prstGeom>
            <a:noFill/>
          </p:spPr>
          <p:txBody>
            <a:bodyPr wrap="none" rtlCol="0">
              <a:spAutoFit/>
            </a:bodyPr>
            <a:lstStyle/>
            <a:p>
              <a:pPr algn="ctr"/>
              <a:r>
                <a:rPr lang="en-US" sz="1200" noProof="0" dirty="0"/>
                <a:t>…</a:t>
              </a:r>
            </a:p>
          </p:txBody>
        </p:sp>
        <p:sp>
          <p:nvSpPr>
            <p:cNvPr id="25" name="Textfeld 24">
              <a:extLst>
                <a:ext uri="{FF2B5EF4-FFF2-40B4-BE49-F238E27FC236}">
                  <a16:creationId xmlns:a16="http://schemas.microsoft.com/office/drawing/2014/main" id="{F9EFF482-1EF5-6416-B2D4-7205C5B8DCFA}"/>
                </a:ext>
              </a:extLst>
            </p:cNvPr>
            <p:cNvSpPr txBox="1"/>
            <p:nvPr/>
          </p:nvSpPr>
          <p:spPr>
            <a:xfrm>
              <a:off x="4572001" y="4155926"/>
              <a:ext cx="722104" cy="276999"/>
            </a:xfrm>
            <a:prstGeom prst="rect">
              <a:avLst/>
            </a:prstGeom>
            <a:noFill/>
          </p:spPr>
          <p:txBody>
            <a:bodyPr wrap="square" rtlCol="0">
              <a:spAutoFit/>
            </a:bodyPr>
            <a:lstStyle/>
            <a:p>
              <a:pPr algn="ctr"/>
              <a:r>
                <a:rPr lang="en-US" sz="1200" noProof="0" dirty="0"/>
                <a:t>…</a:t>
              </a:r>
            </a:p>
          </p:txBody>
        </p:sp>
        <p:sp>
          <p:nvSpPr>
            <p:cNvPr id="26" name="Textfeld 25">
              <a:extLst>
                <a:ext uri="{FF2B5EF4-FFF2-40B4-BE49-F238E27FC236}">
                  <a16:creationId xmlns:a16="http://schemas.microsoft.com/office/drawing/2014/main" id="{B1251ABC-7FA3-FD5A-3001-E484632B54BC}"/>
                </a:ext>
              </a:extLst>
            </p:cNvPr>
            <p:cNvSpPr txBox="1"/>
            <p:nvPr/>
          </p:nvSpPr>
          <p:spPr>
            <a:xfrm>
              <a:off x="5306317" y="4155926"/>
              <a:ext cx="705843" cy="276999"/>
            </a:xfrm>
            <a:prstGeom prst="rect">
              <a:avLst/>
            </a:prstGeom>
            <a:noFill/>
          </p:spPr>
          <p:txBody>
            <a:bodyPr wrap="square" rtlCol="0">
              <a:spAutoFit/>
            </a:bodyPr>
            <a:lstStyle/>
            <a:p>
              <a:pPr algn="ctr"/>
              <a:r>
                <a:rPr lang="en-US" sz="1200" noProof="0" dirty="0"/>
                <a:t>…</a:t>
              </a:r>
            </a:p>
          </p:txBody>
        </p:sp>
        <p:sp>
          <p:nvSpPr>
            <p:cNvPr id="27" name="Textfeld 26">
              <a:extLst>
                <a:ext uri="{FF2B5EF4-FFF2-40B4-BE49-F238E27FC236}">
                  <a16:creationId xmlns:a16="http://schemas.microsoft.com/office/drawing/2014/main" id="{6068D347-CAAE-68D0-E583-9EA6A218E12A}"/>
                </a:ext>
              </a:extLst>
            </p:cNvPr>
            <p:cNvSpPr txBox="1"/>
            <p:nvPr/>
          </p:nvSpPr>
          <p:spPr>
            <a:xfrm>
              <a:off x="3831833" y="3448905"/>
              <a:ext cx="742576" cy="461665"/>
            </a:xfrm>
            <a:prstGeom prst="rect">
              <a:avLst/>
            </a:prstGeom>
            <a:noFill/>
          </p:spPr>
          <p:txBody>
            <a:bodyPr wrap="none" rtlCol="0">
              <a:spAutoFit/>
            </a:bodyPr>
            <a:lstStyle/>
            <a:p>
              <a:pPr algn="ctr"/>
              <a:r>
                <a:rPr lang="en-US" sz="1200" noProof="0" dirty="0"/>
                <a:t>outcome</a:t>
              </a:r>
            </a:p>
            <a:p>
              <a:pPr algn="ctr"/>
              <a:r>
                <a:rPr lang="en-US" sz="1200" noProof="0" dirty="0">
                  <a:solidFill>
                    <a:srgbClr val="C00000"/>
                  </a:solidFill>
                </a:rPr>
                <a:t>2</a:t>
              </a:r>
              <a:r>
                <a:rPr lang="en-US" sz="1200" noProof="0" dirty="0"/>
                <a:t>, </a:t>
              </a:r>
              <a:r>
                <a:rPr lang="en-US" sz="1200" noProof="0" dirty="0">
                  <a:solidFill>
                    <a:schemeClr val="tx2"/>
                  </a:solidFill>
                </a:rPr>
                <a:t>1</a:t>
              </a:r>
            </a:p>
          </p:txBody>
        </p:sp>
        <p:sp>
          <p:nvSpPr>
            <p:cNvPr id="28" name="Textfeld 27">
              <a:extLst>
                <a:ext uri="{FF2B5EF4-FFF2-40B4-BE49-F238E27FC236}">
                  <a16:creationId xmlns:a16="http://schemas.microsoft.com/office/drawing/2014/main" id="{171D31A9-CA78-9558-62BE-2C3962BF6D88}"/>
                </a:ext>
              </a:extLst>
            </p:cNvPr>
            <p:cNvSpPr txBox="1"/>
            <p:nvPr/>
          </p:nvSpPr>
          <p:spPr>
            <a:xfrm>
              <a:off x="4557763" y="3448905"/>
              <a:ext cx="743589" cy="461665"/>
            </a:xfrm>
            <a:prstGeom prst="rect">
              <a:avLst/>
            </a:prstGeom>
            <a:noFill/>
          </p:spPr>
          <p:txBody>
            <a:bodyPr wrap="square" rtlCol="0">
              <a:spAutoFit/>
            </a:bodyPr>
            <a:lstStyle/>
            <a:p>
              <a:pPr algn="ctr"/>
              <a:r>
                <a:rPr lang="en-US" sz="1200" noProof="0" dirty="0"/>
                <a:t>outcome</a:t>
              </a:r>
            </a:p>
            <a:p>
              <a:pPr algn="ctr"/>
              <a:r>
                <a:rPr lang="en-US" sz="1200" noProof="0" dirty="0">
                  <a:solidFill>
                    <a:srgbClr val="C00000"/>
                  </a:solidFill>
                </a:rPr>
                <a:t>2</a:t>
              </a:r>
              <a:r>
                <a:rPr lang="en-US" sz="1200" noProof="0" dirty="0"/>
                <a:t>, </a:t>
              </a:r>
              <a:r>
                <a:rPr lang="en-US" sz="1200" noProof="0" dirty="0">
                  <a:solidFill>
                    <a:schemeClr val="tx2"/>
                  </a:solidFill>
                </a:rPr>
                <a:t>2</a:t>
              </a:r>
            </a:p>
          </p:txBody>
        </p:sp>
        <p:sp>
          <p:nvSpPr>
            <p:cNvPr id="29" name="Textfeld 28">
              <a:extLst>
                <a:ext uri="{FF2B5EF4-FFF2-40B4-BE49-F238E27FC236}">
                  <a16:creationId xmlns:a16="http://schemas.microsoft.com/office/drawing/2014/main" id="{801E589E-32A1-8A43-016E-05C40349104F}"/>
                </a:ext>
              </a:extLst>
            </p:cNvPr>
            <p:cNvSpPr txBox="1"/>
            <p:nvPr/>
          </p:nvSpPr>
          <p:spPr>
            <a:xfrm>
              <a:off x="5292080" y="3448905"/>
              <a:ext cx="705843" cy="276999"/>
            </a:xfrm>
            <a:prstGeom prst="rect">
              <a:avLst/>
            </a:prstGeom>
            <a:noFill/>
          </p:spPr>
          <p:txBody>
            <a:bodyPr wrap="square" rtlCol="0">
              <a:spAutoFit/>
            </a:bodyPr>
            <a:lstStyle/>
            <a:p>
              <a:pPr algn="ctr"/>
              <a:r>
                <a:rPr lang="en-US" sz="1200" noProof="0" dirty="0"/>
                <a:t>…</a:t>
              </a:r>
            </a:p>
          </p:txBody>
        </p:sp>
        <p:sp>
          <p:nvSpPr>
            <p:cNvPr id="30" name="Textfeld 29">
              <a:extLst>
                <a:ext uri="{FF2B5EF4-FFF2-40B4-BE49-F238E27FC236}">
                  <a16:creationId xmlns:a16="http://schemas.microsoft.com/office/drawing/2014/main" id="{D45B2188-C4DD-A885-D98B-675127D5AF53}"/>
                </a:ext>
              </a:extLst>
            </p:cNvPr>
            <p:cNvSpPr txBox="1"/>
            <p:nvPr/>
          </p:nvSpPr>
          <p:spPr>
            <a:xfrm>
              <a:off x="3838698" y="2717752"/>
              <a:ext cx="742576" cy="461665"/>
            </a:xfrm>
            <a:prstGeom prst="rect">
              <a:avLst/>
            </a:prstGeom>
            <a:noFill/>
          </p:spPr>
          <p:txBody>
            <a:bodyPr wrap="square" rtlCol="0">
              <a:spAutoFit/>
            </a:bodyPr>
            <a:lstStyle/>
            <a:p>
              <a:pPr algn="ctr"/>
              <a:r>
                <a:rPr lang="en-US" sz="1200" noProof="0" dirty="0"/>
                <a:t>outcome</a:t>
              </a:r>
            </a:p>
            <a:p>
              <a:pPr algn="ctr"/>
              <a:r>
                <a:rPr lang="en-US" sz="1200" noProof="0" dirty="0">
                  <a:solidFill>
                    <a:srgbClr val="C00000"/>
                  </a:solidFill>
                </a:rPr>
                <a:t>1</a:t>
              </a:r>
              <a:r>
                <a:rPr lang="en-US" sz="1200" noProof="0" dirty="0"/>
                <a:t>, </a:t>
              </a:r>
              <a:r>
                <a:rPr lang="en-US" sz="1200" noProof="0" dirty="0">
                  <a:solidFill>
                    <a:schemeClr val="tx2"/>
                  </a:solidFill>
                </a:rPr>
                <a:t>1</a:t>
              </a:r>
            </a:p>
          </p:txBody>
        </p:sp>
        <p:sp>
          <p:nvSpPr>
            <p:cNvPr id="31" name="Textfeld 30">
              <a:extLst>
                <a:ext uri="{FF2B5EF4-FFF2-40B4-BE49-F238E27FC236}">
                  <a16:creationId xmlns:a16="http://schemas.microsoft.com/office/drawing/2014/main" id="{73C9B55E-D99B-8289-776F-9FF140C054B8}"/>
                </a:ext>
              </a:extLst>
            </p:cNvPr>
            <p:cNvSpPr txBox="1"/>
            <p:nvPr/>
          </p:nvSpPr>
          <p:spPr>
            <a:xfrm>
              <a:off x="4543526" y="2717752"/>
              <a:ext cx="757827" cy="461665"/>
            </a:xfrm>
            <a:prstGeom prst="rect">
              <a:avLst/>
            </a:prstGeom>
            <a:noFill/>
          </p:spPr>
          <p:txBody>
            <a:bodyPr wrap="square" rtlCol="0">
              <a:spAutoFit/>
            </a:bodyPr>
            <a:lstStyle/>
            <a:p>
              <a:pPr algn="ctr"/>
              <a:r>
                <a:rPr lang="en-US" sz="1200" noProof="0" dirty="0"/>
                <a:t>outcome</a:t>
              </a:r>
            </a:p>
            <a:p>
              <a:pPr algn="ctr"/>
              <a:r>
                <a:rPr lang="en-US" sz="1200" noProof="0" dirty="0">
                  <a:solidFill>
                    <a:srgbClr val="C00000"/>
                  </a:solidFill>
                </a:rPr>
                <a:t>1</a:t>
              </a:r>
              <a:r>
                <a:rPr lang="en-US" sz="1200" noProof="0" dirty="0"/>
                <a:t>, </a:t>
              </a:r>
              <a:r>
                <a:rPr lang="en-US" sz="1200" noProof="0" dirty="0">
                  <a:solidFill>
                    <a:schemeClr val="tx2"/>
                  </a:solidFill>
                </a:rPr>
                <a:t>2</a:t>
              </a:r>
            </a:p>
          </p:txBody>
        </p:sp>
        <p:sp>
          <p:nvSpPr>
            <p:cNvPr id="32" name="Textfeld 31">
              <a:extLst>
                <a:ext uri="{FF2B5EF4-FFF2-40B4-BE49-F238E27FC236}">
                  <a16:creationId xmlns:a16="http://schemas.microsoft.com/office/drawing/2014/main" id="{5E30F5E9-1C9D-6E1C-9ECE-4214418CEBE5}"/>
                </a:ext>
              </a:extLst>
            </p:cNvPr>
            <p:cNvSpPr txBox="1"/>
            <p:nvPr/>
          </p:nvSpPr>
          <p:spPr>
            <a:xfrm>
              <a:off x="5277843" y="2717752"/>
              <a:ext cx="705843" cy="276999"/>
            </a:xfrm>
            <a:prstGeom prst="rect">
              <a:avLst/>
            </a:prstGeom>
            <a:noFill/>
          </p:spPr>
          <p:txBody>
            <a:bodyPr wrap="square" rtlCol="0">
              <a:spAutoFit/>
            </a:bodyPr>
            <a:lstStyle/>
            <a:p>
              <a:pPr algn="ctr"/>
              <a:r>
                <a:rPr lang="en-US" sz="1200" noProof="0" dirty="0"/>
                <a:t>…</a:t>
              </a:r>
            </a:p>
          </p:txBody>
        </p:sp>
      </p:grpSp>
      <p:sp>
        <p:nvSpPr>
          <p:cNvPr id="34" name="Rechteck 33">
            <a:extLst>
              <a:ext uri="{FF2B5EF4-FFF2-40B4-BE49-F238E27FC236}">
                <a16:creationId xmlns:a16="http://schemas.microsoft.com/office/drawing/2014/main" id="{1DEEAAC1-0BB3-3246-BB33-7DAD426FFF0F}"/>
              </a:ext>
            </a:extLst>
          </p:cNvPr>
          <p:cNvSpPr/>
          <p:nvPr/>
        </p:nvSpPr>
        <p:spPr>
          <a:xfrm>
            <a:off x="4572000" y="1131590"/>
            <a:ext cx="4320480" cy="36004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Which strategy should the row-player (red) choose?</a:t>
            </a:r>
          </a:p>
        </p:txBody>
      </p:sp>
      <p:sp>
        <p:nvSpPr>
          <p:cNvPr id="35" name="Rechteck 34">
            <a:extLst>
              <a:ext uri="{FF2B5EF4-FFF2-40B4-BE49-F238E27FC236}">
                <a16:creationId xmlns:a16="http://schemas.microsoft.com/office/drawing/2014/main" id="{5A93196A-535A-C874-8053-B8CEBFE7E9C3}"/>
              </a:ext>
            </a:extLst>
          </p:cNvPr>
          <p:cNvSpPr/>
          <p:nvPr/>
        </p:nvSpPr>
        <p:spPr>
          <a:xfrm>
            <a:off x="4566305" y="1567431"/>
            <a:ext cx="4320480" cy="345258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nvGrpSpPr>
          <p:cNvPr id="36" name="Gruppieren 35">
            <a:extLst>
              <a:ext uri="{FF2B5EF4-FFF2-40B4-BE49-F238E27FC236}">
                <a16:creationId xmlns:a16="http://schemas.microsoft.com/office/drawing/2014/main" id="{AE597D51-702A-FF92-02A2-C7E8B4F7C400}"/>
              </a:ext>
            </a:extLst>
          </p:cNvPr>
          <p:cNvGrpSpPr/>
          <p:nvPr/>
        </p:nvGrpSpPr>
        <p:grpSpPr>
          <a:xfrm>
            <a:off x="4785208" y="4227934"/>
            <a:ext cx="501176" cy="648072"/>
            <a:chOff x="3059584" y="1131590"/>
            <a:chExt cx="501176" cy="648072"/>
          </a:xfrm>
          <a:solidFill>
            <a:srgbClr val="C00000"/>
          </a:solidFill>
        </p:grpSpPr>
        <p:sp>
          <p:nvSpPr>
            <p:cNvPr id="37" name="Gleichschenkliges Dreieck 36">
              <a:extLst>
                <a:ext uri="{FF2B5EF4-FFF2-40B4-BE49-F238E27FC236}">
                  <a16:creationId xmlns:a16="http://schemas.microsoft.com/office/drawing/2014/main" id="{56C752A1-84C1-FBBF-95A1-ACB49AB2668B}"/>
                </a:ext>
              </a:extLst>
            </p:cNvPr>
            <p:cNvSpPr/>
            <p:nvPr/>
          </p:nvSpPr>
          <p:spPr>
            <a:xfrm>
              <a:off x="3059584" y="1347614"/>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Ellipse 37">
              <a:extLst>
                <a:ext uri="{FF2B5EF4-FFF2-40B4-BE49-F238E27FC236}">
                  <a16:creationId xmlns:a16="http://schemas.microsoft.com/office/drawing/2014/main" id="{25DA8C42-7C37-9B27-37BF-CE4FB846BB3C}"/>
                </a:ext>
              </a:extLst>
            </p:cNvPr>
            <p:cNvSpPr/>
            <p:nvPr/>
          </p:nvSpPr>
          <p:spPr>
            <a:xfrm>
              <a:off x="3131592" y="1131590"/>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4" name="Gruppieren 43">
            <a:extLst>
              <a:ext uri="{FF2B5EF4-FFF2-40B4-BE49-F238E27FC236}">
                <a16:creationId xmlns:a16="http://schemas.microsoft.com/office/drawing/2014/main" id="{22CAB5E8-0F84-7F06-0820-92DEBD6EA814}"/>
              </a:ext>
            </a:extLst>
          </p:cNvPr>
          <p:cNvGrpSpPr/>
          <p:nvPr/>
        </p:nvGrpSpPr>
        <p:grpSpPr>
          <a:xfrm>
            <a:off x="4674383" y="1635646"/>
            <a:ext cx="4074081" cy="2664299"/>
            <a:chOff x="4674383" y="1635646"/>
            <a:chExt cx="4074081" cy="2664299"/>
          </a:xfrm>
        </p:grpSpPr>
        <p:sp>
          <p:nvSpPr>
            <p:cNvPr id="39" name="Denkblase: wolkenförmig 38">
              <a:extLst>
                <a:ext uri="{FF2B5EF4-FFF2-40B4-BE49-F238E27FC236}">
                  <a16:creationId xmlns:a16="http://schemas.microsoft.com/office/drawing/2014/main" id="{DA68D45C-1681-A154-7A16-1DAE8D2C9298}"/>
                </a:ext>
              </a:extLst>
            </p:cNvPr>
            <p:cNvSpPr/>
            <p:nvPr/>
          </p:nvSpPr>
          <p:spPr>
            <a:xfrm>
              <a:off x="4674383" y="1635646"/>
              <a:ext cx="4074081" cy="2664299"/>
            </a:xfrm>
            <a:prstGeom prst="cloudCallout">
              <a:avLst>
                <a:gd name="adj1" fmla="val -9439"/>
                <a:gd name="adj2" fmla="val 13007"/>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0" name="Ellipse 39">
              <a:extLst>
                <a:ext uri="{FF2B5EF4-FFF2-40B4-BE49-F238E27FC236}">
                  <a16:creationId xmlns:a16="http://schemas.microsoft.com/office/drawing/2014/main" id="{4BC3145A-1B15-0D33-BD55-D58522604089}"/>
                </a:ext>
              </a:extLst>
            </p:cNvPr>
            <p:cNvSpPr/>
            <p:nvPr/>
          </p:nvSpPr>
          <p:spPr>
            <a:xfrm>
              <a:off x="5385191" y="3003798"/>
              <a:ext cx="1131025" cy="86409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Ellipse 40">
              <a:extLst>
                <a:ext uri="{FF2B5EF4-FFF2-40B4-BE49-F238E27FC236}">
                  <a16:creationId xmlns:a16="http://schemas.microsoft.com/office/drawing/2014/main" id="{724263CF-D822-6B98-B6E9-320C6B2255AE}"/>
                </a:ext>
              </a:extLst>
            </p:cNvPr>
            <p:cNvSpPr/>
            <p:nvPr/>
          </p:nvSpPr>
          <p:spPr>
            <a:xfrm>
              <a:off x="5436096" y="3361801"/>
              <a:ext cx="690593" cy="71169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2" name="Ellipse 41">
              <a:extLst>
                <a:ext uri="{FF2B5EF4-FFF2-40B4-BE49-F238E27FC236}">
                  <a16:creationId xmlns:a16="http://schemas.microsoft.com/office/drawing/2014/main" id="{B3CC684F-7455-9E42-1C9A-CEB968F124C2}"/>
                </a:ext>
              </a:extLst>
            </p:cNvPr>
            <p:cNvSpPr/>
            <p:nvPr/>
          </p:nvSpPr>
          <p:spPr>
            <a:xfrm>
              <a:off x="5161855" y="4144893"/>
              <a:ext cx="83041" cy="83041"/>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Ellipse 42">
              <a:extLst>
                <a:ext uri="{FF2B5EF4-FFF2-40B4-BE49-F238E27FC236}">
                  <a16:creationId xmlns:a16="http://schemas.microsoft.com/office/drawing/2014/main" id="{2BBB6884-65B1-B9B2-84D1-AACBFE9EAA69}"/>
                </a:ext>
              </a:extLst>
            </p:cNvPr>
            <p:cNvSpPr/>
            <p:nvPr/>
          </p:nvSpPr>
          <p:spPr>
            <a:xfrm>
              <a:off x="5220702" y="3874566"/>
              <a:ext cx="216024" cy="216024"/>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5" name="Gruppieren 44">
            <a:extLst>
              <a:ext uri="{FF2B5EF4-FFF2-40B4-BE49-F238E27FC236}">
                <a16:creationId xmlns:a16="http://schemas.microsoft.com/office/drawing/2014/main" id="{413E2346-F2C9-F537-A507-F0485DC7563B}"/>
              </a:ext>
            </a:extLst>
          </p:cNvPr>
          <p:cNvGrpSpPr/>
          <p:nvPr/>
        </p:nvGrpSpPr>
        <p:grpSpPr>
          <a:xfrm>
            <a:off x="5155576" y="3220556"/>
            <a:ext cx="347737" cy="449660"/>
            <a:chOff x="3059584" y="1131590"/>
            <a:chExt cx="501176" cy="648072"/>
          </a:xfrm>
          <a:solidFill>
            <a:schemeClr val="accent1"/>
          </a:solidFill>
        </p:grpSpPr>
        <p:sp>
          <p:nvSpPr>
            <p:cNvPr id="46" name="Gleichschenkliges Dreieck 45">
              <a:extLst>
                <a:ext uri="{FF2B5EF4-FFF2-40B4-BE49-F238E27FC236}">
                  <a16:creationId xmlns:a16="http://schemas.microsoft.com/office/drawing/2014/main" id="{565C7943-583F-330C-E5F6-B14F04DD9642}"/>
                </a:ext>
              </a:extLst>
            </p:cNvPr>
            <p:cNvSpPr/>
            <p:nvPr/>
          </p:nvSpPr>
          <p:spPr>
            <a:xfrm>
              <a:off x="3059584" y="1347614"/>
              <a:ext cx="501176" cy="432048"/>
            </a:xfrm>
            <a:prstGeom prst="triangl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7" name="Ellipse 46">
              <a:extLst>
                <a:ext uri="{FF2B5EF4-FFF2-40B4-BE49-F238E27FC236}">
                  <a16:creationId xmlns:a16="http://schemas.microsoft.com/office/drawing/2014/main" id="{5AE268AF-63D9-B447-49A0-C11096681480}"/>
                </a:ext>
              </a:extLst>
            </p:cNvPr>
            <p:cNvSpPr/>
            <p:nvPr/>
          </p:nvSpPr>
          <p:spPr>
            <a:xfrm>
              <a:off x="3131592" y="1131590"/>
              <a:ext cx="360040" cy="36004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4" name="Gruppieren 63">
            <a:extLst>
              <a:ext uri="{FF2B5EF4-FFF2-40B4-BE49-F238E27FC236}">
                <a16:creationId xmlns:a16="http://schemas.microsoft.com/office/drawing/2014/main" id="{A642BB74-F6D1-D34A-36F5-7A45B9DBE4DC}"/>
              </a:ext>
            </a:extLst>
          </p:cNvPr>
          <p:cNvGrpSpPr/>
          <p:nvPr/>
        </p:nvGrpSpPr>
        <p:grpSpPr>
          <a:xfrm>
            <a:off x="5222955" y="1918395"/>
            <a:ext cx="3171168" cy="1477731"/>
            <a:chOff x="5222955" y="1918395"/>
            <a:chExt cx="3171168" cy="1477731"/>
          </a:xfrm>
        </p:grpSpPr>
        <p:sp>
          <p:nvSpPr>
            <p:cNvPr id="63" name="Ellipse 62">
              <a:extLst>
                <a:ext uri="{FF2B5EF4-FFF2-40B4-BE49-F238E27FC236}">
                  <a16:creationId xmlns:a16="http://schemas.microsoft.com/office/drawing/2014/main" id="{8A99DA57-5CD1-2936-DB81-CCF8D45128ED}"/>
                </a:ext>
              </a:extLst>
            </p:cNvPr>
            <p:cNvSpPr/>
            <p:nvPr/>
          </p:nvSpPr>
          <p:spPr>
            <a:xfrm>
              <a:off x="7752870" y="2951400"/>
              <a:ext cx="523066" cy="35216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48" name="Gruppieren 47">
              <a:extLst>
                <a:ext uri="{FF2B5EF4-FFF2-40B4-BE49-F238E27FC236}">
                  <a16:creationId xmlns:a16="http://schemas.microsoft.com/office/drawing/2014/main" id="{9F2FFABC-00B1-30AF-FF3A-C7D52F40D4FC}"/>
                </a:ext>
              </a:extLst>
            </p:cNvPr>
            <p:cNvGrpSpPr/>
            <p:nvPr/>
          </p:nvGrpSpPr>
          <p:grpSpPr>
            <a:xfrm>
              <a:off x="5222955" y="1918395"/>
              <a:ext cx="3171168" cy="1477731"/>
              <a:chOff x="4674383" y="1404993"/>
              <a:chExt cx="5844269" cy="2894952"/>
            </a:xfrm>
          </p:grpSpPr>
          <p:sp>
            <p:nvSpPr>
              <p:cNvPr id="49" name="Denkblase: wolkenförmig 48">
                <a:extLst>
                  <a:ext uri="{FF2B5EF4-FFF2-40B4-BE49-F238E27FC236}">
                    <a16:creationId xmlns:a16="http://schemas.microsoft.com/office/drawing/2014/main" id="{751937EF-10D5-C443-8A7D-3608B9411903}"/>
                  </a:ext>
                </a:extLst>
              </p:cNvPr>
              <p:cNvSpPr/>
              <p:nvPr/>
            </p:nvSpPr>
            <p:spPr>
              <a:xfrm>
                <a:off x="4674383" y="1404993"/>
                <a:ext cx="5844269" cy="2894952"/>
              </a:xfrm>
              <a:prstGeom prst="cloudCallout">
                <a:avLst>
                  <a:gd name="adj1" fmla="val -9439"/>
                  <a:gd name="adj2" fmla="val 13007"/>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0" name="Ellipse 49">
                <a:extLst>
                  <a:ext uri="{FF2B5EF4-FFF2-40B4-BE49-F238E27FC236}">
                    <a16:creationId xmlns:a16="http://schemas.microsoft.com/office/drawing/2014/main" id="{7D20F218-38F0-C6C7-0ACB-4E1F33F018DF}"/>
                  </a:ext>
                </a:extLst>
              </p:cNvPr>
              <p:cNvSpPr/>
              <p:nvPr/>
            </p:nvSpPr>
            <p:spPr>
              <a:xfrm>
                <a:off x="5679276" y="3202461"/>
                <a:ext cx="1131024" cy="864097"/>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Ellipse 50">
                <a:extLst>
                  <a:ext uri="{FF2B5EF4-FFF2-40B4-BE49-F238E27FC236}">
                    <a16:creationId xmlns:a16="http://schemas.microsoft.com/office/drawing/2014/main" id="{8DB0584D-E9BE-79AE-1A96-C1CC5592CC4F}"/>
                  </a:ext>
                </a:extLst>
              </p:cNvPr>
              <p:cNvSpPr/>
              <p:nvPr/>
            </p:nvSpPr>
            <p:spPr>
              <a:xfrm>
                <a:off x="6465004" y="2996493"/>
                <a:ext cx="690594" cy="711697"/>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2" name="Ellipse 51">
                <a:extLst>
                  <a:ext uri="{FF2B5EF4-FFF2-40B4-BE49-F238E27FC236}">
                    <a16:creationId xmlns:a16="http://schemas.microsoft.com/office/drawing/2014/main" id="{ADE90350-74B7-5FB9-EEC7-FC905F1CCCAB}"/>
                  </a:ext>
                </a:extLst>
              </p:cNvPr>
              <p:cNvSpPr/>
              <p:nvPr/>
            </p:nvSpPr>
            <p:spPr>
              <a:xfrm>
                <a:off x="5098554" y="3947265"/>
                <a:ext cx="83041" cy="83042"/>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Ellipse 52">
                <a:extLst>
                  <a:ext uri="{FF2B5EF4-FFF2-40B4-BE49-F238E27FC236}">
                    <a16:creationId xmlns:a16="http://schemas.microsoft.com/office/drawing/2014/main" id="{84A4AEFF-204E-C750-4334-71C151938856}"/>
                  </a:ext>
                </a:extLst>
              </p:cNvPr>
              <p:cNvSpPr/>
              <p:nvPr/>
            </p:nvSpPr>
            <p:spPr>
              <a:xfrm>
                <a:off x="5220702" y="3687947"/>
                <a:ext cx="216024" cy="216025"/>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62" name="Ellipse 61">
              <a:extLst>
                <a:ext uri="{FF2B5EF4-FFF2-40B4-BE49-F238E27FC236}">
                  <a16:creationId xmlns:a16="http://schemas.microsoft.com/office/drawing/2014/main" id="{E088F5D6-61AF-A083-D29B-58063F16411E}"/>
                </a:ext>
              </a:extLst>
            </p:cNvPr>
            <p:cNvSpPr/>
            <p:nvPr/>
          </p:nvSpPr>
          <p:spPr>
            <a:xfrm>
              <a:off x="7524328" y="2534151"/>
              <a:ext cx="523066" cy="37496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1" name="Gruppieren 60">
              <a:extLst>
                <a:ext uri="{FF2B5EF4-FFF2-40B4-BE49-F238E27FC236}">
                  <a16:creationId xmlns:a16="http://schemas.microsoft.com/office/drawing/2014/main" id="{3A86EBA5-2002-A8E3-8243-58DDFD8CF932}"/>
                </a:ext>
              </a:extLst>
            </p:cNvPr>
            <p:cNvGrpSpPr/>
            <p:nvPr/>
          </p:nvGrpSpPr>
          <p:grpSpPr>
            <a:xfrm>
              <a:off x="5654016" y="2139702"/>
              <a:ext cx="2309047" cy="989729"/>
              <a:chOff x="5076056" y="990307"/>
              <a:chExt cx="3943253" cy="1799928"/>
            </a:xfrm>
          </p:grpSpPr>
          <p:sp>
            <p:nvSpPr>
              <p:cNvPr id="54" name="Nach oben gekrümmter Pfeil 2">
                <a:extLst>
                  <a:ext uri="{FF2B5EF4-FFF2-40B4-BE49-F238E27FC236}">
                    <a16:creationId xmlns:a16="http://schemas.microsoft.com/office/drawing/2014/main" id="{8CB291E9-DBA0-51DD-CD39-CF05D9534B2F}"/>
                  </a:ext>
                </a:extLst>
              </p:cNvPr>
              <p:cNvSpPr/>
              <p:nvPr/>
            </p:nvSpPr>
            <p:spPr>
              <a:xfrm>
                <a:off x="6516216" y="2389562"/>
                <a:ext cx="1008112" cy="360040"/>
              </a:xfrm>
              <a:prstGeom prst="curvedUp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noProof="0" dirty="0">
                  <a:solidFill>
                    <a:schemeClr val="tx1"/>
                  </a:solidFill>
                </a:endParaRPr>
              </a:p>
            </p:txBody>
          </p:sp>
          <p:sp>
            <p:nvSpPr>
              <p:cNvPr id="55" name="Ellipse 54">
                <a:extLst>
                  <a:ext uri="{FF2B5EF4-FFF2-40B4-BE49-F238E27FC236}">
                    <a16:creationId xmlns:a16="http://schemas.microsoft.com/office/drawing/2014/main" id="{38BE26DA-BC62-6E41-19A6-2CE13588D29C}"/>
                  </a:ext>
                </a:extLst>
              </p:cNvPr>
              <p:cNvSpPr/>
              <p:nvPr/>
            </p:nvSpPr>
            <p:spPr>
              <a:xfrm>
                <a:off x="5220072"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noProof="0" dirty="0"/>
              </a:p>
            </p:txBody>
          </p:sp>
          <p:sp>
            <p:nvSpPr>
              <p:cNvPr id="56" name="Textfeld 55">
                <a:extLst>
                  <a:ext uri="{FF2B5EF4-FFF2-40B4-BE49-F238E27FC236}">
                    <a16:creationId xmlns:a16="http://schemas.microsoft.com/office/drawing/2014/main" id="{9F32A127-FD5C-79ED-F3D6-0B3B0DBE78FF}"/>
                  </a:ext>
                </a:extLst>
              </p:cNvPr>
              <p:cNvSpPr txBox="1"/>
              <p:nvPr/>
            </p:nvSpPr>
            <p:spPr>
              <a:xfrm>
                <a:off x="5214743" y="1689452"/>
                <a:ext cx="1661512" cy="447779"/>
              </a:xfrm>
              <a:prstGeom prst="rect">
                <a:avLst/>
              </a:prstGeom>
              <a:noFill/>
            </p:spPr>
            <p:txBody>
              <a:bodyPr wrap="square" rtlCol="0">
                <a:spAutoFit/>
              </a:bodyPr>
              <a:lstStyle/>
              <a:p>
                <a:pPr algn="ctr"/>
                <a:r>
                  <a:rPr lang="en-US" sz="1000" noProof="0" dirty="0"/>
                  <a:t>preferences</a:t>
                </a:r>
              </a:p>
            </p:txBody>
          </p:sp>
          <p:sp>
            <p:nvSpPr>
              <p:cNvPr id="57" name="Ellipse 56">
                <a:extLst>
                  <a:ext uri="{FF2B5EF4-FFF2-40B4-BE49-F238E27FC236}">
                    <a16:creationId xmlns:a16="http://schemas.microsoft.com/office/drawing/2014/main" id="{DC3FC008-07FC-5E6D-9171-ED9501B835BB}"/>
                  </a:ext>
                </a:extLst>
              </p:cNvPr>
              <p:cNvSpPr/>
              <p:nvPr/>
            </p:nvSpPr>
            <p:spPr>
              <a:xfrm>
                <a:off x="7236296" y="1419622"/>
                <a:ext cx="1656184" cy="90899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noProof="0" dirty="0"/>
              </a:p>
            </p:txBody>
          </p:sp>
          <p:sp>
            <p:nvSpPr>
              <p:cNvPr id="58" name="Textfeld 57">
                <a:extLst>
                  <a:ext uri="{FF2B5EF4-FFF2-40B4-BE49-F238E27FC236}">
                    <a16:creationId xmlns:a16="http://schemas.microsoft.com/office/drawing/2014/main" id="{100C0FF4-1116-673D-E6D7-DCEB10BCCA3E}"/>
                  </a:ext>
                </a:extLst>
              </p:cNvPr>
              <p:cNvSpPr txBox="1"/>
              <p:nvPr/>
            </p:nvSpPr>
            <p:spPr>
              <a:xfrm>
                <a:off x="7230967" y="1689452"/>
                <a:ext cx="1661512" cy="447779"/>
              </a:xfrm>
              <a:prstGeom prst="rect">
                <a:avLst/>
              </a:prstGeom>
              <a:noFill/>
            </p:spPr>
            <p:txBody>
              <a:bodyPr wrap="square" rtlCol="0">
                <a:spAutoFit/>
              </a:bodyPr>
              <a:lstStyle/>
              <a:p>
                <a:pPr algn="ctr"/>
                <a:r>
                  <a:rPr lang="en-US" sz="1000" noProof="0" dirty="0"/>
                  <a:t>actions</a:t>
                </a:r>
              </a:p>
            </p:txBody>
          </p:sp>
          <p:sp>
            <p:nvSpPr>
              <p:cNvPr id="59" name="Ellipse 58">
                <a:extLst>
                  <a:ext uri="{FF2B5EF4-FFF2-40B4-BE49-F238E27FC236}">
                    <a16:creationId xmlns:a16="http://schemas.microsoft.com/office/drawing/2014/main" id="{D0A3BF52-59FE-B5C0-A7CE-A402055A2178}"/>
                  </a:ext>
                </a:extLst>
              </p:cNvPr>
              <p:cNvSpPr/>
              <p:nvPr/>
            </p:nvSpPr>
            <p:spPr>
              <a:xfrm>
                <a:off x="5076056" y="990307"/>
                <a:ext cx="3943253" cy="1799928"/>
              </a:xfrm>
              <a:prstGeom prst="ellipse">
                <a:avLst/>
              </a:prstGeom>
              <a:noFill/>
              <a:ln>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noProof="0" dirty="0"/>
              </a:p>
            </p:txBody>
          </p:sp>
          <p:sp>
            <p:nvSpPr>
              <p:cNvPr id="60" name="Textfeld 59">
                <a:extLst>
                  <a:ext uri="{FF2B5EF4-FFF2-40B4-BE49-F238E27FC236}">
                    <a16:creationId xmlns:a16="http://schemas.microsoft.com/office/drawing/2014/main" id="{B2E98184-EB69-F8DC-9FC4-0534BDCDB634}"/>
                  </a:ext>
                </a:extLst>
              </p:cNvPr>
              <p:cNvSpPr txBox="1"/>
              <p:nvPr/>
            </p:nvSpPr>
            <p:spPr>
              <a:xfrm>
                <a:off x="6417799" y="1059581"/>
                <a:ext cx="1259768" cy="727643"/>
              </a:xfrm>
              <a:prstGeom prst="rect">
                <a:avLst/>
              </a:prstGeom>
              <a:noFill/>
            </p:spPr>
            <p:txBody>
              <a:bodyPr wrap="square" rtlCol="0">
                <a:spAutoFit/>
              </a:bodyPr>
              <a:lstStyle/>
              <a:p>
                <a:pPr algn="ctr"/>
                <a:r>
                  <a:rPr lang="en-US" sz="1000" noProof="0" dirty="0"/>
                  <a:t>rational choice</a:t>
                </a:r>
              </a:p>
            </p:txBody>
          </p:sp>
        </p:grpSp>
      </p:grpSp>
      <p:sp>
        <p:nvSpPr>
          <p:cNvPr id="65" name="Textfeld 64">
            <a:extLst>
              <a:ext uri="{FF2B5EF4-FFF2-40B4-BE49-F238E27FC236}">
                <a16:creationId xmlns:a16="http://schemas.microsoft.com/office/drawing/2014/main" id="{D8B90AFD-218F-873A-CCDC-FDC0DCB3101F}"/>
              </a:ext>
            </a:extLst>
          </p:cNvPr>
          <p:cNvSpPr txBox="1"/>
          <p:nvPr/>
        </p:nvSpPr>
        <p:spPr>
          <a:xfrm>
            <a:off x="5530499" y="3434984"/>
            <a:ext cx="2414485" cy="461665"/>
          </a:xfrm>
          <a:prstGeom prst="rect">
            <a:avLst/>
          </a:prstGeom>
          <a:noFill/>
        </p:spPr>
        <p:txBody>
          <a:bodyPr wrap="square" rtlCol="0">
            <a:spAutoFit/>
          </a:bodyPr>
          <a:lstStyle/>
          <a:p>
            <a:r>
              <a:rPr lang="en-US" sz="1200" noProof="0" dirty="0"/>
              <a:t>The column player (blue) will act in a way that is best for them.</a:t>
            </a:r>
          </a:p>
        </p:txBody>
      </p:sp>
      <p:sp>
        <p:nvSpPr>
          <p:cNvPr id="66" name="Textfeld 65">
            <a:extLst>
              <a:ext uri="{FF2B5EF4-FFF2-40B4-BE49-F238E27FC236}">
                <a16:creationId xmlns:a16="http://schemas.microsoft.com/office/drawing/2014/main" id="{ED98F295-076E-309E-D6E5-EFC7326F4AF9}"/>
              </a:ext>
            </a:extLst>
          </p:cNvPr>
          <p:cNvSpPr txBox="1"/>
          <p:nvPr/>
        </p:nvSpPr>
        <p:spPr>
          <a:xfrm>
            <a:off x="5530499" y="4504933"/>
            <a:ext cx="3289973" cy="461665"/>
          </a:xfrm>
          <a:prstGeom prst="rect">
            <a:avLst/>
          </a:prstGeom>
          <a:noFill/>
        </p:spPr>
        <p:txBody>
          <a:bodyPr wrap="square" rtlCol="0">
            <a:spAutoFit/>
          </a:bodyPr>
          <a:lstStyle/>
          <a:p>
            <a:r>
              <a:rPr lang="en-US" sz="1200" noProof="0" dirty="0"/>
              <a:t>The row player (red) must optimize themselves regarding the actions/ strategies played by blue.</a:t>
            </a:r>
          </a:p>
        </p:txBody>
      </p:sp>
      <p:grpSp>
        <p:nvGrpSpPr>
          <p:cNvPr id="71" name="Gruppieren 70">
            <a:extLst>
              <a:ext uri="{FF2B5EF4-FFF2-40B4-BE49-F238E27FC236}">
                <a16:creationId xmlns:a16="http://schemas.microsoft.com/office/drawing/2014/main" id="{0DA78171-736D-86E7-C600-961DEEA35EBF}"/>
              </a:ext>
            </a:extLst>
          </p:cNvPr>
          <p:cNvGrpSpPr/>
          <p:nvPr/>
        </p:nvGrpSpPr>
        <p:grpSpPr>
          <a:xfrm rot="19948969">
            <a:off x="293983" y="1494229"/>
            <a:ext cx="1657380" cy="548717"/>
            <a:chOff x="323528" y="1403440"/>
            <a:chExt cx="1657380" cy="548717"/>
          </a:xfrm>
        </p:grpSpPr>
        <p:sp>
          <p:nvSpPr>
            <p:cNvPr id="67" name="Rechteck 66">
              <a:extLst>
                <a:ext uri="{FF2B5EF4-FFF2-40B4-BE49-F238E27FC236}">
                  <a16:creationId xmlns:a16="http://schemas.microsoft.com/office/drawing/2014/main" id="{61543CFC-2C0A-49DE-5BA5-02C5C3E45D4D}"/>
                </a:ext>
              </a:extLst>
            </p:cNvPr>
            <p:cNvSpPr/>
            <p:nvPr/>
          </p:nvSpPr>
          <p:spPr>
            <a:xfrm>
              <a:off x="323528" y="1403440"/>
              <a:ext cx="1656184" cy="54871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rPr>
                <a:t>complete</a:t>
              </a:r>
            </a:p>
            <a:p>
              <a:pPr algn="ctr"/>
              <a:r>
                <a:rPr lang="en-US" sz="1600" noProof="0" dirty="0">
                  <a:solidFill>
                    <a:schemeClr val="tx1"/>
                  </a:solidFill>
                </a:rPr>
                <a:t>information</a:t>
              </a:r>
            </a:p>
          </p:txBody>
        </p:sp>
        <p:cxnSp>
          <p:nvCxnSpPr>
            <p:cNvPr id="69" name="Gerader Verbinder 68">
              <a:extLst>
                <a:ext uri="{FF2B5EF4-FFF2-40B4-BE49-F238E27FC236}">
                  <a16:creationId xmlns:a16="http://schemas.microsoft.com/office/drawing/2014/main" id="{1BB3F1E9-BAE8-8C06-5801-E3AF18F67293}"/>
                </a:ext>
              </a:extLst>
            </p:cNvPr>
            <p:cNvCxnSpPr>
              <a:cxnSpLocks/>
            </p:cNvCxnSpPr>
            <p:nvPr/>
          </p:nvCxnSpPr>
          <p:spPr>
            <a:xfrm>
              <a:off x="324724" y="1935976"/>
              <a:ext cx="1656184"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70" name="Gerader Verbinder 69">
              <a:extLst>
                <a:ext uri="{FF2B5EF4-FFF2-40B4-BE49-F238E27FC236}">
                  <a16:creationId xmlns:a16="http://schemas.microsoft.com/office/drawing/2014/main" id="{ACE64A9C-C640-2964-EA23-FBE1912825C4}"/>
                </a:ext>
              </a:extLst>
            </p:cNvPr>
            <p:cNvCxnSpPr/>
            <p:nvPr/>
          </p:nvCxnSpPr>
          <p:spPr>
            <a:xfrm>
              <a:off x="323528" y="1419622"/>
              <a:ext cx="1656184"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478244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156363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p:cNvSpPr txBox="1"/>
          <p:nvPr/>
        </p:nvSpPr>
        <p:spPr>
          <a:xfrm>
            <a:off x="971600" y="1131590"/>
            <a:ext cx="4033861" cy="2462213"/>
          </a:xfrm>
          <a:prstGeom prst="rect">
            <a:avLst/>
          </a:prstGeom>
          <a:noFill/>
        </p:spPr>
        <p:txBody>
          <a:bodyPr wrap="none" rtlCol="0">
            <a:spAutoFit/>
          </a:bodyPr>
          <a:lstStyle/>
          <a:p>
            <a:r>
              <a:rPr lang="en-US" b="1" noProof="0" dirty="0"/>
              <a:t>Agenda</a:t>
            </a:r>
          </a:p>
          <a:p>
            <a:endParaRPr lang="en-US" sz="1000" noProof="0" dirty="0"/>
          </a:p>
          <a:p>
            <a:pPr lvl="1"/>
            <a:r>
              <a:rPr lang="en-US" b="1" noProof="0" dirty="0"/>
              <a:t>The Prisoner’s Dilemma</a:t>
            </a:r>
          </a:p>
          <a:p>
            <a:pPr lvl="1"/>
            <a:endParaRPr lang="en-US" b="1" noProof="0" dirty="0"/>
          </a:p>
          <a:p>
            <a:pPr lvl="1"/>
            <a:r>
              <a:rPr lang="en-US" dirty="0"/>
              <a:t>The Iterated Prisoner’s Dilemma</a:t>
            </a:r>
          </a:p>
          <a:p>
            <a:pPr lvl="1"/>
            <a:endParaRPr lang="en-US" noProof="0" dirty="0"/>
          </a:p>
          <a:p>
            <a:pPr lvl="1"/>
            <a:r>
              <a:rPr lang="en-US" dirty="0"/>
              <a:t>Nash Equilibria</a:t>
            </a:r>
          </a:p>
          <a:p>
            <a:pPr lvl="1"/>
            <a:endParaRPr lang="en-US" b="1" dirty="0"/>
          </a:p>
          <a:p>
            <a:pPr lvl="1"/>
            <a:r>
              <a:rPr lang="en-US" dirty="0"/>
              <a:t>Nash Equilibria in the Chicken Game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The prisoner’s dilemma</a:t>
            </a:r>
            <a:br>
              <a:rPr lang="en-US" noProof="0" dirty="0"/>
            </a:br>
            <a:r>
              <a:rPr lang="en-US" noProof="0" dirty="0"/>
              <a:t>[D.R. Luce &amp; H. </a:t>
            </a:r>
            <a:r>
              <a:rPr lang="en-US" noProof="0" dirty="0" err="1"/>
              <a:t>Raiffa</a:t>
            </a:r>
            <a:r>
              <a:rPr lang="en-US" noProof="0" dirty="0"/>
              <a:t> (1957): Games and Decisions, p. 95, New York: Wiley]</a:t>
            </a:r>
          </a:p>
        </p:txBody>
      </p:sp>
      <p:grpSp>
        <p:nvGrpSpPr>
          <p:cNvPr id="6" name="Gruppieren 5"/>
          <p:cNvGrpSpPr/>
          <p:nvPr/>
        </p:nvGrpSpPr>
        <p:grpSpPr>
          <a:xfrm>
            <a:off x="251520" y="1119807"/>
            <a:ext cx="4176464" cy="3581226"/>
            <a:chOff x="251520" y="1119806"/>
            <a:chExt cx="4464496" cy="3828208"/>
          </a:xfrm>
        </p:grpSpPr>
        <p:pic>
          <p:nvPicPr>
            <p:cNvPr id="3" name="Picture 2" descr="http://graphics8.nytimes.com/images/2008/03/09/weekinreview/09shane.xlarge1.jpg"/>
            <p:cNvPicPr>
              <a:picLocks noChangeAspect="1" noChangeArrowheads="1"/>
            </p:cNvPicPr>
            <p:nvPr/>
          </p:nvPicPr>
          <p:blipFill>
            <a:blip r:embed="rId2" cstate="print"/>
            <a:srcRect/>
            <a:stretch>
              <a:fillRect/>
            </a:stretch>
          </p:blipFill>
          <p:spPr bwMode="auto">
            <a:xfrm>
              <a:off x="251520" y="1119806"/>
              <a:ext cx="4143789" cy="2486274"/>
            </a:xfrm>
            <a:prstGeom prst="rect">
              <a:avLst/>
            </a:prstGeom>
            <a:noFill/>
          </p:spPr>
        </p:pic>
        <p:pic>
          <p:nvPicPr>
            <p:cNvPr id="4" name="Picture 2" descr="http://ecx.images-amazon.com/images/I/415X8SlSlzL._SY344_BO1,204,203,200_.jpg"/>
            <p:cNvPicPr>
              <a:picLocks noChangeAspect="1" noChangeArrowheads="1"/>
            </p:cNvPicPr>
            <p:nvPr/>
          </p:nvPicPr>
          <p:blipFill>
            <a:blip r:embed="rId3" cstate="print"/>
            <a:srcRect/>
            <a:stretch>
              <a:fillRect/>
            </a:stretch>
          </p:blipFill>
          <p:spPr bwMode="auto">
            <a:xfrm>
              <a:off x="3563888" y="3136030"/>
              <a:ext cx="1152128" cy="1811984"/>
            </a:xfrm>
            <a:prstGeom prst="rect">
              <a:avLst/>
            </a:prstGeom>
            <a:ln>
              <a:noFill/>
            </a:ln>
            <a:effectLst>
              <a:outerShdw blurRad="292100" dist="139700" dir="2700000" algn="tl" rotWithShape="0">
                <a:srgbClr val="333333">
                  <a:alpha val="65000"/>
                </a:srgbClr>
              </a:outerShdw>
            </a:effectLst>
          </p:spPr>
        </p:pic>
      </p:grpSp>
      <p:sp>
        <p:nvSpPr>
          <p:cNvPr id="5" name="Textfeld 4"/>
          <p:cNvSpPr txBox="1"/>
          <p:nvPr/>
        </p:nvSpPr>
        <p:spPr>
          <a:xfrm>
            <a:off x="4788024" y="1131590"/>
            <a:ext cx="4104456" cy="3801041"/>
          </a:xfrm>
          <a:prstGeom prst="rect">
            <a:avLst/>
          </a:prstGeom>
          <a:noFill/>
        </p:spPr>
        <p:txBody>
          <a:bodyPr wrap="square" rtlCol="0">
            <a:spAutoFit/>
          </a:bodyPr>
          <a:lstStyle/>
          <a:p>
            <a:pPr algn="just">
              <a:spcAft>
                <a:spcPts val="600"/>
              </a:spcAft>
            </a:pPr>
            <a:r>
              <a:rPr lang="en-US" sz="1200" noProof="0" dirty="0"/>
              <a:t>Two suspects (called A and B) are taken into custody and separated. The district attorney is certain that they are guilty of a certain crime, but he does not have adequate evidence to convict them at trail. He points out to each prisoner that each has two alternatives: </a:t>
            </a:r>
          </a:p>
          <a:p>
            <a:pPr marL="266700" indent="-266700" algn="just">
              <a:spcAft>
                <a:spcPts val="600"/>
              </a:spcAft>
              <a:buFont typeface="Arial" pitchFamily="34" charset="0"/>
              <a:buChar char="•"/>
            </a:pPr>
            <a:r>
              <a:rPr lang="en-US" sz="1200" noProof="0" dirty="0"/>
              <a:t>to confess the crime the police is sure they have done,</a:t>
            </a:r>
          </a:p>
          <a:p>
            <a:pPr marL="266700" indent="-266700" algn="just">
              <a:spcAft>
                <a:spcPts val="600"/>
              </a:spcAft>
              <a:buFont typeface="Arial" pitchFamily="34" charset="0"/>
              <a:buChar char="•"/>
            </a:pPr>
            <a:r>
              <a:rPr lang="en-US" sz="1200" noProof="0" dirty="0"/>
              <a:t>or not to confess.</a:t>
            </a:r>
          </a:p>
          <a:p>
            <a:pPr algn="just">
              <a:spcAft>
                <a:spcPts val="600"/>
              </a:spcAft>
            </a:pPr>
            <a:r>
              <a:rPr lang="en-US" sz="1200" noProof="0" dirty="0"/>
              <a:t>If they both do not confess, then the district attorney states he will book them on some very minor trumped-up charge such as petty larceny and illegal possession of a weapon, and they will both receive a </a:t>
            </a:r>
            <a:r>
              <a:rPr lang="en-US" sz="1200" noProof="0" dirty="0" err="1"/>
              <a:t>a</a:t>
            </a:r>
            <a:r>
              <a:rPr lang="en-US" sz="1200" noProof="0" dirty="0"/>
              <a:t> minor punishment (of say 2 years in prison)</a:t>
            </a:r>
          </a:p>
          <a:p>
            <a:pPr algn="just">
              <a:spcAft>
                <a:spcPts val="600"/>
              </a:spcAft>
            </a:pPr>
            <a:r>
              <a:rPr lang="en-US" sz="1200" noProof="0" dirty="0"/>
              <a:t>If they both confess they will be prosecuted (and go to jail for 10 years).</a:t>
            </a:r>
          </a:p>
          <a:p>
            <a:pPr algn="just">
              <a:spcAft>
                <a:spcPts val="600"/>
              </a:spcAft>
            </a:pPr>
            <a:r>
              <a:rPr lang="en-US" sz="1200" noProof="0" dirty="0"/>
              <a:t>Finally, if one confesses and the other does not, then the confessor will receive lenient treatment for turning state’s evidence whereas the latter will get “the book” slapped at him (which means, the confessor gets a penalty of just one year in jail, whereas the other one is sent there for 20 years).</a:t>
            </a:r>
          </a:p>
        </p:txBody>
      </p:sp>
      <p:sp>
        <p:nvSpPr>
          <p:cNvPr id="7" name="Rechteck 6"/>
          <p:cNvSpPr/>
          <p:nvPr/>
        </p:nvSpPr>
        <p:spPr>
          <a:xfrm>
            <a:off x="4788024" y="1131590"/>
            <a:ext cx="4104456" cy="3888432"/>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From the event matrix of the prisoner’s dilemma …</a:t>
            </a:r>
          </a:p>
        </p:txBody>
      </p:sp>
      <p:pic>
        <p:nvPicPr>
          <p:cNvPr id="3" name="Picture 2" descr="http://graphics8.nytimes.com/images/2008/03/09/weekinreview/09shane.xlarge1.jpg"/>
          <p:cNvPicPr>
            <a:picLocks noChangeAspect="1" noChangeArrowheads="1"/>
          </p:cNvPicPr>
          <p:nvPr>
            <p:custDataLst>
              <p:tags r:id="rId1"/>
            </p:custDataLst>
          </p:nvPr>
        </p:nvPicPr>
        <p:blipFill>
          <a:blip r:embed="rId10" cstate="print"/>
          <a:srcRect/>
          <a:stretch>
            <a:fillRect/>
          </a:stretch>
        </p:blipFill>
        <p:spPr bwMode="auto">
          <a:xfrm>
            <a:off x="239958" y="1131590"/>
            <a:ext cx="2518833" cy="1511300"/>
          </a:xfrm>
          <a:prstGeom prst="rect">
            <a:avLst/>
          </a:prstGeom>
          <a:noFill/>
        </p:spPr>
      </p:pic>
      <p:graphicFrame>
        <p:nvGraphicFramePr>
          <p:cNvPr id="4" name="Tabelle 3"/>
          <p:cNvGraphicFramePr>
            <a:graphicFrameLocks noGrp="1"/>
          </p:cNvGraphicFramePr>
          <p:nvPr>
            <p:custDataLst>
              <p:tags r:id="rId2"/>
            </p:custDataLst>
          </p:nvPr>
        </p:nvGraphicFramePr>
        <p:xfrm>
          <a:off x="3851920" y="3291831"/>
          <a:ext cx="3600402" cy="1656183"/>
        </p:xfrm>
        <a:graphic>
          <a:graphicData uri="http://schemas.openxmlformats.org/drawingml/2006/table">
            <a:tbl>
              <a:tblPr firstRow="1" bandRow="1">
                <a:tableStyleId>{5C22544A-7EE6-4342-B048-85BDC9FD1C3A}</a:tableStyleId>
              </a:tblPr>
              <a:tblGrid>
                <a:gridCol w="1200134">
                  <a:extLst>
                    <a:ext uri="{9D8B030D-6E8A-4147-A177-3AD203B41FA5}">
                      <a16:colId xmlns:a16="http://schemas.microsoft.com/office/drawing/2014/main" val="20000"/>
                    </a:ext>
                  </a:extLst>
                </a:gridCol>
                <a:gridCol w="1200134">
                  <a:extLst>
                    <a:ext uri="{9D8B030D-6E8A-4147-A177-3AD203B41FA5}">
                      <a16:colId xmlns:a16="http://schemas.microsoft.com/office/drawing/2014/main" val="20001"/>
                    </a:ext>
                  </a:extLst>
                </a:gridCol>
                <a:gridCol w="1200134">
                  <a:extLst>
                    <a:ext uri="{9D8B030D-6E8A-4147-A177-3AD203B41FA5}">
                      <a16:colId xmlns:a16="http://schemas.microsoft.com/office/drawing/2014/main" val="20002"/>
                    </a:ext>
                  </a:extLst>
                </a:gridCol>
              </a:tblGrid>
              <a:tr h="552061">
                <a:tc>
                  <a:txBody>
                    <a:bodyPr/>
                    <a:lstStyle/>
                    <a:p>
                      <a:pPr algn="ctr"/>
                      <a:r>
                        <a:rPr lang="en-US" sz="1400" b="0" noProof="0" dirty="0">
                          <a:solidFill>
                            <a:schemeClr val="tx1"/>
                          </a:solidFill>
                        </a:rPr>
                        <a:t>player</a:t>
                      </a:r>
                      <a:br>
                        <a:rPr lang="en-US" sz="1400" b="0" noProof="0" dirty="0">
                          <a:solidFill>
                            <a:schemeClr val="tx1"/>
                          </a:solidFill>
                        </a:rPr>
                      </a:br>
                      <a:r>
                        <a:rPr lang="en-US" sz="1400" b="0" noProof="0" dirty="0">
                          <a:solidFill>
                            <a:srgbClr val="FF0000"/>
                          </a:solidFill>
                        </a:rPr>
                        <a:t>A</a:t>
                      </a:r>
                      <a:r>
                        <a:rPr lang="en-US" sz="1400" b="0" noProof="0" dirty="0">
                          <a:solidFill>
                            <a:schemeClr val="tx1"/>
                          </a:solidFill>
                        </a:rPr>
                        <a:t>             </a:t>
                      </a:r>
                      <a:r>
                        <a:rPr lang="en-US" sz="1400" b="0" noProof="0" dirty="0">
                          <a:solidFill>
                            <a:schemeClr val="tx2"/>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not</a:t>
                      </a:r>
                    </a:p>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noProof="0" dirty="0">
                          <a:solidFill>
                            <a:srgbClr val="FF0000"/>
                          </a:solidFill>
                        </a:rPr>
                        <a:t>not</a:t>
                      </a:r>
                    </a:p>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2</a:t>
                      </a:r>
                      <a:r>
                        <a:rPr lang="en-US" sz="1400" noProof="0" dirty="0"/>
                        <a:t>, </a:t>
                      </a:r>
                      <a:r>
                        <a:rPr lang="en-US" sz="1400" noProof="0" dirty="0">
                          <a:solidFill>
                            <a:schemeClr val="tx2"/>
                          </a:solidFill>
                        </a:rPr>
                        <a:t>2</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20</a:t>
                      </a:r>
                      <a:r>
                        <a:rPr lang="en-US" sz="1400" noProof="0" dirty="0"/>
                        <a:t>,</a:t>
                      </a:r>
                      <a:r>
                        <a:rPr lang="en-US" sz="1400" baseline="0" noProof="0" dirty="0"/>
                        <a:t> </a:t>
                      </a:r>
                      <a:r>
                        <a:rPr lang="en-US" sz="1400" baseline="0" noProof="0" dirty="0">
                          <a:solidFill>
                            <a:schemeClr val="tx2"/>
                          </a:solidFill>
                        </a:rPr>
                        <a:t>1</a:t>
                      </a:r>
                      <a:r>
                        <a:rPr lang="en-US" sz="1400" baseline="0" noProof="0" dirty="0"/>
                        <a:t>)</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1</a:t>
                      </a:r>
                      <a:r>
                        <a:rPr lang="en-US" sz="1400" noProof="0" dirty="0"/>
                        <a:t>, </a:t>
                      </a:r>
                      <a:r>
                        <a:rPr lang="en-US" sz="1400" noProof="0" dirty="0">
                          <a:solidFill>
                            <a:schemeClr val="tx2"/>
                          </a:solidFill>
                        </a:rPr>
                        <a:t>20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10</a:t>
                      </a:r>
                      <a:r>
                        <a:rPr lang="en-US" sz="1400" noProof="0" dirty="0"/>
                        <a:t>, </a:t>
                      </a:r>
                      <a:r>
                        <a:rPr lang="en-US" sz="1400" noProof="0" dirty="0">
                          <a:solidFill>
                            <a:schemeClr val="tx2"/>
                          </a:solidFill>
                        </a:rPr>
                        <a:t>10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Textfeld 4"/>
          <p:cNvSpPr txBox="1"/>
          <p:nvPr>
            <p:custDataLst>
              <p:tags r:id="rId3"/>
            </p:custDataLst>
          </p:nvPr>
        </p:nvSpPr>
        <p:spPr>
          <a:xfrm>
            <a:off x="251520" y="3435846"/>
            <a:ext cx="2664296" cy="815608"/>
          </a:xfrm>
          <a:prstGeom prst="rect">
            <a:avLst/>
          </a:prstGeom>
          <a:noFill/>
        </p:spPr>
        <p:txBody>
          <a:bodyPr wrap="square" rtlCol="0">
            <a:spAutoFit/>
          </a:bodyPr>
          <a:lstStyle/>
          <a:p>
            <a:pPr algn="ctr"/>
            <a:r>
              <a:rPr lang="en-US" sz="1400" noProof="0" dirty="0"/>
              <a:t>the </a:t>
            </a:r>
            <a:r>
              <a:rPr lang="en-US" sz="1400" b="1" noProof="0" dirty="0"/>
              <a:t>event matrix</a:t>
            </a:r>
            <a:r>
              <a:rPr lang="en-US" sz="1400" noProof="0" dirty="0"/>
              <a:t>:</a:t>
            </a:r>
          </a:p>
          <a:p>
            <a:pPr algn="ctr"/>
            <a:endParaRPr lang="en-US" sz="500" noProof="0" dirty="0"/>
          </a:p>
          <a:p>
            <a:pPr algn="ctr"/>
            <a:r>
              <a:rPr lang="en-US" sz="1400" noProof="0" dirty="0"/>
              <a:t>numbers are the years in prison</a:t>
            </a:r>
          </a:p>
          <a:p>
            <a:pPr algn="ctr"/>
            <a:r>
              <a:rPr lang="en-US" sz="1400" noProof="0" dirty="0"/>
              <a:t>as claimed by the district attorney </a:t>
            </a:r>
          </a:p>
        </p:txBody>
      </p:sp>
      <p:sp>
        <p:nvSpPr>
          <p:cNvPr id="6" name="Rechteck 5"/>
          <p:cNvSpPr/>
          <p:nvPr>
            <p:custDataLst>
              <p:tags r:id="rId4"/>
            </p:custDataLst>
          </p:nvPr>
        </p:nvSpPr>
        <p:spPr>
          <a:xfrm>
            <a:off x="239958" y="1131590"/>
            <a:ext cx="1463675" cy="1511300"/>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hteck 6"/>
          <p:cNvSpPr/>
          <p:nvPr>
            <p:custDataLst>
              <p:tags r:id="rId5"/>
            </p:custDataLst>
          </p:nvPr>
        </p:nvSpPr>
        <p:spPr>
          <a:xfrm>
            <a:off x="1680813" y="1131590"/>
            <a:ext cx="1077978" cy="215801"/>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hteck 7"/>
          <p:cNvSpPr/>
          <p:nvPr>
            <p:custDataLst>
              <p:tags r:id="rId6"/>
            </p:custDataLst>
          </p:nvPr>
        </p:nvSpPr>
        <p:spPr>
          <a:xfrm>
            <a:off x="1695637" y="1347391"/>
            <a:ext cx="1063154" cy="1295499"/>
          </a:xfrm>
          <a:prstGeom prst="rect">
            <a:avLst/>
          </a:prstGeom>
          <a:noFill/>
          <a:ln w="28575" cap="flat" cmpd="sng">
            <a:solidFill>
              <a:schemeClr val="bg2"/>
            </a:solidFill>
            <a:prstDash val="solid"/>
            <a:round/>
            <a:headEnd type="none" w="med" len="med"/>
            <a:tailEnd type="none" w="med" len="med"/>
          </a:ln>
          <a:effectLst/>
        </p:spPr>
        <p:txBody>
          <a:bodyPr wrap="none" anchor="ctr"/>
          <a:lstStyle/>
          <a:p>
            <a:endParaRPr lang="en-US" noProof="0" dirty="0">
              <a:solidFill>
                <a:schemeClr val="tx1"/>
              </a:solidFill>
              <a:latin typeface="Arial" charset="0"/>
            </a:endParaRPr>
          </a:p>
        </p:txBody>
      </p:sp>
      <p:sp>
        <p:nvSpPr>
          <p:cNvPr id="10" name="Textfeld 9"/>
          <p:cNvSpPr txBox="1"/>
          <p:nvPr>
            <p:custDataLst>
              <p:tags r:id="rId7"/>
            </p:custDataLst>
          </p:nvPr>
        </p:nvSpPr>
        <p:spPr>
          <a:xfrm>
            <a:off x="3131840" y="1131590"/>
            <a:ext cx="5760640" cy="1754326"/>
          </a:xfrm>
          <a:prstGeom prst="rect">
            <a:avLst/>
          </a:prstGeom>
          <a:noFill/>
        </p:spPr>
        <p:txBody>
          <a:bodyPr wrap="square" rtlCol="0">
            <a:spAutoFit/>
          </a:bodyPr>
          <a:lstStyle/>
          <a:p>
            <a:pPr algn="just"/>
            <a:r>
              <a:rPr lang="en-US" sz="1400" noProof="0" dirty="0"/>
              <a:t>Each of the two suspects has two strategies: not confess and confess</a:t>
            </a:r>
          </a:p>
          <a:p>
            <a:pPr algn="just"/>
            <a:endParaRPr lang="en-US" sz="500" noProof="0" dirty="0"/>
          </a:p>
          <a:p>
            <a:pPr algn="just"/>
            <a:r>
              <a:rPr lang="en-US" sz="1400" noProof="0" dirty="0"/>
              <a:t>This leads to four different events depending on which strategy is chosen:</a:t>
            </a:r>
          </a:p>
          <a:p>
            <a:pPr marL="180975" indent="-180975" algn="just">
              <a:buFont typeface="Arial" pitchFamily="34" charset="0"/>
              <a:buChar char="•"/>
            </a:pPr>
            <a:r>
              <a:rPr lang="en-US" sz="1400" noProof="0" dirty="0"/>
              <a:t>(not confess, not confess): both two years in prison</a:t>
            </a:r>
          </a:p>
          <a:p>
            <a:pPr marL="180975" indent="-180975" algn="just">
              <a:buFont typeface="Arial" pitchFamily="34" charset="0"/>
              <a:buChar char="•"/>
            </a:pPr>
            <a:r>
              <a:rPr lang="en-US" sz="1400" noProof="0" dirty="0"/>
              <a:t>(not confess, confess): 20 years in prison for A, and 1 year in prison for B</a:t>
            </a:r>
          </a:p>
          <a:p>
            <a:pPr marL="180975" indent="-180975" algn="just">
              <a:buFont typeface="Arial" pitchFamily="34" charset="0"/>
              <a:buChar char="•"/>
            </a:pPr>
            <a:r>
              <a:rPr lang="en-US" sz="1400" noProof="0" dirty="0"/>
              <a:t>(confess, not confess): 1 year in prison for A, and 20 years in prison for B</a:t>
            </a:r>
          </a:p>
          <a:p>
            <a:pPr marL="180975" indent="-180975" algn="just">
              <a:buFont typeface="Arial" pitchFamily="34" charset="0"/>
              <a:buChar char="•"/>
            </a:pPr>
            <a:r>
              <a:rPr lang="en-US" sz="1400" noProof="0" dirty="0"/>
              <a:t>(confess, confess): both ten years in prison</a:t>
            </a:r>
          </a:p>
          <a:p>
            <a:pPr algn="just"/>
            <a:endParaRPr lang="en-US" sz="500" noProof="0" dirty="0"/>
          </a:p>
          <a:p>
            <a:pPr algn="just"/>
            <a:r>
              <a:rPr lang="en-US" sz="1400" noProof="0" dirty="0"/>
              <a:t>We thus obtain the following event matrix:</a:t>
            </a:r>
          </a:p>
        </p:txBody>
      </p:sp>
      <p:sp>
        <p:nvSpPr>
          <p:cNvPr id="11" name="Rechteck 10"/>
          <p:cNvSpPr/>
          <p:nvPr/>
        </p:nvSpPr>
        <p:spPr>
          <a:xfrm>
            <a:off x="3131840" y="1131590"/>
            <a:ext cx="5760640" cy="3888432"/>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9" name="Freeform 37"/>
          <p:cNvSpPr>
            <a:spLocks/>
          </p:cNvSpPr>
          <p:nvPr>
            <p:custDataLst>
              <p:tags r:id="rId8"/>
            </p:custDataLst>
          </p:nvPr>
        </p:nvSpPr>
        <p:spPr bwMode="auto">
          <a:xfrm rot="17351823" flipH="1">
            <a:off x="2458915" y="2217785"/>
            <a:ext cx="902240" cy="1680546"/>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28575" cap="flat" cmpd="sng">
            <a:solidFill>
              <a:schemeClr val="tx1">
                <a:lumMod val="50000"/>
                <a:lumOff val="50000"/>
              </a:schemeClr>
            </a:solidFill>
            <a:prstDash val="solid"/>
            <a:round/>
            <a:headEnd type="none" w="med" len="med"/>
            <a:tailEnd type="none" w="med" len="med"/>
          </a:ln>
          <a:effectLst/>
        </p:spPr>
        <p:txBody>
          <a:bodyPr wrap="none" anchor="ctr"/>
          <a:lstStyle/>
          <a:p>
            <a:endParaRPr lang="en-US"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 to come the payoff matrix that considers the individual preferences of each player</a:t>
            </a:r>
          </a:p>
        </p:txBody>
      </p:sp>
      <p:graphicFrame>
        <p:nvGraphicFramePr>
          <p:cNvPr id="3" name="Tabelle 2"/>
          <p:cNvGraphicFramePr>
            <a:graphicFrameLocks noGrp="1"/>
          </p:cNvGraphicFramePr>
          <p:nvPr>
            <p:custDataLst>
              <p:tags r:id="rId1"/>
            </p:custDataLst>
          </p:nvPr>
        </p:nvGraphicFramePr>
        <p:xfrm>
          <a:off x="3851920" y="3291831"/>
          <a:ext cx="3600402" cy="1656183"/>
        </p:xfrm>
        <a:graphic>
          <a:graphicData uri="http://schemas.openxmlformats.org/drawingml/2006/table">
            <a:tbl>
              <a:tblPr firstRow="1" bandRow="1">
                <a:tableStyleId>{5C22544A-7EE6-4342-B048-85BDC9FD1C3A}</a:tableStyleId>
              </a:tblPr>
              <a:tblGrid>
                <a:gridCol w="1200134">
                  <a:extLst>
                    <a:ext uri="{9D8B030D-6E8A-4147-A177-3AD203B41FA5}">
                      <a16:colId xmlns:a16="http://schemas.microsoft.com/office/drawing/2014/main" val="20000"/>
                    </a:ext>
                  </a:extLst>
                </a:gridCol>
                <a:gridCol w="1200134">
                  <a:extLst>
                    <a:ext uri="{9D8B030D-6E8A-4147-A177-3AD203B41FA5}">
                      <a16:colId xmlns:a16="http://schemas.microsoft.com/office/drawing/2014/main" val="20001"/>
                    </a:ext>
                  </a:extLst>
                </a:gridCol>
                <a:gridCol w="1200134">
                  <a:extLst>
                    <a:ext uri="{9D8B030D-6E8A-4147-A177-3AD203B41FA5}">
                      <a16:colId xmlns:a16="http://schemas.microsoft.com/office/drawing/2014/main" val="20002"/>
                    </a:ext>
                  </a:extLst>
                </a:gridCol>
              </a:tblGrid>
              <a:tr h="552061">
                <a:tc>
                  <a:txBody>
                    <a:bodyPr/>
                    <a:lstStyle/>
                    <a:p>
                      <a:pPr algn="ctr"/>
                      <a:r>
                        <a:rPr lang="en-US" sz="1400" b="0" noProof="0" dirty="0">
                          <a:solidFill>
                            <a:schemeClr val="tx1"/>
                          </a:solidFill>
                        </a:rPr>
                        <a:t>player</a:t>
                      </a:r>
                      <a:br>
                        <a:rPr lang="en-US" sz="1400" b="0" noProof="0" dirty="0">
                          <a:solidFill>
                            <a:schemeClr val="tx1"/>
                          </a:solidFill>
                        </a:rPr>
                      </a:br>
                      <a:r>
                        <a:rPr lang="en-US" sz="1400" b="0" noProof="0" dirty="0">
                          <a:solidFill>
                            <a:srgbClr val="FF0000"/>
                          </a:solidFill>
                        </a:rPr>
                        <a:t>A</a:t>
                      </a:r>
                      <a:r>
                        <a:rPr lang="en-US" sz="1400" b="0" noProof="0" dirty="0">
                          <a:solidFill>
                            <a:schemeClr val="tx1"/>
                          </a:solidFill>
                        </a:rPr>
                        <a:t>             </a:t>
                      </a:r>
                      <a:r>
                        <a:rPr lang="en-US" sz="1400" b="0" noProof="0" dirty="0">
                          <a:solidFill>
                            <a:schemeClr val="tx2"/>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not</a:t>
                      </a:r>
                    </a:p>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noProof="0" dirty="0">
                          <a:solidFill>
                            <a:srgbClr val="FF0000"/>
                          </a:solidFill>
                        </a:rPr>
                        <a:t>not</a:t>
                      </a:r>
                    </a:p>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2</a:t>
                      </a:r>
                      <a:r>
                        <a:rPr lang="en-US" sz="1400" noProof="0" dirty="0"/>
                        <a:t>, </a:t>
                      </a:r>
                      <a:r>
                        <a:rPr lang="en-US" sz="1400" noProof="0" dirty="0">
                          <a:solidFill>
                            <a:schemeClr val="tx2"/>
                          </a:solidFill>
                        </a:rPr>
                        <a:t>2</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0</a:t>
                      </a:r>
                      <a:r>
                        <a:rPr lang="en-US" sz="1400" noProof="0" dirty="0"/>
                        <a:t>,</a:t>
                      </a:r>
                      <a:r>
                        <a:rPr lang="en-US" sz="1400" baseline="0" noProof="0" dirty="0"/>
                        <a:t> </a:t>
                      </a:r>
                      <a:r>
                        <a:rPr lang="en-US" sz="1400" baseline="0" noProof="0" dirty="0">
                          <a:solidFill>
                            <a:schemeClr val="tx2"/>
                          </a:solidFill>
                        </a:rPr>
                        <a:t>3</a:t>
                      </a:r>
                      <a:r>
                        <a:rPr lang="en-US" sz="1400" baseline="0" noProof="0" dirty="0"/>
                        <a:t>)</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3</a:t>
                      </a:r>
                      <a:r>
                        <a:rPr lang="en-US" sz="1400" noProof="0" dirty="0"/>
                        <a:t>, </a:t>
                      </a:r>
                      <a:r>
                        <a:rPr lang="en-US" sz="1400" noProof="0" dirty="0">
                          <a:solidFill>
                            <a:schemeClr val="tx2"/>
                          </a:solidFill>
                        </a:rPr>
                        <a:t>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1</a:t>
                      </a:r>
                      <a:r>
                        <a:rPr lang="en-US" sz="1400" noProof="0" dirty="0"/>
                        <a:t>, </a:t>
                      </a:r>
                      <a:r>
                        <a:rPr lang="en-US" sz="1400" noProof="0" dirty="0">
                          <a:solidFill>
                            <a:schemeClr val="tx2"/>
                          </a:solidFill>
                        </a:rPr>
                        <a:t>1</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Textfeld 4"/>
          <p:cNvSpPr txBox="1"/>
          <p:nvPr>
            <p:custDataLst>
              <p:tags r:id="rId2"/>
            </p:custDataLst>
          </p:nvPr>
        </p:nvSpPr>
        <p:spPr>
          <a:xfrm>
            <a:off x="3131840" y="1131590"/>
            <a:ext cx="5760640" cy="1815882"/>
          </a:xfrm>
          <a:prstGeom prst="rect">
            <a:avLst/>
          </a:prstGeom>
          <a:noFill/>
        </p:spPr>
        <p:txBody>
          <a:bodyPr wrap="square" rtlCol="0">
            <a:spAutoFit/>
          </a:bodyPr>
          <a:lstStyle/>
          <a:p>
            <a:pPr algn="just"/>
            <a:r>
              <a:rPr lang="en-US" sz="1400" noProof="0" dirty="0"/>
              <a:t>In order to describe the decision problem completely, we require to know which utilities the players A and B assign to the different outcomes. It seems adequate to assume that both suspects value an imprisonment more the lower in years it is. With an individual ordinal utility function</a:t>
            </a:r>
          </a:p>
          <a:p>
            <a:pPr algn="just"/>
            <a:endParaRPr lang="en-US" sz="1400" noProof="0" dirty="0"/>
          </a:p>
          <a:p>
            <a:pPr algn="ctr"/>
            <a:r>
              <a:rPr lang="en-US" sz="1400" noProof="0" dirty="0"/>
              <a:t>e° is better than e*    </a:t>
            </a:r>
            <a:r>
              <a:rPr lang="en-US" sz="1400" noProof="0" dirty="0">
                <a:sym typeface="Symbol" panose="05050102010706020507" pitchFamily="18" charset="2"/>
              </a:rPr>
              <a:t>    </a:t>
            </a:r>
            <a:r>
              <a:rPr lang="en-US" sz="1400" noProof="0" dirty="0" err="1"/>
              <a:t>u</a:t>
            </a:r>
            <a:r>
              <a:rPr lang="en-US" sz="1400" baseline="-25000" noProof="0" dirty="0" err="1"/>
              <a:t>A</a:t>
            </a:r>
            <a:r>
              <a:rPr lang="en-US" sz="1400" baseline="-25000" noProof="0" dirty="0"/>
              <a:t>, B</a:t>
            </a:r>
            <a:r>
              <a:rPr lang="en-US" sz="1400" noProof="0" dirty="0"/>
              <a:t>(e°) &gt; </a:t>
            </a:r>
            <a:r>
              <a:rPr lang="en-US" sz="1400" noProof="0" dirty="0" err="1"/>
              <a:t>u</a:t>
            </a:r>
            <a:r>
              <a:rPr lang="en-US" sz="1400" baseline="-25000" noProof="0" dirty="0" err="1"/>
              <a:t>A</a:t>
            </a:r>
            <a:r>
              <a:rPr lang="en-US" sz="1400" baseline="-25000" noProof="0" dirty="0"/>
              <a:t>, B</a:t>
            </a:r>
            <a:r>
              <a:rPr lang="en-US" sz="1400" noProof="0" dirty="0"/>
              <a:t>(e*)</a:t>
            </a:r>
          </a:p>
          <a:p>
            <a:pPr algn="just"/>
            <a:endParaRPr lang="en-US" sz="1400" noProof="0" dirty="0"/>
          </a:p>
          <a:p>
            <a:pPr algn="just"/>
            <a:r>
              <a:rPr lang="en-US" sz="1400" noProof="0" dirty="0"/>
              <a:t>we thus obtain the following payoff matrix:</a:t>
            </a:r>
          </a:p>
        </p:txBody>
      </p:sp>
      <p:pic>
        <p:nvPicPr>
          <p:cNvPr id="6" name="Picture 2" descr="http://graphics8.nytimes.com/images/2008/03/09/weekinreview/09shane.xlarge1.jpg"/>
          <p:cNvPicPr>
            <a:picLocks noChangeAspect="1" noChangeArrowheads="1"/>
          </p:cNvPicPr>
          <p:nvPr>
            <p:custDataLst>
              <p:tags r:id="rId3"/>
            </p:custDataLst>
          </p:nvPr>
        </p:nvPicPr>
        <p:blipFill>
          <a:blip r:embed="rId10" cstate="print"/>
          <a:srcRect/>
          <a:stretch>
            <a:fillRect/>
          </a:stretch>
        </p:blipFill>
        <p:spPr bwMode="auto">
          <a:xfrm>
            <a:off x="251520" y="1131590"/>
            <a:ext cx="2518833" cy="1511300"/>
          </a:xfrm>
          <a:prstGeom prst="rect">
            <a:avLst/>
          </a:prstGeom>
          <a:noFill/>
        </p:spPr>
      </p:pic>
      <p:sp>
        <p:nvSpPr>
          <p:cNvPr id="7" name="Rechteck 6"/>
          <p:cNvSpPr/>
          <p:nvPr>
            <p:custDataLst>
              <p:tags r:id="rId4"/>
            </p:custDataLst>
          </p:nvPr>
        </p:nvSpPr>
        <p:spPr>
          <a:xfrm>
            <a:off x="1764383" y="1131590"/>
            <a:ext cx="1008112" cy="1511300"/>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hteck 7"/>
          <p:cNvSpPr/>
          <p:nvPr>
            <p:custDataLst>
              <p:tags r:id="rId5"/>
            </p:custDataLst>
          </p:nvPr>
        </p:nvSpPr>
        <p:spPr>
          <a:xfrm>
            <a:off x="251520" y="1131590"/>
            <a:ext cx="593725" cy="1511300"/>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hteck 8"/>
          <p:cNvSpPr/>
          <p:nvPr>
            <p:custDataLst>
              <p:tags r:id="rId6"/>
            </p:custDataLst>
          </p:nvPr>
        </p:nvSpPr>
        <p:spPr>
          <a:xfrm>
            <a:off x="845245" y="1131590"/>
            <a:ext cx="919138" cy="503833"/>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hteck 9"/>
          <p:cNvSpPr/>
          <p:nvPr/>
        </p:nvSpPr>
        <p:spPr>
          <a:xfrm>
            <a:off x="845245" y="1635423"/>
            <a:ext cx="919138" cy="1007467"/>
          </a:xfrm>
          <a:prstGeom prst="rect">
            <a:avLst/>
          </a:prstGeom>
          <a:noFill/>
          <a:ln w="28575" cap="flat" cmpd="sng">
            <a:solidFill>
              <a:schemeClr val="bg2"/>
            </a:solidFill>
            <a:prstDash val="solid"/>
            <a:round/>
            <a:headEnd type="none" w="med" len="med"/>
            <a:tailEnd type="none" w="med" len="med"/>
          </a:ln>
          <a:effectLst/>
        </p:spPr>
        <p:txBody>
          <a:bodyPr wrap="none" anchor="ctr"/>
          <a:lstStyle/>
          <a:p>
            <a:endParaRPr lang="en-US" noProof="0" dirty="0">
              <a:solidFill>
                <a:schemeClr val="tx1"/>
              </a:solidFill>
              <a:latin typeface="Arial" charset="0"/>
            </a:endParaRPr>
          </a:p>
        </p:txBody>
      </p:sp>
      <p:sp>
        <p:nvSpPr>
          <p:cNvPr id="11" name="Textfeld 10"/>
          <p:cNvSpPr txBox="1"/>
          <p:nvPr>
            <p:custDataLst>
              <p:tags r:id="rId7"/>
            </p:custDataLst>
          </p:nvPr>
        </p:nvSpPr>
        <p:spPr>
          <a:xfrm>
            <a:off x="107505" y="3075806"/>
            <a:ext cx="2880319" cy="1969770"/>
          </a:xfrm>
          <a:prstGeom prst="rect">
            <a:avLst/>
          </a:prstGeom>
          <a:noFill/>
        </p:spPr>
        <p:txBody>
          <a:bodyPr wrap="square" rtlCol="0">
            <a:spAutoFit/>
          </a:bodyPr>
          <a:lstStyle/>
          <a:p>
            <a:pPr algn="ctr"/>
            <a:r>
              <a:rPr lang="en-US" sz="1400" noProof="0" dirty="0"/>
              <a:t>the </a:t>
            </a:r>
            <a:r>
              <a:rPr lang="en-US" sz="1400" b="1" noProof="0" dirty="0"/>
              <a:t>payoff matrix</a:t>
            </a:r>
            <a:r>
              <a:rPr lang="en-US" sz="1400" noProof="0" dirty="0"/>
              <a:t>:</a:t>
            </a:r>
          </a:p>
          <a:p>
            <a:pPr algn="ctr"/>
            <a:endParaRPr lang="en-US" sz="500" noProof="0" dirty="0"/>
          </a:p>
          <a:p>
            <a:pPr algn="ctr"/>
            <a:r>
              <a:rPr lang="en-US" sz="1400" noProof="0" dirty="0"/>
              <a:t>numbers are the utilities each</a:t>
            </a:r>
          </a:p>
          <a:p>
            <a:pPr algn="ctr"/>
            <a:r>
              <a:rPr lang="en-US" sz="1400" noProof="0" dirty="0"/>
              <a:t>player assigns individually</a:t>
            </a:r>
          </a:p>
          <a:p>
            <a:pPr algn="ctr"/>
            <a:r>
              <a:rPr lang="en-US" sz="1400" noProof="0" dirty="0"/>
              <a:t>to the outcomes,</a:t>
            </a:r>
          </a:p>
          <a:p>
            <a:pPr algn="ctr"/>
            <a:r>
              <a:rPr lang="en-US" sz="1400" noProof="0" dirty="0"/>
              <a:t>i.e. the numbers represent an</a:t>
            </a:r>
          </a:p>
          <a:p>
            <a:pPr algn="ctr"/>
            <a:r>
              <a:rPr lang="en-US" sz="1400" noProof="0" dirty="0"/>
              <a:t>ordinal preference structure.</a:t>
            </a:r>
          </a:p>
          <a:p>
            <a:pPr algn="ctr"/>
            <a:endParaRPr lang="en-US" sz="500" noProof="0" dirty="0"/>
          </a:p>
          <a:p>
            <a:pPr algn="ctr"/>
            <a:r>
              <a:rPr lang="en-US" sz="1400" noProof="0" dirty="0"/>
              <a:t>Only the ordinal structure counts, the exact numbers do not matter.</a:t>
            </a:r>
          </a:p>
        </p:txBody>
      </p:sp>
      <p:sp>
        <p:nvSpPr>
          <p:cNvPr id="12" name="Rechteck 11"/>
          <p:cNvSpPr/>
          <p:nvPr/>
        </p:nvSpPr>
        <p:spPr>
          <a:xfrm>
            <a:off x="3131840" y="1131590"/>
            <a:ext cx="5760640" cy="3888432"/>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4" name="Freeform 37"/>
          <p:cNvSpPr>
            <a:spLocks/>
          </p:cNvSpPr>
          <p:nvPr>
            <p:custDataLst>
              <p:tags r:id="rId8"/>
            </p:custDataLst>
          </p:nvPr>
        </p:nvSpPr>
        <p:spPr bwMode="auto">
          <a:xfrm rot="17351823" flipH="1">
            <a:off x="2470477" y="2217785"/>
            <a:ext cx="902240" cy="1680546"/>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28575" cap="flat" cmpd="sng">
            <a:solidFill>
              <a:schemeClr val="tx1">
                <a:lumMod val="50000"/>
                <a:lumOff val="50000"/>
              </a:schemeClr>
            </a:solidFill>
            <a:prstDash val="solid"/>
            <a:round/>
            <a:headEnd type="none" w="med" len="med"/>
            <a:tailEnd type="none" w="med" len="med"/>
          </a:ln>
          <a:effectLst/>
        </p:spPr>
        <p:txBody>
          <a:bodyPr wrap="none" anchor="ctr"/>
          <a:lstStyle/>
          <a:p>
            <a:endParaRPr lang="en-US"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Each of the players has a strictly dominant strategy, though the equilibrium in dominant strategies is Pareto-inefficient …</a:t>
            </a:r>
          </a:p>
        </p:txBody>
      </p:sp>
      <p:graphicFrame>
        <p:nvGraphicFramePr>
          <p:cNvPr id="3" name="Tabelle 2"/>
          <p:cNvGraphicFramePr>
            <a:graphicFrameLocks noGrp="1"/>
          </p:cNvGraphicFramePr>
          <p:nvPr>
            <p:custDataLst>
              <p:tags r:id="rId1"/>
            </p:custDataLst>
          </p:nvPr>
        </p:nvGraphicFramePr>
        <p:xfrm>
          <a:off x="251518" y="1131590"/>
          <a:ext cx="3600402" cy="1656183"/>
        </p:xfrm>
        <a:graphic>
          <a:graphicData uri="http://schemas.openxmlformats.org/drawingml/2006/table">
            <a:tbl>
              <a:tblPr firstRow="1" bandRow="1">
                <a:tableStyleId>{5C22544A-7EE6-4342-B048-85BDC9FD1C3A}</a:tableStyleId>
              </a:tblPr>
              <a:tblGrid>
                <a:gridCol w="1200134">
                  <a:extLst>
                    <a:ext uri="{9D8B030D-6E8A-4147-A177-3AD203B41FA5}">
                      <a16:colId xmlns:a16="http://schemas.microsoft.com/office/drawing/2014/main" val="20000"/>
                    </a:ext>
                  </a:extLst>
                </a:gridCol>
                <a:gridCol w="1200134">
                  <a:extLst>
                    <a:ext uri="{9D8B030D-6E8A-4147-A177-3AD203B41FA5}">
                      <a16:colId xmlns:a16="http://schemas.microsoft.com/office/drawing/2014/main" val="20001"/>
                    </a:ext>
                  </a:extLst>
                </a:gridCol>
                <a:gridCol w="1200134">
                  <a:extLst>
                    <a:ext uri="{9D8B030D-6E8A-4147-A177-3AD203B41FA5}">
                      <a16:colId xmlns:a16="http://schemas.microsoft.com/office/drawing/2014/main" val="20002"/>
                    </a:ext>
                  </a:extLst>
                </a:gridCol>
              </a:tblGrid>
              <a:tr h="552061">
                <a:tc>
                  <a:txBody>
                    <a:bodyPr/>
                    <a:lstStyle/>
                    <a:p>
                      <a:pPr algn="ctr"/>
                      <a:r>
                        <a:rPr lang="en-US" sz="1400" b="0" noProof="0" dirty="0">
                          <a:solidFill>
                            <a:schemeClr val="tx1"/>
                          </a:solidFill>
                        </a:rPr>
                        <a:t>player</a:t>
                      </a:r>
                      <a:br>
                        <a:rPr lang="en-US" sz="1400" b="0" noProof="0" dirty="0">
                          <a:solidFill>
                            <a:schemeClr val="tx1"/>
                          </a:solidFill>
                        </a:rPr>
                      </a:br>
                      <a:r>
                        <a:rPr lang="en-US" sz="1400" b="0" noProof="0" dirty="0">
                          <a:solidFill>
                            <a:srgbClr val="FF0000"/>
                          </a:solidFill>
                        </a:rPr>
                        <a:t>A</a:t>
                      </a:r>
                      <a:r>
                        <a:rPr lang="en-US" sz="1400" b="0" noProof="0" dirty="0">
                          <a:solidFill>
                            <a:schemeClr val="tx1"/>
                          </a:solidFill>
                        </a:rPr>
                        <a:t>             </a:t>
                      </a:r>
                      <a:r>
                        <a:rPr lang="en-US" sz="1400" b="0" noProof="0" dirty="0">
                          <a:solidFill>
                            <a:schemeClr val="tx2"/>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not</a:t>
                      </a:r>
                    </a:p>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noProof="0" dirty="0">
                          <a:solidFill>
                            <a:srgbClr val="FF0000"/>
                          </a:solidFill>
                        </a:rPr>
                        <a:t>not</a:t>
                      </a:r>
                    </a:p>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2</a:t>
                      </a:r>
                      <a:r>
                        <a:rPr lang="en-US" sz="1400" noProof="0" dirty="0"/>
                        <a:t>, </a:t>
                      </a:r>
                      <a:r>
                        <a:rPr lang="en-US" sz="1400" noProof="0" dirty="0">
                          <a:solidFill>
                            <a:schemeClr val="tx2"/>
                          </a:solidFill>
                        </a:rPr>
                        <a:t>2</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0</a:t>
                      </a:r>
                      <a:r>
                        <a:rPr lang="en-US" sz="1400" noProof="0" dirty="0"/>
                        <a:t>,</a:t>
                      </a:r>
                      <a:r>
                        <a:rPr lang="en-US" sz="1400" baseline="0" noProof="0" dirty="0"/>
                        <a:t> </a:t>
                      </a:r>
                      <a:r>
                        <a:rPr lang="en-US" sz="1400" baseline="0" noProof="0" dirty="0">
                          <a:solidFill>
                            <a:schemeClr val="tx2"/>
                          </a:solidFill>
                        </a:rPr>
                        <a:t>3</a:t>
                      </a:r>
                      <a:r>
                        <a:rPr lang="en-US" sz="1400" baseline="0" noProof="0" dirty="0"/>
                        <a:t>)</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3</a:t>
                      </a:r>
                      <a:r>
                        <a:rPr lang="en-US" sz="1400" noProof="0" dirty="0"/>
                        <a:t>, </a:t>
                      </a:r>
                      <a:r>
                        <a:rPr lang="en-US" sz="1400" noProof="0" dirty="0">
                          <a:solidFill>
                            <a:schemeClr val="tx2"/>
                          </a:solidFill>
                        </a:rPr>
                        <a:t>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1</a:t>
                      </a:r>
                      <a:r>
                        <a:rPr lang="en-US" sz="1400" noProof="0" dirty="0"/>
                        <a:t>, </a:t>
                      </a:r>
                      <a:r>
                        <a:rPr lang="en-US" sz="1400" noProof="0" dirty="0">
                          <a:solidFill>
                            <a:schemeClr val="tx2"/>
                          </a:solidFill>
                        </a:rPr>
                        <a:t>1</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sp>
        <p:nvSpPr>
          <p:cNvPr id="4" name="Textfeld 3"/>
          <p:cNvSpPr txBox="1"/>
          <p:nvPr/>
        </p:nvSpPr>
        <p:spPr>
          <a:xfrm>
            <a:off x="4499992" y="1131590"/>
            <a:ext cx="4392488" cy="2693045"/>
          </a:xfrm>
          <a:prstGeom prst="rect">
            <a:avLst/>
          </a:prstGeom>
          <a:noFill/>
        </p:spPr>
        <p:txBody>
          <a:bodyPr wrap="square" rtlCol="0">
            <a:spAutoFit/>
          </a:bodyPr>
          <a:lstStyle/>
          <a:p>
            <a:pPr>
              <a:spcAft>
                <a:spcPts val="600"/>
              </a:spcAft>
            </a:pPr>
            <a:r>
              <a:rPr lang="en-US" sz="1400" noProof="0" dirty="0"/>
              <a:t>Assuming rational agents, each player is interested in the maximization of their own payoff (and not in the maximization of a common payoff).</a:t>
            </a:r>
          </a:p>
          <a:p>
            <a:pPr>
              <a:spcAft>
                <a:spcPts val="600"/>
              </a:spcAft>
            </a:pPr>
            <a:r>
              <a:rPr lang="en-US" sz="1400" noProof="0" dirty="0"/>
              <a:t>In particular, both players A and B have the </a:t>
            </a:r>
            <a:r>
              <a:rPr lang="en-US" sz="1400" b="1" noProof="0" dirty="0"/>
              <a:t>strictly dominant strategy</a:t>
            </a:r>
            <a:r>
              <a:rPr lang="en-US" sz="1400" noProof="0" dirty="0"/>
              <a:t> to “confess”.</a:t>
            </a:r>
          </a:p>
          <a:p>
            <a:pPr>
              <a:spcAft>
                <a:spcPts val="600"/>
              </a:spcAft>
            </a:pPr>
            <a:r>
              <a:rPr lang="en-US" sz="1400" noProof="0" dirty="0"/>
              <a:t>Thus, the </a:t>
            </a:r>
            <a:r>
              <a:rPr lang="en-US" sz="1400" b="1" noProof="0" dirty="0"/>
              <a:t>solution concept </a:t>
            </a:r>
            <a:r>
              <a:rPr lang="en-US" sz="1400" noProof="0" dirty="0"/>
              <a:t>of an </a:t>
            </a:r>
            <a:r>
              <a:rPr lang="en-US" sz="1400" b="1" noProof="0" dirty="0"/>
              <a:t>equilibrium in dominant strategies </a:t>
            </a:r>
            <a:r>
              <a:rPr lang="en-US" sz="1400" noProof="0" dirty="0"/>
              <a:t>describes the result of the prisoner’s dilemma game.</a:t>
            </a:r>
          </a:p>
          <a:p>
            <a:pPr>
              <a:spcAft>
                <a:spcPts val="600"/>
              </a:spcAft>
            </a:pPr>
            <a:r>
              <a:rPr lang="en-US" sz="1400" noProof="0" dirty="0"/>
              <a:t>But, this result is </a:t>
            </a:r>
            <a:r>
              <a:rPr lang="en-US" sz="1400" b="1" noProof="0" dirty="0"/>
              <a:t>inefficient</a:t>
            </a:r>
            <a:r>
              <a:rPr lang="en-US" sz="1400" noProof="0" dirty="0"/>
              <a:t> or </a:t>
            </a:r>
            <a:r>
              <a:rPr lang="en-US" sz="1400" b="1" noProof="0" dirty="0"/>
              <a:t>Pareto-inefficient</a:t>
            </a:r>
            <a:r>
              <a:rPr lang="en-US" sz="1400" noProof="0" dirty="0"/>
              <a:t>, as both players could have done better if they both had chosen “not confess” instead of “confess”.</a:t>
            </a:r>
          </a:p>
        </p:txBody>
      </p:sp>
      <p:sp>
        <p:nvSpPr>
          <p:cNvPr id="6" name="Legende mit Linie 1 (Rahmen und Markierungsleiste) 5"/>
          <p:cNvSpPr/>
          <p:nvPr/>
        </p:nvSpPr>
        <p:spPr>
          <a:xfrm>
            <a:off x="827582" y="3003798"/>
            <a:ext cx="1584176" cy="504056"/>
          </a:xfrm>
          <a:prstGeom prst="accentBorderCallout1">
            <a:avLst>
              <a:gd name="adj1" fmla="val 29421"/>
              <a:gd name="adj2" fmla="val 104316"/>
              <a:gd name="adj3" fmla="val -59200"/>
              <a:gd name="adj4" fmla="val 131555"/>
            </a:avLst>
          </a:prstGeom>
          <a:solidFill>
            <a:srgbClr val="FFFF0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2"/>
                </a:solidFill>
              </a:rPr>
              <a:t>result</a:t>
            </a:r>
          </a:p>
          <a:p>
            <a:pPr algn="ctr"/>
            <a:r>
              <a:rPr lang="en-US" sz="1400" noProof="0" dirty="0">
                <a:solidFill>
                  <a:schemeClr val="tx2"/>
                </a:solidFill>
              </a:rPr>
              <a:t>(here: inefficient)</a:t>
            </a:r>
          </a:p>
        </p:txBody>
      </p:sp>
      <p:sp>
        <p:nvSpPr>
          <p:cNvPr id="7" name="Rechteck 6"/>
          <p:cNvSpPr/>
          <p:nvPr/>
        </p:nvSpPr>
        <p:spPr>
          <a:xfrm>
            <a:off x="4499992" y="1131590"/>
            <a:ext cx="4392488" cy="3888432"/>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 this is in general the characterization of a prisoner’s dilemma situation</a:t>
            </a:r>
          </a:p>
        </p:txBody>
      </p:sp>
      <p:graphicFrame>
        <p:nvGraphicFramePr>
          <p:cNvPr id="3" name="Tabelle 2"/>
          <p:cNvGraphicFramePr>
            <a:graphicFrameLocks noGrp="1"/>
          </p:cNvGraphicFramePr>
          <p:nvPr>
            <p:custDataLst>
              <p:tags r:id="rId1"/>
            </p:custDataLst>
          </p:nvPr>
        </p:nvGraphicFramePr>
        <p:xfrm>
          <a:off x="251518" y="1131590"/>
          <a:ext cx="3600402" cy="1540376"/>
        </p:xfrm>
        <a:graphic>
          <a:graphicData uri="http://schemas.openxmlformats.org/drawingml/2006/table">
            <a:tbl>
              <a:tblPr firstRow="1" bandRow="1">
                <a:tableStyleId>{5C22544A-7EE6-4342-B048-85BDC9FD1C3A}</a:tableStyleId>
              </a:tblPr>
              <a:tblGrid>
                <a:gridCol w="1200134">
                  <a:extLst>
                    <a:ext uri="{9D8B030D-6E8A-4147-A177-3AD203B41FA5}">
                      <a16:colId xmlns:a16="http://schemas.microsoft.com/office/drawing/2014/main" val="20000"/>
                    </a:ext>
                  </a:extLst>
                </a:gridCol>
                <a:gridCol w="1200134">
                  <a:extLst>
                    <a:ext uri="{9D8B030D-6E8A-4147-A177-3AD203B41FA5}">
                      <a16:colId xmlns:a16="http://schemas.microsoft.com/office/drawing/2014/main" val="20001"/>
                    </a:ext>
                  </a:extLst>
                </a:gridCol>
                <a:gridCol w="1200134">
                  <a:extLst>
                    <a:ext uri="{9D8B030D-6E8A-4147-A177-3AD203B41FA5}">
                      <a16:colId xmlns:a16="http://schemas.microsoft.com/office/drawing/2014/main" val="20002"/>
                    </a:ext>
                  </a:extLst>
                </a:gridCol>
              </a:tblGrid>
              <a:tr h="504056">
                <a:tc>
                  <a:txBody>
                    <a:bodyPr/>
                    <a:lstStyle/>
                    <a:p>
                      <a:pPr algn="ctr"/>
                      <a:r>
                        <a:rPr lang="en-US" sz="1400" b="0" noProof="0" dirty="0">
                          <a:solidFill>
                            <a:schemeClr val="tx1"/>
                          </a:solidFill>
                        </a:rPr>
                        <a:t>player</a:t>
                      </a:r>
                      <a:br>
                        <a:rPr lang="en-US" sz="1400" b="0" noProof="0" dirty="0">
                          <a:solidFill>
                            <a:schemeClr val="tx1"/>
                          </a:solidFill>
                        </a:rPr>
                      </a:br>
                      <a:r>
                        <a:rPr lang="en-US" sz="1400" b="0" noProof="0" dirty="0">
                          <a:solidFill>
                            <a:srgbClr val="FF0000"/>
                          </a:solidFill>
                        </a:rPr>
                        <a:t>A</a:t>
                      </a:r>
                      <a:r>
                        <a:rPr lang="en-US" sz="1400" b="0" noProof="0" dirty="0">
                          <a:solidFill>
                            <a:schemeClr val="tx1"/>
                          </a:solidFill>
                        </a:rPr>
                        <a:t>             </a:t>
                      </a:r>
                      <a:r>
                        <a:rPr lang="en-US" sz="1400" b="0" noProof="0" dirty="0">
                          <a:solidFill>
                            <a:schemeClr val="tx2"/>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not</a:t>
                      </a:r>
                    </a:p>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4056">
                <a:tc>
                  <a:txBody>
                    <a:bodyPr/>
                    <a:lstStyle/>
                    <a:p>
                      <a:pPr algn="ctr"/>
                      <a:r>
                        <a:rPr lang="en-US" sz="1400" noProof="0" dirty="0">
                          <a:solidFill>
                            <a:srgbClr val="FF0000"/>
                          </a:solidFill>
                        </a:rPr>
                        <a:t>not</a:t>
                      </a:r>
                    </a:p>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2</a:t>
                      </a:r>
                      <a:r>
                        <a:rPr lang="en-US" sz="1400" noProof="0" dirty="0"/>
                        <a:t>, </a:t>
                      </a:r>
                      <a:r>
                        <a:rPr lang="en-US" sz="1400" noProof="0" dirty="0">
                          <a:solidFill>
                            <a:schemeClr val="tx2"/>
                          </a:solidFill>
                        </a:rPr>
                        <a:t>2</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0</a:t>
                      </a:r>
                      <a:r>
                        <a:rPr lang="en-US" sz="1400" noProof="0" dirty="0"/>
                        <a:t>,</a:t>
                      </a:r>
                      <a:r>
                        <a:rPr lang="en-US" sz="1400" baseline="0" noProof="0" dirty="0"/>
                        <a:t> </a:t>
                      </a:r>
                      <a:r>
                        <a:rPr lang="en-US" sz="1400" baseline="0" noProof="0" dirty="0">
                          <a:solidFill>
                            <a:schemeClr val="tx2"/>
                          </a:solidFill>
                        </a:rPr>
                        <a:t>3</a:t>
                      </a:r>
                      <a:r>
                        <a:rPr lang="en-US" sz="1400" baseline="0" noProof="0" dirty="0"/>
                        <a:t>)</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4056">
                <a:tc>
                  <a:txBody>
                    <a:bodyPr/>
                    <a:lstStyle/>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3</a:t>
                      </a:r>
                      <a:r>
                        <a:rPr lang="en-US" sz="1400" noProof="0" dirty="0"/>
                        <a:t>, </a:t>
                      </a:r>
                      <a:r>
                        <a:rPr lang="en-US" sz="1400" noProof="0" dirty="0">
                          <a:solidFill>
                            <a:schemeClr val="tx2"/>
                          </a:solidFill>
                        </a:rPr>
                        <a:t>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1</a:t>
                      </a:r>
                      <a:r>
                        <a:rPr lang="en-US" sz="1400" noProof="0" dirty="0"/>
                        <a:t>, </a:t>
                      </a:r>
                      <a:r>
                        <a:rPr lang="en-US" sz="1400" noProof="0" dirty="0">
                          <a:solidFill>
                            <a:schemeClr val="tx2"/>
                          </a:solidFill>
                        </a:rPr>
                        <a:t>1</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4" name="Tabelle 3"/>
          <p:cNvGraphicFramePr>
            <a:graphicFrameLocks noGrp="1"/>
          </p:cNvGraphicFramePr>
          <p:nvPr>
            <p:custDataLst>
              <p:tags r:id="rId2"/>
            </p:custDataLst>
          </p:nvPr>
        </p:nvGraphicFramePr>
        <p:xfrm>
          <a:off x="251518" y="3479646"/>
          <a:ext cx="3600402" cy="1540376"/>
        </p:xfrm>
        <a:graphic>
          <a:graphicData uri="http://schemas.openxmlformats.org/drawingml/2006/table">
            <a:tbl>
              <a:tblPr firstRow="1" bandRow="1">
                <a:tableStyleId>{5C22544A-7EE6-4342-B048-85BDC9FD1C3A}</a:tableStyleId>
              </a:tblPr>
              <a:tblGrid>
                <a:gridCol w="1200134">
                  <a:extLst>
                    <a:ext uri="{9D8B030D-6E8A-4147-A177-3AD203B41FA5}">
                      <a16:colId xmlns:a16="http://schemas.microsoft.com/office/drawing/2014/main" val="20000"/>
                    </a:ext>
                  </a:extLst>
                </a:gridCol>
                <a:gridCol w="1200134">
                  <a:extLst>
                    <a:ext uri="{9D8B030D-6E8A-4147-A177-3AD203B41FA5}">
                      <a16:colId xmlns:a16="http://schemas.microsoft.com/office/drawing/2014/main" val="20001"/>
                    </a:ext>
                  </a:extLst>
                </a:gridCol>
                <a:gridCol w="1200134">
                  <a:extLst>
                    <a:ext uri="{9D8B030D-6E8A-4147-A177-3AD203B41FA5}">
                      <a16:colId xmlns:a16="http://schemas.microsoft.com/office/drawing/2014/main" val="20002"/>
                    </a:ext>
                  </a:extLst>
                </a:gridCol>
              </a:tblGrid>
              <a:tr h="504056">
                <a:tc>
                  <a:txBody>
                    <a:bodyPr/>
                    <a:lstStyle/>
                    <a:p>
                      <a:pPr algn="ctr"/>
                      <a:r>
                        <a:rPr lang="en-US" sz="1400" b="0" noProof="0" dirty="0">
                          <a:solidFill>
                            <a:schemeClr val="tx1"/>
                          </a:solidFill>
                        </a:rPr>
                        <a:t>player</a:t>
                      </a:r>
                      <a:br>
                        <a:rPr lang="en-US" sz="1400" b="0" noProof="0" dirty="0">
                          <a:solidFill>
                            <a:schemeClr val="tx1"/>
                          </a:solidFill>
                        </a:rPr>
                      </a:br>
                      <a:r>
                        <a:rPr lang="en-US" sz="1400" b="0" noProof="0" dirty="0">
                          <a:solidFill>
                            <a:srgbClr val="FF0000"/>
                          </a:solidFill>
                        </a:rPr>
                        <a:t>A</a:t>
                      </a:r>
                      <a:r>
                        <a:rPr lang="en-US" sz="1400" b="0" noProof="0" dirty="0">
                          <a:solidFill>
                            <a:schemeClr val="tx1"/>
                          </a:solidFill>
                        </a:rPr>
                        <a:t>             </a:t>
                      </a:r>
                      <a:r>
                        <a:rPr lang="en-US" sz="1400" b="0" noProof="0" dirty="0">
                          <a:solidFill>
                            <a:schemeClr val="tx2"/>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not</a:t>
                      </a:r>
                    </a:p>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4056">
                <a:tc>
                  <a:txBody>
                    <a:bodyPr/>
                    <a:lstStyle/>
                    <a:p>
                      <a:pPr algn="ctr"/>
                      <a:r>
                        <a:rPr lang="en-US" sz="1400" noProof="0" dirty="0">
                          <a:solidFill>
                            <a:srgbClr val="FF0000"/>
                          </a:solidFill>
                        </a:rPr>
                        <a:t>not</a:t>
                      </a:r>
                    </a:p>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80</a:t>
                      </a:r>
                      <a:r>
                        <a:rPr lang="en-US" sz="1400" noProof="0" dirty="0"/>
                        <a:t>, </a:t>
                      </a:r>
                      <a:r>
                        <a:rPr lang="en-US" sz="1400" noProof="0" dirty="0">
                          <a:solidFill>
                            <a:schemeClr val="tx2"/>
                          </a:solidFill>
                        </a:rPr>
                        <a:t>20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25</a:t>
                      </a:r>
                      <a:r>
                        <a:rPr lang="en-US" sz="1400" noProof="0" dirty="0"/>
                        <a:t>,</a:t>
                      </a:r>
                      <a:r>
                        <a:rPr lang="en-US" sz="1400" baseline="0" noProof="0" dirty="0"/>
                        <a:t> </a:t>
                      </a:r>
                      <a:r>
                        <a:rPr lang="en-US" sz="1400" baseline="0" noProof="0" dirty="0">
                          <a:solidFill>
                            <a:schemeClr val="tx2"/>
                          </a:solidFill>
                        </a:rPr>
                        <a:t>30</a:t>
                      </a:r>
                      <a:r>
                        <a:rPr lang="en-US" sz="1400" baseline="0" noProof="0" dirty="0"/>
                        <a:t>)</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4056">
                <a:tc>
                  <a:txBody>
                    <a:bodyPr/>
                    <a:lstStyle/>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150</a:t>
                      </a:r>
                      <a:r>
                        <a:rPr lang="en-US" sz="1400" noProof="0" dirty="0"/>
                        <a:t>, </a:t>
                      </a:r>
                      <a:r>
                        <a:rPr lang="en-US" sz="1400" noProof="0" dirty="0">
                          <a:solidFill>
                            <a:schemeClr val="tx2"/>
                          </a:solidFill>
                        </a:rPr>
                        <a:t>10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50</a:t>
                      </a:r>
                      <a:r>
                        <a:rPr lang="en-US" sz="1400" noProof="0" dirty="0"/>
                        <a:t>, </a:t>
                      </a:r>
                      <a:r>
                        <a:rPr lang="en-US" sz="1400" noProof="0" dirty="0">
                          <a:solidFill>
                            <a:schemeClr val="tx2"/>
                          </a:solidFill>
                        </a:rPr>
                        <a:t>15</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Textfeld 4"/>
          <p:cNvSpPr txBox="1"/>
          <p:nvPr/>
        </p:nvSpPr>
        <p:spPr>
          <a:xfrm>
            <a:off x="4499992" y="1131590"/>
            <a:ext cx="4392488" cy="3200876"/>
          </a:xfrm>
          <a:prstGeom prst="rect">
            <a:avLst/>
          </a:prstGeom>
          <a:noFill/>
        </p:spPr>
        <p:txBody>
          <a:bodyPr wrap="square" rtlCol="0">
            <a:spAutoFit/>
          </a:bodyPr>
          <a:lstStyle/>
          <a:p>
            <a:pPr>
              <a:spcAft>
                <a:spcPts val="600"/>
              </a:spcAft>
            </a:pPr>
            <a:r>
              <a:rPr lang="en-US" sz="1400" noProof="0" dirty="0"/>
              <a:t>The fundamental structural properties of the prisoner’s dilemma are:</a:t>
            </a:r>
          </a:p>
          <a:p>
            <a:pPr marL="342900" indent="-342900">
              <a:spcAft>
                <a:spcPts val="600"/>
              </a:spcAft>
              <a:buFont typeface="+mj-lt"/>
              <a:buAutoNum type="arabicPeriod"/>
            </a:pPr>
            <a:r>
              <a:rPr lang="en-US" sz="1400" noProof="0" dirty="0"/>
              <a:t>Every player has a </a:t>
            </a:r>
            <a:r>
              <a:rPr lang="en-US" sz="1400" b="1" noProof="0" dirty="0"/>
              <a:t>strictly dominant strategy</a:t>
            </a:r>
            <a:r>
              <a:rPr lang="en-US" sz="1400" noProof="0" dirty="0"/>
              <a:t>, and</a:t>
            </a:r>
          </a:p>
          <a:p>
            <a:pPr marL="342900" indent="-342900">
              <a:spcAft>
                <a:spcPts val="600"/>
              </a:spcAft>
              <a:buFont typeface="+mj-lt"/>
              <a:buAutoNum type="arabicPeriod"/>
            </a:pPr>
            <a:r>
              <a:rPr lang="en-US" sz="1400" noProof="0" dirty="0"/>
              <a:t>The choice of the strictly dominant strategy leads to a result, determined by an </a:t>
            </a:r>
            <a:r>
              <a:rPr lang="en-US" sz="1400" b="1" noProof="0" dirty="0"/>
              <a:t>equilibrium in dominant strategies</a:t>
            </a:r>
            <a:r>
              <a:rPr lang="en-US" sz="1400" noProof="0" dirty="0"/>
              <a:t>, that is </a:t>
            </a:r>
            <a:r>
              <a:rPr lang="en-US" sz="1400" b="1" noProof="0" dirty="0"/>
              <a:t>inefficient</a:t>
            </a:r>
            <a:r>
              <a:rPr lang="en-US" sz="1400" noProof="0" dirty="0"/>
              <a:t>/ </a:t>
            </a:r>
            <a:r>
              <a:rPr lang="en-US" sz="1400" b="1" noProof="0" dirty="0"/>
              <a:t>Pareto-inefficient</a:t>
            </a:r>
            <a:r>
              <a:rPr lang="en-US" sz="1400" noProof="0" dirty="0"/>
              <a:t> from the point of view of the individual player: both players could do better without worsening the situation of the other player.</a:t>
            </a:r>
          </a:p>
          <a:p>
            <a:pPr>
              <a:spcAft>
                <a:spcPts val="600"/>
              </a:spcAft>
            </a:pPr>
            <a:endParaRPr lang="en-US" sz="1400" u="sng" noProof="0" dirty="0"/>
          </a:p>
          <a:p>
            <a:pPr>
              <a:spcAft>
                <a:spcPts val="600"/>
              </a:spcAft>
            </a:pPr>
            <a:r>
              <a:rPr lang="en-US" sz="1400" u="sng" noProof="0" dirty="0"/>
              <a:t>Note:</a:t>
            </a:r>
            <a:r>
              <a:rPr lang="en-US" sz="1400" noProof="0" dirty="0"/>
              <a:t> We are discussing games in their </a:t>
            </a:r>
            <a:r>
              <a:rPr lang="en-US" sz="1400" b="1" noProof="0" dirty="0"/>
              <a:t>matrix-form</a:t>
            </a:r>
            <a:r>
              <a:rPr lang="en-US" sz="1400" noProof="0" dirty="0"/>
              <a:t>, this representation is called </a:t>
            </a:r>
            <a:r>
              <a:rPr lang="en-US" sz="1400" b="1" noProof="0" dirty="0"/>
              <a:t>normal-form </a:t>
            </a:r>
            <a:r>
              <a:rPr lang="en-US" sz="1400" noProof="0" dirty="0"/>
              <a:t>or </a:t>
            </a:r>
            <a:r>
              <a:rPr lang="en-US" sz="1400" b="1" noProof="0" dirty="0"/>
              <a:t>strategic-form </a:t>
            </a:r>
            <a:r>
              <a:rPr lang="en-US" sz="1400" noProof="0" dirty="0"/>
              <a:t>of a game as well.</a:t>
            </a:r>
          </a:p>
        </p:txBody>
      </p:sp>
      <p:sp>
        <p:nvSpPr>
          <p:cNvPr id="7" name="Textfeld 6"/>
          <p:cNvSpPr txBox="1"/>
          <p:nvPr/>
        </p:nvSpPr>
        <p:spPr>
          <a:xfrm>
            <a:off x="179510" y="2956425"/>
            <a:ext cx="3024336" cy="523220"/>
          </a:xfrm>
          <a:prstGeom prst="rect">
            <a:avLst/>
          </a:prstGeom>
          <a:noFill/>
        </p:spPr>
        <p:txBody>
          <a:bodyPr wrap="square" rtlCol="0">
            <a:spAutoFit/>
          </a:bodyPr>
          <a:lstStyle/>
          <a:p>
            <a:r>
              <a:rPr lang="en-US" sz="1400" noProof="0" dirty="0"/>
              <a:t>At a payoff matrix only the ordinal structures count:</a:t>
            </a:r>
          </a:p>
        </p:txBody>
      </p:sp>
      <p:sp>
        <p:nvSpPr>
          <p:cNvPr id="8" name="Rechteck 7"/>
          <p:cNvSpPr/>
          <p:nvPr/>
        </p:nvSpPr>
        <p:spPr>
          <a:xfrm>
            <a:off x="4499992" y="1131590"/>
            <a:ext cx="4392488" cy="3888432"/>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Often, the strategies of the “suspects” are labeled as cooperative and non-cooperative behavior</a:t>
            </a:r>
          </a:p>
        </p:txBody>
      </p:sp>
      <p:graphicFrame>
        <p:nvGraphicFramePr>
          <p:cNvPr id="6" name="Tabelle 5"/>
          <p:cNvGraphicFramePr>
            <a:graphicFrameLocks noGrp="1"/>
          </p:cNvGraphicFramePr>
          <p:nvPr>
            <p:custDataLst>
              <p:tags r:id="rId1"/>
            </p:custDataLst>
          </p:nvPr>
        </p:nvGraphicFramePr>
        <p:xfrm>
          <a:off x="251518" y="1347614"/>
          <a:ext cx="3600402" cy="1656183"/>
        </p:xfrm>
        <a:graphic>
          <a:graphicData uri="http://schemas.openxmlformats.org/drawingml/2006/table">
            <a:tbl>
              <a:tblPr firstRow="1" bandRow="1">
                <a:tableStyleId>{5C22544A-7EE6-4342-B048-85BDC9FD1C3A}</a:tableStyleId>
              </a:tblPr>
              <a:tblGrid>
                <a:gridCol w="1200134">
                  <a:extLst>
                    <a:ext uri="{9D8B030D-6E8A-4147-A177-3AD203B41FA5}">
                      <a16:colId xmlns:a16="http://schemas.microsoft.com/office/drawing/2014/main" val="20000"/>
                    </a:ext>
                  </a:extLst>
                </a:gridCol>
                <a:gridCol w="1200134">
                  <a:extLst>
                    <a:ext uri="{9D8B030D-6E8A-4147-A177-3AD203B41FA5}">
                      <a16:colId xmlns:a16="http://schemas.microsoft.com/office/drawing/2014/main" val="20001"/>
                    </a:ext>
                  </a:extLst>
                </a:gridCol>
                <a:gridCol w="1200134">
                  <a:extLst>
                    <a:ext uri="{9D8B030D-6E8A-4147-A177-3AD203B41FA5}">
                      <a16:colId xmlns:a16="http://schemas.microsoft.com/office/drawing/2014/main" val="20002"/>
                    </a:ext>
                  </a:extLst>
                </a:gridCol>
              </a:tblGrid>
              <a:tr h="552061">
                <a:tc>
                  <a:txBody>
                    <a:bodyPr/>
                    <a:lstStyle/>
                    <a:p>
                      <a:pPr algn="ctr"/>
                      <a:r>
                        <a:rPr lang="en-US" sz="1400" b="0" noProof="0" dirty="0">
                          <a:solidFill>
                            <a:schemeClr val="tx1"/>
                          </a:solidFill>
                        </a:rPr>
                        <a:t>player</a:t>
                      </a:r>
                      <a:br>
                        <a:rPr lang="en-US" sz="1400" b="0" noProof="0" dirty="0">
                          <a:solidFill>
                            <a:schemeClr val="tx1"/>
                          </a:solidFill>
                        </a:rPr>
                      </a:br>
                      <a:r>
                        <a:rPr lang="en-US" sz="1400" b="0" noProof="0" dirty="0">
                          <a:solidFill>
                            <a:srgbClr val="FF0000"/>
                          </a:solidFill>
                        </a:rPr>
                        <a:t>A</a:t>
                      </a:r>
                      <a:r>
                        <a:rPr lang="en-US" sz="1400" b="0" noProof="0" dirty="0">
                          <a:solidFill>
                            <a:schemeClr val="tx1"/>
                          </a:solidFill>
                        </a:rPr>
                        <a:t>             </a:t>
                      </a:r>
                      <a:r>
                        <a:rPr lang="en-US" sz="1400" b="0" noProof="0" dirty="0">
                          <a:solidFill>
                            <a:schemeClr val="tx2"/>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not</a:t>
                      </a:r>
                    </a:p>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noProof="0" dirty="0">
                          <a:solidFill>
                            <a:srgbClr val="FF0000"/>
                          </a:solidFill>
                        </a:rPr>
                        <a:t>not</a:t>
                      </a:r>
                    </a:p>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2</a:t>
                      </a:r>
                      <a:r>
                        <a:rPr lang="en-US" sz="1400" noProof="0" dirty="0"/>
                        <a:t>, </a:t>
                      </a:r>
                      <a:r>
                        <a:rPr lang="en-US" sz="1400" noProof="0" dirty="0">
                          <a:solidFill>
                            <a:schemeClr val="tx2"/>
                          </a:solidFill>
                        </a:rPr>
                        <a:t>2</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0</a:t>
                      </a:r>
                      <a:r>
                        <a:rPr lang="en-US" sz="1400" noProof="0" dirty="0"/>
                        <a:t>,</a:t>
                      </a:r>
                      <a:r>
                        <a:rPr lang="en-US" sz="1400" baseline="0" noProof="0" dirty="0"/>
                        <a:t> </a:t>
                      </a:r>
                      <a:r>
                        <a:rPr lang="en-US" sz="1400" baseline="0" noProof="0" dirty="0">
                          <a:solidFill>
                            <a:schemeClr val="tx2"/>
                          </a:solidFill>
                        </a:rPr>
                        <a:t>3</a:t>
                      </a:r>
                      <a:r>
                        <a:rPr lang="en-US" sz="1400" baseline="0" noProof="0" dirty="0"/>
                        <a:t>)</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noProof="0" dirty="0">
                          <a:solidFill>
                            <a:srgbClr val="FF0000"/>
                          </a:solidFill>
                        </a:rPr>
                        <a:t>confess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3</a:t>
                      </a:r>
                      <a:r>
                        <a:rPr lang="en-US" sz="1400" noProof="0" dirty="0"/>
                        <a:t>, </a:t>
                      </a:r>
                      <a:r>
                        <a:rPr lang="en-US" sz="1400" noProof="0" dirty="0">
                          <a:solidFill>
                            <a:schemeClr val="tx2"/>
                          </a:solidFill>
                        </a:rPr>
                        <a:t>0</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1</a:t>
                      </a:r>
                      <a:r>
                        <a:rPr lang="en-US" sz="1400" noProof="0" dirty="0"/>
                        <a:t>, </a:t>
                      </a:r>
                      <a:r>
                        <a:rPr lang="en-US" sz="1400" noProof="0" dirty="0">
                          <a:solidFill>
                            <a:schemeClr val="tx2"/>
                          </a:solidFill>
                        </a:rPr>
                        <a:t>1</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7" name="Tabelle 6"/>
          <p:cNvGraphicFramePr>
            <a:graphicFrameLocks noGrp="1"/>
          </p:cNvGraphicFramePr>
          <p:nvPr>
            <p:custDataLst>
              <p:tags r:id="rId2"/>
            </p:custDataLst>
          </p:nvPr>
        </p:nvGraphicFramePr>
        <p:xfrm>
          <a:off x="5292080" y="1131590"/>
          <a:ext cx="3600402" cy="1656183"/>
        </p:xfrm>
        <a:graphic>
          <a:graphicData uri="http://schemas.openxmlformats.org/drawingml/2006/table">
            <a:tbl>
              <a:tblPr firstRow="1" bandRow="1">
                <a:tableStyleId>{5C22544A-7EE6-4342-B048-85BDC9FD1C3A}</a:tableStyleId>
              </a:tblPr>
              <a:tblGrid>
                <a:gridCol w="1200134">
                  <a:extLst>
                    <a:ext uri="{9D8B030D-6E8A-4147-A177-3AD203B41FA5}">
                      <a16:colId xmlns:a16="http://schemas.microsoft.com/office/drawing/2014/main" val="20000"/>
                    </a:ext>
                  </a:extLst>
                </a:gridCol>
                <a:gridCol w="1200134">
                  <a:extLst>
                    <a:ext uri="{9D8B030D-6E8A-4147-A177-3AD203B41FA5}">
                      <a16:colId xmlns:a16="http://schemas.microsoft.com/office/drawing/2014/main" val="20001"/>
                    </a:ext>
                  </a:extLst>
                </a:gridCol>
                <a:gridCol w="1200134">
                  <a:extLst>
                    <a:ext uri="{9D8B030D-6E8A-4147-A177-3AD203B41FA5}">
                      <a16:colId xmlns:a16="http://schemas.microsoft.com/office/drawing/2014/main" val="20002"/>
                    </a:ext>
                  </a:extLst>
                </a:gridCol>
              </a:tblGrid>
              <a:tr h="552061">
                <a:tc>
                  <a:txBody>
                    <a:bodyPr/>
                    <a:lstStyle/>
                    <a:p>
                      <a:pPr algn="ctr"/>
                      <a:r>
                        <a:rPr lang="en-US" sz="1400" b="0" noProof="0" dirty="0">
                          <a:solidFill>
                            <a:schemeClr val="tx1"/>
                          </a:solidFill>
                        </a:rPr>
                        <a:t>player</a:t>
                      </a:r>
                      <a:br>
                        <a:rPr lang="en-US" sz="1400" b="0" noProof="0" dirty="0">
                          <a:solidFill>
                            <a:schemeClr val="tx1"/>
                          </a:solidFill>
                        </a:rPr>
                      </a:br>
                      <a:r>
                        <a:rPr lang="en-US" sz="1400" b="0" noProof="0" dirty="0">
                          <a:solidFill>
                            <a:srgbClr val="FF0000"/>
                          </a:solidFill>
                        </a:rPr>
                        <a:t>A</a:t>
                      </a:r>
                      <a:r>
                        <a:rPr lang="en-US" sz="1400" b="0" noProof="0" dirty="0">
                          <a:solidFill>
                            <a:schemeClr val="tx1"/>
                          </a:solidFill>
                        </a:rPr>
                        <a:t>             </a:t>
                      </a:r>
                      <a:r>
                        <a:rPr lang="en-US" sz="1400" b="0" noProof="0" dirty="0">
                          <a:solidFill>
                            <a:schemeClr val="tx2"/>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cooperate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noProof="0" dirty="0">
                          <a:solidFill>
                            <a:schemeClr val="tx2"/>
                          </a:solidFill>
                        </a:rPr>
                        <a:t>not cooperate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noProof="0" dirty="0">
                          <a:solidFill>
                            <a:srgbClr val="FF0000"/>
                          </a:solidFill>
                        </a:rPr>
                        <a:t>cooperate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b</a:t>
                      </a:r>
                      <a:r>
                        <a:rPr lang="en-US" sz="1400" noProof="0" dirty="0"/>
                        <a:t>, </a:t>
                      </a:r>
                      <a:r>
                        <a:rPr lang="en-US" sz="1400" noProof="0" dirty="0">
                          <a:solidFill>
                            <a:schemeClr val="tx2"/>
                          </a:solidFill>
                        </a:rPr>
                        <a:t>b</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d</a:t>
                      </a:r>
                      <a:r>
                        <a:rPr lang="en-US" sz="1400" noProof="0" dirty="0"/>
                        <a:t>,</a:t>
                      </a:r>
                      <a:r>
                        <a:rPr lang="en-US" sz="1400" baseline="0" noProof="0" dirty="0"/>
                        <a:t> </a:t>
                      </a:r>
                      <a:r>
                        <a:rPr lang="en-US" sz="1400" baseline="0" noProof="0" dirty="0">
                          <a:solidFill>
                            <a:schemeClr val="tx2"/>
                          </a:solidFill>
                        </a:rPr>
                        <a:t>a</a:t>
                      </a:r>
                      <a:r>
                        <a:rPr lang="en-US" sz="1400" baseline="0" noProof="0" dirty="0"/>
                        <a:t>)</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noProof="0" dirty="0">
                          <a:solidFill>
                            <a:srgbClr val="FF0000"/>
                          </a:solidFill>
                        </a:rPr>
                        <a:t>not cooperate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a</a:t>
                      </a:r>
                      <a:r>
                        <a:rPr lang="en-US" sz="1400" noProof="0" dirty="0"/>
                        <a:t>, </a:t>
                      </a:r>
                      <a:r>
                        <a:rPr lang="en-US" sz="1400" noProof="0" dirty="0">
                          <a:solidFill>
                            <a:schemeClr val="tx2"/>
                          </a:solidFill>
                        </a:rPr>
                        <a:t>d</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noProof="0" dirty="0"/>
                        <a:t>(</a:t>
                      </a:r>
                      <a:r>
                        <a:rPr lang="en-US" sz="1400" noProof="0" dirty="0">
                          <a:solidFill>
                            <a:srgbClr val="FF0000"/>
                          </a:solidFill>
                        </a:rPr>
                        <a:t>c</a:t>
                      </a:r>
                      <a:r>
                        <a:rPr lang="en-US" sz="1400" noProof="0" dirty="0"/>
                        <a:t>, </a:t>
                      </a:r>
                      <a:r>
                        <a:rPr lang="en-US" sz="1400" noProof="0" dirty="0">
                          <a:solidFill>
                            <a:schemeClr val="tx2"/>
                          </a:solidFill>
                        </a:rPr>
                        <a:t>c</a:t>
                      </a:r>
                      <a:r>
                        <a:rPr lang="en-US" sz="1400" noProof="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8" name="Textfeld 7"/>
          <p:cNvSpPr txBox="1"/>
          <p:nvPr/>
        </p:nvSpPr>
        <p:spPr>
          <a:xfrm>
            <a:off x="251521" y="3409131"/>
            <a:ext cx="8640960" cy="1538883"/>
          </a:xfrm>
          <a:prstGeom prst="rect">
            <a:avLst/>
          </a:prstGeom>
          <a:noFill/>
        </p:spPr>
        <p:txBody>
          <a:bodyPr wrap="square" rtlCol="0">
            <a:spAutoFit/>
          </a:bodyPr>
          <a:lstStyle/>
          <a:p>
            <a:pPr algn="just">
              <a:spcAft>
                <a:spcPts val="600"/>
              </a:spcAft>
            </a:pPr>
            <a:r>
              <a:rPr lang="en-US" sz="1400" noProof="0" dirty="0"/>
              <a:t>The prisoner’s dilemma is often used as a description of a decision situation that contains a fundamental conflict between </a:t>
            </a:r>
            <a:r>
              <a:rPr lang="en-US" sz="1400" b="1" noProof="0" dirty="0"/>
              <a:t>individually rational behavior </a:t>
            </a:r>
            <a:r>
              <a:rPr lang="en-US" sz="1400" noProof="0" dirty="0"/>
              <a:t>and socially desirable behavior, i.e., </a:t>
            </a:r>
            <a:r>
              <a:rPr lang="en-US" sz="1400" b="1" noProof="0" dirty="0"/>
              <a:t>collectively rational behavior</a:t>
            </a:r>
            <a:r>
              <a:rPr lang="en-US" sz="1400" noProof="0" dirty="0"/>
              <a:t> (which corresponds to an efficient result).</a:t>
            </a:r>
          </a:p>
          <a:p>
            <a:pPr>
              <a:spcAft>
                <a:spcPts val="600"/>
              </a:spcAft>
            </a:pPr>
            <a:r>
              <a:rPr lang="en-US" sz="1400" noProof="0" dirty="0"/>
              <a:t>At a one-time interaction </a:t>
            </a:r>
            <a:r>
              <a:rPr lang="en-US" sz="1400" b="1" noProof="0" dirty="0"/>
              <a:t>cooperative behavior </a:t>
            </a:r>
            <a:r>
              <a:rPr lang="en-US" sz="1400" noProof="0" dirty="0"/>
              <a:t>does not materialize as it is dominated by </a:t>
            </a:r>
            <a:r>
              <a:rPr lang="en-US" sz="1400" b="1" noProof="0" dirty="0"/>
              <a:t>non-cooperative behavior</a:t>
            </a:r>
            <a:r>
              <a:rPr lang="en-US" sz="1400" noProof="0" dirty="0"/>
              <a:t>.</a:t>
            </a:r>
          </a:p>
          <a:p>
            <a:pPr algn="just">
              <a:spcAft>
                <a:spcPts val="600"/>
              </a:spcAft>
            </a:pPr>
            <a:r>
              <a:rPr lang="en-US" sz="1400" noProof="0" dirty="0"/>
              <a:t>The following change of terms takes this generalization of the prisoner’s dilemma into account by switching from “confessing”  to “not cooperating”, though without any alternation of the payoffs.</a:t>
            </a:r>
          </a:p>
        </p:txBody>
      </p:sp>
      <p:sp>
        <p:nvSpPr>
          <p:cNvPr id="9" name="Freeform 37"/>
          <p:cNvSpPr>
            <a:spLocks/>
          </p:cNvSpPr>
          <p:nvPr>
            <p:custDataLst>
              <p:tags r:id="rId3"/>
            </p:custDataLst>
          </p:nvPr>
        </p:nvSpPr>
        <p:spPr bwMode="auto">
          <a:xfrm rot="14129025" flipH="1">
            <a:off x="4204762" y="1859237"/>
            <a:ext cx="902240" cy="1680546"/>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28575" cap="flat" cmpd="sng">
            <a:solidFill>
              <a:schemeClr val="tx1">
                <a:lumMod val="50000"/>
                <a:lumOff val="50000"/>
              </a:schemeClr>
            </a:solidFill>
            <a:prstDash val="solid"/>
            <a:round/>
            <a:headEnd type="none" w="med" len="med"/>
            <a:tailEnd type="none" w="med" len="med"/>
          </a:ln>
          <a:effectLst/>
        </p:spPr>
        <p:txBody>
          <a:bodyPr wrap="none" anchor="ctr"/>
          <a:lstStyle/>
          <a:p>
            <a:endParaRPr lang="en-US" noProof="0" dirty="0"/>
          </a:p>
        </p:txBody>
      </p:sp>
      <p:sp>
        <p:nvSpPr>
          <p:cNvPr id="10" name="Textfeld 9"/>
          <p:cNvSpPr txBox="1"/>
          <p:nvPr/>
        </p:nvSpPr>
        <p:spPr>
          <a:xfrm>
            <a:off x="5004048" y="2859782"/>
            <a:ext cx="1045479" cy="307777"/>
          </a:xfrm>
          <a:prstGeom prst="rect">
            <a:avLst/>
          </a:prstGeom>
          <a:noFill/>
        </p:spPr>
        <p:txBody>
          <a:bodyPr wrap="none" rtlCol="0">
            <a:spAutoFit/>
          </a:bodyPr>
          <a:lstStyle/>
          <a:p>
            <a:r>
              <a:rPr lang="en-US" sz="1400" noProof="0" dirty="0"/>
              <a:t>a &gt; b &gt; c &gt; d</a:t>
            </a:r>
          </a:p>
        </p:txBody>
      </p:sp>
      <p:sp>
        <p:nvSpPr>
          <p:cNvPr id="11" name="Rechteck 10"/>
          <p:cNvSpPr/>
          <p:nvPr/>
        </p:nvSpPr>
        <p:spPr>
          <a:xfrm>
            <a:off x="251520" y="3409130"/>
            <a:ext cx="8640960" cy="1610891"/>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B746A4-F1A4-0202-BF7D-15EE16C4E6EE}"/>
              </a:ext>
            </a:extLst>
          </p:cNvPr>
          <p:cNvSpPr>
            <a:spLocks noGrp="1"/>
          </p:cNvSpPr>
          <p:nvPr>
            <p:ph type="title"/>
          </p:nvPr>
        </p:nvSpPr>
        <p:spPr/>
        <p:txBody>
          <a:bodyPr/>
          <a:lstStyle/>
          <a:p>
            <a:r>
              <a:rPr lang="en-US" noProof="0" dirty="0"/>
              <a:t>The story of the prisoner’s dilemma often leads to some misconceptions</a:t>
            </a:r>
          </a:p>
        </p:txBody>
      </p:sp>
      <p:sp>
        <p:nvSpPr>
          <p:cNvPr id="3" name="Rechteck 2">
            <a:extLst>
              <a:ext uri="{FF2B5EF4-FFF2-40B4-BE49-F238E27FC236}">
                <a16:creationId xmlns:a16="http://schemas.microsoft.com/office/drawing/2014/main" id="{EC42841E-C4D3-618E-2507-8C66CECBEF62}"/>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Let us talk about two common misconceptions of the prisoner’s dilemma:</a:t>
            </a:r>
          </a:p>
          <a:p>
            <a:pPr marL="266700" indent="-266700" algn="just">
              <a:spcAft>
                <a:spcPts val="600"/>
              </a:spcAft>
              <a:buFont typeface="+mj-lt"/>
              <a:buAutoNum type="arabicPeriod"/>
            </a:pPr>
            <a:r>
              <a:rPr lang="en-US" sz="1400" noProof="0" dirty="0">
                <a:solidFill>
                  <a:schemeClr val="tx1"/>
                </a:solidFill>
              </a:rPr>
              <a:t>Does it play a role that the “suspects are […] separated”?</a:t>
            </a:r>
          </a:p>
          <a:p>
            <a:pPr marL="266700" indent="-266700" algn="just">
              <a:spcAft>
                <a:spcPts val="600"/>
              </a:spcAft>
            </a:pPr>
            <a:r>
              <a:rPr lang="en-US" sz="1400" noProof="0" dirty="0">
                <a:solidFill>
                  <a:schemeClr val="tx1"/>
                </a:solidFill>
              </a:rPr>
              <a:t>	If both players can assume that the district attorney tells both of them the same story, then the separation is indeed not relevant. Moreover, they could even be in the same room and talk to each other and know which strategy the other will choose. </a:t>
            </a:r>
          </a:p>
          <a:p>
            <a:pPr marL="266700" indent="-266700" algn="just">
              <a:spcAft>
                <a:spcPts val="600"/>
              </a:spcAft>
            </a:pPr>
            <a:r>
              <a:rPr lang="en-US" sz="1400" noProof="0" dirty="0">
                <a:solidFill>
                  <a:schemeClr val="tx1"/>
                </a:solidFill>
              </a:rPr>
              <a:t>	As both players have a strictly dominant strategy, that maximizes their respective individual payoff, they will always play this strategy </a:t>
            </a:r>
            <a:r>
              <a:rPr lang="en-US" sz="1400" b="1" noProof="0" dirty="0">
                <a:solidFill>
                  <a:schemeClr val="tx1"/>
                </a:solidFill>
              </a:rPr>
              <a:t>irrespective of what the other player chooses</a:t>
            </a:r>
            <a:r>
              <a:rPr lang="en-US" sz="1400" noProof="0" dirty="0">
                <a:solidFill>
                  <a:schemeClr val="tx1"/>
                </a:solidFill>
              </a:rPr>
              <a:t>.</a:t>
            </a:r>
          </a:p>
          <a:p>
            <a:pPr marL="266700" indent="-266700" algn="just">
              <a:spcAft>
                <a:spcPts val="600"/>
              </a:spcAft>
            </a:pPr>
            <a:r>
              <a:rPr lang="en-US" sz="1400" noProof="0" dirty="0">
                <a:solidFill>
                  <a:schemeClr val="tx1"/>
                </a:solidFill>
              </a:rPr>
              <a:t>	The important thing is that the players are not allowed to go for binding agreements.</a:t>
            </a:r>
          </a:p>
          <a:p>
            <a:pPr marL="266700" indent="-266700" algn="just">
              <a:spcAft>
                <a:spcPts val="600"/>
              </a:spcAft>
            </a:pPr>
            <a:endParaRPr lang="en-US" sz="1400" noProof="0" dirty="0">
              <a:solidFill>
                <a:schemeClr val="tx1"/>
              </a:solidFill>
            </a:endParaRPr>
          </a:p>
          <a:p>
            <a:pPr marL="266700" indent="-266700" algn="just">
              <a:spcAft>
                <a:spcPts val="600"/>
              </a:spcAft>
              <a:buFont typeface="+mj-lt"/>
              <a:buAutoNum type="arabicPeriod" startAt="2"/>
            </a:pPr>
            <a:r>
              <a:rPr lang="en-US" sz="1400" noProof="0" dirty="0">
                <a:solidFill>
                  <a:schemeClr val="tx1"/>
                </a:solidFill>
              </a:rPr>
              <a:t>The other misconception is that one sometimes thinks that, e.g., player A can decide for him and for player B to “not confess”. Though, it is in the very nature of a game that each player can decide only for themselves and not for the other one.</a:t>
            </a:r>
          </a:p>
          <a:p>
            <a:pPr marL="266700" indent="-266700" algn="just">
              <a:spcAft>
                <a:spcPts val="600"/>
              </a:spcAft>
            </a:pPr>
            <a:r>
              <a:rPr lang="en-US" sz="1400" noProof="0" dirty="0">
                <a:solidFill>
                  <a:schemeClr val="tx1"/>
                </a:solidFill>
              </a:rPr>
              <a:t>	The players only control their strategies; they do not control the strategies of the other player and thus do not control the result of the game.</a:t>
            </a:r>
          </a:p>
        </p:txBody>
      </p:sp>
    </p:spTree>
    <p:extLst>
      <p:ext uri="{BB962C8B-B14F-4D97-AF65-F5344CB8AC3E}">
        <p14:creationId xmlns:p14="http://schemas.microsoft.com/office/powerpoint/2010/main" val="2213184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6255D-725E-1CE4-D6CC-7B3C85593036}"/>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770270D4-A55C-9006-0DF0-D5B4EDA00E5B}"/>
              </a:ext>
            </a:extLst>
          </p:cNvPr>
          <p:cNvSpPr/>
          <p:nvPr/>
        </p:nvSpPr>
        <p:spPr>
          <a:xfrm>
            <a:off x="971600" y="2118600"/>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18ABE2AF-7F15-7016-2ADF-6AE46882EB78}"/>
              </a:ext>
            </a:extLst>
          </p:cNvPr>
          <p:cNvSpPr txBox="1"/>
          <p:nvPr/>
        </p:nvSpPr>
        <p:spPr>
          <a:xfrm>
            <a:off x="971600" y="1131590"/>
            <a:ext cx="4033861" cy="2739211"/>
          </a:xfrm>
          <a:prstGeom prst="rect">
            <a:avLst/>
          </a:prstGeom>
          <a:noFill/>
        </p:spPr>
        <p:txBody>
          <a:bodyPr wrap="none" rtlCol="0">
            <a:spAutoFit/>
          </a:bodyPr>
          <a:lstStyle/>
          <a:p>
            <a:r>
              <a:rPr lang="en-US" b="1" noProof="0" dirty="0"/>
              <a:t>Agenda</a:t>
            </a:r>
          </a:p>
          <a:p>
            <a:endParaRPr lang="en-US" sz="1000" noProof="0" dirty="0"/>
          </a:p>
          <a:p>
            <a:pPr lvl="1"/>
            <a:r>
              <a:rPr lang="en-US" noProof="0" dirty="0"/>
              <a:t>The Prisoner’s Dilemma</a:t>
            </a:r>
          </a:p>
          <a:p>
            <a:pPr lvl="1"/>
            <a:endParaRPr lang="en-US" b="1" noProof="0" dirty="0"/>
          </a:p>
          <a:p>
            <a:pPr lvl="1"/>
            <a:r>
              <a:rPr lang="en-US" b="1" dirty="0"/>
              <a:t>The Iterated Prisoner’s Dilemma</a:t>
            </a:r>
          </a:p>
          <a:p>
            <a:pPr lvl="1"/>
            <a:endParaRPr lang="en-US" dirty="0"/>
          </a:p>
          <a:p>
            <a:pPr lvl="1"/>
            <a:r>
              <a:rPr lang="en-US" dirty="0"/>
              <a:t>Nash Equilibria</a:t>
            </a:r>
          </a:p>
          <a:p>
            <a:pPr lvl="1"/>
            <a:endParaRPr lang="en-US" b="1" dirty="0"/>
          </a:p>
          <a:p>
            <a:pPr lvl="1"/>
            <a:r>
              <a:rPr lang="en-US" dirty="0"/>
              <a:t>Nash Equilibria in the Chicken Game</a:t>
            </a:r>
          </a:p>
          <a:p>
            <a:pPr lvl="1"/>
            <a:endParaRPr lang="en-US" b="1" noProof="0" dirty="0"/>
          </a:p>
        </p:txBody>
      </p:sp>
    </p:spTree>
    <p:extLst>
      <p:ext uri="{BB962C8B-B14F-4D97-AF65-F5344CB8AC3E}">
        <p14:creationId xmlns:p14="http://schemas.microsoft.com/office/powerpoint/2010/main" val="3722579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How does cooperation evolve in an un-cooperative environment?</a:t>
            </a:r>
          </a:p>
        </p:txBody>
      </p:sp>
      <p:sp>
        <p:nvSpPr>
          <p:cNvPr id="8" name="Rechteck 7"/>
          <p:cNvSpPr/>
          <p:nvPr/>
        </p:nvSpPr>
        <p:spPr>
          <a:xfrm>
            <a:off x="2250510" y="2520716"/>
            <a:ext cx="6641970" cy="75927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Richtungspfeil 8"/>
          <p:cNvSpPr/>
          <p:nvPr/>
        </p:nvSpPr>
        <p:spPr>
          <a:xfrm>
            <a:off x="1801248" y="2520716"/>
            <a:ext cx="890564" cy="759276"/>
          </a:xfrm>
          <a:prstGeom prst="homePlate">
            <a:avLst>
              <a:gd name="adj" fmla="val 33702"/>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Textfeld 9"/>
          <p:cNvSpPr txBox="1"/>
          <p:nvPr/>
        </p:nvSpPr>
        <p:spPr>
          <a:xfrm>
            <a:off x="2834687" y="2638744"/>
            <a:ext cx="6057793" cy="523220"/>
          </a:xfrm>
          <a:prstGeom prst="rect">
            <a:avLst/>
          </a:prstGeom>
          <a:noFill/>
        </p:spPr>
        <p:txBody>
          <a:bodyPr wrap="square" rtlCol="0">
            <a:spAutoFit/>
          </a:bodyPr>
          <a:lstStyle/>
          <a:p>
            <a:r>
              <a:rPr lang="en-US" sz="1400" dirty="0"/>
              <a:t>How can a strategy that is open for cooperation establish itself/ survive in an environment that is mainly un-cooperative?</a:t>
            </a:r>
          </a:p>
        </p:txBody>
      </p:sp>
      <p:sp>
        <p:nvSpPr>
          <p:cNvPr id="11" name="Textfeld 10"/>
          <p:cNvSpPr txBox="1"/>
          <p:nvPr/>
        </p:nvSpPr>
        <p:spPr>
          <a:xfrm>
            <a:off x="1691680" y="1059582"/>
            <a:ext cx="1063625" cy="307777"/>
          </a:xfrm>
          <a:prstGeom prst="rect">
            <a:avLst/>
          </a:prstGeom>
          <a:noFill/>
        </p:spPr>
        <p:txBody>
          <a:bodyPr wrap="none" rtlCol="0">
            <a:spAutoFit/>
          </a:bodyPr>
          <a:lstStyle/>
          <a:p>
            <a:r>
              <a:rPr lang="en-US" sz="1400" b="1" dirty="0"/>
              <a:t>Motivation:</a:t>
            </a:r>
          </a:p>
        </p:txBody>
      </p:sp>
      <p:sp>
        <p:nvSpPr>
          <p:cNvPr id="12" name="Textfeld 11"/>
          <p:cNvSpPr txBox="1"/>
          <p:nvPr/>
        </p:nvSpPr>
        <p:spPr>
          <a:xfrm>
            <a:off x="1691680" y="2201772"/>
            <a:ext cx="2075183" cy="307777"/>
          </a:xfrm>
          <a:prstGeom prst="rect">
            <a:avLst/>
          </a:prstGeom>
          <a:noFill/>
        </p:spPr>
        <p:txBody>
          <a:bodyPr wrap="none" rtlCol="0">
            <a:spAutoFit/>
          </a:bodyPr>
          <a:lstStyle/>
          <a:p>
            <a:r>
              <a:rPr lang="en-US" sz="1400" b="1" dirty="0"/>
              <a:t>Evolutionary Perspective:</a:t>
            </a:r>
          </a:p>
        </p:txBody>
      </p:sp>
      <p:sp>
        <p:nvSpPr>
          <p:cNvPr id="14" name="Rechteck 13"/>
          <p:cNvSpPr/>
          <p:nvPr/>
        </p:nvSpPr>
        <p:spPr>
          <a:xfrm>
            <a:off x="2250510" y="3363838"/>
            <a:ext cx="6641970" cy="75927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ichtungspfeil 14"/>
          <p:cNvSpPr/>
          <p:nvPr/>
        </p:nvSpPr>
        <p:spPr>
          <a:xfrm>
            <a:off x="1801248" y="3363838"/>
            <a:ext cx="890564" cy="759276"/>
          </a:xfrm>
          <a:prstGeom prst="homePlate">
            <a:avLst>
              <a:gd name="adj" fmla="val 33702"/>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Textfeld 15"/>
          <p:cNvSpPr txBox="1"/>
          <p:nvPr/>
        </p:nvSpPr>
        <p:spPr>
          <a:xfrm>
            <a:off x="2834687" y="3481866"/>
            <a:ext cx="6057793" cy="523220"/>
          </a:xfrm>
          <a:prstGeom prst="rect">
            <a:avLst/>
          </a:prstGeom>
          <a:noFill/>
        </p:spPr>
        <p:txBody>
          <a:bodyPr wrap="square" rtlCol="0">
            <a:spAutoFit/>
          </a:bodyPr>
          <a:lstStyle/>
          <a:p>
            <a:r>
              <a:rPr lang="en-US" sz="1400" dirty="0"/>
              <a:t>Which type of strategy can sustain in a complex environment, that consists of a broad spectrum of different and more or less sophisticated strategies?</a:t>
            </a:r>
          </a:p>
        </p:txBody>
      </p:sp>
      <p:sp>
        <p:nvSpPr>
          <p:cNvPr id="18" name="Rechteck 17"/>
          <p:cNvSpPr/>
          <p:nvPr/>
        </p:nvSpPr>
        <p:spPr>
          <a:xfrm>
            <a:off x="2250510" y="4227934"/>
            <a:ext cx="6641970" cy="75927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Richtungspfeil 18"/>
          <p:cNvSpPr/>
          <p:nvPr/>
        </p:nvSpPr>
        <p:spPr>
          <a:xfrm>
            <a:off x="1801248" y="4227934"/>
            <a:ext cx="890564" cy="759276"/>
          </a:xfrm>
          <a:prstGeom prst="homePlate">
            <a:avLst>
              <a:gd name="adj" fmla="val 33702"/>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Textfeld 19"/>
          <p:cNvSpPr txBox="1"/>
          <p:nvPr/>
        </p:nvSpPr>
        <p:spPr>
          <a:xfrm>
            <a:off x="2834687" y="4345962"/>
            <a:ext cx="6057793" cy="523220"/>
          </a:xfrm>
          <a:prstGeom prst="rect">
            <a:avLst/>
          </a:prstGeom>
          <a:noFill/>
        </p:spPr>
        <p:txBody>
          <a:bodyPr wrap="square" rtlCol="0">
            <a:spAutoFit/>
          </a:bodyPr>
          <a:lstStyle/>
          <a:p>
            <a:r>
              <a:rPr lang="en-US" sz="1400" dirty="0"/>
              <a:t>Due to which circumstances can such a strategy, if it is once established at a group, resist the invasion of a less cooperative strategy?</a:t>
            </a:r>
          </a:p>
        </p:txBody>
      </p:sp>
      <p:sp>
        <p:nvSpPr>
          <p:cNvPr id="22" name="Rechteck 21"/>
          <p:cNvSpPr/>
          <p:nvPr/>
        </p:nvSpPr>
        <p:spPr>
          <a:xfrm>
            <a:off x="2249618" y="1380426"/>
            <a:ext cx="6641970" cy="75927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Richtungspfeil 22"/>
          <p:cNvSpPr/>
          <p:nvPr/>
        </p:nvSpPr>
        <p:spPr>
          <a:xfrm>
            <a:off x="1800356" y="1380426"/>
            <a:ext cx="890564" cy="759276"/>
          </a:xfrm>
          <a:prstGeom prst="homePlate">
            <a:avLst>
              <a:gd name="adj" fmla="val 33702"/>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Textfeld 23"/>
          <p:cNvSpPr txBox="1"/>
          <p:nvPr/>
        </p:nvSpPr>
        <p:spPr>
          <a:xfrm>
            <a:off x="2833795" y="1498454"/>
            <a:ext cx="6057793" cy="523220"/>
          </a:xfrm>
          <a:prstGeom prst="rect">
            <a:avLst/>
          </a:prstGeom>
          <a:noFill/>
        </p:spPr>
        <p:txBody>
          <a:bodyPr wrap="square" rtlCol="0">
            <a:spAutoFit/>
          </a:bodyPr>
          <a:lstStyle/>
          <a:p>
            <a:r>
              <a:rPr lang="en-US" sz="1400" dirty="0"/>
              <a:t>Assume a continuous interaction between two players. Under which conditions should the players cooperate and under which conditions should they be selfish?</a:t>
            </a:r>
          </a:p>
        </p:txBody>
      </p:sp>
      <p:pic>
        <p:nvPicPr>
          <p:cNvPr id="21" name="Picture 2" descr="Social experiments observe group interactions to understand human behavior  and attitudes Concept Psychology Social Behavior Group Dynamics Human  Interaction Attitudes | Premium AI-generated image"/>
          <p:cNvPicPr>
            <a:picLocks noChangeAspect="1" noChangeArrowheads="1"/>
          </p:cNvPicPr>
          <p:nvPr/>
        </p:nvPicPr>
        <p:blipFill>
          <a:blip r:embed="rId2" cstate="print"/>
          <a:srcRect t="4725" r="83862" b="1225"/>
          <a:stretch>
            <a:fillRect/>
          </a:stretch>
        </p:blipFill>
        <p:spPr bwMode="auto">
          <a:xfrm>
            <a:off x="0" y="843558"/>
            <a:ext cx="1475656" cy="429994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As an paradigmatically example for common decision situations let us use the Prisoner’s Dilemma, …</a:t>
            </a:r>
          </a:p>
        </p:txBody>
      </p:sp>
      <p:sp>
        <p:nvSpPr>
          <p:cNvPr id="3" name="Textfeld 2"/>
          <p:cNvSpPr txBox="1"/>
          <p:nvPr/>
        </p:nvSpPr>
        <p:spPr>
          <a:xfrm>
            <a:off x="251520" y="1131591"/>
            <a:ext cx="8640960" cy="1800199"/>
          </a:xfrm>
          <a:prstGeom prst="rect">
            <a:avLst/>
          </a:prstGeom>
          <a:solidFill>
            <a:schemeClr val="tx2">
              <a:lumMod val="20000"/>
              <a:lumOff val="80000"/>
            </a:schemeClr>
          </a:solidFill>
        </p:spPr>
        <p:txBody>
          <a:bodyPr wrap="square" rtlCol="0" anchor="ctr" anchorCtr="0">
            <a:noAutofit/>
          </a:bodyPr>
          <a:lstStyle/>
          <a:p>
            <a:pPr>
              <a:spcAft>
                <a:spcPts val="600"/>
              </a:spcAft>
            </a:pPr>
            <a:endParaRPr lang="en-US">
              <a:solidFill>
                <a:srgbClr val="FF0000"/>
              </a:solidFill>
            </a:endParaRPr>
          </a:p>
        </p:txBody>
      </p:sp>
      <p:graphicFrame>
        <p:nvGraphicFramePr>
          <p:cNvPr id="4" name="Tabelle 3"/>
          <p:cNvGraphicFramePr>
            <a:graphicFrameLocks noGrp="1"/>
          </p:cNvGraphicFramePr>
          <p:nvPr/>
        </p:nvGraphicFramePr>
        <p:xfrm>
          <a:off x="395536" y="1208730"/>
          <a:ext cx="5544617" cy="1645920"/>
        </p:xfrm>
        <a:graphic>
          <a:graphicData uri="http://schemas.openxmlformats.org/drawingml/2006/table">
            <a:tbl>
              <a:tblPr firstRow="1" bandRow="1">
                <a:tableStyleId>{5C22544A-7EE6-4342-B048-85BDC9FD1C3A}</a:tableStyleId>
              </a:tblPr>
              <a:tblGrid>
                <a:gridCol w="665356">
                  <a:extLst>
                    <a:ext uri="{9D8B030D-6E8A-4147-A177-3AD203B41FA5}">
                      <a16:colId xmlns:a16="http://schemas.microsoft.com/office/drawing/2014/main" val="20000"/>
                    </a:ext>
                  </a:extLst>
                </a:gridCol>
                <a:gridCol w="1278771">
                  <a:extLst>
                    <a:ext uri="{9D8B030D-6E8A-4147-A177-3AD203B41FA5}">
                      <a16:colId xmlns:a16="http://schemas.microsoft.com/office/drawing/2014/main" val="20001"/>
                    </a:ext>
                  </a:extLst>
                </a:gridCol>
                <a:gridCol w="1689352">
                  <a:extLst>
                    <a:ext uri="{9D8B030D-6E8A-4147-A177-3AD203B41FA5}">
                      <a16:colId xmlns:a16="http://schemas.microsoft.com/office/drawing/2014/main" val="20002"/>
                    </a:ext>
                  </a:extLst>
                </a:gridCol>
                <a:gridCol w="1689352">
                  <a:extLst>
                    <a:ext uri="{9D8B030D-6E8A-4147-A177-3AD203B41FA5}">
                      <a16:colId xmlns:a16="http://schemas.microsoft.com/office/drawing/2014/main" val="20003"/>
                    </a:ext>
                  </a:extLst>
                </a:gridCol>
                <a:gridCol w="221786">
                  <a:extLst>
                    <a:ext uri="{9D8B030D-6E8A-4147-A177-3AD203B41FA5}">
                      <a16:colId xmlns:a16="http://schemas.microsoft.com/office/drawing/2014/main" val="20004"/>
                    </a:ext>
                  </a:extLst>
                </a:gridCol>
              </a:tblGrid>
              <a:tr h="202137">
                <a:tc rowSpan="2" gridSpan="2">
                  <a:txBody>
                    <a:bodyPr/>
                    <a:lstStyle/>
                    <a:p>
                      <a:endParaRPr lang="en-US" sz="1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lang="en-US" sz="1400" b="0" dirty="0">
                          <a:solidFill>
                            <a:schemeClr val="bg1"/>
                          </a:solidFill>
                        </a:rPr>
                        <a:t>Column Player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02137">
                <a:tc gridSpan="2"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solidFill>
                            <a:schemeClr val="tx1"/>
                          </a:solidFill>
                        </a:rPr>
                        <a:t>Cooperation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lang="en-US" sz="1400" dirty="0">
                          <a:solidFill>
                            <a:schemeClr val="tx1"/>
                          </a:solidFill>
                        </a:rPr>
                        <a:t>Defection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v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43633">
                <a:tc rowSpan="2">
                  <a:txBody>
                    <a:bodyPr/>
                    <a:lstStyle/>
                    <a:p>
                      <a:pPr algn="ctr"/>
                      <a:r>
                        <a:rPr lang="en-US" sz="1400" dirty="0">
                          <a:solidFill>
                            <a:schemeClr val="bg1"/>
                          </a:solidFill>
                        </a:rPr>
                        <a:t>Row</a:t>
                      </a:r>
                    </a:p>
                    <a:p>
                      <a:pPr algn="ctr"/>
                      <a:r>
                        <a:rPr lang="en-US" sz="1400" dirty="0">
                          <a:solidFill>
                            <a:schemeClr val="bg1"/>
                          </a:solidFill>
                        </a:rPr>
                        <a:t>Player (r)</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r"/>
                      <a:r>
                        <a:rPr lang="en-US" sz="1400" dirty="0">
                          <a:solidFill>
                            <a:schemeClr val="tx1"/>
                          </a:solidFill>
                        </a:rPr>
                        <a:t>Cooperation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lang="en-US" sz="1400" dirty="0" err="1"/>
                        <a:t>R</a:t>
                      </a:r>
                      <a:r>
                        <a:rPr lang="en-US" sz="1400" baseline="-25000" dirty="0" err="1"/>
                        <a:t>r</a:t>
                      </a:r>
                      <a:r>
                        <a:rPr lang="en-US" sz="1400" baseline="0" dirty="0"/>
                        <a:t> = 3, </a:t>
                      </a:r>
                      <a:r>
                        <a:rPr lang="en-US" sz="1400" baseline="0" dirty="0" err="1"/>
                        <a:t>R</a:t>
                      </a:r>
                      <a:r>
                        <a:rPr lang="en-US" sz="1400" baseline="-25000" dirty="0" err="1"/>
                        <a:t>c</a:t>
                      </a:r>
                      <a:r>
                        <a:rPr lang="en-US" sz="1400" baseline="0" dirty="0"/>
                        <a:t> = 3</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err="1"/>
                        <a:t>S</a:t>
                      </a:r>
                      <a:r>
                        <a:rPr lang="en-US" sz="1400" baseline="-25000" dirty="0" err="1"/>
                        <a:t>r</a:t>
                      </a:r>
                      <a:r>
                        <a:rPr lang="en-US" sz="1400" dirty="0"/>
                        <a:t> = 0, </a:t>
                      </a:r>
                      <a:r>
                        <a:rPr lang="en-US" sz="1400" dirty="0" err="1"/>
                        <a:t>T</a:t>
                      </a:r>
                      <a:r>
                        <a:rPr lang="en-US" sz="1400" baseline="-25000" dirty="0" err="1"/>
                        <a:t>c</a:t>
                      </a:r>
                      <a:r>
                        <a:rPr lang="en-US" sz="1400" dirty="0"/>
                        <a:t> =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dirty="0"/>
                    </a:p>
                    <a:p>
                      <a:endParaRPr lang="en-US" sz="1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43633">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400" dirty="0">
                          <a:solidFill>
                            <a:schemeClr val="tx1"/>
                          </a:solidFill>
                        </a:rPr>
                        <a:t>Defection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lang="en-US" sz="1400" dirty="0" err="1"/>
                        <a:t>T</a:t>
                      </a:r>
                      <a:r>
                        <a:rPr lang="en-US" sz="1400" baseline="-25000" dirty="0" err="1"/>
                        <a:t>r</a:t>
                      </a:r>
                      <a:r>
                        <a:rPr lang="en-US" sz="1400" dirty="0"/>
                        <a:t>= 5, S</a:t>
                      </a:r>
                      <a:r>
                        <a:rPr lang="en-US" sz="1400" baseline="-25000" dirty="0"/>
                        <a:t>c</a:t>
                      </a:r>
                      <a:r>
                        <a:rPr lang="en-US" sz="1400" dirty="0"/>
                        <a:t>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t>P</a:t>
                      </a:r>
                      <a:r>
                        <a:rPr lang="en-US" sz="1400" baseline="-25000" dirty="0"/>
                        <a:t>r</a:t>
                      </a:r>
                      <a:r>
                        <a:rPr lang="en-US" sz="1400" baseline="0" dirty="0"/>
                        <a:t> = 1, P</a:t>
                      </a:r>
                      <a:r>
                        <a:rPr lang="en-US" sz="1400" baseline="-25000" dirty="0"/>
                        <a:t>c</a:t>
                      </a:r>
                      <a:r>
                        <a:rPr lang="en-US" sz="1400" baseline="0" dirty="0"/>
                        <a:t> = 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dirty="0"/>
                    </a:p>
                    <a:p>
                      <a:endParaRPr lang="en-US" sz="1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5" name="Textfeld 4"/>
          <p:cNvSpPr txBox="1"/>
          <p:nvPr/>
        </p:nvSpPr>
        <p:spPr>
          <a:xfrm>
            <a:off x="251520" y="3003798"/>
            <a:ext cx="4320480" cy="1284967"/>
          </a:xfrm>
          <a:prstGeom prst="rect">
            <a:avLst/>
          </a:prstGeom>
          <a:noFill/>
        </p:spPr>
        <p:txBody>
          <a:bodyPr wrap="square" rtlCol="0">
            <a:spAutoFit/>
          </a:bodyPr>
          <a:lstStyle/>
          <a:p>
            <a:pPr>
              <a:spcAft>
                <a:spcPts val="300"/>
              </a:spcAft>
            </a:pPr>
            <a:r>
              <a:rPr lang="en-US" sz="1400" b="1" dirty="0"/>
              <a:t>Payoffs:</a:t>
            </a:r>
          </a:p>
          <a:p>
            <a:pPr>
              <a:spcAft>
                <a:spcPts val="300"/>
              </a:spcAft>
              <a:tabLst>
                <a:tab pos="1787525" algn="l"/>
              </a:tabLst>
            </a:pPr>
            <a:r>
              <a:rPr lang="en-US" sz="1400" dirty="0"/>
              <a:t>The payoffs are ranked as follows: </a:t>
            </a:r>
            <a:r>
              <a:rPr lang="en-US" sz="1400" b="1" dirty="0"/>
              <a:t>T &gt; R &gt; P &gt; S</a:t>
            </a:r>
            <a:endParaRPr lang="en-US" sz="1400" dirty="0"/>
          </a:p>
          <a:p>
            <a:pPr>
              <a:spcAft>
                <a:spcPts val="300"/>
              </a:spcAft>
              <a:tabLst>
                <a:tab pos="1787525" algn="l"/>
              </a:tabLst>
            </a:pPr>
            <a:r>
              <a:rPr lang="en-US" sz="1400" dirty="0"/>
              <a:t>R (reward):	reward for mutual cooperation</a:t>
            </a:r>
          </a:p>
          <a:p>
            <a:pPr>
              <a:spcAft>
                <a:spcPts val="300"/>
              </a:spcAft>
              <a:tabLst>
                <a:tab pos="1787525" algn="l"/>
              </a:tabLst>
            </a:pPr>
            <a:r>
              <a:rPr lang="en-US" sz="1400" dirty="0"/>
              <a:t>T (temptation):	temptation to defect/ play 	defection</a:t>
            </a:r>
          </a:p>
        </p:txBody>
      </p:sp>
      <p:sp>
        <p:nvSpPr>
          <p:cNvPr id="6" name="Textfeld 5"/>
          <p:cNvSpPr txBox="1"/>
          <p:nvPr/>
        </p:nvSpPr>
        <p:spPr>
          <a:xfrm>
            <a:off x="251520" y="4443958"/>
            <a:ext cx="8640960" cy="595742"/>
          </a:xfrm>
          <a:prstGeom prst="rect">
            <a:avLst/>
          </a:prstGeom>
          <a:solidFill>
            <a:schemeClr val="tx2">
              <a:lumMod val="40000"/>
              <a:lumOff val="60000"/>
            </a:schemeClr>
          </a:solidFill>
        </p:spPr>
        <p:txBody>
          <a:bodyPr wrap="square" rtlCol="0" anchor="ctr" anchorCtr="0">
            <a:noAutofit/>
          </a:bodyPr>
          <a:lstStyle/>
          <a:p>
            <a:pPr>
              <a:spcAft>
                <a:spcPts val="600"/>
              </a:spcAft>
            </a:pPr>
            <a:r>
              <a:rPr lang="en-US" sz="1400" b="1" dirty="0"/>
              <a:t>Fundamental Issue:</a:t>
            </a:r>
          </a:p>
          <a:p>
            <a:pPr algn="ctr">
              <a:spcAft>
                <a:spcPts val="600"/>
              </a:spcAft>
            </a:pPr>
            <a:r>
              <a:rPr lang="en-US" sz="1400" dirty="0">
                <a:solidFill>
                  <a:srgbClr val="FF0000"/>
                </a:solidFill>
              </a:rPr>
              <a:t>Individual rationality leads to an inefficient result for both players.</a:t>
            </a:r>
          </a:p>
        </p:txBody>
      </p:sp>
      <p:pic>
        <p:nvPicPr>
          <p:cNvPr id="8" name="Picture 2" descr="http://graphics8.nytimes.com/images/2008/03/09/weekinreview/09shane.xlarge1.jpg"/>
          <p:cNvPicPr>
            <a:picLocks noChangeAspect="1" noChangeArrowheads="1"/>
          </p:cNvPicPr>
          <p:nvPr/>
        </p:nvPicPr>
        <p:blipFill>
          <a:blip r:embed="rId2" cstate="print"/>
          <a:srcRect/>
          <a:stretch>
            <a:fillRect/>
          </a:stretch>
        </p:blipFill>
        <p:spPr bwMode="auto">
          <a:xfrm>
            <a:off x="6084168" y="1210799"/>
            <a:ext cx="2736303" cy="1641782"/>
          </a:xfrm>
          <a:prstGeom prst="rect">
            <a:avLst/>
          </a:prstGeom>
          <a:noFill/>
        </p:spPr>
      </p:pic>
      <p:sp>
        <p:nvSpPr>
          <p:cNvPr id="9" name="Textfeld 8"/>
          <p:cNvSpPr txBox="1"/>
          <p:nvPr/>
        </p:nvSpPr>
        <p:spPr>
          <a:xfrm>
            <a:off x="4572000" y="3291830"/>
            <a:ext cx="4320480" cy="1069524"/>
          </a:xfrm>
          <a:prstGeom prst="rect">
            <a:avLst/>
          </a:prstGeom>
          <a:noFill/>
        </p:spPr>
        <p:txBody>
          <a:bodyPr wrap="square" rtlCol="0">
            <a:spAutoFit/>
          </a:bodyPr>
          <a:lstStyle/>
          <a:p>
            <a:pPr>
              <a:spcAft>
                <a:spcPts val="300"/>
              </a:spcAft>
              <a:tabLst>
                <a:tab pos="1787525" algn="l"/>
              </a:tabLst>
            </a:pPr>
            <a:r>
              <a:rPr lang="en-US" sz="1400" dirty="0"/>
              <a:t>S (suckers’ payoff):	payoff of the trustful</a:t>
            </a:r>
          </a:p>
          <a:p>
            <a:pPr>
              <a:spcAft>
                <a:spcPts val="300"/>
              </a:spcAft>
              <a:tabLst>
                <a:tab pos="1787525" algn="l"/>
              </a:tabLst>
            </a:pPr>
            <a:r>
              <a:rPr lang="en-US" sz="1400" dirty="0"/>
              <a:t>	player</a:t>
            </a:r>
          </a:p>
          <a:p>
            <a:pPr>
              <a:spcAft>
                <a:spcPts val="300"/>
              </a:spcAft>
              <a:tabLst>
                <a:tab pos="1787525" algn="l"/>
              </a:tabLst>
            </a:pPr>
            <a:r>
              <a:rPr lang="en-US" sz="1400" dirty="0"/>
              <a:t>P (punishment):	punishment for mutual</a:t>
            </a:r>
          </a:p>
          <a:p>
            <a:pPr>
              <a:spcAft>
                <a:spcPts val="300"/>
              </a:spcAft>
              <a:tabLst>
                <a:tab pos="1787525" algn="l"/>
              </a:tabLst>
            </a:pPr>
            <a:r>
              <a:rPr lang="en-US" sz="1400" dirty="0"/>
              <a:t>	defection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Bogen 59"/>
          <p:cNvSpPr/>
          <p:nvPr/>
        </p:nvSpPr>
        <p:spPr>
          <a:xfrm rot="16200000">
            <a:off x="7212033" y="1718161"/>
            <a:ext cx="1714512" cy="1720857"/>
          </a:xfrm>
          <a:prstGeom prst="arc">
            <a:avLst/>
          </a:prstGeom>
          <a:ln w="762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el 1"/>
          <p:cNvSpPr>
            <a:spLocks noGrp="1"/>
          </p:cNvSpPr>
          <p:nvPr>
            <p:ph type="title"/>
          </p:nvPr>
        </p:nvSpPr>
        <p:spPr/>
        <p:txBody>
          <a:bodyPr/>
          <a:lstStyle/>
          <a:p>
            <a:r>
              <a:rPr lang="en-US" dirty="0"/>
              <a:t>… and apply it multiple times in different/ repeated interactions</a:t>
            </a:r>
          </a:p>
        </p:txBody>
      </p:sp>
      <p:sp>
        <p:nvSpPr>
          <p:cNvPr id="3" name="Pfeil nach rechts 2"/>
          <p:cNvSpPr/>
          <p:nvPr/>
        </p:nvSpPr>
        <p:spPr>
          <a:xfrm>
            <a:off x="483838" y="1550980"/>
            <a:ext cx="1785950" cy="28575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18"/>
          <p:cNvGrpSpPr>
            <a:grpSpLocks/>
          </p:cNvGrpSpPr>
          <p:nvPr/>
        </p:nvGrpSpPr>
        <p:grpSpPr bwMode="auto">
          <a:xfrm>
            <a:off x="323528" y="1073153"/>
            <a:ext cx="304800" cy="381000"/>
            <a:chOff x="2592" y="816"/>
            <a:chExt cx="192" cy="240"/>
          </a:xfrm>
          <a:solidFill>
            <a:schemeClr val="tx2"/>
          </a:solidFill>
          <a:scene3d>
            <a:camera prst="orthographicFront">
              <a:rot lat="0" lon="0" rev="0"/>
            </a:camera>
            <a:lightRig rig="contrasting" dir="t">
              <a:rot lat="0" lon="0" rev="7800000"/>
            </a:lightRig>
          </a:scene3d>
        </p:grpSpPr>
        <p:sp>
          <p:nvSpPr>
            <p:cNvPr id="5"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6"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7" name="Group 18"/>
          <p:cNvGrpSpPr>
            <a:grpSpLocks/>
          </p:cNvGrpSpPr>
          <p:nvPr/>
        </p:nvGrpSpPr>
        <p:grpSpPr bwMode="auto">
          <a:xfrm>
            <a:off x="323528" y="1936753"/>
            <a:ext cx="304800" cy="381000"/>
            <a:chOff x="2592" y="816"/>
            <a:chExt cx="192" cy="240"/>
          </a:xfrm>
          <a:solidFill>
            <a:srgbClr val="FFCC66"/>
          </a:solidFill>
          <a:scene3d>
            <a:camera prst="orthographicFront">
              <a:rot lat="0" lon="0" rev="0"/>
            </a:camera>
            <a:lightRig rig="contrasting" dir="t">
              <a:rot lat="0" lon="0" rev="7800000"/>
            </a:lightRig>
          </a:scene3d>
        </p:grpSpPr>
        <p:sp>
          <p:nvSpPr>
            <p:cNvPr id="8"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9"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10" name="Group 18"/>
          <p:cNvGrpSpPr>
            <a:grpSpLocks/>
          </p:cNvGrpSpPr>
          <p:nvPr/>
        </p:nvGrpSpPr>
        <p:grpSpPr bwMode="auto">
          <a:xfrm>
            <a:off x="2266614" y="1073153"/>
            <a:ext cx="304800" cy="381000"/>
            <a:chOff x="2592" y="816"/>
            <a:chExt cx="192" cy="240"/>
          </a:xfrm>
          <a:solidFill>
            <a:schemeClr val="tx2"/>
          </a:solidFill>
          <a:scene3d>
            <a:camera prst="orthographicFront">
              <a:rot lat="0" lon="0" rev="0"/>
            </a:camera>
            <a:lightRig rig="contrasting" dir="t">
              <a:rot lat="0" lon="0" rev="7800000"/>
            </a:lightRig>
          </a:scene3d>
        </p:grpSpPr>
        <p:sp>
          <p:nvSpPr>
            <p:cNvPr id="11"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12"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13" name="Group 18"/>
          <p:cNvGrpSpPr>
            <a:grpSpLocks/>
          </p:cNvGrpSpPr>
          <p:nvPr/>
        </p:nvGrpSpPr>
        <p:grpSpPr bwMode="auto">
          <a:xfrm>
            <a:off x="2266614" y="1936753"/>
            <a:ext cx="304800" cy="381000"/>
            <a:chOff x="2592" y="816"/>
            <a:chExt cx="192" cy="240"/>
          </a:xfrm>
          <a:solidFill>
            <a:srgbClr val="FFCC66"/>
          </a:solidFill>
          <a:scene3d>
            <a:camera prst="orthographicFront">
              <a:rot lat="0" lon="0" rev="0"/>
            </a:camera>
            <a:lightRig rig="contrasting" dir="t">
              <a:rot lat="0" lon="0" rev="7800000"/>
            </a:lightRig>
          </a:scene3d>
        </p:grpSpPr>
        <p:sp>
          <p:nvSpPr>
            <p:cNvPr id="14"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15"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sp>
        <p:nvSpPr>
          <p:cNvPr id="16" name="Flussdiagramm: Verzweigung 15"/>
          <p:cNvSpPr/>
          <p:nvPr/>
        </p:nvSpPr>
        <p:spPr>
          <a:xfrm>
            <a:off x="875967" y="1302544"/>
            <a:ext cx="1143008" cy="785818"/>
          </a:xfrm>
          <a:prstGeom prst="flowChartDecision">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Tabelle 16"/>
          <p:cNvGraphicFramePr>
            <a:graphicFrameLocks noGrp="1"/>
          </p:cNvGraphicFramePr>
          <p:nvPr/>
        </p:nvGraphicFramePr>
        <p:xfrm>
          <a:off x="1052166" y="1487800"/>
          <a:ext cx="785818" cy="426720"/>
        </p:xfrm>
        <a:graphic>
          <a:graphicData uri="http://schemas.openxmlformats.org/drawingml/2006/table">
            <a:tbl>
              <a:tblPr firstRow="1" bandRow="1">
                <a:tableStyleId>{5C22544A-7EE6-4342-B048-85BDC9FD1C3A}</a:tableStyleId>
              </a:tblPr>
              <a:tblGrid>
                <a:gridCol w="392909">
                  <a:extLst>
                    <a:ext uri="{9D8B030D-6E8A-4147-A177-3AD203B41FA5}">
                      <a16:colId xmlns:a16="http://schemas.microsoft.com/office/drawing/2014/main" val="20000"/>
                    </a:ext>
                  </a:extLst>
                </a:gridCol>
                <a:gridCol w="392909">
                  <a:extLst>
                    <a:ext uri="{9D8B030D-6E8A-4147-A177-3AD203B41FA5}">
                      <a16:colId xmlns:a16="http://schemas.microsoft.com/office/drawing/2014/main" val="20001"/>
                    </a:ext>
                  </a:extLst>
                </a:gridCol>
              </a:tblGrid>
              <a:tr h="0">
                <a:tc>
                  <a:txBody>
                    <a:bodyPr/>
                    <a:lstStyle/>
                    <a:p>
                      <a:pPr algn="ctr"/>
                      <a:r>
                        <a:rPr lang="en-US" sz="800" b="1" dirty="0">
                          <a:solidFill>
                            <a:schemeClr val="tx1"/>
                          </a:solidFill>
                        </a:rPr>
                        <a:t>R, 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S, 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r>
                        <a:rPr lang="en-US" sz="800" b="1" dirty="0">
                          <a:solidFill>
                            <a:schemeClr val="tx1"/>
                          </a:solidFill>
                        </a:rPr>
                        <a:t>T, 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800" b="1" dirty="0">
                          <a:solidFill>
                            <a:schemeClr val="tx1"/>
                          </a:solidFill>
                        </a:rPr>
                        <a:t>P, P</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18" name="Picture 2"/>
          <p:cNvPicPr>
            <a:picLocks noChangeAspect="1" noChangeArrowheads="1"/>
          </p:cNvPicPr>
          <p:nvPr/>
        </p:nvPicPr>
        <p:blipFill>
          <a:blip r:embed="rId3" cstate="print"/>
          <a:srcRect/>
          <a:stretch>
            <a:fillRect/>
          </a:stretch>
        </p:blipFill>
        <p:spPr bwMode="auto">
          <a:xfrm>
            <a:off x="2571414" y="1269222"/>
            <a:ext cx="493148" cy="369861"/>
          </a:xfrm>
          <a:prstGeom prst="rect">
            <a:avLst/>
          </a:prstGeom>
          <a:noFill/>
          <a:ln w="9525">
            <a:noFill/>
            <a:miter lim="800000"/>
            <a:headEnd/>
            <a:tailEnd/>
          </a:ln>
        </p:spPr>
      </p:pic>
      <p:pic>
        <p:nvPicPr>
          <p:cNvPr id="19" name="Picture 2"/>
          <p:cNvPicPr>
            <a:picLocks noChangeAspect="1" noChangeArrowheads="1"/>
          </p:cNvPicPr>
          <p:nvPr/>
        </p:nvPicPr>
        <p:blipFill>
          <a:blip r:embed="rId3" cstate="print"/>
          <a:srcRect/>
          <a:stretch>
            <a:fillRect/>
          </a:stretch>
        </p:blipFill>
        <p:spPr bwMode="auto">
          <a:xfrm>
            <a:off x="2571414" y="2132822"/>
            <a:ext cx="493148" cy="369861"/>
          </a:xfrm>
          <a:prstGeom prst="rect">
            <a:avLst/>
          </a:prstGeom>
          <a:noFill/>
          <a:ln w="9525">
            <a:noFill/>
            <a:miter lim="800000"/>
            <a:headEnd/>
            <a:tailEnd/>
          </a:ln>
        </p:spPr>
      </p:pic>
      <p:sp>
        <p:nvSpPr>
          <p:cNvPr id="20" name="Pfeil nach rechts 19"/>
          <p:cNvSpPr/>
          <p:nvPr/>
        </p:nvSpPr>
        <p:spPr>
          <a:xfrm>
            <a:off x="3214356" y="1544616"/>
            <a:ext cx="2348498" cy="28575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18"/>
          <p:cNvGrpSpPr>
            <a:grpSpLocks/>
          </p:cNvGrpSpPr>
          <p:nvPr/>
        </p:nvGrpSpPr>
        <p:grpSpPr bwMode="auto">
          <a:xfrm>
            <a:off x="3616594" y="1930389"/>
            <a:ext cx="304800" cy="381000"/>
            <a:chOff x="2592" y="816"/>
            <a:chExt cx="192" cy="240"/>
          </a:xfrm>
          <a:solidFill>
            <a:srgbClr val="92D050"/>
          </a:solidFill>
          <a:scene3d>
            <a:camera prst="orthographicFront">
              <a:rot lat="0" lon="0" rev="0"/>
            </a:camera>
            <a:lightRig rig="contrasting" dir="t">
              <a:rot lat="0" lon="0" rev="7800000"/>
            </a:lightRig>
          </a:scene3d>
        </p:grpSpPr>
        <p:sp>
          <p:nvSpPr>
            <p:cNvPr id="22"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23"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24" name="Group 18"/>
          <p:cNvGrpSpPr>
            <a:grpSpLocks/>
          </p:cNvGrpSpPr>
          <p:nvPr/>
        </p:nvGrpSpPr>
        <p:grpSpPr bwMode="auto">
          <a:xfrm>
            <a:off x="5559680" y="1066789"/>
            <a:ext cx="304800" cy="381000"/>
            <a:chOff x="2592" y="816"/>
            <a:chExt cx="192" cy="240"/>
          </a:xfrm>
          <a:solidFill>
            <a:schemeClr val="tx2"/>
          </a:solidFill>
          <a:scene3d>
            <a:camera prst="orthographicFront">
              <a:rot lat="0" lon="0" rev="0"/>
            </a:camera>
            <a:lightRig rig="contrasting" dir="t">
              <a:rot lat="0" lon="0" rev="7800000"/>
            </a:lightRig>
          </a:scene3d>
        </p:grpSpPr>
        <p:sp>
          <p:nvSpPr>
            <p:cNvPr id="25"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26"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27" name="Group 18"/>
          <p:cNvGrpSpPr>
            <a:grpSpLocks/>
          </p:cNvGrpSpPr>
          <p:nvPr/>
        </p:nvGrpSpPr>
        <p:grpSpPr bwMode="auto">
          <a:xfrm>
            <a:off x="5559680" y="1930389"/>
            <a:ext cx="304800" cy="381000"/>
            <a:chOff x="2592" y="816"/>
            <a:chExt cx="192" cy="240"/>
          </a:xfrm>
          <a:solidFill>
            <a:srgbClr val="92D050"/>
          </a:solidFill>
          <a:scene3d>
            <a:camera prst="orthographicFront">
              <a:rot lat="0" lon="0" rev="0"/>
            </a:camera>
            <a:lightRig rig="contrasting" dir="t">
              <a:rot lat="0" lon="0" rev="7800000"/>
            </a:lightRig>
          </a:scene3d>
        </p:grpSpPr>
        <p:sp>
          <p:nvSpPr>
            <p:cNvPr id="28"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29"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sp>
        <p:nvSpPr>
          <p:cNvPr id="30" name="Flussdiagramm: Verzweigung 29"/>
          <p:cNvSpPr/>
          <p:nvPr/>
        </p:nvSpPr>
        <p:spPr>
          <a:xfrm>
            <a:off x="4169033" y="1296180"/>
            <a:ext cx="1143008" cy="785818"/>
          </a:xfrm>
          <a:prstGeom prst="flowChartDecision">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1" name="Tabelle 30"/>
          <p:cNvGraphicFramePr>
            <a:graphicFrameLocks noGrp="1"/>
          </p:cNvGraphicFramePr>
          <p:nvPr/>
        </p:nvGraphicFramePr>
        <p:xfrm>
          <a:off x="4345232" y="1481436"/>
          <a:ext cx="785818" cy="426720"/>
        </p:xfrm>
        <a:graphic>
          <a:graphicData uri="http://schemas.openxmlformats.org/drawingml/2006/table">
            <a:tbl>
              <a:tblPr firstRow="1" bandRow="1">
                <a:tableStyleId>{5C22544A-7EE6-4342-B048-85BDC9FD1C3A}</a:tableStyleId>
              </a:tblPr>
              <a:tblGrid>
                <a:gridCol w="392909">
                  <a:extLst>
                    <a:ext uri="{9D8B030D-6E8A-4147-A177-3AD203B41FA5}">
                      <a16:colId xmlns:a16="http://schemas.microsoft.com/office/drawing/2014/main" val="20000"/>
                    </a:ext>
                  </a:extLst>
                </a:gridCol>
                <a:gridCol w="392909">
                  <a:extLst>
                    <a:ext uri="{9D8B030D-6E8A-4147-A177-3AD203B41FA5}">
                      <a16:colId xmlns:a16="http://schemas.microsoft.com/office/drawing/2014/main" val="20001"/>
                    </a:ext>
                  </a:extLst>
                </a:gridCol>
              </a:tblGrid>
              <a:tr h="0">
                <a:tc>
                  <a:txBody>
                    <a:bodyPr/>
                    <a:lstStyle/>
                    <a:p>
                      <a:pPr algn="ctr"/>
                      <a:r>
                        <a:rPr lang="en-US" sz="800" b="1" dirty="0">
                          <a:solidFill>
                            <a:schemeClr val="tx1"/>
                          </a:solidFill>
                        </a:rPr>
                        <a:t>R, 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S, 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r>
                        <a:rPr lang="en-US" sz="800" b="1" dirty="0">
                          <a:solidFill>
                            <a:schemeClr val="tx1"/>
                          </a:solidFill>
                        </a:rPr>
                        <a:t>T, 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800" b="1" dirty="0">
                          <a:solidFill>
                            <a:schemeClr val="tx1"/>
                          </a:solidFill>
                        </a:rPr>
                        <a:t>P, P</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32" name="Picture 2"/>
          <p:cNvPicPr>
            <a:picLocks noChangeAspect="1" noChangeArrowheads="1"/>
          </p:cNvPicPr>
          <p:nvPr/>
        </p:nvPicPr>
        <p:blipFill>
          <a:blip r:embed="rId3" cstate="print"/>
          <a:srcRect/>
          <a:stretch>
            <a:fillRect/>
          </a:stretch>
        </p:blipFill>
        <p:spPr bwMode="auto">
          <a:xfrm>
            <a:off x="5864480" y="1262858"/>
            <a:ext cx="493148" cy="369861"/>
          </a:xfrm>
          <a:prstGeom prst="rect">
            <a:avLst/>
          </a:prstGeom>
          <a:noFill/>
          <a:ln w="9525">
            <a:noFill/>
            <a:miter lim="800000"/>
            <a:headEnd/>
            <a:tailEnd/>
          </a:ln>
        </p:spPr>
      </p:pic>
      <p:pic>
        <p:nvPicPr>
          <p:cNvPr id="33" name="Picture 2"/>
          <p:cNvPicPr>
            <a:picLocks noChangeAspect="1" noChangeArrowheads="1"/>
          </p:cNvPicPr>
          <p:nvPr/>
        </p:nvPicPr>
        <p:blipFill>
          <a:blip r:embed="rId3" cstate="print"/>
          <a:srcRect/>
          <a:stretch>
            <a:fillRect/>
          </a:stretch>
        </p:blipFill>
        <p:spPr bwMode="auto">
          <a:xfrm>
            <a:off x="5864480" y="2126458"/>
            <a:ext cx="493148" cy="369861"/>
          </a:xfrm>
          <a:prstGeom prst="rect">
            <a:avLst/>
          </a:prstGeom>
          <a:noFill/>
          <a:ln w="9525">
            <a:noFill/>
            <a:miter lim="800000"/>
            <a:headEnd/>
            <a:tailEnd/>
          </a:ln>
        </p:spPr>
      </p:pic>
      <p:sp>
        <p:nvSpPr>
          <p:cNvPr id="34" name="Pfeil nach rechts 33"/>
          <p:cNvSpPr/>
          <p:nvPr/>
        </p:nvSpPr>
        <p:spPr>
          <a:xfrm>
            <a:off x="7072008" y="1544616"/>
            <a:ext cx="1785950" cy="28575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rPr>
              <a:t>…</a:t>
            </a:r>
          </a:p>
        </p:txBody>
      </p:sp>
      <p:pic>
        <p:nvPicPr>
          <p:cNvPr id="35" name="Picture 2"/>
          <p:cNvPicPr>
            <a:picLocks noChangeAspect="1" noChangeArrowheads="1"/>
          </p:cNvPicPr>
          <p:nvPr/>
        </p:nvPicPr>
        <p:blipFill>
          <a:blip r:embed="rId3" cstate="print"/>
          <a:srcRect/>
          <a:stretch>
            <a:fillRect/>
          </a:stretch>
        </p:blipFill>
        <p:spPr bwMode="auto">
          <a:xfrm>
            <a:off x="6357628" y="1262858"/>
            <a:ext cx="493148" cy="369861"/>
          </a:xfrm>
          <a:prstGeom prst="rect">
            <a:avLst/>
          </a:prstGeom>
          <a:noFill/>
          <a:ln w="9525">
            <a:noFill/>
            <a:miter lim="800000"/>
            <a:headEnd/>
            <a:tailEnd/>
          </a:ln>
        </p:spPr>
      </p:pic>
      <p:grpSp>
        <p:nvGrpSpPr>
          <p:cNvPr id="36" name="Group 18"/>
          <p:cNvGrpSpPr>
            <a:grpSpLocks/>
          </p:cNvGrpSpPr>
          <p:nvPr/>
        </p:nvGrpSpPr>
        <p:grpSpPr bwMode="auto">
          <a:xfrm>
            <a:off x="7357760" y="2351091"/>
            <a:ext cx="176527" cy="220659"/>
            <a:chOff x="2592" y="816"/>
            <a:chExt cx="192" cy="240"/>
          </a:xfrm>
          <a:solidFill>
            <a:srgbClr val="FF3300"/>
          </a:solidFill>
          <a:scene3d>
            <a:camera prst="orthographicFront">
              <a:rot lat="0" lon="0" rev="0"/>
            </a:camera>
            <a:lightRig rig="contrasting" dir="t">
              <a:rot lat="0" lon="0" rev="7800000"/>
            </a:lightRig>
          </a:scene3d>
        </p:grpSpPr>
        <p:sp>
          <p:nvSpPr>
            <p:cNvPr id="37"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38"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39" name="Group 18"/>
          <p:cNvGrpSpPr>
            <a:grpSpLocks/>
          </p:cNvGrpSpPr>
          <p:nvPr/>
        </p:nvGrpSpPr>
        <p:grpSpPr bwMode="auto">
          <a:xfrm>
            <a:off x="7572074" y="2351091"/>
            <a:ext cx="176527" cy="220659"/>
            <a:chOff x="2592" y="816"/>
            <a:chExt cx="192" cy="240"/>
          </a:xfrm>
          <a:solidFill>
            <a:srgbClr val="7030A0"/>
          </a:solidFill>
          <a:scene3d>
            <a:camera prst="orthographicFront">
              <a:rot lat="0" lon="0" rev="0"/>
            </a:camera>
            <a:lightRig rig="contrasting" dir="t">
              <a:rot lat="0" lon="0" rev="7800000"/>
            </a:lightRig>
          </a:scene3d>
        </p:grpSpPr>
        <p:sp>
          <p:nvSpPr>
            <p:cNvPr id="40"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41"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42" name="Group 18"/>
          <p:cNvGrpSpPr>
            <a:grpSpLocks/>
          </p:cNvGrpSpPr>
          <p:nvPr/>
        </p:nvGrpSpPr>
        <p:grpSpPr bwMode="auto">
          <a:xfrm>
            <a:off x="7786388" y="2351091"/>
            <a:ext cx="176527" cy="220659"/>
            <a:chOff x="2592" y="816"/>
            <a:chExt cx="192" cy="240"/>
          </a:xfrm>
          <a:solidFill>
            <a:schemeClr val="tx2"/>
          </a:solidFill>
          <a:scene3d>
            <a:camera prst="orthographicFront">
              <a:rot lat="0" lon="0" rev="0"/>
            </a:camera>
            <a:lightRig rig="contrasting" dir="t">
              <a:rot lat="0" lon="0" rev="7800000"/>
            </a:lightRig>
          </a:scene3d>
        </p:grpSpPr>
        <p:sp>
          <p:nvSpPr>
            <p:cNvPr id="43"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44"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45" name="Group 18"/>
          <p:cNvGrpSpPr>
            <a:grpSpLocks/>
          </p:cNvGrpSpPr>
          <p:nvPr/>
        </p:nvGrpSpPr>
        <p:grpSpPr bwMode="auto">
          <a:xfrm>
            <a:off x="8000702" y="2351091"/>
            <a:ext cx="176527" cy="220659"/>
            <a:chOff x="2592" y="816"/>
            <a:chExt cx="192" cy="240"/>
          </a:xfrm>
          <a:solidFill>
            <a:schemeClr val="accent1">
              <a:lumMod val="50000"/>
            </a:schemeClr>
          </a:solidFill>
          <a:scene3d>
            <a:camera prst="orthographicFront">
              <a:rot lat="0" lon="0" rev="0"/>
            </a:camera>
            <a:lightRig rig="contrasting" dir="t">
              <a:rot lat="0" lon="0" rev="7800000"/>
            </a:lightRig>
          </a:scene3d>
        </p:grpSpPr>
        <p:sp>
          <p:nvSpPr>
            <p:cNvPr id="46"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47"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48" name="Group 18"/>
          <p:cNvGrpSpPr>
            <a:grpSpLocks/>
          </p:cNvGrpSpPr>
          <p:nvPr/>
        </p:nvGrpSpPr>
        <p:grpSpPr bwMode="auto">
          <a:xfrm>
            <a:off x="8215016" y="2351091"/>
            <a:ext cx="176527" cy="220659"/>
            <a:chOff x="2592" y="816"/>
            <a:chExt cx="192" cy="240"/>
          </a:xfrm>
          <a:solidFill>
            <a:srgbClr val="0070C0"/>
          </a:solidFill>
          <a:scene3d>
            <a:camera prst="orthographicFront">
              <a:rot lat="0" lon="0" rev="0"/>
            </a:camera>
            <a:lightRig rig="contrasting" dir="t">
              <a:rot lat="0" lon="0" rev="7800000"/>
            </a:lightRig>
          </a:scene3d>
        </p:grpSpPr>
        <p:sp>
          <p:nvSpPr>
            <p:cNvPr id="49"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50"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51" name="Group 18"/>
          <p:cNvGrpSpPr>
            <a:grpSpLocks/>
          </p:cNvGrpSpPr>
          <p:nvPr/>
        </p:nvGrpSpPr>
        <p:grpSpPr bwMode="auto">
          <a:xfrm>
            <a:off x="8429330" y="2351091"/>
            <a:ext cx="176527" cy="220659"/>
            <a:chOff x="2592" y="816"/>
            <a:chExt cx="192" cy="240"/>
          </a:xfrm>
          <a:solidFill>
            <a:srgbClr val="FFCC66"/>
          </a:solidFill>
          <a:scene3d>
            <a:camera prst="orthographicFront">
              <a:rot lat="0" lon="0" rev="0"/>
            </a:camera>
            <a:lightRig rig="contrasting" dir="t">
              <a:rot lat="0" lon="0" rev="7800000"/>
            </a:lightRig>
          </a:scene3d>
        </p:grpSpPr>
        <p:sp>
          <p:nvSpPr>
            <p:cNvPr id="52"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53"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aphicFrame>
        <p:nvGraphicFramePr>
          <p:cNvPr id="55" name="Tabelle 54"/>
          <p:cNvGraphicFramePr>
            <a:graphicFrameLocks noGrp="1"/>
          </p:cNvGraphicFramePr>
          <p:nvPr/>
        </p:nvGraphicFramePr>
        <p:xfrm>
          <a:off x="3059832" y="3282662"/>
          <a:ext cx="5832648" cy="1737360"/>
        </p:xfrm>
        <a:graphic>
          <a:graphicData uri="http://schemas.openxmlformats.org/drawingml/2006/table">
            <a:tbl>
              <a:tblPr firstRow="1" bandRow="1">
                <a:tableStyleId>{5C22544A-7EE6-4342-B048-85BDC9FD1C3A}</a:tableStyleId>
              </a:tblPr>
              <a:tblGrid>
                <a:gridCol w="810710">
                  <a:extLst>
                    <a:ext uri="{9D8B030D-6E8A-4147-A177-3AD203B41FA5}">
                      <a16:colId xmlns:a16="http://schemas.microsoft.com/office/drawing/2014/main" val="20000"/>
                    </a:ext>
                  </a:extLst>
                </a:gridCol>
                <a:gridCol w="5021938">
                  <a:extLst>
                    <a:ext uri="{9D8B030D-6E8A-4147-A177-3AD203B41FA5}">
                      <a16:colId xmlns:a16="http://schemas.microsoft.com/office/drawing/2014/main" val="20001"/>
                    </a:ext>
                  </a:extLst>
                </a:gridCol>
              </a:tblGrid>
              <a:tr h="0">
                <a:tc>
                  <a:txBody>
                    <a:bodyPr/>
                    <a:lstStyle/>
                    <a:p>
                      <a:pPr algn="ctr"/>
                      <a:r>
                        <a:rPr lang="en-US" sz="1200" noProof="0" dirty="0"/>
                        <a:t>Name</a:t>
                      </a:r>
                    </a:p>
                  </a:txBody>
                  <a:tcPr/>
                </a:tc>
                <a:tc>
                  <a:txBody>
                    <a:bodyPr/>
                    <a:lstStyle/>
                    <a:p>
                      <a:pPr algn="ctr"/>
                      <a:r>
                        <a:rPr lang="en-US" sz="1200" noProof="0" dirty="0"/>
                        <a:t>Description</a:t>
                      </a:r>
                    </a:p>
                  </a:txBody>
                  <a:tcPr/>
                </a:tc>
                <a:extLst>
                  <a:ext uri="{0D108BD9-81ED-4DB2-BD59-A6C34878D82A}">
                    <a16:rowId xmlns:a16="http://schemas.microsoft.com/office/drawing/2014/main" val="10000"/>
                  </a:ext>
                </a:extLst>
              </a:tr>
              <a:tr h="0">
                <a:tc>
                  <a:txBody>
                    <a:bodyPr/>
                    <a:lstStyle/>
                    <a:p>
                      <a:r>
                        <a:rPr lang="en-US" sz="1200" noProof="0" dirty="0"/>
                        <a:t>ALWAYS 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t>Always “cooperate”. This strategy is friendly, non retaliatory and </a:t>
                      </a:r>
                      <a:r>
                        <a:rPr lang="en-US" sz="1200" kern="1200" baseline="0" noProof="0" dirty="0"/>
                        <a:t>conciliatory</a:t>
                      </a:r>
                      <a:endParaRPr lang="en-US" sz="1200" noProof="0" dirty="0"/>
                    </a:p>
                  </a:txBody>
                  <a:tcPr/>
                </a:tc>
                <a:extLst>
                  <a:ext uri="{0D108BD9-81ED-4DB2-BD59-A6C34878D82A}">
                    <a16:rowId xmlns:a16="http://schemas.microsoft.com/office/drawing/2014/main" val="10001"/>
                  </a:ext>
                </a:extLst>
              </a:tr>
              <a:tr h="0">
                <a:tc>
                  <a:txBody>
                    <a:bodyPr/>
                    <a:lstStyle/>
                    <a:p>
                      <a:r>
                        <a:rPr lang="en-US" sz="1200" noProof="0" dirty="0"/>
                        <a:t>ALWAYS D</a:t>
                      </a:r>
                    </a:p>
                  </a:txBody>
                  <a:tcPr/>
                </a:tc>
                <a:tc>
                  <a:txBody>
                    <a:bodyPr/>
                    <a:lstStyle/>
                    <a:p>
                      <a:r>
                        <a:rPr lang="en-US" sz="1200" kern="1200" noProof="0" dirty="0"/>
                        <a:t>Always “defecting”</a:t>
                      </a:r>
                      <a:endParaRPr lang="en-US" sz="1200" noProof="0" dirty="0"/>
                    </a:p>
                  </a:txBody>
                  <a:tcPr/>
                </a:tc>
                <a:extLst>
                  <a:ext uri="{0D108BD9-81ED-4DB2-BD59-A6C34878D82A}">
                    <a16:rowId xmlns:a16="http://schemas.microsoft.com/office/drawing/2014/main" val="10002"/>
                  </a:ext>
                </a:extLst>
              </a:tr>
              <a:tr h="0">
                <a:tc>
                  <a:txBody>
                    <a:bodyPr/>
                    <a:lstStyle/>
                    <a:p>
                      <a:r>
                        <a:rPr lang="en-US" sz="1200" kern="1200" noProof="0"/>
                        <a:t>TIT FOR TAT</a:t>
                      </a:r>
                      <a:endParaRPr lang="en-US" sz="1200" noProof="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t>Every action</a:t>
                      </a:r>
                      <a:r>
                        <a:rPr lang="en-US" sz="1200" kern="1200" baseline="0" noProof="0" dirty="0"/>
                        <a:t> of the other player is replied at the next encounter with exactly the same response that the other player played at the present encounter. It starts with cooperation. This is a  friendly, </a:t>
                      </a:r>
                      <a:r>
                        <a:rPr lang="en-US" sz="1200" kern="1200" noProof="0" dirty="0"/>
                        <a:t>retaliatory</a:t>
                      </a:r>
                      <a:r>
                        <a:rPr lang="en-US" sz="1200" kern="1200" baseline="0" noProof="0" dirty="0"/>
                        <a:t> and conciliatory strategy</a:t>
                      </a:r>
                      <a:endParaRPr lang="en-US" sz="1200" noProof="0" dirty="0"/>
                    </a:p>
                  </a:txBody>
                  <a:tcPr/>
                </a:tc>
                <a:extLst>
                  <a:ext uri="{0D108BD9-81ED-4DB2-BD59-A6C34878D82A}">
                    <a16:rowId xmlns:a16="http://schemas.microsoft.com/office/drawing/2014/main" val="10003"/>
                  </a:ext>
                </a:extLst>
              </a:tr>
              <a:tr h="0">
                <a:tc>
                  <a:txBody>
                    <a:bodyPr/>
                    <a:lstStyle/>
                    <a:p>
                      <a:r>
                        <a:rPr lang="en-US" sz="1200" noProof="0" dirty="0"/>
                        <a:t>…</a:t>
                      </a:r>
                    </a:p>
                  </a:txBody>
                  <a:tcPr/>
                </a:tc>
                <a:tc>
                  <a:txBody>
                    <a:bodyPr/>
                    <a:lstStyle/>
                    <a:p>
                      <a:endParaRPr lang="en-US" sz="1200" noProof="0" dirty="0"/>
                    </a:p>
                  </a:txBody>
                  <a:tcPr/>
                </a:tc>
                <a:extLst>
                  <a:ext uri="{0D108BD9-81ED-4DB2-BD59-A6C34878D82A}">
                    <a16:rowId xmlns:a16="http://schemas.microsoft.com/office/drawing/2014/main" val="10004"/>
                  </a:ext>
                </a:extLst>
              </a:tr>
            </a:tbl>
          </a:graphicData>
        </a:graphic>
      </p:graphicFrame>
      <p:sp>
        <p:nvSpPr>
          <p:cNvPr id="56" name="Textfeld 55"/>
          <p:cNvSpPr txBox="1"/>
          <p:nvPr/>
        </p:nvSpPr>
        <p:spPr>
          <a:xfrm>
            <a:off x="2987824" y="2951197"/>
            <a:ext cx="5287217" cy="276999"/>
          </a:xfrm>
          <a:prstGeom prst="rect">
            <a:avLst/>
          </a:prstGeom>
          <a:noFill/>
        </p:spPr>
        <p:txBody>
          <a:bodyPr wrap="none" rtlCol="0">
            <a:spAutoFit/>
          </a:bodyPr>
          <a:lstStyle/>
          <a:p>
            <a:r>
              <a:rPr lang="en-US" sz="1200" dirty="0"/>
              <a:t>This allows different strategies (that may even take past encounters into account):</a:t>
            </a:r>
          </a:p>
        </p:txBody>
      </p:sp>
      <p:pic>
        <p:nvPicPr>
          <p:cNvPr id="57" name="Picture 2"/>
          <p:cNvPicPr>
            <a:picLocks noChangeAspect="1" noChangeArrowheads="1"/>
          </p:cNvPicPr>
          <p:nvPr/>
        </p:nvPicPr>
        <p:blipFill>
          <a:blip r:embed="rId4" cstate="print"/>
          <a:srcRect/>
          <a:stretch>
            <a:fillRect/>
          </a:stretch>
        </p:blipFill>
        <p:spPr bwMode="auto">
          <a:xfrm>
            <a:off x="539552" y="2715766"/>
            <a:ext cx="1100430" cy="1550396"/>
          </a:xfrm>
          <a:prstGeom prst="rect">
            <a:avLst/>
          </a:prstGeom>
          <a:noFill/>
          <a:ln w="9525">
            <a:noFill/>
            <a:miter lim="800000"/>
            <a:headEnd/>
            <a:tailEnd/>
          </a:ln>
        </p:spPr>
      </p:pic>
      <p:sp>
        <p:nvSpPr>
          <p:cNvPr id="58" name="Rechteck 57"/>
          <p:cNvSpPr/>
          <p:nvPr/>
        </p:nvSpPr>
        <p:spPr>
          <a:xfrm>
            <a:off x="107504" y="4283201"/>
            <a:ext cx="1224136" cy="400110"/>
          </a:xfrm>
          <a:prstGeom prst="rect">
            <a:avLst/>
          </a:prstGeom>
        </p:spPr>
        <p:txBody>
          <a:bodyPr wrap="square">
            <a:spAutoFit/>
          </a:bodyPr>
          <a:lstStyle/>
          <a:p>
            <a:pPr algn="ctr"/>
            <a:r>
              <a:rPr lang="en-US" sz="1000" dirty="0"/>
              <a:t>Robert Axelrod</a:t>
            </a:r>
          </a:p>
          <a:p>
            <a:pPr algn="ctr"/>
            <a:r>
              <a:rPr lang="en-US" sz="1000" dirty="0"/>
              <a:t>(* 27. Mai 1943) </a:t>
            </a:r>
          </a:p>
        </p:txBody>
      </p:sp>
      <p:pic>
        <p:nvPicPr>
          <p:cNvPr id="59" name="Picture 4" descr="http://t2.gstatic.com/images?q=tbn:ANd9GcR2ujjauvAsjeN_A15wYY0ivkS5u_p8wJYXce9PZva8GA-iaIjn"/>
          <p:cNvPicPr>
            <a:picLocks noChangeAspect="1" noChangeArrowheads="1"/>
          </p:cNvPicPr>
          <p:nvPr>
            <p:custDataLst>
              <p:tags r:id="rId1"/>
            </p:custDataLst>
          </p:nvPr>
        </p:nvPicPr>
        <p:blipFill>
          <a:blip r:embed="rId5" cstate="print"/>
          <a:srcRect/>
          <a:stretch>
            <a:fillRect/>
          </a:stretch>
        </p:blipFill>
        <p:spPr bwMode="auto">
          <a:xfrm>
            <a:off x="1331640" y="3923161"/>
            <a:ext cx="759649" cy="109682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Bogen 54"/>
          <p:cNvSpPr/>
          <p:nvPr/>
        </p:nvSpPr>
        <p:spPr>
          <a:xfrm rot="16200000">
            <a:off x="7464063" y="1466133"/>
            <a:ext cx="1210456" cy="1720857"/>
          </a:xfrm>
          <a:prstGeom prst="arc">
            <a:avLst/>
          </a:prstGeom>
          <a:ln w="762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el 1"/>
          <p:cNvSpPr>
            <a:spLocks noGrp="1"/>
          </p:cNvSpPr>
          <p:nvPr>
            <p:ph type="title"/>
          </p:nvPr>
        </p:nvSpPr>
        <p:spPr/>
        <p:txBody>
          <a:bodyPr/>
          <a:lstStyle/>
          <a:p>
            <a:r>
              <a:rPr lang="en-US" dirty="0"/>
              <a:t>… and apply it multiple times in different/ repeated interactions</a:t>
            </a:r>
          </a:p>
        </p:txBody>
      </p:sp>
      <p:sp>
        <p:nvSpPr>
          <p:cNvPr id="3" name="Pfeil nach rechts 2"/>
          <p:cNvSpPr/>
          <p:nvPr/>
        </p:nvSpPr>
        <p:spPr>
          <a:xfrm>
            <a:off x="483838" y="1550980"/>
            <a:ext cx="1785950" cy="28575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18"/>
          <p:cNvGrpSpPr>
            <a:grpSpLocks/>
          </p:cNvGrpSpPr>
          <p:nvPr/>
        </p:nvGrpSpPr>
        <p:grpSpPr bwMode="auto">
          <a:xfrm>
            <a:off x="323528" y="1141724"/>
            <a:ext cx="304800" cy="381000"/>
            <a:chOff x="2592" y="816"/>
            <a:chExt cx="192" cy="240"/>
          </a:xfrm>
          <a:solidFill>
            <a:schemeClr val="tx2"/>
          </a:solidFill>
          <a:scene3d>
            <a:camera prst="orthographicFront">
              <a:rot lat="0" lon="0" rev="0"/>
            </a:camera>
            <a:lightRig rig="contrasting" dir="t">
              <a:rot lat="0" lon="0" rev="7800000"/>
            </a:lightRig>
          </a:scene3d>
        </p:grpSpPr>
        <p:sp>
          <p:nvSpPr>
            <p:cNvPr id="5"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6"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7" name="Group 18"/>
          <p:cNvGrpSpPr>
            <a:grpSpLocks/>
          </p:cNvGrpSpPr>
          <p:nvPr/>
        </p:nvGrpSpPr>
        <p:grpSpPr bwMode="auto">
          <a:xfrm>
            <a:off x="323528" y="1858034"/>
            <a:ext cx="304800" cy="381000"/>
            <a:chOff x="2592" y="816"/>
            <a:chExt cx="192" cy="240"/>
          </a:xfrm>
          <a:solidFill>
            <a:srgbClr val="FFCC66"/>
          </a:solidFill>
          <a:scene3d>
            <a:camera prst="orthographicFront">
              <a:rot lat="0" lon="0" rev="0"/>
            </a:camera>
            <a:lightRig rig="contrasting" dir="t">
              <a:rot lat="0" lon="0" rev="7800000"/>
            </a:lightRig>
          </a:scene3d>
        </p:grpSpPr>
        <p:sp>
          <p:nvSpPr>
            <p:cNvPr id="8"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9"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10" name="Group 18"/>
          <p:cNvGrpSpPr>
            <a:grpSpLocks/>
          </p:cNvGrpSpPr>
          <p:nvPr/>
        </p:nvGrpSpPr>
        <p:grpSpPr bwMode="auto">
          <a:xfrm>
            <a:off x="2266614" y="1141724"/>
            <a:ext cx="304800" cy="381000"/>
            <a:chOff x="2592" y="816"/>
            <a:chExt cx="192" cy="240"/>
          </a:xfrm>
          <a:solidFill>
            <a:schemeClr val="tx2"/>
          </a:solidFill>
          <a:scene3d>
            <a:camera prst="orthographicFront">
              <a:rot lat="0" lon="0" rev="0"/>
            </a:camera>
            <a:lightRig rig="contrasting" dir="t">
              <a:rot lat="0" lon="0" rev="7800000"/>
            </a:lightRig>
          </a:scene3d>
        </p:grpSpPr>
        <p:sp>
          <p:nvSpPr>
            <p:cNvPr id="11"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12"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13" name="Group 18"/>
          <p:cNvGrpSpPr>
            <a:grpSpLocks/>
          </p:cNvGrpSpPr>
          <p:nvPr/>
        </p:nvGrpSpPr>
        <p:grpSpPr bwMode="auto">
          <a:xfrm>
            <a:off x="2266614" y="1858034"/>
            <a:ext cx="304800" cy="381000"/>
            <a:chOff x="2592" y="816"/>
            <a:chExt cx="192" cy="240"/>
          </a:xfrm>
          <a:solidFill>
            <a:srgbClr val="FFCC66"/>
          </a:solidFill>
          <a:scene3d>
            <a:camera prst="orthographicFront">
              <a:rot lat="0" lon="0" rev="0"/>
            </a:camera>
            <a:lightRig rig="contrasting" dir="t">
              <a:rot lat="0" lon="0" rev="7800000"/>
            </a:lightRig>
          </a:scene3d>
        </p:grpSpPr>
        <p:sp>
          <p:nvSpPr>
            <p:cNvPr id="14"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15"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sp>
        <p:nvSpPr>
          <p:cNvPr id="16" name="Flussdiagramm: Verzweigung 15"/>
          <p:cNvSpPr/>
          <p:nvPr/>
        </p:nvSpPr>
        <p:spPr>
          <a:xfrm>
            <a:off x="875967" y="1302544"/>
            <a:ext cx="1143008" cy="785818"/>
          </a:xfrm>
          <a:prstGeom prst="flowChartDecision">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Tabelle 16"/>
          <p:cNvGraphicFramePr>
            <a:graphicFrameLocks noGrp="1"/>
          </p:cNvGraphicFramePr>
          <p:nvPr/>
        </p:nvGraphicFramePr>
        <p:xfrm>
          <a:off x="1052166" y="1487800"/>
          <a:ext cx="785818" cy="426720"/>
        </p:xfrm>
        <a:graphic>
          <a:graphicData uri="http://schemas.openxmlformats.org/drawingml/2006/table">
            <a:tbl>
              <a:tblPr firstRow="1" bandRow="1">
                <a:tableStyleId>{5C22544A-7EE6-4342-B048-85BDC9FD1C3A}</a:tableStyleId>
              </a:tblPr>
              <a:tblGrid>
                <a:gridCol w="392909">
                  <a:extLst>
                    <a:ext uri="{9D8B030D-6E8A-4147-A177-3AD203B41FA5}">
                      <a16:colId xmlns:a16="http://schemas.microsoft.com/office/drawing/2014/main" val="20000"/>
                    </a:ext>
                  </a:extLst>
                </a:gridCol>
                <a:gridCol w="392909">
                  <a:extLst>
                    <a:ext uri="{9D8B030D-6E8A-4147-A177-3AD203B41FA5}">
                      <a16:colId xmlns:a16="http://schemas.microsoft.com/office/drawing/2014/main" val="20001"/>
                    </a:ext>
                  </a:extLst>
                </a:gridCol>
              </a:tblGrid>
              <a:tr h="0">
                <a:tc>
                  <a:txBody>
                    <a:bodyPr/>
                    <a:lstStyle/>
                    <a:p>
                      <a:pPr algn="ctr"/>
                      <a:r>
                        <a:rPr lang="en-US" sz="800" b="1" dirty="0">
                          <a:solidFill>
                            <a:schemeClr val="tx1"/>
                          </a:solidFill>
                        </a:rPr>
                        <a:t>R, 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S, 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r>
                        <a:rPr lang="en-US" sz="800" b="1" dirty="0">
                          <a:solidFill>
                            <a:schemeClr val="tx1"/>
                          </a:solidFill>
                        </a:rPr>
                        <a:t>T, 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800" b="1" dirty="0">
                          <a:solidFill>
                            <a:schemeClr val="tx1"/>
                          </a:solidFill>
                        </a:rPr>
                        <a:t>P, P</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18" name="Picture 2"/>
          <p:cNvPicPr>
            <a:picLocks noChangeAspect="1" noChangeArrowheads="1"/>
          </p:cNvPicPr>
          <p:nvPr/>
        </p:nvPicPr>
        <p:blipFill>
          <a:blip r:embed="rId2" cstate="print"/>
          <a:srcRect/>
          <a:stretch>
            <a:fillRect/>
          </a:stretch>
        </p:blipFill>
        <p:spPr bwMode="auto">
          <a:xfrm>
            <a:off x="2571414" y="1337793"/>
            <a:ext cx="493148" cy="369861"/>
          </a:xfrm>
          <a:prstGeom prst="rect">
            <a:avLst/>
          </a:prstGeom>
          <a:noFill/>
          <a:ln w="9525">
            <a:noFill/>
            <a:miter lim="800000"/>
            <a:headEnd/>
            <a:tailEnd/>
          </a:ln>
        </p:spPr>
      </p:pic>
      <p:pic>
        <p:nvPicPr>
          <p:cNvPr id="19" name="Picture 2"/>
          <p:cNvPicPr>
            <a:picLocks noChangeAspect="1" noChangeArrowheads="1"/>
          </p:cNvPicPr>
          <p:nvPr/>
        </p:nvPicPr>
        <p:blipFill>
          <a:blip r:embed="rId2" cstate="print"/>
          <a:srcRect/>
          <a:stretch>
            <a:fillRect/>
          </a:stretch>
        </p:blipFill>
        <p:spPr bwMode="auto">
          <a:xfrm>
            <a:off x="2571414" y="2054103"/>
            <a:ext cx="493148" cy="369861"/>
          </a:xfrm>
          <a:prstGeom prst="rect">
            <a:avLst/>
          </a:prstGeom>
          <a:noFill/>
          <a:ln w="9525">
            <a:noFill/>
            <a:miter lim="800000"/>
            <a:headEnd/>
            <a:tailEnd/>
          </a:ln>
        </p:spPr>
      </p:pic>
      <p:sp>
        <p:nvSpPr>
          <p:cNvPr id="20" name="Pfeil nach rechts 19"/>
          <p:cNvSpPr/>
          <p:nvPr/>
        </p:nvSpPr>
        <p:spPr>
          <a:xfrm>
            <a:off x="3214356" y="1544616"/>
            <a:ext cx="2348498" cy="28575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18"/>
          <p:cNvGrpSpPr>
            <a:grpSpLocks/>
          </p:cNvGrpSpPr>
          <p:nvPr/>
        </p:nvGrpSpPr>
        <p:grpSpPr bwMode="auto">
          <a:xfrm>
            <a:off x="3616594" y="1851670"/>
            <a:ext cx="304800" cy="381000"/>
            <a:chOff x="2592" y="816"/>
            <a:chExt cx="192" cy="240"/>
          </a:xfrm>
          <a:solidFill>
            <a:srgbClr val="92D050"/>
          </a:solidFill>
          <a:scene3d>
            <a:camera prst="orthographicFront">
              <a:rot lat="0" lon="0" rev="0"/>
            </a:camera>
            <a:lightRig rig="contrasting" dir="t">
              <a:rot lat="0" lon="0" rev="7800000"/>
            </a:lightRig>
          </a:scene3d>
        </p:grpSpPr>
        <p:sp>
          <p:nvSpPr>
            <p:cNvPr id="22"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23"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24" name="Group 18"/>
          <p:cNvGrpSpPr>
            <a:grpSpLocks/>
          </p:cNvGrpSpPr>
          <p:nvPr/>
        </p:nvGrpSpPr>
        <p:grpSpPr bwMode="auto">
          <a:xfrm>
            <a:off x="5559680" y="1135360"/>
            <a:ext cx="304800" cy="381000"/>
            <a:chOff x="2592" y="816"/>
            <a:chExt cx="192" cy="240"/>
          </a:xfrm>
          <a:solidFill>
            <a:schemeClr val="tx2"/>
          </a:solidFill>
          <a:scene3d>
            <a:camera prst="orthographicFront">
              <a:rot lat="0" lon="0" rev="0"/>
            </a:camera>
            <a:lightRig rig="contrasting" dir="t">
              <a:rot lat="0" lon="0" rev="7800000"/>
            </a:lightRig>
          </a:scene3d>
        </p:grpSpPr>
        <p:sp>
          <p:nvSpPr>
            <p:cNvPr id="25"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26"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27" name="Group 18"/>
          <p:cNvGrpSpPr>
            <a:grpSpLocks/>
          </p:cNvGrpSpPr>
          <p:nvPr/>
        </p:nvGrpSpPr>
        <p:grpSpPr bwMode="auto">
          <a:xfrm>
            <a:off x="5559680" y="1851670"/>
            <a:ext cx="304800" cy="381000"/>
            <a:chOff x="2592" y="816"/>
            <a:chExt cx="192" cy="240"/>
          </a:xfrm>
          <a:solidFill>
            <a:srgbClr val="92D050"/>
          </a:solidFill>
          <a:scene3d>
            <a:camera prst="orthographicFront">
              <a:rot lat="0" lon="0" rev="0"/>
            </a:camera>
            <a:lightRig rig="contrasting" dir="t">
              <a:rot lat="0" lon="0" rev="7800000"/>
            </a:lightRig>
          </a:scene3d>
        </p:grpSpPr>
        <p:sp>
          <p:nvSpPr>
            <p:cNvPr id="28"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29"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sp>
        <p:nvSpPr>
          <p:cNvPr id="30" name="Flussdiagramm: Verzweigung 29"/>
          <p:cNvSpPr/>
          <p:nvPr/>
        </p:nvSpPr>
        <p:spPr>
          <a:xfrm>
            <a:off x="4169033" y="1296180"/>
            <a:ext cx="1143008" cy="785818"/>
          </a:xfrm>
          <a:prstGeom prst="flowChartDecision">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1" name="Tabelle 30"/>
          <p:cNvGraphicFramePr>
            <a:graphicFrameLocks noGrp="1"/>
          </p:cNvGraphicFramePr>
          <p:nvPr/>
        </p:nvGraphicFramePr>
        <p:xfrm>
          <a:off x="4345232" y="1481436"/>
          <a:ext cx="785818" cy="426720"/>
        </p:xfrm>
        <a:graphic>
          <a:graphicData uri="http://schemas.openxmlformats.org/drawingml/2006/table">
            <a:tbl>
              <a:tblPr firstRow="1" bandRow="1">
                <a:tableStyleId>{5C22544A-7EE6-4342-B048-85BDC9FD1C3A}</a:tableStyleId>
              </a:tblPr>
              <a:tblGrid>
                <a:gridCol w="392909">
                  <a:extLst>
                    <a:ext uri="{9D8B030D-6E8A-4147-A177-3AD203B41FA5}">
                      <a16:colId xmlns:a16="http://schemas.microsoft.com/office/drawing/2014/main" val="20000"/>
                    </a:ext>
                  </a:extLst>
                </a:gridCol>
                <a:gridCol w="392909">
                  <a:extLst>
                    <a:ext uri="{9D8B030D-6E8A-4147-A177-3AD203B41FA5}">
                      <a16:colId xmlns:a16="http://schemas.microsoft.com/office/drawing/2014/main" val="20001"/>
                    </a:ext>
                  </a:extLst>
                </a:gridCol>
              </a:tblGrid>
              <a:tr h="0">
                <a:tc>
                  <a:txBody>
                    <a:bodyPr/>
                    <a:lstStyle/>
                    <a:p>
                      <a:pPr algn="ctr"/>
                      <a:r>
                        <a:rPr lang="en-US" sz="800" b="1" dirty="0">
                          <a:solidFill>
                            <a:schemeClr val="tx1"/>
                          </a:solidFill>
                        </a:rPr>
                        <a:t>R, 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S, 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r>
                        <a:rPr lang="en-US" sz="800" b="1" dirty="0">
                          <a:solidFill>
                            <a:schemeClr val="tx1"/>
                          </a:solidFill>
                        </a:rPr>
                        <a:t>T, 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800" b="1" dirty="0">
                          <a:solidFill>
                            <a:schemeClr val="tx1"/>
                          </a:solidFill>
                        </a:rPr>
                        <a:t>P, P</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32" name="Picture 2"/>
          <p:cNvPicPr>
            <a:picLocks noChangeAspect="1" noChangeArrowheads="1"/>
          </p:cNvPicPr>
          <p:nvPr/>
        </p:nvPicPr>
        <p:blipFill>
          <a:blip r:embed="rId2" cstate="print"/>
          <a:srcRect/>
          <a:stretch>
            <a:fillRect/>
          </a:stretch>
        </p:blipFill>
        <p:spPr bwMode="auto">
          <a:xfrm>
            <a:off x="5864480" y="1331429"/>
            <a:ext cx="493148" cy="369861"/>
          </a:xfrm>
          <a:prstGeom prst="rect">
            <a:avLst/>
          </a:prstGeom>
          <a:noFill/>
          <a:ln w="9525">
            <a:noFill/>
            <a:miter lim="800000"/>
            <a:headEnd/>
            <a:tailEnd/>
          </a:ln>
        </p:spPr>
      </p:pic>
      <p:pic>
        <p:nvPicPr>
          <p:cNvPr id="33" name="Picture 2"/>
          <p:cNvPicPr>
            <a:picLocks noChangeAspect="1" noChangeArrowheads="1"/>
          </p:cNvPicPr>
          <p:nvPr/>
        </p:nvPicPr>
        <p:blipFill>
          <a:blip r:embed="rId2" cstate="print"/>
          <a:srcRect/>
          <a:stretch>
            <a:fillRect/>
          </a:stretch>
        </p:blipFill>
        <p:spPr bwMode="auto">
          <a:xfrm>
            <a:off x="5864480" y="2047739"/>
            <a:ext cx="493148" cy="369861"/>
          </a:xfrm>
          <a:prstGeom prst="rect">
            <a:avLst/>
          </a:prstGeom>
          <a:noFill/>
          <a:ln w="9525">
            <a:noFill/>
            <a:miter lim="800000"/>
            <a:headEnd/>
            <a:tailEnd/>
          </a:ln>
        </p:spPr>
      </p:pic>
      <p:sp>
        <p:nvSpPr>
          <p:cNvPr id="34" name="Pfeil nach rechts 33"/>
          <p:cNvSpPr/>
          <p:nvPr/>
        </p:nvSpPr>
        <p:spPr>
          <a:xfrm>
            <a:off x="7072008" y="1544616"/>
            <a:ext cx="1785950" cy="28575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rPr>
              <a:t>…</a:t>
            </a:r>
          </a:p>
        </p:txBody>
      </p:sp>
      <p:pic>
        <p:nvPicPr>
          <p:cNvPr id="35" name="Picture 2"/>
          <p:cNvPicPr>
            <a:picLocks noChangeAspect="1" noChangeArrowheads="1"/>
          </p:cNvPicPr>
          <p:nvPr/>
        </p:nvPicPr>
        <p:blipFill>
          <a:blip r:embed="rId2" cstate="print"/>
          <a:srcRect/>
          <a:stretch>
            <a:fillRect/>
          </a:stretch>
        </p:blipFill>
        <p:spPr bwMode="auto">
          <a:xfrm>
            <a:off x="6357628" y="1331429"/>
            <a:ext cx="493148" cy="369861"/>
          </a:xfrm>
          <a:prstGeom prst="rect">
            <a:avLst/>
          </a:prstGeom>
          <a:noFill/>
          <a:ln w="9525">
            <a:noFill/>
            <a:miter lim="800000"/>
            <a:headEnd/>
            <a:tailEnd/>
          </a:ln>
        </p:spPr>
      </p:pic>
      <p:grpSp>
        <p:nvGrpSpPr>
          <p:cNvPr id="36" name="Group 18"/>
          <p:cNvGrpSpPr>
            <a:grpSpLocks/>
          </p:cNvGrpSpPr>
          <p:nvPr/>
        </p:nvGrpSpPr>
        <p:grpSpPr bwMode="auto">
          <a:xfrm>
            <a:off x="7357760" y="2207075"/>
            <a:ext cx="176527" cy="220659"/>
            <a:chOff x="2592" y="816"/>
            <a:chExt cx="192" cy="240"/>
          </a:xfrm>
          <a:solidFill>
            <a:srgbClr val="FF3300"/>
          </a:solidFill>
          <a:scene3d>
            <a:camera prst="orthographicFront">
              <a:rot lat="0" lon="0" rev="0"/>
            </a:camera>
            <a:lightRig rig="contrasting" dir="t">
              <a:rot lat="0" lon="0" rev="7800000"/>
            </a:lightRig>
          </a:scene3d>
        </p:grpSpPr>
        <p:sp>
          <p:nvSpPr>
            <p:cNvPr id="37"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38"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39" name="Group 18"/>
          <p:cNvGrpSpPr>
            <a:grpSpLocks/>
          </p:cNvGrpSpPr>
          <p:nvPr/>
        </p:nvGrpSpPr>
        <p:grpSpPr bwMode="auto">
          <a:xfrm>
            <a:off x="7572074" y="2207075"/>
            <a:ext cx="176527" cy="220659"/>
            <a:chOff x="2592" y="816"/>
            <a:chExt cx="192" cy="240"/>
          </a:xfrm>
          <a:solidFill>
            <a:srgbClr val="7030A0"/>
          </a:solidFill>
          <a:scene3d>
            <a:camera prst="orthographicFront">
              <a:rot lat="0" lon="0" rev="0"/>
            </a:camera>
            <a:lightRig rig="contrasting" dir="t">
              <a:rot lat="0" lon="0" rev="7800000"/>
            </a:lightRig>
          </a:scene3d>
        </p:grpSpPr>
        <p:sp>
          <p:nvSpPr>
            <p:cNvPr id="40"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41"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42" name="Group 18"/>
          <p:cNvGrpSpPr>
            <a:grpSpLocks/>
          </p:cNvGrpSpPr>
          <p:nvPr/>
        </p:nvGrpSpPr>
        <p:grpSpPr bwMode="auto">
          <a:xfrm>
            <a:off x="7786388" y="2207075"/>
            <a:ext cx="176527" cy="220659"/>
            <a:chOff x="2592" y="816"/>
            <a:chExt cx="192" cy="240"/>
          </a:xfrm>
          <a:solidFill>
            <a:schemeClr val="tx2"/>
          </a:solidFill>
          <a:scene3d>
            <a:camera prst="orthographicFront">
              <a:rot lat="0" lon="0" rev="0"/>
            </a:camera>
            <a:lightRig rig="contrasting" dir="t">
              <a:rot lat="0" lon="0" rev="7800000"/>
            </a:lightRig>
          </a:scene3d>
        </p:grpSpPr>
        <p:sp>
          <p:nvSpPr>
            <p:cNvPr id="43"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44"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45" name="Group 18"/>
          <p:cNvGrpSpPr>
            <a:grpSpLocks/>
          </p:cNvGrpSpPr>
          <p:nvPr/>
        </p:nvGrpSpPr>
        <p:grpSpPr bwMode="auto">
          <a:xfrm>
            <a:off x="8000702" y="2207075"/>
            <a:ext cx="176527" cy="220659"/>
            <a:chOff x="2592" y="816"/>
            <a:chExt cx="192" cy="240"/>
          </a:xfrm>
          <a:solidFill>
            <a:schemeClr val="accent1">
              <a:lumMod val="50000"/>
            </a:schemeClr>
          </a:solidFill>
          <a:scene3d>
            <a:camera prst="orthographicFront">
              <a:rot lat="0" lon="0" rev="0"/>
            </a:camera>
            <a:lightRig rig="contrasting" dir="t">
              <a:rot lat="0" lon="0" rev="7800000"/>
            </a:lightRig>
          </a:scene3d>
        </p:grpSpPr>
        <p:sp>
          <p:nvSpPr>
            <p:cNvPr id="46"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47"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48" name="Group 18"/>
          <p:cNvGrpSpPr>
            <a:grpSpLocks/>
          </p:cNvGrpSpPr>
          <p:nvPr/>
        </p:nvGrpSpPr>
        <p:grpSpPr bwMode="auto">
          <a:xfrm>
            <a:off x="8215016" y="2207075"/>
            <a:ext cx="176527" cy="220659"/>
            <a:chOff x="2592" y="816"/>
            <a:chExt cx="192" cy="240"/>
          </a:xfrm>
          <a:solidFill>
            <a:srgbClr val="0070C0"/>
          </a:solidFill>
          <a:scene3d>
            <a:camera prst="orthographicFront">
              <a:rot lat="0" lon="0" rev="0"/>
            </a:camera>
            <a:lightRig rig="contrasting" dir="t">
              <a:rot lat="0" lon="0" rev="7800000"/>
            </a:lightRig>
          </a:scene3d>
        </p:grpSpPr>
        <p:sp>
          <p:nvSpPr>
            <p:cNvPr id="49"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50"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grpSp>
        <p:nvGrpSpPr>
          <p:cNvPr id="51" name="Group 18"/>
          <p:cNvGrpSpPr>
            <a:grpSpLocks/>
          </p:cNvGrpSpPr>
          <p:nvPr/>
        </p:nvGrpSpPr>
        <p:grpSpPr bwMode="auto">
          <a:xfrm>
            <a:off x="8429330" y="2207075"/>
            <a:ext cx="176527" cy="220659"/>
            <a:chOff x="2592" y="816"/>
            <a:chExt cx="192" cy="240"/>
          </a:xfrm>
          <a:solidFill>
            <a:srgbClr val="FFCC66"/>
          </a:solidFill>
          <a:scene3d>
            <a:camera prst="orthographicFront">
              <a:rot lat="0" lon="0" rev="0"/>
            </a:camera>
            <a:lightRig rig="contrasting" dir="t">
              <a:rot lat="0" lon="0" rev="7800000"/>
            </a:lightRig>
          </a:scene3d>
        </p:grpSpPr>
        <p:sp>
          <p:nvSpPr>
            <p:cNvPr id="52" name="AutoShape 19"/>
            <p:cNvSpPr>
              <a:spLocks noChangeArrowheads="1"/>
            </p:cNvSpPr>
            <p:nvPr/>
          </p:nvSpPr>
          <p:spPr bwMode="auto">
            <a:xfrm>
              <a:off x="2592" y="864"/>
              <a:ext cx="192" cy="192"/>
            </a:xfrm>
            <a:prstGeom prst="triangle">
              <a:avLst>
                <a:gd name="adj" fmla="val 50000"/>
              </a:avLst>
            </a:prstGeom>
            <a:grpFill/>
            <a:ln w="9525">
              <a:noFill/>
              <a:miter lim="800000"/>
              <a:headEnd/>
              <a:tailEnd/>
            </a:ln>
            <a:effectLst/>
            <a:sp3d>
              <a:bevelT w="139700" h="139700"/>
            </a:sp3d>
          </p:spPr>
          <p:txBody>
            <a:bodyPr wrap="none" anchor="ctr"/>
            <a:lstStyle/>
            <a:p>
              <a:endParaRPr lang="en-US"/>
            </a:p>
          </p:txBody>
        </p:sp>
        <p:sp>
          <p:nvSpPr>
            <p:cNvPr id="53" name="Oval 20"/>
            <p:cNvSpPr>
              <a:spLocks noChangeArrowheads="1"/>
            </p:cNvSpPr>
            <p:nvPr/>
          </p:nvSpPr>
          <p:spPr bwMode="auto">
            <a:xfrm>
              <a:off x="2616" y="816"/>
              <a:ext cx="144" cy="144"/>
            </a:xfrm>
            <a:prstGeom prst="ellipse">
              <a:avLst/>
            </a:prstGeom>
            <a:grpFill/>
            <a:ln w="9525">
              <a:noFill/>
              <a:round/>
              <a:headEnd/>
              <a:tailEnd/>
            </a:ln>
            <a:effectLst/>
            <a:sp3d>
              <a:bevelT w="139700" h="139700"/>
            </a:sp3d>
          </p:spPr>
          <p:txBody>
            <a:bodyPr wrap="none" anchor="ctr"/>
            <a:lstStyle/>
            <a:p>
              <a:endParaRPr lang="en-US"/>
            </a:p>
          </p:txBody>
        </p:sp>
      </p:grpSp>
      <p:sp>
        <p:nvSpPr>
          <p:cNvPr id="54" name="Textfeld 53"/>
          <p:cNvSpPr txBox="1"/>
          <p:nvPr/>
        </p:nvSpPr>
        <p:spPr>
          <a:xfrm>
            <a:off x="1691680" y="2643758"/>
            <a:ext cx="7200800" cy="2339102"/>
          </a:xfrm>
          <a:prstGeom prst="rect">
            <a:avLst/>
          </a:prstGeom>
          <a:noFill/>
        </p:spPr>
        <p:txBody>
          <a:bodyPr wrap="square" rtlCol="0">
            <a:spAutoFit/>
          </a:bodyPr>
          <a:lstStyle/>
          <a:p>
            <a:pPr>
              <a:spcAft>
                <a:spcPts val="600"/>
              </a:spcAft>
            </a:pPr>
            <a:r>
              <a:rPr lang="en-US" sz="1400" dirty="0"/>
              <a:t>In the case of the iterated Prisoner‘s Dilemma not only the current payoffs play an essential role but also the future interactions.</a:t>
            </a:r>
          </a:p>
          <a:p>
            <a:pPr>
              <a:spcAft>
                <a:spcPts val="600"/>
              </a:spcAft>
            </a:pPr>
            <a:r>
              <a:rPr lang="en-US" sz="1400" dirty="0"/>
              <a:t>Hereby, one assumes that future payoffs play are less prominent for a decision at the present round (human factor, smaller probability of meeting in the future).</a:t>
            </a:r>
          </a:p>
          <a:p>
            <a:pPr>
              <a:spcAft>
                <a:spcPts val="600"/>
              </a:spcAft>
            </a:pPr>
            <a:r>
              <a:rPr lang="en-US" sz="1400" dirty="0"/>
              <a:t>This is considered by accumulating the payoffs over time in such a way that the next move/ round is weighted in terms of a fraction w </a:t>
            </a:r>
            <a:r>
              <a:rPr lang="en-US" sz="1400" dirty="0">
                <a:latin typeface="cmsy10"/>
              </a:rPr>
              <a:t>2</a:t>
            </a:r>
            <a:r>
              <a:rPr lang="en-US" sz="1400" dirty="0"/>
              <a:t> (0, 1] of the previous move. This weight w is called discounting parameter:</a:t>
            </a:r>
          </a:p>
          <a:p>
            <a:pPr algn="ctr">
              <a:spcAft>
                <a:spcPts val="600"/>
              </a:spcAft>
            </a:pPr>
            <a:r>
              <a:rPr lang="en-US" sz="1400" dirty="0">
                <a:latin typeface="Arial"/>
              </a:rPr>
              <a:t>A</a:t>
            </a:r>
            <a:r>
              <a:rPr lang="en-US" sz="1400" baseline="-25000" dirty="0">
                <a:latin typeface="Arial"/>
              </a:rPr>
              <a:t>0</a:t>
            </a:r>
            <a:r>
              <a:rPr lang="en-US" sz="1400" dirty="0"/>
              <a:t> + w </a:t>
            </a:r>
            <a:r>
              <a:rPr lang="en-US" sz="1400" dirty="0">
                <a:latin typeface="Arial"/>
              </a:rPr>
              <a:t>A</a:t>
            </a:r>
            <a:r>
              <a:rPr lang="en-US" sz="1400" baseline="-25000" dirty="0">
                <a:latin typeface="Arial"/>
              </a:rPr>
              <a:t>1</a:t>
            </a:r>
            <a:r>
              <a:rPr lang="en-US" sz="1400" dirty="0"/>
              <a:t> + </a:t>
            </a:r>
            <a:r>
              <a:rPr lang="en-US" sz="1400" dirty="0">
                <a:latin typeface="Arial"/>
              </a:rPr>
              <a:t>w</a:t>
            </a:r>
            <a:r>
              <a:rPr lang="en-US" sz="1400" baseline="30000" dirty="0">
                <a:latin typeface="Arial"/>
              </a:rPr>
              <a:t>2</a:t>
            </a:r>
            <a:r>
              <a:rPr lang="en-US" sz="1400" dirty="0"/>
              <a:t> </a:t>
            </a:r>
            <a:r>
              <a:rPr lang="en-US" sz="1400" dirty="0">
                <a:latin typeface="Arial"/>
              </a:rPr>
              <a:t>A</a:t>
            </a:r>
            <a:r>
              <a:rPr lang="en-US" sz="1400" baseline="-25000" dirty="0">
                <a:latin typeface="Arial"/>
              </a:rPr>
              <a:t>2</a:t>
            </a:r>
            <a:r>
              <a:rPr lang="en-US" sz="1400" dirty="0"/>
              <a:t> + </a:t>
            </a:r>
            <a:r>
              <a:rPr lang="en-US" sz="1400" dirty="0">
                <a:latin typeface="Arial"/>
              </a:rPr>
              <a:t>w</a:t>
            </a:r>
            <a:r>
              <a:rPr lang="en-US" sz="1400" baseline="30000" dirty="0">
                <a:latin typeface="Arial"/>
              </a:rPr>
              <a:t>3</a:t>
            </a:r>
            <a:r>
              <a:rPr lang="en-US" sz="1400" dirty="0"/>
              <a:t> </a:t>
            </a:r>
            <a:r>
              <a:rPr lang="en-US" sz="1400" dirty="0">
                <a:latin typeface="Arial"/>
              </a:rPr>
              <a:t>A</a:t>
            </a:r>
            <a:r>
              <a:rPr lang="en-US" sz="1400" baseline="-25000" dirty="0">
                <a:latin typeface="Arial"/>
              </a:rPr>
              <a:t>3</a:t>
            </a:r>
            <a:r>
              <a:rPr lang="en-US" sz="1400" dirty="0"/>
              <a:t> + </a:t>
            </a:r>
            <a:r>
              <a:rPr lang="en-US" sz="1400" dirty="0">
                <a:latin typeface="Arial"/>
              </a:rPr>
              <a:t>w</a:t>
            </a:r>
            <a:r>
              <a:rPr lang="en-US" sz="1400" baseline="30000" dirty="0">
                <a:latin typeface="Arial"/>
              </a:rPr>
              <a:t>4</a:t>
            </a:r>
            <a:r>
              <a:rPr lang="en-US" sz="1400" dirty="0"/>
              <a:t> </a:t>
            </a:r>
            <a:r>
              <a:rPr lang="en-US" sz="1400" dirty="0">
                <a:latin typeface="Arial"/>
              </a:rPr>
              <a:t>A</a:t>
            </a:r>
            <a:r>
              <a:rPr lang="en-US" sz="1400" baseline="-25000" dirty="0">
                <a:latin typeface="Arial"/>
              </a:rPr>
              <a:t>4</a:t>
            </a:r>
            <a:r>
              <a:rPr lang="en-US" sz="1400" dirty="0"/>
              <a:t> + …</a:t>
            </a:r>
          </a:p>
          <a:p>
            <a:pPr>
              <a:spcAft>
                <a:spcPts val="600"/>
              </a:spcAft>
            </a:pPr>
            <a:r>
              <a:rPr lang="en-US" sz="1400" dirty="0"/>
              <a:t>where </a:t>
            </a:r>
            <a:r>
              <a:rPr lang="en-US" sz="1400" dirty="0">
                <a:latin typeface="Arial"/>
              </a:rPr>
              <a:t>A</a:t>
            </a:r>
            <a:r>
              <a:rPr lang="en-US" sz="1400" baseline="-25000" dirty="0">
                <a:latin typeface="Arial"/>
              </a:rPr>
              <a:t>0</a:t>
            </a:r>
            <a:r>
              <a:rPr lang="en-US" sz="1400" dirty="0"/>
              <a:t>, </a:t>
            </a:r>
            <a:r>
              <a:rPr lang="en-US" sz="1400" dirty="0">
                <a:latin typeface="Arial"/>
              </a:rPr>
              <a:t>A</a:t>
            </a:r>
            <a:r>
              <a:rPr lang="en-US" sz="1400" baseline="-25000" dirty="0">
                <a:latin typeface="Arial"/>
              </a:rPr>
              <a:t>1</a:t>
            </a:r>
            <a:r>
              <a:rPr lang="en-US" sz="1400" dirty="0"/>
              <a:t>, … are the payoffs at the initial round and in the future.</a:t>
            </a:r>
          </a:p>
        </p:txBody>
      </p:sp>
      <p:sp>
        <p:nvSpPr>
          <p:cNvPr id="56" name="Rechteck 55"/>
          <p:cNvSpPr/>
          <p:nvPr/>
        </p:nvSpPr>
        <p:spPr>
          <a:xfrm>
            <a:off x="1691680" y="2643758"/>
            <a:ext cx="7200800" cy="2376263"/>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There is no optimal strategy, …</a:t>
            </a:r>
          </a:p>
        </p:txBody>
      </p:sp>
      <p:sp>
        <p:nvSpPr>
          <p:cNvPr id="3" name="Textfeld 2"/>
          <p:cNvSpPr txBox="1"/>
          <p:nvPr/>
        </p:nvSpPr>
        <p:spPr>
          <a:xfrm>
            <a:off x="1691680" y="1131590"/>
            <a:ext cx="7200800" cy="81560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spcAft>
                <a:spcPts val="600"/>
              </a:spcAft>
            </a:pPr>
            <a:r>
              <a:rPr lang="en-US" sz="1400" b="1" u="sng" dirty="0">
                <a:solidFill>
                  <a:schemeClr val="tx1"/>
                </a:solidFill>
              </a:rPr>
              <a:t>Theorem:</a:t>
            </a:r>
            <a:endParaRPr lang="en-US" sz="1400" dirty="0">
              <a:solidFill>
                <a:schemeClr val="tx1"/>
              </a:solidFill>
            </a:endParaRPr>
          </a:p>
          <a:p>
            <a:pPr>
              <a:spcAft>
                <a:spcPts val="600"/>
              </a:spcAft>
            </a:pPr>
            <a:r>
              <a:rPr lang="en-US" sz="1400" dirty="0">
                <a:solidFill>
                  <a:schemeClr val="tx1"/>
                </a:solidFill>
              </a:rPr>
              <a:t>If the discounting parameter w is sufficiently large, then there is no best strategy independent of the strategy of another player.</a:t>
            </a:r>
          </a:p>
        </p:txBody>
      </p:sp>
      <p:sp>
        <p:nvSpPr>
          <p:cNvPr id="4" name="Textfeld 3"/>
          <p:cNvSpPr txBox="1"/>
          <p:nvPr/>
        </p:nvSpPr>
        <p:spPr>
          <a:xfrm>
            <a:off x="1691680" y="2067694"/>
            <a:ext cx="7200800" cy="2908489"/>
          </a:xfrm>
          <a:prstGeom prst="rect">
            <a:avLst/>
          </a:prstGeom>
          <a:noFill/>
        </p:spPr>
        <p:txBody>
          <a:bodyPr wrap="square" rtlCol="0">
            <a:spAutoFit/>
          </a:bodyPr>
          <a:lstStyle/>
          <a:p>
            <a:pPr>
              <a:spcAft>
                <a:spcPts val="600"/>
              </a:spcAft>
            </a:pPr>
            <a:r>
              <a:rPr lang="en-US" sz="1400" b="1" u="sng" dirty="0"/>
              <a:t>Proof:</a:t>
            </a:r>
            <a:endParaRPr lang="en-US" sz="1400" dirty="0"/>
          </a:p>
          <a:p>
            <a:pPr algn="just">
              <a:spcAft>
                <a:spcPts val="600"/>
              </a:spcAft>
            </a:pPr>
            <a:r>
              <a:rPr lang="en-US" sz="1400" dirty="0"/>
              <a:t>Assume the other player is playing „ALWAYS D (permanent defection). Hence, if the other player never cooperates, then it is best to always defect as well.</a:t>
            </a:r>
          </a:p>
          <a:p>
            <a:pPr algn="just">
              <a:spcAft>
                <a:spcPts val="600"/>
              </a:spcAft>
            </a:pPr>
            <a:r>
              <a:rPr lang="en-US" sz="1400" dirty="0"/>
              <a:t>Next, assume on the other hand that another player chooses the strategy “Permanent Retaliation” (i.e. he/ she cooperates until the other player defects for the first time, and then he/ she defects for the rest of the game). In that case, it is obviously best to never defect, provided the temptation T, to defect at the first encounter, is over-compensated by the long-term disadvantage to just always gain the punishment P instead of the reward R. This holds if the discounting parameter w is large enough (w &gt; (T – R)/(T – P)).</a:t>
            </a:r>
          </a:p>
          <a:p>
            <a:pPr algn="just">
              <a:spcAft>
                <a:spcPts val="600"/>
              </a:spcAft>
            </a:pPr>
            <a:r>
              <a:rPr lang="en-US" sz="1400" dirty="0"/>
              <a:t>Hence, it depends on the strategy of the antagonist, if a player should cooperate or not, even in the first round. If w is sufficiently large, then there consequently is no best strategy (independent of the choice of the strategy of the other player).</a:t>
            </a:r>
          </a:p>
        </p:txBody>
      </p:sp>
      <p:sp>
        <p:nvSpPr>
          <p:cNvPr id="5" name="Rechteck 4"/>
          <p:cNvSpPr/>
          <p:nvPr/>
        </p:nvSpPr>
        <p:spPr>
          <a:xfrm>
            <a:off x="1691680" y="2067694"/>
            <a:ext cx="7200800" cy="2952327"/>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but there is a plethora of possible strategies</a:t>
            </a:r>
          </a:p>
        </p:txBody>
      </p:sp>
      <p:graphicFrame>
        <p:nvGraphicFramePr>
          <p:cNvPr id="3" name="Tabelle 2"/>
          <p:cNvGraphicFramePr>
            <a:graphicFrameLocks noGrp="1"/>
          </p:cNvGraphicFramePr>
          <p:nvPr/>
        </p:nvGraphicFramePr>
        <p:xfrm>
          <a:off x="251520" y="1113254"/>
          <a:ext cx="8640960" cy="3474720"/>
        </p:xfrm>
        <a:graphic>
          <a:graphicData uri="http://schemas.openxmlformats.org/drawingml/2006/table">
            <a:tbl>
              <a:tblPr firstRow="1" bandRow="1">
                <a:tableStyleId>{5C22544A-7EE6-4342-B048-85BDC9FD1C3A}</a:tableStyleId>
              </a:tblPr>
              <a:tblGrid>
                <a:gridCol w="1008111">
                  <a:extLst>
                    <a:ext uri="{9D8B030D-6E8A-4147-A177-3AD203B41FA5}">
                      <a16:colId xmlns:a16="http://schemas.microsoft.com/office/drawing/2014/main" val="20000"/>
                    </a:ext>
                  </a:extLst>
                </a:gridCol>
                <a:gridCol w="7632849">
                  <a:extLst>
                    <a:ext uri="{9D8B030D-6E8A-4147-A177-3AD203B41FA5}">
                      <a16:colId xmlns:a16="http://schemas.microsoft.com/office/drawing/2014/main" val="20001"/>
                    </a:ext>
                  </a:extLst>
                </a:gridCol>
              </a:tblGrid>
              <a:tr h="0">
                <a:tc>
                  <a:txBody>
                    <a:bodyPr/>
                    <a:lstStyle/>
                    <a:p>
                      <a:pPr algn="ctr"/>
                      <a:r>
                        <a:rPr lang="en-US" sz="1200" noProof="0" dirty="0"/>
                        <a:t>Name</a:t>
                      </a:r>
                    </a:p>
                  </a:txBody>
                  <a:tcPr/>
                </a:tc>
                <a:tc>
                  <a:txBody>
                    <a:bodyPr/>
                    <a:lstStyle/>
                    <a:p>
                      <a:pPr algn="ctr"/>
                      <a:r>
                        <a:rPr lang="en-US" sz="1200" noProof="0" dirty="0"/>
                        <a:t>Description</a:t>
                      </a:r>
                    </a:p>
                  </a:txBody>
                  <a:tcPr/>
                </a:tc>
                <a:extLst>
                  <a:ext uri="{0D108BD9-81ED-4DB2-BD59-A6C34878D82A}">
                    <a16:rowId xmlns:a16="http://schemas.microsoft.com/office/drawing/2014/main" val="10000"/>
                  </a:ext>
                </a:extLst>
              </a:tr>
              <a:tr h="0">
                <a:tc>
                  <a:txBody>
                    <a:bodyPr/>
                    <a:lstStyle/>
                    <a:p>
                      <a:r>
                        <a:rPr lang="en-US" sz="1200" noProof="0" dirty="0"/>
                        <a:t>ALWAYS 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t>Always “cooperate”. This strategy is friendly, non retaliatory and </a:t>
                      </a:r>
                      <a:r>
                        <a:rPr lang="en-US" sz="1200" kern="1200" baseline="0" noProof="0" dirty="0"/>
                        <a:t>conciliatory</a:t>
                      </a:r>
                      <a:endParaRPr lang="en-US" sz="1200" noProof="0" dirty="0"/>
                    </a:p>
                  </a:txBody>
                  <a:tcPr/>
                </a:tc>
                <a:extLst>
                  <a:ext uri="{0D108BD9-81ED-4DB2-BD59-A6C34878D82A}">
                    <a16:rowId xmlns:a16="http://schemas.microsoft.com/office/drawing/2014/main" val="10001"/>
                  </a:ext>
                </a:extLst>
              </a:tr>
              <a:tr h="0">
                <a:tc>
                  <a:txBody>
                    <a:bodyPr/>
                    <a:lstStyle/>
                    <a:p>
                      <a:r>
                        <a:rPr lang="en-US" sz="1200" noProof="0"/>
                        <a:t>ALWAYS D</a:t>
                      </a:r>
                    </a:p>
                  </a:txBody>
                  <a:tcPr/>
                </a:tc>
                <a:tc>
                  <a:txBody>
                    <a:bodyPr/>
                    <a:lstStyle/>
                    <a:p>
                      <a:r>
                        <a:rPr lang="en-US" sz="1200" kern="1200" noProof="0" dirty="0"/>
                        <a:t>Always “defecting”</a:t>
                      </a:r>
                      <a:endParaRPr lang="en-US" sz="1200" noProof="0" dirty="0"/>
                    </a:p>
                  </a:txBody>
                  <a:tcPr/>
                </a:tc>
                <a:extLst>
                  <a:ext uri="{0D108BD9-81ED-4DB2-BD59-A6C34878D82A}">
                    <a16:rowId xmlns:a16="http://schemas.microsoft.com/office/drawing/2014/main" val="10002"/>
                  </a:ext>
                </a:extLst>
              </a:tr>
              <a:tr h="161070">
                <a:tc>
                  <a:txBody>
                    <a:bodyPr/>
                    <a:lstStyle/>
                    <a:p>
                      <a:r>
                        <a:rPr lang="en-US" sz="1200" kern="1200" noProof="0"/>
                        <a:t>TIT FOR TAT</a:t>
                      </a:r>
                      <a:endParaRPr lang="en-US" sz="1200" noProof="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t>Every action</a:t>
                      </a:r>
                      <a:r>
                        <a:rPr lang="en-US" sz="1200" kern="1200" baseline="0" noProof="0" dirty="0"/>
                        <a:t> of the other player is replied at the next encounter with exactly the same response that the other player played at the present encounter. It starts with cooperation. This is a  friendly, </a:t>
                      </a:r>
                      <a:r>
                        <a:rPr lang="en-US" sz="1200" kern="1200" noProof="0" dirty="0"/>
                        <a:t>retaliatory</a:t>
                      </a:r>
                      <a:r>
                        <a:rPr lang="en-US" sz="1200" kern="1200" baseline="0" noProof="0" dirty="0"/>
                        <a:t> and conciliatory strategy</a:t>
                      </a:r>
                      <a:endParaRPr lang="en-US" sz="1200" noProof="0" dirty="0"/>
                    </a:p>
                  </a:txBody>
                  <a:tcPr/>
                </a:tc>
                <a:extLst>
                  <a:ext uri="{0D108BD9-81ED-4DB2-BD59-A6C34878D82A}">
                    <a16:rowId xmlns:a16="http://schemas.microsoft.com/office/drawing/2014/main" val="10003"/>
                  </a:ext>
                </a:extLst>
              </a:tr>
              <a:tr h="161070">
                <a:tc>
                  <a:txBody>
                    <a:bodyPr/>
                    <a:lstStyle/>
                    <a:p>
                      <a:endParaRPr lang="en-US" sz="1200" noProof="0"/>
                    </a:p>
                  </a:txBody>
                  <a:tcPr/>
                </a:tc>
                <a:tc>
                  <a:txBody>
                    <a:bodyPr/>
                    <a:lstStyle/>
                    <a:p>
                      <a:r>
                        <a:rPr lang="en-US" sz="1200" kern="1200" noProof="0" dirty="0"/>
                        <a:t>The complete opposite of TIT FOR TAT: This strategy replies every action of the</a:t>
                      </a:r>
                      <a:r>
                        <a:rPr lang="en-US" sz="1200" kern="1200" baseline="0" noProof="0" dirty="0"/>
                        <a:t> other player with the opposite action. This strategy is not friendly (it starts with defection) and not </a:t>
                      </a:r>
                      <a:r>
                        <a:rPr lang="en-US" sz="1200" kern="1200" noProof="0" dirty="0"/>
                        <a:t>retaliatory</a:t>
                      </a:r>
                      <a:r>
                        <a:rPr lang="en-US" sz="1200" kern="1200" baseline="0" noProof="0" dirty="0"/>
                        <a:t>.</a:t>
                      </a:r>
                      <a:endParaRPr lang="en-US" sz="1200" noProof="0" dirty="0"/>
                    </a:p>
                  </a:txBody>
                  <a:tcPr/>
                </a:tc>
                <a:extLst>
                  <a:ext uri="{0D108BD9-81ED-4DB2-BD59-A6C34878D82A}">
                    <a16:rowId xmlns:a16="http://schemas.microsoft.com/office/drawing/2014/main" val="10004"/>
                  </a:ext>
                </a:extLst>
              </a:tr>
              <a:tr h="161070">
                <a:tc>
                  <a:txBody>
                    <a:bodyPr/>
                    <a:lstStyle/>
                    <a:p>
                      <a:r>
                        <a:rPr lang="en-US" sz="1200" noProof="0"/>
                        <a:t>JOSS</a:t>
                      </a:r>
                    </a:p>
                  </a:txBody>
                  <a:tcPr/>
                </a:tc>
                <a:tc>
                  <a:txBody>
                    <a:bodyPr/>
                    <a:lstStyle/>
                    <a:p>
                      <a:r>
                        <a:rPr lang="en-US" sz="1200" noProof="0" dirty="0"/>
                        <a:t>“Insidious” version of TIT FOR TAT: Starts with</a:t>
                      </a:r>
                      <a:r>
                        <a:rPr lang="en-US" sz="1200" baseline="0" noProof="0" dirty="0"/>
                        <a:t> cooperation, defects after an defection, though instead of always cooperating this strategy defects by purpose in 10% of all cases after a cooperation</a:t>
                      </a:r>
                      <a:endParaRPr lang="en-US" sz="1200" noProof="0" dirty="0"/>
                    </a:p>
                  </a:txBody>
                  <a:tcPr/>
                </a:tc>
                <a:extLst>
                  <a:ext uri="{0D108BD9-81ED-4DB2-BD59-A6C34878D82A}">
                    <a16:rowId xmlns:a16="http://schemas.microsoft.com/office/drawing/2014/main" val="10005"/>
                  </a:ext>
                </a:extLst>
              </a:tr>
              <a:tr h="0">
                <a:tc>
                  <a:txBody>
                    <a:bodyPr/>
                    <a:lstStyle/>
                    <a:p>
                      <a:r>
                        <a:rPr lang="en-US" sz="1200" noProof="0" dirty="0"/>
                        <a:t>FRIEDMAN</a:t>
                      </a:r>
                    </a:p>
                  </a:txBody>
                  <a:tcPr/>
                </a:tc>
                <a:tc>
                  <a:txBody>
                    <a:bodyPr/>
                    <a:lstStyle/>
                    <a:p>
                      <a:r>
                        <a:rPr lang="en-US" sz="1200" kern="1200" noProof="0" dirty="0"/>
                        <a:t>Everlasting retaliation.</a:t>
                      </a:r>
                      <a:r>
                        <a:rPr lang="en-US" sz="1200" kern="1200" baseline="0" noProof="0" dirty="0"/>
                        <a:t> Friendly strategy, that responds to a defection of the other player with everlasting defection</a:t>
                      </a:r>
                      <a:r>
                        <a:rPr lang="en-US" sz="1200" kern="1200" noProof="0" dirty="0"/>
                        <a:t>.</a:t>
                      </a:r>
                      <a:endParaRPr lang="en-US" sz="1200" noProof="0" dirty="0"/>
                    </a:p>
                  </a:txBody>
                  <a:tcPr/>
                </a:tc>
                <a:extLst>
                  <a:ext uri="{0D108BD9-81ED-4DB2-BD59-A6C34878D82A}">
                    <a16:rowId xmlns:a16="http://schemas.microsoft.com/office/drawing/2014/main" val="10006"/>
                  </a:ext>
                </a:extLst>
              </a:tr>
              <a:tr h="0">
                <a:tc>
                  <a:txBody>
                    <a:bodyPr/>
                    <a:lstStyle/>
                    <a:p>
                      <a:r>
                        <a:rPr lang="en-US" sz="1200" noProof="0" dirty="0"/>
                        <a:t>NYDEGGER</a:t>
                      </a:r>
                    </a:p>
                  </a:txBody>
                  <a:tcPr/>
                </a:tc>
                <a:tc>
                  <a:txBody>
                    <a:bodyPr/>
                    <a:lstStyle/>
                    <a:p>
                      <a:r>
                        <a:rPr lang="en-US" sz="1200" noProof="0" dirty="0"/>
                        <a:t>Starts like TIT FOR TAT.</a:t>
                      </a:r>
                      <a:r>
                        <a:rPr lang="en-US" sz="1200" baseline="0" noProof="0" dirty="0"/>
                        <a:t> After a while it analyzes the 3 last mutual encounters and acts accordingly.</a:t>
                      </a:r>
                      <a:endParaRPr lang="en-US" sz="1200" noProof="0" dirty="0"/>
                    </a:p>
                  </a:txBody>
                  <a:tcPr/>
                </a:tc>
                <a:extLst>
                  <a:ext uri="{0D108BD9-81ED-4DB2-BD59-A6C34878D82A}">
                    <a16:rowId xmlns:a16="http://schemas.microsoft.com/office/drawing/2014/main" val="10007"/>
                  </a:ext>
                </a:extLst>
              </a:tr>
              <a:tr h="1610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RANDOM</a:t>
                      </a:r>
                    </a:p>
                    <a:p>
                      <a:endParaRPr lang="en-US" sz="1200" noProof="0" dirty="0"/>
                    </a:p>
                  </a:txBody>
                  <a:tcPr/>
                </a:tc>
                <a:tc>
                  <a:txBody>
                    <a:bodyPr/>
                    <a:lstStyle/>
                    <a:p>
                      <a:r>
                        <a:rPr lang="en-US" sz="1200" kern="1200" noProof="0" dirty="0"/>
                        <a:t>With a probability of ½ this strategy cooperates or defects, independent of the history of previous mutual encounters.</a:t>
                      </a:r>
                      <a:endParaRPr lang="en-US" sz="1200" noProof="0" dirty="0"/>
                    </a:p>
                  </a:txBody>
                  <a:tcPr/>
                </a:tc>
                <a:extLst>
                  <a:ext uri="{0D108BD9-81ED-4DB2-BD59-A6C34878D82A}">
                    <a16:rowId xmlns:a16="http://schemas.microsoft.com/office/drawing/2014/main" val="10008"/>
                  </a:ext>
                </a:extLst>
              </a:tr>
              <a:tr h="0">
                <a:tc>
                  <a:txBody>
                    <a:bodyPr/>
                    <a:lstStyle/>
                    <a:p>
                      <a:r>
                        <a:rPr lang="en-US" sz="1200" noProof="0" dirty="0"/>
                        <a:t>…</a:t>
                      </a:r>
                    </a:p>
                  </a:txBody>
                  <a:tcPr/>
                </a:tc>
                <a:tc>
                  <a:txBody>
                    <a:bodyPr/>
                    <a:lstStyle/>
                    <a:p>
                      <a:endParaRPr lang="en-US" sz="1200" noProof="0" dirty="0"/>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Results from the 1</a:t>
            </a:r>
            <a:r>
              <a:rPr lang="en-US" baseline="30000" dirty="0"/>
              <a:t>st</a:t>
            </a:r>
            <a:r>
              <a:rPr lang="en-US" dirty="0"/>
              <a:t> round of the tournament: “Tit For Tat” is the winner</a:t>
            </a:r>
            <a:br>
              <a:rPr lang="en-US" dirty="0"/>
            </a:br>
            <a:r>
              <a:rPr lang="en-US" dirty="0"/>
              <a:t>(during the 200 moves each of the15 rules met each other rule 5 times)</a:t>
            </a:r>
          </a:p>
        </p:txBody>
      </p:sp>
      <p:graphicFrame>
        <p:nvGraphicFramePr>
          <p:cNvPr id="3" name="Diagramm 2"/>
          <p:cNvGraphicFramePr/>
          <p:nvPr/>
        </p:nvGraphicFramePr>
        <p:xfrm>
          <a:off x="107504" y="915566"/>
          <a:ext cx="8389967" cy="4104456"/>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feld 3"/>
          <p:cNvSpPr txBox="1"/>
          <p:nvPr/>
        </p:nvSpPr>
        <p:spPr>
          <a:xfrm>
            <a:off x="6228184" y="3939902"/>
            <a:ext cx="2664296" cy="646331"/>
          </a:xfrm>
          <a:prstGeom prst="rect">
            <a:avLst/>
          </a:prstGeom>
          <a:solidFill>
            <a:schemeClr val="bg1"/>
          </a:solidFill>
        </p:spPr>
        <p:txBody>
          <a:bodyPr wrap="square" rtlCol="0">
            <a:spAutoFit/>
          </a:bodyPr>
          <a:lstStyle/>
          <a:p>
            <a:r>
              <a:rPr lang="en-US" sz="1200" b="1" dirty="0"/>
              <a:t>For comparison: </a:t>
            </a:r>
            <a:r>
              <a:rPr lang="en-US" sz="1200" dirty="0"/>
              <a:t>always defection: 1000 points, always cooperation: 600 points, always mutual defection: 200 points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An example for the repeated encounter of two strategies:</a:t>
            </a:r>
            <a:br>
              <a:rPr lang="en-US" dirty="0"/>
            </a:br>
            <a:r>
              <a:rPr lang="en-US" dirty="0"/>
              <a:t>TIT FOR TAT and JOSS</a:t>
            </a:r>
          </a:p>
        </p:txBody>
      </p:sp>
      <p:graphicFrame>
        <p:nvGraphicFramePr>
          <p:cNvPr id="3" name="Tabelle 2"/>
          <p:cNvGraphicFramePr>
            <a:graphicFrameLocks noGrp="1"/>
          </p:cNvGraphicFramePr>
          <p:nvPr/>
        </p:nvGraphicFramePr>
        <p:xfrm>
          <a:off x="251520" y="1131590"/>
          <a:ext cx="4608758" cy="2743200"/>
        </p:xfrm>
        <a:graphic>
          <a:graphicData uri="http://schemas.openxmlformats.org/drawingml/2006/table">
            <a:tbl>
              <a:tblPr firstRow="1" bandRow="1">
                <a:tableStyleId>{22838BEF-8BB2-4498-84A7-C5851F593DF1}</a:tableStyleId>
              </a:tblPr>
              <a:tblGrid>
                <a:gridCol w="674609">
                  <a:extLst>
                    <a:ext uri="{9D8B030D-6E8A-4147-A177-3AD203B41FA5}">
                      <a16:colId xmlns:a16="http://schemas.microsoft.com/office/drawing/2014/main" val="20000"/>
                    </a:ext>
                  </a:extLst>
                </a:gridCol>
                <a:gridCol w="861645">
                  <a:extLst>
                    <a:ext uri="{9D8B030D-6E8A-4147-A177-3AD203B41FA5}">
                      <a16:colId xmlns:a16="http://schemas.microsoft.com/office/drawing/2014/main" val="20001"/>
                    </a:ext>
                  </a:extLst>
                </a:gridCol>
                <a:gridCol w="768126">
                  <a:extLst>
                    <a:ext uri="{9D8B030D-6E8A-4147-A177-3AD203B41FA5}">
                      <a16:colId xmlns:a16="http://schemas.microsoft.com/office/drawing/2014/main" val="20002"/>
                    </a:ext>
                  </a:extLst>
                </a:gridCol>
                <a:gridCol w="768126">
                  <a:extLst>
                    <a:ext uri="{9D8B030D-6E8A-4147-A177-3AD203B41FA5}">
                      <a16:colId xmlns:a16="http://schemas.microsoft.com/office/drawing/2014/main" val="20003"/>
                    </a:ext>
                  </a:extLst>
                </a:gridCol>
                <a:gridCol w="768126">
                  <a:extLst>
                    <a:ext uri="{9D8B030D-6E8A-4147-A177-3AD203B41FA5}">
                      <a16:colId xmlns:a16="http://schemas.microsoft.com/office/drawing/2014/main" val="20004"/>
                    </a:ext>
                  </a:extLst>
                </a:gridCol>
                <a:gridCol w="768126">
                  <a:extLst>
                    <a:ext uri="{9D8B030D-6E8A-4147-A177-3AD203B41FA5}">
                      <a16:colId xmlns:a16="http://schemas.microsoft.com/office/drawing/2014/main" val="20005"/>
                    </a:ext>
                  </a:extLst>
                </a:gridCol>
              </a:tblGrid>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    1 – 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11111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1" dirty="0">
                          <a:solidFill>
                            <a:srgbClr val="FF0000"/>
                          </a:solidFill>
                        </a:rPr>
                        <a:t>2</a:t>
                      </a:r>
                      <a:r>
                        <a:rPr lang="en-US" sz="1200" b="0" dirty="0"/>
                        <a:t>3232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32323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23232</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0"/>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  21</a:t>
                      </a:r>
                      <a:r>
                        <a:rPr lang="en-US" sz="1200" b="0" baseline="0" dirty="0"/>
                        <a:t> </a:t>
                      </a:r>
                      <a:r>
                        <a:rPr lang="en-US" sz="1200" b="0" dirty="0"/>
                        <a:t>– 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3232</a:t>
                      </a:r>
                      <a:r>
                        <a:rPr lang="en-US" sz="1200" b="1" dirty="0">
                          <a:solidFill>
                            <a:srgbClr val="FF000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1"/>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  41 – 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2"/>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  61 – 80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3"/>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  81 – 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4"/>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101 – 120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5"/>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121</a:t>
                      </a:r>
                      <a:r>
                        <a:rPr lang="en-US" sz="1200" b="0" baseline="0" dirty="0"/>
                        <a:t> </a:t>
                      </a:r>
                      <a:r>
                        <a:rPr lang="en-US" sz="1200" b="0" dirty="0"/>
                        <a:t>– 140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6"/>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141 – 160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7"/>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161 – 180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8"/>
                  </a:ext>
                </a:extLst>
              </a:tr>
              <a:tr h="0">
                <a:tc>
                  <a:txBody>
                    <a:bodyPr/>
                    <a:lstStyle/>
                    <a:p>
                      <a:r>
                        <a:rPr lang="en-US" sz="1200" b="0" dirty="0"/>
                        <a:t>moves</a:t>
                      </a:r>
                    </a:p>
                  </a:txBody>
                  <a:tcPr>
                    <a:lnR w="12700" cap="flat" cmpd="sng" algn="ctr">
                      <a:noFill/>
                      <a:prstDash val="solid"/>
                      <a:round/>
                      <a:headEnd type="none" w="med" len="med"/>
                      <a:tailEnd type="none" w="med" len="med"/>
                    </a:lnR>
                  </a:tcPr>
                </a:tc>
                <a:tc>
                  <a:txBody>
                    <a:bodyPr/>
                    <a:lstStyle/>
                    <a:p>
                      <a:pPr algn="ctr"/>
                      <a:r>
                        <a:rPr lang="en-US" sz="1200" b="0" dirty="0"/>
                        <a:t>181 – 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1200" b="0" dirty="0"/>
                        <a:t>44444</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9"/>
                  </a:ext>
                </a:extLst>
              </a:tr>
            </a:tbl>
          </a:graphicData>
        </a:graphic>
      </p:graphicFrame>
      <p:sp>
        <p:nvSpPr>
          <p:cNvPr id="4" name="Textfeld 3"/>
          <p:cNvSpPr txBox="1"/>
          <p:nvPr/>
        </p:nvSpPr>
        <p:spPr>
          <a:xfrm>
            <a:off x="5004048" y="1131589"/>
            <a:ext cx="3888432" cy="2831544"/>
          </a:xfrm>
          <a:prstGeom prst="rect">
            <a:avLst/>
          </a:prstGeom>
          <a:noFill/>
        </p:spPr>
        <p:txBody>
          <a:bodyPr wrap="square" rtlCol="0">
            <a:spAutoFit/>
          </a:bodyPr>
          <a:lstStyle/>
          <a:p>
            <a:r>
              <a:rPr lang="en-US" sz="1400" b="1" dirty="0"/>
              <a:t>Example for a TIT FOR TAT and JOSS encounter:</a:t>
            </a:r>
          </a:p>
          <a:p>
            <a:endParaRPr lang="en-US" sz="500" dirty="0"/>
          </a:p>
          <a:p>
            <a:pPr marL="180975" indent="-180975">
              <a:buFont typeface="Arial" pitchFamily="34" charset="0"/>
              <a:buChar char="•"/>
            </a:pPr>
            <a:r>
              <a:rPr lang="en-US" sz="1400" dirty="0"/>
              <a:t>initially both cooperate;</a:t>
            </a:r>
          </a:p>
          <a:p>
            <a:pPr marL="180975" indent="-180975">
              <a:buFont typeface="Arial" pitchFamily="34" charset="0"/>
              <a:buChar char="•"/>
            </a:pPr>
            <a:r>
              <a:rPr lang="en-US" sz="1400" dirty="0"/>
              <a:t>then JOSS tries to find out how far it can go and defects,</a:t>
            </a:r>
          </a:p>
          <a:p>
            <a:pPr marL="180975" indent="-180975">
              <a:buFont typeface="Arial" pitchFamily="34" charset="0"/>
              <a:buChar char="•"/>
            </a:pPr>
            <a:r>
              <a:rPr lang="en-US" sz="1400" dirty="0"/>
              <a:t>TIT FOR TAT punishes this, JOSS apologizes, a mutual “punishment-apology-cycle” starts</a:t>
            </a:r>
          </a:p>
          <a:p>
            <a:pPr marL="180975" indent="-180975">
              <a:buFont typeface="Arial" pitchFamily="34" charset="0"/>
              <a:buChar char="•"/>
            </a:pPr>
            <a:r>
              <a:rPr lang="en-US" sz="1400" dirty="0"/>
              <a:t>JOSS defects at the 25. move randomly, and</a:t>
            </a:r>
          </a:p>
          <a:p>
            <a:pPr marL="180975" indent="-180975">
              <a:buFont typeface="Arial" pitchFamily="34" charset="0"/>
              <a:buChar char="•"/>
            </a:pPr>
            <a:r>
              <a:rPr lang="en-US" sz="1400" dirty="0"/>
              <a:t>form now on both punish each other mutually (echo-effect).</a:t>
            </a:r>
          </a:p>
          <a:p>
            <a:pPr marL="180975" indent="-180975"/>
            <a:endParaRPr lang="en-US" sz="500" dirty="0"/>
          </a:p>
          <a:p>
            <a:r>
              <a:rPr lang="en-US" sz="1400" b="1" dirty="0"/>
              <a:t>Points in this example:</a:t>
            </a:r>
          </a:p>
          <a:p>
            <a:pPr marL="180975" indent="-180975">
              <a:buFont typeface="Arial" pitchFamily="34" charset="0"/>
              <a:buChar char="•"/>
            </a:pPr>
            <a:r>
              <a:rPr lang="en-US" sz="1400" dirty="0"/>
              <a:t>TIT FOR TAT: 236</a:t>
            </a:r>
          </a:p>
          <a:p>
            <a:pPr marL="180975" indent="-180975">
              <a:buFont typeface="Arial" pitchFamily="34" charset="0"/>
              <a:buChar char="•"/>
            </a:pPr>
            <a:r>
              <a:rPr lang="en-US" sz="1400" dirty="0"/>
              <a:t>JOSS: 241</a:t>
            </a:r>
          </a:p>
        </p:txBody>
      </p:sp>
      <p:sp>
        <p:nvSpPr>
          <p:cNvPr id="5" name="Textfeld 4"/>
          <p:cNvSpPr txBox="1"/>
          <p:nvPr/>
        </p:nvSpPr>
        <p:spPr>
          <a:xfrm>
            <a:off x="251520" y="4011910"/>
            <a:ext cx="4429156" cy="461665"/>
          </a:xfrm>
          <a:prstGeom prst="rect">
            <a:avLst/>
          </a:prstGeom>
          <a:noFill/>
        </p:spPr>
        <p:txBody>
          <a:bodyPr wrap="square" rtlCol="0">
            <a:spAutoFit/>
          </a:bodyPr>
          <a:lstStyle/>
          <a:p>
            <a:r>
              <a:rPr lang="en-US" sz="1200" dirty="0"/>
              <a:t>1: both cooperate, 	2: only TIT FOR TAT cooperates,</a:t>
            </a:r>
          </a:p>
          <a:p>
            <a:r>
              <a:rPr lang="en-US" sz="1200" dirty="0"/>
              <a:t>3: only JOSS cooperates, 	4: both defect</a:t>
            </a:r>
          </a:p>
        </p:txBody>
      </p:sp>
      <p:sp>
        <p:nvSpPr>
          <p:cNvPr id="6" name="Textfeld 5"/>
          <p:cNvSpPr txBox="1"/>
          <p:nvPr/>
        </p:nvSpPr>
        <p:spPr>
          <a:xfrm>
            <a:off x="5076056" y="4011910"/>
            <a:ext cx="3744416" cy="936104"/>
          </a:xfrm>
          <a:prstGeom prst="rect">
            <a:avLst/>
          </a:prstGeom>
          <a:solidFill>
            <a:schemeClr val="tx2">
              <a:lumMod val="20000"/>
              <a:lumOff val="80000"/>
            </a:schemeClr>
          </a:solidFill>
        </p:spPr>
        <p:txBody>
          <a:bodyPr wrap="square" rtlCol="0" anchor="ctr" anchorCtr="0">
            <a:noAutofit/>
          </a:bodyPr>
          <a:lstStyle/>
          <a:p>
            <a:pPr algn="ctr">
              <a:spcAft>
                <a:spcPts val="600"/>
              </a:spcAft>
            </a:pPr>
            <a:r>
              <a:rPr lang="en-US" sz="1400" dirty="0"/>
              <a:t>A less “harsh” strategy as TIT FOR TAT would have gained better results with respect to JOSS due to faster pardoning JOSS, and presumably without  escalation (e.g. TIT FOR TWO TATS)</a:t>
            </a:r>
          </a:p>
        </p:txBody>
      </p:sp>
      <p:sp>
        <p:nvSpPr>
          <p:cNvPr id="7" name="Rechteck 6"/>
          <p:cNvSpPr/>
          <p:nvPr/>
        </p:nvSpPr>
        <p:spPr>
          <a:xfrm>
            <a:off x="5004048" y="1131590"/>
            <a:ext cx="3888432" cy="3888431"/>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TIT FOR TAT performs very well with respect to other strategies under evolutionary conditions as well (1/ 2)</a:t>
            </a:r>
          </a:p>
        </p:txBody>
      </p:sp>
      <p:pic>
        <p:nvPicPr>
          <p:cNvPr id="3" name="Grafik 2" descr="Axel_sim001.jpg"/>
          <p:cNvPicPr>
            <a:picLocks noChangeAspect="1"/>
          </p:cNvPicPr>
          <p:nvPr/>
        </p:nvPicPr>
        <p:blipFill>
          <a:blip r:embed="rId2" cstate="print"/>
          <a:srcRect l="18233" t="14336" r="12161" b="23986"/>
          <a:stretch>
            <a:fillRect/>
          </a:stretch>
        </p:blipFill>
        <p:spPr>
          <a:xfrm rot="5400000">
            <a:off x="-6168" y="1389279"/>
            <a:ext cx="3951311" cy="3435934"/>
          </a:xfrm>
          <a:prstGeom prst="rect">
            <a:avLst/>
          </a:prstGeom>
        </p:spPr>
      </p:pic>
      <p:sp>
        <p:nvSpPr>
          <p:cNvPr id="4" name="Textfeld 3"/>
          <p:cNvSpPr txBox="1"/>
          <p:nvPr/>
        </p:nvSpPr>
        <p:spPr>
          <a:xfrm>
            <a:off x="0" y="843558"/>
            <a:ext cx="1407758" cy="246221"/>
          </a:xfrm>
          <a:prstGeom prst="rect">
            <a:avLst/>
          </a:prstGeom>
          <a:noFill/>
        </p:spPr>
        <p:txBody>
          <a:bodyPr wrap="none" rtlCol="0">
            <a:spAutoFit/>
          </a:bodyPr>
          <a:lstStyle/>
          <a:p>
            <a:r>
              <a:rPr lang="en-US" sz="1000" dirty="0"/>
              <a:t>[Axelrod, 2009], S. 45</a:t>
            </a:r>
          </a:p>
        </p:txBody>
      </p:sp>
      <p:sp>
        <p:nvSpPr>
          <p:cNvPr id="5" name="Textfeld 4"/>
          <p:cNvSpPr txBox="1"/>
          <p:nvPr/>
        </p:nvSpPr>
        <p:spPr>
          <a:xfrm>
            <a:off x="4355977" y="1131590"/>
            <a:ext cx="4536504" cy="3924151"/>
          </a:xfrm>
          <a:prstGeom prst="rect">
            <a:avLst/>
          </a:prstGeom>
          <a:noFill/>
        </p:spPr>
        <p:txBody>
          <a:bodyPr wrap="square" rtlCol="0">
            <a:spAutoFit/>
          </a:bodyPr>
          <a:lstStyle/>
          <a:p>
            <a:pPr algn="just">
              <a:spcAft>
                <a:spcPts val="600"/>
              </a:spcAft>
            </a:pPr>
            <a:r>
              <a:rPr lang="en-US" sz="1400" dirty="0"/>
              <a:t>The idea at this type of simulation is that the successful strategies are applied with higher probability in the next round, whereas the less successful strategies are applied with a smaller probability.</a:t>
            </a:r>
          </a:p>
          <a:p>
            <a:pPr algn="just">
              <a:spcAft>
                <a:spcPts val="600"/>
              </a:spcAft>
            </a:pPr>
            <a:r>
              <a:rPr lang="en-US" sz="1400" dirty="0"/>
              <a:t>In the simulation the number of a strategy’s copies (offspring) in the next generation/ round is proportional to its success in the tournament.</a:t>
            </a:r>
          </a:p>
          <a:p>
            <a:pPr algn="just">
              <a:spcAft>
                <a:spcPts val="600"/>
              </a:spcAft>
            </a:pPr>
            <a:r>
              <a:rPr lang="en-US" sz="1400" dirty="0"/>
              <a:t>E.g., if a strategy has twice as much points in the initial round compared to another strategy, then it will occur in the next round also twice as often.</a:t>
            </a:r>
          </a:p>
          <a:p>
            <a:pPr algn="just">
              <a:spcAft>
                <a:spcPts val="600"/>
              </a:spcAft>
            </a:pPr>
            <a:endParaRPr lang="en-US" sz="1400" dirty="0"/>
          </a:p>
          <a:p>
            <a:pPr algn="just">
              <a:spcAft>
                <a:spcPts val="600"/>
              </a:spcAft>
            </a:pPr>
            <a:endParaRPr lang="en-US" sz="1200" dirty="0"/>
          </a:p>
          <a:p>
            <a:pPr algn="just">
              <a:spcAft>
                <a:spcPts val="600"/>
              </a:spcAft>
            </a:pPr>
            <a:r>
              <a:rPr lang="en-US" sz="1400" dirty="0"/>
              <a:t>This process simulates the “survival of the fittest”: A strategy that, on average, is successful in a population at a given distribution of strategies, occupies in the next round a larger share of the environment of the other strategies.</a:t>
            </a:r>
          </a:p>
        </p:txBody>
      </p:sp>
      <p:sp>
        <p:nvSpPr>
          <p:cNvPr id="6" name="Gleichschenkliges Dreieck 5"/>
          <p:cNvSpPr/>
          <p:nvPr/>
        </p:nvSpPr>
        <p:spPr>
          <a:xfrm rot="10800000">
            <a:off x="5266907" y="3653580"/>
            <a:ext cx="2714644" cy="21431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hteck 6"/>
          <p:cNvSpPr/>
          <p:nvPr/>
        </p:nvSpPr>
        <p:spPr>
          <a:xfrm>
            <a:off x="4355976" y="1131590"/>
            <a:ext cx="4536504" cy="3888431"/>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TIT FOR TAT performs very well with respect to other strategies under evolutionary conditions as well (2/ 2)</a:t>
            </a:r>
          </a:p>
        </p:txBody>
      </p:sp>
      <p:pic>
        <p:nvPicPr>
          <p:cNvPr id="3" name="Grafik 2" descr="Axel_sim001.jpg"/>
          <p:cNvPicPr>
            <a:picLocks noChangeAspect="1"/>
          </p:cNvPicPr>
          <p:nvPr/>
        </p:nvPicPr>
        <p:blipFill>
          <a:blip r:embed="rId2" cstate="print"/>
          <a:srcRect l="18233" t="14336" r="12161" b="23986"/>
          <a:stretch>
            <a:fillRect/>
          </a:stretch>
        </p:blipFill>
        <p:spPr>
          <a:xfrm rot="5400000">
            <a:off x="-6169" y="1389278"/>
            <a:ext cx="3951311" cy="3435934"/>
          </a:xfrm>
          <a:prstGeom prst="rect">
            <a:avLst/>
          </a:prstGeom>
        </p:spPr>
      </p:pic>
      <p:sp>
        <p:nvSpPr>
          <p:cNvPr id="4" name="Textfeld 3"/>
          <p:cNvSpPr txBox="1"/>
          <p:nvPr/>
        </p:nvSpPr>
        <p:spPr>
          <a:xfrm>
            <a:off x="0" y="843558"/>
            <a:ext cx="1407758" cy="246221"/>
          </a:xfrm>
          <a:prstGeom prst="rect">
            <a:avLst/>
          </a:prstGeom>
          <a:noFill/>
        </p:spPr>
        <p:txBody>
          <a:bodyPr wrap="none" rtlCol="0">
            <a:spAutoFit/>
          </a:bodyPr>
          <a:lstStyle/>
          <a:p>
            <a:r>
              <a:rPr lang="en-US" sz="1000" dirty="0"/>
              <a:t>[Axelrod, 2009], S. 45</a:t>
            </a:r>
          </a:p>
        </p:txBody>
      </p:sp>
      <p:grpSp>
        <p:nvGrpSpPr>
          <p:cNvPr id="5" name="Gruppieren 16"/>
          <p:cNvGrpSpPr/>
          <p:nvPr/>
        </p:nvGrpSpPr>
        <p:grpSpPr>
          <a:xfrm>
            <a:off x="879033" y="3873088"/>
            <a:ext cx="8013448" cy="1132770"/>
            <a:chOff x="879033" y="3873088"/>
            <a:chExt cx="8013448" cy="1132770"/>
          </a:xfrm>
        </p:grpSpPr>
        <p:sp>
          <p:nvSpPr>
            <p:cNvPr id="6" name="Ellipse 5"/>
            <p:cNvSpPr/>
            <p:nvPr/>
          </p:nvSpPr>
          <p:spPr>
            <a:xfrm>
              <a:off x="879033" y="3873088"/>
              <a:ext cx="500066" cy="500066"/>
            </a:xfrm>
            <a:prstGeom prst="ellipse">
              <a:avLst/>
            </a:prstGeom>
            <a:noFill/>
            <a:ln w="571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gende mit Linie 1 (Rahmen und Markierungsleiste) 6"/>
            <p:cNvSpPr/>
            <p:nvPr/>
          </p:nvSpPr>
          <p:spPr>
            <a:xfrm>
              <a:off x="4355977" y="4227934"/>
              <a:ext cx="4536504" cy="777924"/>
            </a:xfrm>
            <a:prstGeom prst="accentBorderCallout1">
              <a:avLst>
                <a:gd name="adj1" fmla="val 18750"/>
                <a:gd name="adj2" fmla="val -3813"/>
                <a:gd name="adj3" fmla="val -9400"/>
                <a:gd name="adj4" fmla="val -63968"/>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Extinction of the less successful strategies during the first generations</a:t>
              </a:r>
            </a:p>
          </p:txBody>
        </p:sp>
      </p:grpSp>
      <p:grpSp>
        <p:nvGrpSpPr>
          <p:cNvPr id="8" name="Gruppieren 18"/>
          <p:cNvGrpSpPr/>
          <p:nvPr/>
        </p:nvGrpSpPr>
        <p:grpSpPr>
          <a:xfrm>
            <a:off x="1259632" y="2211710"/>
            <a:ext cx="7632849" cy="777924"/>
            <a:chOff x="1259632" y="2211710"/>
            <a:chExt cx="7632849" cy="777924"/>
          </a:xfrm>
        </p:grpSpPr>
        <p:sp>
          <p:nvSpPr>
            <p:cNvPr id="9" name="Ellipse 8"/>
            <p:cNvSpPr/>
            <p:nvPr/>
          </p:nvSpPr>
          <p:spPr>
            <a:xfrm>
              <a:off x="1259632" y="2211710"/>
              <a:ext cx="500066" cy="500066"/>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gende mit Linie 1 (Rahmen und Markierungsleiste) 9"/>
            <p:cNvSpPr/>
            <p:nvPr/>
          </p:nvSpPr>
          <p:spPr>
            <a:xfrm>
              <a:off x="4355977" y="2211710"/>
              <a:ext cx="4536504" cy="777924"/>
            </a:xfrm>
            <a:prstGeom prst="accentBorderCallout1">
              <a:avLst>
                <a:gd name="adj1" fmla="val 18750"/>
                <a:gd name="adj2" fmla="val -3813"/>
                <a:gd name="adj3" fmla="val 33805"/>
                <a:gd name="adj4" fmla="val -55571"/>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The </a:t>
              </a:r>
              <a:r>
                <a:rPr lang="en-US" sz="1400" dirty="0">
                  <a:solidFill>
                    <a:schemeClr val="tx1"/>
                  </a:solidFill>
                </a:rPr>
                <a:t>friendly rules profit from a continuously increasing friendly environment and can exhaust the potential of cooperation to the fullest</a:t>
              </a:r>
            </a:p>
          </p:txBody>
        </p:sp>
      </p:grpSp>
      <p:grpSp>
        <p:nvGrpSpPr>
          <p:cNvPr id="11" name="Gruppieren 17"/>
          <p:cNvGrpSpPr/>
          <p:nvPr/>
        </p:nvGrpSpPr>
        <p:grpSpPr>
          <a:xfrm>
            <a:off x="1187624" y="3003798"/>
            <a:ext cx="7704857" cy="993948"/>
            <a:chOff x="1187624" y="3003798"/>
            <a:chExt cx="7704857" cy="993948"/>
          </a:xfrm>
        </p:grpSpPr>
        <p:sp>
          <p:nvSpPr>
            <p:cNvPr id="12" name="Legende mit Linie 1 (Rahmen und Markierungsleiste) 11"/>
            <p:cNvSpPr/>
            <p:nvPr/>
          </p:nvSpPr>
          <p:spPr>
            <a:xfrm>
              <a:off x="4355977" y="3219822"/>
              <a:ext cx="4536504" cy="777924"/>
            </a:xfrm>
            <a:prstGeom prst="accentBorderCallout1">
              <a:avLst>
                <a:gd name="adj1" fmla="val 18750"/>
                <a:gd name="adj2" fmla="val -3813"/>
                <a:gd name="adj3" fmla="val -833"/>
                <a:gd name="adj4" fmla="val -57327"/>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 un-friendly strategy 8 looses its base for successful exploitation due to the extinction of the less successful strategies</a:t>
              </a:r>
            </a:p>
          </p:txBody>
        </p:sp>
        <p:sp>
          <p:nvSpPr>
            <p:cNvPr id="13" name="Ellipse 12"/>
            <p:cNvSpPr/>
            <p:nvPr/>
          </p:nvSpPr>
          <p:spPr>
            <a:xfrm>
              <a:off x="1187624" y="3003798"/>
              <a:ext cx="500066" cy="500066"/>
            </a:xfrm>
            <a:prstGeom prst="ellipse">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uppieren 19"/>
          <p:cNvGrpSpPr/>
          <p:nvPr/>
        </p:nvGrpSpPr>
        <p:grpSpPr>
          <a:xfrm>
            <a:off x="3063822" y="1203598"/>
            <a:ext cx="5828658" cy="777924"/>
            <a:chOff x="3063822" y="1203598"/>
            <a:chExt cx="5828658" cy="777924"/>
          </a:xfrm>
        </p:grpSpPr>
        <p:sp>
          <p:nvSpPr>
            <p:cNvPr id="15" name="Legende mit Linie 1 (Rahmen und Markierungsleiste) 14"/>
            <p:cNvSpPr/>
            <p:nvPr/>
          </p:nvSpPr>
          <p:spPr>
            <a:xfrm>
              <a:off x="4355976" y="1203598"/>
              <a:ext cx="4536504" cy="777924"/>
            </a:xfrm>
            <a:prstGeom prst="accentBorderCallout1">
              <a:avLst>
                <a:gd name="adj1" fmla="val 18750"/>
                <a:gd name="adj2" fmla="val -3813"/>
                <a:gd name="adj3" fmla="val 50671"/>
                <a:gd name="adj4" fmla="val -17182"/>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Again, TIT FOR TAT is winning, presumably also due to its assertiveness in the first “unfriendly” generations</a:t>
              </a:r>
            </a:p>
          </p:txBody>
        </p:sp>
        <p:sp>
          <p:nvSpPr>
            <p:cNvPr id="16" name="Ellipse 15"/>
            <p:cNvSpPr/>
            <p:nvPr/>
          </p:nvSpPr>
          <p:spPr>
            <a:xfrm>
              <a:off x="3063822" y="1347614"/>
              <a:ext cx="500066" cy="500066"/>
            </a:xfrm>
            <a:prstGeom prst="ellipse">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“New” rules for territorial systems on a </a:t>
            </a:r>
            <a:r>
              <a:rPr lang="en-US" dirty="0" err="1"/>
              <a:t>toroidal</a:t>
            </a:r>
            <a:r>
              <a:rPr lang="en-US" dirty="0"/>
              <a:t> plane</a:t>
            </a:r>
          </a:p>
        </p:txBody>
      </p:sp>
      <p:graphicFrame>
        <p:nvGraphicFramePr>
          <p:cNvPr id="3" name="Tabelle 2"/>
          <p:cNvGraphicFramePr>
            <a:graphicFrameLocks noGrp="1"/>
          </p:cNvGraphicFramePr>
          <p:nvPr/>
        </p:nvGraphicFramePr>
        <p:xfrm>
          <a:off x="255552" y="1139223"/>
          <a:ext cx="1508136" cy="1231892"/>
        </p:xfrm>
        <a:graphic>
          <a:graphicData uri="http://schemas.openxmlformats.org/drawingml/2006/table">
            <a:tbl>
              <a:tblPr firstRow="1" bandRow="1">
                <a:tableStyleId>{5C22544A-7EE6-4342-B048-85BDC9FD1C3A}</a:tableStyleId>
              </a:tblPr>
              <a:tblGrid>
                <a:gridCol w="377034">
                  <a:extLst>
                    <a:ext uri="{9D8B030D-6E8A-4147-A177-3AD203B41FA5}">
                      <a16:colId xmlns:a16="http://schemas.microsoft.com/office/drawing/2014/main" val="20000"/>
                    </a:ext>
                  </a:extLst>
                </a:gridCol>
                <a:gridCol w="377034">
                  <a:extLst>
                    <a:ext uri="{9D8B030D-6E8A-4147-A177-3AD203B41FA5}">
                      <a16:colId xmlns:a16="http://schemas.microsoft.com/office/drawing/2014/main" val="20001"/>
                    </a:ext>
                  </a:extLst>
                </a:gridCol>
                <a:gridCol w="377034">
                  <a:extLst>
                    <a:ext uri="{9D8B030D-6E8A-4147-A177-3AD203B41FA5}">
                      <a16:colId xmlns:a16="http://schemas.microsoft.com/office/drawing/2014/main" val="20002"/>
                    </a:ext>
                  </a:extLst>
                </a:gridCol>
                <a:gridCol w="377034">
                  <a:extLst>
                    <a:ext uri="{9D8B030D-6E8A-4147-A177-3AD203B41FA5}">
                      <a16:colId xmlns:a16="http://schemas.microsoft.com/office/drawing/2014/main" val="20003"/>
                    </a:ext>
                  </a:extLst>
                </a:gridCol>
              </a:tblGrid>
              <a:tr h="307973">
                <a:tc>
                  <a:txBody>
                    <a:bodyPr/>
                    <a:lstStyle/>
                    <a:p>
                      <a:pPr algn="ct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FF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07973">
                <a:tc>
                  <a:txBody>
                    <a:bodyPr/>
                    <a:lstStyle/>
                    <a:p>
                      <a:pPr algn="ct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FF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7030A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FF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07973">
                <a:tc>
                  <a:txBody>
                    <a:bodyPr/>
                    <a:lstStyle/>
                    <a:p>
                      <a:pPr algn="ct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7030A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7030A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2"/>
                  </a:ext>
                </a:extLst>
              </a:tr>
              <a:tr h="307973">
                <a:tc>
                  <a:txBody>
                    <a:bodyPr/>
                    <a:lstStyle/>
                    <a:p>
                      <a:pPr algn="ct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FF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7030A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endParaRPr lang="en-US" sz="1200" b="0" dirty="0">
                        <a:solidFill>
                          <a:srgbClr val="7030A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3"/>
                  </a:ext>
                </a:extLst>
              </a:tr>
            </a:tbl>
          </a:graphicData>
        </a:graphic>
      </p:graphicFrame>
      <p:sp>
        <p:nvSpPr>
          <p:cNvPr id="4" name="AutoShape 19"/>
          <p:cNvSpPr>
            <a:spLocks noChangeArrowheads="1"/>
          </p:cNvSpPr>
          <p:nvPr/>
        </p:nvSpPr>
        <p:spPr bwMode="auto">
          <a:xfrm>
            <a:off x="731649" y="1545297"/>
            <a:ext cx="176527" cy="176527"/>
          </a:xfrm>
          <a:prstGeom prst="triangle">
            <a:avLst>
              <a:gd name="adj" fmla="val 50000"/>
            </a:avLst>
          </a:prstGeom>
          <a:solidFill>
            <a:schemeClr val="tx2"/>
          </a:solidFill>
          <a:ln w="9525">
            <a:solidFill>
              <a:schemeClr val="tx2"/>
            </a:solidFill>
            <a:miter lim="800000"/>
            <a:headEnd/>
            <a:tailEnd/>
          </a:ln>
          <a:effectLst/>
          <a:scene3d>
            <a:camera prst="orthographicFront">
              <a:rot lat="0" lon="0" rev="0"/>
            </a:camera>
            <a:lightRig rig="contrasting" dir="t">
              <a:rot lat="0" lon="0" rev="7800000"/>
            </a:lightRig>
          </a:scene3d>
          <a:sp3d>
            <a:bevelT w="139700" h="139700"/>
          </a:sp3d>
        </p:spPr>
        <p:txBody>
          <a:bodyPr wrap="none" anchor="ctr"/>
          <a:lstStyle/>
          <a:p>
            <a:endParaRPr lang="en-US"/>
          </a:p>
        </p:txBody>
      </p:sp>
      <p:sp>
        <p:nvSpPr>
          <p:cNvPr id="5" name="Oval 20"/>
          <p:cNvSpPr>
            <a:spLocks noChangeArrowheads="1"/>
          </p:cNvSpPr>
          <p:nvPr/>
        </p:nvSpPr>
        <p:spPr bwMode="auto">
          <a:xfrm>
            <a:off x="753715" y="1501165"/>
            <a:ext cx="132395" cy="132395"/>
          </a:xfrm>
          <a:prstGeom prst="ellipse">
            <a:avLst/>
          </a:prstGeom>
          <a:solidFill>
            <a:schemeClr val="tx2"/>
          </a:solidFill>
          <a:ln w="9525">
            <a:solidFill>
              <a:schemeClr val="tx2"/>
            </a:solidFill>
            <a:round/>
            <a:headEnd/>
            <a:tailEnd/>
          </a:ln>
          <a:effectLst/>
          <a:scene3d>
            <a:camera prst="orthographicFront">
              <a:rot lat="0" lon="0" rev="0"/>
            </a:camera>
            <a:lightRig rig="contrasting" dir="t">
              <a:rot lat="0" lon="0" rev="7800000"/>
            </a:lightRig>
          </a:scene3d>
          <a:sp3d>
            <a:bevelT w="139700" h="139700"/>
          </a:sp3d>
        </p:spPr>
        <p:txBody>
          <a:bodyPr wrap="none" anchor="ctr"/>
          <a:lstStyle/>
          <a:p>
            <a:endParaRPr lang="en-US"/>
          </a:p>
        </p:txBody>
      </p:sp>
      <p:sp>
        <p:nvSpPr>
          <p:cNvPr id="6" name="Multiplizieren 5"/>
          <p:cNvSpPr/>
          <p:nvPr/>
        </p:nvSpPr>
        <p:spPr>
          <a:xfrm>
            <a:off x="326990" y="1494822"/>
            <a:ext cx="214314" cy="214314"/>
          </a:xfrm>
          <a:prstGeom prst="mathMultiply">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ultiplizieren 6"/>
          <p:cNvSpPr/>
          <p:nvPr/>
        </p:nvSpPr>
        <p:spPr>
          <a:xfrm>
            <a:off x="1092170" y="1494822"/>
            <a:ext cx="214314" cy="214314"/>
          </a:xfrm>
          <a:prstGeom prst="mathMultiply">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izieren 7"/>
          <p:cNvSpPr/>
          <p:nvPr/>
        </p:nvSpPr>
        <p:spPr>
          <a:xfrm>
            <a:off x="712755" y="1799623"/>
            <a:ext cx="214314" cy="214314"/>
          </a:xfrm>
          <a:prstGeom prst="mathMultiply">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ultiplizieren 8"/>
          <p:cNvSpPr/>
          <p:nvPr/>
        </p:nvSpPr>
        <p:spPr>
          <a:xfrm>
            <a:off x="712755" y="1177323"/>
            <a:ext cx="214314" cy="214314"/>
          </a:xfrm>
          <a:prstGeom prst="mathMultiply">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p:cNvPicPr>
            <a:picLocks noChangeAspect="1" noChangeArrowheads="1"/>
          </p:cNvPicPr>
          <p:nvPr/>
        </p:nvPicPr>
        <p:blipFill>
          <a:blip r:embed="rId2" cstate="print"/>
          <a:srcRect/>
          <a:stretch>
            <a:fillRect/>
          </a:stretch>
        </p:blipFill>
        <p:spPr bwMode="auto">
          <a:xfrm>
            <a:off x="255552" y="2823570"/>
            <a:ext cx="1476372" cy="1476372"/>
          </a:xfrm>
          <a:prstGeom prst="rect">
            <a:avLst/>
          </a:prstGeom>
          <a:noFill/>
          <a:ln w="9525">
            <a:noFill/>
            <a:miter lim="800000"/>
            <a:headEnd/>
            <a:tailEnd/>
          </a:ln>
        </p:spPr>
      </p:pic>
      <p:sp>
        <p:nvSpPr>
          <p:cNvPr id="11" name="Textfeld 10"/>
          <p:cNvSpPr txBox="1"/>
          <p:nvPr/>
        </p:nvSpPr>
        <p:spPr>
          <a:xfrm>
            <a:off x="2411760" y="1131589"/>
            <a:ext cx="6480720" cy="3647152"/>
          </a:xfrm>
          <a:prstGeom prst="rect">
            <a:avLst/>
          </a:prstGeom>
          <a:noFill/>
        </p:spPr>
        <p:txBody>
          <a:bodyPr wrap="square" rtlCol="0">
            <a:spAutoFit/>
          </a:bodyPr>
          <a:lstStyle/>
          <a:p>
            <a:pPr>
              <a:spcAft>
                <a:spcPts val="600"/>
              </a:spcAft>
            </a:pPr>
            <a:r>
              <a:rPr lang="en-US" sz="1400" dirty="0"/>
              <a:t>Let us now study the iterated prisoner’s dilemma and the evolution of the strategies in a territorial setting.</a:t>
            </a:r>
          </a:p>
          <a:p>
            <a:pPr>
              <a:spcAft>
                <a:spcPts val="600"/>
              </a:spcAft>
            </a:pPr>
            <a:r>
              <a:rPr lang="en-US" sz="1400" dirty="0"/>
              <a:t>Our playing field is the surface of a torus, i.e. a rectangle the left and right side and the upper and lower side of which are identified with each other (i.e. glued together in some sense), in order to avoid boundary phenomena.</a:t>
            </a:r>
          </a:p>
          <a:p>
            <a:pPr>
              <a:spcAft>
                <a:spcPts val="600"/>
              </a:spcAft>
            </a:pPr>
            <a:endParaRPr lang="en-US" sz="1400" dirty="0"/>
          </a:p>
          <a:p>
            <a:pPr>
              <a:spcAft>
                <a:spcPts val="600"/>
              </a:spcAft>
            </a:pPr>
            <a:r>
              <a:rPr lang="en-US" sz="1400" dirty="0"/>
              <a:t>The decision rules for the adaption of a strategy in a “territory”:</a:t>
            </a:r>
          </a:p>
          <a:p>
            <a:pPr marL="355600" indent="-355600">
              <a:spcAft>
                <a:spcPts val="600"/>
              </a:spcAft>
              <a:buFont typeface="+mj-lt"/>
              <a:buAutoNum type="arabicPeriod"/>
            </a:pPr>
            <a:r>
              <a:rPr lang="en-US" sz="1400" dirty="0"/>
              <a:t>We start with a random distribution of the strategies on the playing field</a:t>
            </a:r>
          </a:p>
          <a:p>
            <a:pPr marL="355600" indent="-355600">
              <a:spcAft>
                <a:spcPts val="600"/>
              </a:spcAft>
              <a:buFont typeface="+mj-lt"/>
              <a:buAutoNum type="arabicPeriod"/>
            </a:pPr>
            <a:r>
              <a:rPr lang="en-US" sz="1400" dirty="0"/>
              <a:t>The rules compete against their direct neighbors (left, right, up, down) as in the common Axelrod tournament and gain points</a:t>
            </a:r>
          </a:p>
          <a:p>
            <a:pPr marL="355600" indent="-355600">
              <a:spcAft>
                <a:spcPts val="600"/>
              </a:spcAft>
              <a:buFont typeface="+mj-lt"/>
              <a:buAutoNum type="arabicPeriod"/>
            </a:pPr>
            <a:r>
              <a:rPr lang="en-US" sz="1400" dirty="0"/>
              <a:t>Then, each field that has a more successful neighbor adapts this strategy and the simulation continuous at stage 2.</a:t>
            </a:r>
          </a:p>
          <a:p>
            <a:pPr>
              <a:spcAft>
                <a:spcPts val="600"/>
              </a:spcAft>
            </a:pPr>
            <a:r>
              <a:rPr lang="en-US" sz="1400" dirty="0"/>
              <a:t>The game ends if there are only friendly strategies left that always cooperate mutually (and thus there is no change in the strategies any more).</a:t>
            </a:r>
          </a:p>
        </p:txBody>
      </p:sp>
      <p:sp>
        <p:nvSpPr>
          <p:cNvPr id="12" name="Rechteck 11"/>
          <p:cNvSpPr/>
          <p:nvPr/>
        </p:nvSpPr>
        <p:spPr>
          <a:xfrm>
            <a:off x="2411760" y="1131590"/>
            <a:ext cx="6480720" cy="3888431"/>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 for the final populations in a territorial setting after all conversions have been performed</a:t>
            </a:r>
          </a:p>
        </p:txBody>
      </p:sp>
      <p:graphicFrame>
        <p:nvGraphicFramePr>
          <p:cNvPr id="3" name="Tabelle 2"/>
          <p:cNvGraphicFramePr>
            <a:graphicFrameLocks noGrp="1"/>
          </p:cNvGraphicFramePr>
          <p:nvPr/>
        </p:nvGraphicFramePr>
        <p:xfrm>
          <a:off x="2267744" y="1131590"/>
          <a:ext cx="6624738" cy="3568320"/>
        </p:xfrm>
        <a:graphic>
          <a:graphicData uri="http://schemas.openxmlformats.org/drawingml/2006/table">
            <a:tbl>
              <a:tblPr firstRow="1" bandRow="1">
                <a:tableStyleId>{5C22544A-7EE6-4342-B048-85BDC9FD1C3A}</a:tableStyleId>
              </a:tblPr>
              <a:tblGrid>
                <a:gridCol w="368041">
                  <a:extLst>
                    <a:ext uri="{9D8B030D-6E8A-4147-A177-3AD203B41FA5}">
                      <a16:colId xmlns:a16="http://schemas.microsoft.com/office/drawing/2014/main" val="20000"/>
                    </a:ext>
                  </a:extLst>
                </a:gridCol>
                <a:gridCol w="368041">
                  <a:extLst>
                    <a:ext uri="{9D8B030D-6E8A-4147-A177-3AD203B41FA5}">
                      <a16:colId xmlns:a16="http://schemas.microsoft.com/office/drawing/2014/main" val="20001"/>
                    </a:ext>
                  </a:extLst>
                </a:gridCol>
                <a:gridCol w="368041">
                  <a:extLst>
                    <a:ext uri="{9D8B030D-6E8A-4147-A177-3AD203B41FA5}">
                      <a16:colId xmlns:a16="http://schemas.microsoft.com/office/drawing/2014/main" val="20002"/>
                    </a:ext>
                  </a:extLst>
                </a:gridCol>
                <a:gridCol w="368041">
                  <a:extLst>
                    <a:ext uri="{9D8B030D-6E8A-4147-A177-3AD203B41FA5}">
                      <a16:colId xmlns:a16="http://schemas.microsoft.com/office/drawing/2014/main" val="20003"/>
                    </a:ext>
                  </a:extLst>
                </a:gridCol>
                <a:gridCol w="368041">
                  <a:extLst>
                    <a:ext uri="{9D8B030D-6E8A-4147-A177-3AD203B41FA5}">
                      <a16:colId xmlns:a16="http://schemas.microsoft.com/office/drawing/2014/main" val="20004"/>
                    </a:ext>
                  </a:extLst>
                </a:gridCol>
                <a:gridCol w="368041">
                  <a:extLst>
                    <a:ext uri="{9D8B030D-6E8A-4147-A177-3AD203B41FA5}">
                      <a16:colId xmlns:a16="http://schemas.microsoft.com/office/drawing/2014/main" val="20005"/>
                    </a:ext>
                  </a:extLst>
                </a:gridCol>
                <a:gridCol w="368041">
                  <a:extLst>
                    <a:ext uri="{9D8B030D-6E8A-4147-A177-3AD203B41FA5}">
                      <a16:colId xmlns:a16="http://schemas.microsoft.com/office/drawing/2014/main" val="20006"/>
                    </a:ext>
                  </a:extLst>
                </a:gridCol>
                <a:gridCol w="368041">
                  <a:extLst>
                    <a:ext uri="{9D8B030D-6E8A-4147-A177-3AD203B41FA5}">
                      <a16:colId xmlns:a16="http://schemas.microsoft.com/office/drawing/2014/main" val="20007"/>
                    </a:ext>
                  </a:extLst>
                </a:gridCol>
                <a:gridCol w="368041">
                  <a:extLst>
                    <a:ext uri="{9D8B030D-6E8A-4147-A177-3AD203B41FA5}">
                      <a16:colId xmlns:a16="http://schemas.microsoft.com/office/drawing/2014/main" val="20008"/>
                    </a:ext>
                  </a:extLst>
                </a:gridCol>
                <a:gridCol w="368041">
                  <a:extLst>
                    <a:ext uri="{9D8B030D-6E8A-4147-A177-3AD203B41FA5}">
                      <a16:colId xmlns:a16="http://schemas.microsoft.com/office/drawing/2014/main" val="20009"/>
                    </a:ext>
                  </a:extLst>
                </a:gridCol>
                <a:gridCol w="368041">
                  <a:extLst>
                    <a:ext uri="{9D8B030D-6E8A-4147-A177-3AD203B41FA5}">
                      <a16:colId xmlns:a16="http://schemas.microsoft.com/office/drawing/2014/main" val="20010"/>
                    </a:ext>
                  </a:extLst>
                </a:gridCol>
                <a:gridCol w="368041">
                  <a:extLst>
                    <a:ext uri="{9D8B030D-6E8A-4147-A177-3AD203B41FA5}">
                      <a16:colId xmlns:a16="http://schemas.microsoft.com/office/drawing/2014/main" val="20011"/>
                    </a:ext>
                  </a:extLst>
                </a:gridCol>
                <a:gridCol w="368041">
                  <a:extLst>
                    <a:ext uri="{9D8B030D-6E8A-4147-A177-3AD203B41FA5}">
                      <a16:colId xmlns:a16="http://schemas.microsoft.com/office/drawing/2014/main" val="20012"/>
                    </a:ext>
                  </a:extLst>
                </a:gridCol>
                <a:gridCol w="368041">
                  <a:extLst>
                    <a:ext uri="{9D8B030D-6E8A-4147-A177-3AD203B41FA5}">
                      <a16:colId xmlns:a16="http://schemas.microsoft.com/office/drawing/2014/main" val="20013"/>
                    </a:ext>
                  </a:extLst>
                </a:gridCol>
                <a:gridCol w="368041">
                  <a:extLst>
                    <a:ext uri="{9D8B030D-6E8A-4147-A177-3AD203B41FA5}">
                      <a16:colId xmlns:a16="http://schemas.microsoft.com/office/drawing/2014/main" val="20014"/>
                    </a:ext>
                  </a:extLst>
                </a:gridCol>
                <a:gridCol w="368041">
                  <a:extLst>
                    <a:ext uri="{9D8B030D-6E8A-4147-A177-3AD203B41FA5}">
                      <a16:colId xmlns:a16="http://schemas.microsoft.com/office/drawing/2014/main" val="20015"/>
                    </a:ext>
                  </a:extLst>
                </a:gridCol>
                <a:gridCol w="368041">
                  <a:extLst>
                    <a:ext uri="{9D8B030D-6E8A-4147-A177-3AD203B41FA5}">
                      <a16:colId xmlns:a16="http://schemas.microsoft.com/office/drawing/2014/main" val="20016"/>
                    </a:ext>
                  </a:extLst>
                </a:gridCol>
                <a:gridCol w="368041">
                  <a:extLst>
                    <a:ext uri="{9D8B030D-6E8A-4147-A177-3AD203B41FA5}">
                      <a16:colId xmlns:a16="http://schemas.microsoft.com/office/drawing/2014/main" val="20017"/>
                    </a:ext>
                  </a:extLst>
                </a:gridCol>
              </a:tblGrid>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52</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52</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2"/>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FF0000"/>
                          </a:solidFill>
                        </a:rPr>
                        <a:t>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3"/>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4"/>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5"/>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6"/>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7"/>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8"/>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17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9"/>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rgbClr val="7030A0"/>
                          </a:solidFill>
                        </a:rPr>
                        <a:t>31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10"/>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9</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11"/>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41</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12"/>
                  </a:ext>
                </a:extLst>
              </a:tr>
              <a:tr h="0">
                <a:tc>
                  <a:txBody>
                    <a:bodyPr/>
                    <a:lstStyle/>
                    <a:p>
                      <a:pPr algn="ctr"/>
                      <a:r>
                        <a:rPr lang="en-US" sz="1200" b="0" dirty="0">
                          <a:solidFill>
                            <a:schemeClr val="tx1"/>
                          </a:solidFill>
                        </a:rPr>
                        <a:t>6</a:t>
                      </a:r>
                    </a:p>
                  </a:txBody>
                  <a:tcPr marL="72000" marR="72000" marT="36000" marB="36000">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44</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7</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tc>
                  <a:txBody>
                    <a:bodyPr/>
                    <a:lstStyle/>
                    <a:p>
                      <a:pPr algn="ctr"/>
                      <a:r>
                        <a:rPr lang="en-US" sz="1200" b="0" dirty="0">
                          <a:solidFill>
                            <a:schemeClr val="tx1"/>
                          </a:solidFill>
                        </a:rPr>
                        <a:t>6</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75000"/>
                      </a:schemeClr>
                    </a:solidFill>
                  </a:tcPr>
                </a:tc>
                <a:extLst>
                  <a:ext uri="{0D108BD9-81ED-4DB2-BD59-A6C34878D82A}">
                    <a16:rowId xmlns:a16="http://schemas.microsoft.com/office/drawing/2014/main" val="10013"/>
                  </a:ext>
                </a:extLst>
              </a:tr>
            </a:tbl>
          </a:graphicData>
        </a:graphic>
      </p:graphicFrame>
      <p:sp>
        <p:nvSpPr>
          <p:cNvPr id="4" name="Textfeld 3"/>
          <p:cNvSpPr txBox="1"/>
          <p:nvPr/>
        </p:nvSpPr>
        <p:spPr>
          <a:xfrm>
            <a:off x="2267744" y="4815031"/>
            <a:ext cx="6768752" cy="276999"/>
          </a:xfrm>
          <a:prstGeom prst="rect">
            <a:avLst/>
          </a:prstGeom>
          <a:noFill/>
        </p:spPr>
        <p:txBody>
          <a:bodyPr wrap="square" rtlCol="0">
            <a:spAutoFit/>
          </a:bodyPr>
          <a:lstStyle/>
          <a:p>
            <a:pPr algn="ctr">
              <a:tabLst>
                <a:tab pos="355600" algn="l"/>
              </a:tabLst>
            </a:pPr>
            <a:r>
              <a:rPr lang="en-US" sz="1200" dirty="0">
                <a:solidFill>
                  <a:srgbClr val="FF0000"/>
                </a:solidFill>
              </a:rPr>
              <a:t>1</a:t>
            </a:r>
            <a:r>
              <a:rPr lang="en-US" sz="1200" dirty="0"/>
              <a:t>: TIT FOR TAT (appears11 times),   </a:t>
            </a:r>
            <a:r>
              <a:rPr lang="en-US" sz="1200" dirty="0">
                <a:solidFill>
                  <a:srgbClr val="7030A0"/>
                </a:solidFill>
              </a:rPr>
              <a:t>31</a:t>
            </a:r>
            <a:r>
              <a:rPr lang="en-US" sz="1200" dirty="0"/>
              <a:t>: NYDEGGER (appears 63 times)</a:t>
            </a:r>
          </a:p>
        </p:txBody>
      </p:sp>
      <p:sp>
        <p:nvSpPr>
          <p:cNvPr id="5" name="Textfeld 4"/>
          <p:cNvSpPr txBox="1"/>
          <p:nvPr/>
        </p:nvSpPr>
        <p:spPr>
          <a:xfrm>
            <a:off x="251520" y="1131590"/>
            <a:ext cx="1728193" cy="3888432"/>
          </a:xfrm>
          <a:prstGeom prst="rect">
            <a:avLst/>
          </a:prstGeom>
          <a:solidFill>
            <a:schemeClr val="tx2">
              <a:lumMod val="20000"/>
              <a:lumOff val="80000"/>
            </a:schemeClr>
          </a:solidFill>
        </p:spPr>
        <p:txBody>
          <a:bodyPr wrap="square" rtlCol="0" anchor="t" anchorCtr="0">
            <a:noAutofit/>
          </a:bodyPr>
          <a:lstStyle/>
          <a:p>
            <a:pPr algn="ctr">
              <a:spcAft>
                <a:spcPts val="600"/>
              </a:spcAft>
            </a:pPr>
            <a:r>
              <a:rPr lang="en-US" sz="1400" dirty="0"/>
              <a:t>In the territorial setting the adaption and thus the spread of strategies can occur that are doing “better” with respect to their environment as TIT FOR TAT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Explanation for the success of NYDEGGER</a:t>
            </a:r>
          </a:p>
        </p:txBody>
      </p:sp>
      <p:sp>
        <p:nvSpPr>
          <p:cNvPr id="3" name="Textfeld 2"/>
          <p:cNvSpPr txBox="1"/>
          <p:nvPr/>
        </p:nvSpPr>
        <p:spPr>
          <a:xfrm>
            <a:off x="251520" y="1779662"/>
            <a:ext cx="1944216" cy="3240360"/>
          </a:xfrm>
          <a:prstGeom prst="rect">
            <a:avLst/>
          </a:prstGeom>
          <a:solidFill>
            <a:schemeClr val="tx2">
              <a:lumMod val="20000"/>
              <a:lumOff val="80000"/>
            </a:schemeClr>
          </a:solidFill>
        </p:spPr>
        <p:txBody>
          <a:bodyPr wrap="square" rtlCol="0" anchor="t" anchorCtr="0">
            <a:noAutofit/>
          </a:bodyPr>
          <a:lstStyle/>
          <a:p>
            <a:pPr>
              <a:spcAft>
                <a:spcPts val="600"/>
              </a:spcAft>
            </a:pPr>
            <a:r>
              <a:rPr lang="en-US" sz="1400" b="1" dirty="0"/>
              <a:t>Remark:</a:t>
            </a:r>
          </a:p>
          <a:p>
            <a:pPr>
              <a:spcAft>
                <a:spcPts val="600"/>
              </a:spcAft>
            </a:pPr>
            <a:r>
              <a:rPr lang="en-US" sz="1400" dirty="0"/>
              <a:t>Even if the average success rate itself is not that excellent, it is a great advantage, in a social system that is based on diffusion by imitation, to be able to achieve some remarkable results.</a:t>
            </a:r>
          </a:p>
          <a:p>
            <a:pPr>
              <a:spcAft>
                <a:spcPts val="600"/>
              </a:spcAft>
            </a:pPr>
            <a:r>
              <a:rPr lang="en-US" sz="1400" dirty="0"/>
              <a:t>This is due to the fact that remarkable results lead to numerous conversions.</a:t>
            </a:r>
          </a:p>
        </p:txBody>
      </p:sp>
      <p:sp>
        <p:nvSpPr>
          <p:cNvPr id="4" name="Textfeld 3"/>
          <p:cNvSpPr txBox="1"/>
          <p:nvPr/>
        </p:nvSpPr>
        <p:spPr>
          <a:xfrm>
            <a:off x="2411760" y="1779662"/>
            <a:ext cx="6480720" cy="3277820"/>
          </a:xfrm>
          <a:prstGeom prst="rect">
            <a:avLst/>
          </a:prstGeom>
          <a:noFill/>
        </p:spPr>
        <p:txBody>
          <a:bodyPr wrap="square" rtlCol="0">
            <a:spAutoFit/>
          </a:bodyPr>
          <a:lstStyle/>
          <a:p>
            <a:pPr>
              <a:spcAft>
                <a:spcPts val="600"/>
              </a:spcAft>
            </a:pPr>
            <a:r>
              <a:rPr lang="en-US" sz="1400" dirty="0"/>
              <a:t>The performance of  NYDEGGER is best studied with respect to its reactions to other strategies:</a:t>
            </a:r>
          </a:p>
          <a:p>
            <a:pPr marL="266700" indent="-266700">
              <a:spcAft>
                <a:spcPts val="600"/>
              </a:spcAft>
              <a:buFont typeface="Arial" pitchFamily="34" charset="0"/>
              <a:buChar char="•"/>
            </a:pPr>
            <a:r>
              <a:rPr lang="en-US" sz="1400" dirty="0"/>
              <a:t>Like all other surviving strategies, NYDEGGER also never defects as the first one</a:t>
            </a:r>
          </a:p>
          <a:p>
            <a:pPr marL="266700" indent="-266700">
              <a:spcAft>
                <a:spcPts val="600"/>
              </a:spcAft>
              <a:buFont typeface="Arial" pitchFamily="34" charset="0"/>
              <a:buChar char="•"/>
            </a:pPr>
            <a:r>
              <a:rPr lang="en-US" sz="1400" dirty="0"/>
              <a:t>NYDEGGER is sometimes able to provoke a defecting strategy to such an abundant excuse, that NYDEGGER indeed obtains a higher score as in the case of just mutual cooperation</a:t>
            </a:r>
          </a:p>
          <a:p>
            <a:pPr marL="266700" indent="-266700">
              <a:spcAft>
                <a:spcPts val="600"/>
              </a:spcAft>
              <a:buFont typeface="Arial" pitchFamily="34" charset="0"/>
              <a:buChar char="•"/>
            </a:pPr>
            <a:r>
              <a:rPr lang="en-US" sz="1400" dirty="0"/>
              <a:t>This abundant excuse happens with 5 of the 24 non-friendly strategies in the tournament</a:t>
            </a:r>
          </a:p>
          <a:p>
            <a:pPr marL="266700" indent="-266700">
              <a:spcAft>
                <a:spcPts val="600"/>
              </a:spcAft>
              <a:buFont typeface="Arial" pitchFamily="34" charset="0"/>
              <a:buChar char="•"/>
            </a:pPr>
            <a:r>
              <a:rPr lang="en-US" sz="1400" dirty="0"/>
              <a:t>If one of these 5 strategies is a neighbor of NYDEGGER and the other 3 neighbors are friendly rules, then it is likely that NYDEGGER performs better that each of its four neighbors or even better than any of its neighbors’ neighbors.</a:t>
            </a:r>
          </a:p>
          <a:p>
            <a:pPr marL="266700" indent="-266700">
              <a:spcAft>
                <a:spcPts val="600"/>
              </a:spcAft>
              <a:buFont typeface="Arial" pitchFamily="34" charset="0"/>
              <a:buChar char="•"/>
            </a:pPr>
            <a:r>
              <a:rPr lang="en-US" sz="1400" dirty="0"/>
              <a:t>In that way NYDEGGER is not only able to convert the strategy that apologized but also some or even all of its other neighbors</a:t>
            </a:r>
          </a:p>
        </p:txBody>
      </p:sp>
      <p:graphicFrame>
        <p:nvGraphicFramePr>
          <p:cNvPr id="5" name="Tabelle 4"/>
          <p:cNvGraphicFramePr>
            <a:graphicFrameLocks noGrp="1"/>
          </p:cNvGraphicFramePr>
          <p:nvPr/>
        </p:nvGraphicFramePr>
        <p:xfrm>
          <a:off x="251520" y="1131590"/>
          <a:ext cx="8640960" cy="548640"/>
        </p:xfrm>
        <a:graphic>
          <a:graphicData uri="http://schemas.openxmlformats.org/drawingml/2006/table">
            <a:tbl>
              <a:tblPr firstRow="1" bandRow="1">
                <a:tableStyleId>{5C22544A-7EE6-4342-B048-85BDC9FD1C3A}</a:tableStyleId>
              </a:tblPr>
              <a:tblGrid>
                <a:gridCol w="1008111">
                  <a:extLst>
                    <a:ext uri="{9D8B030D-6E8A-4147-A177-3AD203B41FA5}">
                      <a16:colId xmlns:a16="http://schemas.microsoft.com/office/drawing/2014/main" val="20000"/>
                    </a:ext>
                  </a:extLst>
                </a:gridCol>
                <a:gridCol w="7632849">
                  <a:extLst>
                    <a:ext uri="{9D8B030D-6E8A-4147-A177-3AD203B41FA5}">
                      <a16:colId xmlns:a16="http://schemas.microsoft.com/office/drawing/2014/main" val="20001"/>
                    </a:ext>
                  </a:extLst>
                </a:gridCol>
              </a:tblGrid>
              <a:tr h="0">
                <a:tc>
                  <a:txBody>
                    <a:bodyPr/>
                    <a:lstStyle/>
                    <a:p>
                      <a:pPr algn="ctr"/>
                      <a:r>
                        <a:rPr lang="en-US" sz="1200" noProof="0" dirty="0"/>
                        <a:t>Name</a:t>
                      </a:r>
                    </a:p>
                  </a:txBody>
                  <a:tcPr/>
                </a:tc>
                <a:tc>
                  <a:txBody>
                    <a:bodyPr/>
                    <a:lstStyle/>
                    <a:p>
                      <a:pPr algn="ctr"/>
                      <a:r>
                        <a:rPr lang="en-US" sz="1200" noProof="0" dirty="0"/>
                        <a:t>Description</a:t>
                      </a:r>
                    </a:p>
                  </a:txBody>
                  <a:tcPr/>
                </a:tc>
                <a:extLst>
                  <a:ext uri="{0D108BD9-81ED-4DB2-BD59-A6C34878D82A}">
                    <a16:rowId xmlns:a16="http://schemas.microsoft.com/office/drawing/2014/main" val="10000"/>
                  </a:ext>
                </a:extLst>
              </a:tr>
              <a:tr h="0">
                <a:tc>
                  <a:txBody>
                    <a:bodyPr/>
                    <a:lstStyle/>
                    <a:p>
                      <a:r>
                        <a:rPr lang="en-US" sz="1200" noProof="0" dirty="0"/>
                        <a:t>NYDEGGER</a:t>
                      </a:r>
                    </a:p>
                  </a:txBody>
                  <a:tcPr/>
                </a:tc>
                <a:tc>
                  <a:txBody>
                    <a:bodyPr/>
                    <a:lstStyle/>
                    <a:p>
                      <a:r>
                        <a:rPr lang="en-US" sz="1200" noProof="0" dirty="0"/>
                        <a:t>Starts like TIT FOR TAT.</a:t>
                      </a:r>
                      <a:r>
                        <a:rPr lang="en-US" sz="1200" baseline="0" noProof="0" dirty="0"/>
                        <a:t> After a while it analyzes the 3 last mutual encounters and acts accordingly.</a:t>
                      </a:r>
                      <a:endParaRPr lang="en-US" sz="1200" noProof="0" dirty="0"/>
                    </a:p>
                  </a:txBody>
                  <a:tcPr/>
                </a:tc>
                <a:extLst>
                  <a:ext uri="{0D108BD9-81ED-4DB2-BD59-A6C34878D82A}">
                    <a16:rowId xmlns:a16="http://schemas.microsoft.com/office/drawing/2014/main" val="10001"/>
                  </a:ext>
                </a:extLst>
              </a:tr>
            </a:tbl>
          </a:graphicData>
        </a:graphic>
      </p:graphicFrame>
      <p:sp>
        <p:nvSpPr>
          <p:cNvPr id="6" name="Rechteck 5"/>
          <p:cNvSpPr/>
          <p:nvPr/>
        </p:nvSpPr>
        <p:spPr>
          <a:xfrm>
            <a:off x="2411760" y="1779662"/>
            <a:ext cx="6480720" cy="3240359"/>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Conclusion: cooperation amongst egoists is possible without a central force of control</a:t>
            </a:r>
          </a:p>
        </p:txBody>
      </p:sp>
      <p:sp>
        <p:nvSpPr>
          <p:cNvPr id="3" name="Textfeld 2"/>
          <p:cNvSpPr txBox="1"/>
          <p:nvPr/>
        </p:nvSpPr>
        <p:spPr>
          <a:xfrm>
            <a:off x="251520" y="1131590"/>
            <a:ext cx="8640960" cy="81560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spcAft>
                <a:spcPts val="600"/>
              </a:spcAft>
            </a:pPr>
            <a:r>
              <a:rPr lang="en-US" sz="1400" b="1" u="sng" dirty="0">
                <a:solidFill>
                  <a:schemeClr val="tx1"/>
                </a:solidFill>
              </a:rPr>
              <a:t>Conclusion:</a:t>
            </a:r>
          </a:p>
          <a:p>
            <a:pPr>
              <a:spcAft>
                <a:spcPts val="600"/>
              </a:spcAft>
            </a:pPr>
            <a:r>
              <a:rPr lang="en-US" sz="1400" dirty="0">
                <a:solidFill>
                  <a:schemeClr val="tx1"/>
                </a:solidFill>
              </a:rPr>
              <a:t>In a world populated by egoists it is possible that mutual cooperation evolves without the interference of a central force of control. The requirement for that is that there is a group of individuals who vouch for reciprocal treatment.</a:t>
            </a:r>
          </a:p>
        </p:txBody>
      </p:sp>
      <p:pic>
        <p:nvPicPr>
          <p:cNvPr id="4" name="Picture 2"/>
          <p:cNvPicPr>
            <a:picLocks noChangeAspect="1" noChangeArrowheads="1"/>
          </p:cNvPicPr>
          <p:nvPr/>
        </p:nvPicPr>
        <p:blipFill>
          <a:blip r:embed="rId2" cstate="print"/>
          <a:srcRect/>
          <a:stretch>
            <a:fillRect/>
          </a:stretch>
        </p:blipFill>
        <p:spPr bwMode="auto">
          <a:xfrm>
            <a:off x="251520" y="2067694"/>
            <a:ext cx="2880320" cy="1912713"/>
          </a:xfrm>
          <a:prstGeom prst="rect">
            <a:avLst/>
          </a:prstGeom>
          <a:noFill/>
          <a:ln w="9525">
            <a:noFill/>
            <a:miter lim="800000"/>
            <a:headEnd/>
            <a:tailEnd/>
          </a:ln>
        </p:spPr>
      </p:pic>
      <p:sp>
        <p:nvSpPr>
          <p:cNvPr id="5" name="Rechteck 4"/>
          <p:cNvSpPr/>
          <p:nvPr/>
        </p:nvSpPr>
        <p:spPr>
          <a:xfrm>
            <a:off x="3419872" y="2067694"/>
            <a:ext cx="5472608" cy="295232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t" anchorCtr="0"/>
          <a:lstStyle/>
          <a:p>
            <a:pPr marL="263525" indent="-263525">
              <a:spcAft>
                <a:spcPts val="300"/>
              </a:spcAft>
              <a:buFont typeface="Arial" pitchFamily="34" charset="0"/>
              <a:buChar char="•"/>
            </a:pPr>
            <a:r>
              <a:rPr lang="en-US" sz="1400" dirty="0">
                <a:solidFill>
                  <a:schemeClr val="tx1"/>
                </a:solidFill>
              </a:rPr>
              <a:t>In the computer simulations for the iterated prisoner’s dilemma the easy rule TIT FOR TAT performed remarkably well with respect to other rules</a:t>
            </a:r>
          </a:p>
          <a:p>
            <a:pPr marL="263525" indent="-263525">
              <a:spcAft>
                <a:spcPts val="300"/>
              </a:spcAft>
              <a:buFont typeface="Arial" pitchFamily="34" charset="0"/>
              <a:buChar char="•"/>
            </a:pPr>
            <a:r>
              <a:rPr lang="en-US" sz="1400" dirty="0">
                <a:solidFill>
                  <a:schemeClr val="tx1"/>
                </a:solidFill>
              </a:rPr>
              <a:t>This result is due to the following:</a:t>
            </a:r>
          </a:p>
          <a:p>
            <a:pPr marL="622300" lvl="1" indent="-266700">
              <a:spcAft>
                <a:spcPts val="300"/>
              </a:spcAft>
              <a:buFont typeface="Symbol" pitchFamily="18" charset="2"/>
              <a:buChar char="-"/>
            </a:pPr>
            <a:r>
              <a:rPr lang="en-US" sz="1400" dirty="0">
                <a:solidFill>
                  <a:schemeClr val="tx1"/>
                </a:solidFill>
              </a:rPr>
              <a:t>combination of friendly, retaliatory and </a:t>
            </a:r>
            <a:r>
              <a:rPr lang="en-US" sz="1400" dirty="0">
                <a:solidFill>
                  <a:schemeClr val="dk1"/>
                </a:solidFill>
              </a:rPr>
              <a:t>conciliatory</a:t>
            </a:r>
            <a:r>
              <a:rPr lang="en-US" sz="1400" dirty="0">
                <a:solidFill>
                  <a:schemeClr val="tx1"/>
                </a:solidFill>
              </a:rPr>
              <a:t> behavior</a:t>
            </a:r>
          </a:p>
          <a:p>
            <a:pPr marL="622300" lvl="1" indent="-266700">
              <a:spcAft>
                <a:spcPts val="300"/>
              </a:spcAft>
              <a:buFont typeface="Symbol" pitchFamily="18" charset="2"/>
              <a:buChar char="-"/>
            </a:pPr>
            <a:r>
              <a:rPr lang="en-US" sz="1400" dirty="0">
                <a:solidFill>
                  <a:schemeClr val="tx1"/>
                </a:solidFill>
              </a:rPr>
              <a:t>very easy to spot structure</a:t>
            </a:r>
          </a:p>
          <a:p>
            <a:pPr marL="622300" lvl="1" indent="-266700">
              <a:spcAft>
                <a:spcPts val="300"/>
              </a:spcAft>
              <a:buFont typeface="Symbol" pitchFamily="18" charset="2"/>
              <a:buChar char="-"/>
            </a:pPr>
            <a:r>
              <a:rPr lang="en-US" sz="1400" dirty="0">
                <a:solidFill>
                  <a:schemeClr val="tx1"/>
                </a:solidFill>
              </a:rPr>
              <a:t>adequate environment</a:t>
            </a:r>
          </a:p>
          <a:p>
            <a:pPr marL="263525" indent="-263525">
              <a:spcAft>
                <a:spcPts val="300"/>
              </a:spcAft>
              <a:buFont typeface="Arial" pitchFamily="34" charset="0"/>
              <a:buChar char="•"/>
            </a:pPr>
            <a:r>
              <a:rPr lang="en-US" sz="1400" dirty="0">
                <a:solidFill>
                  <a:schemeClr val="tx1"/>
                </a:solidFill>
              </a:rPr>
              <a:t>Under evolutionary conditions TIT FOR TAT did extremely well, too</a:t>
            </a:r>
          </a:p>
          <a:p>
            <a:pPr marL="263525" indent="-263525">
              <a:spcAft>
                <a:spcPts val="300"/>
              </a:spcAft>
              <a:buFont typeface="Arial" pitchFamily="34" charset="0"/>
              <a:buChar char="•"/>
            </a:pPr>
            <a:r>
              <a:rPr lang="en-US" sz="1400" dirty="0">
                <a:solidFill>
                  <a:schemeClr val="tx1"/>
                </a:solidFill>
              </a:rPr>
              <a:t>Depending on the modification of the strategy’s environment and the rules for evolutionary adaption there are better strategies than TIT FOR TAT (territorial systems)</a:t>
            </a:r>
          </a:p>
        </p:txBody>
      </p:sp>
      <p:sp>
        <p:nvSpPr>
          <p:cNvPr id="6" name="Rechteck 5"/>
          <p:cNvSpPr/>
          <p:nvPr/>
        </p:nvSpPr>
        <p:spPr>
          <a:xfrm>
            <a:off x="3419872" y="2067694"/>
            <a:ext cx="5472608" cy="2952327"/>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108F4-FB26-F06B-466A-58706E557EA7}"/>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75369185-626A-C10F-625C-2063A566979E}"/>
              </a:ext>
            </a:extLst>
          </p:cNvPr>
          <p:cNvSpPr/>
          <p:nvPr/>
        </p:nvSpPr>
        <p:spPr>
          <a:xfrm>
            <a:off x="971600" y="2680596"/>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43B1BEF0-1050-2F0E-BD66-4DEB9168FFE3}"/>
              </a:ext>
            </a:extLst>
          </p:cNvPr>
          <p:cNvSpPr txBox="1"/>
          <p:nvPr/>
        </p:nvSpPr>
        <p:spPr>
          <a:xfrm>
            <a:off x="971600" y="1131590"/>
            <a:ext cx="4094326" cy="2739211"/>
          </a:xfrm>
          <a:prstGeom prst="rect">
            <a:avLst/>
          </a:prstGeom>
          <a:noFill/>
        </p:spPr>
        <p:txBody>
          <a:bodyPr wrap="none" rtlCol="0">
            <a:spAutoFit/>
          </a:bodyPr>
          <a:lstStyle/>
          <a:p>
            <a:r>
              <a:rPr lang="en-US" b="1" noProof="0" dirty="0"/>
              <a:t>Agenda</a:t>
            </a:r>
          </a:p>
          <a:p>
            <a:endParaRPr lang="en-US" sz="1000" noProof="0" dirty="0"/>
          </a:p>
          <a:p>
            <a:pPr lvl="1"/>
            <a:r>
              <a:rPr lang="en-US" noProof="0" dirty="0"/>
              <a:t>The Prisoner’s Dilemma</a:t>
            </a:r>
          </a:p>
          <a:p>
            <a:pPr lvl="1"/>
            <a:endParaRPr lang="en-US" b="1" noProof="0" dirty="0"/>
          </a:p>
          <a:p>
            <a:pPr lvl="1"/>
            <a:r>
              <a:rPr lang="en-US" dirty="0"/>
              <a:t>The Iterated Prisoner’s Dilemma</a:t>
            </a:r>
          </a:p>
          <a:p>
            <a:pPr lvl="1"/>
            <a:endParaRPr lang="en-US" dirty="0"/>
          </a:p>
          <a:p>
            <a:pPr lvl="1"/>
            <a:r>
              <a:rPr lang="en-US" b="1" dirty="0"/>
              <a:t>Nash Equilibria</a:t>
            </a:r>
          </a:p>
          <a:p>
            <a:pPr lvl="1"/>
            <a:endParaRPr lang="en-US" b="1" dirty="0"/>
          </a:p>
          <a:p>
            <a:pPr lvl="1"/>
            <a:r>
              <a:rPr lang="en-US" dirty="0"/>
              <a:t>Nash Equilibria in the Chicken Game</a:t>
            </a:r>
          </a:p>
          <a:p>
            <a:pPr lvl="1"/>
            <a:endParaRPr lang="en-US" b="1" noProof="0" dirty="0"/>
          </a:p>
        </p:txBody>
      </p:sp>
    </p:spTree>
    <p:extLst>
      <p:ext uri="{BB962C8B-B14F-4D97-AF65-F5344CB8AC3E}">
        <p14:creationId xmlns:p14="http://schemas.microsoft.com/office/powerpoint/2010/main" val="3630736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As we already know, the Prisoner’s Dilemma game has one equilibrium in strictly dominant strategies …</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1"/>
                </a:solidFill>
              </a:rPr>
              <a:t>Definition (Strictly Dominant Strategy):</a:t>
            </a:r>
          </a:p>
          <a:p>
            <a:pPr algn="just">
              <a:spcAft>
                <a:spcPts val="600"/>
              </a:spcAft>
            </a:pPr>
            <a:r>
              <a:rPr lang="en-US" sz="1400" dirty="0">
                <a:solidFill>
                  <a:schemeClr val="tx1"/>
                </a:solidFill>
              </a:rPr>
              <a:t>A pure strategy is said to be “strictly dominant” if the payoffs that a player receives are always strictly better than the payoffs, they receive for all other of their strategies.</a:t>
            </a:r>
          </a:p>
          <a:p>
            <a:pPr>
              <a:spcAft>
                <a:spcPts val="600"/>
              </a:spcAft>
            </a:pPr>
            <a:endParaRPr lang="en-US" sz="500" dirty="0">
              <a:solidFill>
                <a:schemeClr val="tx1"/>
              </a:solidFill>
            </a:endParaRPr>
          </a:p>
          <a:p>
            <a:pPr algn="just">
              <a:spcAft>
                <a:spcPts val="600"/>
              </a:spcAft>
            </a:pPr>
            <a:r>
              <a:rPr lang="en-US" sz="1400" dirty="0">
                <a:solidFill>
                  <a:schemeClr val="tx1"/>
                </a:solidFill>
              </a:rPr>
              <a:t>“Hawk” is a strictly dominant strategy for player A, as the payoff vector (</a:t>
            </a:r>
            <a:r>
              <a:rPr lang="en-US" sz="1400" dirty="0">
                <a:solidFill>
                  <a:schemeClr val="tx2"/>
                </a:solidFill>
              </a:rPr>
              <a:t>1</a:t>
            </a:r>
            <a:r>
              <a:rPr lang="en-US" sz="1400" dirty="0">
                <a:solidFill>
                  <a:schemeClr val="tx1"/>
                </a:solidFill>
              </a:rPr>
              <a:t>, </a:t>
            </a:r>
            <a:r>
              <a:rPr lang="en-US" sz="1400" dirty="0">
                <a:solidFill>
                  <a:schemeClr val="tx2"/>
                </a:solidFill>
              </a:rPr>
              <a:t>6</a:t>
            </a:r>
            <a:r>
              <a:rPr lang="en-US" sz="1400" dirty="0">
                <a:solidFill>
                  <a:schemeClr val="tx1"/>
                </a:solidFill>
              </a:rPr>
              <a:t>) is larger than (</a:t>
            </a:r>
            <a:r>
              <a:rPr lang="en-US" sz="1400" dirty="0">
                <a:solidFill>
                  <a:schemeClr val="tx2"/>
                </a:solidFill>
              </a:rPr>
              <a:t>0</a:t>
            </a:r>
            <a:r>
              <a:rPr lang="en-US" sz="1400" dirty="0">
                <a:solidFill>
                  <a:schemeClr val="tx1"/>
                </a:solidFill>
              </a:rPr>
              <a:t>, </a:t>
            </a:r>
            <a:r>
              <a:rPr lang="en-US" sz="1400" dirty="0">
                <a:solidFill>
                  <a:schemeClr val="tx2"/>
                </a:solidFill>
              </a:rPr>
              <a:t>2</a:t>
            </a:r>
            <a:r>
              <a:rPr lang="en-US" sz="1400" dirty="0">
                <a:solidFill>
                  <a:schemeClr val="tx1"/>
                </a:solidFill>
              </a:rPr>
              <a:t>) in each entry:</a:t>
            </a:r>
          </a:p>
          <a:p>
            <a:pPr algn="ctr">
              <a:spcAft>
                <a:spcPts val="600"/>
              </a:spcAft>
            </a:pPr>
            <a:r>
              <a:rPr lang="en-US" sz="1400" dirty="0">
                <a:solidFill>
                  <a:schemeClr val="tx1"/>
                </a:solidFill>
              </a:rPr>
              <a:t>(</a:t>
            </a:r>
            <a:r>
              <a:rPr lang="en-US" sz="1400" dirty="0">
                <a:solidFill>
                  <a:schemeClr val="tx2"/>
                </a:solidFill>
              </a:rPr>
              <a:t>1</a:t>
            </a:r>
            <a:r>
              <a:rPr lang="en-US" sz="1400" dirty="0">
                <a:solidFill>
                  <a:schemeClr val="tx1"/>
                </a:solidFill>
              </a:rPr>
              <a:t>, </a:t>
            </a:r>
            <a:r>
              <a:rPr lang="en-US" sz="1400" dirty="0">
                <a:solidFill>
                  <a:schemeClr val="tx2"/>
                </a:solidFill>
              </a:rPr>
              <a:t>6</a:t>
            </a:r>
            <a:r>
              <a:rPr lang="en-US" sz="1400" dirty="0">
                <a:solidFill>
                  <a:schemeClr val="tx1"/>
                </a:solidFill>
              </a:rPr>
              <a:t>)  </a:t>
            </a:r>
            <a:r>
              <a:rPr lang="en-US" sz="1400" dirty="0">
                <a:solidFill>
                  <a:schemeClr val="tx1"/>
                </a:solidFill>
                <a:latin typeface="ESSTIXThree"/>
              </a:rPr>
              <a:t>u</a:t>
            </a:r>
            <a:r>
              <a:rPr lang="en-US" sz="1400" dirty="0">
                <a:solidFill>
                  <a:schemeClr val="tx1"/>
                </a:solidFill>
              </a:rPr>
              <a:t>  (</a:t>
            </a:r>
            <a:r>
              <a:rPr lang="en-US" sz="1400" dirty="0">
                <a:solidFill>
                  <a:schemeClr val="tx2"/>
                </a:solidFill>
              </a:rPr>
              <a:t>0</a:t>
            </a:r>
            <a:r>
              <a:rPr lang="en-US" sz="1400" dirty="0">
                <a:solidFill>
                  <a:schemeClr val="tx1"/>
                </a:solidFill>
              </a:rPr>
              <a:t>,</a:t>
            </a:r>
            <a:r>
              <a:rPr lang="en-US" sz="1400" dirty="0">
                <a:solidFill>
                  <a:schemeClr val="tx2"/>
                </a:solidFill>
              </a:rPr>
              <a:t>2</a:t>
            </a:r>
            <a:r>
              <a:rPr lang="en-US" sz="1400" dirty="0">
                <a:solidFill>
                  <a:schemeClr val="tx1"/>
                </a:solidFill>
              </a:rPr>
              <a:t>)</a:t>
            </a:r>
          </a:p>
          <a:p>
            <a:pPr algn="just">
              <a:spcAft>
                <a:spcPts val="600"/>
              </a:spcAft>
            </a:pPr>
            <a:r>
              <a:rPr lang="en-US" sz="1400" dirty="0">
                <a:solidFill>
                  <a:schemeClr val="tx1"/>
                </a:solidFill>
              </a:rPr>
              <a:t>Therefore, player A will always choose “hawk” irrespective of what strategy player B chooses.</a:t>
            </a:r>
          </a:p>
          <a:p>
            <a:pPr algn="just">
              <a:spcAft>
                <a:spcPts val="600"/>
              </a:spcAft>
            </a:pPr>
            <a:endParaRPr lang="en-US" sz="1400" dirty="0">
              <a:solidFill>
                <a:schemeClr val="tx1"/>
              </a:solidFill>
            </a:endParaRPr>
          </a:p>
          <a:p>
            <a:pPr algn="just">
              <a:spcAft>
                <a:spcPts val="600"/>
              </a:spcAft>
            </a:pPr>
            <a:r>
              <a:rPr lang="en-US" sz="1400" dirty="0">
                <a:solidFill>
                  <a:schemeClr val="tx1"/>
                </a:solidFill>
              </a:rPr>
              <a:t>Due to the symmetry of the game, we have that “hawk” is also a strictly dominant strategy for player B. Hence, both play “hawk” for sure.</a:t>
            </a:r>
          </a:p>
          <a:p>
            <a:pPr algn="just">
              <a:spcAft>
                <a:spcPts val="600"/>
              </a:spcAft>
            </a:pPr>
            <a:r>
              <a:rPr lang="en-US" sz="1400" b="1" dirty="0">
                <a:solidFill>
                  <a:schemeClr val="tx1"/>
                </a:solidFill>
              </a:rPr>
              <a:t>The game has the strategy pair (hawk, hawk) as an equilibrium in strictly dominant strategies.</a:t>
            </a:r>
          </a:p>
          <a:p>
            <a:pPr>
              <a:spcAft>
                <a:spcPts val="600"/>
              </a:spcAft>
            </a:pPr>
            <a:endParaRPr lang="en-US" sz="1400" dirty="0">
              <a:solidFill>
                <a:schemeClr val="tx1"/>
              </a:solidFill>
            </a:endParaRPr>
          </a:p>
          <a:p>
            <a:pPr>
              <a:spcAft>
                <a:spcPts val="600"/>
              </a:spcAft>
            </a:pPr>
            <a:endParaRPr lang="en-US" sz="1400" dirty="0">
              <a:solidFill>
                <a:schemeClr val="tx1"/>
              </a:solidFill>
            </a:endParaRPr>
          </a:p>
        </p:txBody>
      </p:sp>
      <p:sp>
        <p:nvSpPr>
          <p:cNvPr id="5" name="Rechteck 4"/>
          <p:cNvSpPr/>
          <p:nvPr/>
        </p:nvSpPr>
        <p:spPr>
          <a:xfrm>
            <a:off x="251520" y="3075806"/>
            <a:ext cx="216024" cy="14401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feld 5"/>
          <p:cNvSpPr txBox="1"/>
          <p:nvPr/>
        </p:nvSpPr>
        <p:spPr>
          <a:xfrm>
            <a:off x="467544" y="3003798"/>
            <a:ext cx="2145203" cy="461665"/>
          </a:xfrm>
          <a:prstGeom prst="rect">
            <a:avLst/>
          </a:prstGeom>
          <a:noFill/>
        </p:spPr>
        <p:txBody>
          <a:bodyPr wrap="none" rtlCol="0">
            <a:spAutoFit/>
          </a:bodyPr>
          <a:lstStyle/>
          <a:p>
            <a:r>
              <a:rPr lang="en-US" sz="1200" dirty="0"/>
              <a:t>equilibrium in strictly dominant</a:t>
            </a:r>
          </a:p>
          <a:p>
            <a:r>
              <a:rPr lang="en-US" sz="1200" dirty="0"/>
              <a:t>strategies</a:t>
            </a:r>
          </a:p>
        </p:txBody>
      </p:sp>
      <p:sp>
        <p:nvSpPr>
          <p:cNvPr id="7" name="Rechteck 6"/>
          <p:cNvSpPr/>
          <p:nvPr/>
        </p:nvSpPr>
        <p:spPr>
          <a:xfrm>
            <a:off x="251520" y="4011910"/>
            <a:ext cx="1440160" cy="1008112"/>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a:p>
            <a:pPr algn="ctr"/>
            <a:r>
              <a:rPr lang="en-US" sz="1200" dirty="0">
                <a:solidFill>
                  <a:schemeClr val="tx1"/>
                </a:solidFill>
              </a:rPr>
              <a:t>Prisoner’s Dilemma payoff matrix</a:t>
            </a:r>
          </a:p>
        </p:txBody>
      </p:sp>
      <p:pic>
        <p:nvPicPr>
          <p:cNvPr id="8" name="Picture 4" descr="Prison cell - Free security icons"/>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91547" y="4061058"/>
            <a:ext cx="960106" cy="504056"/>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p:cNvSpPr/>
          <p:nvPr/>
        </p:nvSpPr>
        <p:spPr>
          <a:xfrm>
            <a:off x="3131840" y="1432684"/>
            <a:ext cx="5760640" cy="5040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p:cNvSpPr>
            <a:spLocks noGrp="1"/>
          </p:cNvSpPr>
          <p:nvPr>
            <p:ph type="title"/>
          </p:nvPr>
        </p:nvSpPr>
        <p:spPr/>
        <p:txBody>
          <a:bodyPr/>
          <a:lstStyle/>
          <a:p>
            <a:r>
              <a:rPr lang="en-US" dirty="0"/>
              <a:t>… and this is also a Nash-equilibrium (1/ 2)</a:t>
            </a:r>
          </a:p>
        </p:txBody>
      </p:sp>
      <p:grpSp>
        <p:nvGrpSpPr>
          <p:cNvPr id="8" name="Gruppieren 9"/>
          <p:cNvGrpSpPr/>
          <p:nvPr/>
        </p:nvGrpSpPr>
        <p:grpSpPr>
          <a:xfrm>
            <a:off x="251520" y="1131590"/>
            <a:ext cx="2592288" cy="3816425"/>
            <a:chOff x="107504" y="1124744"/>
            <a:chExt cx="2304256" cy="3392379"/>
          </a:xfrm>
        </p:grpSpPr>
        <p:pic>
          <p:nvPicPr>
            <p:cNvPr id="3" name="Grafik 2" descr="jfnash.gif"/>
            <p:cNvPicPr>
              <a:picLocks noChangeAspect="1"/>
            </p:cNvPicPr>
            <p:nvPr/>
          </p:nvPicPr>
          <p:blipFill>
            <a:blip r:embed="rId2" cstate="print"/>
            <a:srcRect b="3704"/>
            <a:stretch>
              <a:fillRect/>
            </a:stretch>
          </p:blipFill>
          <p:spPr>
            <a:xfrm>
              <a:off x="107504" y="1124744"/>
              <a:ext cx="2304256" cy="1664185"/>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grpSp>
          <p:nvGrpSpPr>
            <p:cNvPr id="10" name="Gruppieren 7"/>
            <p:cNvGrpSpPr/>
            <p:nvPr/>
          </p:nvGrpSpPr>
          <p:grpSpPr>
            <a:xfrm>
              <a:off x="156257" y="2840942"/>
              <a:ext cx="2191045" cy="1676181"/>
              <a:chOff x="5724128" y="1059640"/>
              <a:chExt cx="3312192" cy="2533877"/>
            </a:xfrm>
          </p:grpSpPr>
          <p:sp>
            <p:nvSpPr>
              <p:cNvPr id="4" name="Textfeld 3"/>
              <p:cNvSpPr txBox="1"/>
              <p:nvPr/>
            </p:nvSpPr>
            <p:spPr>
              <a:xfrm>
                <a:off x="5819181" y="3262660"/>
                <a:ext cx="1394072" cy="330855"/>
              </a:xfrm>
              <a:prstGeom prst="rect">
                <a:avLst/>
              </a:prstGeom>
              <a:noFill/>
            </p:spPr>
            <p:txBody>
              <a:bodyPr wrap="none" rtlCol="0">
                <a:spAutoFit/>
              </a:bodyPr>
              <a:lstStyle/>
              <a:p>
                <a:pPr algn="ctr"/>
                <a:r>
                  <a:rPr lang="de-DE" sz="1000" dirty="0"/>
                  <a:t>John C. </a:t>
                </a:r>
                <a:r>
                  <a:rPr lang="de-DE" sz="1000" dirty="0" err="1"/>
                  <a:t>Harsanyi</a:t>
                </a:r>
                <a:endParaRPr lang="en-US" sz="1000" dirty="0"/>
              </a:p>
            </p:txBody>
          </p:sp>
          <p:pic>
            <p:nvPicPr>
              <p:cNvPr id="5" name="Picture 4" descr="http://www.nobelprize.org/nobel_prizes/economic-sciences/laureates/1994/harsanyi_postcard.jpg"/>
              <p:cNvPicPr>
                <a:picLocks noChangeAspect="1" noChangeArrowheads="1"/>
              </p:cNvPicPr>
              <p:nvPr/>
            </p:nvPicPr>
            <p:blipFill>
              <a:blip r:embed="rId3" cstate="print"/>
              <a:srcRect/>
              <a:stretch>
                <a:fillRect/>
              </a:stretch>
            </p:blipFill>
            <p:spPr bwMode="auto">
              <a:xfrm>
                <a:off x="5724128" y="1059640"/>
                <a:ext cx="1584176" cy="2240480"/>
              </a:xfrm>
              <a:prstGeom prst="rect">
                <a:avLst/>
              </a:prstGeom>
              <a:ln>
                <a:noFill/>
              </a:ln>
              <a:effectLst>
                <a:softEdge rad="112500"/>
              </a:effectLst>
            </p:spPr>
          </p:pic>
          <p:sp>
            <p:nvSpPr>
              <p:cNvPr id="6" name="Textfeld 5"/>
              <p:cNvSpPr txBox="1"/>
              <p:nvPr/>
            </p:nvSpPr>
            <p:spPr>
              <a:xfrm>
                <a:off x="7565594" y="3262662"/>
                <a:ext cx="1357452" cy="330855"/>
              </a:xfrm>
              <a:prstGeom prst="rect">
                <a:avLst/>
              </a:prstGeom>
              <a:noFill/>
            </p:spPr>
            <p:txBody>
              <a:bodyPr wrap="none" rtlCol="0">
                <a:spAutoFit/>
              </a:bodyPr>
              <a:lstStyle/>
              <a:p>
                <a:pPr algn="ctr"/>
                <a:r>
                  <a:rPr lang="de-DE" sz="1000" dirty="0"/>
                  <a:t>Reinhard Selten</a:t>
                </a:r>
                <a:endParaRPr lang="en-US" sz="1000" dirty="0"/>
              </a:p>
            </p:txBody>
          </p:sp>
          <p:pic>
            <p:nvPicPr>
              <p:cNvPr id="7" name="Picture 6" descr="http://www.nobelprize.org/nobel_prizes/economic-sciences/laureates/1994/selten_postcard.jpg"/>
              <p:cNvPicPr>
                <a:picLocks noChangeAspect="1" noChangeArrowheads="1"/>
              </p:cNvPicPr>
              <p:nvPr/>
            </p:nvPicPr>
            <p:blipFill>
              <a:blip r:embed="rId4" cstate="print"/>
              <a:srcRect/>
              <a:stretch>
                <a:fillRect/>
              </a:stretch>
            </p:blipFill>
            <p:spPr bwMode="auto">
              <a:xfrm>
                <a:off x="7452320" y="1059640"/>
                <a:ext cx="1584000" cy="2240233"/>
              </a:xfrm>
              <a:prstGeom prst="rect">
                <a:avLst/>
              </a:prstGeom>
              <a:ln>
                <a:noFill/>
              </a:ln>
              <a:effectLst>
                <a:softEdge rad="112500"/>
              </a:effectLst>
            </p:spPr>
          </p:pic>
        </p:grpSp>
      </p:grpSp>
      <p:sp>
        <p:nvSpPr>
          <p:cNvPr id="9" name="Rechteck 8"/>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dirty="0">
                <a:solidFill>
                  <a:schemeClr val="tx1"/>
                </a:solidFill>
              </a:rPr>
              <a:t>In his PhD thesis (1950) Nash showed that</a:t>
            </a:r>
          </a:p>
          <a:p>
            <a:pPr algn="ctr">
              <a:spcAft>
                <a:spcPts val="600"/>
              </a:spcAft>
            </a:pPr>
            <a:r>
              <a:rPr lang="en-US" sz="1400" b="1" dirty="0">
                <a:solidFill>
                  <a:schemeClr val="tx1"/>
                </a:solidFill>
              </a:rPr>
              <a:t>Every game with a finite number of players such that each player has a finite number of (pure) strategies, has at least one equilibrium.</a:t>
            </a:r>
          </a:p>
          <a:p>
            <a:pPr>
              <a:spcAft>
                <a:spcPts val="600"/>
              </a:spcAft>
            </a:pPr>
            <a:endParaRPr lang="en-US" sz="1400" dirty="0">
              <a:solidFill>
                <a:schemeClr val="tx1"/>
              </a:solidFill>
            </a:endParaRPr>
          </a:p>
          <a:p>
            <a:pPr algn="just">
              <a:spcAft>
                <a:spcPts val="600"/>
              </a:spcAft>
            </a:pPr>
            <a:r>
              <a:rPr lang="en-US" sz="1400" b="1" dirty="0">
                <a:solidFill>
                  <a:schemeClr val="tx1"/>
                </a:solidFill>
              </a:rPr>
              <a:t>Definition (Nash-equilibrium):</a:t>
            </a:r>
          </a:p>
          <a:p>
            <a:pPr algn="just">
              <a:spcAft>
                <a:spcPts val="600"/>
              </a:spcAft>
            </a:pPr>
            <a:r>
              <a:rPr lang="en-US" sz="1400" dirty="0">
                <a:solidFill>
                  <a:schemeClr val="tx1"/>
                </a:solidFill>
              </a:rPr>
              <a:t>In a non-cooperative game – i.e. a game where the players can not make binding agreements – a Nash-equilibrium is defined as a strategy vector that has the following properties:</a:t>
            </a:r>
          </a:p>
          <a:p>
            <a:pPr marL="182563" indent="-182563">
              <a:spcAft>
                <a:spcPts val="600"/>
              </a:spcAft>
              <a:buFont typeface="Arial" pitchFamily="34" charset="0"/>
              <a:buChar char="•"/>
            </a:pPr>
            <a:r>
              <a:rPr lang="en-US" sz="1400" dirty="0">
                <a:solidFill>
                  <a:schemeClr val="tx1"/>
                </a:solidFill>
              </a:rPr>
              <a:t>no player has an incentive to change their strategy,</a:t>
            </a:r>
          </a:p>
          <a:p>
            <a:pPr marL="182563" indent="-182563">
              <a:spcAft>
                <a:spcPts val="600"/>
              </a:spcAft>
              <a:buFont typeface="Arial" pitchFamily="34" charset="0"/>
              <a:buChar char="•"/>
            </a:pPr>
            <a:r>
              <a:rPr lang="en-US" sz="1400" dirty="0">
                <a:solidFill>
                  <a:schemeClr val="tx1"/>
                </a:solidFill>
              </a:rPr>
              <a:t>given the (equilibrium-)strategy of the other players.</a:t>
            </a:r>
          </a:p>
          <a:p>
            <a:pPr>
              <a:spcAft>
                <a:spcPts val="600"/>
              </a:spcAft>
            </a:pPr>
            <a:endParaRPr lang="en-US" sz="1400" dirty="0">
              <a:solidFill>
                <a:schemeClr val="tx1"/>
              </a:solidFill>
            </a:endParaRPr>
          </a:p>
          <a:p>
            <a:pPr>
              <a:spcAft>
                <a:spcPts val="600"/>
              </a:spcAft>
            </a:pPr>
            <a:endParaRPr lang="en-US" sz="1400" dirty="0">
              <a:solidFill>
                <a:schemeClr val="tx1"/>
              </a:solidFill>
            </a:endParaRPr>
          </a:p>
          <a:p>
            <a:pPr algn="just">
              <a:spcAft>
                <a:spcPts val="600"/>
              </a:spcAft>
            </a:pPr>
            <a:r>
              <a:rPr lang="en-US" sz="1400" dirty="0">
                <a:solidFill>
                  <a:schemeClr val="tx1"/>
                </a:solidFill>
              </a:rPr>
              <a:t>This strategy vector does not need to only contain pure strategies but may also consist of mixed strategies.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and this is also a Nash-equilibrium (2/ 2)</a:t>
            </a:r>
          </a:p>
        </p:txBody>
      </p:sp>
      <p:sp>
        <p:nvSpPr>
          <p:cNvPr id="9" name="Rechteck 8"/>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dirty="0">
                <a:solidFill>
                  <a:schemeClr val="tx1"/>
                </a:solidFill>
              </a:rPr>
              <a:t>In the Prisoner’s Dilemma the outcome (hawk, hawk) is such that</a:t>
            </a:r>
            <a:endParaRPr lang="en-US" sz="1400" b="1" dirty="0">
              <a:solidFill>
                <a:schemeClr val="tx1"/>
              </a:solidFill>
            </a:endParaRPr>
          </a:p>
          <a:p>
            <a:pPr marL="182563" indent="-182563">
              <a:spcAft>
                <a:spcPts val="600"/>
              </a:spcAft>
              <a:buFont typeface="Arial" pitchFamily="34" charset="0"/>
              <a:buChar char="•"/>
            </a:pPr>
            <a:r>
              <a:rPr lang="en-US" sz="1400" dirty="0">
                <a:solidFill>
                  <a:schemeClr val="tx1"/>
                </a:solidFill>
              </a:rPr>
              <a:t>no player has an incentive to change their strategy,</a:t>
            </a:r>
          </a:p>
          <a:p>
            <a:pPr marL="182563" indent="-182563">
              <a:spcAft>
                <a:spcPts val="600"/>
              </a:spcAft>
              <a:buFont typeface="Arial" pitchFamily="34" charset="0"/>
              <a:buChar char="•"/>
            </a:pPr>
            <a:r>
              <a:rPr lang="en-US" sz="1400" dirty="0">
                <a:solidFill>
                  <a:schemeClr val="tx1"/>
                </a:solidFill>
              </a:rPr>
              <a:t>given the (equilibrium-)strategy “hawk” of the other player</a:t>
            </a:r>
          </a:p>
          <a:p>
            <a:pPr>
              <a:spcAft>
                <a:spcPts val="600"/>
              </a:spcAft>
            </a:pPr>
            <a:endParaRPr lang="en-US" sz="1400" dirty="0">
              <a:solidFill>
                <a:schemeClr val="tx1"/>
              </a:solidFill>
            </a:endParaRPr>
          </a:p>
          <a:p>
            <a:pPr>
              <a:spcAft>
                <a:spcPts val="600"/>
              </a:spcAft>
            </a:pPr>
            <a:r>
              <a:rPr lang="en-US" sz="1400" dirty="0">
                <a:solidFill>
                  <a:schemeClr val="tx1"/>
                </a:solidFill>
              </a:rPr>
              <a:t>On the other hand:</a:t>
            </a:r>
          </a:p>
          <a:p>
            <a:pPr marL="182563" indent="-182563">
              <a:spcAft>
                <a:spcPts val="600"/>
              </a:spcAft>
              <a:buFont typeface="Arial" pitchFamily="34" charset="0"/>
              <a:buChar char="•"/>
            </a:pPr>
            <a:r>
              <a:rPr lang="en-US" sz="1400" dirty="0">
                <a:solidFill>
                  <a:schemeClr val="tx1"/>
                </a:solidFill>
              </a:rPr>
              <a:t>at the outcome (hawk, dove), given player A chooses “hawk”, then player B is better of with “hawk” (payoff </a:t>
            </a:r>
            <a:r>
              <a:rPr lang="en-US" sz="1400" dirty="0">
                <a:solidFill>
                  <a:srgbClr val="C00000"/>
                </a:solidFill>
              </a:rPr>
              <a:t>1</a:t>
            </a:r>
            <a:r>
              <a:rPr lang="en-US" sz="1400" dirty="0">
                <a:solidFill>
                  <a:schemeClr val="tx1"/>
                </a:solidFill>
              </a:rPr>
              <a:t>) instead of “dove” (payoff </a:t>
            </a:r>
            <a:r>
              <a:rPr lang="en-US" sz="1400" dirty="0">
                <a:solidFill>
                  <a:srgbClr val="C00000"/>
                </a:solidFill>
              </a:rPr>
              <a:t>0</a:t>
            </a:r>
            <a:r>
              <a:rPr lang="en-US" sz="1400" dirty="0">
                <a:solidFill>
                  <a:schemeClr val="tx1"/>
                </a:solidFill>
              </a:rPr>
              <a:t>)</a:t>
            </a:r>
          </a:p>
          <a:p>
            <a:pPr marL="182563" indent="-182563">
              <a:spcAft>
                <a:spcPts val="600"/>
              </a:spcAft>
              <a:buFont typeface="Arial" pitchFamily="34" charset="0"/>
              <a:buChar char="•"/>
            </a:pPr>
            <a:r>
              <a:rPr lang="en-US" sz="1400" dirty="0">
                <a:solidFill>
                  <a:schemeClr val="tx1"/>
                </a:solidFill>
              </a:rPr>
              <a:t>at the outcome (dove, hawk), given player B chooses “hawk”, then player A is better of with “hawk” (payoff </a:t>
            </a:r>
            <a:r>
              <a:rPr lang="en-US" sz="1400" dirty="0">
                <a:solidFill>
                  <a:schemeClr val="tx2"/>
                </a:solidFill>
              </a:rPr>
              <a:t>1</a:t>
            </a:r>
            <a:r>
              <a:rPr lang="en-US" sz="1400" dirty="0">
                <a:solidFill>
                  <a:schemeClr val="tx1"/>
                </a:solidFill>
              </a:rPr>
              <a:t>) instead of “dove” (payoff </a:t>
            </a:r>
            <a:r>
              <a:rPr lang="en-US" sz="1400" dirty="0">
                <a:solidFill>
                  <a:schemeClr val="tx2"/>
                </a:solidFill>
              </a:rPr>
              <a:t>0</a:t>
            </a:r>
            <a:r>
              <a:rPr lang="en-US" sz="1400" dirty="0">
                <a:solidFill>
                  <a:schemeClr val="tx1"/>
                </a:solidFill>
              </a:rPr>
              <a:t>)</a:t>
            </a:r>
          </a:p>
          <a:p>
            <a:pPr marL="182563" indent="-182563">
              <a:spcAft>
                <a:spcPts val="600"/>
              </a:spcAft>
              <a:buFont typeface="Arial" pitchFamily="34" charset="0"/>
              <a:buChar char="•"/>
            </a:pPr>
            <a:r>
              <a:rPr lang="en-US" sz="1400" dirty="0">
                <a:solidFill>
                  <a:schemeClr val="tx1"/>
                </a:solidFill>
              </a:rPr>
              <a:t>at the outcome (dove, dove),</a:t>
            </a:r>
          </a:p>
          <a:p>
            <a:pPr marL="449263" indent="-266700">
              <a:spcAft>
                <a:spcPts val="600"/>
              </a:spcAft>
              <a:buFont typeface="Symbol" pitchFamily="18" charset="2"/>
              <a:buChar char="-"/>
            </a:pPr>
            <a:r>
              <a:rPr lang="en-US" sz="1400" dirty="0">
                <a:solidFill>
                  <a:schemeClr val="tx1"/>
                </a:solidFill>
              </a:rPr>
              <a:t>given player A chooses “dove”, then player B is better of with “hawk” (payoff </a:t>
            </a:r>
            <a:r>
              <a:rPr lang="en-US" sz="1400" dirty="0">
                <a:solidFill>
                  <a:srgbClr val="C00000"/>
                </a:solidFill>
              </a:rPr>
              <a:t>6</a:t>
            </a:r>
            <a:r>
              <a:rPr lang="en-US" sz="1400" dirty="0">
                <a:solidFill>
                  <a:schemeClr val="tx1"/>
                </a:solidFill>
              </a:rPr>
              <a:t>) instead of “dove” (payoff </a:t>
            </a:r>
            <a:r>
              <a:rPr lang="en-US" sz="1400" dirty="0">
                <a:solidFill>
                  <a:srgbClr val="C00000"/>
                </a:solidFill>
              </a:rPr>
              <a:t>2</a:t>
            </a:r>
            <a:r>
              <a:rPr lang="en-US" sz="1400" dirty="0">
                <a:solidFill>
                  <a:schemeClr val="tx1"/>
                </a:solidFill>
              </a:rPr>
              <a:t>)</a:t>
            </a:r>
          </a:p>
          <a:p>
            <a:pPr marL="449263" indent="-266700">
              <a:spcAft>
                <a:spcPts val="600"/>
              </a:spcAft>
              <a:buFont typeface="Symbol" pitchFamily="18" charset="2"/>
              <a:buChar char="-"/>
            </a:pPr>
            <a:r>
              <a:rPr lang="en-US" sz="1400" dirty="0">
                <a:solidFill>
                  <a:schemeClr val="tx1"/>
                </a:solidFill>
              </a:rPr>
              <a:t>given player B chooses “dove”, then player A is better of with “hawk” (payoff </a:t>
            </a:r>
            <a:r>
              <a:rPr lang="en-US" sz="1400" dirty="0">
                <a:solidFill>
                  <a:schemeClr val="tx2"/>
                </a:solidFill>
              </a:rPr>
              <a:t>6</a:t>
            </a:r>
            <a:r>
              <a:rPr lang="en-US" sz="1400" dirty="0">
                <a:solidFill>
                  <a:schemeClr val="tx1"/>
                </a:solidFill>
              </a:rPr>
              <a:t>) instead of “dove” (payoff </a:t>
            </a:r>
            <a:r>
              <a:rPr lang="en-US" sz="1400" dirty="0">
                <a:solidFill>
                  <a:schemeClr val="tx2"/>
                </a:solidFill>
              </a:rPr>
              <a:t>2</a:t>
            </a:r>
            <a:r>
              <a:rPr lang="en-US" sz="1400" dirty="0">
                <a:solidFill>
                  <a:schemeClr val="tx1"/>
                </a:solidFill>
              </a:rPr>
              <a:t>)</a:t>
            </a:r>
          </a:p>
          <a:p>
            <a:pPr marL="182563" indent="-182563">
              <a:spcAft>
                <a:spcPts val="600"/>
              </a:spcAft>
              <a:buFont typeface="Arial" pitchFamily="34" charset="0"/>
              <a:buChar char="•"/>
            </a:pPr>
            <a:endParaRPr lang="en-US" sz="1400" dirty="0">
              <a:solidFill>
                <a:schemeClr val="tx1"/>
              </a:solidFill>
            </a:endParaRPr>
          </a:p>
          <a:p>
            <a:pPr marL="182563" indent="-182563">
              <a:spcAft>
                <a:spcPts val="600"/>
              </a:spcAft>
              <a:buFont typeface="Arial" pitchFamily="34" charset="0"/>
              <a:buChar char="•"/>
            </a:pPr>
            <a:endParaRPr lang="en-US" sz="1400" dirty="0">
              <a:solidFill>
                <a:schemeClr val="tx1"/>
              </a:solidFill>
            </a:endParaRPr>
          </a:p>
          <a:p>
            <a:pPr marL="182563" indent="-182563">
              <a:spcAft>
                <a:spcPts val="600"/>
              </a:spcAft>
              <a:buFont typeface="Arial" pitchFamily="34" charset="0"/>
              <a:buChar char="•"/>
            </a:pPr>
            <a:endParaRPr lang="en-US" sz="1400" dirty="0">
              <a:solidFill>
                <a:schemeClr val="tx1"/>
              </a:solidFill>
            </a:endParaRPr>
          </a:p>
        </p:txBody>
      </p:sp>
      <p:graphicFrame>
        <p:nvGraphicFramePr>
          <p:cNvPr id="12" name="Tabelle 11"/>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3" name="Rechteck 12"/>
          <p:cNvSpPr/>
          <p:nvPr/>
        </p:nvSpPr>
        <p:spPr>
          <a:xfrm>
            <a:off x="251520" y="3075806"/>
            <a:ext cx="216024" cy="14401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feld 13"/>
          <p:cNvSpPr txBox="1"/>
          <p:nvPr/>
        </p:nvSpPr>
        <p:spPr>
          <a:xfrm>
            <a:off x="467544" y="3003798"/>
            <a:ext cx="2373983" cy="276999"/>
          </a:xfrm>
          <a:prstGeom prst="rect">
            <a:avLst/>
          </a:prstGeom>
          <a:noFill/>
        </p:spPr>
        <p:txBody>
          <a:bodyPr wrap="none" rtlCol="0">
            <a:spAutoFit/>
          </a:bodyPr>
          <a:lstStyle/>
          <a:p>
            <a:r>
              <a:rPr lang="en-US" sz="1200" dirty="0"/>
              <a:t>Nash-equilibrium in pure strategies</a:t>
            </a:r>
          </a:p>
        </p:txBody>
      </p:sp>
      <p:sp>
        <p:nvSpPr>
          <p:cNvPr id="15" name="Rechteck 14"/>
          <p:cNvSpPr/>
          <p:nvPr/>
        </p:nvSpPr>
        <p:spPr>
          <a:xfrm>
            <a:off x="251520" y="4011910"/>
            <a:ext cx="1440160" cy="1008112"/>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a:p>
            <a:pPr algn="ctr"/>
            <a:r>
              <a:rPr lang="en-US" sz="1200" dirty="0">
                <a:solidFill>
                  <a:schemeClr val="tx1"/>
                </a:solidFill>
              </a:rPr>
              <a:t>Prisoner’s Dilemma payoff matrix</a:t>
            </a:r>
          </a:p>
        </p:txBody>
      </p:sp>
      <p:pic>
        <p:nvPicPr>
          <p:cNvPr id="16" name="Picture 4" descr="Prison cell - Free security icons"/>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91547" y="4061058"/>
            <a:ext cx="960106" cy="504056"/>
          </a:xfrm>
          <a:prstGeom prst="rect">
            <a:avLst/>
          </a:prstGeom>
          <a:noFill/>
        </p:spPr>
      </p:pic>
      <p:cxnSp>
        <p:nvCxnSpPr>
          <p:cNvPr id="17" name="Gerade Verbindung mit Pfeil 16"/>
          <p:cNvCxnSpPr/>
          <p:nvPr/>
        </p:nvCxnSpPr>
        <p:spPr>
          <a:xfrm>
            <a:off x="1547664" y="2067694"/>
            <a:ext cx="0" cy="360040"/>
          </a:xfrm>
          <a:prstGeom prst="straightConnector1">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8" name="Gerade Verbindung mit Pfeil 17"/>
          <p:cNvCxnSpPr/>
          <p:nvPr/>
        </p:nvCxnSpPr>
        <p:spPr>
          <a:xfrm>
            <a:off x="1854364" y="1972826"/>
            <a:ext cx="360040" cy="0"/>
          </a:xfrm>
          <a:prstGeom prst="straightConnector1">
            <a:avLst/>
          </a:prstGeom>
          <a:noFill/>
          <a:ln>
            <a:solidFill>
              <a:srgbClr val="C0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9" name="Gerade Verbindung mit Pfeil 18"/>
          <p:cNvCxnSpPr/>
          <p:nvPr/>
        </p:nvCxnSpPr>
        <p:spPr>
          <a:xfrm>
            <a:off x="1854364" y="2529458"/>
            <a:ext cx="360040" cy="0"/>
          </a:xfrm>
          <a:prstGeom prst="straightConnector1">
            <a:avLst/>
          </a:prstGeom>
          <a:noFill/>
          <a:ln>
            <a:solidFill>
              <a:srgbClr val="C0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0" name="Gerade Verbindung mit Pfeil 19"/>
          <p:cNvCxnSpPr/>
          <p:nvPr/>
        </p:nvCxnSpPr>
        <p:spPr>
          <a:xfrm>
            <a:off x="2476148" y="2067694"/>
            <a:ext cx="0" cy="360040"/>
          </a:xfrm>
          <a:prstGeom prst="straightConnector1">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a:t>
            </a:r>
            <a:br>
              <a:rPr lang="en-US" dirty="0"/>
            </a:br>
            <a:r>
              <a:rPr lang="en-US" dirty="0"/>
              <a:t>A game with two Nash </a:t>
            </a:r>
            <a:r>
              <a:rPr lang="en-US" dirty="0" err="1"/>
              <a:t>equilibria</a:t>
            </a:r>
            <a:r>
              <a:rPr lang="en-US" dirty="0"/>
              <a:t> in pure strategies</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216024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1"/>
                </a:solidFill>
              </a:rPr>
              <a:t>Example:</a:t>
            </a:r>
          </a:p>
          <a:p>
            <a:pPr>
              <a:spcAft>
                <a:spcPts val="600"/>
              </a:spcAft>
            </a:pPr>
            <a:r>
              <a:rPr lang="en-US" sz="1400" dirty="0">
                <a:solidFill>
                  <a:schemeClr val="tx1"/>
                </a:solidFill>
              </a:rPr>
              <a:t>It is easy to see that the </a:t>
            </a:r>
            <a:r>
              <a:rPr lang="en-US" sz="1400" b="1" dirty="0">
                <a:solidFill>
                  <a:schemeClr val="tx1"/>
                </a:solidFill>
              </a:rPr>
              <a:t>Hawk-Dove game</a:t>
            </a:r>
            <a:r>
              <a:rPr lang="en-US" sz="500" b="1" dirty="0">
                <a:solidFill>
                  <a:schemeClr val="tx1"/>
                </a:solidFill>
              </a:rPr>
              <a:t> </a:t>
            </a:r>
            <a:r>
              <a:rPr lang="en-US" sz="1400" dirty="0">
                <a:solidFill>
                  <a:schemeClr val="tx1"/>
                </a:solidFill>
              </a:rPr>
              <a:t>(on the left-hand side) has</a:t>
            </a:r>
          </a:p>
          <a:p>
            <a:pPr marL="182563" indent="-182563">
              <a:spcAft>
                <a:spcPts val="600"/>
              </a:spcAft>
              <a:buFont typeface="Arial" pitchFamily="34" charset="0"/>
              <a:buChar char="•"/>
            </a:pPr>
            <a:r>
              <a:rPr lang="en-US" sz="1400" dirty="0">
                <a:solidFill>
                  <a:schemeClr val="tx1"/>
                </a:solidFill>
              </a:rPr>
              <a:t>no equilibrium in strictly dominant strategies, and</a:t>
            </a:r>
          </a:p>
          <a:p>
            <a:pPr marL="182563" indent="-182563">
              <a:spcAft>
                <a:spcPts val="600"/>
              </a:spcAft>
              <a:buFont typeface="Arial" pitchFamily="34" charset="0"/>
              <a:buChar char="•"/>
            </a:pPr>
            <a:r>
              <a:rPr lang="en-US" sz="1400" dirty="0">
                <a:solidFill>
                  <a:schemeClr val="tx1"/>
                </a:solidFill>
              </a:rPr>
              <a:t>two Nash-</a:t>
            </a:r>
            <a:r>
              <a:rPr lang="en-US" sz="1400" dirty="0" err="1">
                <a:solidFill>
                  <a:schemeClr val="tx1"/>
                </a:solidFill>
              </a:rPr>
              <a:t>equilibria</a:t>
            </a:r>
            <a:r>
              <a:rPr lang="en-US" sz="1400" dirty="0">
                <a:solidFill>
                  <a:schemeClr val="tx1"/>
                </a:solidFill>
              </a:rPr>
              <a:t> in pure strategies (hawk, dove) and (dove, hawk)</a:t>
            </a:r>
          </a:p>
          <a:p>
            <a:pPr marL="182563" indent="-182563">
              <a:spcAft>
                <a:spcPts val="600"/>
              </a:spcAft>
            </a:pPr>
            <a:endParaRPr lang="en-US" sz="1400" dirty="0">
              <a:solidFill>
                <a:schemeClr val="tx1"/>
              </a:solidFill>
            </a:endParaRPr>
          </a:p>
          <a:p>
            <a:pPr>
              <a:spcAft>
                <a:spcPts val="600"/>
              </a:spcAft>
            </a:pPr>
            <a:r>
              <a:rPr lang="en-US" sz="1400" dirty="0">
                <a:solidFill>
                  <a:schemeClr val="tx1"/>
                </a:solidFill>
              </a:rPr>
              <a:t>This game is also referred to as the </a:t>
            </a:r>
            <a:r>
              <a:rPr lang="en-US" sz="1400" b="1" dirty="0">
                <a:solidFill>
                  <a:schemeClr val="tx1"/>
                </a:solidFill>
              </a:rPr>
              <a:t>Chicken game.</a:t>
            </a:r>
            <a:endParaRPr lang="en-US" sz="1400" dirty="0">
              <a:solidFill>
                <a:schemeClr val="tx1"/>
              </a:solidFill>
            </a:endParaRPr>
          </a:p>
        </p:txBody>
      </p:sp>
      <p:sp>
        <p:nvSpPr>
          <p:cNvPr id="5" name="Rechteck 4"/>
          <p:cNvSpPr/>
          <p:nvPr/>
        </p:nvSpPr>
        <p:spPr>
          <a:xfrm>
            <a:off x="251520" y="3075806"/>
            <a:ext cx="216024" cy="14401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feld 5"/>
          <p:cNvSpPr txBox="1"/>
          <p:nvPr/>
        </p:nvSpPr>
        <p:spPr>
          <a:xfrm>
            <a:off x="467544" y="3003798"/>
            <a:ext cx="2373983" cy="276999"/>
          </a:xfrm>
          <a:prstGeom prst="rect">
            <a:avLst/>
          </a:prstGeom>
          <a:noFill/>
        </p:spPr>
        <p:txBody>
          <a:bodyPr wrap="none" rtlCol="0">
            <a:spAutoFit/>
          </a:bodyPr>
          <a:lstStyle/>
          <a:p>
            <a:r>
              <a:rPr lang="en-US" sz="1200" dirty="0"/>
              <a:t>Nash-equilibrium in pure strategies</a:t>
            </a:r>
          </a:p>
        </p:txBody>
      </p:sp>
      <p:cxnSp>
        <p:nvCxnSpPr>
          <p:cNvPr id="15" name="Gerade Verbindung mit Pfeil 14"/>
          <p:cNvCxnSpPr/>
          <p:nvPr/>
        </p:nvCxnSpPr>
        <p:spPr>
          <a:xfrm>
            <a:off x="1578144" y="2090554"/>
            <a:ext cx="0" cy="360040"/>
          </a:xfrm>
          <a:prstGeom prst="straightConnector1">
            <a:avLst/>
          </a:prstGeom>
          <a:no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6" name="Gerade Verbindung mit Pfeil 15"/>
          <p:cNvCxnSpPr/>
          <p:nvPr/>
        </p:nvCxnSpPr>
        <p:spPr>
          <a:xfrm>
            <a:off x="1884844" y="1972826"/>
            <a:ext cx="360040" cy="0"/>
          </a:xfrm>
          <a:prstGeom prst="straightConnector1">
            <a:avLst/>
          </a:pr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7" name="Gerade Verbindung mit Pfeil 16"/>
          <p:cNvCxnSpPr/>
          <p:nvPr/>
        </p:nvCxnSpPr>
        <p:spPr>
          <a:xfrm>
            <a:off x="1835696" y="2526030"/>
            <a:ext cx="360040" cy="0"/>
          </a:xfrm>
          <a:prstGeom prst="straightConnector1">
            <a:avLst/>
          </a:prstGeom>
          <a:noFill/>
          <a:ln>
            <a:solidFill>
              <a:srgbClr val="C0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8" name="Gerade Verbindung mit Pfeil 17"/>
          <p:cNvCxnSpPr/>
          <p:nvPr/>
        </p:nvCxnSpPr>
        <p:spPr>
          <a:xfrm>
            <a:off x="2442240" y="2067694"/>
            <a:ext cx="0" cy="360040"/>
          </a:xfrm>
          <a:prstGeom prst="straightConnector1">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In a Nash-equilibrium no player has an incentive in changing to another strategy given the equilibrium strategy of the other players (2a/ 2)</a:t>
            </a:r>
          </a:p>
        </p:txBody>
      </p:sp>
      <p:sp>
        <p:nvSpPr>
          <p:cNvPr id="3" name="Rechteck 2"/>
          <p:cNvSpPr/>
          <p:nvPr/>
        </p:nvSpPr>
        <p:spPr>
          <a:xfrm>
            <a:off x="1691680" y="1131590"/>
            <a:ext cx="7200800" cy="360040"/>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0" name="Grafik 9" descr="IguanaTex_tmp.png"/>
          <p:cNvPicPr>
            <a:picLocks noChangeAspect="1"/>
          </p:cNvPicPr>
          <p:nvPr>
            <p:custDataLst>
              <p:tags r:id="rId1"/>
            </p:custDataLst>
          </p:nvPr>
        </p:nvPicPr>
        <p:blipFill>
          <a:blip r:embed="rId4" cstate="print"/>
          <a:stretch>
            <a:fillRect/>
          </a:stretch>
        </p:blipFill>
        <p:spPr>
          <a:xfrm>
            <a:off x="1763690" y="1203548"/>
            <a:ext cx="5240376" cy="200415"/>
          </a:xfrm>
          <a:prstGeom prst="rect">
            <a:avLst/>
          </a:prstGeom>
          <a:noFill/>
          <a:ln/>
          <a:effectLst/>
        </p:spPr>
      </p:pic>
      <p:sp>
        <p:nvSpPr>
          <p:cNvPr id="8" name="Rechteck 7"/>
          <p:cNvSpPr/>
          <p:nvPr/>
        </p:nvSpPr>
        <p:spPr>
          <a:xfrm>
            <a:off x="1691680" y="1635646"/>
            <a:ext cx="7200800" cy="33843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2" name="Grafik 11" descr="IguanaTex_tmp.png"/>
          <p:cNvPicPr>
            <a:picLocks noChangeAspect="1"/>
          </p:cNvPicPr>
          <p:nvPr>
            <p:custDataLst>
              <p:tags r:id="rId2"/>
            </p:custDataLst>
          </p:nvPr>
        </p:nvPicPr>
        <p:blipFill>
          <a:blip r:embed="rId5" cstate="print"/>
          <a:stretch>
            <a:fillRect/>
          </a:stretch>
        </p:blipFill>
        <p:spPr>
          <a:xfrm>
            <a:off x="1763691" y="1707602"/>
            <a:ext cx="7051045" cy="3270356"/>
          </a:xfrm>
          <a:prstGeom prst="rect">
            <a:avLst/>
          </a:prstGeom>
          <a:noFill/>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In a Nash-equilibrium no player has an incentive in changing to another strategy given the equilibrium strategy of the other players (2b/ 2)</a:t>
            </a:r>
          </a:p>
        </p:txBody>
      </p:sp>
      <p:sp>
        <p:nvSpPr>
          <p:cNvPr id="3" name="Rechteck 2"/>
          <p:cNvSpPr/>
          <p:nvPr/>
        </p:nvSpPr>
        <p:spPr>
          <a:xfrm>
            <a:off x="1691680" y="1131590"/>
            <a:ext cx="7200800" cy="187220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7" name="Grafik 6" descr="IguanaTex_tmp.png"/>
          <p:cNvPicPr>
            <a:picLocks noChangeAspect="1"/>
          </p:cNvPicPr>
          <p:nvPr>
            <p:custDataLst>
              <p:tags r:id="rId1"/>
            </p:custDataLst>
          </p:nvPr>
        </p:nvPicPr>
        <p:blipFill>
          <a:blip r:embed="rId3" cstate="print"/>
          <a:stretch>
            <a:fillRect/>
          </a:stretch>
        </p:blipFill>
        <p:spPr>
          <a:xfrm>
            <a:off x="1763691" y="1203549"/>
            <a:ext cx="7045449" cy="1561775"/>
          </a:xfrm>
          <a:prstGeom prst="rect">
            <a:avLst/>
          </a:prstGeom>
          <a:noFill/>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definition of a Nash-equilibrium immediately implies four consequences (1/ 2)</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down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9" name="Grafik 8" descr="IguanaTex_tmp.png"/>
          <p:cNvPicPr>
            <a:picLocks noChangeAspect="1"/>
          </p:cNvPicPr>
          <p:nvPr>
            <p:custDataLst>
              <p:tags r:id="rId2"/>
            </p:custDataLst>
          </p:nvPr>
        </p:nvPicPr>
        <p:blipFill>
          <a:blip r:embed="rId4" cstate="print"/>
          <a:stretch>
            <a:fillRect/>
          </a:stretch>
        </p:blipFill>
        <p:spPr>
          <a:xfrm>
            <a:off x="3203843" y="1203549"/>
            <a:ext cx="5631825" cy="3075748"/>
          </a:xfrm>
          <a:prstGeom prst="rect">
            <a:avLst/>
          </a:prstGeom>
          <a:noFill/>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definition of a Nash-equilibrium immediately implies four consequences (2/ 2)</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down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1" name="Grafik 10" descr="IguanaTex_tmp.png"/>
          <p:cNvPicPr>
            <a:picLocks noChangeAspect="1"/>
          </p:cNvPicPr>
          <p:nvPr>
            <p:custDataLst>
              <p:tags r:id="rId2"/>
            </p:custDataLst>
          </p:nvPr>
        </p:nvPicPr>
        <p:blipFill>
          <a:blip r:embed="rId4" cstate="print"/>
          <a:stretch>
            <a:fillRect/>
          </a:stretch>
        </p:blipFill>
        <p:spPr>
          <a:xfrm>
            <a:off x="3203843" y="1203550"/>
            <a:ext cx="5630744" cy="3755263"/>
          </a:xfrm>
          <a:prstGeom prst="rect">
            <a:avLst/>
          </a:prstGeom>
          <a:noFill/>
          <a:ln/>
          <a:effectLst/>
        </p:spPr>
      </p:pic>
      <p:sp>
        <p:nvSpPr>
          <p:cNvPr id="6" name="Rechteck 5"/>
          <p:cNvSpPr/>
          <p:nvPr/>
        </p:nvSpPr>
        <p:spPr>
          <a:xfrm>
            <a:off x="251520" y="4064538"/>
            <a:ext cx="2736304" cy="936104"/>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7" name="Rechteck 6"/>
          <p:cNvSpPr/>
          <p:nvPr/>
        </p:nvSpPr>
        <p:spPr>
          <a:xfrm>
            <a:off x="323528" y="4136546"/>
            <a:ext cx="1368152" cy="648072"/>
          </a:xfrm>
          <a:prstGeom prst="rect">
            <a:avLst/>
          </a:prstGeom>
          <a:solidFill>
            <a:schemeClr val="tx2">
              <a:lumMod val="40000"/>
              <a:lumOff val="6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equilibrium in strictly dominant strategies</a:t>
            </a:r>
          </a:p>
        </p:txBody>
      </p:sp>
      <p:sp>
        <p:nvSpPr>
          <p:cNvPr id="8" name="Textfeld 7"/>
          <p:cNvSpPr txBox="1"/>
          <p:nvPr/>
        </p:nvSpPr>
        <p:spPr>
          <a:xfrm>
            <a:off x="1738764" y="4723643"/>
            <a:ext cx="1249060" cy="276999"/>
          </a:xfrm>
          <a:prstGeom prst="rect">
            <a:avLst/>
          </a:prstGeom>
          <a:noFill/>
        </p:spPr>
        <p:txBody>
          <a:bodyPr wrap="none" rtlCol="0">
            <a:spAutoFit/>
          </a:bodyPr>
          <a:lstStyle/>
          <a:p>
            <a:r>
              <a:rPr lang="en-US" sz="1200" dirty="0"/>
              <a:t>Nash </a:t>
            </a:r>
            <a:r>
              <a:rPr lang="en-US" sz="1200" dirty="0" err="1"/>
              <a:t>equilibirum</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a:t>
            </a:r>
            <a:br>
              <a:rPr lang="en-US" dirty="0"/>
            </a:br>
            <a:r>
              <a:rPr lang="en-US" dirty="0"/>
              <a:t>Nash </a:t>
            </a:r>
            <a:r>
              <a:rPr lang="en-US" dirty="0" err="1"/>
              <a:t>equilibria</a:t>
            </a:r>
            <a:endParaRPr lang="en-US" dirty="0"/>
          </a:p>
        </p:txBody>
      </p:sp>
      <p:graphicFrame>
        <p:nvGraphicFramePr>
          <p:cNvPr id="4" name="Tabelle 3"/>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cooperate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not cooperate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cooperate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5</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4</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not cooperate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4</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Rechteck 4"/>
          <p:cNvSpPr/>
          <p:nvPr/>
        </p:nvSpPr>
        <p:spPr>
          <a:xfrm>
            <a:off x="3131840" y="1131590"/>
            <a:ext cx="576064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sp>
        <p:nvSpPr>
          <p:cNvPr id="6" name="Textfeld 5"/>
          <p:cNvSpPr txBox="1"/>
          <p:nvPr/>
        </p:nvSpPr>
        <p:spPr>
          <a:xfrm>
            <a:off x="3131840" y="1131590"/>
            <a:ext cx="5760640" cy="3323987"/>
          </a:xfrm>
          <a:prstGeom prst="rect">
            <a:avLst/>
          </a:prstGeom>
          <a:noFill/>
        </p:spPr>
        <p:txBody>
          <a:bodyPr wrap="square" rtlCol="0">
            <a:spAutoFit/>
          </a:bodyPr>
          <a:lstStyle/>
          <a:p>
            <a:pPr marL="342900" indent="-342900"/>
            <a:r>
              <a:rPr lang="en-US" sz="1400" b="1" dirty="0"/>
              <a:t>Example:</a:t>
            </a:r>
          </a:p>
          <a:p>
            <a:pPr marL="342900" indent="-342900">
              <a:buFont typeface="+mj-lt"/>
              <a:buAutoNum type="arabicPeriod"/>
            </a:pPr>
            <a:endParaRPr lang="en-US" sz="1400" dirty="0"/>
          </a:p>
          <a:p>
            <a:pPr marL="342900" indent="-342900">
              <a:buFont typeface="+mj-lt"/>
              <a:buAutoNum type="arabicPeriod"/>
            </a:pPr>
            <a:r>
              <a:rPr lang="en-US" sz="1400" dirty="0"/>
              <a:t>What is the Nash-equilibrium in the given game?</a:t>
            </a:r>
          </a:p>
          <a:p>
            <a:pPr marL="800100" lvl="1" indent="-342900">
              <a:buFont typeface="+mj-lt"/>
              <a:buAutoNum type="alphaLcParenR"/>
            </a:pPr>
            <a:r>
              <a:rPr lang="en-US" sz="1400" dirty="0"/>
              <a:t>(not cooperate, not cooperate)</a:t>
            </a:r>
          </a:p>
          <a:p>
            <a:pPr marL="800100" lvl="1" indent="-342900">
              <a:buFont typeface="+mj-lt"/>
              <a:buAutoNum type="alphaLcParenR"/>
            </a:pPr>
            <a:r>
              <a:rPr lang="en-US" sz="1400" dirty="0"/>
              <a:t>(cooperate, cooperate)</a:t>
            </a:r>
          </a:p>
          <a:p>
            <a:pPr marL="800100" lvl="1" indent="-342900">
              <a:buFont typeface="+mj-lt"/>
              <a:buAutoNum type="alphaLcParenR"/>
            </a:pPr>
            <a:r>
              <a:rPr lang="en-US" sz="1400" dirty="0"/>
              <a:t>(not cooperate, cooperate)</a:t>
            </a:r>
          </a:p>
          <a:p>
            <a:pPr marL="800100" lvl="1" indent="-342900">
              <a:buFont typeface="+mj-lt"/>
              <a:buAutoNum type="alphaLcParenR"/>
            </a:pPr>
            <a:r>
              <a:rPr lang="en-US" sz="1400" dirty="0"/>
              <a:t>(cooperate, not cooperate)</a:t>
            </a:r>
          </a:p>
          <a:p>
            <a:pPr marL="342900" indent="-342900">
              <a:buFont typeface="+mj-lt"/>
              <a:buAutoNum type="arabicPeriod"/>
            </a:pPr>
            <a:endParaRPr lang="en-US" sz="1400" dirty="0"/>
          </a:p>
          <a:p>
            <a:pPr marL="342900" indent="-342900">
              <a:buFont typeface="+mj-lt"/>
              <a:buAutoNum type="arabicPeriod"/>
            </a:pPr>
            <a:r>
              <a:rPr lang="en-US" sz="1400" dirty="0"/>
              <a:t>Which of the following is true?</a:t>
            </a:r>
          </a:p>
          <a:p>
            <a:pPr marL="800100" lvl="1" indent="-342900">
              <a:buFont typeface="+mj-lt"/>
              <a:buAutoNum type="alphaLcParenR"/>
            </a:pPr>
            <a:r>
              <a:rPr lang="en-US" sz="1400" dirty="0"/>
              <a:t>neither player has a dominant strategy</a:t>
            </a:r>
          </a:p>
          <a:p>
            <a:pPr marL="800100" lvl="1" indent="-342900">
              <a:buFont typeface="+mj-lt"/>
              <a:buAutoNum type="alphaLcParenR"/>
            </a:pPr>
            <a:r>
              <a:rPr lang="en-US" sz="1400" dirty="0"/>
              <a:t>only player B has a dominant strategy </a:t>
            </a:r>
          </a:p>
          <a:p>
            <a:pPr marL="800100" lvl="1" indent="-342900">
              <a:buFont typeface="+mj-lt"/>
              <a:buAutoNum type="alphaLcParenR"/>
            </a:pPr>
            <a:r>
              <a:rPr lang="en-US" sz="1400" dirty="0"/>
              <a:t>only player A has a dominant strategy</a:t>
            </a:r>
          </a:p>
          <a:p>
            <a:pPr marL="800100" lvl="1" indent="-342900">
              <a:buFont typeface="+mj-lt"/>
              <a:buAutoNum type="alphaLcParenR"/>
            </a:pPr>
            <a:r>
              <a:rPr lang="en-US" sz="1400" dirty="0"/>
              <a:t>both players have a dominant strategy</a:t>
            </a:r>
          </a:p>
          <a:p>
            <a:pPr marL="800100" lvl="1" indent="-342900">
              <a:buFont typeface="+mj-lt"/>
              <a:buAutoNum type="alphaLcParenR"/>
            </a:pPr>
            <a:endParaRPr lang="en-US" sz="1400" dirty="0"/>
          </a:p>
          <a:p>
            <a:pPr marL="0" lvl="1"/>
            <a:r>
              <a:rPr lang="en-US" sz="1400"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a:t>
            </a:r>
            <a:br>
              <a:rPr lang="en-US" dirty="0"/>
            </a:br>
            <a:r>
              <a:rPr lang="en-US" dirty="0"/>
              <a:t>Nash </a:t>
            </a:r>
            <a:r>
              <a:rPr lang="en-US" dirty="0" err="1"/>
              <a:t>equilibria</a:t>
            </a:r>
            <a:endParaRPr lang="en-US" dirty="0"/>
          </a:p>
        </p:txBody>
      </p:sp>
      <p:graphicFrame>
        <p:nvGraphicFramePr>
          <p:cNvPr id="3" name="Tabelle 2"/>
          <p:cNvGraphicFramePr>
            <a:graphicFrameLocks noGrp="1"/>
          </p:cNvGraphicFramePr>
          <p:nvPr>
            <p:custDataLst>
              <p:tags r:id="rId1"/>
            </p:custDataLst>
          </p:nvPr>
        </p:nvGraphicFramePr>
        <p:xfrm>
          <a:off x="251521" y="1131590"/>
          <a:ext cx="2664296" cy="2208244"/>
        </p:xfrm>
        <a:graphic>
          <a:graphicData uri="http://schemas.openxmlformats.org/drawingml/2006/table">
            <a:tbl>
              <a:tblPr firstRow="1" bandRow="1">
                <a:tableStyleId>{5C22544A-7EE6-4342-B048-85BDC9FD1C3A}</a:tableStyleId>
              </a:tblPr>
              <a:tblGrid>
                <a:gridCol w="666074">
                  <a:extLst>
                    <a:ext uri="{9D8B030D-6E8A-4147-A177-3AD203B41FA5}">
                      <a16:colId xmlns:a16="http://schemas.microsoft.com/office/drawing/2014/main" val="20000"/>
                    </a:ext>
                  </a:extLst>
                </a:gridCol>
                <a:gridCol w="666074">
                  <a:extLst>
                    <a:ext uri="{9D8B030D-6E8A-4147-A177-3AD203B41FA5}">
                      <a16:colId xmlns:a16="http://schemas.microsoft.com/office/drawing/2014/main" val="20001"/>
                    </a:ext>
                  </a:extLst>
                </a:gridCol>
                <a:gridCol w="666074">
                  <a:extLst>
                    <a:ext uri="{9D8B030D-6E8A-4147-A177-3AD203B41FA5}">
                      <a16:colId xmlns:a16="http://schemas.microsoft.com/office/drawing/2014/main" val="20002"/>
                    </a:ext>
                  </a:extLst>
                </a:gridCol>
                <a:gridCol w="666074">
                  <a:extLst>
                    <a:ext uri="{9D8B030D-6E8A-4147-A177-3AD203B41FA5}">
                      <a16:colId xmlns:a16="http://schemas.microsoft.com/office/drawing/2014/main" val="20003"/>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baseline="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left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center</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right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up</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4</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middle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52061">
                <a:tc>
                  <a:txBody>
                    <a:bodyPr/>
                    <a:lstStyle/>
                    <a:p>
                      <a:pPr algn="ctr"/>
                      <a:r>
                        <a:rPr lang="en-US" sz="1400" dirty="0">
                          <a:solidFill>
                            <a:schemeClr val="tx2"/>
                          </a:solidFill>
                        </a:rPr>
                        <a:t>down</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5</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4</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4</a:t>
                      </a:r>
                      <a:r>
                        <a:rPr lang="en-US" sz="1400" b="0" dirty="0">
                          <a:solidFill>
                            <a:schemeClr val="tx1"/>
                          </a:solidFill>
                        </a:rPr>
                        <a:t>, </a:t>
                      </a:r>
                      <a:r>
                        <a:rPr lang="en-US" sz="1400" b="0" dirty="0">
                          <a:solidFill>
                            <a:srgbClr val="C00000"/>
                          </a:solidFill>
                        </a:rPr>
                        <a:t>4</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4" name="Rechteck 3"/>
          <p:cNvSpPr/>
          <p:nvPr/>
        </p:nvSpPr>
        <p:spPr>
          <a:xfrm>
            <a:off x="3131840" y="1131590"/>
            <a:ext cx="5760640" cy="223224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sp>
        <p:nvSpPr>
          <p:cNvPr id="5" name="Textfeld 4"/>
          <p:cNvSpPr txBox="1"/>
          <p:nvPr/>
        </p:nvSpPr>
        <p:spPr>
          <a:xfrm>
            <a:off x="3131839" y="1131590"/>
            <a:ext cx="5760641" cy="1384995"/>
          </a:xfrm>
          <a:prstGeom prst="rect">
            <a:avLst/>
          </a:prstGeom>
          <a:noFill/>
        </p:spPr>
        <p:txBody>
          <a:bodyPr wrap="square" rtlCol="0">
            <a:spAutoFit/>
          </a:bodyPr>
          <a:lstStyle/>
          <a:p>
            <a:pPr marL="342900" indent="-342900">
              <a:buFont typeface="+mj-lt"/>
              <a:buAutoNum type="arabicPeriod" startAt="3"/>
            </a:pPr>
            <a:r>
              <a:rPr lang="en-US" sz="1400" dirty="0"/>
              <a:t>How many Nash-</a:t>
            </a:r>
            <a:r>
              <a:rPr lang="en-US" sz="1400" dirty="0" err="1"/>
              <a:t>equilibria</a:t>
            </a:r>
            <a:r>
              <a:rPr lang="en-US" sz="1400" dirty="0"/>
              <a:t> (in pure strategies) does the above game have?</a:t>
            </a:r>
          </a:p>
          <a:p>
            <a:pPr marL="800100" lvl="1" indent="-342900">
              <a:buFont typeface="+mj-lt"/>
              <a:buAutoNum type="alphaLcParenR"/>
            </a:pPr>
            <a:r>
              <a:rPr lang="en-US" sz="1400" dirty="0"/>
              <a:t>none</a:t>
            </a:r>
          </a:p>
          <a:p>
            <a:pPr marL="800100" lvl="1" indent="-342900">
              <a:buFont typeface="+mj-lt"/>
              <a:buAutoNum type="alphaLcParenR"/>
            </a:pPr>
            <a:r>
              <a:rPr lang="en-US" sz="1400" dirty="0"/>
              <a:t>1 Nash-equilibrium</a:t>
            </a:r>
          </a:p>
          <a:p>
            <a:pPr marL="800100" lvl="1" indent="-342900">
              <a:buFont typeface="+mj-lt"/>
              <a:buAutoNum type="alphaLcParenR"/>
            </a:pPr>
            <a:r>
              <a:rPr lang="en-US" sz="1400" dirty="0"/>
              <a:t>2 Nash-</a:t>
            </a:r>
            <a:r>
              <a:rPr lang="en-US" sz="1400" dirty="0" err="1"/>
              <a:t>equilibria</a:t>
            </a:r>
            <a:endParaRPr lang="en-US" sz="1400" dirty="0"/>
          </a:p>
          <a:p>
            <a:pPr marL="800100" lvl="1" indent="-342900">
              <a:buFont typeface="+mj-lt"/>
              <a:buAutoNum type="alphaLcParenR"/>
            </a:pPr>
            <a:r>
              <a:rPr lang="en-US" sz="1400" dirty="0"/>
              <a:t>3 Nash-</a:t>
            </a:r>
            <a:r>
              <a:rPr lang="en-US" sz="1400" dirty="0" err="1"/>
              <a:t>equilibria</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5911F-D9FE-8C1E-2A06-7CE2AED66694}"/>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0FF5A6E5-0993-9DFE-7605-E0FCB816CA1C}"/>
              </a:ext>
            </a:extLst>
          </p:cNvPr>
          <p:cNvSpPr/>
          <p:nvPr/>
        </p:nvSpPr>
        <p:spPr>
          <a:xfrm>
            <a:off x="971600" y="3219822"/>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732F7FE0-D99A-3872-20B1-0AF2EDC6C881}"/>
              </a:ext>
            </a:extLst>
          </p:cNvPr>
          <p:cNvSpPr txBox="1"/>
          <p:nvPr/>
        </p:nvSpPr>
        <p:spPr>
          <a:xfrm>
            <a:off x="971600" y="1131590"/>
            <a:ext cx="4094326" cy="2739211"/>
          </a:xfrm>
          <a:prstGeom prst="rect">
            <a:avLst/>
          </a:prstGeom>
          <a:noFill/>
        </p:spPr>
        <p:txBody>
          <a:bodyPr wrap="none" rtlCol="0">
            <a:spAutoFit/>
          </a:bodyPr>
          <a:lstStyle/>
          <a:p>
            <a:r>
              <a:rPr lang="en-US" b="1" noProof="0" dirty="0"/>
              <a:t>Agenda</a:t>
            </a:r>
          </a:p>
          <a:p>
            <a:endParaRPr lang="en-US" sz="1000" noProof="0" dirty="0"/>
          </a:p>
          <a:p>
            <a:pPr lvl="1"/>
            <a:r>
              <a:rPr lang="en-US" noProof="0" dirty="0"/>
              <a:t>The Prisoner’s Dilemma</a:t>
            </a:r>
          </a:p>
          <a:p>
            <a:pPr lvl="1"/>
            <a:endParaRPr lang="en-US" b="1" noProof="0" dirty="0"/>
          </a:p>
          <a:p>
            <a:pPr lvl="1"/>
            <a:r>
              <a:rPr lang="en-US" dirty="0"/>
              <a:t>The Iterated Prisoner’s Dilemma</a:t>
            </a:r>
          </a:p>
          <a:p>
            <a:pPr lvl="1"/>
            <a:endParaRPr lang="en-US" dirty="0"/>
          </a:p>
          <a:p>
            <a:pPr lvl="1"/>
            <a:r>
              <a:rPr lang="en-US" dirty="0"/>
              <a:t>Nash Equilibria</a:t>
            </a:r>
          </a:p>
          <a:p>
            <a:pPr lvl="1"/>
            <a:endParaRPr lang="en-US" b="1" dirty="0"/>
          </a:p>
          <a:p>
            <a:pPr lvl="1"/>
            <a:r>
              <a:rPr lang="en-US" b="1" dirty="0"/>
              <a:t>Nash Equilibria in the Chicken Game</a:t>
            </a:r>
          </a:p>
          <a:p>
            <a:pPr lvl="1"/>
            <a:endParaRPr lang="en-US" b="1" noProof="0" dirty="0"/>
          </a:p>
        </p:txBody>
      </p:sp>
      <p:pic>
        <p:nvPicPr>
          <p:cNvPr id="4" name="Picture 6" descr="http://www.gametheory.net/images/popular/Chicken/Rebel3.jpg"/>
          <p:cNvPicPr>
            <a:picLocks noChangeAspect="1" noChangeArrowheads="1"/>
          </p:cNvPicPr>
          <p:nvPr/>
        </p:nvPicPr>
        <p:blipFill>
          <a:blip r:embed="rId2" cstate="print"/>
          <a:srcRect/>
          <a:stretch>
            <a:fillRect/>
          </a:stretch>
        </p:blipFill>
        <p:spPr bwMode="auto">
          <a:xfrm>
            <a:off x="5940152" y="1131590"/>
            <a:ext cx="2945904" cy="1472952"/>
          </a:xfrm>
          <a:prstGeom prst="rect">
            <a:avLst/>
          </a:prstGeom>
          <a:noFill/>
        </p:spPr>
      </p:pic>
    </p:spTree>
    <p:extLst>
      <p:ext uri="{BB962C8B-B14F-4D97-AF65-F5344CB8AC3E}">
        <p14:creationId xmlns:p14="http://schemas.microsoft.com/office/powerpoint/2010/main" val="1741669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“We are both heading for the cliff, who jumps first, is the Chicken”</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8" name="Grafik 7" descr="IguanaTex_tmp.png"/>
          <p:cNvPicPr>
            <a:picLocks noChangeAspect="1"/>
          </p:cNvPicPr>
          <p:nvPr>
            <p:custDataLst>
              <p:tags r:id="rId1"/>
            </p:custDataLst>
          </p:nvPr>
        </p:nvPicPr>
        <p:blipFill>
          <a:blip r:embed="rId3" cstate="print"/>
          <a:stretch>
            <a:fillRect/>
          </a:stretch>
        </p:blipFill>
        <p:spPr>
          <a:xfrm>
            <a:off x="1763691" y="1177428"/>
            <a:ext cx="7044781" cy="3822815"/>
          </a:xfrm>
          <a:prstGeom prst="rect">
            <a:avLst/>
          </a:prstGeom>
          <a:noFill/>
          <a:ln/>
          <a:effectLst/>
        </p:spPr>
      </p:pic>
      <p:sp>
        <p:nvSpPr>
          <p:cNvPr id="6" name="Interaktive Schaltfläche: Film 5">
            <a:hlinkClick r:id="" action="ppaction://noaction" highlightClick="1"/>
          </p:cNvPr>
          <p:cNvSpPr/>
          <p:nvPr/>
        </p:nvSpPr>
        <p:spPr>
          <a:xfrm>
            <a:off x="251520" y="1131590"/>
            <a:ext cx="720080" cy="720080"/>
          </a:xfrm>
          <a:prstGeom prst="actionButtonMovi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feld 6"/>
          <p:cNvSpPr txBox="1"/>
          <p:nvPr/>
        </p:nvSpPr>
        <p:spPr>
          <a:xfrm>
            <a:off x="251520" y="1923678"/>
            <a:ext cx="1204176" cy="400110"/>
          </a:xfrm>
          <a:prstGeom prst="rect">
            <a:avLst/>
          </a:prstGeom>
          <a:noFill/>
        </p:spPr>
        <p:txBody>
          <a:bodyPr wrap="none" rtlCol="0">
            <a:spAutoFit/>
          </a:bodyPr>
          <a:lstStyle/>
          <a:p>
            <a:r>
              <a:rPr lang="en-US" sz="1000" dirty="0"/>
              <a:t>video.mp4</a:t>
            </a:r>
          </a:p>
          <a:p>
            <a:r>
              <a:rPr lang="en-US" sz="1000" dirty="0"/>
              <a:t>(approx. 4 minutes)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“We are both heading for the cliff, who jumps first, is the Chicken”</a:t>
            </a:r>
          </a:p>
        </p:txBody>
      </p:sp>
      <p:sp>
        <p:nvSpPr>
          <p:cNvPr id="3" name="Rechteck 2"/>
          <p:cNvSpPr/>
          <p:nvPr/>
        </p:nvSpPr>
        <p:spPr>
          <a:xfrm>
            <a:off x="3131840" y="1131590"/>
            <a:ext cx="5760640" cy="64807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0" name="Grafik 9" descr="IguanaTex_tmp.png"/>
          <p:cNvPicPr>
            <a:picLocks noChangeAspect="1"/>
          </p:cNvPicPr>
          <p:nvPr>
            <p:custDataLst>
              <p:tags r:id="rId1"/>
            </p:custDataLst>
          </p:nvPr>
        </p:nvPicPr>
        <p:blipFill>
          <a:blip r:embed="rId4" cstate="print"/>
          <a:stretch>
            <a:fillRect/>
          </a:stretch>
        </p:blipFill>
        <p:spPr>
          <a:xfrm>
            <a:off x="3203843" y="1203547"/>
            <a:ext cx="5632651" cy="455786"/>
          </a:xfrm>
          <a:prstGeom prst="rect">
            <a:avLst/>
          </a:prstGeom>
          <a:noFill/>
          <a:ln/>
          <a:effectLst/>
        </p:spPr>
      </p:pic>
      <p:sp>
        <p:nvSpPr>
          <p:cNvPr id="8" name="Rechteck 7"/>
          <p:cNvSpPr/>
          <p:nvPr/>
        </p:nvSpPr>
        <p:spPr>
          <a:xfrm>
            <a:off x="3131840" y="1923678"/>
            <a:ext cx="5760640" cy="3096344"/>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1" name="Grafik 10" descr="IguanaTex_tmp.png"/>
          <p:cNvPicPr>
            <a:picLocks noChangeAspect="1"/>
          </p:cNvPicPr>
          <p:nvPr>
            <p:custDataLst>
              <p:tags r:id="rId2"/>
            </p:custDataLst>
          </p:nvPr>
        </p:nvPicPr>
        <p:blipFill>
          <a:blip r:embed="rId5" cstate="print"/>
          <a:stretch>
            <a:fillRect/>
          </a:stretch>
        </p:blipFill>
        <p:spPr>
          <a:xfrm>
            <a:off x="3203844" y="1995635"/>
            <a:ext cx="5636309" cy="1690603"/>
          </a:xfrm>
          <a:prstGeom prst="rect">
            <a:avLst/>
          </a:prstGeom>
          <a:noFill/>
          <a:ln/>
          <a:effectLst/>
        </p:spPr>
      </p:pic>
      <p:pic>
        <p:nvPicPr>
          <p:cNvPr id="12" name="Picture 2" descr="http://www.gametheory.net/images/popular/Chicken/Rebel1.jpg"/>
          <p:cNvPicPr>
            <a:picLocks noChangeAspect="1" noChangeArrowheads="1"/>
          </p:cNvPicPr>
          <p:nvPr/>
        </p:nvPicPr>
        <p:blipFill>
          <a:blip r:embed="rId6" cstate="print"/>
          <a:srcRect/>
          <a:stretch>
            <a:fillRect/>
          </a:stretch>
        </p:blipFill>
        <p:spPr bwMode="auto">
          <a:xfrm>
            <a:off x="251520" y="1131590"/>
            <a:ext cx="2736304" cy="1368152"/>
          </a:xfrm>
          <a:prstGeom prst="rect">
            <a:avLst/>
          </a:prstGeom>
          <a:noFill/>
        </p:spPr>
      </p:pic>
      <p:pic>
        <p:nvPicPr>
          <p:cNvPr id="13" name="Picture 4" descr="http://www.gametheory.net/images/popular/Chicken/Rebel2.jpg"/>
          <p:cNvPicPr>
            <a:picLocks noChangeAspect="1" noChangeArrowheads="1"/>
          </p:cNvPicPr>
          <p:nvPr/>
        </p:nvPicPr>
        <p:blipFill>
          <a:blip r:embed="rId7" cstate="print"/>
          <a:srcRect/>
          <a:stretch>
            <a:fillRect/>
          </a:stretch>
        </p:blipFill>
        <p:spPr bwMode="auto">
          <a:xfrm>
            <a:off x="251520" y="2571750"/>
            <a:ext cx="2736304" cy="1368152"/>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“We are both heading for the cliff, who jumps first, is the Chicken”</a:t>
            </a:r>
          </a:p>
        </p:txBody>
      </p:sp>
      <p:sp>
        <p:nvSpPr>
          <p:cNvPr id="3" name="Rechteck 2"/>
          <p:cNvSpPr/>
          <p:nvPr/>
        </p:nvSpPr>
        <p:spPr>
          <a:xfrm>
            <a:off x="3131840" y="1131590"/>
            <a:ext cx="5760640" cy="172819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6" name="Grafik 5" descr="IguanaTex_tmp.png"/>
          <p:cNvPicPr>
            <a:picLocks noChangeAspect="1"/>
          </p:cNvPicPr>
          <p:nvPr>
            <p:custDataLst>
              <p:tags r:id="rId1"/>
            </p:custDataLst>
          </p:nvPr>
        </p:nvPicPr>
        <p:blipFill>
          <a:blip r:embed="rId4" cstate="print"/>
          <a:stretch>
            <a:fillRect/>
          </a:stretch>
        </p:blipFill>
        <p:spPr>
          <a:xfrm>
            <a:off x="3190781" y="1203547"/>
            <a:ext cx="5636528" cy="1369265"/>
          </a:xfrm>
          <a:prstGeom prst="rect">
            <a:avLst/>
          </a:prstGeom>
          <a:noFill/>
          <a:ln/>
          <a:effectLst/>
        </p:spPr>
      </p:pic>
      <p:sp>
        <p:nvSpPr>
          <p:cNvPr id="7" name="Rechteck 6"/>
          <p:cNvSpPr/>
          <p:nvPr/>
        </p:nvSpPr>
        <p:spPr>
          <a:xfrm>
            <a:off x="3131840" y="3291830"/>
            <a:ext cx="5760640" cy="172819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9" name="Grafik 8" descr="IguanaTex_tmp.png"/>
          <p:cNvPicPr>
            <a:picLocks noChangeAspect="1"/>
          </p:cNvPicPr>
          <p:nvPr>
            <p:custDataLst>
              <p:tags r:id="rId2"/>
            </p:custDataLst>
          </p:nvPr>
        </p:nvPicPr>
        <p:blipFill>
          <a:blip r:embed="rId5" cstate="print"/>
          <a:stretch>
            <a:fillRect/>
          </a:stretch>
        </p:blipFill>
        <p:spPr>
          <a:xfrm>
            <a:off x="3190781" y="3363787"/>
            <a:ext cx="5650462" cy="1283186"/>
          </a:xfrm>
          <a:prstGeom prst="rect">
            <a:avLst/>
          </a:prstGeom>
          <a:noFill/>
          <a:ln/>
          <a:effectLst/>
        </p:spPr>
      </p:pic>
      <p:pic>
        <p:nvPicPr>
          <p:cNvPr id="10" name="Picture 2" descr="http://www.gametheory.net/images/popular/Chicken/Rebel3.jpg"/>
          <p:cNvPicPr>
            <a:picLocks noChangeAspect="1" noChangeArrowheads="1"/>
          </p:cNvPicPr>
          <p:nvPr/>
        </p:nvPicPr>
        <p:blipFill>
          <a:blip r:embed="rId6" cstate="print"/>
          <a:srcRect/>
          <a:stretch>
            <a:fillRect/>
          </a:stretch>
        </p:blipFill>
        <p:spPr bwMode="auto">
          <a:xfrm>
            <a:off x="251520" y="1131590"/>
            <a:ext cx="2736304" cy="1368152"/>
          </a:xfrm>
          <a:prstGeom prst="rect">
            <a:avLst/>
          </a:prstGeom>
          <a:noFill/>
        </p:spPr>
      </p:pic>
      <p:pic>
        <p:nvPicPr>
          <p:cNvPr id="11" name="Picture 4" descr="http://www.gametheory.net/images/popular/Chicken/Rebel4.jpg"/>
          <p:cNvPicPr>
            <a:picLocks noChangeAspect="1" noChangeArrowheads="1"/>
          </p:cNvPicPr>
          <p:nvPr/>
        </p:nvPicPr>
        <p:blipFill>
          <a:blip r:embed="rId7" cstate="print"/>
          <a:srcRect/>
          <a:stretch>
            <a:fillRect/>
          </a:stretch>
        </p:blipFill>
        <p:spPr bwMode="auto">
          <a:xfrm>
            <a:off x="251520" y="2571750"/>
            <a:ext cx="2736304" cy="1368152"/>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payoff matrix of the chicken game …</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6" name="Grafik 5" descr="IguanaTex_tmp.png"/>
          <p:cNvPicPr>
            <a:picLocks noChangeAspect="1"/>
          </p:cNvPicPr>
          <p:nvPr>
            <p:custDataLst>
              <p:tags r:id="rId2"/>
            </p:custDataLst>
          </p:nvPr>
        </p:nvPicPr>
        <p:blipFill>
          <a:blip r:embed="rId4" cstate="print"/>
          <a:stretch>
            <a:fillRect/>
          </a:stretch>
        </p:blipFill>
        <p:spPr>
          <a:xfrm>
            <a:off x="3190781" y="1203546"/>
            <a:ext cx="5651682" cy="3035699"/>
          </a:xfrm>
          <a:prstGeom prst="rect">
            <a:avLst/>
          </a:prstGeom>
          <a:noFill/>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illustrates strategic market situations in oligopolies</a:t>
            </a:r>
          </a:p>
        </p:txBody>
      </p:sp>
      <p:graphicFrame>
        <p:nvGraphicFramePr>
          <p:cNvPr id="3" name="Tabelle 2"/>
          <p:cNvGraphicFramePr>
            <a:graphicFrameLocks noGrp="1"/>
          </p:cNvGraphicFramePr>
          <p:nvPr>
            <p:custDataLst>
              <p:tags r:id="rId1"/>
            </p:custDataLst>
          </p:nvPr>
        </p:nvGraphicFramePr>
        <p:xfrm>
          <a:off x="251520" y="3147814"/>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0" name="Grafik 9" descr="IguanaTex_tmp.png"/>
          <p:cNvPicPr>
            <a:picLocks noChangeAspect="1"/>
          </p:cNvPicPr>
          <p:nvPr>
            <p:custDataLst>
              <p:tags r:id="rId2"/>
            </p:custDataLst>
          </p:nvPr>
        </p:nvPicPr>
        <p:blipFill>
          <a:blip r:embed="rId4" cstate="print"/>
          <a:stretch>
            <a:fillRect/>
          </a:stretch>
        </p:blipFill>
        <p:spPr>
          <a:xfrm>
            <a:off x="3190779" y="1203546"/>
            <a:ext cx="5648048" cy="3679106"/>
          </a:xfrm>
          <a:prstGeom prst="rect">
            <a:avLst/>
          </a:prstGeom>
          <a:noFill/>
          <a:ln/>
          <a:effectLst/>
        </p:spPr>
      </p:pic>
      <p:pic>
        <p:nvPicPr>
          <p:cNvPr id="11" name="Picture 2" descr="http://www.shangbao.net.cn/uploads/allimg/120627/20-12062F943512H.jpg"/>
          <p:cNvPicPr>
            <a:picLocks noChangeAspect="1" noChangeArrowheads="1"/>
          </p:cNvPicPr>
          <p:nvPr/>
        </p:nvPicPr>
        <p:blipFill>
          <a:blip r:embed="rId5" cstate="print"/>
          <a:srcRect/>
          <a:stretch>
            <a:fillRect/>
          </a:stretch>
        </p:blipFill>
        <p:spPr bwMode="auto">
          <a:xfrm>
            <a:off x="251520" y="1131590"/>
            <a:ext cx="2664296" cy="1822379"/>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As both players lack a strictly dominant strategy, the chicken game has no equilibrium in dominant strategies …</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6" name="Grafik 5" descr="IguanaTex_tmp.png"/>
          <p:cNvPicPr>
            <a:picLocks noChangeAspect="1"/>
          </p:cNvPicPr>
          <p:nvPr>
            <p:custDataLst>
              <p:tags r:id="rId2"/>
            </p:custDataLst>
          </p:nvPr>
        </p:nvPicPr>
        <p:blipFill>
          <a:blip r:embed="rId5" cstate="print"/>
          <a:stretch>
            <a:fillRect/>
          </a:stretch>
        </p:blipFill>
        <p:spPr>
          <a:xfrm>
            <a:off x="3190780" y="1203545"/>
            <a:ext cx="5656293" cy="3302092"/>
          </a:xfrm>
          <a:prstGeom prst="rect">
            <a:avLst/>
          </a:prstGeom>
          <a:noFill/>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but it has two Nash </a:t>
            </a:r>
            <a:r>
              <a:rPr lang="en-US" dirty="0" err="1"/>
              <a:t>equilibria</a:t>
            </a:r>
            <a:r>
              <a:rPr lang="en-US" dirty="0"/>
              <a:t> in pure strategies</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8" name="Grafik 7" descr="IguanaTex_tmp.png"/>
          <p:cNvPicPr>
            <a:picLocks noChangeAspect="1"/>
          </p:cNvPicPr>
          <p:nvPr>
            <p:custDataLst>
              <p:tags r:id="rId2"/>
            </p:custDataLst>
          </p:nvPr>
        </p:nvPicPr>
        <p:blipFill>
          <a:blip r:embed="rId5" cstate="print"/>
          <a:stretch>
            <a:fillRect/>
          </a:stretch>
        </p:blipFill>
        <p:spPr>
          <a:xfrm>
            <a:off x="3190780" y="1203546"/>
            <a:ext cx="5655693" cy="3643911"/>
          </a:xfrm>
          <a:prstGeom prst="rect">
            <a:avLst/>
          </a:prstGeom>
          <a:noFill/>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Why are (defensive, defensive) and (aggressive, aggressive) no Nash </a:t>
            </a:r>
            <a:r>
              <a:rPr lang="en-US" dirty="0" err="1"/>
              <a:t>equilibria</a:t>
            </a:r>
            <a:r>
              <a:rPr lang="en-US" dirty="0"/>
              <a:t>?</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6" name="Grafik 5" descr="IguanaTex_tmp.png"/>
          <p:cNvPicPr>
            <a:picLocks noChangeAspect="1"/>
          </p:cNvPicPr>
          <p:nvPr>
            <p:custDataLst>
              <p:tags r:id="rId2"/>
            </p:custDataLst>
          </p:nvPr>
        </p:nvPicPr>
        <p:blipFill>
          <a:blip r:embed="rId4" cstate="print"/>
          <a:stretch>
            <a:fillRect/>
          </a:stretch>
        </p:blipFill>
        <p:spPr>
          <a:xfrm>
            <a:off x="3190780" y="1203547"/>
            <a:ext cx="5642778" cy="3333191"/>
          </a:xfrm>
          <a:prstGeom prst="rect">
            <a:avLst/>
          </a:prstGeom>
          <a:noFill/>
          <a:ln/>
          <a:effectLst/>
        </p:spPr>
      </p:pic>
      <p:cxnSp>
        <p:nvCxnSpPr>
          <p:cNvPr id="8" name="Gerade Verbindung mit Pfeil 7"/>
          <p:cNvCxnSpPr/>
          <p:nvPr/>
        </p:nvCxnSpPr>
        <p:spPr>
          <a:xfrm>
            <a:off x="1835696" y="1995686"/>
            <a:ext cx="360040" cy="0"/>
          </a:xfrm>
          <a:prstGeom prst="straightConnector1">
            <a:avLst/>
          </a:prstGeom>
          <a:no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Gerade Verbindung mit Pfeil 9"/>
          <p:cNvCxnSpPr/>
          <p:nvPr/>
        </p:nvCxnSpPr>
        <p:spPr>
          <a:xfrm rot="5400000">
            <a:off x="1655676" y="2175706"/>
            <a:ext cx="360040" cy="0"/>
          </a:xfrm>
          <a:prstGeom prst="straightConnector1">
            <a:avLst/>
          </a:pr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Summary:</a:t>
            </a:r>
            <a:br>
              <a:rPr lang="en-US" dirty="0"/>
            </a:br>
            <a:r>
              <a:rPr lang="en-US" dirty="0"/>
              <a:t>What does the chicken game tell us so far?</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7" name="Grafik 6" descr="IguanaTex_tmp.png"/>
          <p:cNvPicPr>
            <a:picLocks noChangeAspect="1"/>
          </p:cNvPicPr>
          <p:nvPr>
            <p:custDataLst>
              <p:tags r:id="rId2"/>
            </p:custDataLst>
          </p:nvPr>
        </p:nvPicPr>
        <p:blipFill>
          <a:blip r:embed="rId5" cstate="print"/>
          <a:stretch>
            <a:fillRect/>
          </a:stretch>
        </p:blipFill>
        <p:spPr>
          <a:xfrm>
            <a:off x="3190781" y="1203546"/>
            <a:ext cx="5645329" cy="3641121"/>
          </a:xfrm>
          <a:prstGeom prst="rect">
            <a:avLst/>
          </a:prstGeom>
          <a:noFill/>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What happens when we take “strategic time” into account and consider the Chicken Game as a sequential game? (1/ 2)</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defensive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aggressive</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4" name="Gruppieren 3"/>
          <p:cNvGrpSpPr/>
          <p:nvPr/>
        </p:nvGrpSpPr>
        <p:grpSpPr>
          <a:xfrm>
            <a:off x="4355976" y="1131590"/>
            <a:ext cx="4631339" cy="3046028"/>
            <a:chOff x="1534964" y="1196975"/>
            <a:chExt cx="5504439" cy="3620265"/>
          </a:xfrm>
        </p:grpSpPr>
        <p:sp>
          <p:nvSpPr>
            <p:cNvPr id="5" name="Ellipse 4"/>
            <p:cNvSpPr/>
            <p:nvPr/>
          </p:nvSpPr>
          <p:spPr>
            <a:xfrm>
              <a:off x="1534964" y="2613470"/>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rPr>
                <a:t>1</a:t>
              </a:r>
            </a:p>
          </p:txBody>
        </p:sp>
        <p:sp>
          <p:nvSpPr>
            <p:cNvPr id="6" name="Ellipse 5"/>
            <p:cNvSpPr/>
            <p:nvPr/>
          </p:nvSpPr>
          <p:spPr>
            <a:xfrm>
              <a:off x="5688257" y="1196975"/>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Ellipse 6"/>
            <p:cNvSpPr/>
            <p:nvPr/>
          </p:nvSpPr>
          <p:spPr>
            <a:xfrm>
              <a:off x="5688257" y="2073543"/>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Ellipse 7"/>
            <p:cNvSpPr/>
            <p:nvPr/>
          </p:nvSpPr>
          <p:spPr>
            <a:xfrm>
              <a:off x="5688257" y="3356776"/>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Ellipse 8"/>
            <p:cNvSpPr/>
            <p:nvPr/>
          </p:nvSpPr>
          <p:spPr>
            <a:xfrm>
              <a:off x="5688257" y="4233344"/>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Ellipse 9"/>
            <p:cNvSpPr/>
            <p:nvPr/>
          </p:nvSpPr>
          <p:spPr>
            <a:xfrm>
              <a:off x="3416758" y="3795060"/>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rPr>
                <a:t>2</a:t>
              </a:r>
            </a:p>
          </p:txBody>
        </p:sp>
        <p:sp>
          <p:nvSpPr>
            <p:cNvPr id="11" name="Ellipse 10"/>
            <p:cNvSpPr/>
            <p:nvPr/>
          </p:nvSpPr>
          <p:spPr>
            <a:xfrm>
              <a:off x="3416758" y="1635259"/>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rPr>
                <a:t>2</a:t>
              </a:r>
            </a:p>
          </p:txBody>
        </p:sp>
        <p:cxnSp>
          <p:nvCxnSpPr>
            <p:cNvPr id="12" name="Gerade Verbindung 11"/>
            <p:cNvCxnSpPr>
              <a:stCxn id="5" idx="7"/>
              <a:endCxn id="11" idx="2"/>
            </p:cNvCxnSpPr>
            <p:nvPr/>
          </p:nvCxnSpPr>
          <p:spPr>
            <a:xfrm flipV="1">
              <a:off x="1995820" y="1905223"/>
              <a:ext cx="1420938" cy="78731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 name="Gerade Verbindung 12"/>
            <p:cNvCxnSpPr>
              <a:stCxn id="5" idx="5"/>
              <a:endCxn id="10" idx="2"/>
            </p:cNvCxnSpPr>
            <p:nvPr/>
          </p:nvCxnSpPr>
          <p:spPr>
            <a:xfrm>
              <a:off x="1995820" y="3074327"/>
              <a:ext cx="1420938" cy="99069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4" name="Gerade Verbindung 13"/>
            <p:cNvCxnSpPr>
              <a:stCxn id="11" idx="6"/>
              <a:endCxn id="7" idx="2"/>
            </p:cNvCxnSpPr>
            <p:nvPr/>
          </p:nvCxnSpPr>
          <p:spPr>
            <a:xfrm>
              <a:off x="3956685" y="1905223"/>
              <a:ext cx="1731572" cy="43828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5" name="Gerade Verbindung 14"/>
            <p:cNvCxnSpPr>
              <a:stCxn id="11" idx="6"/>
              <a:endCxn id="6" idx="2"/>
            </p:cNvCxnSpPr>
            <p:nvPr/>
          </p:nvCxnSpPr>
          <p:spPr>
            <a:xfrm flipV="1">
              <a:off x="3956685" y="1466939"/>
              <a:ext cx="1731572" cy="43828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 Verbindung 15"/>
            <p:cNvCxnSpPr>
              <a:stCxn id="10" idx="6"/>
              <a:endCxn id="8" idx="2"/>
            </p:cNvCxnSpPr>
            <p:nvPr/>
          </p:nvCxnSpPr>
          <p:spPr>
            <a:xfrm flipV="1">
              <a:off x="3956685" y="3626740"/>
              <a:ext cx="1731572" cy="43828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7" name="Gerade Verbindung 16"/>
            <p:cNvCxnSpPr>
              <a:stCxn id="10" idx="6"/>
              <a:endCxn id="9" idx="2"/>
            </p:cNvCxnSpPr>
            <p:nvPr/>
          </p:nvCxnSpPr>
          <p:spPr>
            <a:xfrm>
              <a:off x="3956685" y="4065024"/>
              <a:ext cx="1731572" cy="43828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3520259" y="2288143"/>
              <a:ext cx="332927" cy="354728"/>
            </a:xfrm>
            <a:prstGeom prst="rect">
              <a:avLst/>
            </a:prstGeom>
            <a:noFill/>
          </p:spPr>
          <p:txBody>
            <a:bodyPr wrap="none" rtlCol="0">
              <a:spAutoFit/>
            </a:bodyPr>
            <a:lstStyle/>
            <a:p>
              <a:pPr algn="ctr"/>
              <a:r>
                <a:rPr lang="en-US" sz="1400" dirty="0"/>
                <a:t>A</a:t>
              </a:r>
            </a:p>
          </p:txBody>
        </p:sp>
        <p:sp>
          <p:nvSpPr>
            <p:cNvPr id="19" name="Textfeld 18"/>
            <p:cNvSpPr txBox="1"/>
            <p:nvPr/>
          </p:nvSpPr>
          <p:spPr>
            <a:xfrm>
              <a:off x="3523954" y="4462512"/>
              <a:ext cx="325537" cy="354728"/>
            </a:xfrm>
            <a:prstGeom prst="rect">
              <a:avLst/>
            </a:prstGeom>
            <a:noFill/>
          </p:spPr>
          <p:txBody>
            <a:bodyPr wrap="none" rtlCol="0">
              <a:spAutoFit/>
            </a:bodyPr>
            <a:lstStyle/>
            <a:p>
              <a:pPr algn="ctr"/>
              <a:r>
                <a:rPr lang="en-US" sz="1400" dirty="0"/>
                <a:t>B</a:t>
              </a:r>
            </a:p>
          </p:txBody>
        </p:sp>
        <p:sp>
          <p:nvSpPr>
            <p:cNvPr id="20" name="Textfeld 19"/>
            <p:cNvSpPr txBox="1"/>
            <p:nvPr/>
          </p:nvSpPr>
          <p:spPr>
            <a:xfrm>
              <a:off x="2195736" y="1933576"/>
              <a:ext cx="434541" cy="354728"/>
            </a:xfrm>
            <a:prstGeom prst="rect">
              <a:avLst/>
            </a:prstGeom>
            <a:noFill/>
          </p:spPr>
          <p:txBody>
            <a:bodyPr wrap="none" rtlCol="0">
              <a:spAutoFit/>
            </a:bodyPr>
            <a:lstStyle/>
            <a:p>
              <a:r>
                <a:rPr lang="en-US" sz="1400" dirty="0"/>
                <a:t>s</a:t>
              </a:r>
              <a:r>
                <a:rPr lang="en-US" sz="1400" baseline="-25000" dirty="0"/>
                <a:t>12</a:t>
              </a:r>
            </a:p>
          </p:txBody>
        </p:sp>
        <p:sp>
          <p:nvSpPr>
            <p:cNvPr id="21" name="Textfeld 20"/>
            <p:cNvSpPr txBox="1"/>
            <p:nvPr/>
          </p:nvSpPr>
          <p:spPr>
            <a:xfrm>
              <a:off x="2207149" y="3551024"/>
              <a:ext cx="434541" cy="354728"/>
            </a:xfrm>
            <a:prstGeom prst="rect">
              <a:avLst/>
            </a:prstGeom>
            <a:noFill/>
          </p:spPr>
          <p:txBody>
            <a:bodyPr wrap="none" rtlCol="0">
              <a:spAutoFit/>
            </a:bodyPr>
            <a:lstStyle/>
            <a:p>
              <a:r>
                <a:rPr lang="en-US" sz="1400" dirty="0"/>
                <a:t>s</a:t>
              </a:r>
              <a:r>
                <a:rPr lang="en-US" sz="1400" baseline="-25000" dirty="0"/>
                <a:t>11</a:t>
              </a:r>
            </a:p>
          </p:txBody>
        </p:sp>
        <p:sp>
          <p:nvSpPr>
            <p:cNvPr id="22" name="Textfeld 21"/>
            <p:cNvSpPr txBox="1"/>
            <p:nvPr/>
          </p:nvSpPr>
          <p:spPr>
            <a:xfrm>
              <a:off x="4572001" y="3420031"/>
              <a:ext cx="434541" cy="354728"/>
            </a:xfrm>
            <a:prstGeom prst="rect">
              <a:avLst/>
            </a:prstGeom>
            <a:noFill/>
          </p:spPr>
          <p:txBody>
            <a:bodyPr wrap="none" rtlCol="0">
              <a:spAutoFit/>
            </a:bodyPr>
            <a:lstStyle/>
            <a:p>
              <a:r>
                <a:rPr lang="en-US" sz="1400" dirty="0"/>
                <a:t>s</a:t>
              </a:r>
              <a:r>
                <a:rPr lang="en-US" sz="1400" baseline="-25000" dirty="0"/>
                <a:t>22</a:t>
              </a:r>
            </a:p>
          </p:txBody>
        </p:sp>
        <p:sp>
          <p:nvSpPr>
            <p:cNvPr id="23" name="Textfeld 22"/>
            <p:cNvSpPr txBox="1"/>
            <p:nvPr/>
          </p:nvSpPr>
          <p:spPr>
            <a:xfrm>
              <a:off x="4572001" y="4339703"/>
              <a:ext cx="434541" cy="354728"/>
            </a:xfrm>
            <a:prstGeom prst="rect">
              <a:avLst/>
            </a:prstGeom>
            <a:noFill/>
          </p:spPr>
          <p:txBody>
            <a:bodyPr wrap="none" rtlCol="0">
              <a:spAutoFit/>
            </a:bodyPr>
            <a:lstStyle/>
            <a:p>
              <a:r>
                <a:rPr lang="en-US" sz="1400" dirty="0"/>
                <a:t>s</a:t>
              </a:r>
              <a:r>
                <a:rPr lang="en-US" sz="1400" baseline="-25000" dirty="0"/>
                <a:t>21</a:t>
              </a:r>
            </a:p>
          </p:txBody>
        </p:sp>
        <p:sp>
          <p:nvSpPr>
            <p:cNvPr id="24" name="Textfeld 23"/>
            <p:cNvSpPr txBox="1"/>
            <p:nvPr/>
          </p:nvSpPr>
          <p:spPr>
            <a:xfrm>
              <a:off x="4572001" y="1275898"/>
              <a:ext cx="434541" cy="354728"/>
            </a:xfrm>
            <a:prstGeom prst="rect">
              <a:avLst/>
            </a:prstGeom>
            <a:noFill/>
          </p:spPr>
          <p:txBody>
            <a:bodyPr wrap="none" rtlCol="0">
              <a:spAutoFit/>
            </a:bodyPr>
            <a:lstStyle/>
            <a:p>
              <a:r>
                <a:rPr lang="en-US" sz="1400" dirty="0"/>
                <a:t>s</a:t>
              </a:r>
              <a:r>
                <a:rPr lang="en-US" sz="1400" baseline="-25000" dirty="0"/>
                <a:t>22</a:t>
              </a:r>
            </a:p>
          </p:txBody>
        </p:sp>
        <p:sp>
          <p:nvSpPr>
            <p:cNvPr id="25" name="Textfeld 24"/>
            <p:cNvSpPr txBox="1"/>
            <p:nvPr/>
          </p:nvSpPr>
          <p:spPr>
            <a:xfrm>
              <a:off x="4572001" y="2195572"/>
              <a:ext cx="434541" cy="354728"/>
            </a:xfrm>
            <a:prstGeom prst="rect">
              <a:avLst/>
            </a:prstGeom>
            <a:noFill/>
          </p:spPr>
          <p:txBody>
            <a:bodyPr wrap="none" rtlCol="0">
              <a:spAutoFit/>
            </a:bodyPr>
            <a:lstStyle/>
            <a:p>
              <a:r>
                <a:rPr lang="en-US" sz="1400" dirty="0"/>
                <a:t>s</a:t>
              </a:r>
              <a:r>
                <a:rPr lang="en-US" sz="1400" baseline="-25000" dirty="0"/>
                <a:t>21</a:t>
              </a:r>
            </a:p>
          </p:txBody>
        </p:sp>
        <p:sp>
          <p:nvSpPr>
            <p:cNvPr id="26" name="Textfeld 25"/>
            <p:cNvSpPr txBox="1"/>
            <p:nvPr/>
          </p:nvSpPr>
          <p:spPr>
            <a:xfrm>
              <a:off x="6372201" y="1285875"/>
              <a:ext cx="667202" cy="365799"/>
            </a:xfrm>
            <a:prstGeom prst="rect">
              <a:avLst/>
            </a:prstGeom>
            <a:noFill/>
          </p:spPr>
          <p:txBody>
            <a:bodyPr wrap="none" rtlCol="0">
              <a:spAutoFit/>
            </a:bodyPr>
            <a:lstStyle/>
            <a:p>
              <a:r>
                <a:rPr lang="en-US" sz="1400" dirty="0"/>
                <a:t>(</a:t>
              </a:r>
              <a:r>
                <a:rPr lang="en-US" sz="1400" dirty="0">
                  <a:solidFill>
                    <a:schemeClr val="tx2"/>
                  </a:solidFill>
                </a:rPr>
                <a:t>0</a:t>
              </a:r>
              <a:r>
                <a:rPr lang="en-US" sz="1400" dirty="0"/>
                <a:t>, </a:t>
              </a:r>
              <a:r>
                <a:rPr lang="en-US" sz="1400" dirty="0">
                  <a:solidFill>
                    <a:srgbClr val="C00000"/>
                  </a:solidFill>
                </a:rPr>
                <a:t>0</a:t>
              </a:r>
              <a:r>
                <a:rPr lang="en-US" sz="1400" dirty="0"/>
                <a:t>)</a:t>
              </a:r>
            </a:p>
          </p:txBody>
        </p:sp>
        <p:sp>
          <p:nvSpPr>
            <p:cNvPr id="27" name="Textfeld 26"/>
            <p:cNvSpPr txBox="1"/>
            <p:nvPr/>
          </p:nvSpPr>
          <p:spPr>
            <a:xfrm>
              <a:off x="6372201" y="2158839"/>
              <a:ext cx="667202" cy="365799"/>
            </a:xfrm>
            <a:prstGeom prst="rect">
              <a:avLst/>
            </a:prstGeom>
            <a:noFill/>
          </p:spPr>
          <p:txBody>
            <a:bodyPr wrap="none" rtlCol="0">
              <a:spAutoFit/>
            </a:bodyPr>
            <a:lstStyle/>
            <a:p>
              <a:r>
                <a:rPr lang="en-US" sz="1400" dirty="0"/>
                <a:t>(</a:t>
              </a:r>
              <a:r>
                <a:rPr lang="en-US" sz="1400" dirty="0">
                  <a:solidFill>
                    <a:schemeClr val="tx2"/>
                  </a:solidFill>
                </a:rPr>
                <a:t>3</a:t>
              </a:r>
              <a:r>
                <a:rPr lang="en-US" sz="1400" dirty="0"/>
                <a:t>, </a:t>
              </a:r>
              <a:r>
                <a:rPr lang="en-US" sz="1400" dirty="0">
                  <a:solidFill>
                    <a:srgbClr val="C00000"/>
                  </a:solidFill>
                </a:rPr>
                <a:t>1</a:t>
              </a:r>
              <a:r>
                <a:rPr lang="en-US" sz="1400" dirty="0"/>
                <a:t>)</a:t>
              </a:r>
            </a:p>
          </p:txBody>
        </p:sp>
        <p:sp>
          <p:nvSpPr>
            <p:cNvPr id="28" name="Textfeld 27"/>
            <p:cNvSpPr txBox="1"/>
            <p:nvPr/>
          </p:nvSpPr>
          <p:spPr>
            <a:xfrm>
              <a:off x="6372201" y="3442073"/>
              <a:ext cx="667202" cy="365799"/>
            </a:xfrm>
            <a:prstGeom prst="rect">
              <a:avLst/>
            </a:prstGeom>
            <a:noFill/>
          </p:spPr>
          <p:txBody>
            <a:bodyPr wrap="none" rtlCol="0">
              <a:spAutoFit/>
            </a:bodyPr>
            <a:lstStyle/>
            <a:p>
              <a:r>
                <a:rPr lang="en-US" sz="1400" dirty="0"/>
                <a:t>(</a:t>
              </a:r>
              <a:r>
                <a:rPr lang="en-US" sz="1400" dirty="0">
                  <a:solidFill>
                    <a:schemeClr val="tx2"/>
                  </a:solidFill>
                </a:rPr>
                <a:t>1</a:t>
              </a:r>
              <a:r>
                <a:rPr lang="en-US" sz="1400" dirty="0"/>
                <a:t>, </a:t>
              </a:r>
              <a:r>
                <a:rPr lang="en-US" sz="1400" dirty="0">
                  <a:solidFill>
                    <a:srgbClr val="C00000"/>
                  </a:solidFill>
                </a:rPr>
                <a:t>3</a:t>
              </a:r>
              <a:r>
                <a:rPr lang="en-US" sz="1400" dirty="0"/>
                <a:t>)</a:t>
              </a:r>
            </a:p>
          </p:txBody>
        </p:sp>
        <p:sp>
          <p:nvSpPr>
            <p:cNvPr id="29" name="Textfeld 28"/>
            <p:cNvSpPr txBox="1"/>
            <p:nvPr/>
          </p:nvSpPr>
          <p:spPr>
            <a:xfrm>
              <a:off x="6372201" y="4318640"/>
              <a:ext cx="667202" cy="365799"/>
            </a:xfrm>
            <a:prstGeom prst="rect">
              <a:avLst/>
            </a:prstGeom>
            <a:noFill/>
          </p:spPr>
          <p:txBody>
            <a:bodyPr wrap="none" rtlCol="0">
              <a:spAutoFit/>
            </a:bodyPr>
            <a:lstStyle/>
            <a:p>
              <a:r>
                <a:rPr lang="en-US" sz="1400" dirty="0"/>
                <a:t>(</a:t>
              </a:r>
              <a:r>
                <a:rPr lang="en-US" sz="1400" dirty="0">
                  <a:solidFill>
                    <a:schemeClr val="tx2"/>
                  </a:solidFill>
                </a:rPr>
                <a:t>2</a:t>
              </a:r>
              <a:r>
                <a:rPr lang="en-US" sz="1400" dirty="0"/>
                <a:t>, </a:t>
              </a:r>
              <a:r>
                <a:rPr lang="en-US" sz="1400" dirty="0">
                  <a:solidFill>
                    <a:srgbClr val="C00000"/>
                  </a:solidFill>
                </a:rPr>
                <a:t>2</a:t>
              </a:r>
              <a:r>
                <a:rPr lang="en-US" sz="1400" dirty="0"/>
                <a:t>)</a:t>
              </a:r>
            </a:p>
          </p:txBody>
        </p:sp>
      </p:grpSp>
      <p:sp>
        <p:nvSpPr>
          <p:cNvPr id="30" name="Freeform 37"/>
          <p:cNvSpPr>
            <a:spLocks/>
          </p:cNvSpPr>
          <p:nvPr/>
        </p:nvSpPr>
        <p:spPr bwMode="auto">
          <a:xfrm rot="14864102" flipH="1">
            <a:off x="2472864" y="2005952"/>
            <a:ext cx="1155700" cy="2152650"/>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19050" cap="flat" cmpd="sng">
            <a:solidFill>
              <a:schemeClr val="tx1">
                <a:lumMod val="50000"/>
                <a:lumOff val="50000"/>
              </a:schemeClr>
            </a:solidFill>
            <a:prstDash val="solid"/>
            <a:round/>
            <a:headEnd type="none" w="med" len="med"/>
            <a:tailEnd type="none" w="med" len="med"/>
          </a:ln>
          <a:effectLst/>
        </p:spPr>
        <p:txBody>
          <a:bodyPr wrap="none" anchor="ctr"/>
          <a:lstStyle/>
          <a:p>
            <a:endParaRPr lang="en-US"/>
          </a:p>
        </p:txBody>
      </p:sp>
      <p:sp>
        <p:nvSpPr>
          <p:cNvPr id="31" name="Textfeld 30"/>
          <p:cNvSpPr txBox="1"/>
          <p:nvPr/>
        </p:nvSpPr>
        <p:spPr>
          <a:xfrm>
            <a:off x="251520" y="3651870"/>
            <a:ext cx="3600400" cy="954107"/>
          </a:xfrm>
          <a:prstGeom prst="rect">
            <a:avLst/>
          </a:prstGeom>
          <a:noFill/>
        </p:spPr>
        <p:txBody>
          <a:bodyPr wrap="square" rtlCol="0">
            <a:spAutoFit/>
          </a:bodyPr>
          <a:lstStyle/>
          <a:p>
            <a:pPr algn="ctr"/>
            <a:r>
              <a:rPr lang="en-US" sz="1400" dirty="0"/>
              <a:t>changing the representation  of the chicken game from the matrix form to its game tree with the sequential information that player 1 moves first</a:t>
            </a:r>
          </a:p>
        </p:txBody>
      </p:sp>
      <p:sp>
        <p:nvSpPr>
          <p:cNvPr id="32" name="Pfeil nach rechts 31"/>
          <p:cNvSpPr/>
          <p:nvPr/>
        </p:nvSpPr>
        <p:spPr>
          <a:xfrm>
            <a:off x="4283968" y="4371950"/>
            <a:ext cx="3960440" cy="576064"/>
          </a:xfrm>
          <a:prstGeom prst="rightArrow">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strategic time/ sequential structure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What happens when we take “strategic time” into account and consider the Chicken Game as a sequential game? (2/ 2)</a:t>
            </a:r>
          </a:p>
        </p:txBody>
      </p:sp>
      <p:grpSp>
        <p:nvGrpSpPr>
          <p:cNvPr id="4" name="Gruppieren 3"/>
          <p:cNvGrpSpPr/>
          <p:nvPr/>
        </p:nvGrpSpPr>
        <p:grpSpPr>
          <a:xfrm>
            <a:off x="323528" y="1131590"/>
            <a:ext cx="2483244" cy="2038400"/>
            <a:chOff x="1947796" y="921753"/>
            <a:chExt cx="4745605" cy="3895487"/>
          </a:xfrm>
        </p:grpSpPr>
        <p:sp>
          <p:nvSpPr>
            <p:cNvPr id="5" name="Ellipse 4"/>
            <p:cNvSpPr/>
            <p:nvPr/>
          </p:nvSpPr>
          <p:spPr>
            <a:xfrm>
              <a:off x="1947796" y="2613469"/>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rPr>
                <a:t>1</a:t>
              </a:r>
            </a:p>
          </p:txBody>
        </p:sp>
        <p:sp>
          <p:nvSpPr>
            <p:cNvPr id="6" name="Ellipse 5"/>
            <p:cNvSpPr/>
            <p:nvPr/>
          </p:nvSpPr>
          <p:spPr>
            <a:xfrm>
              <a:off x="5398586" y="1196975"/>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Ellipse 6"/>
            <p:cNvSpPr/>
            <p:nvPr/>
          </p:nvSpPr>
          <p:spPr>
            <a:xfrm>
              <a:off x="5398586" y="2073544"/>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Ellipse 7"/>
            <p:cNvSpPr/>
            <p:nvPr/>
          </p:nvSpPr>
          <p:spPr>
            <a:xfrm>
              <a:off x="5398586" y="3356776"/>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Ellipse 8"/>
            <p:cNvSpPr/>
            <p:nvPr/>
          </p:nvSpPr>
          <p:spPr>
            <a:xfrm>
              <a:off x="5398586" y="4233343"/>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Ellipse 9"/>
            <p:cNvSpPr/>
            <p:nvPr/>
          </p:nvSpPr>
          <p:spPr>
            <a:xfrm>
              <a:off x="3416758" y="3795060"/>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C00000"/>
                  </a:solidFill>
                </a:rPr>
                <a:t>2</a:t>
              </a:r>
            </a:p>
          </p:txBody>
        </p:sp>
        <p:sp>
          <p:nvSpPr>
            <p:cNvPr id="11" name="Ellipse 10"/>
            <p:cNvSpPr/>
            <p:nvPr/>
          </p:nvSpPr>
          <p:spPr>
            <a:xfrm>
              <a:off x="3416758" y="1635259"/>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C00000"/>
                  </a:solidFill>
                </a:rPr>
                <a:t>2</a:t>
              </a:r>
            </a:p>
          </p:txBody>
        </p:sp>
        <p:cxnSp>
          <p:nvCxnSpPr>
            <p:cNvPr id="12" name="Gerade Verbindung 11"/>
            <p:cNvCxnSpPr>
              <a:stCxn id="5" idx="7"/>
              <a:endCxn id="11" idx="2"/>
            </p:cNvCxnSpPr>
            <p:nvPr/>
          </p:nvCxnSpPr>
          <p:spPr>
            <a:xfrm flipV="1">
              <a:off x="2408654" y="1905224"/>
              <a:ext cx="1008106" cy="78731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 name="Gerade Verbindung 12"/>
            <p:cNvCxnSpPr>
              <a:stCxn id="5" idx="5"/>
              <a:endCxn id="10" idx="2"/>
            </p:cNvCxnSpPr>
            <p:nvPr/>
          </p:nvCxnSpPr>
          <p:spPr>
            <a:xfrm>
              <a:off x="2408654" y="3074327"/>
              <a:ext cx="1008106" cy="99069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4" name="Gerade Verbindung 13"/>
            <p:cNvCxnSpPr>
              <a:stCxn id="11" idx="6"/>
              <a:endCxn id="7" idx="2"/>
            </p:cNvCxnSpPr>
            <p:nvPr/>
          </p:nvCxnSpPr>
          <p:spPr>
            <a:xfrm>
              <a:off x="3956687" y="1905224"/>
              <a:ext cx="1441899" cy="43828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5" name="Gerade Verbindung 14"/>
            <p:cNvCxnSpPr>
              <a:stCxn id="11" idx="6"/>
              <a:endCxn id="6" idx="2"/>
            </p:cNvCxnSpPr>
            <p:nvPr/>
          </p:nvCxnSpPr>
          <p:spPr>
            <a:xfrm flipV="1">
              <a:off x="3956687" y="1466940"/>
              <a:ext cx="1441899" cy="43828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 Verbindung 15"/>
            <p:cNvCxnSpPr>
              <a:stCxn id="10" idx="6"/>
              <a:endCxn id="8" idx="2"/>
            </p:cNvCxnSpPr>
            <p:nvPr/>
          </p:nvCxnSpPr>
          <p:spPr>
            <a:xfrm flipV="1">
              <a:off x="3956687" y="3626741"/>
              <a:ext cx="1441899" cy="43828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7" name="Gerade Verbindung 16"/>
            <p:cNvCxnSpPr>
              <a:stCxn id="10" idx="6"/>
              <a:endCxn id="9" idx="2"/>
            </p:cNvCxnSpPr>
            <p:nvPr/>
          </p:nvCxnSpPr>
          <p:spPr>
            <a:xfrm>
              <a:off x="3956687" y="4065025"/>
              <a:ext cx="1441899" cy="43828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3520259" y="2288143"/>
              <a:ext cx="332927" cy="354728"/>
            </a:xfrm>
            <a:prstGeom prst="rect">
              <a:avLst/>
            </a:prstGeom>
            <a:noFill/>
          </p:spPr>
          <p:txBody>
            <a:bodyPr wrap="none" rtlCol="0">
              <a:spAutoFit/>
            </a:bodyPr>
            <a:lstStyle/>
            <a:p>
              <a:pPr algn="ctr"/>
              <a:r>
                <a:rPr lang="en-US" sz="1400" dirty="0"/>
                <a:t>A</a:t>
              </a:r>
            </a:p>
          </p:txBody>
        </p:sp>
        <p:sp>
          <p:nvSpPr>
            <p:cNvPr id="19" name="Textfeld 18"/>
            <p:cNvSpPr txBox="1"/>
            <p:nvPr/>
          </p:nvSpPr>
          <p:spPr>
            <a:xfrm>
              <a:off x="3523954" y="4462512"/>
              <a:ext cx="325537" cy="354728"/>
            </a:xfrm>
            <a:prstGeom prst="rect">
              <a:avLst/>
            </a:prstGeom>
            <a:noFill/>
          </p:spPr>
          <p:txBody>
            <a:bodyPr wrap="none" rtlCol="0">
              <a:spAutoFit/>
            </a:bodyPr>
            <a:lstStyle/>
            <a:p>
              <a:pPr algn="ctr"/>
              <a:r>
                <a:rPr lang="en-US" sz="1400" dirty="0"/>
                <a:t>B</a:t>
              </a:r>
            </a:p>
          </p:txBody>
        </p:sp>
        <p:sp>
          <p:nvSpPr>
            <p:cNvPr id="20" name="Textfeld 19"/>
            <p:cNvSpPr txBox="1"/>
            <p:nvPr/>
          </p:nvSpPr>
          <p:spPr>
            <a:xfrm>
              <a:off x="2195736" y="1933576"/>
              <a:ext cx="434541" cy="354728"/>
            </a:xfrm>
            <a:prstGeom prst="rect">
              <a:avLst/>
            </a:prstGeom>
            <a:noFill/>
          </p:spPr>
          <p:txBody>
            <a:bodyPr wrap="none" rtlCol="0">
              <a:spAutoFit/>
            </a:bodyPr>
            <a:lstStyle/>
            <a:p>
              <a:r>
                <a:rPr lang="en-US" sz="1400" dirty="0"/>
                <a:t>s</a:t>
              </a:r>
              <a:r>
                <a:rPr lang="en-US" sz="1400" baseline="-25000" dirty="0"/>
                <a:t>12</a:t>
              </a:r>
            </a:p>
          </p:txBody>
        </p:sp>
        <p:sp>
          <p:nvSpPr>
            <p:cNvPr id="21" name="Textfeld 20"/>
            <p:cNvSpPr txBox="1"/>
            <p:nvPr/>
          </p:nvSpPr>
          <p:spPr>
            <a:xfrm>
              <a:off x="2207149" y="3551024"/>
              <a:ext cx="434541" cy="354728"/>
            </a:xfrm>
            <a:prstGeom prst="rect">
              <a:avLst/>
            </a:prstGeom>
            <a:noFill/>
          </p:spPr>
          <p:txBody>
            <a:bodyPr wrap="none" rtlCol="0">
              <a:spAutoFit/>
            </a:bodyPr>
            <a:lstStyle/>
            <a:p>
              <a:r>
                <a:rPr lang="en-US" sz="1400" dirty="0"/>
                <a:t>s</a:t>
              </a:r>
              <a:r>
                <a:rPr lang="en-US" sz="1400" baseline="-25000" dirty="0"/>
                <a:t>11</a:t>
              </a:r>
            </a:p>
          </p:txBody>
        </p:sp>
        <p:sp>
          <p:nvSpPr>
            <p:cNvPr id="22" name="Textfeld 21"/>
            <p:cNvSpPr txBox="1"/>
            <p:nvPr/>
          </p:nvSpPr>
          <p:spPr>
            <a:xfrm>
              <a:off x="4572001" y="3123529"/>
              <a:ext cx="434540" cy="354727"/>
            </a:xfrm>
            <a:prstGeom prst="rect">
              <a:avLst/>
            </a:prstGeom>
            <a:noFill/>
          </p:spPr>
          <p:txBody>
            <a:bodyPr wrap="none" rtlCol="0">
              <a:spAutoFit/>
            </a:bodyPr>
            <a:lstStyle/>
            <a:p>
              <a:r>
                <a:rPr lang="en-US" sz="1400" dirty="0"/>
                <a:t>s</a:t>
              </a:r>
              <a:r>
                <a:rPr lang="en-US" sz="1400" baseline="-25000" dirty="0"/>
                <a:t>22</a:t>
              </a:r>
            </a:p>
          </p:txBody>
        </p:sp>
        <p:sp>
          <p:nvSpPr>
            <p:cNvPr id="23" name="Textfeld 22"/>
            <p:cNvSpPr txBox="1"/>
            <p:nvPr/>
          </p:nvSpPr>
          <p:spPr>
            <a:xfrm>
              <a:off x="4572001" y="4339703"/>
              <a:ext cx="434541" cy="354728"/>
            </a:xfrm>
            <a:prstGeom prst="rect">
              <a:avLst/>
            </a:prstGeom>
            <a:noFill/>
          </p:spPr>
          <p:txBody>
            <a:bodyPr wrap="none" rtlCol="0">
              <a:spAutoFit/>
            </a:bodyPr>
            <a:lstStyle/>
            <a:p>
              <a:r>
                <a:rPr lang="en-US" sz="1400" dirty="0"/>
                <a:t>s</a:t>
              </a:r>
              <a:r>
                <a:rPr lang="en-US" sz="1400" baseline="-25000" dirty="0"/>
                <a:t>21</a:t>
              </a:r>
            </a:p>
          </p:txBody>
        </p:sp>
        <p:sp>
          <p:nvSpPr>
            <p:cNvPr id="24" name="Textfeld 23"/>
            <p:cNvSpPr txBox="1"/>
            <p:nvPr/>
          </p:nvSpPr>
          <p:spPr>
            <a:xfrm>
              <a:off x="4572001" y="921753"/>
              <a:ext cx="434540" cy="354727"/>
            </a:xfrm>
            <a:prstGeom prst="rect">
              <a:avLst/>
            </a:prstGeom>
            <a:noFill/>
          </p:spPr>
          <p:txBody>
            <a:bodyPr wrap="none" rtlCol="0">
              <a:spAutoFit/>
            </a:bodyPr>
            <a:lstStyle/>
            <a:p>
              <a:r>
                <a:rPr lang="en-US" sz="1400" dirty="0"/>
                <a:t>s</a:t>
              </a:r>
              <a:r>
                <a:rPr lang="en-US" sz="1400" baseline="-25000" dirty="0"/>
                <a:t>22</a:t>
              </a:r>
            </a:p>
          </p:txBody>
        </p:sp>
        <p:sp>
          <p:nvSpPr>
            <p:cNvPr id="25" name="Textfeld 24"/>
            <p:cNvSpPr txBox="1"/>
            <p:nvPr/>
          </p:nvSpPr>
          <p:spPr>
            <a:xfrm>
              <a:off x="4572001" y="2195572"/>
              <a:ext cx="434541" cy="354728"/>
            </a:xfrm>
            <a:prstGeom prst="rect">
              <a:avLst/>
            </a:prstGeom>
            <a:noFill/>
          </p:spPr>
          <p:txBody>
            <a:bodyPr wrap="none" rtlCol="0">
              <a:spAutoFit/>
            </a:bodyPr>
            <a:lstStyle/>
            <a:p>
              <a:r>
                <a:rPr lang="en-US" sz="1400" dirty="0"/>
                <a:t>s</a:t>
              </a:r>
              <a:r>
                <a:rPr lang="en-US" sz="1400" baseline="-25000" dirty="0"/>
                <a:t>21</a:t>
              </a:r>
            </a:p>
          </p:txBody>
        </p:sp>
        <p:sp>
          <p:nvSpPr>
            <p:cNvPr id="26" name="Textfeld 25"/>
            <p:cNvSpPr txBox="1"/>
            <p:nvPr/>
          </p:nvSpPr>
          <p:spPr>
            <a:xfrm>
              <a:off x="6026200" y="1163482"/>
              <a:ext cx="667201" cy="365798"/>
            </a:xfrm>
            <a:prstGeom prst="rect">
              <a:avLst/>
            </a:prstGeom>
            <a:noFill/>
          </p:spPr>
          <p:txBody>
            <a:bodyPr wrap="none" rtlCol="0">
              <a:spAutoFit/>
            </a:bodyPr>
            <a:lstStyle/>
            <a:p>
              <a:r>
                <a:rPr lang="en-US" sz="1400" dirty="0"/>
                <a:t>(</a:t>
              </a:r>
              <a:r>
                <a:rPr lang="en-US" sz="1400" dirty="0">
                  <a:solidFill>
                    <a:schemeClr val="tx2"/>
                  </a:solidFill>
                </a:rPr>
                <a:t>0</a:t>
              </a:r>
              <a:r>
                <a:rPr lang="en-US" sz="1400" dirty="0"/>
                <a:t>, </a:t>
              </a:r>
              <a:r>
                <a:rPr lang="en-US" sz="1400" dirty="0">
                  <a:solidFill>
                    <a:srgbClr val="C00000"/>
                  </a:solidFill>
                </a:rPr>
                <a:t>0</a:t>
              </a:r>
              <a:r>
                <a:rPr lang="en-US" sz="1400" dirty="0"/>
                <a:t>)</a:t>
              </a:r>
            </a:p>
          </p:txBody>
        </p:sp>
        <p:sp>
          <p:nvSpPr>
            <p:cNvPr id="27" name="Textfeld 26"/>
            <p:cNvSpPr txBox="1"/>
            <p:nvPr/>
          </p:nvSpPr>
          <p:spPr>
            <a:xfrm>
              <a:off x="6026200" y="2036446"/>
              <a:ext cx="667201" cy="365798"/>
            </a:xfrm>
            <a:prstGeom prst="rect">
              <a:avLst/>
            </a:prstGeom>
            <a:noFill/>
          </p:spPr>
          <p:txBody>
            <a:bodyPr wrap="none" rtlCol="0">
              <a:spAutoFit/>
            </a:bodyPr>
            <a:lstStyle/>
            <a:p>
              <a:r>
                <a:rPr lang="en-US" sz="1400" dirty="0"/>
                <a:t>(</a:t>
              </a:r>
              <a:r>
                <a:rPr lang="en-US" sz="1400" dirty="0">
                  <a:solidFill>
                    <a:schemeClr val="tx2"/>
                  </a:solidFill>
                </a:rPr>
                <a:t>3</a:t>
              </a:r>
              <a:r>
                <a:rPr lang="en-US" sz="1400" dirty="0"/>
                <a:t>, </a:t>
              </a:r>
              <a:r>
                <a:rPr lang="en-US" sz="1400" dirty="0">
                  <a:solidFill>
                    <a:srgbClr val="C00000"/>
                  </a:solidFill>
                </a:rPr>
                <a:t>1</a:t>
              </a:r>
              <a:r>
                <a:rPr lang="en-US" sz="1400" dirty="0"/>
                <a:t>)</a:t>
              </a:r>
            </a:p>
          </p:txBody>
        </p:sp>
        <p:sp>
          <p:nvSpPr>
            <p:cNvPr id="28" name="Textfeld 27"/>
            <p:cNvSpPr txBox="1"/>
            <p:nvPr/>
          </p:nvSpPr>
          <p:spPr>
            <a:xfrm>
              <a:off x="6026200" y="3319679"/>
              <a:ext cx="667201" cy="365798"/>
            </a:xfrm>
            <a:prstGeom prst="rect">
              <a:avLst/>
            </a:prstGeom>
            <a:noFill/>
          </p:spPr>
          <p:txBody>
            <a:bodyPr wrap="none" rtlCol="0">
              <a:spAutoFit/>
            </a:bodyPr>
            <a:lstStyle/>
            <a:p>
              <a:r>
                <a:rPr lang="en-US" sz="1400" dirty="0"/>
                <a:t>(</a:t>
              </a:r>
              <a:r>
                <a:rPr lang="en-US" sz="1400" dirty="0">
                  <a:solidFill>
                    <a:schemeClr val="tx2"/>
                  </a:solidFill>
                </a:rPr>
                <a:t>1</a:t>
              </a:r>
              <a:r>
                <a:rPr lang="en-US" sz="1400" dirty="0"/>
                <a:t>, </a:t>
              </a:r>
              <a:r>
                <a:rPr lang="en-US" sz="1400" dirty="0">
                  <a:solidFill>
                    <a:srgbClr val="C00000"/>
                  </a:solidFill>
                </a:rPr>
                <a:t>3</a:t>
              </a:r>
              <a:r>
                <a:rPr lang="en-US" sz="1400" dirty="0"/>
                <a:t>)</a:t>
              </a:r>
            </a:p>
          </p:txBody>
        </p:sp>
        <p:sp>
          <p:nvSpPr>
            <p:cNvPr id="29" name="Textfeld 28"/>
            <p:cNvSpPr txBox="1"/>
            <p:nvPr/>
          </p:nvSpPr>
          <p:spPr>
            <a:xfrm>
              <a:off x="6026200" y="4196246"/>
              <a:ext cx="667201" cy="365798"/>
            </a:xfrm>
            <a:prstGeom prst="rect">
              <a:avLst/>
            </a:prstGeom>
            <a:noFill/>
          </p:spPr>
          <p:txBody>
            <a:bodyPr wrap="none" rtlCol="0">
              <a:spAutoFit/>
            </a:bodyPr>
            <a:lstStyle/>
            <a:p>
              <a:r>
                <a:rPr lang="en-US" sz="1400" dirty="0"/>
                <a:t>(</a:t>
              </a:r>
              <a:r>
                <a:rPr lang="en-US" sz="1400" dirty="0">
                  <a:solidFill>
                    <a:schemeClr val="tx2"/>
                  </a:solidFill>
                </a:rPr>
                <a:t>2</a:t>
              </a:r>
              <a:r>
                <a:rPr lang="en-US" sz="1400" dirty="0"/>
                <a:t>, </a:t>
              </a:r>
              <a:r>
                <a:rPr lang="en-US" sz="1400" dirty="0">
                  <a:solidFill>
                    <a:srgbClr val="C00000"/>
                  </a:solidFill>
                </a:rPr>
                <a:t>2</a:t>
              </a:r>
              <a:r>
                <a:rPr lang="en-US" sz="1400" dirty="0"/>
                <a:t>)</a:t>
              </a:r>
            </a:p>
          </p:txBody>
        </p:sp>
      </p:grpSp>
      <p:grpSp>
        <p:nvGrpSpPr>
          <p:cNvPr id="35" name="Gruppieren 34"/>
          <p:cNvGrpSpPr/>
          <p:nvPr/>
        </p:nvGrpSpPr>
        <p:grpSpPr>
          <a:xfrm>
            <a:off x="3491880" y="1491630"/>
            <a:ext cx="2695488" cy="1678360"/>
            <a:chOff x="1947796" y="1609808"/>
            <a:chExt cx="5151214" cy="3207432"/>
          </a:xfrm>
        </p:grpSpPr>
        <p:sp>
          <p:nvSpPr>
            <p:cNvPr id="36" name="Ellipse 35"/>
            <p:cNvSpPr/>
            <p:nvPr/>
          </p:nvSpPr>
          <p:spPr>
            <a:xfrm>
              <a:off x="1947796" y="2613469"/>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rPr>
                <a:t>1</a:t>
              </a:r>
            </a:p>
          </p:txBody>
        </p:sp>
        <p:sp>
          <p:nvSpPr>
            <p:cNvPr id="38" name="Ellipse 37"/>
            <p:cNvSpPr/>
            <p:nvPr/>
          </p:nvSpPr>
          <p:spPr>
            <a:xfrm>
              <a:off x="5398586" y="1635259"/>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Ellipse 39"/>
            <p:cNvSpPr/>
            <p:nvPr/>
          </p:nvSpPr>
          <p:spPr>
            <a:xfrm>
              <a:off x="5398586" y="3795061"/>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Ellipse 40"/>
            <p:cNvSpPr/>
            <p:nvPr/>
          </p:nvSpPr>
          <p:spPr>
            <a:xfrm>
              <a:off x="3416758" y="3795061"/>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C00000"/>
                  </a:solidFill>
                </a:rPr>
                <a:t>2</a:t>
              </a:r>
            </a:p>
          </p:txBody>
        </p:sp>
        <p:sp>
          <p:nvSpPr>
            <p:cNvPr id="42" name="Ellipse 41"/>
            <p:cNvSpPr/>
            <p:nvPr/>
          </p:nvSpPr>
          <p:spPr>
            <a:xfrm>
              <a:off x="3416758" y="1635259"/>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C00000"/>
                  </a:solidFill>
                </a:rPr>
                <a:t>2</a:t>
              </a:r>
            </a:p>
          </p:txBody>
        </p:sp>
        <p:cxnSp>
          <p:nvCxnSpPr>
            <p:cNvPr id="43" name="Gerade Verbindung 42"/>
            <p:cNvCxnSpPr>
              <a:stCxn id="36" idx="7"/>
              <a:endCxn id="42" idx="2"/>
            </p:cNvCxnSpPr>
            <p:nvPr/>
          </p:nvCxnSpPr>
          <p:spPr>
            <a:xfrm flipV="1">
              <a:off x="2408654" y="1905224"/>
              <a:ext cx="1008104" cy="78731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Gerade Verbindung 43"/>
            <p:cNvCxnSpPr>
              <a:stCxn id="36" idx="5"/>
              <a:endCxn id="41" idx="2"/>
            </p:cNvCxnSpPr>
            <p:nvPr/>
          </p:nvCxnSpPr>
          <p:spPr>
            <a:xfrm>
              <a:off x="2408654" y="3074327"/>
              <a:ext cx="1008104" cy="99069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5" name="Gerade Verbindung 44"/>
            <p:cNvCxnSpPr>
              <a:stCxn id="42" idx="6"/>
              <a:endCxn id="38" idx="2"/>
            </p:cNvCxnSpPr>
            <p:nvPr/>
          </p:nvCxnSpPr>
          <p:spPr>
            <a:xfrm>
              <a:off x="3956685" y="1905224"/>
              <a:ext cx="1441901"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8" name="Gerade Verbindung 47"/>
            <p:cNvCxnSpPr>
              <a:stCxn id="41" idx="6"/>
              <a:endCxn id="40" idx="2"/>
            </p:cNvCxnSpPr>
            <p:nvPr/>
          </p:nvCxnSpPr>
          <p:spPr>
            <a:xfrm>
              <a:off x="3956685" y="4065025"/>
              <a:ext cx="1441901"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Textfeld 48"/>
            <p:cNvSpPr txBox="1"/>
            <p:nvPr/>
          </p:nvSpPr>
          <p:spPr>
            <a:xfrm>
              <a:off x="3520259" y="2288143"/>
              <a:ext cx="332927" cy="354728"/>
            </a:xfrm>
            <a:prstGeom prst="rect">
              <a:avLst/>
            </a:prstGeom>
            <a:noFill/>
          </p:spPr>
          <p:txBody>
            <a:bodyPr wrap="none" rtlCol="0">
              <a:spAutoFit/>
            </a:bodyPr>
            <a:lstStyle/>
            <a:p>
              <a:pPr algn="ctr"/>
              <a:r>
                <a:rPr lang="en-US" sz="1400" dirty="0"/>
                <a:t>A</a:t>
              </a:r>
            </a:p>
          </p:txBody>
        </p:sp>
        <p:sp>
          <p:nvSpPr>
            <p:cNvPr id="50" name="Textfeld 49"/>
            <p:cNvSpPr txBox="1"/>
            <p:nvPr/>
          </p:nvSpPr>
          <p:spPr>
            <a:xfrm>
              <a:off x="3523954" y="4462512"/>
              <a:ext cx="325537" cy="354728"/>
            </a:xfrm>
            <a:prstGeom prst="rect">
              <a:avLst/>
            </a:prstGeom>
            <a:noFill/>
          </p:spPr>
          <p:txBody>
            <a:bodyPr wrap="none" rtlCol="0">
              <a:spAutoFit/>
            </a:bodyPr>
            <a:lstStyle/>
            <a:p>
              <a:pPr algn="ctr"/>
              <a:r>
                <a:rPr lang="en-US" sz="1400" dirty="0"/>
                <a:t>B</a:t>
              </a:r>
            </a:p>
          </p:txBody>
        </p:sp>
        <p:sp>
          <p:nvSpPr>
            <p:cNvPr id="51" name="Textfeld 50"/>
            <p:cNvSpPr txBox="1"/>
            <p:nvPr/>
          </p:nvSpPr>
          <p:spPr>
            <a:xfrm>
              <a:off x="2195736" y="1933576"/>
              <a:ext cx="434541" cy="354728"/>
            </a:xfrm>
            <a:prstGeom prst="rect">
              <a:avLst/>
            </a:prstGeom>
            <a:noFill/>
          </p:spPr>
          <p:txBody>
            <a:bodyPr wrap="none" rtlCol="0">
              <a:spAutoFit/>
            </a:bodyPr>
            <a:lstStyle/>
            <a:p>
              <a:r>
                <a:rPr lang="en-US" sz="1400" dirty="0"/>
                <a:t>s</a:t>
              </a:r>
              <a:r>
                <a:rPr lang="en-US" sz="1400" baseline="-25000" dirty="0"/>
                <a:t>12</a:t>
              </a:r>
            </a:p>
          </p:txBody>
        </p:sp>
        <p:sp>
          <p:nvSpPr>
            <p:cNvPr id="52" name="Textfeld 51"/>
            <p:cNvSpPr txBox="1"/>
            <p:nvPr/>
          </p:nvSpPr>
          <p:spPr>
            <a:xfrm>
              <a:off x="2207149" y="3551024"/>
              <a:ext cx="434541" cy="354728"/>
            </a:xfrm>
            <a:prstGeom prst="rect">
              <a:avLst/>
            </a:prstGeom>
            <a:noFill/>
          </p:spPr>
          <p:txBody>
            <a:bodyPr wrap="none" rtlCol="0">
              <a:spAutoFit/>
            </a:bodyPr>
            <a:lstStyle/>
            <a:p>
              <a:r>
                <a:rPr lang="en-US" sz="1400" dirty="0"/>
                <a:t>s</a:t>
              </a:r>
              <a:r>
                <a:rPr lang="en-US" sz="1400" baseline="-25000" dirty="0"/>
                <a:t>11</a:t>
              </a:r>
            </a:p>
          </p:txBody>
        </p:sp>
        <p:sp>
          <p:nvSpPr>
            <p:cNvPr id="54" name="Textfeld 53"/>
            <p:cNvSpPr txBox="1"/>
            <p:nvPr/>
          </p:nvSpPr>
          <p:spPr>
            <a:xfrm>
              <a:off x="4572001" y="4144911"/>
              <a:ext cx="720516" cy="588178"/>
            </a:xfrm>
            <a:prstGeom prst="rect">
              <a:avLst/>
            </a:prstGeom>
            <a:noFill/>
          </p:spPr>
          <p:txBody>
            <a:bodyPr wrap="none" rtlCol="0">
              <a:spAutoFit/>
            </a:bodyPr>
            <a:lstStyle/>
            <a:p>
              <a:r>
                <a:rPr lang="en-US" sz="1400" dirty="0"/>
                <a:t>s</a:t>
              </a:r>
              <a:r>
                <a:rPr lang="en-US" sz="1400" baseline="-25000" dirty="0"/>
                <a:t>22</a:t>
              </a:r>
            </a:p>
          </p:txBody>
        </p:sp>
        <p:sp>
          <p:nvSpPr>
            <p:cNvPr id="56" name="Textfeld 55"/>
            <p:cNvSpPr txBox="1"/>
            <p:nvPr/>
          </p:nvSpPr>
          <p:spPr>
            <a:xfrm>
              <a:off x="4572001" y="2000780"/>
              <a:ext cx="434540" cy="354727"/>
            </a:xfrm>
            <a:prstGeom prst="rect">
              <a:avLst/>
            </a:prstGeom>
            <a:noFill/>
          </p:spPr>
          <p:txBody>
            <a:bodyPr wrap="none" rtlCol="0">
              <a:spAutoFit/>
            </a:bodyPr>
            <a:lstStyle/>
            <a:p>
              <a:r>
                <a:rPr lang="en-US" sz="1400" dirty="0"/>
                <a:t>s</a:t>
              </a:r>
              <a:r>
                <a:rPr lang="en-US" sz="1400" baseline="-25000" dirty="0"/>
                <a:t>21</a:t>
              </a:r>
            </a:p>
          </p:txBody>
        </p:sp>
        <p:sp>
          <p:nvSpPr>
            <p:cNvPr id="58" name="Textfeld 57"/>
            <p:cNvSpPr txBox="1"/>
            <p:nvPr/>
          </p:nvSpPr>
          <p:spPr>
            <a:xfrm>
              <a:off x="6026200" y="1609808"/>
              <a:ext cx="667201" cy="365798"/>
            </a:xfrm>
            <a:prstGeom prst="rect">
              <a:avLst/>
            </a:prstGeom>
            <a:noFill/>
          </p:spPr>
          <p:txBody>
            <a:bodyPr wrap="none" rtlCol="0">
              <a:spAutoFit/>
            </a:bodyPr>
            <a:lstStyle/>
            <a:p>
              <a:r>
                <a:rPr lang="en-US" sz="1400" dirty="0"/>
                <a:t>(</a:t>
              </a:r>
              <a:r>
                <a:rPr lang="en-US" sz="1400" dirty="0">
                  <a:solidFill>
                    <a:schemeClr val="tx2"/>
                  </a:solidFill>
                </a:rPr>
                <a:t>3</a:t>
              </a:r>
              <a:r>
                <a:rPr lang="en-US" sz="1400" dirty="0"/>
                <a:t>, </a:t>
              </a:r>
              <a:r>
                <a:rPr lang="en-US" sz="1400" dirty="0">
                  <a:solidFill>
                    <a:srgbClr val="C00000"/>
                  </a:solidFill>
                </a:rPr>
                <a:t>1</a:t>
              </a:r>
              <a:r>
                <a:rPr lang="en-US" sz="1400" dirty="0"/>
                <a:t>)</a:t>
              </a:r>
            </a:p>
          </p:txBody>
        </p:sp>
        <p:sp>
          <p:nvSpPr>
            <p:cNvPr id="60" name="Textfeld 59"/>
            <p:cNvSpPr txBox="1"/>
            <p:nvPr/>
          </p:nvSpPr>
          <p:spPr>
            <a:xfrm>
              <a:off x="6026200" y="3769607"/>
              <a:ext cx="1072810" cy="588178"/>
            </a:xfrm>
            <a:prstGeom prst="rect">
              <a:avLst/>
            </a:prstGeom>
            <a:noFill/>
          </p:spPr>
          <p:txBody>
            <a:bodyPr wrap="none" rtlCol="0">
              <a:spAutoFit/>
            </a:bodyPr>
            <a:lstStyle/>
            <a:p>
              <a:r>
                <a:rPr lang="en-US" sz="1400" dirty="0"/>
                <a:t>(</a:t>
              </a:r>
              <a:r>
                <a:rPr lang="en-US" sz="1400" dirty="0">
                  <a:solidFill>
                    <a:schemeClr val="tx2"/>
                  </a:solidFill>
                </a:rPr>
                <a:t>1</a:t>
              </a:r>
              <a:r>
                <a:rPr lang="en-US" sz="1400" dirty="0"/>
                <a:t>, </a:t>
              </a:r>
              <a:r>
                <a:rPr lang="en-US" sz="1400" dirty="0">
                  <a:solidFill>
                    <a:srgbClr val="C00000"/>
                  </a:solidFill>
                </a:rPr>
                <a:t>3</a:t>
              </a:r>
              <a:r>
                <a:rPr lang="en-US" sz="1400" dirty="0"/>
                <a:t>)</a:t>
              </a:r>
            </a:p>
          </p:txBody>
        </p:sp>
      </p:grpSp>
      <p:sp>
        <p:nvSpPr>
          <p:cNvPr id="61" name="Pfeil nach rechts 60"/>
          <p:cNvSpPr/>
          <p:nvPr/>
        </p:nvSpPr>
        <p:spPr>
          <a:xfrm>
            <a:off x="2411760" y="2035039"/>
            <a:ext cx="936104" cy="288032"/>
          </a:xfrm>
          <a:prstGeom prst="rightArrow">
            <a:avLst/>
          </a:prstGeom>
          <a:solidFill>
            <a:schemeClr val="bg1">
              <a:lumMod val="85000"/>
            </a:schemeClr>
          </a:solidFill>
          <a:ln w="19050" cap="flat" cmpd="sng">
            <a:solidFill>
              <a:schemeClr val="tx1">
                <a:lumMod val="50000"/>
                <a:lumOff val="50000"/>
              </a:schemeClr>
            </a:solidFill>
            <a:prstDash val="solid"/>
            <a:round/>
            <a:headEnd type="none" w="med" len="med"/>
            <a:tailEnd type="none" w="med" len="med"/>
          </a:ln>
          <a:effectLst/>
        </p:spPr>
        <p:txBody>
          <a:bodyPr wrap="none" anchor="ctr"/>
          <a:lstStyle/>
          <a:p>
            <a:endParaRPr lang="en-US" dirty="0">
              <a:solidFill>
                <a:schemeClr val="tx1"/>
              </a:solidFill>
            </a:endParaRPr>
          </a:p>
        </p:txBody>
      </p:sp>
      <p:grpSp>
        <p:nvGrpSpPr>
          <p:cNvPr id="62" name="Gruppieren 61"/>
          <p:cNvGrpSpPr/>
          <p:nvPr/>
        </p:nvGrpSpPr>
        <p:grpSpPr>
          <a:xfrm>
            <a:off x="6228184" y="1491630"/>
            <a:ext cx="2483244" cy="807717"/>
            <a:chOff x="1947796" y="1609808"/>
            <a:chExt cx="4745605" cy="1543588"/>
          </a:xfrm>
        </p:grpSpPr>
        <p:sp>
          <p:nvSpPr>
            <p:cNvPr id="63" name="Ellipse 62"/>
            <p:cNvSpPr/>
            <p:nvPr/>
          </p:nvSpPr>
          <p:spPr>
            <a:xfrm>
              <a:off x="1947796" y="2613469"/>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rPr>
                <a:t>1</a:t>
              </a:r>
            </a:p>
          </p:txBody>
        </p:sp>
        <p:sp>
          <p:nvSpPr>
            <p:cNvPr id="64" name="Ellipse 63"/>
            <p:cNvSpPr/>
            <p:nvPr/>
          </p:nvSpPr>
          <p:spPr>
            <a:xfrm>
              <a:off x="5398586" y="1635259"/>
              <a:ext cx="539927" cy="539927"/>
            </a:xfrm>
            <a:prstGeom prst="ellipse">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7" name="Ellipse 66"/>
            <p:cNvSpPr/>
            <p:nvPr/>
          </p:nvSpPr>
          <p:spPr>
            <a:xfrm>
              <a:off x="3416758" y="1635259"/>
              <a:ext cx="539927" cy="539927"/>
            </a:xfrm>
            <a:prstGeom prst="ellipse">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C00000"/>
                  </a:solidFill>
                </a:rPr>
                <a:t>2</a:t>
              </a:r>
            </a:p>
          </p:txBody>
        </p:sp>
        <p:cxnSp>
          <p:nvCxnSpPr>
            <p:cNvPr id="68" name="Gerade Verbindung 67"/>
            <p:cNvCxnSpPr>
              <a:stCxn id="63" idx="7"/>
              <a:endCxn id="67" idx="2"/>
            </p:cNvCxnSpPr>
            <p:nvPr/>
          </p:nvCxnSpPr>
          <p:spPr>
            <a:xfrm flipV="1">
              <a:off x="2408654" y="1905224"/>
              <a:ext cx="1008104" cy="78731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0" name="Gerade Verbindung 69"/>
            <p:cNvCxnSpPr>
              <a:stCxn id="67" idx="6"/>
              <a:endCxn id="64" idx="2"/>
            </p:cNvCxnSpPr>
            <p:nvPr/>
          </p:nvCxnSpPr>
          <p:spPr>
            <a:xfrm>
              <a:off x="3956685" y="1905224"/>
              <a:ext cx="1441901"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72" name="Textfeld 71"/>
            <p:cNvSpPr txBox="1"/>
            <p:nvPr/>
          </p:nvSpPr>
          <p:spPr>
            <a:xfrm>
              <a:off x="3520259" y="2288143"/>
              <a:ext cx="332927" cy="354728"/>
            </a:xfrm>
            <a:prstGeom prst="rect">
              <a:avLst/>
            </a:prstGeom>
            <a:noFill/>
          </p:spPr>
          <p:txBody>
            <a:bodyPr wrap="none" rtlCol="0">
              <a:spAutoFit/>
            </a:bodyPr>
            <a:lstStyle/>
            <a:p>
              <a:pPr algn="ctr"/>
              <a:r>
                <a:rPr lang="en-US" sz="1400" dirty="0"/>
                <a:t>A</a:t>
              </a:r>
            </a:p>
          </p:txBody>
        </p:sp>
        <p:sp>
          <p:nvSpPr>
            <p:cNvPr id="74" name="Textfeld 73"/>
            <p:cNvSpPr txBox="1"/>
            <p:nvPr/>
          </p:nvSpPr>
          <p:spPr>
            <a:xfrm>
              <a:off x="2195736" y="1933576"/>
              <a:ext cx="434541" cy="354728"/>
            </a:xfrm>
            <a:prstGeom prst="rect">
              <a:avLst/>
            </a:prstGeom>
            <a:noFill/>
          </p:spPr>
          <p:txBody>
            <a:bodyPr wrap="none" rtlCol="0">
              <a:spAutoFit/>
            </a:bodyPr>
            <a:lstStyle/>
            <a:p>
              <a:r>
                <a:rPr lang="en-US" sz="1400" dirty="0"/>
                <a:t>s</a:t>
              </a:r>
              <a:r>
                <a:rPr lang="en-US" sz="1400" baseline="-25000" dirty="0"/>
                <a:t>12</a:t>
              </a:r>
            </a:p>
          </p:txBody>
        </p:sp>
        <p:sp>
          <p:nvSpPr>
            <p:cNvPr id="77" name="Textfeld 76"/>
            <p:cNvSpPr txBox="1"/>
            <p:nvPr/>
          </p:nvSpPr>
          <p:spPr>
            <a:xfrm>
              <a:off x="4572001" y="2000780"/>
              <a:ext cx="434540" cy="354727"/>
            </a:xfrm>
            <a:prstGeom prst="rect">
              <a:avLst/>
            </a:prstGeom>
            <a:noFill/>
          </p:spPr>
          <p:txBody>
            <a:bodyPr wrap="none" rtlCol="0">
              <a:spAutoFit/>
            </a:bodyPr>
            <a:lstStyle/>
            <a:p>
              <a:r>
                <a:rPr lang="en-US" sz="1400" dirty="0"/>
                <a:t>s</a:t>
              </a:r>
              <a:r>
                <a:rPr lang="en-US" sz="1400" baseline="-25000" dirty="0"/>
                <a:t>21</a:t>
              </a:r>
            </a:p>
          </p:txBody>
        </p:sp>
        <p:sp>
          <p:nvSpPr>
            <p:cNvPr id="78" name="Textfeld 77"/>
            <p:cNvSpPr txBox="1"/>
            <p:nvPr/>
          </p:nvSpPr>
          <p:spPr>
            <a:xfrm>
              <a:off x="6026200" y="1609808"/>
              <a:ext cx="667201" cy="365798"/>
            </a:xfrm>
            <a:prstGeom prst="rect">
              <a:avLst/>
            </a:prstGeom>
            <a:noFill/>
          </p:spPr>
          <p:txBody>
            <a:bodyPr wrap="none" rtlCol="0">
              <a:spAutoFit/>
            </a:bodyPr>
            <a:lstStyle/>
            <a:p>
              <a:r>
                <a:rPr lang="en-US" sz="1400" dirty="0"/>
                <a:t>(</a:t>
              </a:r>
              <a:r>
                <a:rPr lang="en-US" sz="1400" dirty="0">
                  <a:solidFill>
                    <a:schemeClr val="tx2"/>
                  </a:solidFill>
                </a:rPr>
                <a:t>3</a:t>
              </a:r>
              <a:r>
                <a:rPr lang="en-US" sz="1400" dirty="0"/>
                <a:t>, </a:t>
              </a:r>
              <a:r>
                <a:rPr lang="en-US" sz="1400" dirty="0">
                  <a:solidFill>
                    <a:srgbClr val="C00000"/>
                  </a:solidFill>
                </a:rPr>
                <a:t>1</a:t>
              </a:r>
              <a:r>
                <a:rPr lang="en-US" sz="1400" dirty="0"/>
                <a:t>)</a:t>
              </a:r>
            </a:p>
          </p:txBody>
        </p:sp>
      </p:grpSp>
      <p:sp>
        <p:nvSpPr>
          <p:cNvPr id="80" name="Pfeil nach rechts 79"/>
          <p:cNvSpPr/>
          <p:nvPr/>
        </p:nvSpPr>
        <p:spPr>
          <a:xfrm>
            <a:off x="5148064" y="2035039"/>
            <a:ext cx="936104" cy="288032"/>
          </a:xfrm>
          <a:prstGeom prst="rightArrow">
            <a:avLst/>
          </a:prstGeom>
          <a:solidFill>
            <a:schemeClr val="bg1">
              <a:lumMod val="85000"/>
            </a:schemeClr>
          </a:solidFill>
          <a:ln w="19050" cap="flat" cmpd="sng">
            <a:solidFill>
              <a:schemeClr val="tx1">
                <a:lumMod val="50000"/>
                <a:lumOff val="50000"/>
              </a:schemeClr>
            </a:solidFill>
            <a:prstDash val="solid"/>
            <a:round/>
            <a:headEnd type="none" w="med" len="med"/>
            <a:tailEnd type="none" w="med" len="med"/>
          </a:ln>
          <a:effectLst/>
        </p:spPr>
        <p:txBody>
          <a:bodyPr wrap="none" anchor="ctr"/>
          <a:lstStyle/>
          <a:p>
            <a:endParaRPr lang="en-US" dirty="0">
              <a:solidFill>
                <a:schemeClr val="tx1"/>
              </a:solidFill>
            </a:endParaRPr>
          </a:p>
        </p:txBody>
      </p:sp>
      <p:sp>
        <p:nvSpPr>
          <p:cNvPr id="81" name="Rechteck 80"/>
          <p:cNvSpPr/>
          <p:nvPr/>
        </p:nvSpPr>
        <p:spPr>
          <a:xfrm>
            <a:off x="1691680" y="3507854"/>
            <a:ext cx="7200800" cy="1512168"/>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83" name="Grafik 82" descr="IguanaTex_tmp.png"/>
          <p:cNvPicPr>
            <a:picLocks noChangeAspect="1"/>
          </p:cNvPicPr>
          <p:nvPr>
            <p:custDataLst>
              <p:tags r:id="rId1"/>
            </p:custDataLst>
          </p:nvPr>
        </p:nvPicPr>
        <p:blipFill>
          <a:blip r:embed="rId3" cstate="print"/>
          <a:stretch>
            <a:fillRect/>
          </a:stretch>
        </p:blipFill>
        <p:spPr>
          <a:xfrm>
            <a:off x="1763690" y="3553692"/>
            <a:ext cx="7041474" cy="1392916"/>
          </a:xfrm>
          <a:prstGeom prst="rect">
            <a:avLst/>
          </a:prstGeom>
          <a:noFill/>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6mLwts7C2EiBTT4DQO0SU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r39ncxmGs0Sr168Ze9lso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R0tgvjnpUUGEeJt6cUW3A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ljSgwHgE2EqRzkZuc4Jln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f0fTlyrrYEqSFlVdGYu7J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X._dPLChAUCZlkAtZLfFY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EjXVEwiQ6k2lIzLXENv8E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X._dPLChAUCZlkAtZLfFY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s2hMeDLXOUKZ6MPet8lrw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x.ppNUydJkeAXD1NYgVOt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MiRnx6DMvkevjdGhykG3I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_lb75n9QoEmiwqkwtebCG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wZTGXxM7D06FepWrR0r2w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EjXVEwiQ6k2lIzLXENv8E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jXVEwiQ6k2lIzLXENv8E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KKFHdfCiqEapEUHkHWbo6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3236,596"/>
  <p:tag name="LATEXADDIN" val="\documentclass{article}\pagestyle{empty}&#10;\usepackage{amsmath}&#10;\usepackage{amsfonts}&#10;\usepackage{amssymb}&#10;\begin{document}&#10;\begin{minipage}{12.3 cm}&#10;{\sffamily{&#10;Let us give a more formal definition of a {\bf{Nash-equilibrium}}:&#10;&#10;}}&#10;\end{minipage}&#10;\end{document}"/>
  <p:tag name="IGUANATEXSIZE" val="20"/>
  <p:tag name="IGUANATEXCURSOR" val="161"/>
  <p:tag name="TRANSPARENCY" val="Wahr"/>
  <p:tag name="FILENAME" val=""/>
  <p:tag name="LATEXENGINEID" val="0"/>
  <p:tag name="TEMPFOLDER" val="D:\iguana_temp\"/>
  <p:tag name="LATEXFORMHEIGHT" val="482,25"/>
  <p:tag name="LATEXFORMWIDTH" val="1030,5"/>
  <p:tag name="LATEXFORMWRAP" val="Wahr"/>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847,019"/>
  <p:tag name="ORIGINALWIDTH" val="4353,956"/>
  <p:tag name="LATEXADDIN" val="\documentclass{article}\pagestyle{empty}&#10;\usepackage{amsmath}&#10;\usepackage{amsfonts}&#10;\usepackage{amssymb}&#10;\begin{document}&#10;\begin{minipage}{12.3 cm}&#10;{\sffamily{&#10;{\bf{Definition: (Nash-Equilibrium)}}\\[1mm]&#10;Consider a $n$-player game with strategy space $S = S_1 \times S_2 \times \dots \times S_i \times \dots&#10;\times S_n$, where, e.g. $S_i$ is the strategy set of player $i \in \{ 1, 2, \dots, n \}$.\\[2mm] A {\bf{Nash-equilibrium}}&#10;is a feasible strategy vector $s^* = (s_1^*, s_2^*, \dots, s_i^*, \dots, s_n^*) \in S$ with the characteristic&#10;properties that&#10;\begin{itemize}&#10;\item no player $i \in \{ 1, 2, \dots, n \}$ has an incentive in choosing an alternative strategy $s_i \neq s_i^*$,&#10;\item given the equilibrium strategies $(s_1^*, s_2^*, \dots, s_{i-1}^*, s_{i+1}^*, \dots, s_n^*)$ of the other&#10; players.\\[-5mm]&#10;\end{itemize}&#10;[\dots]&#10;}}&#10;\end{minipage}&#10;\end{document}"/>
  <p:tag name="IGUANATEXSIZE" val="20"/>
  <p:tag name="IGUANATEXCURSOR" val="821"/>
  <p:tag name="TRANSPARENCY" val="Wahr"/>
  <p:tag name="FILENAME" val=""/>
  <p:tag name="LATEXENGINEID" val="0"/>
  <p:tag name="TEMPFOLDER" val="D:\iguana_temp\"/>
  <p:tag name="LATEXFORMHEIGHT" val="482,25"/>
  <p:tag name="LATEXFORMWIDTH" val="1030,5"/>
  <p:tag name="LATEXFORMWRAP" val="Wahr"/>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882,6398"/>
  <p:tag name="ORIGINALWIDTH" val="4351,707"/>
  <p:tag name="LATEXADDIN" val="\documentclass{article}\pagestyle{empty}&#10;\usepackage{amsmath}&#10;\usepackage{amsfonts}&#10;\usepackage{amssymb}&#10;\begin{document}&#10;\begin{minipage}{12.3 cm}&#10;{\sffamily{&#10;[\dots]\\[1mm]&#10;With the help of the individual player's utility function $u_i : S \to \mathbb{R}$, a {\bf{Nash-equilibrium}} is&#10;characterized by the fact, that for all players $i \in \{ 1, 2, \dots, n \}$ the following condition holds&#10;$$&#10; u_i(s_1^*, s_2^*, \dots, s_i^*, \dots, s_n^*) \, \, \geq \, \, u_i(s_1^*, s_2^*, \dots, s_i, \dots, s_n^*)&#10; \quad \text{for all $s_i \in S_i$} \, .&#10;$$&#10;&#10;}}&#10;\end{minipage}&#10;\end{document}"/>
  <p:tag name="IGUANATEXSIZE" val="20"/>
  <p:tag name="IGUANATEXCURSOR" val="174"/>
  <p:tag name="TRANSPARENCY" val="Wahr"/>
  <p:tag name="FILENAME" val=""/>
  <p:tag name="LATEXENGINEID" val="0"/>
  <p:tag name="TEMPFOLDER" val="D:\iguana_temp\"/>
  <p:tag name="LATEXFORMHEIGHT" val="482,25"/>
  <p:tag name="LATEXFORMWIDTH" val="1030,5"/>
  <p:tag name="LATEXFORMWRAP" val="Wahr"/>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1712,036"/>
  <p:tag name="ORIGINALWIDTH" val="3467,567"/>
  <p:tag name="LATEXADDIN" val="\documentclass{article}\pagestyle{empty}&#10;\usepackage{amsmath}&#10;\usepackage{amsfonts}&#10;\usepackage{amssymb}&#10;\begin{document}&#10;\begin{minipage}{9.8 cm}&#10;{\sffamily{&#10;{\bf{(1)}} An equilibrium strategy $s_i^*$ is 'good' with respect to the given strategies of the other players.\\[2mm]&#10;The shown payoff matrix has two Nash equilibria: (left, up) and (right, down). Here, the last one (right, down) seems to be less plausible. Though 'right' is for player A a best response if player B selects the strategy 'down', and vice versa.&#10;&#10;\vspace{0.3cm}&#10;{\bf{(2)}} This immediately implies: An equilibrium strategy $s_i^*$ is the 'best reply' with respect to the given strategies of the other players.\\[2mm]&#10;Thus, a Nash-equilibrium can be characterized as the strategy vector that contains the mutual best reply of all players.&#10;&#10;}}&#10;\end{minipage}&#10;\end{document}"/>
  <p:tag name="IGUANATEXSIZE" val="20"/>
  <p:tag name="IGUANATEXCURSOR" val="692"/>
  <p:tag name="TRANSPARENCY" val="Wahr"/>
  <p:tag name="FILENAME" val=""/>
  <p:tag name="LATEXENGINEID" val="0"/>
  <p:tag name="TEMPFOLDER" val="D:\iguana_temp\"/>
  <p:tag name="LATEXFORMHEIGHT" val="482,25"/>
  <p:tag name="LATEXFORMWIDTH" val="1030,5"/>
  <p:tag name="LATEXFORMWRAP" val="Wahr"/>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2087,739"/>
  <p:tag name="ORIGINALWIDTH" val="3466,067"/>
  <p:tag name="LATEXADDIN" val="\documentclass{article}\pagestyle{empty}&#10;\usepackage{amsmath}&#10;\usepackage{amsfonts}&#10;\usepackage{amssymb}&#10;\begin{document}&#10;\begin{minipage}{9.8 cm}&#10;{\sffamily{&#10;{\bf{(3)}} Our example shows that a best reply does not need to yield a higher utility compared to another solution, but it must not worsen the utility of the respective player.\\[1mm] This implies, that a player may have more than one best reply to the strategies of the other players -- though all must, with respect to the given strategy choice of the other players, lead to the same utility.&#10;&#10;\vspace{0.3cm}&#10;{\bf{(4)}} Recall consequence 2: An equilibrium strategy $s_i^*$ is the 'best reply' with respect to the given strategies of the other players. Thus, a Nash-equilibrium can be characterized as the strategy vector that contains the mutual best reply of all players.\\[1mm]&#10;This implies: Every equilibrium in dominant strategies is also a Nash-equilibrium.&#10;&#10;}}&#10;\end{minipage}&#10;\end{document}"/>
  <p:tag name="IGUANATEXSIZE" val="20"/>
  <p:tag name="IGUANATEXCURSOR" val="578"/>
  <p:tag name="TRANSPARENCY" val="Wahr"/>
  <p:tag name="FILENAME" val=""/>
  <p:tag name="LATEXENGINEID" val="0"/>
  <p:tag name="TEMPFOLDER" val="D:\iguana_temp\"/>
  <p:tag name="LATEXFORMHEIGHT" val="482,25"/>
  <p:tag name="LATEXFORMWIDTH" val="1030,5"/>
  <p:tag name="LATEXFORMWRAP" val="Wahr"/>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2161,23"/>
  <p:tag name="ORIGINALWIDTH" val="4353,206"/>
  <p:tag name="LATEXADDIN" val="\documentclass{article}\pagestyle{empty}&#10;\usepackage{amsmath}&#10;\usepackage{amsfonts}&#10;\usepackage{amssymb}&#10;\begin{document}&#10;\begin{minipage}{12.3 cm}&#10;{\sffamily{&#10;The story from the file 'rebel without a cause':\\[1mm]&#10;Two players (read, teenage boys) decide to settle a dispute (read, teenage girl) by way of near-death experiences. Each speeds an automobile towards a cliff (or at each other, in later adaptations). A simple rule governs the challenge: the first to jump out of his automobile is the chicken and, by universally accepted social convention, concedes the object in dispute. The second to jump is victorious, and, depending on context, becomes gang leader, prom king, etc.\\[1mm]&#10;Of course, if both jump simultaneously, a stalemate results, and if neither jumps, a fiery death is assured since all cars (in movies) explode upon impact. Whether the dead are celebrated by their peers is inconsequential, since game theorists are apt to assume that the payoffs from this outcome are quite negative.\\[1mm]&#10;Two (pure strategy) equilibria exist in this game, each with one person jumping early. If the other person plans on jumping out, I'd rather stay and win, and if he plans on staying the course, I'd rather chicken out and live.&#10;}}&#10;\end{minipage}&#10;\end{document}"/>
  <p:tag name="IGUANATEXSIZE" val="20"/>
  <p:tag name="IGUANATEXCURSOR" val="1147"/>
  <p:tag name="TRANSPARENCY" val="Wahr"/>
  <p:tag name="FILENAME" val=""/>
  <p:tag name="LATEXENGINEID" val="0"/>
  <p:tag name="TEMPFOLDER" val="D:\iguana_temp\"/>
  <p:tag name="LATEXFORMHEIGHT" val="482,25"/>
  <p:tag name="LATEXFORMWIDTH" val="1030,5"/>
  <p:tag name="LATEXFORMWRAP" val="Wahr"/>
  <p:tag name="BITMAPVECTOR" val="0"/>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252,7184"/>
  <p:tag name="ORIGINALWIDTH" val="3464,567"/>
  <p:tag name="LATEXADDIN" val="\documentclass{article}\pagestyle{empty}&#10;\usepackage{amsmath}&#10;\usepackage{amsfonts}&#10;\usepackage{amssymb}&#10;\begin{document}&#10;\begin{minipage}{9.8 cm}&#10;{\sffamily{&#10;The game of chicken has been featured in many films, though the first, Rebel without a Cause, still sets the standard.}}&#10;\end{minipage}&#10;\end{document}"/>
  <p:tag name="IGUANATEXSIZE" val="20"/>
  <p:tag name="IGUANATEXCURSOR" val="277"/>
  <p:tag name="TRANSPARENCY" val="Wahr"/>
  <p:tag name="FILENAME" val=""/>
  <p:tag name="LATEXENGINEID" val="0"/>
  <p:tag name="TEMPFOLDER" val="D:\iguana_temp\"/>
  <p:tag name="LATEXFORMHEIGHT" val="482,25"/>
  <p:tag name="LATEXFORMWIDTH" val="1030,5"/>
  <p:tag name="LATEXFORMWRAP" val="Wahr"/>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937,3829"/>
  <p:tag name="ORIGINALWIDTH" val="3466,817"/>
  <p:tag name="LATEXADDIN" val="\documentclass{article}\pagestyle{empty}&#10;\usepackage{amsmath}&#10;\usepackage{amsfonts}&#10;\usepackage{amssymb}&#10;\begin{document}&#10;\begin{minipage}{9.8 cm}&#10;{\sffamily{&#10;Jimmie (James Dean), to settle a dispute with Buzz, the leader of a local gang, agrees to a 'Chickie Run'. Both race stolen cars towards the edge of a cliff. The first to eject out of his car is branded a 'chickie'.\\[2mm]&#10;Seconds into the race, Buzz discovers that his jacket is stuck on the door handle, making jumping out of the car somewhat difficult. &#10;}}&#10;\end{minipage}&#10;\end{document}"/>
  <p:tag name="IGUANATEXSIZE" val="20"/>
  <p:tag name="IGUANATEXCURSOR" val="158"/>
  <p:tag name="TRANSPARENCY" val="Wahr"/>
  <p:tag name="FILENAME" val=""/>
  <p:tag name="LATEXENGINEID" val="0"/>
  <p:tag name="TEMPFOLDER" val="D:\iguana_temp\"/>
  <p:tag name="LATEXFORMHEIGHT" val="482,25"/>
  <p:tag name="LATEXFORMWIDTH" val="1030,5"/>
  <p:tag name="LATEXFORMWRAP" val="Wahr"/>
  <p:tag name="BITMAPVECTOR" val="0"/>
</p:tagLst>
</file>

<file path=ppt/tags/tag67.xml><?xml version="1.0" encoding="utf-8"?>
<p:tagLst xmlns:a="http://schemas.openxmlformats.org/drawingml/2006/main" xmlns:r="http://schemas.openxmlformats.org/officeDocument/2006/relationships" xmlns:p="http://schemas.openxmlformats.org/presentationml/2006/main">
  <p:tag name="OUTPUTDPI" val="1200"/>
  <p:tag name="ORIGINALHEIGHT" val="757,4053"/>
  <p:tag name="ORIGINALWIDTH" val="3465,317"/>
  <p:tag name="LATEXADDIN" val="\documentclass{article}\pagestyle{empty}&#10;\usepackage{amsmath}&#10;\usepackage{amsfonts}&#10;\usepackage{amssymb}&#10;\begin{document}&#10;\begin{minipage}{9.8 cm}&#10;{\sffamily{&#10;Jimmie jumps out an instant before the cars reach the edge of the cliff.\\[2mm]&#10;Buzz, still unable to free his jacket from the door handle, fails to escape. While he won't be branded a 'chickie', he suffers a worse fate. &#10;&#10;}}&#10;\end{minipage}&#10;\end{document}"/>
  <p:tag name="IGUANATEXSIZE" val="20"/>
  <p:tag name="IGUANATEXCURSOR" val="353"/>
  <p:tag name="TRANSPARENCY" val="Wahr"/>
  <p:tag name="FILENAME" val=""/>
  <p:tag name="LATEXENGINEID" val="0"/>
  <p:tag name="TEMPFOLDER" val="D:\iguana_temp\"/>
  <p:tag name="LATEXFORMHEIGHT" val="482,25"/>
  <p:tag name="LATEXFORMWIDTH" val="1030,5"/>
  <p:tag name="LATEXFORMWRAP" val="Wahr"/>
  <p:tag name="BITMAPVECTOR" val="0"/>
</p:tagLst>
</file>

<file path=ppt/tags/tag68.xml><?xml version="1.0" encoding="utf-8"?>
<p:tagLst xmlns:a="http://schemas.openxmlformats.org/drawingml/2006/main" xmlns:r="http://schemas.openxmlformats.org/officeDocument/2006/relationships" xmlns:p="http://schemas.openxmlformats.org/presentationml/2006/main">
  <p:tag name="OUTPUTDPI" val="1200"/>
  <p:tag name="ORIGINALHEIGHT" val="709,4113"/>
  <p:tag name="ORIGINALWIDTH" val="3473,566"/>
  <p:tag name="LATEXADDIN" val="\documentclass{article}\pagestyle{empty}&#10;\usepackage{amsmath}&#10;\usepackage{amsfonts}&#10;\usepackage{amssymb}&#10;\begin{document}&#10;\begin{minipage}{9.8 cm}&#10;{\sffamily{&#10;Many other movies feature young males settling disputes in games of chicken, including Stand By Me and Cry-Baby. One of the strangest adaptations was in Footloose, starring Kevin Bacon, with a game of chicken played on tractors. This time, the dramatic device was a shoelace stuck to the pedal. &#10;&#10;}}&#10;\end{minipage}&#10;\end{document}"/>
  <p:tag name="IGUANATEXSIZE" val="20"/>
  <p:tag name="IGUANATEXCURSOR" val="455"/>
  <p:tag name="TRANSPARENCY" val="Wahr"/>
  <p:tag name="FILENAME" val=""/>
  <p:tag name="LATEXENGINEID" val="0"/>
  <p:tag name="TEMPFOLDER" val="D:\iguana_temp\"/>
  <p:tag name="LATEXFORMHEIGHT" val="482,25"/>
  <p:tag name="LATEXFORMWIDTH" val="1030,5"/>
  <p:tag name="LATEXFORMWRAP" val="Wahr"/>
  <p:tag name="BITMAPVECTOR" val="0"/>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0.xml><?xml version="1.0" encoding="utf-8"?>
<p:tagLst xmlns:a="http://schemas.openxmlformats.org/drawingml/2006/main" xmlns:r="http://schemas.openxmlformats.org/officeDocument/2006/relationships" xmlns:p="http://schemas.openxmlformats.org/presentationml/2006/main">
  <p:tag name="OUTPUTDPI" val="1200"/>
  <p:tag name="ORIGINALHEIGHT" val="1678,29"/>
  <p:tag name="ORIGINALWIDTH" val="3474,316"/>
  <p:tag name="LATEXADDIN" val="\documentclass{article}\pagestyle{empty}&#10;\usepackage{amsmath}&#10;\usepackage{amsfonts}&#10;\usepackage{amssymb}&#10;\begin{document}&#10;\begin{minipage}{9.8 cm}&#10;{\sffamily{&#10;Each of the players has two strategies, either they can be 'defensive' and jump out of the car very early (maybe even stopping and saving the car),&#10;or they can be 'aggressive' and jump in the last minute (regardless what happens with the car).\\[2mm]&#10;The best results, and that's how the situation is actually indented by Buzz (the leader of the group) is that one 'chickens' and the other jumps&#10;in last minute (or stops the car just a little later than their antagonist). If both choose (aggressive, aggressive) than the conflict between&#10;the players is not resolved (and the cars are lost), and if both 'chicken' then they both loose their faces and none of them can be leader of the group.&#10; &#10;&#10;}}&#10;\end{minipage}&#10;\end{document}"/>
  <p:tag name="IGUANATEXSIZE" val="20"/>
  <p:tag name="IGUANATEXCURSOR" val="772"/>
  <p:tag name="TRANSPARENCY" val="Wahr"/>
  <p:tag name="FILENAME" val=""/>
  <p:tag name="LATEXENGINEID" val="0"/>
  <p:tag name="TEMPFOLDER" val="D:\iguana_temp\"/>
  <p:tag name="LATEXFORMHEIGHT" val="482,25"/>
  <p:tag name="LATEXFORMWIDTH" val="1030,5"/>
  <p:tag name="LATEXFORMWRAP" val="Wahr"/>
  <p:tag name="BITMAPVECTOR" val="0"/>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2.xml><?xml version="1.0" encoding="utf-8"?>
<p:tagLst xmlns:a="http://schemas.openxmlformats.org/drawingml/2006/main" xmlns:r="http://schemas.openxmlformats.org/officeDocument/2006/relationships" xmlns:p="http://schemas.openxmlformats.org/presentationml/2006/main">
  <p:tag name="OUTPUTDPI" val="1200"/>
  <p:tag name="ORIGINALHEIGHT" val="2032,246"/>
  <p:tag name="ORIGINALWIDTH" val="3470,566"/>
  <p:tag name="LATEXADDIN" val="\documentclass{article}\pagestyle{empty}&#10;\usepackage{amsmath}&#10;\usepackage{amsfonts}&#10;\usepackage{amssymb}&#10;\begin{document}&#10;\begin{minipage}{9.8 cm}&#10;{\sffamily{&#10;The chicken game illustrates strategic market situations where an aggressive price war or battle for consumers&#10;takes place. Such market situations are characterized by the fact that either the consumer or the seller part&#10;consist of just a few players, like in seller oligopolies with only 3 to 4 vendors (think of mobile phones).\footnote{&#10;Oligopolies, are markets with lots of buyers, but only a few sellers and high entry barriers for new sellers&#10;(sometimes set by the existing sellers), such that these markets have imperfect competition.}&#10;\\[2mm]&#10;The first to chicken and step on the breaks to stop increasing their activities to attract consumers may loose completely, and the winner may take all.&#10;&#10;\vspace{1cm}&#10;&#10;}}&#10;\end{minipage}&#10;\end{document}"/>
  <p:tag name="IGUANATEXSIZE" val="20"/>
  <p:tag name="IGUANATEXCURSOR" val="872"/>
  <p:tag name="TRANSPARENCY" val="Wahr"/>
  <p:tag name="FILENAME" val=""/>
  <p:tag name="LATEXENGINEID" val="0"/>
  <p:tag name="TEMPFOLDER" val="D:\iguana_temp\"/>
  <p:tag name="LATEXFORMHEIGHT" val="482,25"/>
  <p:tag name="LATEXFORMWIDTH" val="1030,5"/>
  <p:tag name="LATEXFORMWRAP" val="Wahr"/>
  <p:tag name="BITMAPVECTOR" val="0"/>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4.xml><?xml version="1.0" encoding="utf-8"?>
<p:tagLst xmlns:a="http://schemas.openxmlformats.org/drawingml/2006/main" xmlns:r="http://schemas.openxmlformats.org/officeDocument/2006/relationships" xmlns:p="http://schemas.openxmlformats.org/presentationml/2006/main">
  <p:tag name="OUTPUTDPI" val="1200"/>
  <p:tag name="ORIGINALHEIGHT" val="1823,772"/>
  <p:tag name="ORIGINALWIDTH" val="3475,066"/>
  <p:tag name="LATEXADDIN" val="\documentclass{article}\pagestyle{empty}&#10;\usepackage{amsmath}&#10;\usepackage{amsfonts}&#10;\usepackage{amssymb}&#10;\begin{document}&#10;\begin{minipage}{9.8 cm}&#10;{\sffamily{&#10;We have already seen that neither A nor B have a strictly dominant strategy in the chicken game:\\[2mm]&#10;For instance, assume, B chooses the strategy 'defensive', then it is best for A to choose 'aggressive'&#10;instead of 'defensive', because then A earns a gain of $3$ instead of $1$ with the alternative choice of 'defensive'.\\[2mm]&#10;If we assume that B chooses strategy 'aggressive', then it is best for A to choose 'defensive' instead of 'aggressive',&#10;because then A earns a gain of $1$ instead of $0$ with the alternative choice of 'aggressive'.\\[2mm]&#10;Thus, A has no strictly dominant strategy (as their strategy depends on that of B). An analogous discussion holds for B.  &#10;&#10;}}&#10;\end{minipage}&#10;\end{document}"/>
  <p:tag name="IGUANATEXSIZE" val="20"/>
  <p:tag name="IGUANATEXCURSOR" val="764"/>
  <p:tag name="TRANSPARENCY" val="Wahr"/>
  <p:tag name="FILENAME" val=""/>
  <p:tag name="LATEXENGINEID" val="0"/>
  <p:tag name="TEMPFOLDER" val="D:\iguana_temp\"/>
  <p:tag name="LATEXFORMHEIGHT" val="482,25"/>
  <p:tag name="LATEXFORMWIDTH" val="1030,5"/>
  <p:tag name="LATEXFORMWRAP" val="Wahr"/>
  <p:tag name="BITMAPVECTOR" val="0"/>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6.xml><?xml version="1.0" encoding="utf-8"?>
<p:tagLst xmlns:a="http://schemas.openxmlformats.org/drawingml/2006/main" xmlns:r="http://schemas.openxmlformats.org/officeDocument/2006/relationships" xmlns:p="http://schemas.openxmlformats.org/presentationml/2006/main">
  <p:tag name="OUTPUTDPI" val="1200"/>
  <p:tag name="ORIGINALHEIGHT" val="2011,249"/>
  <p:tag name="ORIGINALWIDTH" val="3474,316"/>
  <p:tag name="LATEXADDIN" val="\documentclass{article}\pagestyle{empty}&#10;\usepackage{amsmath}&#10;\usepackage{amsfonts}&#10;\usepackage{amssymb}&#10;\begin{document}&#10;\begin{minipage}{9.8 cm}&#10;{\sffamily{&#10;Applying the definition of a Nash-equilibrium, we obtain that the strategy pairs (aggressive, defensive)&#10;and (defensive, aggressive) are Nash-equilibria in pure strategies:\\[1mm]&#10;Let us first study (aggressive, defensive) that leads to an utility of $3$ for A and of $1$ for B. For A&#10;that is the best payoff they can gain so they will not change to an alternative strategy.\\[1mm] Though, due to&#10;the small payoff, it seems legitimate to ask if B should change strategies. But, if B chooses 'aggressive'&#10;subject to the given strategy 'aggressive' of A, then their payoff decreases from $1$ to $0$. Thus, by choosing&#10;'aggressive' B does worse.\\[1mm] {\bf{Hence, (aggressive, defensive) is a Nash equilibrium as no player has an&#10;incentive to switch strategies given the equilibrium strategy of the other player.}}&#10;}}&#10;\end{minipage}&#10;\end{document}"/>
  <p:tag name="IGUANATEXSIZE" val="20"/>
  <p:tag name="IGUANATEXCURSOR" val="805"/>
  <p:tag name="TRANSPARENCY" val="Wahr"/>
  <p:tag name="FILENAME" val=""/>
  <p:tag name="LATEXENGINEID" val="0"/>
  <p:tag name="TEMPFOLDER" val="D:\iguana_temp\"/>
  <p:tag name="LATEXFORMHEIGHT" val="482,25"/>
  <p:tag name="LATEXFORMWIDTH" val="1030,5"/>
  <p:tag name="LATEXFORMWRAP" val="Wahr"/>
  <p:tag name="BITMAPVECTOR" val="0"/>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8.xml><?xml version="1.0" encoding="utf-8"?>
<p:tagLst xmlns:a="http://schemas.openxmlformats.org/drawingml/2006/main" xmlns:r="http://schemas.openxmlformats.org/officeDocument/2006/relationships" xmlns:p="http://schemas.openxmlformats.org/presentationml/2006/main">
  <p:tag name="OUTPUTDPI" val="1200"/>
  <p:tag name="ORIGINALHEIGHT" val="1839,52"/>
  <p:tag name="ORIGINALWIDTH" val="3466,067"/>
  <p:tag name="LATEXADDIN" val="\documentclass{article}\pagestyle{empty}&#10;\usepackage{amsmath}&#10;\usepackage{amsfonts}&#10;\usepackage{amssymb}&#10;\begin{document}&#10;\begin{minipage}{9.8 cm}&#10;{\sffamily{&#10;Considered form the point of view of the pair (aggressive, defensive) player B could do better if player A selects 'defensive'&#10;as B would then obtain a payoff of $2$ instead of just $1$.\\[2mm]&#10;Let us therefore check if (defensive, defensive) is a Nash-equilibrium. Here, we have to answer the following question:&#10;Does a player I have an incentive to change to another strategy given the equilibrium strategy of the other player. In the case&#10;of (defensive, defensive) it is indeed better for A to chose the alternative 'aggressive', given B plays 'defensive'; and it is&#10;better for B to chose the alternative 'aggressive', given A plays 'defensive'. Thus, (defensive, defensive) is not a Nash-equilibrium.&#10;Analogously, one shows that (aggressive, aggressive) is also not a Nash-equilibrium.&#10;}}&#10;\end{minipage}&#10;\end{document}"/>
  <p:tag name="IGUANATEXSIZE" val="20"/>
  <p:tag name="IGUANATEXCURSOR" val="948"/>
  <p:tag name="TRANSPARENCY" val="Wahr"/>
  <p:tag name="FILENAME" val=""/>
  <p:tag name="LATEXENGINEID" val="0"/>
  <p:tag name="TEMPFOLDER" val="D:\iguana_temp\"/>
  <p:tag name="LATEXFORMHEIGHT" val="482,25"/>
  <p:tag name="LATEXFORMWIDTH" val="1030,5"/>
  <p:tag name="LATEXFORMWRAP" val="Wahr"/>
  <p:tag name="BITMAPVECTOR" val="0"/>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80.xml><?xml version="1.0" encoding="utf-8"?>
<p:tagLst xmlns:a="http://schemas.openxmlformats.org/drawingml/2006/main" xmlns:r="http://schemas.openxmlformats.org/officeDocument/2006/relationships" xmlns:p="http://schemas.openxmlformats.org/presentationml/2006/main">
  <p:tag name="OUTPUTDPI" val="1200"/>
  <p:tag name="ORIGINALHEIGHT" val="2008,999"/>
  <p:tag name="ORIGINALWIDTH" val="3466,817"/>
  <p:tag name="LATEXADDIN" val="\documentclass{article}\pagestyle{empty}&#10;\usepackage{amsmath}&#10;\usepackage{amsfonts}&#10;\usepackage{amssymb}&#10;\begin{document}&#10;\begin{minipage}{9.8 cm}&#10;{\sffamily{&#10;The chicken game has two Nash-equilibria in pure strategies, these are the strategy pairs (aggressive, defensive) and (defensive, aggressive). Both of them are Pareto-efficient, as no of the players can do better without the other one doing worse.\\[1mm]&#10;Later, we will see that it also has a Nash-equilibrium in mixed strategies.\\[1mm]&#10;Unfortunately, none of the players can be sure that an equilibrium really results and that their chosen strategy is really the best response to that of the other player.\\[1mm]&#10;The issue of being sure about ones best response often arises if a game has multiple equilibria and the problem of a coordination for ones strategy choice can not uniquely be solved by referring to a Nash-equilibrium.&#10;}}&#10;\end{minipage}&#10;\end{document}"/>
  <p:tag name="IGUANATEXSIZE" val="20"/>
  <p:tag name="IGUANATEXCURSOR" val="670"/>
  <p:tag name="TRANSPARENCY" val="Wahr"/>
  <p:tag name="FILENAME" val=""/>
  <p:tag name="LATEXENGINEID" val="0"/>
  <p:tag name="TEMPFOLDER" val="D:\iguana_temp\"/>
  <p:tag name="LATEXFORMHEIGHT" val="482,25"/>
  <p:tag name="LATEXFORMWIDTH" val="1030,5"/>
  <p:tag name="LATEXFORMWRAP" val="Wahr"/>
  <p:tag name="BITMAPVECTOR" val="0"/>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82.xml><?xml version="1.0" encoding="utf-8"?>
<p:tagLst xmlns:a="http://schemas.openxmlformats.org/drawingml/2006/main" xmlns:r="http://schemas.openxmlformats.org/officeDocument/2006/relationships" xmlns:p="http://schemas.openxmlformats.org/presentationml/2006/main">
  <p:tag name="OUTPUTDPI" val="1200"/>
  <p:tag name="ORIGINALHEIGHT" val="787,4017"/>
  <p:tag name="ORIGINALWIDTH" val="4350,957"/>
  <p:tag name="LATEXADDIN" val="\documentclass{article}\pagestyle{empty}&#10;\usepackage{amsmath}&#10;\usepackage{amsfonts}&#10;\usepackage{amssymb}&#10;\begin{document}&#10;\begin{minipage}{12.3 cm}&#10;{\sffamily{&#10;In a sequential form where player 1 moves fist, the sub-game perfect equilibrium is $(s_{12}, s_{21})$. With this, we sort out the other&#10;Nash equilibirum and find a unique solution of the Chicken game.\\[2mm]&#10;Though, due to symmetry, in sequential form where player 2 moves fist, the sub-game perfect equilibrium is $(s_{21}, s_{12})$.&#10;}}&#10;\end{minipage}&#10;\end{document}"/>
  <p:tag name="IGUANATEXSIZE" val="20"/>
  <p:tag name="IGUANATEXCURSOR" val="491"/>
  <p:tag name="TRANSPARENCY" val="Wahr"/>
  <p:tag name="FILENAME" val=""/>
  <p:tag name="LATEXENGINEID" val="0"/>
  <p:tag name="TEMPFOLDER" val="D:\iguana_temp\"/>
  <p:tag name="LATEXFORMHEIGHT" val="482,25"/>
  <p:tag name="LATEXFORMWIDTH" val="1030,5"/>
  <p:tag name="LATEXFORMWRAP" val="Wahr"/>
  <p:tag name="BITMAPVECTOR" val="0"/>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5600</Words>
  <Application>Microsoft Office PowerPoint</Application>
  <PresentationFormat>Bildschirmpräsentation (16:9)</PresentationFormat>
  <Paragraphs>994</Paragraphs>
  <Slides>51</Slides>
  <Notes>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51</vt:i4>
      </vt:variant>
    </vt:vector>
  </HeadingPairs>
  <TitlesOfParts>
    <vt:vector size="57" baseType="lpstr">
      <vt:lpstr>cmsy10</vt:lpstr>
      <vt:lpstr>Symbol</vt:lpstr>
      <vt:lpstr>ESSTIXThree</vt:lpstr>
      <vt:lpstr>Calibri</vt:lpstr>
      <vt:lpstr>Arial</vt:lpstr>
      <vt:lpstr>Larissa-Design</vt:lpstr>
      <vt:lpstr>Computational Biomathematics</vt:lpstr>
      <vt:lpstr>Smith argues that our actions are a result of our need to be both “lovable and praiseworthy” in the eyes of the “impartial spectator”</vt:lpstr>
      <vt:lpstr>The rational choice happens due to a self-optimization of the agents, i.e., due to utility (= “happiness”) maximization</vt:lpstr>
      <vt:lpstr>In Game Theory we put ourselves into the shoes of the other self-optimizing player and evaluate the use/ utility of an event/ outcome for them</vt:lpstr>
      <vt:lpstr>PowerPoint-Präsentation</vt:lpstr>
      <vt:lpstr>The prisoner’s dilemma [D.R. Luce &amp; H. Raiffa (1957): Games and Decisions, p. 95, New York: Wiley]</vt:lpstr>
      <vt:lpstr>From the event matrix of the prisoner’s dilemma …</vt:lpstr>
      <vt:lpstr>… to come the payoff matrix that considers the individual preferences of each player</vt:lpstr>
      <vt:lpstr>Each of the players has a strictly dominant strategy, though the equilibrium in dominant strategies is Pareto-inefficient …</vt:lpstr>
      <vt:lpstr>… this is in general the characterization of a prisoner’s dilemma situation</vt:lpstr>
      <vt:lpstr>Often, the strategies of the “suspects” are labeled as cooperative and non-cooperative behavior</vt:lpstr>
      <vt:lpstr>The story of the prisoner’s dilemma often leads to some misconceptions</vt:lpstr>
      <vt:lpstr>PowerPoint-Präsentation</vt:lpstr>
      <vt:lpstr>How does cooperation evolve in an un-cooperative environment?</vt:lpstr>
      <vt:lpstr>As an paradigmatically example for common decision situations let us use the Prisoner’s Dilemma, …</vt:lpstr>
      <vt:lpstr>… and apply it multiple times in different/ repeated interactions</vt:lpstr>
      <vt:lpstr>… and apply it multiple times in different/ repeated interactions</vt:lpstr>
      <vt:lpstr>There is no optimal strategy, …</vt:lpstr>
      <vt:lpstr>… but there is a plethora of possible strategies</vt:lpstr>
      <vt:lpstr>Results from the 1st round of the tournament: “Tit For Tat” is the winner (during the 200 moves each of the15 rules met each other rule 5 times)</vt:lpstr>
      <vt:lpstr>An example for the repeated encounter of two strategies: TIT FOR TAT and JOSS</vt:lpstr>
      <vt:lpstr>TIT FOR TAT performs very well with respect to other strategies under evolutionary conditions as well (1/ 2)</vt:lpstr>
      <vt:lpstr>TIT FOR TAT performs very well with respect to other strategies under evolutionary conditions as well (2/ 2)</vt:lpstr>
      <vt:lpstr>“New” rules for territorial systems on a toroidal plane</vt:lpstr>
      <vt:lpstr>Example for the final populations in a territorial setting after all conversions have been performed</vt:lpstr>
      <vt:lpstr>Explanation for the success of NYDEGGER</vt:lpstr>
      <vt:lpstr>Conclusion: cooperation amongst egoists is possible without a central force of control</vt:lpstr>
      <vt:lpstr>PowerPoint-Präsentation</vt:lpstr>
      <vt:lpstr>As we already know, the Prisoner’s Dilemma game has one equilibrium in strictly dominant strategies …</vt:lpstr>
      <vt:lpstr>… and this is also a Nash-equilibrium (1/ 2)</vt:lpstr>
      <vt:lpstr>… and this is also a Nash-equilibrium (2/ 2)</vt:lpstr>
      <vt:lpstr>Example: A game with two Nash equilibria in pure strategies</vt:lpstr>
      <vt:lpstr>In a Nash-equilibrium no player has an incentive in changing to another strategy given the equilibrium strategy of the other players (2a/ 2)</vt:lpstr>
      <vt:lpstr>In a Nash-equilibrium no player has an incentive in changing to another strategy given the equilibrium strategy of the other players (2b/ 2)</vt:lpstr>
      <vt:lpstr>The definition of a Nash-equilibrium immediately implies four consequences (1/ 2)</vt:lpstr>
      <vt:lpstr>The definition of a Nash-equilibrium immediately implies four consequences (2/ 2)</vt:lpstr>
      <vt:lpstr>Example: Nash equilibria</vt:lpstr>
      <vt:lpstr>Example: Nash equilibria</vt:lpstr>
      <vt:lpstr>PowerPoint-Präsentation</vt:lpstr>
      <vt:lpstr>“We are both heading for the cliff, who jumps first, is the Chicken”</vt:lpstr>
      <vt:lpstr>“We are both heading for the cliff, who jumps first, is the Chicken”</vt:lpstr>
      <vt:lpstr>“We are both heading for the cliff, who jumps first, is the Chicken”</vt:lpstr>
      <vt:lpstr>The payoff matrix of the chicken game …</vt:lpstr>
      <vt:lpstr>… illustrates strategic market situations in oligopolies</vt:lpstr>
      <vt:lpstr>As both players lack a strictly dominant strategy, the chicken game has no equilibrium in dominant strategies …</vt:lpstr>
      <vt:lpstr>… but it has two Nash equilibria in pure strategies</vt:lpstr>
      <vt:lpstr>Why are (defensive, defensive) and (aggressive, aggressive) no Nash equilibria?</vt:lpstr>
      <vt:lpstr>Summary: What does the chicken game tell us so far?</vt:lpstr>
      <vt:lpstr>What happens when we take “strategic time” into account and consider the Chicken Game as a sequential game? (1/ 2)</vt:lpstr>
      <vt:lpstr>What happens when we take “strategic time” into account and consider the Chicken Game as a sequential game? (2/ 2)</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216</cp:revision>
  <dcterms:created xsi:type="dcterms:W3CDTF">2020-04-04T18:50:50Z</dcterms:created>
  <dcterms:modified xsi:type="dcterms:W3CDTF">2026-04-06T17:56:01Z</dcterms:modified>
</cp:coreProperties>
</file>
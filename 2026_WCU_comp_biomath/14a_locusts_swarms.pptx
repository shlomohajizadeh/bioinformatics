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410" r:id="rId2"/>
    <p:sldId id="447" r:id="rId3"/>
    <p:sldId id="462" r:id="rId4"/>
    <p:sldId id="471" r:id="rId5"/>
    <p:sldId id="449" r:id="rId6"/>
    <p:sldId id="461" r:id="rId7"/>
    <p:sldId id="464" r:id="rId8"/>
    <p:sldId id="463" r:id="rId9"/>
    <p:sldId id="459" r:id="rId10"/>
    <p:sldId id="466" r:id="rId11"/>
    <p:sldId id="467" r:id="rId12"/>
    <p:sldId id="468" r:id="rId13"/>
    <p:sldId id="460" r:id="rId14"/>
    <p:sldId id="475" r:id="rId15"/>
    <p:sldId id="477" r:id="rId16"/>
    <p:sldId id="480" r:id="rId17"/>
    <p:sldId id="482" r:id="rId18"/>
    <p:sldId id="499" r:id="rId19"/>
    <p:sldId id="483" r:id="rId20"/>
    <p:sldId id="484" r:id="rId21"/>
    <p:sldId id="485" r:id="rId22"/>
    <p:sldId id="496" r:id="rId23"/>
    <p:sldId id="486" r:id="rId24"/>
    <p:sldId id="487" r:id="rId25"/>
    <p:sldId id="492" r:id="rId26"/>
    <p:sldId id="488" r:id="rId27"/>
    <p:sldId id="489" r:id="rId28"/>
    <p:sldId id="490" r:id="rId29"/>
    <p:sldId id="493" r:id="rId30"/>
    <p:sldId id="491" r:id="rId31"/>
    <p:sldId id="497" r:id="rId32"/>
    <p:sldId id="494" r:id="rId33"/>
    <p:sldId id="500" r:id="rId34"/>
    <p:sldId id="502" r:id="rId35"/>
    <p:sldId id="503" r:id="rId36"/>
    <p:sldId id="504" r:id="rId37"/>
    <p:sldId id="505" r:id="rId38"/>
    <p:sldId id="506" r:id="rId39"/>
    <p:sldId id="507" r:id="rId40"/>
    <p:sldId id="476" r:id="rId41"/>
    <p:sldId id="469" r:id="rId42"/>
    <p:sldId id="465" r:id="rId43"/>
    <p:sldId id="470" r:id="rId44"/>
    <p:sldId id="411" r:id="rId4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7356" autoAdjust="0"/>
  </p:normalViewPr>
  <p:slideViewPr>
    <p:cSldViewPr>
      <p:cViewPr varScale="1">
        <p:scale>
          <a:sx n="136" d="100"/>
          <a:sy n="136" d="100"/>
        </p:scale>
        <p:origin x="414" y="13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5D514-7346-4F82-AE13-C6D6741739D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F3066-70EE-4F3C-99F9-465CA6AFB6FD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eg"/><Relationship Id="rId17" Type="http://schemas.openxmlformats.org/officeDocument/2006/relationships/image" Target="../media/image8.jpe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5" Type="http://schemas.openxmlformats.org/officeDocument/2006/relationships/image" Target="../media/image6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0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9.jpeg"/><Relationship Id="rId5" Type="http://schemas.openxmlformats.org/officeDocument/2006/relationships/tags" Target="../tags/tag14.xml"/><Relationship Id="rId15" Type="http://schemas.openxmlformats.org/officeDocument/2006/relationships/image" Target="../media/image13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0.xml"/><Relationship Id="rId16" Type="http://schemas.openxmlformats.org/officeDocument/2006/relationships/image" Target="../media/image6.jpe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15" Type="http://schemas.openxmlformats.org/officeDocument/2006/relationships/image" Target="../media/image5.jpeg"/><Relationship Id="rId10" Type="http://schemas.openxmlformats.org/officeDocument/2006/relationships/tags" Target="../tags/tag28.xml"/><Relationship Id="rId19" Type="http://schemas.openxmlformats.org/officeDocument/2006/relationships/image" Target="../media/image14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10244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7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10242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23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26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685800" y="1347614"/>
            <a:ext cx="7772400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371600" y="2355726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3" name="Textfeld 12"/>
          <p:cNvSpPr txBox="1"/>
          <p:nvPr userDrawn="1"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4" name="Freihandform 13"/>
          <p:cNvSpPr/>
          <p:nvPr userDrawn="1"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 userDrawn="1"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 userDrawn="1"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Parallelogramm 16"/>
          <p:cNvSpPr/>
          <p:nvPr userDrawn="1"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allelogramm 17"/>
          <p:cNvSpPr/>
          <p:nvPr userDrawn="1"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ihandform 1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ihandform 19"/>
          <p:cNvSpPr/>
          <p:nvPr userDrawn="1"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hteck 20"/>
          <p:cNvSpPr/>
          <p:nvPr userDrawn="1">
            <p:custDataLst>
              <p:tags r:id="rId9"/>
            </p:custDataLst>
          </p:nvPr>
        </p:nvSpPr>
        <p:spPr>
          <a:xfrm>
            <a:off x="795" y="648469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 userDrawn="1"/>
        </p:nvSpPr>
        <p:spPr bwMode="auto">
          <a:xfrm>
            <a:off x="845840" y="4240838"/>
            <a:ext cx="7452320" cy="851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kern="0" dirty="0">
                <a:latin typeface="+mn-lt"/>
              </a:rPr>
              <a:t>Prof. Dr. Dr. </a:t>
            </a:r>
            <a:r>
              <a:rPr lang="en-US" sz="1400" b="1" kern="0" dirty="0" err="1">
                <a:latin typeface="+mn-lt"/>
              </a:rPr>
              <a:t>h.c</a:t>
            </a:r>
            <a:r>
              <a:rPr lang="en-US" sz="1400" b="1" kern="0" dirty="0">
                <a:latin typeface="+mn-lt"/>
              </a:rPr>
              <a:t>. Florian Rupp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500" dirty="0"/>
          </a:p>
          <a:p>
            <a:pPr algn="ctr" eaLnBrk="1" hangingPunct="1"/>
            <a:r>
              <a:rPr lang="en-US" sz="1400" baseline="0" dirty="0"/>
              <a:t>Western Caspian University &amp; </a:t>
            </a:r>
            <a:r>
              <a:rPr lang="en-US" sz="1400" dirty="0"/>
              <a:t>Kutaisi International</a:t>
            </a:r>
            <a:r>
              <a:rPr lang="en-US" sz="1400" baseline="0" dirty="0"/>
              <a:t> University</a:t>
            </a:r>
            <a:endParaRPr lang="en-US" sz="1400" dirty="0"/>
          </a:p>
        </p:txBody>
      </p:sp>
      <p:pic>
        <p:nvPicPr>
          <p:cNvPr id="24" name="Grafik 23" descr="index.png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79513" y="4437868"/>
            <a:ext cx="1872207" cy="582154"/>
          </a:xfrm>
          <a:prstGeom prst="rect">
            <a:avLst/>
          </a:prstGeom>
        </p:spPr>
      </p:pic>
      <p:pic>
        <p:nvPicPr>
          <p:cNvPr id="27650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51520" y="3219822"/>
            <a:ext cx="1013731" cy="105489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 userDrawn="1"/>
        </p:nvSpPr>
        <p:spPr>
          <a:xfrm>
            <a:off x="6084168" y="0"/>
            <a:ext cx="3059832" cy="810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1"/>
            </p:custDataLst>
          </p:nvPr>
        </p:nvSpPr>
        <p:spPr>
          <a:xfrm>
            <a:off x="560" y="456093"/>
            <a:ext cx="9143440" cy="354739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0" y="0"/>
            <a:ext cx="6444207" cy="811112"/>
            <a:chOff x="0" y="0"/>
            <a:chExt cx="9156701" cy="1152525"/>
          </a:xfrm>
        </p:grpSpPr>
        <p:pic>
          <p:nvPicPr>
            <p:cNvPr id="28" name="Picture 8" descr="https://cdn.pixabay.com/photo/2016/04/13/19/23/binary-1327501_960_720.jpg"/>
            <p:cNvPicPr>
              <a:picLocks noChangeAspect="1" noChangeArrowheads="1"/>
            </p:cNvPicPr>
            <p:nvPr userDrawn="1"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5536" y="0"/>
              <a:ext cx="2828754" cy="1152128"/>
            </a:xfrm>
            <a:prstGeom prst="rect">
              <a:avLst/>
            </a:prstGeom>
            <a:noFill/>
          </p:spPr>
        </p:pic>
        <p:grpSp>
          <p:nvGrpSpPr>
            <p:cNvPr id="29" name="Gruppieren 28"/>
            <p:cNvGrpSpPr/>
            <p:nvPr userDrawn="1"/>
          </p:nvGrpSpPr>
          <p:grpSpPr>
            <a:xfrm>
              <a:off x="3059832" y="0"/>
              <a:ext cx="3312368" cy="1152525"/>
              <a:chOff x="3059832" y="0"/>
              <a:chExt cx="3312368" cy="1152525"/>
            </a:xfrm>
          </p:grpSpPr>
          <p:pic>
            <p:nvPicPr>
              <p:cNvPr id="30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  <p:cNvPicPr>
                <a:picLocks noChangeAspect="1" noChangeArrowheads="1"/>
              </p:cNvPicPr>
              <p:nvPr userDrawn="1"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59832" y="0"/>
                <a:ext cx="1728192" cy="1152128"/>
              </a:xfrm>
              <a:prstGeom prst="rect">
                <a:avLst/>
              </a:prstGeom>
              <a:noFill/>
            </p:spPr>
          </p:pic>
          <p:grpSp>
            <p:nvGrpSpPr>
              <p:cNvPr id="31" name="Gruppieren 26"/>
              <p:cNvGrpSpPr/>
              <p:nvPr userDrawn="1"/>
            </p:nvGrpSpPr>
            <p:grpSpPr>
              <a:xfrm>
                <a:off x="4427984" y="0"/>
                <a:ext cx="1944216" cy="1152525"/>
                <a:chOff x="4427984" y="0"/>
                <a:chExt cx="1944216" cy="1152525"/>
              </a:xfrm>
            </p:grpSpPr>
            <p:pic>
              <p:nvPicPr>
                <p:cNvPr id="32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4427984" y="0"/>
                  <a:ext cx="1944216" cy="267494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4" cstate="print"/>
                <a:srcRect/>
                <a:stretch>
                  <a:fillRect/>
                </a:stretch>
              </p:blipFill>
              <p:spPr bwMode="auto">
                <a:xfrm>
                  <a:off x="4572000" y="267494"/>
                  <a:ext cx="1656184" cy="432048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4716016" y="689073"/>
                  <a:ext cx="1368152" cy="463452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5" name="Freihandform 34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6024860" y="447"/>
              <a:ext cx="313184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1955800"/>
                <a:gd name="connsiteY0" fmla="*/ 0 h 1143000"/>
                <a:gd name="connsiteX1" fmla="*/ 1641023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641023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Parallelogramm 35"/>
            <p:cNvSpPr/>
            <p:nvPr userDrawn="1">
              <p:custDataLst>
                <p:tags r:id="rId3"/>
              </p:custDataLst>
            </p:nvPr>
          </p:nvSpPr>
          <p:spPr>
            <a:xfrm>
              <a:off x="5808836" y="1"/>
              <a:ext cx="792088" cy="1152128"/>
            </a:xfrm>
            <a:prstGeom prst="parallelogram">
              <a:avLst>
                <a:gd name="adj" fmla="val 63481"/>
              </a:avLst>
            </a:pr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Parallelogramm 36"/>
            <p:cNvSpPr/>
            <p:nvPr userDrawn="1">
              <p:custDataLst>
                <p:tags r:id="rId4"/>
              </p:custDataLst>
            </p:nvPr>
          </p:nvSpPr>
          <p:spPr>
            <a:xfrm>
              <a:off x="2568476" y="1"/>
              <a:ext cx="1152128" cy="1152128"/>
            </a:xfrm>
            <a:prstGeom prst="parallelogram">
              <a:avLst>
                <a:gd name="adj" fmla="val 52628"/>
              </a:avLst>
            </a:prstGeom>
            <a:solidFill>
              <a:srgbClr val="1F497D">
                <a:lumMod val="60000"/>
                <a:lumOff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Parallelogramm 37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4296668" y="1"/>
              <a:ext cx="648072" cy="1152128"/>
            </a:xfrm>
            <a:prstGeom prst="parallelogram">
              <a:avLst>
                <a:gd name="adj" fmla="val 68305"/>
              </a:avLst>
            </a:prstGeom>
            <a:solidFill>
              <a:srgbClr val="F7964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Parallelogramm 38"/>
            <p:cNvSpPr/>
            <p:nvPr userDrawn="1">
              <p:custDataLst>
                <p:tags r:id="rId6"/>
              </p:custDataLst>
            </p:nvPr>
          </p:nvSpPr>
          <p:spPr>
            <a:xfrm>
              <a:off x="2568476" y="1"/>
              <a:ext cx="1008112" cy="1152128"/>
            </a:xfrm>
            <a:prstGeom prst="parallelogram">
              <a:avLst>
                <a:gd name="adj" fmla="val 88390"/>
              </a:avLst>
            </a:prstGeom>
            <a:solidFill>
              <a:srgbClr val="4F81BD">
                <a:lumMod val="20000"/>
                <a:lumOff val="8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ihandform 39"/>
            <p:cNvSpPr/>
            <p:nvPr userDrawn="1">
              <p:custDataLst>
                <p:tags r:id="rId7"/>
              </p:custDataLst>
            </p:nvPr>
          </p:nvSpPr>
          <p:spPr>
            <a:xfrm>
              <a:off x="0" y="0"/>
              <a:ext cx="195580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485900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ihandform 40"/>
            <p:cNvSpPr/>
            <p:nvPr userDrawn="1">
              <p:custDataLst>
                <p:tags r:id="rId8"/>
              </p:custDataLst>
            </p:nvPr>
          </p:nvSpPr>
          <p:spPr>
            <a:xfrm>
              <a:off x="2580060" y="1"/>
              <a:ext cx="92452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0 w 2880320"/>
                <a:gd name="connsiteY4" fmla="*/ 0 h 1143000"/>
                <a:gd name="connsiteX0" fmla="*/ 216024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2160240 w 28803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132432 w 924520"/>
                <a:gd name="connsiteY3" fmla="*/ 643436 h 1143000"/>
                <a:gd name="connsiteX4" fmla="*/ 204440 w 9245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204440 w 924520"/>
                <a:gd name="connsiteY4" fmla="*/ 0 h 1143000"/>
                <a:gd name="connsiteX0" fmla="*/ 348456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348456 w 924520"/>
                <a:gd name="connsiteY4" fmla="*/ 0 h 1143000"/>
                <a:gd name="connsiteX0" fmla="*/ 348456 w 924520"/>
                <a:gd name="connsiteY0" fmla="*/ 571943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0" fmla="*/ 420464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420464 w 924520"/>
                <a:gd name="connsiteY3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520" h="1143000">
                  <a:moveTo>
                    <a:pt x="420464" y="0"/>
                  </a:moveTo>
                  <a:lnTo>
                    <a:pt x="924520" y="0"/>
                  </a:lnTo>
                  <a:lnTo>
                    <a:pt x="0" y="1143000"/>
                  </a:lnTo>
                  <a:lnTo>
                    <a:pt x="420464" y="0"/>
                  </a:lnTo>
                  <a:close/>
                </a:path>
              </a:pathLst>
            </a:cu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hteck 41"/>
            <p:cNvSpPr/>
            <p:nvPr userDrawn="1">
              <p:custDataLst>
                <p:tags r:id="rId9"/>
              </p:custDataLst>
            </p:nvPr>
          </p:nvSpPr>
          <p:spPr>
            <a:xfrm>
              <a:off x="795" y="648072"/>
              <a:ext cx="9155906" cy="504056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6" name="Gruppieren 25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27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8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29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30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31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4" name="Rechteck 23"/>
          <p:cNvSpPr/>
          <p:nvPr userDrawn="1"/>
        </p:nvSpPr>
        <p:spPr>
          <a:xfrm>
            <a:off x="179512" y="1275606"/>
            <a:ext cx="3240360" cy="3744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2" name="Freihandform 11"/>
          <p:cNvSpPr/>
          <p:nvPr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Parallelogramm 12"/>
          <p:cNvSpPr/>
          <p:nvPr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Parallelogramm 13"/>
          <p:cNvSpPr/>
          <p:nvPr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ihandform 16"/>
          <p:cNvSpPr/>
          <p:nvPr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ihandform 17"/>
          <p:cNvSpPr/>
          <p:nvPr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9"/>
            </p:custDataLst>
          </p:nvPr>
        </p:nvSpPr>
        <p:spPr>
          <a:xfrm>
            <a:off x="795" y="648072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itel 1"/>
          <p:cNvSpPr>
            <a:spLocks noGrp="1"/>
          </p:cNvSpPr>
          <p:nvPr userDrawn="1">
            <p:ph type="ctrTitle"/>
          </p:nvPr>
        </p:nvSpPr>
        <p:spPr>
          <a:xfrm>
            <a:off x="3851920" y="1275606"/>
            <a:ext cx="5112568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4752020" y="4299942"/>
            <a:ext cx="324036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5" name="Textfeld 24"/>
          <p:cNvSpPr txBox="1"/>
          <p:nvPr userDrawn="1"/>
        </p:nvSpPr>
        <p:spPr>
          <a:xfrm>
            <a:off x="3851920" y="2355726"/>
            <a:ext cx="5040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Questions &amp; Remarks?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Thank You Very Much</a:t>
            </a:r>
          </a:p>
        </p:txBody>
      </p:sp>
      <p:pic>
        <p:nvPicPr>
          <p:cNvPr id="22" name="Grafik 21" descr="index.pn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3798963" y="4578133"/>
            <a:ext cx="1421109" cy="441887"/>
          </a:xfrm>
          <a:prstGeom prst="rect">
            <a:avLst/>
          </a:prstGeom>
        </p:spPr>
      </p:pic>
      <p:pic>
        <p:nvPicPr>
          <p:cNvPr id="32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51920" y="3718029"/>
            <a:ext cx="720080" cy="749323"/>
          </a:xfrm>
          <a:prstGeom prst="rect">
            <a:avLst/>
          </a:prstGeom>
          <a:noFill/>
        </p:spPr>
      </p:pic>
      <p:pic>
        <p:nvPicPr>
          <p:cNvPr id="33" name="Picture 2" descr="https://avatars.mds.yandex.net/get-altay/11886651/2a0000018defa513b9203394e9330d10fd54/XXL_height"/>
          <p:cNvPicPr>
            <a:picLocks noChangeAspect="1" noChangeArrowheads="1"/>
          </p:cNvPicPr>
          <p:nvPr userDrawn="1"/>
        </p:nvPicPr>
        <p:blipFill>
          <a:blip r:embed="rId19" cstate="print"/>
          <a:srcRect l="11628" r="27907" b="6378"/>
          <a:stretch>
            <a:fillRect/>
          </a:stretch>
        </p:blipFill>
        <p:spPr bwMode="auto">
          <a:xfrm>
            <a:off x="251520" y="1347613"/>
            <a:ext cx="3096344" cy="3600401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invGray">
          <a:xfrm>
            <a:off x="0" y="1"/>
            <a:ext cx="9144000" cy="81502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" name="Abgerundetes Rechteck 8"/>
          <p:cNvSpPr/>
          <p:nvPr userDrawn="1"/>
        </p:nvSpPr>
        <p:spPr>
          <a:xfrm>
            <a:off x="118693" y="105507"/>
            <a:ext cx="667317" cy="598738"/>
          </a:xfrm>
          <a:prstGeom prst="roundRect">
            <a:avLst>
              <a:gd name="adj" fmla="val 9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pic>
        <p:nvPicPr>
          <p:cNvPr id="28674" name="Picture 2" descr="https://cdn-static.bizzabo.com/bizzabo.users.files/zG7zRd0nS5WvqOWKrgQP_Western%20Caspian%20University%20black.png"/>
          <p:cNvPicPr>
            <a:picLocks noChangeAspect="1" noChangeArrowheads="1"/>
          </p:cNvPicPr>
          <p:nvPr userDrawn="1"/>
        </p:nvPicPr>
        <p:blipFill>
          <a:blip r:embed="rId6" cstate="print"/>
          <a:srcRect r="81904"/>
          <a:stretch>
            <a:fillRect/>
          </a:stretch>
        </p:blipFill>
        <p:spPr bwMode="auto">
          <a:xfrm>
            <a:off x="200323" y="176258"/>
            <a:ext cx="504056" cy="4572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36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7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Swarms of Locusts &amp; Introduction to Chase &amp; Escape</a:t>
            </a:r>
          </a:p>
          <a:p>
            <a:endParaRPr lang="en-US" sz="500" noProof="0" dirty="0"/>
          </a:p>
          <a:p>
            <a:r>
              <a:rPr lang="en-US" noProof="0" dirty="0"/>
              <a:t>Lesson 14a</a:t>
            </a:r>
          </a:p>
        </p:txBody>
      </p:sp>
      <p:sp>
        <p:nvSpPr>
          <p:cNvPr id="4" name="Rechteck 3"/>
          <p:cNvSpPr/>
          <p:nvPr/>
        </p:nvSpPr>
        <p:spPr>
          <a:xfrm>
            <a:off x="7092280" y="3291830"/>
            <a:ext cx="1800200" cy="1717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Swarms of locusts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Avoiding predators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basic model of chase &amp; escape 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endParaRPr lang="en-US" sz="1200" noProof="0" dirty="0">
              <a:solidFill>
                <a:schemeClr val="tx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7092280" y="2931790"/>
            <a:ext cx="1800200" cy="28803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bgerundetes Rechteck 4"/>
          <p:cNvSpPr/>
          <p:nvPr/>
        </p:nvSpPr>
        <p:spPr>
          <a:xfrm>
            <a:off x="971600" y="1684884"/>
            <a:ext cx="504056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extfeld 1"/>
          <p:cNvSpPr txBox="1"/>
          <p:nvPr/>
        </p:nvSpPr>
        <p:spPr>
          <a:xfrm>
            <a:off x="971600" y="1131590"/>
            <a:ext cx="39145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Agenda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b="1" noProof="0" dirty="0"/>
              <a:t>Swarms of Locusts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Avoiding Predators</a:t>
            </a:r>
          </a:p>
          <a:p>
            <a:pPr>
              <a:tabLst>
                <a:tab pos="361950" algn="l"/>
              </a:tabLst>
            </a:pP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tabLst>
                <a:tab pos="361950" algn="l"/>
              </a:tabLst>
            </a:pPr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The Basic Model of Chase &amp; Escape </a:t>
            </a:r>
          </a:p>
        </p:txBody>
      </p:sp>
      <p:pic>
        <p:nvPicPr>
          <p:cNvPr id="4098" name="Picture 2" descr="How war threatens Ethiopia's struggle against worst locust swarm in 25  years | Global development | The Guardia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131591"/>
            <a:ext cx="2813043" cy="1687826"/>
          </a:xfrm>
          <a:prstGeom prst="rect">
            <a:avLst/>
          </a:prstGeom>
          <a:noFill/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2D2AA7C-A858-B975-D98B-FC19BBED0C96}"/>
              </a:ext>
            </a:extLst>
          </p:cNvPr>
          <p:cNvSpPr txBox="1"/>
          <p:nvPr/>
        </p:nvSpPr>
        <p:spPr>
          <a:xfrm>
            <a:off x="6084168" y="3291830"/>
            <a:ext cx="27948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noProof="0" dirty="0"/>
              <a:t>Swarming </a:t>
            </a:r>
            <a:r>
              <a:rPr lang="en-US" sz="1400" noProof="0" dirty="0"/>
              <a:t>generally refers to a dense aggregation of individuals focused on a spatial position, often with less order in their individual directions.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Let us start with the biological/ phenomenological description of the locust swarm formation (1a/ 2)</a:t>
            </a:r>
          </a:p>
        </p:txBody>
      </p:sp>
      <p:pic>
        <p:nvPicPr>
          <p:cNvPr id="3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EE785384-0A97-BCDD-117A-D2C756EF2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1"/>
            <a:ext cx="2760306" cy="1656184"/>
          </a:xfrm>
          <a:prstGeom prst="rect">
            <a:avLst/>
          </a:prstGeom>
          <a:noFill/>
        </p:spPr>
      </p:pic>
      <p:pic>
        <p:nvPicPr>
          <p:cNvPr id="5" name="Picture 4" descr="Pic from “The Neurobiology of a Transformation from Asocial to Social Life During Swarm Formation in Desert Locusts by Stephen M Rogers”.">
            <a:extLst>
              <a:ext uri="{FF2B5EF4-FFF2-40B4-BE49-F238E27FC236}">
                <a16:creationId xmlns:a16="http://schemas.microsoft.com/office/drawing/2014/main" id="{2658E911-6733-2792-017E-B422636FB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791" y="2931790"/>
            <a:ext cx="2714327" cy="1944216"/>
          </a:xfrm>
          <a:prstGeom prst="rect">
            <a:avLst/>
          </a:prstGeom>
          <a:noFill/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BAE3CDE-010E-7C2B-2B2C-F5BC590DC8BB}"/>
              </a:ext>
            </a:extLst>
          </p:cNvPr>
          <p:cNvSpPr txBox="1"/>
          <p:nvPr/>
        </p:nvSpPr>
        <p:spPr>
          <a:xfrm>
            <a:off x="0" y="843558"/>
            <a:ext cx="32415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noProof="0" dirty="0"/>
              <a:t>https://idc.icrisat.org/idc/index.php/locust-swarm-and-its-management/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1484279-5F93-099E-A7A8-6A77B75C1819}"/>
              </a:ext>
            </a:extLst>
          </p:cNvPr>
          <p:cNvSpPr txBox="1"/>
          <p:nvPr/>
        </p:nvSpPr>
        <p:spPr>
          <a:xfrm>
            <a:off x="3131840" y="4731990"/>
            <a:ext cx="6012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noProof="0" dirty="0"/>
              <a:t>C.M. Topaz, A.J. </a:t>
            </a:r>
            <a:r>
              <a:rPr lang="en-US" sz="1000" noProof="0" dirty="0" err="1"/>
              <a:t>Bernoff</a:t>
            </a:r>
            <a:r>
              <a:rPr lang="en-US" sz="1000" noProof="0" dirty="0"/>
              <a:t>, S. Logan &amp; W. Toolson (2008): A Model for Rolling Swarms of Locusts, The European Physical Journal, Special Topics, 157, pp. 93-109, DOI: 10.1140/</a:t>
            </a:r>
            <a:r>
              <a:rPr lang="en-US" sz="1000" noProof="0" dirty="0" err="1"/>
              <a:t>epjst</a:t>
            </a:r>
            <a:r>
              <a:rPr lang="en-US" sz="1000" noProof="0" dirty="0"/>
              <a:t>/e2008-00633-y.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F1A63E-5138-2270-FBD8-55CB63FBC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09"/>
          <a:stretch>
            <a:fillRect/>
          </a:stretch>
        </p:blipFill>
        <p:spPr bwMode="auto">
          <a:xfrm>
            <a:off x="3131840" y="1133005"/>
            <a:ext cx="5760640" cy="3238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0A49-CFE5-8F37-48B1-FA6967E4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F9D5B-BA35-7680-F8E9-154CB37D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Let us start with the biological/ phenomenological description of the locust swarm formation (1b/ 2)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01B4B8D-FFDE-79AD-2324-87F7A3FC58DB}"/>
              </a:ext>
            </a:extLst>
          </p:cNvPr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Grafik 7" descr="IguanaTex_tmp.png">
            <a:extLst>
              <a:ext uri="{FF2B5EF4-FFF2-40B4-BE49-F238E27FC236}">
                <a16:creationId xmlns:a16="http://schemas.microsoft.com/office/drawing/2014/main" id="{B758B7BA-E165-7318-323F-0D1A0DFDEC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1876" y="1203583"/>
            <a:ext cx="5337362" cy="3562146"/>
          </a:xfrm>
          <a:prstGeom prst="rect">
            <a:avLst/>
          </a:prstGeom>
          <a:noFill/>
          <a:ln/>
          <a:effectLst/>
        </p:spPr>
      </p:pic>
      <p:pic>
        <p:nvPicPr>
          <p:cNvPr id="1028" name="Picture 4" descr="East Africa faces new locust threat">
            <a:extLst>
              <a:ext uri="{FF2B5EF4-FFF2-40B4-BE49-F238E27FC236}">
                <a16:creationId xmlns:a16="http://schemas.microsoft.com/office/drawing/2014/main" id="{146AEF4D-C771-54BD-CE7A-B1C5673D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1131590"/>
            <a:ext cx="2880320" cy="2002723"/>
          </a:xfrm>
          <a:prstGeom prst="rect">
            <a:avLst/>
          </a:prstGeom>
          <a:noFill/>
        </p:spPr>
      </p:pic>
      <p:pic>
        <p:nvPicPr>
          <p:cNvPr id="1030" name="Picture 6" descr="Locust swarms: the evolution of a powerful force of nature">
            <a:extLst>
              <a:ext uri="{FF2B5EF4-FFF2-40B4-BE49-F238E27FC236}">
                <a16:creationId xmlns:a16="http://schemas.microsoft.com/office/drawing/2014/main" id="{CB42F39F-7795-0C37-456A-0BAF235B1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19" y="3291829"/>
            <a:ext cx="1396262" cy="1047197"/>
          </a:xfrm>
          <a:prstGeom prst="rect">
            <a:avLst/>
          </a:prstGeom>
          <a:noFill/>
        </p:spPr>
      </p:pic>
      <p:pic>
        <p:nvPicPr>
          <p:cNvPr id="1034" name="Picture 10" descr="International Health Partners">
            <a:extLst>
              <a:ext uri="{FF2B5EF4-FFF2-40B4-BE49-F238E27FC236}">
                <a16:creationId xmlns:a16="http://schemas.microsoft.com/office/drawing/2014/main" id="{F5DB17C1-9DEB-31DB-AA69-1E3A26E33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91680" y="3291830"/>
            <a:ext cx="1413470" cy="10452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065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Let us start with the biological/ phenomenological description of the locust swarm formation (2/ 2)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131590"/>
            <a:ext cx="4896544" cy="1679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feld 3"/>
          <p:cNvSpPr txBox="1"/>
          <p:nvPr/>
        </p:nvSpPr>
        <p:spPr>
          <a:xfrm>
            <a:off x="5652120" y="113159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Schematic depiction of a rolling locust swarm. The downwind direction is to the right.</a:t>
            </a:r>
          </a:p>
        </p:txBody>
      </p:sp>
      <p:sp>
        <p:nvSpPr>
          <p:cNvPr id="9" name="Rechteck 8"/>
          <p:cNvSpPr/>
          <p:nvPr/>
        </p:nvSpPr>
        <p:spPr>
          <a:xfrm>
            <a:off x="1691680" y="3579862"/>
            <a:ext cx="7200800" cy="144016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3" name="Grafik 12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048532" y="3639116"/>
            <a:ext cx="6792157" cy="1132384"/>
          </a:xfrm>
          <a:prstGeom prst="rect">
            <a:avLst/>
          </a:prstGeom>
          <a:noFill/>
          <a:ln/>
          <a:effectLst/>
        </p:spPr>
      </p:pic>
      <p:sp>
        <p:nvSpPr>
          <p:cNvPr id="7" name="Ellipse 6"/>
          <p:cNvSpPr/>
          <p:nvPr/>
        </p:nvSpPr>
        <p:spPr>
          <a:xfrm>
            <a:off x="624260" y="2643758"/>
            <a:ext cx="1008112" cy="28803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Ellipse 7"/>
          <p:cNvSpPr/>
          <p:nvPr/>
        </p:nvSpPr>
        <p:spPr>
          <a:xfrm>
            <a:off x="1691680" y="2643758"/>
            <a:ext cx="1872208" cy="28803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Ellipse 9"/>
          <p:cNvSpPr/>
          <p:nvPr/>
        </p:nvSpPr>
        <p:spPr>
          <a:xfrm>
            <a:off x="3635896" y="2643758"/>
            <a:ext cx="995412" cy="2880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Ellipse 10"/>
          <p:cNvSpPr/>
          <p:nvPr/>
        </p:nvSpPr>
        <p:spPr>
          <a:xfrm>
            <a:off x="251520" y="1131590"/>
            <a:ext cx="5040560" cy="14401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Gerade Verbindung 13"/>
          <p:cNvCxnSpPr/>
          <p:nvPr/>
        </p:nvCxnSpPr>
        <p:spPr>
          <a:xfrm>
            <a:off x="5076056" y="2067694"/>
            <a:ext cx="792088" cy="28803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5868144" y="2211710"/>
            <a:ext cx="1436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rolling of the swarm</a:t>
            </a:r>
          </a:p>
        </p:txBody>
      </p:sp>
      <p:cxnSp>
        <p:nvCxnSpPr>
          <p:cNvPr id="16" name="Gerade Verbindung 15"/>
          <p:cNvCxnSpPr/>
          <p:nvPr/>
        </p:nvCxnSpPr>
        <p:spPr>
          <a:xfrm>
            <a:off x="4139952" y="2859782"/>
            <a:ext cx="720080" cy="2880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4860032" y="3003798"/>
            <a:ext cx="1002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landing zone</a:t>
            </a:r>
          </a:p>
        </p:txBody>
      </p:sp>
      <p:cxnSp>
        <p:nvCxnSpPr>
          <p:cNvPr id="19" name="Gerade Verbindung 18"/>
          <p:cNvCxnSpPr>
            <a:endCxn id="20" idx="0"/>
          </p:cNvCxnSpPr>
          <p:nvPr/>
        </p:nvCxnSpPr>
        <p:spPr>
          <a:xfrm flipH="1">
            <a:off x="752523" y="2859782"/>
            <a:ext cx="363093" cy="44308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251520" y="3302863"/>
            <a:ext cx="1002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takeoff zone</a:t>
            </a:r>
          </a:p>
        </p:txBody>
      </p:sp>
      <p:cxnSp>
        <p:nvCxnSpPr>
          <p:cNvPr id="24" name="Gerade Verbindung 23"/>
          <p:cNvCxnSpPr>
            <a:endCxn id="25" idx="0"/>
          </p:cNvCxnSpPr>
          <p:nvPr/>
        </p:nvCxnSpPr>
        <p:spPr>
          <a:xfrm>
            <a:off x="2555776" y="2859782"/>
            <a:ext cx="615075" cy="22705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/>
          <p:cNvSpPr txBox="1"/>
          <p:nvPr/>
        </p:nvSpPr>
        <p:spPr>
          <a:xfrm>
            <a:off x="2699792" y="3086839"/>
            <a:ext cx="9421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resting zone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5" grpId="0"/>
      <p:bldP spid="17" grpId="0"/>
      <p:bldP spid="20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mathematical model for the swarm’s rolling motion consist of the impact of social interactions, gravity, and downwind advection  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6B7EB1D-0A3D-2E20-A736-AB0907C481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78" y="1190846"/>
            <a:ext cx="7098679" cy="3126216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Set-up of the model:</a:t>
            </a:r>
            <a:br>
              <a:rPr lang="en-US" noProof="0" dirty="0"/>
            </a:br>
            <a:r>
              <a:rPr lang="en-US" noProof="0" dirty="0"/>
              <a:t>1) social interaction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1577" y="1190847"/>
            <a:ext cx="7105073" cy="3722685"/>
          </a:xfrm>
          <a:prstGeom prst="rect">
            <a:avLst/>
          </a:prstGeom>
          <a:noFill/>
          <a:ln/>
          <a:effectLst/>
        </p:spPr>
      </p:pic>
      <p:sp>
        <p:nvSpPr>
          <p:cNvPr id="7" name="Rechteck 6"/>
          <p:cNvSpPr/>
          <p:nvPr/>
        </p:nvSpPr>
        <p:spPr>
          <a:xfrm>
            <a:off x="251520" y="113159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/>
              <a:t>Social Interaction</a:t>
            </a:r>
          </a:p>
        </p:txBody>
      </p:sp>
      <p:sp>
        <p:nvSpPr>
          <p:cNvPr id="8" name="Rechteck 7"/>
          <p:cNvSpPr/>
          <p:nvPr/>
        </p:nvSpPr>
        <p:spPr>
          <a:xfrm>
            <a:off x="251520" y="1563638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Gravity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995686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Downwind Advection</a:t>
            </a:r>
          </a:p>
        </p:txBody>
      </p:sp>
      <p:sp>
        <p:nvSpPr>
          <p:cNvPr id="11" name="Rechteck 10"/>
          <p:cNvSpPr/>
          <p:nvPr/>
        </p:nvSpPr>
        <p:spPr>
          <a:xfrm>
            <a:off x="251520" y="2427734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Ground Motion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Set-up of the model:</a:t>
            </a:r>
            <a:br>
              <a:rPr lang="en-US" noProof="0" dirty="0"/>
            </a:br>
            <a:r>
              <a:rPr lang="en-US" noProof="0" dirty="0"/>
              <a:t>1) social interaction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92C98EA-4FAD-F9D8-C9FA-9B065132BF0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77" y="1190843"/>
            <a:ext cx="7043810" cy="3611174"/>
          </a:xfrm>
          <a:prstGeom prst="rect">
            <a:avLst/>
          </a:prstGeom>
          <a:noFill/>
          <a:ln/>
          <a:effectLst/>
        </p:spPr>
      </p:pic>
      <p:sp>
        <p:nvSpPr>
          <p:cNvPr id="7" name="Rechteck 6"/>
          <p:cNvSpPr/>
          <p:nvPr/>
        </p:nvSpPr>
        <p:spPr>
          <a:xfrm>
            <a:off x="251520" y="113159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/>
              <a:t>Social Interaction</a:t>
            </a:r>
          </a:p>
        </p:txBody>
      </p:sp>
      <p:sp>
        <p:nvSpPr>
          <p:cNvPr id="8" name="Rechteck 7"/>
          <p:cNvSpPr/>
          <p:nvPr/>
        </p:nvSpPr>
        <p:spPr>
          <a:xfrm>
            <a:off x="251520" y="1563638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Gravity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995686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Downwind Advection</a:t>
            </a:r>
          </a:p>
        </p:txBody>
      </p:sp>
      <p:sp>
        <p:nvSpPr>
          <p:cNvPr id="11" name="Rechteck 10"/>
          <p:cNvSpPr/>
          <p:nvPr/>
        </p:nvSpPr>
        <p:spPr>
          <a:xfrm>
            <a:off x="251520" y="2427734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Ground 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Set-up of the model:</a:t>
            </a:r>
            <a:br>
              <a:rPr lang="en-US" noProof="0" dirty="0"/>
            </a:br>
            <a:r>
              <a:rPr lang="en-US" noProof="0" dirty="0"/>
              <a:t>1) social interaction</a:t>
            </a:r>
          </a:p>
        </p:txBody>
      </p:sp>
      <p:sp>
        <p:nvSpPr>
          <p:cNvPr id="4" name="Rechteck 3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1878" y="1203583"/>
            <a:ext cx="5346585" cy="3550980"/>
          </a:xfrm>
          <a:prstGeom prst="rect">
            <a:avLst/>
          </a:prstGeom>
          <a:noFill/>
          <a:ln/>
          <a:effectLst/>
        </p:spPr>
      </p:pic>
      <p:grpSp>
        <p:nvGrpSpPr>
          <p:cNvPr id="7" name="Gruppieren 6"/>
          <p:cNvGrpSpPr/>
          <p:nvPr/>
        </p:nvGrpSpPr>
        <p:grpSpPr>
          <a:xfrm>
            <a:off x="251520" y="1131590"/>
            <a:ext cx="2880320" cy="3384376"/>
            <a:chOff x="251520" y="1131590"/>
            <a:chExt cx="1468238" cy="1721818"/>
          </a:xfrm>
        </p:grpSpPr>
        <p:pic>
          <p:nvPicPr>
            <p:cNvPr id="3074" name="Picture 2 1"/>
            <p:cNvPicPr>
              <a:picLocks noChangeAspect="1" noChangeArrowheads="1"/>
            </p:cNvPicPr>
            <p:nvPr/>
          </p:nvPicPr>
          <p:blipFill>
            <a:blip r:embed="rId4" cstate="print"/>
            <a:srcRect r="49208" b="49971"/>
            <a:stretch>
              <a:fillRect/>
            </a:stretch>
          </p:blipFill>
          <p:spPr bwMode="auto">
            <a:xfrm>
              <a:off x="251520" y="1131590"/>
              <a:ext cx="1462980" cy="8369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 2"/>
            <p:cNvPicPr>
              <a:picLocks noChangeAspect="1" noChangeArrowheads="1"/>
            </p:cNvPicPr>
            <p:nvPr/>
          </p:nvPicPr>
          <p:blipFill>
            <a:blip r:embed="rId4" cstate="print"/>
            <a:srcRect l="50486" b="49971"/>
            <a:stretch>
              <a:fillRect/>
            </a:stretch>
          </p:blipFill>
          <p:spPr bwMode="auto">
            <a:xfrm>
              <a:off x="293588" y="2016497"/>
              <a:ext cx="1426170" cy="8369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Set-up of the model:</a:t>
            </a:r>
            <a:br>
              <a:rPr lang="en-US" noProof="0" dirty="0"/>
            </a:br>
            <a:r>
              <a:rPr lang="en-US" noProof="0" dirty="0"/>
              <a:t>2) gravity influence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28B229-0502-7B6A-8AA8-7B89C39BC90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78" y="1190846"/>
            <a:ext cx="7065373" cy="2576143"/>
          </a:xfrm>
          <a:prstGeom prst="rect">
            <a:avLst/>
          </a:prstGeom>
          <a:noFill/>
          <a:ln/>
          <a:effectLst/>
        </p:spPr>
      </p:pic>
      <p:sp>
        <p:nvSpPr>
          <p:cNvPr id="7" name="Rechteck 6"/>
          <p:cNvSpPr/>
          <p:nvPr/>
        </p:nvSpPr>
        <p:spPr>
          <a:xfrm>
            <a:off x="251520" y="1131590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Social Interaction</a:t>
            </a:r>
          </a:p>
        </p:txBody>
      </p:sp>
      <p:sp>
        <p:nvSpPr>
          <p:cNvPr id="8" name="Rechteck 7"/>
          <p:cNvSpPr/>
          <p:nvPr/>
        </p:nvSpPr>
        <p:spPr>
          <a:xfrm>
            <a:off x="251520" y="1563638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/>
              <a:t>Gravity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995686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Downwind Advection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37666" y="3939902"/>
            <a:ext cx="2995520" cy="102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hteck 9"/>
          <p:cNvSpPr/>
          <p:nvPr/>
        </p:nvSpPr>
        <p:spPr>
          <a:xfrm>
            <a:off x="251520" y="2427734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Ground Motion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Set-up of the model:</a:t>
            </a:r>
            <a:br>
              <a:rPr lang="en-US" noProof="0" dirty="0"/>
            </a:br>
            <a:r>
              <a:rPr lang="en-US" noProof="0" dirty="0"/>
              <a:t>3) downwind advection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8D4151D-C91B-BD65-29CD-9DE4D82401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78" y="1190847"/>
            <a:ext cx="7055662" cy="2213579"/>
          </a:xfrm>
          <a:prstGeom prst="rect">
            <a:avLst/>
          </a:prstGeom>
          <a:noFill/>
          <a:ln/>
          <a:effectLst/>
        </p:spPr>
      </p:pic>
      <p:sp>
        <p:nvSpPr>
          <p:cNvPr id="7" name="Rechteck 6"/>
          <p:cNvSpPr/>
          <p:nvPr/>
        </p:nvSpPr>
        <p:spPr>
          <a:xfrm>
            <a:off x="251520" y="1131590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Social Interaction</a:t>
            </a:r>
          </a:p>
        </p:txBody>
      </p:sp>
      <p:sp>
        <p:nvSpPr>
          <p:cNvPr id="8" name="Rechteck 7"/>
          <p:cNvSpPr/>
          <p:nvPr/>
        </p:nvSpPr>
        <p:spPr>
          <a:xfrm>
            <a:off x="251520" y="1563638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Gravity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995686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/>
              <a:t>Downwind Advection</a:t>
            </a:r>
          </a:p>
        </p:txBody>
      </p:sp>
      <p:sp>
        <p:nvSpPr>
          <p:cNvPr id="11" name="Rechteck 10"/>
          <p:cNvSpPr/>
          <p:nvPr/>
        </p:nvSpPr>
        <p:spPr>
          <a:xfrm>
            <a:off x="251520" y="2427734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Ground Motion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Set-up of the model:</a:t>
            </a:r>
            <a:br>
              <a:rPr lang="en-US" noProof="0" dirty="0"/>
            </a:br>
            <a:r>
              <a:rPr lang="en-US" noProof="0" dirty="0"/>
              <a:t>4) ground motion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Grafik 1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1578" y="1190846"/>
            <a:ext cx="7057535" cy="3652484"/>
          </a:xfrm>
          <a:prstGeom prst="rect">
            <a:avLst/>
          </a:prstGeom>
          <a:noFill/>
          <a:ln/>
          <a:effectLst/>
        </p:spPr>
      </p:pic>
      <p:sp>
        <p:nvSpPr>
          <p:cNvPr id="7" name="Rechteck 6"/>
          <p:cNvSpPr/>
          <p:nvPr/>
        </p:nvSpPr>
        <p:spPr>
          <a:xfrm>
            <a:off x="251520" y="1131590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Social Interaction</a:t>
            </a:r>
          </a:p>
        </p:txBody>
      </p:sp>
      <p:sp>
        <p:nvSpPr>
          <p:cNvPr id="8" name="Rechteck 7"/>
          <p:cNvSpPr/>
          <p:nvPr/>
        </p:nvSpPr>
        <p:spPr>
          <a:xfrm>
            <a:off x="251520" y="1563638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Gravity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995686"/>
            <a:ext cx="1296144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Downwind Advection</a:t>
            </a:r>
          </a:p>
        </p:txBody>
      </p:sp>
      <p:sp>
        <p:nvSpPr>
          <p:cNvPr id="11" name="Rechteck 10"/>
          <p:cNvSpPr/>
          <p:nvPr/>
        </p:nvSpPr>
        <p:spPr>
          <a:xfrm>
            <a:off x="251520" y="2427734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/>
              <a:t>Ground Motion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Summary:</a:t>
            </a:r>
            <a:br>
              <a:rPr lang="en-US" noProof="0" dirty="0"/>
            </a:br>
            <a:r>
              <a:rPr lang="en-US" noProof="0" dirty="0"/>
              <a:t>The governing equations for rolling motion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131590"/>
            <a:ext cx="4896544" cy="1679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feld 3"/>
          <p:cNvSpPr txBox="1"/>
          <p:nvPr/>
        </p:nvSpPr>
        <p:spPr>
          <a:xfrm>
            <a:off x="5652120" y="113159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Schematic depiction of a rolling locust swarm. The downwind direction is to the right.</a:t>
            </a:r>
          </a:p>
        </p:txBody>
      </p:sp>
      <p:sp>
        <p:nvSpPr>
          <p:cNvPr id="5" name="Rechteck 4"/>
          <p:cNvSpPr/>
          <p:nvPr/>
        </p:nvSpPr>
        <p:spPr>
          <a:xfrm>
            <a:off x="1691680" y="3075806"/>
            <a:ext cx="7200800" cy="1944216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58E1CC3-FB5E-7E23-9971-3DCEE228FF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77" y="3147815"/>
            <a:ext cx="6318028" cy="1688897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4">
            <a:extLst>
              <a:ext uri="{FF2B5EF4-FFF2-40B4-BE49-F238E27FC236}">
                <a16:creationId xmlns:a16="http://schemas.microsoft.com/office/drawing/2014/main" id="{A0B91C6C-7A9D-01ED-2ED8-F22C3E3B4AEA}"/>
              </a:ext>
            </a:extLst>
          </p:cNvPr>
          <p:cNvSpPr/>
          <p:nvPr/>
        </p:nvSpPr>
        <p:spPr>
          <a:xfrm>
            <a:off x="3851920" y="1684884"/>
            <a:ext cx="504056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A3991C8-6606-A227-8DA8-4F32961BD1E2}"/>
              </a:ext>
            </a:extLst>
          </p:cNvPr>
          <p:cNvSpPr txBox="1"/>
          <p:nvPr/>
        </p:nvSpPr>
        <p:spPr>
          <a:xfrm>
            <a:off x="3851920" y="1131590"/>
            <a:ext cx="3204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Sub-Agenda: Swarms of Locusts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b="1" noProof="0" dirty="0"/>
              <a:t>The Computerized Model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Simulations</a:t>
            </a:r>
          </a:p>
        </p:txBody>
      </p:sp>
      <p:pic>
        <p:nvPicPr>
          <p:cNvPr id="5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079F6A3B-37FE-4ED9-AA94-978053239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2813043" cy="1687826"/>
          </a:xfrm>
          <a:prstGeom prst="rect">
            <a:avLst/>
          </a:prstGeom>
          <a:noFill/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2F213FA-F38F-70F6-57BD-36CD2A01F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035334"/>
            <a:ext cx="2561426" cy="1981288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E8795145-E13F-9661-A88D-813C2E070619}"/>
              </a:ext>
            </a:extLst>
          </p:cNvPr>
          <p:cNvSpPr/>
          <p:nvPr/>
        </p:nvSpPr>
        <p:spPr>
          <a:xfrm>
            <a:off x="251520" y="3007198"/>
            <a:ext cx="2813043" cy="201282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811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4F1D4-F8ED-4E20-A558-F5D367DF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modular program structure follows our previous architectures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D4FDDB8-266C-F083-D057-B98BDA96E9E1}"/>
              </a:ext>
            </a:extLst>
          </p:cNvPr>
          <p:cNvSpPr/>
          <p:nvPr/>
        </p:nvSpPr>
        <p:spPr>
          <a:xfrm>
            <a:off x="251520" y="1131590"/>
            <a:ext cx="1296144" cy="70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Understand the Problem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23E1E12-6E1B-1642-8EAD-DDFC5848DDF2}"/>
              </a:ext>
            </a:extLst>
          </p:cNvPr>
          <p:cNvSpPr/>
          <p:nvPr/>
        </p:nvSpPr>
        <p:spPr>
          <a:xfrm>
            <a:off x="251520" y="1952061"/>
            <a:ext cx="1296144" cy="70961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bg1"/>
                </a:solidFill>
              </a:rPr>
              <a:t>2. Plan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154890F-1CD0-5481-FB29-CC18DF75E6E2}"/>
              </a:ext>
            </a:extLst>
          </p:cNvPr>
          <p:cNvSpPr/>
          <p:nvPr/>
        </p:nvSpPr>
        <p:spPr>
          <a:xfrm>
            <a:off x="251520" y="3634389"/>
            <a:ext cx="1296144" cy="70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Look Back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A790C1-9C00-B258-2418-63C8C2D13EB7}"/>
              </a:ext>
            </a:extLst>
          </p:cNvPr>
          <p:cNvSpPr/>
          <p:nvPr/>
        </p:nvSpPr>
        <p:spPr>
          <a:xfrm>
            <a:off x="251520" y="2793225"/>
            <a:ext cx="1296144" cy="70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Execute</a:t>
            </a:r>
          </a:p>
        </p:txBody>
      </p:sp>
      <p:sp>
        <p:nvSpPr>
          <p:cNvPr id="7" name="Rechteck: obere Ecken abgerundet 6">
            <a:extLst>
              <a:ext uri="{FF2B5EF4-FFF2-40B4-BE49-F238E27FC236}">
                <a16:creationId xmlns:a16="http://schemas.microsoft.com/office/drawing/2014/main" id="{42AFA338-9E01-C640-578A-D47CCC1C2AB7}"/>
              </a:ext>
            </a:extLst>
          </p:cNvPr>
          <p:cNvSpPr/>
          <p:nvPr/>
        </p:nvSpPr>
        <p:spPr>
          <a:xfrm>
            <a:off x="3275855" y="1136043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D0B2F95-9A0B-AB5F-07B1-9EA4C96A5AA0}"/>
              </a:ext>
            </a:extLst>
          </p:cNvPr>
          <p:cNvSpPr/>
          <p:nvPr/>
        </p:nvSpPr>
        <p:spPr>
          <a:xfrm>
            <a:off x="3275856" y="1269676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 err="1">
                <a:solidFill>
                  <a:schemeClr val="tx1"/>
                </a:solidFill>
              </a:rPr>
              <a:t>locust_swarm</a:t>
            </a:r>
            <a:r>
              <a:rPr lang="en-US" sz="1200" noProof="0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9" name="Rechteck: obere Ecken abgerundet 8">
            <a:extLst>
              <a:ext uri="{FF2B5EF4-FFF2-40B4-BE49-F238E27FC236}">
                <a16:creationId xmlns:a16="http://schemas.microsoft.com/office/drawing/2014/main" id="{828CB12B-B102-25EF-2665-2AD6BAAD1459}"/>
              </a:ext>
            </a:extLst>
          </p:cNvPr>
          <p:cNvSpPr/>
          <p:nvPr/>
        </p:nvSpPr>
        <p:spPr>
          <a:xfrm>
            <a:off x="1835696" y="2283718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90F47E6-A9E7-1C63-31F4-7077D2F6CFD0}"/>
              </a:ext>
            </a:extLst>
          </p:cNvPr>
          <p:cNvSpPr/>
          <p:nvPr/>
        </p:nvSpPr>
        <p:spPr>
          <a:xfrm>
            <a:off x="1835697" y="2417351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output/</a:t>
            </a:r>
          </a:p>
        </p:txBody>
      </p:sp>
      <p:sp>
        <p:nvSpPr>
          <p:cNvPr id="11" name="Rechteck: obere Ecken abgerundet 10">
            <a:extLst>
              <a:ext uri="{FF2B5EF4-FFF2-40B4-BE49-F238E27FC236}">
                <a16:creationId xmlns:a16="http://schemas.microsoft.com/office/drawing/2014/main" id="{D336A00B-C745-923E-DAB4-D921E86EFF33}"/>
              </a:ext>
            </a:extLst>
          </p:cNvPr>
          <p:cNvSpPr/>
          <p:nvPr/>
        </p:nvSpPr>
        <p:spPr>
          <a:xfrm>
            <a:off x="1835696" y="4157078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6BFBA8-8F4B-CCA2-45E4-E5EE7E9D1764}"/>
              </a:ext>
            </a:extLst>
          </p:cNvPr>
          <p:cNvSpPr/>
          <p:nvPr/>
        </p:nvSpPr>
        <p:spPr>
          <a:xfrm>
            <a:off x="1835696" y="4290711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tests/</a:t>
            </a:r>
          </a:p>
        </p:txBody>
      </p: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9EC39A13-EF56-5886-5786-2A23049E9073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rot="5400000">
            <a:off x="2956355" y="1742426"/>
            <a:ext cx="927036" cy="864095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4B6D5F90-934E-A885-5A72-E1889253948D}"/>
              </a:ext>
            </a:extLst>
          </p:cNvPr>
          <p:cNvCxnSpPr>
            <a:cxnSpLocks/>
            <a:stCxn id="8" idx="2"/>
            <a:endCxn id="12" idx="3"/>
          </p:cNvCxnSpPr>
          <p:nvPr/>
        </p:nvCxnSpPr>
        <p:spPr>
          <a:xfrm rot="5400000">
            <a:off x="2019674" y="2679105"/>
            <a:ext cx="2800396" cy="864096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83DE6D02-0C90-6D7A-BB5D-E5421FF5F3AE}"/>
              </a:ext>
            </a:extLst>
          </p:cNvPr>
          <p:cNvSpPr/>
          <p:nvPr/>
        </p:nvSpPr>
        <p:spPr>
          <a:xfrm>
            <a:off x="1999910" y="2980115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plots.py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29A5170-8F99-D66F-C22E-D81F42AA01FE}"/>
              </a:ext>
            </a:extLst>
          </p:cNvPr>
          <p:cNvSpPr/>
          <p:nvPr/>
        </p:nvSpPr>
        <p:spPr>
          <a:xfrm>
            <a:off x="1999910" y="3314374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animation.py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D960525-F07F-6D95-CD99-C60263090210}"/>
              </a:ext>
            </a:extLst>
          </p:cNvPr>
          <p:cNvSpPr/>
          <p:nvPr/>
        </p:nvSpPr>
        <p:spPr>
          <a:xfrm>
            <a:off x="1999910" y="3646685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snapshots.py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DA10BB6-E4E9-6CD9-DD08-4D29D3148A58}"/>
              </a:ext>
            </a:extLst>
          </p:cNvPr>
          <p:cNvSpPr/>
          <p:nvPr/>
        </p:nvSpPr>
        <p:spPr>
          <a:xfrm>
            <a:off x="1835696" y="2725015"/>
            <a:ext cx="164213" cy="133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662819B3-D713-6336-A9CB-5E6F5E28652A}"/>
              </a:ext>
            </a:extLst>
          </p:cNvPr>
          <p:cNvCxnSpPr>
            <a:cxnSpLocks/>
            <a:stCxn id="21" idx="2"/>
            <a:endCxn id="18" idx="1"/>
          </p:cNvCxnSpPr>
          <p:nvPr/>
        </p:nvCxnSpPr>
        <p:spPr>
          <a:xfrm rot="16200000" flipH="1">
            <a:off x="1826115" y="2950336"/>
            <a:ext cx="26548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022C8E57-15B1-3815-E9E4-127A6304CFCB}"/>
              </a:ext>
            </a:extLst>
          </p:cNvPr>
          <p:cNvCxnSpPr>
            <a:cxnSpLocks/>
            <a:stCxn id="21" idx="2"/>
            <a:endCxn id="20" idx="1"/>
          </p:cNvCxnSpPr>
          <p:nvPr/>
        </p:nvCxnSpPr>
        <p:spPr>
          <a:xfrm rot="16200000" flipH="1">
            <a:off x="1492830" y="3283621"/>
            <a:ext cx="93205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5CE1195C-827F-ED5B-93BB-700FE06DDCD8}"/>
              </a:ext>
            </a:extLst>
          </p:cNvPr>
          <p:cNvCxnSpPr>
            <a:cxnSpLocks/>
            <a:stCxn id="21" idx="2"/>
            <a:endCxn id="19" idx="1"/>
          </p:cNvCxnSpPr>
          <p:nvPr/>
        </p:nvCxnSpPr>
        <p:spPr>
          <a:xfrm rot="16200000" flipH="1">
            <a:off x="1658986" y="3117465"/>
            <a:ext cx="599741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Rechteck: obere Ecken abgerundet 30">
            <a:extLst>
              <a:ext uri="{FF2B5EF4-FFF2-40B4-BE49-F238E27FC236}">
                <a16:creationId xmlns:a16="http://schemas.microsoft.com/office/drawing/2014/main" id="{C4BC93A0-0A48-8334-2F5C-FEA0D109B522}"/>
              </a:ext>
            </a:extLst>
          </p:cNvPr>
          <p:cNvSpPr/>
          <p:nvPr/>
        </p:nvSpPr>
        <p:spPr>
          <a:xfrm>
            <a:off x="4716016" y="3075806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9E70D8AD-579A-2416-D76F-2AE7A6FF1432}"/>
              </a:ext>
            </a:extLst>
          </p:cNvPr>
          <p:cNvSpPr/>
          <p:nvPr/>
        </p:nvSpPr>
        <p:spPr>
          <a:xfrm>
            <a:off x="4716017" y="3209439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simulation/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CB13145-7220-CEAF-CCC0-9E87DB0FECA0}"/>
              </a:ext>
            </a:extLst>
          </p:cNvPr>
          <p:cNvSpPr/>
          <p:nvPr/>
        </p:nvSpPr>
        <p:spPr>
          <a:xfrm>
            <a:off x="4880230" y="3772203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initializer.py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3C1D1B5-5E6F-39FF-984D-FD24FC7CDDB5}"/>
              </a:ext>
            </a:extLst>
          </p:cNvPr>
          <p:cNvSpPr/>
          <p:nvPr/>
        </p:nvSpPr>
        <p:spPr>
          <a:xfrm>
            <a:off x="4880230" y="4106462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runner.py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68D1923-BCE6-31F2-0DA7-92BFFFA55E51}"/>
              </a:ext>
            </a:extLst>
          </p:cNvPr>
          <p:cNvSpPr/>
          <p:nvPr/>
        </p:nvSpPr>
        <p:spPr>
          <a:xfrm>
            <a:off x="4880230" y="4438773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diagnostics.py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6AE7F28D-AB86-7248-D7D9-A40ED5342948}"/>
              </a:ext>
            </a:extLst>
          </p:cNvPr>
          <p:cNvSpPr/>
          <p:nvPr/>
        </p:nvSpPr>
        <p:spPr>
          <a:xfrm>
            <a:off x="4716016" y="3517103"/>
            <a:ext cx="164213" cy="133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9EFD2FFD-B6F5-8F3B-F8E2-21F7184DE5D3}"/>
              </a:ext>
            </a:extLst>
          </p:cNvPr>
          <p:cNvCxnSpPr>
            <a:cxnSpLocks/>
            <a:stCxn id="36" idx="2"/>
            <a:endCxn id="33" idx="1"/>
          </p:cNvCxnSpPr>
          <p:nvPr/>
        </p:nvCxnSpPr>
        <p:spPr>
          <a:xfrm rot="16200000" flipH="1">
            <a:off x="4706435" y="3742424"/>
            <a:ext cx="26548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6E876B6A-FC6E-7114-4DE2-F484E655CCE2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4373150" y="4075709"/>
            <a:ext cx="93205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C4C72008-599E-929B-AAEA-DA7B82F6AE5E}"/>
              </a:ext>
            </a:extLst>
          </p:cNvPr>
          <p:cNvCxnSpPr>
            <a:cxnSpLocks/>
            <a:stCxn id="36" idx="2"/>
            <a:endCxn id="34" idx="1"/>
          </p:cNvCxnSpPr>
          <p:nvPr/>
        </p:nvCxnSpPr>
        <p:spPr>
          <a:xfrm rot="16200000" flipH="1">
            <a:off x="4539306" y="3909553"/>
            <a:ext cx="599741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Rechteck: obere Ecken abgerundet 40">
            <a:extLst>
              <a:ext uri="{FF2B5EF4-FFF2-40B4-BE49-F238E27FC236}">
                <a16:creationId xmlns:a16="http://schemas.microsoft.com/office/drawing/2014/main" id="{8691CF99-8ADD-74F2-5C81-7FE3DF015704}"/>
              </a:ext>
            </a:extLst>
          </p:cNvPr>
          <p:cNvSpPr/>
          <p:nvPr/>
        </p:nvSpPr>
        <p:spPr>
          <a:xfrm>
            <a:off x="4723216" y="1659329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A1372AE-E425-6D9F-6185-75A690B71A80}"/>
              </a:ext>
            </a:extLst>
          </p:cNvPr>
          <p:cNvSpPr/>
          <p:nvPr/>
        </p:nvSpPr>
        <p:spPr>
          <a:xfrm>
            <a:off x="4723217" y="1792962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config/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E4E7CF4C-6957-A941-2013-6FC0EA985EAA}"/>
              </a:ext>
            </a:extLst>
          </p:cNvPr>
          <p:cNvSpPr/>
          <p:nvPr/>
        </p:nvSpPr>
        <p:spPr>
          <a:xfrm>
            <a:off x="4887430" y="2355726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parameters.py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F1C0FD41-978B-E2EA-7C62-2081854F0341}"/>
              </a:ext>
            </a:extLst>
          </p:cNvPr>
          <p:cNvSpPr/>
          <p:nvPr/>
        </p:nvSpPr>
        <p:spPr>
          <a:xfrm>
            <a:off x="4723216" y="2100626"/>
            <a:ext cx="164213" cy="133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47" name="Verbinder: gewinkelt 46">
            <a:extLst>
              <a:ext uri="{FF2B5EF4-FFF2-40B4-BE49-F238E27FC236}">
                <a16:creationId xmlns:a16="http://schemas.microsoft.com/office/drawing/2014/main" id="{5C49BA4B-DB11-EFEE-ED4A-CAD3C345BE05}"/>
              </a:ext>
            </a:extLst>
          </p:cNvPr>
          <p:cNvCxnSpPr>
            <a:cxnSpLocks/>
            <a:stCxn id="46" idx="2"/>
            <a:endCxn id="43" idx="1"/>
          </p:cNvCxnSpPr>
          <p:nvPr/>
        </p:nvCxnSpPr>
        <p:spPr>
          <a:xfrm rot="16200000" flipH="1">
            <a:off x="4713635" y="2325947"/>
            <a:ext cx="26548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Rechteck: obere Ecken abgerundet 60">
            <a:extLst>
              <a:ext uri="{FF2B5EF4-FFF2-40B4-BE49-F238E27FC236}">
                <a16:creationId xmlns:a16="http://schemas.microsoft.com/office/drawing/2014/main" id="{A46F4CD6-FF8C-DFCA-5009-2B72273B3623}"/>
              </a:ext>
            </a:extLst>
          </p:cNvPr>
          <p:cNvSpPr/>
          <p:nvPr/>
        </p:nvSpPr>
        <p:spPr>
          <a:xfrm>
            <a:off x="7020271" y="2499742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626033AF-E0BE-2365-996E-477AAF74C6B9}"/>
              </a:ext>
            </a:extLst>
          </p:cNvPr>
          <p:cNvSpPr/>
          <p:nvPr/>
        </p:nvSpPr>
        <p:spPr>
          <a:xfrm>
            <a:off x="7020272" y="2633375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model/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A1DAE2E-EB20-C702-4181-DBBB28A786A6}"/>
              </a:ext>
            </a:extLst>
          </p:cNvPr>
          <p:cNvSpPr/>
          <p:nvPr/>
        </p:nvSpPr>
        <p:spPr>
          <a:xfrm>
            <a:off x="7668344" y="319613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state.py</a:t>
            </a: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79FC8518-E951-E274-8AD0-D1485C9C805F}"/>
              </a:ext>
            </a:extLst>
          </p:cNvPr>
          <p:cNvSpPr/>
          <p:nvPr/>
        </p:nvSpPr>
        <p:spPr>
          <a:xfrm>
            <a:off x="7668344" y="3530398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interaction.py</a:t>
            </a: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08946B1-854A-7EF9-E17E-9E83C226FA6A}"/>
              </a:ext>
            </a:extLst>
          </p:cNvPr>
          <p:cNvSpPr/>
          <p:nvPr/>
        </p:nvSpPr>
        <p:spPr>
          <a:xfrm>
            <a:off x="7668344" y="386270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forces.py</a:t>
            </a:r>
          </a:p>
        </p:txBody>
      </p:sp>
      <p:cxnSp>
        <p:nvCxnSpPr>
          <p:cNvPr id="67" name="Verbinder: gewinkelt 66">
            <a:extLst>
              <a:ext uri="{FF2B5EF4-FFF2-40B4-BE49-F238E27FC236}">
                <a16:creationId xmlns:a16="http://schemas.microsoft.com/office/drawing/2014/main" id="{2247B5DD-45A4-7FD0-783D-1FE62A472265}"/>
              </a:ext>
            </a:extLst>
          </p:cNvPr>
          <p:cNvCxnSpPr>
            <a:cxnSpLocks/>
            <a:stCxn id="62" idx="2"/>
            <a:endCxn id="63" idx="1"/>
          </p:cNvCxnSpPr>
          <p:nvPr/>
        </p:nvCxnSpPr>
        <p:spPr>
          <a:xfrm rot="16200000" flipH="1">
            <a:off x="7499590" y="3171400"/>
            <a:ext cx="265501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75235886-934E-BA7E-FB58-17D653FB5C62}"/>
              </a:ext>
            </a:extLst>
          </p:cNvPr>
          <p:cNvCxnSpPr>
            <a:cxnSpLocks/>
            <a:stCxn id="62" idx="2"/>
            <a:endCxn id="65" idx="1"/>
          </p:cNvCxnSpPr>
          <p:nvPr/>
        </p:nvCxnSpPr>
        <p:spPr>
          <a:xfrm rot="16200000" flipH="1">
            <a:off x="7166305" y="3504685"/>
            <a:ext cx="932071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Verbinder: gewinkelt 68">
            <a:extLst>
              <a:ext uri="{FF2B5EF4-FFF2-40B4-BE49-F238E27FC236}">
                <a16:creationId xmlns:a16="http://schemas.microsoft.com/office/drawing/2014/main" id="{0B2A2F92-21CA-E87D-B189-F3903ED2F1A6}"/>
              </a:ext>
            </a:extLst>
          </p:cNvPr>
          <p:cNvCxnSpPr>
            <a:cxnSpLocks/>
            <a:stCxn id="62" idx="2"/>
            <a:endCxn id="64" idx="1"/>
          </p:cNvCxnSpPr>
          <p:nvPr/>
        </p:nvCxnSpPr>
        <p:spPr>
          <a:xfrm rot="16200000" flipH="1">
            <a:off x="7332460" y="3338530"/>
            <a:ext cx="599760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Rechteck 69">
            <a:extLst>
              <a:ext uri="{FF2B5EF4-FFF2-40B4-BE49-F238E27FC236}">
                <a16:creationId xmlns:a16="http://schemas.microsoft.com/office/drawing/2014/main" id="{222318F2-2725-BD18-A09C-C1B3CFE922C0}"/>
              </a:ext>
            </a:extLst>
          </p:cNvPr>
          <p:cNvSpPr/>
          <p:nvPr/>
        </p:nvSpPr>
        <p:spPr>
          <a:xfrm>
            <a:off x="1835696" y="1707654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main.py</a:t>
            </a:r>
          </a:p>
        </p:txBody>
      </p:sp>
      <p:cxnSp>
        <p:nvCxnSpPr>
          <p:cNvPr id="72" name="Verbinder: gewinkelt 71">
            <a:extLst>
              <a:ext uri="{FF2B5EF4-FFF2-40B4-BE49-F238E27FC236}">
                <a16:creationId xmlns:a16="http://schemas.microsoft.com/office/drawing/2014/main" id="{084FD59A-D163-33CD-7E5D-C37C381EB506}"/>
              </a:ext>
            </a:extLst>
          </p:cNvPr>
          <p:cNvCxnSpPr>
            <a:stCxn id="42" idx="1"/>
            <a:endCxn id="8" idx="2"/>
          </p:cNvCxnSpPr>
          <p:nvPr/>
        </p:nvCxnSpPr>
        <p:spPr>
          <a:xfrm rot="10800000">
            <a:off x="3851921" y="1710956"/>
            <a:ext cx="871297" cy="30264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EF177C58-B57D-EF67-5E67-2745787AA670}"/>
              </a:ext>
            </a:extLst>
          </p:cNvPr>
          <p:cNvCxnSpPr>
            <a:cxnSpLocks/>
            <a:stCxn id="32" idx="1"/>
            <a:endCxn id="8" idx="2"/>
          </p:cNvCxnSpPr>
          <p:nvPr/>
        </p:nvCxnSpPr>
        <p:spPr>
          <a:xfrm rot="10800000">
            <a:off x="3851921" y="1710955"/>
            <a:ext cx="864097" cy="1719124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1070BD80-7333-8441-FF51-C2FAE088F0F5}"/>
              </a:ext>
            </a:extLst>
          </p:cNvPr>
          <p:cNvCxnSpPr>
            <a:stCxn id="70" idx="3"/>
            <a:endCxn id="8" idx="2"/>
          </p:cNvCxnSpPr>
          <p:nvPr/>
        </p:nvCxnSpPr>
        <p:spPr>
          <a:xfrm flipV="1">
            <a:off x="3059832" y="1710955"/>
            <a:ext cx="792088" cy="140715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0A34B903-838E-BA55-D6CD-273C579CA9EE}"/>
              </a:ext>
            </a:extLst>
          </p:cNvPr>
          <p:cNvCxnSpPr>
            <a:cxnSpLocks/>
            <a:stCxn id="8" idx="2"/>
            <a:endCxn id="62" idx="1"/>
          </p:cNvCxnSpPr>
          <p:nvPr/>
        </p:nvCxnSpPr>
        <p:spPr>
          <a:xfrm rot="16200000" flipH="1">
            <a:off x="4864566" y="698309"/>
            <a:ext cx="1143060" cy="3168352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6BA9E2B0-2741-50A0-F3C3-588363142D69}"/>
              </a:ext>
            </a:extLst>
          </p:cNvPr>
          <p:cNvSpPr/>
          <p:nvPr/>
        </p:nvSpPr>
        <p:spPr>
          <a:xfrm>
            <a:off x="6300192" y="4030960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boundary.py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360F8D19-26B4-162F-4894-4BD4A430EE84}"/>
              </a:ext>
            </a:extLst>
          </p:cNvPr>
          <p:cNvSpPr/>
          <p:nvPr/>
        </p:nvSpPr>
        <p:spPr>
          <a:xfrm>
            <a:off x="6300192" y="3363838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dynamics.py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FD95171A-707D-3EAB-989E-B127A0B2E841}"/>
              </a:ext>
            </a:extLst>
          </p:cNvPr>
          <p:cNvSpPr/>
          <p:nvPr/>
        </p:nvSpPr>
        <p:spPr>
          <a:xfrm>
            <a:off x="6300192" y="369614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integrator.py</a:t>
            </a:r>
          </a:p>
        </p:txBody>
      </p:sp>
      <p:cxnSp>
        <p:nvCxnSpPr>
          <p:cNvPr id="95" name="Verbinder: gewinkelt 94">
            <a:extLst>
              <a:ext uri="{FF2B5EF4-FFF2-40B4-BE49-F238E27FC236}">
                <a16:creationId xmlns:a16="http://schemas.microsoft.com/office/drawing/2014/main" id="{18A44EF3-474E-6BE3-6E58-D9B3EA2E2E5C}"/>
              </a:ext>
            </a:extLst>
          </p:cNvPr>
          <p:cNvCxnSpPr>
            <a:cxnSpLocks/>
            <a:stCxn id="62" idx="2"/>
            <a:endCxn id="94" idx="3"/>
          </p:cNvCxnSpPr>
          <p:nvPr/>
        </p:nvCxnSpPr>
        <p:spPr>
          <a:xfrm rot="5400000">
            <a:off x="7177577" y="3421405"/>
            <a:ext cx="765511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Verbinder: gewinkelt 97">
            <a:extLst>
              <a:ext uri="{FF2B5EF4-FFF2-40B4-BE49-F238E27FC236}">
                <a16:creationId xmlns:a16="http://schemas.microsoft.com/office/drawing/2014/main" id="{577CAAE7-753E-D5D9-F965-44A9994BA94C}"/>
              </a:ext>
            </a:extLst>
          </p:cNvPr>
          <p:cNvCxnSpPr>
            <a:cxnSpLocks/>
            <a:stCxn id="62" idx="2"/>
            <a:endCxn id="93" idx="3"/>
          </p:cNvCxnSpPr>
          <p:nvPr/>
        </p:nvCxnSpPr>
        <p:spPr>
          <a:xfrm rot="5400000">
            <a:off x="7343732" y="3255250"/>
            <a:ext cx="433200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Verbinder: gewinkelt 101">
            <a:extLst>
              <a:ext uri="{FF2B5EF4-FFF2-40B4-BE49-F238E27FC236}">
                <a16:creationId xmlns:a16="http://schemas.microsoft.com/office/drawing/2014/main" id="{B3EC2214-5E99-BACD-CE45-39E1E6CBA51E}"/>
              </a:ext>
            </a:extLst>
          </p:cNvPr>
          <p:cNvCxnSpPr>
            <a:cxnSpLocks/>
            <a:stCxn id="62" idx="2"/>
            <a:endCxn id="92" idx="3"/>
          </p:cNvCxnSpPr>
          <p:nvPr/>
        </p:nvCxnSpPr>
        <p:spPr>
          <a:xfrm rot="5400000">
            <a:off x="7010171" y="3588811"/>
            <a:ext cx="1100322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73B0DC8D-521E-5002-E53D-47AA85CA8762}"/>
              </a:ext>
            </a:extLst>
          </p:cNvPr>
          <p:cNvSpPr/>
          <p:nvPr/>
        </p:nvSpPr>
        <p:spPr>
          <a:xfrm>
            <a:off x="6732240" y="1428022"/>
            <a:ext cx="2142136" cy="59275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script </a:t>
            </a:r>
            <a:r>
              <a:rPr lang="en-US" sz="1000" dirty="0">
                <a:solidFill>
                  <a:schemeClr val="tx1"/>
                </a:solidFill>
              </a:rPr>
              <a:t>that automatically creates </a:t>
            </a:r>
            <a:r>
              <a:rPr lang="en-US" sz="1000" noProof="0" dirty="0">
                <a:solidFill>
                  <a:schemeClr val="tx1"/>
                </a:solidFill>
              </a:rPr>
              <a:t>all the folders and files (correct names, but empty)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5B2D19E-18D2-63F7-AF5A-A3FE7728D1D7}"/>
              </a:ext>
            </a:extLst>
          </p:cNvPr>
          <p:cNvSpPr/>
          <p:nvPr/>
        </p:nvSpPr>
        <p:spPr>
          <a:xfrm>
            <a:off x="6732240" y="1139989"/>
            <a:ext cx="2142136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setup.py</a:t>
            </a:r>
          </a:p>
        </p:txBody>
      </p:sp>
    </p:spTree>
    <p:extLst>
      <p:ext uri="{BB962C8B-B14F-4D97-AF65-F5344CB8AC3E}">
        <p14:creationId xmlns:p14="http://schemas.microsoft.com/office/powerpoint/2010/main" val="271547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32DCA-F99D-BF05-0527-C6BA2D95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Here, the single files contain the information necessary to simulate the swarm of locusts according to our mathematical model (1/ 2)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432F2FF-2C16-8220-7AE5-AF691173BB11}"/>
              </a:ext>
            </a:extLst>
          </p:cNvPr>
          <p:cNvSpPr/>
          <p:nvPr/>
        </p:nvSpPr>
        <p:spPr>
          <a:xfrm>
            <a:off x="251520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Main file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supported by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README.md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requirenments.txt</a:t>
            </a:r>
          </a:p>
          <a:p>
            <a:endParaRPr lang="en-US" sz="1000" noProof="0" dirty="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D5EA64C-3E58-51CA-70ED-F99D0A6B583F}"/>
              </a:ext>
            </a:extLst>
          </p:cNvPr>
          <p:cNvSpPr/>
          <p:nvPr/>
        </p:nvSpPr>
        <p:spPr>
          <a:xfrm>
            <a:off x="1979712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Stores: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number of locusts N,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F, L, G, U,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timestep dt,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total simulation time,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domain size,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random seed,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plotting options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11DC092-8760-1D77-2EC4-642EA9BCC3E8}"/>
              </a:ext>
            </a:extLst>
          </p:cNvPr>
          <p:cNvSpPr/>
          <p:nvPr/>
        </p:nvSpPr>
        <p:spPr>
          <a:xfrm>
            <a:off x="3744742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Defines the swarm state: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positions array of shape (N, 2),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optional grounded mask,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helper functions for copying/updating state.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38C26F1-24A7-123B-B76A-D8ABE3AA31A9}"/>
              </a:ext>
            </a:extLst>
          </p:cNvPr>
          <p:cNvSpPr/>
          <p:nvPr/>
        </p:nvSpPr>
        <p:spPr>
          <a:xfrm>
            <a:off x="5508104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Implements: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pairwise distances,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Morse interaction s(r),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social velocity computation.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692BA69-CC81-D427-8CDC-1CCFA003C58E}"/>
              </a:ext>
            </a:extLst>
          </p:cNvPr>
          <p:cNvSpPr/>
          <p:nvPr/>
        </p:nvSpPr>
        <p:spPr>
          <a:xfrm>
            <a:off x="251520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main.py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2DF05C-3DEB-C674-BEE5-F038A9E845AF}"/>
              </a:ext>
            </a:extLst>
          </p:cNvPr>
          <p:cNvSpPr/>
          <p:nvPr/>
        </p:nvSpPr>
        <p:spPr>
          <a:xfrm>
            <a:off x="1979712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config/parameters.py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E9A6D44-0CDD-3C1F-E395-7A3D0595C965}"/>
              </a:ext>
            </a:extLst>
          </p:cNvPr>
          <p:cNvSpPr/>
          <p:nvPr/>
        </p:nvSpPr>
        <p:spPr>
          <a:xfrm>
            <a:off x="3744742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model/state.py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7947EE9-C8DA-5F1F-D025-60ECB843BB9A}"/>
              </a:ext>
            </a:extLst>
          </p:cNvPr>
          <p:cNvSpPr/>
          <p:nvPr/>
        </p:nvSpPr>
        <p:spPr>
          <a:xfrm>
            <a:off x="5508104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model/interactions.py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3E1F7A7-1878-7E24-68C7-B140325B4409}"/>
              </a:ext>
            </a:extLst>
          </p:cNvPr>
          <p:cNvSpPr/>
          <p:nvPr/>
        </p:nvSpPr>
        <p:spPr>
          <a:xfrm>
            <a:off x="7236296" y="1416908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Implements: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gravity contribution,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wind contribution,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combined unconstrained velocity.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002675C-814D-4F1F-0096-2F63117F29DB}"/>
              </a:ext>
            </a:extLst>
          </p:cNvPr>
          <p:cNvSpPr/>
          <p:nvPr/>
        </p:nvSpPr>
        <p:spPr>
          <a:xfrm>
            <a:off x="7236296" y="1128876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model/forces.py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FE34958-1EF5-EFEF-9D7E-4E45B8E20830}"/>
              </a:ext>
            </a:extLst>
          </p:cNvPr>
          <p:cNvSpPr/>
          <p:nvPr/>
        </p:nvSpPr>
        <p:spPr>
          <a:xfrm>
            <a:off x="251520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Implements: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clipping to z ≥ 0,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sticky-ground take-off/ landing rule.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4DEB103-CE93-96F8-E2EF-1E934A29904F}"/>
              </a:ext>
            </a:extLst>
          </p:cNvPr>
          <p:cNvSpPr/>
          <p:nvPr/>
        </p:nvSpPr>
        <p:spPr>
          <a:xfrm>
            <a:off x="1979712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High-level function: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input current positions,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compute social &amp; gravity &amp; wind,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apply boundary rule,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return final velocity.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939BB64-5795-F846-B8F4-E157F11C1CD4}"/>
              </a:ext>
            </a:extLst>
          </p:cNvPr>
          <p:cNvSpPr/>
          <p:nvPr/>
        </p:nvSpPr>
        <p:spPr>
          <a:xfrm>
            <a:off x="3744742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Numerical stepping: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explicit Euler is enough for a first version,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later one can compare with RK45.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8B95DBA-33C1-E645-9AEE-CD00F90D8BB3}"/>
              </a:ext>
            </a:extLst>
          </p:cNvPr>
          <p:cNvSpPr/>
          <p:nvPr/>
        </p:nvSpPr>
        <p:spPr>
          <a:xfrm>
            <a:off x="5508104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Creates initial states: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random cloud,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disk-shaped swarm,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already airborne group.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38EDD64-98B1-C588-E9AC-1F36A755A81F}"/>
              </a:ext>
            </a:extLst>
          </p:cNvPr>
          <p:cNvSpPr/>
          <p:nvPr/>
        </p:nvSpPr>
        <p:spPr>
          <a:xfrm>
            <a:off x="251520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model/boundary.py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293F821-5F2D-3416-AD45-09B9AE59E3A3}"/>
              </a:ext>
            </a:extLst>
          </p:cNvPr>
          <p:cNvSpPr/>
          <p:nvPr/>
        </p:nvSpPr>
        <p:spPr>
          <a:xfrm>
            <a:off x="1979712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model/dynamics.py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A5BED11-536C-1324-96A5-8136F5A8A121}"/>
              </a:ext>
            </a:extLst>
          </p:cNvPr>
          <p:cNvSpPr/>
          <p:nvPr/>
        </p:nvSpPr>
        <p:spPr>
          <a:xfrm>
            <a:off x="3744742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model/integrator.py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0CDF0CA-E256-F216-6695-2ACEB7896577}"/>
              </a:ext>
            </a:extLst>
          </p:cNvPr>
          <p:cNvSpPr/>
          <p:nvPr/>
        </p:nvSpPr>
        <p:spPr>
          <a:xfrm>
            <a:off x="5508104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simulation/initializer.py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C55740B-24B7-2A7B-39C9-C8AD98CB3BE8}"/>
              </a:ext>
            </a:extLst>
          </p:cNvPr>
          <p:cNvSpPr/>
          <p:nvPr/>
        </p:nvSpPr>
        <p:spPr>
          <a:xfrm>
            <a:off x="7236296" y="3453670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Runs the loop over time: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update state,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store history,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call diagnostics.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13CE109-7184-1DD3-0F18-4E8A3D5DD2A1}"/>
              </a:ext>
            </a:extLst>
          </p:cNvPr>
          <p:cNvSpPr/>
          <p:nvPr/>
        </p:nvSpPr>
        <p:spPr>
          <a:xfrm>
            <a:off x="7236296" y="3165638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simulation/runner.py</a:t>
            </a:r>
          </a:p>
        </p:txBody>
      </p:sp>
    </p:spTree>
    <p:extLst>
      <p:ext uri="{BB962C8B-B14F-4D97-AF65-F5344CB8AC3E}">
        <p14:creationId xmlns:p14="http://schemas.microsoft.com/office/powerpoint/2010/main" val="207427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22F26-AF90-5A56-5BE7-8C1A5340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BC16D2-7167-91EC-148F-4A4C0809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Here, the single files contain the information necessary to simulate the swarm of locusts according to our mathematical model (2/ 2)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265E20A-D92C-0ED0-8D2D-DE6F326C7D50}"/>
              </a:ext>
            </a:extLst>
          </p:cNvPr>
          <p:cNvSpPr/>
          <p:nvPr/>
        </p:nvSpPr>
        <p:spPr>
          <a:xfrm>
            <a:off x="251520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Computes: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mean height,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grounded count,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swarm center,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width/ height,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pair distance statistics.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63A6F32-1562-D736-E33A-C5CF1786FF4F}"/>
              </a:ext>
            </a:extLst>
          </p:cNvPr>
          <p:cNvSpPr/>
          <p:nvPr/>
        </p:nvSpPr>
        <p:spPr>
          <a:xfrm>
            <a:off x="1979712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Create: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scatter plots,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trajectory plots,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time series.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9ED3CED-BC2C-FED5-514D-5DA517A78694}"/>
              </a:ext>
            </a:extLst>
          </p:cNvPr>
          <p:cNvSpPr/>
          <p:nvPr/>
        </p:nvSpPr>
        <p:spPr>
          <a:xfrm>
            <a:off x="251520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sim…/diagnostics.py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3D1ECA6-CFDA-84DE-B9B3-819BF82CE2B4}"/>
              </a:ext>
            </a:extLst>
          </p:cNvPr>
          <p:cNvSpPr/>
          <p:nvPr/>
        </p:nvSpPr>
        <p:spPr>
          <a:xfrm>
            <a:off x="1979712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output/plots.py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2AC4D23-84DE-D3F5-CBA0-6710B594E4C2}"/>
              </a:ext>
            </a:extLst>
          </p:cNvPr>
          <p:cNvSpPr/>
          <p:nvPr/>
        </p:nvSpPr>
        <p:spPr>
          <a:xfrm>
            <a:off x="251520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Create: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animation frames/ GIF.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D24D278-9E9A-5CDB-0B18-085769D86681}"/>
              </a:ext>
            </a:extLst>
          </p:cNvPr>
          <p:cNvSpPr/>
          <p:nvPr/>
        </p:nvSpPr>
        <p:spPr>
          <a:xfrm>
            <a:off x="251520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output/animation.py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22AF80-D8C0-B63C-0F80-0E8C7C06A4EF}"/>
              </a:ext>
            </a:extLst>
          </p:cNvPr>
          <p:cNvSpPr/>
          <p:nvPr/>
        </p:nvSpPr>
        <p:spPr>
          <a:xfrm>
            <a:off x="4578430" y="1428780"/>
            <a:ext cx="4314050" cy="114297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positions: NumPy array of shape (N, 2)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velocities: NumPy array of shape (N, 2)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grounded: </a:t>
            </a:r>
            <a:r>
              <a:rPr lang="en-US" sz="1200" noProof="0" dirty="0" err="1">
                <a:solidFill>
                  <a:schemeClr val="tx1"/>
                </a:solidFill>
              </a:rPr>
              <a:t>boolean</a:t>
            </a:r>
            <a:r>
              <a:rPr lang="en-US" sz="1200" noProof="0" dirty="0">
                <a:solidFill>
                  <a:schemeClr val="tx1"/>
                </a:solidFill>
              </a:rPr>
              <a:t> array of shape (N,)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 err="1">
                <a:solidFill>
                  <a:schemeClr val="tx1"/>
                </a:solidFill>
              </a:rPr>
              <a:t>history_positions</a:t>
            </a:r>
            <a:r>
              <a:rPr lang="en-US" sz="1200" noProof="0" dirty="0">
                <a:solidFill>
                  <a:schemeClr val="tx1"/>
                </a:solidFill>
              </a:rPr>
              <a:t>: list of arrays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 err="1">
                <a:solidFill>
                  <a:schemeClr val="tx1"/>
                </a:solidFill>
              </a:rPr>
              <a:t>history_grounded</a:t>
            </a:r>
            <a:r>
              <a:rPr lang="en-US" sz="1200" noProof="0" dirty="0">
                <a:solidFill>
                  <a:schemeClr val="tx1"/>
                </a:solidFill>
              </a:rPr>
              <a:t>: list of masks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A4F127A-1B3F-CFCB-85E9-0FAE2032B26B}"/>
              </a:ext>
            </a:extLst>
          </p:cNvPr>
          <p:cNvSpPr/>
          <p:nvPr/>
        </p:nvSpPr>
        <p:spPr>
          <a:xfrm>
            <a:off x="4578430" y="1140748"/>
            <a:ext cx="4320479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 Data Structure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F919A7F-CC0A-D609-4678-272DC3F25E2A}"/>
              </a:ext>
            </a:extLst>
          </p:cNvPr>
          <p:cNvSpPr/>
          <p:nvPr/>
        </p:nvSpPr>
        <p:spPr>
          <a:xfrm>
            <a:off x="4572000" y="3003798"/>
            <a:ext cx="4314050" cy="201622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positions =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initialize_swarm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step in range(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num_steps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social =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compute_social_velocities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(positions, F, L)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gravity =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compute_gravity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 G)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wind =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compute_wind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 U)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5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raw_velocity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social + gravity + wind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velocity =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apply_ground_rule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(positions,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raw_velocity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5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positions = positions + dt * velocity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positions[:, 1] =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np.maximum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(positions[:, 1], 0.0)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5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save_history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b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compute_diagnostics</a:t>
            </a:r>
            <a:r>
              <a:rPr lang="en-US" sz="9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878AC5D-7BE5-0620-48C2-28D8DCA75EF2}"/>
              </a:ext>
            </a:extLst>
          </p:cNvPr>
          <p:cNvSpPr/>
          <p:nvPr/>
        </p:nvSpPr>
        <p:spPr>
          <a:xfrm>
            <a:off x="4572000" y="2715766"/>
            <a:ext cx="4320479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Pseudo Code for the Simulation Loop </a:t>
            </a:r>
          </a:p>
        </p:txBody>
      </p:sp>
    </p:spTree>
    <p:extLst>
      <p:ext uri="{BB962C8B-B14F-4D97-AF65-F5344CB8AC3E}">
        <p14:creationId xmlns:p14="http://schemas.microsoft.com/office/powerpoint/2010/main" val="1511176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D8C2-4B66-D89A-8BA4-94C1C381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59C452-26A6-783C-E8AD-E35C57C8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We build the computational model in three stages</a:t>
            </a:r>
            <a:br>
              <a:rPr lang="en-US" noProof="0" dirty="0"/>
            </a:br>
            <a:r>
              <a:rPr lang="en-US" noProof="0" dirty="0"/>
              <a:t>(Be careful, AI may overwrite previous </a:t>
            </a:r>
            <a:r>
              <a:rPr lang="en-US" noProof="0" dirty="0" err="1"/>
              <a:t>setps</a:t>
            </a:r>
            <a:r>
              <a:rPr lang="en-US" noProof="0" dirty="0"/>
              <a:t>)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5E2167FD-20B6-03CC-3974-E7788EFE8159}"/>
              </a:ext>
            </a:extLst>
          </p:cNvPr>
          <p:cNvGrpSpPr/>
          <p:nvPr/>
        </p:nvGrpSpPr>
        <p:grpSpPr>
          <a:xfrm>
            <a:off x="264220" y="1152692"/>
            <a:ext cx="1296144" cy="1296144"/>
            <a:chOff x="5258172" y="1563638"/>
            <a:chExt cx="2736304" cy="2736304"/>
          </a:xfrm>
        </p:grpSpPr>
        <p:sp>
          <p:nvSpPr>
            <p:cNvPr id="4" name="Freihandform 3">
              <a:extLst>
                <a:ext uri="{FF2B5EF4-FFF2-40B4-BE49-F238E27FC236}">
                  <a16:creationId xmlns:a16="http://schemas.microsoft.com/office/drawing/2014/main" id="{B6943779-9ABC-AD36-1085-FFEC5F1B3219}"/>
                </a:ext>
              </a:extLst>
            </p:cNvPr>
            <p:cNvSpPr/>
            <p:nvPr/>
          </p:nvSpPr>
          <p:spPr>
            <a:xfrm>
              <a:off x="5713090" y="1964690"/>
              <a:ext cx="2066290" cy="1971040"/>
            </a:xfrm>
            <a:custGeom>
              <a:avLst/>
              <a:gdLst>
                <a:gd name="connsiteX0" fmla="*/ 95250 w 2066290"/>
                <a:gd name="connsiteY0" fmla="*/ 1037590 h 1971040"/>
                <a:gd name="connsiteX1" fmla="*/ 34290 w 2066290"/>
                <a:gd name="connsiteY1" fmla="*/ 626110 h 1971040"/>
                <a:gd name="connsiteX2" fmla="*/ 300990 w 2066290"/>
                <a:gd name="connsiteY2" fmla="*/ 222250 h 1971040"/>
                <a:gd name="connsiteX3" fmla="*/ 674370 w 2066290"/>
                <a:gd name="connsiteY3" fmla="*/ 283210 h 1971040"/>
                <a:gd name="connsiteX4" fmla="*/ 986790 w 2066290"/>
                <a:gd name="connsiteY4" fmla="*/ 351790 h 1971040"/>
                <a:gd name="connsiteX5" fmla="*/ 1261110 w 2066290"/>
                <a:gd name="connsiteY5" fmla="*/ 39370 h 1971040"/>
                <a:gd name="connsiteX6" fmla="*/ 1482090 w 2066290"/>
                <a:gd name="connsiteY6" fmla="*/ 115570 h 1971040"/>
                <a:gd name="connsiteX7" fmla="*/ 1695450 w 2066290"/>
                <a:gd name="connsiteY7" fmla="*/ 351790 h 1971040"/>
                <a:gd name="connsiteX8" fmla="*/ 2007870 w 2066290"/>
                <a:gd name="connsiteY8" fmla="*/ 443230 h 1971040"/>
                <a:gd name="connsiteX9" fmla="*/ 2023110 w 2066290"/>
                <a:gd name="connsiteY9" fmla="*/ 740410 h 1971040"/>
                <a:gd name="connsiteX10" fmla="*/ 1748790 w 2066290"/>
                <a:gd name="connsiteY10" fmla="*/ 839470 h 1971040"/>
                <a:gd name="connsiteX11" fmla="*/ 1604010 w 2066290"/>
                <a:gd name="connsiteY11" fmla="*/ 1014730 h 1971040"/>
                <a:gd name="connsiteX12" fmla="*/ 1741170 w 2066290"/>
                <a:gd name="connsiteY12" fmla="*/ 1258570 h 1971040"/>
                <a:gd name="connsiteX13" fmla="*/ 1916430 w 2066290"/>
                <a:gd name="connsiteY13" fmla="*/ 1532890 h 1971040"/>
                <a:gd name="connsiteX14" fmla="*/ 1809750 w 2066290"/>
                <a:gd name="connsiteY14" fmla="*/ 1830070 h 1971040"/>
                <a:gd name="connsiteX15" fmla="*/ 1535430 w 2066290"/>
                <a:gd name="connsiteY15" fmla="*/ 1951990 h 1971040"/>
                <a:gd name="connsiteX16" fmla="*/ 1223010 w 2066290"/>
                <a:gd name="connsiteY16" fmla="*/ 1715770 h 1971040"/>
                <a:gd name="connsiteX17" fmla="*/ 956310 w 2066290"/>
                <a:gd name="connsiteY17" fmla="*/ 1708150 h 1971040"/>
                <a:gd name="connsiteX18" fmla="*/ 826770 w 2066290"/>
                <a:gd name="connsiteY18" fmla="*/ 1784350 h 1971040"/>
                <a:gd name="connsiteX19" fmla="*/ 224790 w 2066290"/>
                <a:gd name="connsiteY19" fmla="*/ 1814830 h 1971040"/>
                <a:gd name="connsiteX20" fmla="*/ 590550 w 2066290"/>
                <a:gd name="connsiteY20" fmla="*/ 1250950 h 1971040"/>
                <a:gd name="connsiteX21" fmla="*/ 95250 w 2066290"/>
                <a:gd name="connsiteY21" fmla="*/ 1037590 h 1971040"/>
                <a:gd name="connsiteX0" fmla="*/ 95250 w 2066290"/>
                <a:gd name="connsiteY0" fmla="*/ 1037590 h 1971040"/>
                <a:gd name="connsiteX1" fmla="*/ 34290 w 2066290"/>
                <a:gd name="connsiteY1" fmla="*/ 626110 h 1971040"/>
                <a:gd name="connsiteX2" fmla="*/ 300990 w 2066290"/>
                <a:gd name="connsiteY2" fmla="*/ 222250 h 1971040"/>
                <a:gd name="connsiteX3" fmla="*/ 674370 w 2066290"/>
                <a:gd name="connsiteY3" fmla="*/ 283210 h 1971040"/>
                <a:gd name="connsiteX4" fmla="*/ 986790 w 2066290"/>
                <a:gd name="connsiteY4" fmla="*/ 351790 h 1971040"/>
                <a:gd name="connsiteX5" fmla="*/ 1261110 w 2066290"/>
                <a:gd name="connsiteY5" fmla="*/ 39370 h 1971040"/>
                <a:gd name="connsiteX6" fmla="*/ 1482090 w 2066290"/>
                <a:gd name="connsiteY6" fmla="*/ 115570 h 1971040"/>
                <a:gd name="connsiteX7" fmla="*/ 1695450 w 2066290"/>
                <a:gd name="connsiteY7" fmla="*/ 351790 h 1971040"/>
                <a:gd name="connsiteX8" fmla="*/ 2007870 w 2066290"/>
                <a:gd name="connsiteY8" fmla="*/ 443230 h 1971040"/>
                <a:gd name="connsiteX9" fmla="*/ 2023110 w 2066290"/>
                <a:gd name="connsiteY9" fmla="*/ 740410 h 1971040"/>
                <a:gd name="connsiteX10" fmla="*/ 1748790 w 2066290"/>
                <a:gd name="connsiteY10" fmla="*/ 839470 h 1971040"/>
                <a:gd name="connsiteX11" fmla="*/ 1604010 w 2066290"/>
                <a:gd name="connsiteY11" fmla="*/ 1014730 h 1971040"/>
                <a:gd name="connsiteX12" fmla="*/ 1741170 w 2066290"/>
                <a:gd name="connsiteY12" fmla="*/ 1258570 h 1971040"/>
                <a:gd name="connsiteX13" fmla="*/ 1916430 w 2066290"/>
                <a:gd name="connsiteY13" fmla="*/ 1532890 h 1971040"/>
                <a:gd name="connsiteX14" fmla="*/ 1809750 w 2066290"/>
                <a:gd name="connsiteY14" fmla="*/ 1830070 h 1971040"/>
                <a:gd name="connsiteX15" fmla="*/ 1535430 w 2066290"/>
                <a:gd name="connsiteY15" fmla="*/ 1951990 h 1971040"/>
                <a:gd name="connsiteX16" fmla="*/ 1223010 w 2066290"/>
                <a:gd name="connsiteY16" fmla="*/ 1715770 h 1971040"/>
                <a:gd name="connsiteX17" fmla="*/ 826770 w 2066290"/>
                <a:gd name="connsiteY17" fmla="*/ 1784350 h 1971040"/>
                <a:gd name="connsiteX18" fmla="*/ 224790 w 2066290"/>
                <a:gd name="connsiteY18" fmla="*/ 1814830 h 1971040"/>
                <a:gd name="connsiteX19" fmla="*/ 590550 w 2066290"/>
                <a:gd name="connsiteY19" fmla="*/ 1250950 h 1971040"/>
                <a:gd name="connsiteX20" fmla="*/ 95250 w 2066290"/>
                <a:gd name="connsiteY20" fmla="*/ 1037590 h 197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66290" h="1971040">
                  <a:moveTo>
                    <a:pt x="95250" y="1037590"/>
                  </a:moveTo>
                  <a:cubicBezTo>
                    <a:pt x="2540" y="933450"/>
                    <a:pt x="0" y="762000"/>
                    <a:pt x="34290" y="626110"/>
                  </a:cubicBezTo>
                  <a:cubicBezTo>
                    <a:pt x="68580" y="490220"/>
                    <a:pt x="194310" y="279400"/>
                    <a:pt x="300990" y="222250"/>
                  </a:cubicBezTo>
                  <a:cubicBezTo>
                    <a:pt x="407670" y="165100"/>
                    <a:pt x="560070" y="261620"/>
                    <a:pt x="674370" y="283210"/>
                  </a:cubicBezTo>
                  <a:cubicBezTo>
                    <a:pt x="788670" y="304800"/>
                    <a:pt x="889000" y="392430"/>
                    <a:pt x="986790" y="351790"/>
                  </a:cubicBezTo>
                  <a:cubicBezTo>
                    <a:pt x="1084580" y="311150"/>
                    <a:pt x="1178560" y="78740"/>
                    <a:pt x="1261110" y="39370"/>
                  </a:cubicBezTo>
                  <a:cubicBezTo>
                    <a:pt x="1343660" y="0"/>
                    <a:pt x="1409700" y="63500"/>
                    <a:pt x="1482090" y="115570"/>
                  </a:cubicBezTo>
                  <a:cubicBezTo>
                    <a:pt x="1554480" y="167640"/>
                    <a:pt x="1607820" y="297180"/>
                    <a:pt x="1695450" y="351790"/>
                  </a:cubicBezTo>
                  <a:cubicBezTo>
                    <a:pt x="1783080" y="406400"/>
                    <a:pt x="1953260" y="378460"/>
                    <a:pt x="2007870" y="443230"/>
                  </a:cubicBezTo>
                  <a:cubicBezTo>
                    <a:pt x="2062480" y="508000"/>
                    <a:pt x="2066290" y="674370"/>
                    <a:pt x="2023110" y="740410"/>
                  </a:cubicBezTo>
                  <a:cubicBezTo>
                    <a:pt x="1979930" y="806450"/>
                    <a:pt x="1818640" y="793750"/>
                    <a:pt x="1748790" y="839470"/>
                  </a:cubicBezTo>
                  <a:cubicBezTo>
                    <a:pt x="1678940" y="885190"/>
                    <a:pt x="1605280" y="944880"/>
                    <a:pt x="1604010" y="1014730"/>
                  </a:cubicBezTo>
                  <a:cubicBezTo>
                    <a:pt x="1602740" y="1084580"/>
                    <a:pt x="1689100" y="1172210"/>
                    <a:pt x="1741170" y="1258570"/>
                  </a:cubicBezTo>
                  <a:cubicBezTo>
                    <a:pt x="1793240" y="1344930"/>
                    <a:pt x="1905000" y="1437640"/>
                    <a:pt x="1916430" y="1532890"/>
                  </a:cubicBezTo>
                  <a:cubicBezTo>
                    <a:pt x="1927860" y="1628140"/>
                    <a:pt x="1873250" y="1760220"/>
                    <a:pt x="1809750" y="1830070"/>
                  </a:cubicBezTo>
                  <a:cubicBezTo>
                    <a:pt x="1746250" y="1899920"/>
                    <a:pt x="1633220" y="1971040"/>
                    <a:pt x="1535430" y="1951990"/>
                  </a:cubicBezTo>
                  <a:cubicBezTo>
                    <a:pt x="1437640" y="1932940"/>
                    <a:pt x="1341120" y="1743710"/>
                    <a:pt x="1223010" y="1715770"/>
                  </a:cubicBezTo>
                  <a:cubicBezTo>
                    <a:pt x="1104900" y="1687830"/>
                    <a:pt x="993140" y="1767840"/>
                    <a:pt x="826770" y="1784350"/>
                  </a:cubicBezTo>
                  <a:cubicBezTo>
                    <a:pt x="660400" y="1800860"/>
                    <a:pt x="264160" y="1903730"/>
                    <a:pt x="224790" y="1814830"/>
                  </a:cubicBezTo>
                  <a:cubicBezTo>
                    <a:pt x="185420" y="1725930"/>
                    <a:pt x="610870" y="1380490"/>
                    <a:pt x="590550" y="1250950"/>
                  </a:cubicBezTo>
                  <a:cubicBezTo>
                    <a:pt x="570230" y="1121410"/>
                    <a:pt x="187960" y="1141730"/>
                    <a:pt x="95250" y="103759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FA4A989-B5A2-0A72-B26E-00C7B67C0799}"/>
                </a:ext>
              </a:extLst>
            </p:cNvPr>
            <p:cNvSpPr/>
            <p:nvPr/>
          </p:nvSpPr>
          <p:spPr>
            <a:xfrm>
              <a:off x="5402188" y="1707654"/>
              <a:ext cx="2592288" cy="2592288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6" name="Gerade Verbindung 27">
              <a:extLst>
                <a:ext uri="{FF2B5EF4-FFF2-40B4-BE49-F238E27FC236}">
                  <a16:creationId xmlns:a16="http://schemas.microsoft.com/office/drawing/2014/main" id="{6CDF2B98-FD8F-4A3B-F0E4-7A50AE5DB444}"/>
                </a:ext>
              </a:extLst>
            </p:cNvPr>
            <p:cNvCxnSpPr/>
            <p:nvPr/>
          </p:nvCxnSpPr>
          <p:spPr>
            <a:xfrm>
              <a:off x="6698332" y="1563638"/>
              <a:ext cx="0" cy="144016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Gerade Verbindung 28">
              <a:extLst>
                <a:ext uri="{FF2B5EF4-FFF2-40B4-BE49-F238E27FC236}">
                  <a16:creationId xmlns:a16="http://schemas.microsoft.com/office/drawing/2014/main" id="{6F56ECF8-B04F-F1D1-DB6A-6F7F6F96368B}"/>
                </a:ext>
              </a:extLst>
            </p:cNvPr>
            <p:cNvCxnSpPr/>
            <p:nvPr/>
          </p:nvCxnSpPr>
          <p:spPr>
            <a:xfrm>
              <a:off x="5258172" y="3003798"/>
              <a:ext cx="144016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Gerade Verbindung 29">
              <a:extLst>
                <a:ext uri="{FF2B5EF4-FFF2-40B4-BE49-F238E27FC236}">
                  <a16:creationId xmlns:a16="http://schemas.microsoft.com/office/drawing/2014/main" id="{691CE9B6-DE9B-D587-BB2F-E5CBC0D76622}"/>
                </a:ext>
              </a:extLst>
            </p:cNvPr>
            <p:cNvCxnSpPr/>
            <p:nvPr/>
          </p:nvCxnSpPr>
          <p:spPr>
            <a:xfrm>
              <a:off x="6698332" y="3003798"/>
              <a:ext cx="1018347" cy="10183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Gerade Verbindung 30">
              <a:extLst>
                <a:ext uri="{FF2B5EF4-FFF2-40B4-BE49-F238E27FC236}">
                  <a16:creationId xmlns:a16="http://schemas.microsoft.com/office/drawing/2014/main" id="{EEFEA715-2C9D-1EF5-BD79-288341E2D3F5}"/>
                </a:ext>
              </a:extLst>
            </p:cNvPr>
            <p:cNvCxnSpPr/>
            <p:nvPr/>
          </p:nvCxnSpPr>
          <p:spPr>
            <a:xfrm flipH="1">
              <a:off x="5679985" y="3003798"/>
              <a:ext cx="1018347" cy="10183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Gerade Verbindung 31">
              <a:extLst>
                <a:ext uri="{FF2B5EF4-FFF2-40B4-BE49-F238E27FC236}">
                  <a16:creationId xmlns:a16="http://schemas.microsoft.com/office/drawing/2014/main" id="{F5CAAB55-949C-C397-4C0C-AB2918C1AD79}"/>
                </a:ext>
              </a:extLst>
            </p:cNvPr>
            <p:cNvCxnSpPr/>
            <p:nvPr/>
          </p:nvCxnSpPr>
          <p:spPr>
            <a:xfrm flipV="1">
              <a:off x="6698333" y="1985451"/>
              <a:ext cx="1018346" cy="101834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B54A04D1-2B6F-F600-1D09-729B53BF3227}"/>
                </a:ext>
              </a:extLst>
            </p:cNvPr>
            <p:cNvSpPr/>
            <p:nvPr/>
          </p:nvSpPr>
          <p:spPr>
            <a:xfrm>
              <a:off x="6194276" y="2499742"/>
              <a:ext cx="1008112" cy="1008112"/>
            </a:xfrm>
            <a:prstGeom prst="ellipse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0AE1636F-4B30-470F-CA68-53F0738A8D52}"/>
                </a:ext>
              </a:extLst>
            </p:cNvPr>
            <p:cNvSpPr/>
            <p:nvPr/>
          </p:nvSpPr>
          <p:spPr>
            <a:xfrm>
              <a:off x="5798232" y="2103698"/>
              <a:ext cx="1800200" cy="1800200"/>
            </a:xfrm>
            <a:prstGeom prst="ellipse">
              <a:avLst/>
            </a:prstGeom>
            <a:noFill/>
            <a:ln>
              <a:solidFill>
                <a:schemeClr val="tx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AD22AE51-6E72-10C0-75EE-E194C99CB45A}"/>
              </a:ext>
            </a:extLst>
          </p:cNvPr>
          <p:cNvSpPr/>
          <p:nvPr/>
        </p:nvSpPr>
        <p:spPr>
          <a:xfrm>
            <a:off x="5358829" y="1419622"/>
            <a:ext cx="3528392" cy="136815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noProof="0" dirty="0">
                <a:solidFill>
                  <a:schemeClr val="tx1"/>
                </a:solidFill>
              </a:rPr>
              <a:t>Graphics &amp; measurements: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airborne fraction,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grounded fraction,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mean height,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swarm width,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number of take-off/ landing events,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whether motion is rolling or dissipative.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4B86FBD-D37D-19C8-0717-49060B529B84}"/>
              </a:ext>
            </a:extLst>
          </p:cNvPr>
          <p:cNvSpPr/>
          <p:nvPr/>
        </p:nvSpPr>
        <p:spPr>
          <a:xfrm>
            <a:off x="5358829" y="1131590"/>
            <a:ext cx="3533651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Additionally, to stage 1: diagnostics &amp; experiments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02A6719-2B36-BE32-7BD7-AC8D0B671BAE}"/>
              </a:ext>
            </a:extLst>
          </p:cNvPr>
          <p:cNvSpPr/>
          <p:nvPr/>
        </p:nvSpPr>
        <p:spPr>
          <a:xfrm>
            <a:off x="1691680" y="1428780"/>
            <a:ext cx="3528392" cy="136815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noProof="0" dirty="0">
                <a:solidFill>
                  <a:schemeClr val="tx1"/>
                </a:solidFill>
              </a:rPr>
              <a:t>Only use social interaction:</a:t>
            </a:r>
          </a:p>
          <a:p>
            <a:endParaRPr lang="en-US" sz="1200" noProof="0" dirty="0">
              <a:solidFill>
                <a:schemeClr val="tx1"/>
              </a:solidFill>
            </a:endParaRPr>
          </a:p>
          <a:p>
            <a:endParaRPr lang="en-US" sz="1200" noProof="0" dirty="0">
              <a:solidFill>
                <a:schemeClr val="tx1"/>
              </a:solidFill>
            </a:endParaRPr>
          </a:p>
          <a:p>
            <a:r>
              <a:rPr lang="en-US" sz="1200" noProof="0" dirty="0">
                <a:solidFill>
                  <a:schemeClr val="tx1"/>
                </a:solidFill>
              </a:rPr>
              <a:t>Goal: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understand aggregation, 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inspect spacing and cluster formation.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77F4739-2C4A-C348-E014-7723142BE399}"/>
              </a:ext>
            </a:extLst>
          </p:cNvPr>
          <p:cNvSpPr/>
          <p:nvPr/>
        </p:nvSpPr>
        <p:spPr>
          <a:xfrm>
            <a:off x="1691680" y="1140748"/>
            <a:ext cx="3533651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Stage 1: Free-space social swarm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1C2CB1E7-E6C9-C3E7-69B7-F674101A8E9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845" y="1779662"/>
            <a:ext cx="577217" cy="13085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3D6B1B9-2569-F68D-E6B9-B5D573C0502F}"/>
              </a:ext>
            </a:extLst>
          </p:cNvPr>
          <p:cNvSpPr/>
          <p:nvPr/>
        </p:nvSpPr>
        <p:spPr>
          <a:xfrm>
            <a:off x="1691680" y="3219822"/>
            <a:ext cx="3528392" cy="136815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noProof="0" dirty="0">
              <a:solidFill>
                <a:schemeClr val="tx1"/>
              </a:solidFill>
            </a:endParaRPr>
          </a:p>
          <a:p>
            <a:endParaRPr lang="en-US" sz="1200" noProof="0" dirty="0">
              <a:solidFill>
                <a:schemeClr val="tx1"/>
              </a:solidFill>
            </a:endParaRPr>
          </a:p>
          <a:p>
            <a:r>
              <a:rPr lang="en-US" sz="1200" noProof="0" dirty="0">
                <a:solidFill>
                  <a:schemeClr val="tx1"/>
                </a:solidFill>
              </a:rPr>
              <a:t>plus the ground rule.</a:t>
            </a:r>
          </a:p>
          <a:p>
            <a:endParaRPr lang="en-US" sz="1200" noProof="0" dirty="0">
              <a:solidFill>
                <a:schemeClr val="tx1"/>
              </a:solidFill>
            </a:endParaRPr>
          </a:p>
          <a:p>
            <a:r>
              <a:rPr lang="en-US" sz="1200" noProof="0" dirty="0">
                <a:solidFill>
                  <a:schemeClr val="tx1"/>
                </a:solidFill>
              </a:rPr>
              <a:t>Goal: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observe landing, and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compare final shapes.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EA0A58A-5FF8-F2A5-A34E-D64A4ACC510B}"/>
              </a:ext>
            </a:extLst>
          </p:cNvPr>
          <p:cNvSpPr/>
          <p:nvPr/>
        </p:nvSpPr>
        <p:spPr>
          <a:xfrm>
            <a:off x="1691680" y="2931790"/>
            <a:ext cx="3533651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Stage 2: Add gravity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3E0E2E38-3BC4-74FF-F2E4-619D9DE9E1C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969" y="3371435"/>
            <a:ext cx="985815" cy="139133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F6B31A7B-54C2-5C25-230F-BAFA5F254B92}"/>
              </a:ext>
            </a:extLst>
          </p:cNvPr>
          <p:cNvSpPr/>
          <p:nvPr/>
        </p:nvSpPr>
        <p:spPr>
          <a:xfrm>
            <a:off x="5358829" y="3219822"/>
            <a:ext cx="3528392" cy="136815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noProof="0" dirty="0">
              <a:solidFill>
                <a:schemeClr val="tx1"/>
              </a:solidFill>
            </a:endParaRPr>
          </a:p>
          <a:p>
            <a:endParaRPr lang="en-US" sz="1200" noProof="0" dirty="0">
              <a:solidFill>
                <a:schemeClr val="tx1"/>
              </a:solidFill>
            </a:endParaRPr>
          </a:p>
          <a:p>
            <a:r>
              <a:rPr lang="en-US" sz="1200" noProof="0" dirty="0">
                <a:solidFill>
                  <a:schemeClr val="tx1"/>
                </a:solidFill>
              </a:rPr>
              <a:t>Goal: see whether the swarm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smears out 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rolls.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191466E-4336-1F1A-01DD-4913B1B0E6CE}"/>
              </a:ext>
            </a:extLst>
          </p:cNvPr>
          <p:cNvSpPr/>
          <p:nvPr/>
        </p:nvSpPr>
        <p:spPr>
          <a:xfrm>
            <a:off x="5358829" y="2931790"/>
            <a:ext cx="3533651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Stage 3: Add wind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BC174B9-4CDF-F932-A602-1B3CC3C99FB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97" y="3373064"/>
            <a:ext cx="1415857" cy="140056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14A37E77-42E7-060B-54FA-91FAE6E7E23E}"/>
              </a:ext>
            </a:extLst>
          </p:cNvPr>
          <p:cNvSpPr/>
          <p:nvPr/>
        </p:nvSpPr>
        <p:spPr>
          <a:xfrm>
            <a:off x="1691680" y="4722832"/>
            <a:ext cx="7195541" cy="297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Note to tell AI to only update the code with new segments such that previous segments are not overwritten.</a:t>
            </a:r>
          </a:p>
        </p:txBody>
      </p:sp>
    </p:spTree>
    <p:extLst>
      <p:ext uri="{BB962C8B-B14F-4D97-AF65-F5344CB8AC3E}">
        <p14:creationId xmlns:p14="http://schemas.microsoft.com/office/powerpoint/2010/main" val="273577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453D1E-07A1-DEEE-08A7-EC692248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1. Free-space social swarm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64799BD-902E-9728-D74B-53E9A0E574E5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Free-Space Social Swarm</a:t>
            </a: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social interaction only</a:t>
            </a:r>
          </a:p>
          <a:p>
            <a:pPr>
              <a:spcAft>
                <a:spcPts val="600"/>
              </a:spcAft>
            </a:pPr>
            <a:endParaRPr lang="en-US" sz="12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Rectangular window with x ∈ [</a:t>
            </a:r>
            <a:r>
              <a:rPr lang="en-US" sz="1200" noProof="0" dirty="0" err="1">
                <a:solidFill>
                  <a:schemeClr val="tx1"/>
                </a:solidFill>
              </a:rPr>
              <a:t>x</a:t>
            </a:r>
            <a:r>
              <a:rPr lang="en-US" sz="1200" baseline="-25000" noProof="0" dirty="0" err="1">
                <a:solidFill>
                  <a:schemeClr val="tx1"/>
                </a:solidFill>
              </a:rPr>
              <a:t>min</a:t>
            </a:r>
            <a:r>
              <a:rPr lang="en-US" sz="1200" noProof="0" dirty="0">
                <a:solidFill>
                  <a:schemeClr val="tx1"/>
                </a:solidFill>
              </a:rPr>
              <a:t>​, </a:t>
            </a:r>
            <a:r>
              <a:rPr lang="en-US" sz="1200" noProof="0" dirty="0" err="1">
                <a:solidFill>
                  <a:schemeClr val="tx1"/>
                </a:solidFill>
              </a:rPr>
              <a:t>x</a:t>
            </a:r>
            <a:r>
              <a:rPr lang="en-US" sz="1200" baseline="-25000" noProof="0" dirty="0" err="1">
                <a:solidFill>
                  <a:schemeClr val="tx1"/>
                </a:solidFill>
              </a:rPr>
              <a:t>max</a:t>
            </a:r>
            <a:r>
              <a:rPr lang="en-US" sz="1200" noProof="0" dirty="0">
                <a:solidFill>
                  <a:schemeClr val="tx1"/>
                </a:solidFill>
              </a:rPr>
              <a:t>​] with a very large horizontal range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189AFBA-BA45-2F77-FFF5-6AE2B9C3B6C0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17E58AE-47E5-5BBD-2A04-3D6E680650AA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B8B6424-FA5B-25B7-7268-FC70786BF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1A08C9FF-B042-B46C-1237-5B0864A5A8CC}"/>
              </a:ext>
            </a:extLst>
          </p:cNvPr>
          <p:cNvSpPr txBox="1"/>
          <p:nvPr/>
        </p:nvSpPr>
        <p:spPr>
          <a:xfrm>
            <a:off x="2418794" y="1140035"/>
            <a:ext cx="6473686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LOCUST SWARM SIMULATION - STAGE 1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Free-space social swarm (no gravity, no wind)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locusts: 50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interaction: F = 0.25, L = 1.5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Time step: 0.01, Total time: 20.0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217412F-4425-2063-0F13-3AAF096AE4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525" y="2283718"/>
            <a:ext cx="2716380" cy="2736305"/>
          </a:xfrm>
          <a:prstGeom prst="rect">
            <a:avLst/>
          </a:prstGeom>
        </p:spPr>
      </p:pic>
      <p:sp>
        <p:nvSpPr>
          <p:cNvPr id="11" name="Gleichschenkliges Dreieck 10">
            <a:extLst>
              <a:ext uri="{FF2B5EF4-FFF2-40B4-BE49-F238E27FC236}">
                <a16:creationId xmlns:a16="http://schemas.microsoft.com/office/drawing/2014/main" id="{B1013F37-C354-948A-1613-DB297E4B7A1E}"/>
              </a:ext>
            </a:extLst>
          </p:cNvPr>
          <p:cNvSpPr/>
          <p:nvPr/>
        </p:nvSpPr>
        <p:spPr>
          <a:xfrm rot="5400000">
            <a:off x="4788739" y="3579862"/>
            <a:ext cx="1440160" cy="144016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63A6511-11C4-61E9-A7EC-C8F46EF43019}"/>
              </a:ext>
            </a:extLst>
          </p:cNvPr>
          <p:cNvSpPr/>
          <p:nvPr/>
        </p:nvSpPr>
        <p:spPr>
          <a:xfrm>
            <a:off x="7236296" y="1203598"/>
            <a:ext cx="1584176" cy="360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no ground rule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97D5494-7AAD-556D-8A24-6CCF86A100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600" y="2280816"/>
            <a:ext cx="2599864" cy="2736000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4D6AC28-730A-81FF-2BBA-DFAB40224010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36D47DD8-3D8E-BF3F-B866-989E1E4D4753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C1CED3AC-230A-E88D-52D6-B09276396A3B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C1177BC7-515D-3490-C5E7-27883ECAD391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6239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B6213F-6738-FDEE-0FCE-CEF9EA6B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1. Free-space social swarm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2A3EC8-5F3B-B875-4BDF-0ED075977E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87" y="1140158"/>
            <a:ext cx="5038293" cy="276401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F17955-12AB-E16E-1080-EE9C30163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812" y="1851670"/>
            <a:ext cx="6004668" cy="317166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312B17D-3EF7-4CF1-C106-DD771312964E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F107866-2C95-EBCF-9025-B80FCEC4D2D6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0187B544-FBF9-DF52-6A38-CFA9D07DEA92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08E8F0B-CC51-792B-57AB-541B53EE1543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22435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55800-8B90-3A05-2826-08B744256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1. Free-space social swarm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C689F4-641A-366D-1DE7-0657CB6C8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77" y="923314"/>
            <a:ext cx="6827845" cy="4096708"/>
          </a:xfrm>
          <a:prstGeom prst="rect">
            <a:avLst/>
          </a:prstGeom>
        </p:spPr>
      </p:pic>
      <p:pic>
        <p:nvPicPr>
          <p:cNvPr id="3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DFECE375-308E-B23E-66F3-7DA07F394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r="77778"/>
          <a:stretch>
            <a:fillRect/>
          </a:stretch>
        </p:blipFill>
        <p:spPr bwMode="auto">
          <a:xfrm>
            <a:off x="251520" y="1131590"/>
            <a:ext cx="1440160" cy="3888432"/>
          </a:xfrm>
          <a:prstGeom prst="rect">
            <a:avLst/>
          </a:prstGeom>
          <a:noFill/>
        </p:spPr>
      </p:pic>
      <p:pic>
        <p:nvPicPr>
          <p:cNvPr id="4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CB999170-EEED-E78B-5A34-0FB153CF7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7778"/>
          <a:stretch>
            <a:fillRect/>
          </a:stretch>
        </p:blipFill>
        <p:spPr bwMode="auto">
          <a:xfrm>
            <a:off x="7452320" y="1131590"/>
            <a:ext cx="1440160" cy="3888432"/>
          </a:xfrm>
          <a:prstGeom prst="rect">
            <a:avLst/>
          </a:prstGeom>
          <a:noFill/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4C0E9B8F-A0ED-60E2-C460-40740EE13BF9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C35A3EA2-20B4-341A-810C-120AADD61A4A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438A14A-B43D-DD0E-7167-60C6EA9D7C3D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AAE1F62-EF40-39A1-28E9-0DB9510E352F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1886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8DAAB-9F5E-7ED9-7272-2BF5558C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2. Add gravity – What do we expect?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AFF8242-A681-E114-EB0D-651669541084}"/>
              </a:ext>
            </a:extLst>
          </p:cNvPr>
          <p:cNvSpPr/>
          <p:nvPr/>
        </p:nvSpPr>
        <p:spPr>
          <a:xfrm>
            <a:off x="2411760" y="1131590"/>
            <a:ext cx="648072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Depending on the values of the parameters, we expect to see two regimes:</a:t>
            </a:r>
          </a:p>
          <a:p>
            <a:pPr marL="266700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noProof="0" dirty="0">
                <a:solidFill>
                  <a:schemeClr val="tx1"/>
                </a:solidFill>
              </a:rPr>
              <a:t>Catastrophic Regime (Bubble Structure)</a:t>
            </a:r>
            <a:r>
              <a:rPr lang="en-US" sz="1400" noProof="0" dirty="0">
                <a:solidFill>
                  <a:schemeClr val="tx1"/>
                </a:solidFill>
              </a:rPr>
              <a:t>: the locusts form a “bubble” such that some land on ground, others hover above.</a:t>
            </a:r>
          </a:p>
          <a:p>
            <a:pPr marL="266700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E.g.: F = 0.5 and L &gt; F</a:t>
            </a:r>
            <a:r>
              <a:rPr lang="en-US" sz="1400" baseline="30000" noProof="0" dirty="0">
                <a:solidFill>
                  <a:schemeClr val="tx1"/>
                </a:solidFill>
              </a:rPr>
              <a:t>1/3</a:t>
            </a:r>
            <a:r>
              <a:rPr lang="en-US" sz="1400" noProof="0" dirty="0">
                <a:solidFill>
                  <a:schemeClr val="tx1"/>
                </a:solidFill>
              </a:rPr>
              <a:t> </a:t>
            </a:r>
            <a:r>
              <a:rPr lang="en-US" sz="1400" noProof="0" dirty="0">
                <a:solidFill>
                  <a:schemeClr val="tx1"/>
                </a:solidFill>
                <a:sym typeface="Symbol" panose="05050102010706020507" pitchFamily="18" charset="2"/>
              </a:rPr>
              <a:t> 1.26.</a:t>
            </a:r>
            <a:endParaRPr lang="en-US" sz="1400" noProof="0" dirty="0">
              <a:solidFill>
                <a:schemeClr val="tx1"/>
              </a:solidFill>
            </a:endParaRPr>
          </a:p>
          <a:p>
            <a:pPr marL="266700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noProof="0" dirty="0">
                <a:solidFill>
                  <a:schemeClr val="tx1"/>
                </a:solidFill>
              </a:rPr>
              <a:t>H-Stable Regime (Crystalline Structure)</a:t>
            </a:r>
            <a:r>
              <a:rPr lang="en-US" sz="1400" noProof="0" dirty="0">
                <a:solidFill>
                  <a:schemeClr val="tx1"/>
                </a:solidFill>
              </a:rPr>
              <a:t>: all locusts eventually land and form a crystalline pattern on ground.</a:t>
            </a:r>
          </a:p>
          <a:p>
            <a:pPr marL="266700"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E.g.: F = 0.25 and L &lt; F</a:t>
            </a:r>
            <a:r>
              <a:rPr lang="en-US" sz="1400" baseline="30000" noProof="0" dirty="0">
                <a:solidFill>
                  <a:schemeClr val="tx1"/>
                </a:solidFill>
              </a:rPr>
              <a:t>1/3</a:t>
            </a:r>
            <a:r>
              <a:rPr lang="en-US" sz="1400" noProof="0" dirty="0">
                <a:solidFill>
                  <a:schemeClr val="tx1"/>
                </a:solidFill>
              </a:rPr>
              <a:t> </a:t>
            </a:r>
            <a:r>
              <a:rPr lang="en-US" sz="1400" noProof="0" dirty="0">
                <a:solidFill>
                  <a:schemeClr val="tx1"/>
                </a:solidFill>
                <a:sym typeface="Symbol" panose="05050102010706020507" pitchFamily="18" charset="2"/>
              </a:rPr>
              <a:t> 1.59.</a:t>
            </a:r>
            <a:endParaRPr lang="en-US" sz="1400" noProof="0" dirty="0">
              <a:solidFill>
                <a:schemeClr val="tx1"/>
              </a:solidFill>
            </a:endParaRPr>
          </a:p>
          <a:p>
            <a:pPr marL="266700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noProof="0" dirty="0">
              <a:solidFill>
                <a:schemeClr val="tx1"/>
              </a:solidFill>
            </a:endParaRPr>
          </a:p>
          <a:p>
            <a:pPr marL="266700" indent="-2667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noProof="0" dirty="0">
              <a:solidFill>
                <a:schemeClr val="tx1"/>
              </a:solidFill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A87D03-571C-4DE8-5CD9-6A568AA60345}"/>
              </a:ext>
            </a:extLst>
          </p:cNvPr>
          <p:cNvGrpSpPr/>
          <p:nvPr/>
        </p:nvGrpSpPr>
        <p:grpSpPr>
          <a:xfrm>
            <a:off x="6772105" y="3502838"/>
            <a:ext cx="2030979" cy="1453232"/>
            <a:chOff x="251520" y="3007198"/>
            <a:chExt cx="2813043" cy="2012824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7F7B7088-B761-250E-E34D-2C4EBF061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3035334"/>
              <a:ext cx="2561426" cy="1981288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7859E42-3430-FC20-1BC4-8D99657D1675}"/>
                </a:ext>
              </a:extLst>
            </p:cNvPr>
            <p:cNvSpPr/>
            <p:nvPr/>
          </p:nvSpPr>
          <p:spPr>
            <a:xfrm>
              <a:off x="251520" y="3007198"/>
              <a:ext cx="2813043" cy="2012824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1" name="Rechteck 10">
            <a:extLst>
              <a:ext uri="{FF2B5EF4-FFF2-40B4-BE49-F238E27FC236}">
                <a16:creationId xmlns:a16="http://schemas.microsoft.com/office/drawing/2014/main" id="{52D43BDB-12DE-DDA9-B5FC-FCCCA6018E2E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Add Gravity</a:t>
            </a:r>
          </a:p>
          <a:p>
            <a:pPr algn="ctr"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social interaction &amp; gravitation</a:t>
            </a:r>
          </a:p>
          <a:p>
            <a:pPr>
              <a:spcAft>
                <a:spcPts val="600"/>
              </a:spcAft>
            </a:pPr>
            <a:endParaRPr lang="en-US" sz="12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Additionally,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ground rule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z ∈ [0, </a:t>
            </a:r>
            <a:r>
              <a:rPr lang="en-US" sz="1200" noProof="0" dirty="0" err="1">
                <a:solidFill>
                  <a:schemeClr val="tx1"/>
                </a:solidFill>
              </a:rPr>
              <a:t>z</a:t>
            </a:r>
            <a:r>
              <a:rPr lang="en-US" sz="1200" baseline="-25000" noProof="0" dirty="0" err="1">
                <a:solidFill>
                  <a:schemeClr val="tx1"/>
                </a:solidFill>
              </a:rPr>
              <a:t>max</a:t>
            </a:r>
            <a:r>
              <a:rPr lang="en-US" sz="1200" noProof="0" dirty="0">
                <a:solidFill>
                  <a:schemeClr val="tx1"/>
                </a:solidFill>
              </a:rPr>
              <a:t>] with a very large upper boundary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enforcement of z non-negative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65B435D-C9C6-F39D-A7CC-A0CA11508447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E83F0DC1-001F-D82E-4FE7-F0A56EE687A4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CEE34F26-C642-3C86-3AF0-6A214DA8F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535F51D-AAE1-372F-49FE-55003D749EBE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11B94CBA-8B56-F842-5D4E-17A4D9507448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B3A56C3-90EF-504C-A917-16820BBBDADF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E8E9CBD-EAE4-EA4B-463F-41FEEB11A037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186409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43100-689E-B1A6-5AC9-6F13FF4F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2a. Add gravity – bubble structure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434AC7D-90C9-C7B8-22F0-EC6C572B9BF3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Add Gravity</a:t>
            </a:r>
          </a:p>
          <a:p>
            <a:pPr algn="ctr"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social interaction &amp; gravitation</a:t>
            </a:r>
          </a:p>
          <a:p>
            <a:pPr>
              <a:spcAft>
                <a:spcPts val="600"/>
              </a:spcAft>
            </a:pPr>
            <a:endParaRPr lang="en-US" sz="12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Additionally,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ground rule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z ∈ [0, </a:t>
            </a:r>
            <a:r>
              <a:rPr lang="en-US" sz="1200" noProof="0" dirty="0" err="1">
                <a:solidFill>
                  <a:schemeClr val="tx1"/>
                </a:solidFill>
              </a:rPr>
              <a:t>z</a:t>
            </a:r>
            <a:r>
              <a:rPr lang="en-US" sz="1200" baseline="-25000" noProof="0" dirty="0" err="1">
                <a:solidFill>
                  <a:schemeClr val="tx1"/>
                </a:solidFill>
              </a:rPr>
              <a:t>max</a:t>
            </a:r>
            <a:r>
              <a:rPr lang="en-US" sz="1200" noProof="0" dirty="0">
                <a:solidFill>
                  <a:schemeClr val="tx1"/>
                </a:solidFill>
              </a:rPr>
              <a:t>] with a very large upper boundary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enforcement of z non-negative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EAEDBBE-CE13-3259-6643-20D420DE9992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78DDD48-D765-D370-5FB3-719E760778A2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3FAC4CF-D102-F2D9-4FE9-2BC80EBF4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F3313948-6C8D-F8FC-6DBF-BB48A3496B09}"/>
              </a:ext>
            </a:extLst>
          </p:cNvPr>
          <p:cNvSpPr txBox="1"/>
          <p:nvPr/>
        </p:nvSpPr>
        <p:spPr>
          <a:xfrm>
            <a:off x="2418794" y="1140035"/>
            <a:ext cx="6473686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LOCUST SWARM SIMULATION - STAGE 2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swarm with gravity and ground boundary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locusts: 50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interaction: F = 0.5, L = 10.0;   </a:t>
            </a:r>
            <a:r>
              <a:rPr lang="en-US" sz="8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Gravity: g = 1.0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Time step: 0.01, Total time: 30.0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D04DED1-EC92-2CE0-68DD-C070A6319EEE}"/>
              </a:ext>
            </a:extLst>
          </p:cNvPr>
          <p:cNvSpPr/>
          <p:nvPr/>
        </p:nvSpPr>
        <p:spPr>
          <a:xfrm>
            <a:off x="7236296" y="1203598"/>
            <a:ext cx="1584176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parameters such that bubble structure forms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0BD7FE24-357E-405C-26AC-08370ECFA4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94" y="2284022"/>
            <a:ext cx="3622581" cy="230395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01C74FA4-E754-F773-C269-D8A6F12F8E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76" y="2715766"/>
            <a:ext cx="3744304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sp>
        <p:nvSpPr>
          <p:cNvPr id="23" name="Freeform 37">
            <a:extLst>
              <a:ext uri="{FF2B5EF4-FFF2-40B4-BE49-F238E27FC236}">
                <a16:creationId xmlns:a16="http://schemas.microsoft.com/office/drawing/2014/main" id="{8FC866BC-DCB3-9C5F-B76C-5E921D65A477}"/>
              </a:ext>
            </a:extLst>
          </p:cNvPr>
          <p:cNvSpPr>
            <a:spLocks/>
          </p:cNvSpPr>
          <p:nvPr/>
        </p:nvSpPr>
        <p:spPr bwMode="auto">
          <a:xfrm rot="14634514" flipH="1">
            <a:off x="4844494" y="3524449"/>
            <a:ext cx="769048" cy="1432458"/>
          </a:xfrm>
          <a:custGeom>
            <a:avLst/>
            <a:gdLst>
              <a:gd name="T0" fmla="*/ 75 w 1149"/>
              <a:gd name="T1" fmla="*/ 36 h 2226"/>
              <a:gd name="T2" fmla="*/ 174 w 1149"/>
              <a:gd name="T3" fmla="*/ 87 h 2226"/>
              <a:gd name="T4" fmla="*/ 285 w 1149"/>
              <a:gd name="T5" fmla="*/ 162 h 2226"/>
              <a:gd name="T6" fmla="*/ 417 w 1149"/>
              <a:gd name="T7" fmla="*/ 282 h 2226"/>
              <a:gd name="T8" fmla="*/ 513 w 1149"/>
              <a:gd name="T9" fmla="*/ 405 h 2226"/>
              <a:gd name="T10" fmla="*/ 591 w 1149"/>
              <a:gd name="T11" fmla="*/ 528 h 2226"/>
              <a:gd name="T12" fmla="*/ 657 w 1149"/>
              <a:gd name="T13" fmla="*/ 666 h 2226"/>
              <a:gd name="T14" fmla="*/ 717 w 1149"/>
              <a:gd name="T15" fmla="*/ 813 h 2226"/>
              <a:gd name="T16" fmla="*/ 762 w 1149"/>
              <a:gd name="T17" fmla="*/ 969 h 2226"/>
              <a:gd name="T18" fmla="*/ 792 w 1149"/>
              <a:gd name="T19" fmla="*/ 1149 h 2226"/>
              <a:gd name="T20" fmla="*/ 813 w 1149"/>
              <a:gd name="T21" fmla="*/ 1332 h 2226"/>
              <a:gd name="T22" fmla="*/ 813 w 1149"/>
              <a:gd name="T23" fmla="*/ 1479 h 2226"/>
              <a:gd name="T24" fmla="*/ 804 w 1149"/>
              <a:gd name="T25" fmla="*/ 1635 h 2226"/>
              <a:gd name="T26" fmla="*/ 780 w 1149"/>
              <a:gd name="T27" fmla="*/ 1785 h 2226"/>
              <a:gd name="T28" fmla="*/ 591 w 1149"/>
              <a:gd name="T29" fmla="*/ 1830 h 2226"/>
              <a:gd name="T30" fmla="*/ 1149 w 1149"/>
              <a:gd name="T31" fmla="*/ 1971 h 2226"/>
              <a:gd name="T32" fmla="*/ 1008 w 1149"/>
              <a:gd name="T33" fmla="*/ 1869 h 2226"/>
              <a:gd name="T34" fmla="*/ 1038 w 1149"/>
              <a:gd name="T35" fmla="*/ 1716 h 2226"/>
              <a:gd name="T36" fmla="*/ 1050 w 1149"/>
              <a:gd name="T37" fmla="*/ 1566 h 2226"/>
              <a:gd name="T38" fmla="*/ 1053 w 1149"/>
              <a:gd name="T39" fmla="*/ 1395 h 2226"/>
              <a:gd name="T40" fmla="*/ 1035 w 1149"/>
              <a:gd name="T41" fmla="*/ 1206 h 2226"/>
              <a:gd name="T42" fmla="*/ 1005 w 1149"/>
              <a:gd name="T43" fmla="*/ 1050 h 2226"/>
              <a:gd name="T44" fmla="*/ 963 w 1149"/>
              <a:gd name="T45" fmla="*/ 900 h 2226"/>
              <a:gd name="T46" fmla="*/ 912 w 1149"/>
              <a:gd name="T47" fmla="*/ 762 h 2226"/>
              <a:gd name="T48" fmla="*/ 837 w 1149"/>
              <a:gd name="T49" fmla="*/ 603 h 2226"/>
              <a:gd name="T50" fmla="*/ 750 w 1149"/>
              <a:gd name="T51" fmla="*/ 462 h 2226"/>
              <a:gd name="T52" fmla="*/ 669 w 1149"/>
              <a:gd name="T53" fmla="*/ 363 h 2226"/>
              <a:gd name="T54" fmla="*/ 558 w 1149"/>
              <a:gd name="T55" fmla="*/ 249 h 2226"/>
              <a:gd name="T56" fmla="*/ 433 w 1149"/>
              <a:gd name="T57" fmla="*/ 157 h 2226"/>
              <a:gd name="T58" fmla="*/ 297 w 1149"/>
              <a:gd name="T59" fmla="*/ 81 h 2226"/>
              <a:gd name="T60" fmla="*/ 153 w 1149"/>
              <a:gd name="T61" fmla="*/ 24 h 2226"/>
              <a:gd name="T62" fmla="*/ 0 w 1149"/>
              <a:gd name="T63" fmla="*/ 0 h 2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95000"/>
            </a:schemeClr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1A2C39A-092F-ADAD-9900-CA1C1250AB92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A0531BA2-5012-DB77-3FE5-95B5490A85D3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B26D96A-56B1-ECDA-A6A6-6215125009B2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B0871079-CC0C-C0DF-7473-F8EE07AD7B98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60569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B6B31B-DC44-51F8-6883-4201BD48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2a. Add gravity – bubble structure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BCDFDB7-551A-C47E-2B60-A51EA3734E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69" y="1139339"/>
            <a:ext cx="5040000" cy="277332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A48B007-FFFC-709D-A768-7A6617A106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596" y="2206851"/>
            <a:ext cx="5040000" cy="281317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D801559-87DB-D686-EB1B-A157A555C3EA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69B5BD0-0681-1449-9052-00FB772EA021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8098A131-FF5A-92AA-E4E4-B9D8A075EEDE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424B434-F86D-B0DA-185D-C98AC5A2C878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874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EB5F0-B6EF-5349-B401-F011E63F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2a. Add gravity – bubble structure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6873F22-BB43-1061-CDA0-CABC2783C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21" y="1139339"/>
            <a:ext cx="8650308" cy="3096344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42C7025-ED3C-5F2F-A64A-8C9DEBD7E1EA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670C7B69-6FFF-088F-4204-77412F31C3F3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3BAE8A0-773D-AD73-751F-CE2630A5BF6A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EB4C30B3-75BA-6F21-3D74-5E13B97268BA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8225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C4750FC-532E-88AC-53B7-4AB226AAC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361" y="915566"/>
            <a:ext cx="6840762" cy="41044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914EB2-C742-67BB-746C-85797E15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2a. Add gravity – bubble structure</a:t>
            </a:r>
          </a:p>
        </p:txBody>
      </p:sp>
      <p:pic>
        <p:nvPicPr>
          <p:cNvPr id="3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1E86D4D7-D121-DADC-725C-29F61FAD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r="77778"/>
          <a:stretch>
            <a:fillRect/>
          </a:stretch>
        </p:blipFill>
        <p:spPr bwMode="auto">
          <a:xfrm>
            <a:off x="251520" y="1131590"/>
            <a:ext cx="1440160" cy="3888432"/>
          </a:xfrm>
          <a:prstGeom prst="rect">
            <a:avLst/>
          </a:prstGeom>
          <a:noFill/>
        </p:spPr>
      </p:pic>
      <p:pic>
        <p:nvPicPr>
          <p:cNvPr id="4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CC9B3898-AE9A-1790-1EDD-CF8450918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7778"/>
          <a:stretch>
            <a:fillRect/>
          </a:stretch>
        </p:blipFill>
        <p:spPr bwMode="auto">
          <a:xfrm>
            <a:off x="7452320" y="1131590"/>
            <a:ext cx="1440160" cy="3888432"/>
          </a:xfrm>
          <a:prstGeom prst="rect">
            <a:avLst/>
          </a:prstGeom>
          <a:noFill/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D7745A0-CC53-EC99-FB90-A81FDA3A1486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834CA3A4-B4EC-3FC3-10EB-F51B89456A46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05E6A601-B3ED-3E57-7945-C13B95B1B1DD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121B4B3-8361-B991-6656-6B5E30B998D0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13850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5FDA2-AB68-C005-A8C1-E978124A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ED7CA-F966-2B94-75CE-686AC854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2b. Add gravity – crystalline structure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A537D99-53A7-7213-5378-989FCD61D88B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Add Gravity</a:t>
            </a:r>
          </a:p>
          <a:p>
            <a:pPr algn="ctr"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social interaction &amp; gravitation</a:t>
            </a:r>
          </a:p>
          <a:p>
            <a:pPr>
              <a:spcAft>
                <a:spcPts val="600"/>
              </a:spcAft>
            </a:pPr>
            <a:endParaRPr lang="en-US" sz="1200" noProof="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Additionally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ground rule</a:t>
            </a:r>
          </a:p>
          <a:p>
            <a:pPr marL="182563" indent="-1825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enforcement of z non-negative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1A50914-3E34-D0ED-627E-BAD6F624736A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FBD37C9-DF7D-4E7A-2006-ED967431F505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C4792E8C-116C-D9CD-6596-58BDB40DC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8D153CAD-5FC7-C737-6957-2952AA1C37DF}"/>
              </a:ext>
            </a:extLst>
          </p:cNvPr>
          <p:cNvSpPr txBox="1"/>
          <p:nvPr/>
        </p:nvSpPr>
        <p:spPr>
          <a:xfrm>
            <a:off x="2418794" y="1140035"/>
            <a:ext cx="6473686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LOCUST SWARM SIMULATION - STAGE 2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swarm with gravity and ground boundary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locusts: 50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interaction: </a:t>
            </a:r>
            <a:r>
              <a:rPr lang="en-US" sz="800" b="1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0.25, L = 1.5</a:t>
            </a:r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   Gravity: g = 1.0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Time step: 0.01, Total time: 30.0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5029AF9-9449-9F87-083E-A10A09BD75F8}"/>
              </a:ext>
            </a:extLst>
          </p:cNvPr>
          <p:cNvSpPr/>
          <p:nvPr/>
        </p:nvSpPr>
        <p:spPr>
          <a:xfrm>
            <a:off x="7236296" y="1203598"/>
            <a:ext cx="1584176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parameters such that crystalline structure forms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D1B00-FA0F-8667-F7C9-A4F7F0CC38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09" y="2291467"/>
            <a:ext cx="3622657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23EA17B-E7F4-CD55-9773-F4336AB080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805" y="2716022"/>
            <a:ext cx="3712675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sp>
        <p:nvSpPr>
          <p:cNvPr id="11" name="Freeform 37">
            <a:extLst>
              <a:ext uri="{FF2B5EF4-FFF2-40B4-BE49-F238E27FC236}">
                <a16:creationId xmlns:a16="http://schemas.microsoft.com/office/drawing/2014/main" id="{84426F3C-2717-BDF0-41A1-7D4E2098D14D}"/>
              </a:ext>
            </a:extLst>
          </p:cNvPr>
          <p:cNvSpPr>
            <a:spLocks/>
          </p:cNvSpPr>
          <p:nvPr/>
        </p:nvSpPr>
        <p:spPr bwMode="auto">
          <a:xfrm rot="14634514" flipH="1">
            <a:off x="4844494" y="3524449"/>
            <a:ext cx="769048" cy="1432458"/>
          </a:xfrm>
          <a:custGeom>
            <a:avLst/>
            <a:gdLst>
              <a:gd name="T0" fmla="*/ 75 w 1149"/>
              <a:gd name="T1" fmla="*/ 36 h 2226"/>
              <a:gd name="T2" fmla="*/ 174 w 1149"/>
              <a:gd name="T3" fmla="*/ 87 h 2226"/>
              <a:gd name="T4" fmla="*/ 285 w 1149"/>
              <a:gd name="T5" fmla="*/ 162 h 2226"/>
              <a:gd name="T6" fmla="*/ 417 w 1149"/>
              <a:gd name="T7" fmla="*/ 282 h 2226"/>
              <a:gd name="T8" fmla="*/ 513 w 1149"/>
              <a:gd name="T9" fmla="*/ 405 h 2226"/>
              <a:gd name="T10" fmla="*/ 591 w 1149"/>
              <a:gd name="T11" fmla="*/ 528 h 2226"/>
              <a:gd name="T12" fmla="*/ 657 w 1149"/>
              <a:gd name="T13" fmla="*/ 666 h 2226"/>
              <a:gd name="T14" fmla="*/ 717 w 1149"/>
              <a:gd name="T15" fmla="*/ 813 h 2226"/>
              <a:gd name="T16" fmla="*/ 762 w 1149"/>
              <a:gd name="T17" fmla="*/ 969 h 2226"/>
              <a:gd name="T18" fmla="*/ 792 w 1149"/>
              <a:gd name="T19" fmla="*/ 1149 h 2226"/>
              <a:gd name="T20" fmla="*/ 813 w 1149"/>
              <a:gd name="T21" fmla="*/ 1332 h 2226"/>
              <a:gd name="T22" fmla="*/ 813 w 1149"/>
              <a:gd name="T23" fmla="*/ 1479 h 2226"/>
              <a:gd name="T24" fmla="*/ 804 w 1149"/>
              <a:gd name="T25" fmla="*/ 1635 h 2226"/>
              <a:gd name="T26" fmla="*/ 780 w 1149"/>
              <a:gd name="T27" fmla="*/ 1785 h 2226"/>
              <a:gd name="T28" fmla="*/ 591 w 1149"/>
              <a:gd name="T29" fmla="*/ 1830 h 2226"/>
              <a:gd name="T30" fmla="*/ 1149 w 1149"/>
              <a:gd name="T31" fmla="*/ 1971 h 2226"/>
              <a:gd name="T32" fmla="*/ 1008 w 1149"/>
              <a:gd name="T33" fmla="*/ 1869 h 2226"/>
              <a:gd name="T34" fmla="*/ 1038 w 1149"/>
              <a:gd name="T35" fmla="*/ 1716 h 2226"/>
              <a:gd name="T36" fmla="*/ 1050 w 1149"/>
              <a:gd name="T37" fmla="*/ 1566 h 2226"/>
              <a:gd name="T38" fmla="*/ 1053 w 1149"/>
              <a:gd name="T39" fmla="*/ 1395 h 2226"/>
              <a:gd name="T40" fmla="*/ 1035 w 1149"/>
              <a:gd name="T41" fmla="*/ 1206 h 2226"/>
              <a:gd name="T42" fmla="*/ 1005 w 1149"/>
              <a:gd name="T43" fmla="*/ 1050 h 2226"/>
              <a:gd name="T44" fmla="*/ 963 w 1149"/>
              <a:gd name="T45" fmla="*/ 900 h 2226"/>
              <a:gd name="T46" fmla="*/ 912 w 1149"/>
              <a:gd name="T47" fmla="*/ 762 h 2226"/>
              <a:gd name="T48" fmla="*/ 837 w 1149"/>
              <a:gd name="T49" fmla="*/ 603 h 2226"/>
              <a:gd name="T50" fmla="*/ 750 w 1149"/>
              <a:gd name="T51" fmla="*/ 462 h 2226"/>
              <a:gd name="T52" fmla="*/ 669 w 1149"/>
              <a:gd name="T53" fmla="*/ 363 h 2226"/>
              <a:gd name="T54" fmla="*/ 558 w 1149"/>
              <a:gd name="T55" fmla="*/ 249 h 2226"/>
              <a:gd name="T56" fmla="*/ 433 w 1149"/>
              <a:gd name="T57" fmla="*/ 157 h 2226"/>
              <a:gd name="T58" fmla="*/ 297 w 1149"/>
              <a:gd name="T59" fmla="*/ 81 h 2226"/>
              <a:gd name="T60" fmla="*/ 153 w 1149"/>
              <a:gd name="T61" fmla="*/ 24 h 2226"/>
              <a:gd name="T62" fmla="*/ 0 w 1149"/>
              <a:gd name="T63" fmla="*/ 0 h 2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95000"/>
            </a:schemeClr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A21C8B1-A47F-61C7-0E3F-D193B7D6F2CE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EAD9AA8-AF2B-7D06-7105-D2FD4B3E0854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AA3C57-AA34-0B73-E6A2-EFDC9F2C7E03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CB97FD0-B455-7250-A730-3B6207043A38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787453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1231F-4BBB-93F5-0AB4-0E66A40B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8806BC-1E43-79D5-2C4E-123AB17A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2b. Add gravity – crystalline structure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74D3EFB-BFDE-E596-136C-88959F0160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21" y="1139339"/>
            <a:ext cx="5040000" cy="277331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BAB6D2D-58EA-D8A7-1811-5BCF307B7A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480" y="2206851"/>
            <a:ext cx="5040000" cy="281317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3F04793-2CF0-01F3-BB97-34048BDCE7CC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E7B6E6D-E124-2608-C9C6-6120E72098A8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3F92E47-F90F-B857-070C-1253F0C36C9E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C34289F9-379E-959A-9C1E-3A20CB659A2F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07617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1211C-C57C-62C8-0D49-6FFD0564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2b. Add gravity – crystalline structure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14C447-9337-612B-067F-4289F07A4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42685"/>
            <a:ext cx="8640960" cy="3092998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5D288929-BB33-3FD0-4A20-A1F8D8FB94EC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8CC35381-0560-A5E8-870C-0A9310F4424D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5E0F3EF-1C31-B3D5-779A-2D19C4D9C2BE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B56B5D0-96F3-BC83-AC10-6F56194DAC96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0852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076B-8D8B-8584-8317-8A2E50A7D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CEED918-9A11-D36B-B7C0-024C099AA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09" y="1067911"/>
            <a:ext cx="6518498" cy="39110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A2E1AB9-5703-4EDD-0E1A-0DAC939B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2b. Add gravity – crystalline structure</a:t>
            </a:r>
          </a:p>
        </p:txBody>
      </p:sp>
      <p:pic>
        <p:nvPicPr>
          <p:cNvPr id="3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5151A86B-A6D7-9DC0-AA9A-831067509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r="77778"/>
          <a:stretch>
            <a:fillRect/>
          </a:stretch>
        </p:blipFill>
        <p:spPr bwMode="auto">
          <a:xfrm>
            <a:off x="251520" y="1131590"/>
            <a:ext cx="1440160" cy="3888432"/>
          </a:xfrm>
          <a:prstGeom prst="rect">
            <a:avLst/>
          </a:prstGeom>
          <a:noFill/>
        </p:spPr>
      </p:pic>
      <p:pic>
        <p:nvPicPr>
          <p:cNvPr id="4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E85BB254-4A45-2D27-4985-EDC9E1389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7778"/>
          <a:stretch>
            <a:fillRect/>
          </a:stretch>
        </p:blipFill>
        <p:spPr bwMode="auto">
          <a:xfrm>
            <a:off x="7452320" y="1131590"/>
            <a:ext cx="1440160" cy="3888432"/>
          </a:xfrm>
          <a:prstGeom prst="rect">
            <a:avLst/>
          </a:prstGeom>
          <a:noFill/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7EC59FA-93C0-4929-7B9B-998A75264BD6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649FBB3-B89A-8B22-64B5-A21B7486CA84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AC0E9044-AF01-3816-6BF7-D788932D4FDA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6274D1A-15A8-18B6-A1A7-383A46D20B93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54853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1A158-5F13-9A45-0181-765F7C0A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962A-04D8-144B-8A86-04B51B19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parameter values to try:</a:t>
            </a:r>
            <a:br>
              <a:rPr lang="en-US" noProof="0" dirty="0"/>
            </a:br>
            <a:r>
              <a:rPr lang="en-US" noProof="0" dirty="0"/>
              <a:t>Understanding the regime boundary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A4EBF7C3-362D-291E-61F6-DBCE489C0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157147"/>
              </p:ext>
            </p:extLst>
          </p:nvPr>
        </p:nvGraphicFramePr>
        <p:xfrm>
          <a:off x="971600" y="2571750"/>
          <a:ext cx="7200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6156592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19213386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921784166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655160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Value of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Value of </a:t>
                      </a:r>
                      <a:r>
                        <a:rPr lang="en-US" sz="1400" noProof="0" dirty="0" err="1"/>
                        <a:t>L</a:t>
                      </a:r>
                      <a:r>
                        <a:rPr lang="en-US" sz="1400" baseline="-25000" noProof="0" dirty="0" err="1"/>
                        <a:t>critical</a:t>
                      </a:r>
                      <a:r>
                        <a:rPr lang="en-US" sz="1400" noProof="0" dirty="0"/>
                        <a:t> = F</a:t>
                      </a:r>
                      <a:r>
                        <a:rPr lang="en-US" sz="1400" baseline="30000" noProof="0" dirty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Regime if L &lt; </a:t>
                      </a:r>
                      <a:r>
                        <a:rPr lang="en-US" sz="1400" noProof="0" dirty="0" err="1"/>
                        <a:t>L</a:t>
                      </a:r>
                      <a:r>
                        <a:rPr lang="en-US" sz="1400" baseline="-25000" noProof="0" dirty="0" err="1"/>
                        <a:t>critical</a:t>
                      </a:r>
                      <a:endParaRPr lang="en-US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Regime if L &gt; </a:t>
                      </a:r>
                      <a:r>
                        <a:rPr lang="en-US" sz="1400" noProof="0" dirty="0" err="1"/>
                        <a:t>L</a:t>
                      </a:r>
                      <a:r>
                        <a:rPr lang="en-US" sz="1400" baseline="-25000" noProof="0" dirty="0" err="1"/>
                        <a:t>critical</a:t>
                      </a:r>
                      <a:endParaRPr lang="en-US" sz="14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79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noProof="0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sz="1400" baseline="0" noProof="0" dirty="0"/>
                        <a:t>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H-stable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catastrophic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80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noProof="0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sz="1400" baseline="0" noProof="0" dirty="0"/>
                        <a:t>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H-stable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catastrophic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97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noProof="0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sz="1400" baseline="0" noProof="0" dirty="0"/>
                        <a:t>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H-stable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catastrophic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noProof="0" dirty="0">
                          <a:sym typeface="Symbol" panose="05050102010706020507" pitchFamily="18" charset="2"/>
                        </a:rPr>
                        <a:t> </a:t>
                      </a:r>
                      <a:r>
                        <a:rPr lang="en-US" sz="1400" baseline="0" noProof="0" dirty="0"/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H-stable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catastrophic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757627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77B4964-518C-249D-C0F7-B7404EE94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871093"/>
              </p:ext>
            </p:extLst>
          </p:nvPr>
        </p:nvGraphicFramePr>
        <p:xfrm>
          <a:off x="971600" y="1131590"/>
          <a:ext cx="720080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74059494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161176303"/>
                    </a:ext>
                  </a:extLst>
                </a:gridCol>
                <a:gridCol w="3600401">
                  <a:extLst>
                    <a:ext uri="{9D8B030D-6E8A-4147-A177-3AD203B41FA5}">
                      <a16:colId xmlns:a16="http://schemas.microsoft.com/office/drawing/2014/main" val="1719414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Value of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Value of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89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strong attraction, short range (tight cluster)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909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weak attraction, long range (loose swarm)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940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moderate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31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659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02FBBADC-004E-7700-BA99-9C247B69A4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09" y="2291467"/>
            <a:ext cx="3622656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7A5B83B-E7B1-14C5-1990-8105F6A1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3a. Complete model – bubble structure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705C880-1D4E-DFB2-28AF-1624BA32E526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Add Wind</a:t>
            </a:r>
          </a:p>
          <a:p>
            <a:pPr algn="ctr"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social interaction &amp; gravitation &amp; wind</a:t>
            </a:r>
          </a:p>
          <a:p>
            <a:pPr>
              <a:spcAft>
                <a:spcPts val="600"/>
              </a:spcAft>
            </a:pPr>
            <a:endParaRPr lang="en-US" sz="1200" noProof="0" dirty="0">
              <a:solidFill>
                <a:schemeClr val="tx1"/>
              </a:solidFill>
            </a:endParaRPr>
          </a:p>
          <a:p>
            <a:r>
              <a:rPr lang="en-US" sz="1200" noProof="0" dirty="0">
                <a:solidFill>
                  <a:schemeClr val="tx1"/>
                </a:solidFill>
              </a:rPr>
              <a:t>Goal: see whether the swarm smears out or rolls.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B1518A2-2EFB-B1E4-CE33-66EFAC61723F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AD796D3-B25D-132E-BD63-384C398794E0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1D4187D9-6966-9D86-F04B-FA559D045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810569B2-34CB-14A4-7D6A-79964C980D84}"/>
              </a:ext>
            </a:extLst>
          </p:cNvPr>
          <p:cNvSpPr txBox="1"/>
          <p:nvPr/>
        </p:nvSpPr>
        <p:spPr>
          <a:xfrm>
            <a:off x="2418794" y="1140035"/>
            <a:ext cx="6473686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LOCUST SWARM SIMULATION - STAGE 3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swarm with gravity, ground, and wind (rolling)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locusts: 50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Parameters: F = 0.5, L = 10.0, g = 1.0, u = 2.0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Time step: 0.01, Total time: 50.0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66CDD5F-A306-2128-5DC0-E152906EFA12}"/>
              </a:ext>
            </a:extLst>
          </p:cNvPr>
          <p:cNvSpPr/>
          <p:nvPr/>
        </p:nvSpPr>
        <p:spPr>
          <a:xfrm>
            <a:off x="7236296" y="1203598"/>
            <a:ext cx="1584176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parameters such that bubble structure forms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9FA0960-FF9A-0618-A8E8-76ABCDE86F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95" y="2716022"/>
            <a:ext cx="3654285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sp>
        <p:nvSpPr>
          <p:cNvPr id="15" name="Freeform 37">
            <a:extLst>
              <a:ext uri="{FF2B5EF4-FFF2-40B4-BE49-F238E27FC236}">
                <a16:creationId xmlns:a16="http://schemas.microsoft.com/office/drawing/2014/main" id="{6786F61C-4E03-4C7B-3E87-4D6BEB2162E5}"/>
              </a:ext>
            </a:extLst>
          </p:cNvPr>
          <p:cNvSpPr>
            <a:spLocks/>
          </p:cNvSpPr>
          <p:nvPr/>
        </p:nvSpPr>
        <p:spPr bwMode="auto">
          <a:xfrm rot="14634514" flipH="1">
            <a:off x="4844494" y="3524449"/>
            <a:ext cx="769048" cy="1432458"/>
          </a:xfrm>
          <a:custGeom>
            <a:avLst/>
            <a:gdLst>
              <a:gd name="T0" fmla="*/ 75 w 1149"/>
              <a:gd name="T1" fmla="*/ 36 h 2226"/>
              <a:gd name="T2" fmla="*/ 174 w 1149"/>
              <a:gd name="T3" fmla="*/ 87 h 2226"/>
              <a:gd name="T4" fmla="*/ 285 w 1149"/>
              <a:gd name="T5" fmla="*/ 162 h 2226"/>
              <a:gd name="T6" fmla="*/ 417 w 1149"/>
              <a:gd name="T7" fmla="*/ 282 h 2226"/>
              <a:gd name="T8" fmla="*/ 513 w 1149"/>
              <a:gd name="T9" fmla="*/ 405 h 2226"/>
              <a:gd name="T10" fmla="*/ 591 w 1149"/>
              <a:gd name="T11" fmla="*/ 528 h 2226"/>
              <a:gd name="T12" fmla="*/ 657 w 1149"/>
              <a:gd name="T13" fmla="*/ 666 h 2226"/>
              <a:gd name="T14" fmla="*/ 717 w 1149"/>
              <a:gd name="T15" fmla="*/ 813 h 2226"/>
              <a:gd name="T16" fmla="*/ 762 w 1149"/>
              <a:gd name="T17" fmla="*/ 969 h 2226"/>
              <a:gd name="T18" fmla="*/ 792 w 1149"/>
              <a:gd name="T19" fmla="*/ 1149 h 2226"/>
              <a:gd name="T20" fmla="*/ 813 w 1149"/>
              <a:gd name="T21" fmla="*/ 1332 h 2226"/>
              <a:gd name="T22" fmla="*/ 813 w 1149"/>
              <a:gd name="T23" fmla="*/ 1479 h 2226"/>
              <a:gd name="T24" fmla="*/ 804 w 1149"/>
              <a:gd name="T25" fmla="*/ 1635 h 2226"/>
              <a:gd name="T26" fmla="*/ 780 w 1149"/>
              <a:gd name="T27" fmla="*/ 1785 h 2226"/>
              <a:gd name="T28" fmla="*/ 591 w 1149"/>
              <a:gd name="T29" fmla="*/ 1830 h 2226"/>
              <a:gd name="T30" fmla="*/ 1149 w 1149"/>
              <a:gd name="T31" fmla="*/ 1971 h 2226"/>
              <a:gd name="T32" fmla="*/ 1008 w 1149"/>
              <a:gd name="T33" fmla="*/ 1869 h 2226"/>
              <a:gd name="T34" fmla="*/ 1038 w 1149"/>
              <a:gd name="T35" fmla="*/ 1716 h 2226"/>
              <a:gd name="T36" fmla="*/ 1050 w 1149"/>
              <a:gd name="T37" fmla="*/ 1566 h 2226"/>
              <a:gd name="T38" fmla="*/ 1053 w 1149"/>
              <a:gd name="T39" fmla="*/ 1395 h 2226"/>
              <a:gd name="T40" fmla="*/ 1035 w 1149"/>
              <a:gd name="T41" fmla="*/ 1206 h 2226"/>
              <a:gd name="T42" fmla="*/ 1005 w 1149"/>
              <a:gd name="T43" fmla="*/ 1050 h 2226"/>
              <a:gd name="T44" fmla="*/ 963 w 1149"/>
              <a:gd name="T45" fmla="*/ 900 h 2226"/>
              <a:gd name="T46" fmla="*/ 912 w 1149"/>
              <a:gd name="T47" fmla="*/ 762 h 2226"/>
              <a:gd name="T48" fmla="*/ 837 w 1149"/>
              <a:gd name="T49" fmla="*/ 603 h 2226"/>
              <a:gd name="T50" fmla="*/ 750 w 1149"/>
              <a:gd name="T51" fmla="*/ 462 h 2226"/>
              <a:gd name="T52" fmla="*/ 669 w 1149"/>
              <a:gd name="T53" fmla="*/ 363 h 2226"/>
              <a:gd name="T54" fmla="*/ 558 w 1149"/>
              <a:gd name="T55" fmla="*/ 249 h 2226"/>
              <a:gd name="T56" fmla="*/ 433 w 1149"/>
              <a:gd name="T57" fmla="*/ 157 h 2226"/>
              <a:gd name="T58" fmla="*/ 297 w 1149"/>
              <a:gd name="T59" fmla="*/ 81 h 2226"/>
              <a:gd name="T60" fmla="*/ 153 w 1149"/>
              <a:gd name="T61" fmla="*/ 24 h 2226"/>
              <a:gd name="T62" fmla="*/ 0 w 1149"/>
              <a:gd name="T63" fmla="*/ 0 h 2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95000"/>
            </a:schemeClr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91E2B7B-3C6F-7697-7941-7F9A9B8FBC14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5736F96-E48C-0B03-2B4E-B047B69EDE07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322B8F5C-31F5-FC65-CBC0-E8A1664F36BD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65C9F483-B05A-BDB5-2D58-B2060E03F49B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04259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17F5-C79E-053C-3A99-038F980E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226C4-B774-E0C8-2025-F46E7DEF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3a. Complete model – bubble structure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04B18BB-3F44-53DE-11E2-848FB9D756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8" y="1152186"/>
            <a:ext cx="5076056" cy="277221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0E08E31-50FB-43D5-2957-6ED4C8679C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79" y="2200988"/>
            <a:ext cx="5039301" cy="28116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A5391BA-4AD5-1D31-F4D5-F2DB689689E7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8106C0ED-A816-545B-0035-3508B3D293C0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4F5AFC67-AF96-6791-FB6B-73555D346C39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42BAEDAF-624A-5468-95CE-D96AD1B80843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176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D357-CD0A-9BBF-A358-5FED3338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7D877-8468-DF75-8BF1-BC7A4B11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3a. Complete model – bubble structure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1083AAC-2E60-FC72-E28B-AB132E8431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70" y="1142684"/>
            <a:ext cx="5833281" cy="2088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78E5D90-3904-EA50-BE19-767860C7EB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474" y="1810362"/>
            <a:ext cx="4510296" cy="32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0FC9721-847F-D3AD-C0A5-1E1090DDB590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6F5F7CB5-DDE0-3498-788E-142AF7E30F24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FA6033D4-9433-3E76-79EF-B32944BA94A8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43975B0-FCE8-5D99-FE7D-E4053FC29F3E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733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5BBA-D5B2-BE5A-1982-60617FDA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14D1FE0-CC12-7398-A2F0-EAD5C7D17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376" y="1067331"/>
            <a:ext cx="6516000" cy="3909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23D0A8-169E-52F5-0FB6-3B68D7C4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3a. Complete model – bubble structure</a:t>
            </a:r>
          </a:p>
        </p:txBody>
      </p:sp>
      <p:pic>
        <p:nvPicPr>
          <p:cNvPr id="3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A70B1087-BA66-9BA8-78B8-F4A5E850C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r="77778"/>
          <a:stretch>
            <a:fillRect/>
          </a:stretch>
        </p:blipFill>
        <p:spPr bwMode="auto">
          <a:xfrm>
            <a:off x="251520" y="1131590"/>
            <a:ext cx="1440160" cy="3888432"/>
          </a:xfrm>
          <a:prstGeom prst="rect">
            <a:avLst/>
          </a:prstGeom>
          <a:noFill/>
        </p:spPr>
      </p:pic>
      <p:pic>
        <p:nvPicPr>
          <p:cNvPr id="4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9688DABD-5795-2D36-4487-89368576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7778"/>
          <a:stretch>
            <a:fillRect/>
          </a:stretch>
        </p:blipFill>
        <p:spPr bwMode="auto">
          <a:xfrm>
            <a:off x="7452320" y="1131590"/>
            <a:ext cx="1440160" cy="3888432"/>
          </a:xfrm>
          <a:prstGeom prst="rect">
            <a:avLst/>
          </a:prstGeom>
          <a:noFill/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5318804-99D8-33D7-6449-9224A8FE2650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8107E3F-41E9-9706-681C-FD08B11F0489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4F7CE05F-D7D5-1A83-23F9-345EFC8E0F15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B94DB6F-C1F6-5C04-3646-14F99CA99C14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6013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C8AD3-FE28-CCBA-2C8B-8FCEB0C6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BD36D197-8387-5869-5D4E-BC0AD9E020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09" y="2291467"/>
            <a:ext cx="3654285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E840F5-2AAA-4563-1E01-6E260A47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3b. Complete model – crystalline structure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D6E99CB-8DAF-0C2D-A7FB-3928E8132315}"/>
              </a:ext>
            </a:extLst>
          </p:cNvPr>
          <p:cNvSpPr/>
          <p:nvPr/>
        </p:nvSpPr>
        <p:spPr>
          <a:xfrm>
            <a:off x="251520" y="2139702"/>
            <a:ext cx="1656184" cy="2880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sz="1200" b="1" noProof="0" dirty="0">
                <a:solidFill>
                  <a:schemeClr val="tx1"/>
                </a:solidFill>
              </a:rPr>
              <a:t>Add Wind</a:t>
            </a:r>
          </a:p>
          <a:p>
            <a:pPr algn="ctr">
              <a:spcAft>
                <a:spcPts val="600"/>
              </a:spcAft>
            </a:pPr>
            <a:r>
              <a:rPr lang="en-US" sz="1200" noProof="0" dirty="0">
                <a:solidFill>
                  <a:schemeClr val="tx1"/>
                </a:solidFill>
              </a:rPr>
              <a:t>social interaction &amp; gravitation &amp; wind</a:t>
            </a:r>
          </a:p>
          <a:p>
            <a:pPr>
              <a:spcAft>
                <a:spcPts val="600"/>
              </a:spcAft>
            </a:pPr>
            <a:endParaRPr lang="en-US" sz="1200" noProof="0" dirty="0">
              <a:solidFill>
                <a:schemeClr val="tx1"/>
              </a:solidFill>
            </a:endParaRPr>
          </a:p>
          <a:p>
            <a:r>
              <a:rPr lang="en-US" sz="1200" noProof="0" dirty="0">
                <a:solidFill>
                  <a:schemeClr val="tx1"/>
                </a:solidFill>
              </a:rPr>
              <a:t>Goal: see whether the swarm smears out or rolls.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16EE6CE-A8A0-5397-94BD-22915F4B13C0}"/>
              </a:ext>
            </a:extLst>
          </p:cNvPr>
          <p:cNvGrpSpPr/>
          <p:nvPr/>
        </p:nvGrpSpPr>
        <p:grpSpPr>
          <a:xfrm>
            <a:off x="251520" y="1131588"/>
            <a:ext cx="1656184" cy="936107"/>
            <a:chOff x="251520" y="1131588"/>
            <a:chExt cx="1656184" cy="93610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A649FEF-3CFB-BFE8-0F0D-73E6014D13CA}"/>
                </a:ext>
              </a:extLst>
            </p:cNvPr>
            <p:cNvSpPr/>
            <p:nvPr/>
          </p:nvSpPr>
          <p:spPr>
            <a:xfrm>
              <a:off x="251520" y="1131588"/>
              <a:ext cx="1656184" cy="93610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7B280D7A-94B5-A7AC-0BB4-39B42D823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00" b="15210"/>
            <a:stretch>
              <a:fillRect/>
            </a:stretch>
          </p:blipFill>
          <p:spPr>
            <a:xfrm>
              <a:off x="487821" y="1131589"/>
              <a:ext cx="1183583" cy="936106"/>
            </a:xfrm>
            <a:prstGeom prst="rect">
              <a:avLst/>
            </a:prstGeom>
          </p:spPr>
        </p:pic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015204A6-F5EB-590B-0BDF-8BEF2BFFE71A}"/>
              </a:ext>
            </a:extLst>
          </p:cNvPr>
          <p:cNvSpPr txBox="1"/>
          <p:nvPr/>
        </p:nvSpPr>
        <p:spPr>
          <a:xfrm>
            <a:off x="2418794" y="1140035"/>
            <a:ext cx="6473686" cy="1077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LOCUST SWARM SIMULATION - STAGE 3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Social swarm with gravity, ground, and wind (rolling)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locusts: 50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Parameters: F = 0.25, L = 1.5, g = 1.0, u = 3.0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Time step: 0.01, Total time: 50.0</a:t>
            </a:r>
          </a:p>
          <a:p>
            <a:r>
              <a:rPr lang="en-US" sz="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AC0A644-1A97-7F67-A631-6EC85731A926}"/>
              </a:ext>
            </a:extLst>
          </p:cNvPr>
          <p:cNvSpPr/>
          <p:nvPr/>
        </p:nvSpPr>
        <p:spPr>
          <a:xfrm>
            <a:off x="7236296" y="1203598"/>
            <a:ext cx="1584176" cy="720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parameters such that crystalline structure forms 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0F2CD10-FAD3-D5F5-0C41-2AFA6DD23071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4DA8B52-A372-FAE2-64E0-C72B3B0C14C5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6D44BD2-AF49-356B-CEC1-AF34AF0477FC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A16AC7E4-4F5B-65E3-89BD-20541C145855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CCE50FB7-78D0-CC13-38C7-2F207AD825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805" y="2716022"/>
            <a:ext cx="3712675" cy="23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sp>
        <p:nvSpPr>
          <p:cNvPr id="15" name="Freeform 37">
            <a:extLst>
              <a:ext uri="{FF2B5EF4-FFF2-40B4-BE49-F238E27FC236}">
                <a16:creationId xmlns:a16="http://schemas.microsoft.com/office/drawing/2014/main" id="{0B80F667-3470-AC8A-8B2C-39D74FAF6AB4}"/>
              </a:ext>
            </a:extLst>
          </p:cNvPr>
          <p:cNvSpPr>
            <a:spLocks/>
          </p:cNvSpPr>
          <p:nvPr/>
        </p:nvSpPr>
        <p:spPr bwMode="auto">
          <a:xfrm rot="14634514" flipH="1">
            <a:off x="4844494" y="3524449"/>
            <a:ext cx="769048" cy="1432458"/>
          </a:xfrm>
          <a:custGeom>
            <a:avLst/>
            <a:gdLst>
              <a:gd name="T0" fmla="*/ 75 w 1149"/>
              <a:gd name="T1" fmla="*/ 36 h 2226"/>
              <a:gd name="T2" fmla="*/ 174 w 1149"/>
              <a:gd name="T3" fmla="*/ 87 h 2226"/>
              <a:gd name="T4" fmla="*/ 285 w 1149"/>
              <a:gd name="T5" fmla="*/ 162 h 2226"/>
              <a:gd name="T6" fmla="*/ 417 w 1149"/>
              <a:gd name="T7" fmla="*/ 282 h 2226"/>
              <a:gd name="T8" fmla="*/ 513 w 1149"/>
              <a:gd name="T9" fmla="*/ 405 h 2226"/>
              <a:gd name="T10" fmla="*/ 591 w 1149"/>
              <a:gd name="T11" fmla="*/ 528 h 2226"/>
              <a:gd name="T12" fmla="*/ 657 w 1149"/>
              <a:gd name="T13" fmla="*/ 666 h 2226"/>
              <a:gd name="T14" fmla="*/ 717 w 1149"/>
              <a:gd name="T15" fmla="*/ 813 h 2226"/>
              <a:gd name="T16" fmla="*/ 762 w 1149"/>
              <a:gd name="T17" fmla="*/ 969 h 2226"/>
              <a:gd name="T18" fmla="*/ 792 w 1149"/>
              <a:gd name="T19" fmla="*/ 1149 h 2226"/>
              <a:gd name="T20" fmla="*/ 813 w 1149"/>
              <a:gd name="T21" fmla="*/ 1332 h 2226"/>
              <a:gd name="T22" fmla="*/ 813 w 1149"/>
              <a:gd name="T23" fmla="*/ 1479 h 2226"/>
              <a:gd name="T24" fmla="*/ 804 w 1149"/>
              <a:gd name="T25" fmla="*/ 1635 h 2226"/>
              <a:gd name="T26" fmla="*/ 780 w 1149"/>
              <a:gd name="T27" fmla="*/ 1785 h 2226"/>
              <a:gd name="T28" fmla="*/ 591 w 1149"/>
              <a:gd name="T29" fmla="*/ 1830 h 2226"/>
              <a:gd name="T30" fmla="*/ 1149 w 1149"/>
              <a:gd name="T31" fmla="*/ 1971 h 2226"/>
              <a:gd name="T32" fmla="*/ 1008 w 1149"/>
              <a:gd name="T33" fmla="*/ 1869 h 2226"/>
              <a:gd name="T34" fmla="*/ 1038 w 1149"/>
              <a:gd name="T35" fmla="*/ 1716 h 2226"/>
              <a:gd name="T36" fmla="*/ 1050 w 1149"/>
              <a:gd name="T37" fmla="*/ 1566 h 2226"/>
              <a:gd name="T38" fmla="*/ 1053 w 1149"/>
              <a:gd name="T39" fmla="*/ 1395 h 2226"/>
              <a:gd name="T40" fmla="*/ 1035 w 1149"/>
              <a:gd name="T41" fmla="*/ 1206 h 2226"/>
              <a:gd name="T42" fmla="*/ 1005 w 1149"/>
              <a:gd name="T43" fmla="*/ 1050 h 2226"/>
              <a:gd name="T44" fmla="*/ 963 w 1149"/>
              <a:gd name="T45" fmla="*/ 900 h 2226"/>
              <a:gd name="T46" fmla="*/ 912 w 1149"/>
              <a:gd name="T47" fmla="*/ 762 h 2226"/>
              <a:gd name="T48" fmla="*/ 837 w 1149"/>
              <a:gd name="T49" fmla="*/ 603 h 2226"/>
              <a:gd name="T50" fmla="*/ 750 w 1149"/>
              <a:gd name="T51" fmla="*/ 462 h 2226"/>
              <a:gd name="T52" fmla="*/ 669 w 1149"/>
              <a:gd name="T53" fmla="*/ 363 h 2226"/>
              <a:gd name="T54" fmla="*/ 558 w 1149"/>
              <a:gd name="T55" fmla="*/ 249 h 2226"/>
              <a:gd name="T56" fmla="*/ 433 w 1149"/>
              <a:gd name="T57" fmla="*/ 157 h 2226"/>
              <a:gd name="T58" fmla="*/ 297 w 1149"/>
              <a:gd name="T59" fmla="*/ 81 h 2226"/>
              <a:gd name="T60" fmla="*/ 153 w 1149"/>
              <a:gd name="T61" fmla="*/ 24 h 2226"/>
              <a:gd name="T62" fmla="*/ 0 w 1149"/>
              <a:gd name="T63" fmla="*/ 0 h 2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95000"/>
            </a:schemeClr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99308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F4EE-F41A-B086-B010-4F7D7B37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9C0F0-6A6C-9529-2EEB-C2EB78AD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3b. Complete model – crystalline structure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0BE1FAF-9FB3-CC65-F59F-B99605895EB3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22765AD-B73D-F0E4-A552-5DE9EB956438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1EC1FDF-D791-6AAB-CEC4-AE5B2FDAF5EF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38D7054-3003-FD05-1D85-178442D07EC9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4EC7FF2F-06D8-77A2-B357-0BBCDCB036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7" y="1144655"/>
            <a:ext cx="5075658" cy="2772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960FB918-E628-95BA-E833-E26F4C9D96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179" y="2209443"/>
            <a:ext cx="5039301" cy="28116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583336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71753-60B9-E914-30B0-82150915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713A8-73ED-CD5B-A3C3-FA511BC3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3b. Complete model – crystalline structure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A0C6DEF-9360-3C66-F9CF-A2DDA83D07B5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25C86C10-5955-E820-AC5B-2171216B17A2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E8460AD-507C-7498-E564-C78E6A7D72D0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E01AC3DE-3E99-780C-A310-83F39A494F74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067AAB60-CADF-6B35-06A2-BD573C01FD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38" y="1147088"/>
            <a:ext cx="5833279" cy="2088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6EED61E-663F-61CA-FA1B-8327DA5E5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184" y="1816022"/>
            <a:ext cx="4510296" cy="320400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32226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0827-31FD-6397-DEB2-ED1ADF6F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E9C9E13-DE9C-4A31-C7E1-03AC51EC9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23" y="1059582"/>
            <a:ext cx="6045192" cy="362711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EF1422-8F42-ECE7-689C-FE4834DE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the computational model</a:t>
            </a:r>
            <a:br>
              <a:rPr lang="en-US" noProof="0" dirty="0"/>
            </a:br>
            <a:r>
              <a:rPr lang="en-US" noProof="0" dirty="0"/>
              <a:t>3b. Complete model – crystalline structure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D4699D0-6318-A874-A926-0E05F2B03C44}"/>
              </a:ext>
            </a:extLst>
          </p:cNvPr>
          <p:cNvGrpSpPr/>
          <p:nvPr/>
        </p:nvGrpSpPr>
        <p:grpSpPr>
          <a:xfrm>
            <a:off x="251520" y="915566"/>
            <a:ext cx="1656184" cy="144014"/>
            <a:chOff x="251520" y="915566"/>
            <a:chExt cx="1210998" cy="144014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C8966548-47CF-5A7B-6CAB-6871698CE7ED}"/>
                </a:ext>
              </a:extLst>
            </p:cNvPr>
            <p:cNvSpPr/>
            <p:nvPr/>
          </p:nvSpPr>
          <p:spPr>
            <a:xfrm>
              <a:off x="251520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5590A28D-137C-B6CE-574A-C2C35DB473A2}"/>
                </a:ext>
              </a:extLst>
            </p:cNvPr>
            <p:cNvSpPr/>
            <p:nvPr/>
          </p:nvSpPr>
          <p:spPr>
            <a:xfrm>
              <a:off x="676999" y="915566"/>
              <a:ext cx="360040" cy="1440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F8C52DD-82C5-0CC9-9E70-3691A745D6CB}"/>
                </a:ext>
              </a:extLst>
            </p:cNvPr>
            <p:cNvSpPr/>
            <p:nvPr/>
          </p:nvSpPr>
          <p:spPr>
            <a:xfrm>
              <a:off x="1102478" y="915566"/>
              <a:ext cx="360040" cy="14401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3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7F97B3FE-9F4D-302A-5A03-1C0A6D0F8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r="77778"/>
          <a:stretch>
            <a:fillRect/>
          </a:stretch>
        </p:blipFill>
        <p:spPr bwMode="auto">
          <a:xfrm>
            <a:off x="251520" y="1131590"/>
            <a:ext cx="1440160" cy="3888432"/>
          </a:xfrm>
          <a:prstGeom prst="rect">
            <a:avLst/>
          </a:prstGeom>
          <a:noFill/>
        </p:spPr>
      </p:pic>
      <p:pic>
        <p:nvPicPr>
          <p:cNvPr id="4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8E23D661-79BF-C83C-E5D2-7AA2C4704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7778"/>
          <a:stretch>
            <a:fillRect/>
          </a:stretch>
        </p:blipFill>
        <p:spPr bwMode="auto">
          <a:xfrm>
            <a:off x="7452320" y="1131590"/>
            <a:ext cx="1440160" cy="38884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0061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60AB-EDD6-296E-D930-922A5E41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4">
            <a:extLst>
              <a:ext uri="{FF2B5EF4-FFF2-40B4-BE49-F238E27FC236}">
                <a16:creationId xmlns:a16="http://schemas.microsoft.com/office/drawing/2014/main" id="{096C4FAA-49B1-47D2-6D33-90B6CAEADDBD}"/>
              </a:ext>
            </a:extLst>
          </p:cNvPr>
          <p:cNvSpPr/>
          <p:nvPr/>
        </p:nvSpPr>
        <p:spPr>
          <a:xfrm>
            <a:off x="3851920" y="2232812"/>
            <a:ext cx="504056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28B2D64-6F72-6CCC-1A31-6703FB3DAB16}"/>
              </a:ext>
            </a:extLst>
          </p:cNvPr>
          <p:cNvSpPr txBox="1"/>
          <p:nvPr/>
        </p:nvSpPr>
        <p:spPr>
          <a:xfrm>
            <a:off x="3851920" y="1131590"/>
            <a:ext cx="3204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Sub-Agenda: Swarms of Locusts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The Computerized Model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b="1" noProof="0" dirty="0"/>
              <a:t>Simulations</a:t>
            </a:r>
          </a:p>
        </p:txBody>
      </p:sp>
      <p:pic>
        <p:nvPicPr>
          <p:cNvPr id="5" name="Picture 2" descr="How war threatens Ethiopia's struggle against worst locust swarm in 25  years | Global development | The Guardian">
            <a:extLst>
              <a:ext uri="{FF2B5EF4-FFF2-40B4-BE49-F238E27FC236}">
                <a16:creationId xmlns:a16="http://schemas.microsoft.com/office/drawing/2014/main" id="{6050D80B-97E1-044A-6725-14B91EDB4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2813043" cy="1687826"/>
          </a:xfrm>
          <a:prstGeom prst="rect">
            <a:avLst/>
          </a:prstGeom>
          <a:noFill/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E6CC8F1-5C5F-3E7D-02E0-D76E9F318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035334"/>
            <a:ext cx="2561426" cy="198128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4631D2A-FF0B-4355-22D1-A685149C0930}"/>
              </a:ext>
            </a:extLst>
          </p:cNvPr>
          <p:cNvSpPr/>
          <p:nvPr/>
        </p:nvSpPr>
        <p:spPr>
          <a:xfrm>
            <a:off x="251520" y="3007198"/>
            <a:ext cx="2813043" cy="201282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0799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</a:t>
            </a:r>
            <a:br>
              <a:rPr lang="en-US" noProof="0" dirty="0"/>
            </a:br>
            <a:r>
              <a:rPr lang="en-US" noProof="0" dirty="0"/>
              <a:t>1) Simulation of a swarm landing on the ground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4329956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hteck 5"/>
          <p:cNvSpPr/>
          <p:nvPr/>
        </p:nvSpPr>
        <p:spPr>
          <a:xfrm>
            <a:off x="5292080" y="1131590"/>
            <a:ext cx="36004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Snapshots of a swarm in landing on the ground under the influence of gravity.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The broken line guides the eye to the top of the swarm.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As the swarm lands, the macroscopic behavior is to (approximately) maintain a crystalline structure.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Here, </a:t>
            </a:r>
            <a:r>
              <a:rPr lang="en-US" sz="1400" i="1" noProof="0" dirty="0">
                <a:solidFill>
                  <a:schemeClr val="tx1"/>
                </a:solidFill>
              </a:rPr>
              <a:t>N</a:t>
            </a:r>
            <a:r>
              <a:rPr lang="en-US" sz="1400" noProof="0" dirty="0">
                <a:solidFill>
                  <a:schemeClr val="tx1"/>
                </a:solidFill>
              </a:rPr>
              <a:t> = 100, the social interaction rule is with </a:t>
            </a:r>
            <a:r>
              <a:rPr lang="en-US" sz="1400" i="1" noProof="0" dirty="0">
                <a:solidFill>
                  <a:schemeClr val="tx1"/>
                </a:solidFill>
              </a:rPr>
              <a:t>F</a:t>
            </a:r>
            <a:r>
              <a:rPr lang="en-US" sz="1400" noProof="0" dirty="0">
                <a:solidFill>
                  <a:schemeClr val="tx1"/>
                </a:solidFill>
              </a:rPr>
              <a:t> = 0.25 and </a:t>
            </a:r>
            <a:r>
              <a:rPr lang="en-US" sz="1400" i="1" noProof="0" dirty="0">
                <a:solidFill>
                  <a:schemeClr val="tx1"/>
                </a:solidFill>
              </a:rPr>
              <a:t>L</a:t>
            </a:r>
            <a:r>
              <a:rPr lang="en-US" sz="1400" noProof="0" dirty="0">
                <a:solidFill>
                  <a:schemeClr val="tx1"/>
                </a:solidFill>
              </a:rPr>
              <a:t> = 1.5, and the gravity parameter is </a:t>
            </a:r>
            <a:r>
              <a:rPr lang="en-US" sz="1400" i="1" noProof="0" dirty="0">
                <a:solidFill>
                  <a:schemeClr val="tx1"/>
                </a:solidFill>
              </a:rPr>
              <a:t>G</a:t>
            </a:r>
            <a:r>
              <a:rPr lang="en-US" sz="1400" noProof="0" dirty="0">
                <a:solidFill>
                  <a:schemeClr val="tx1"/>
                </a:solidFill>
              </a:rPr>
              <a:t> = 0.01.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For larger values of G, the swarm becomes even more spread out on the ground.</a:t>
            </a:r>
          </a:p>
        </p:txBody>
      </p:sp>
      <p:pic>
        <p:nvPicPr>
          <p:cNvPr id="7" name="Picture 2 1"/>
          <p:cNvPicPr>
            <a:picLocks noChangeAspect="1" noChangeArrowheads="1"/>
          </p:cNvPicPr>
          <p:nvPr/>
        </p:nvPicPr>
        <p:blipFill>
          <a:blip r:embed="rId3" cstate="print"/>
          <a:srcRect r="49208" b="49971"/>
          <a:stretch>
            <a:fillRect/>
          </a:stretch>
        </p:blipFill>
        <p:spPr bwMode="auto">
          <a:xfrm>
            <a:off x="7455184" y="4185018"/>
            <a:ext cx="1381930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</a:t>
            </a:r>
            <a:br>
              <a:rPr lang="en-US" noProof="0" dirty="0"/>
            </a:br>
            <a:r>
              <a:rPr lang="en-US" noProof="0" dirty="0"/>
              <a:t>2) Simulation of a swarm landing on the ground</a:t>
            </a:r>
          </a:p>
        </p:txBody>
      </p:sp>
      <p:sp>
        <p:nvSpPr>
          <p:cNvPr id="6" name="Rechteck 5"/>
          <p:cNvSpPr/>
          <p:nvPr/>
        </p:nvSpPr>
        <p:spPr>
          <a:xfrm>
            <a:off x="5292080" y="1131590"/>
            <a:ext cx="36004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Snapshots of a swarm in landing on the ground under the influence of gravity.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The broken line guides the eye to the top of the swarm.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The equilibrium state consists of a group of locusts in the air, a dense group of locusts on the ground, and a void separating them.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Here, </a:t>
            </a:r>
            <a:r>
              <a:rPr lang="en-US" sz="1400" i="1" noProof="0" dirty="0">
                <a:solidFill>
                  <a:schemeClr val="tx1"/>
                </a:solidFill>
              </a:rPr>
              <a:t>N</a:t>
            </a:r>
            <a:r>
              <a:rPr lang="en-US" sz="1400" noProof="0" dirty="0">
                <a:solidFill>
                  <a:schemeClr val="tx1"/>
                </a:solidFill>
              </a:rPr>
              <a:t> = 100, the social interaction rule is with </a:t>
            </a:r>
            <a:r>
              <a:rPr lang="en-US" sz="1400" i="1" noProof="0" dirty="0">
                <a:solidFill>
                  <a:schemeClr val="tx1"/>
                </a:solidFill>
              </a:rPr>
              <a:t>F</a:t>
            </a:r>
            <a:r>
              <a:rPr lang="en-US" sz="1400" noProof="0" dirty="0">
                <a:solidFill>
                  <a:schemeClr val="tx1"/>
                </a:solidFill>
              </a:rPr>
              <a:t> = 0.5 and </a:t>
            </a:r>
            <a:r>
              <a:rPr lang="en-US" sz="1400" i="1" noProof="0" dirty="0">
                <a:solidFill>
                  <a:schemeClr val="tx1"/>
                </a:solidFill>
              </a:rPr>
              <a:t>L</a:t>
            </a:r>
            <a:r>
              <a:rPr lang="en-US" sz="1400" noProof="0" dirty="0">
                <a:solidFill>
                  <a:schemeClr val="tx1"/>
                </a:solidFill>
              </a:rPr>
              <a:t> = 10, and the gravity parameter is </a:t>
            </a:r>
            <a:r>
              <a:rPr lang="en-US" sz="1400" i="1" noProof="0" dirty="0">
                <a:solidFill>
                  <a:schemeClr val="tx1"/>
                </a:solidFill>
              </a:rPr>
              <a:t>G</a:t>
            </a:r>
            <a:r>
              <a:rPr lang="en-US" sz="1400" noProof="0" dirty="0">
                <a:solidFill>
                  <a:schemeClr val="tx1"/>
                </a:solidFill>
              </a:rPr>
              <a:t> = 1.</a:t>
            </a:r>
          </a:p>
          <a:p>
            <a:pPr marL="266700" indent="-17780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We observe similar bubbles over a wide range of </a:t>
            </a:r>
            <a:r>
              <a:rPr lang="en-US" sz="1400" i="1" noProof="0" dirty="0">
                <a:solidFill>
                  <a:schemeClr val="tx1"/>
                </a:solidFill>
              </a:rPr>
              <a:t>G</a:t>
            </a:r>
            <a:r>
              <a:rPr lang="en-US" sz="1400" noProof="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4269426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 2"/>
          <p:cNvPicPr>
            <a:picLocks noChangeAspect="1" noChangeArrowheads="1"/>
          </p:cNvPicPr>
          <p:nvPr/>
        </p:nvPicPr>
        <p:blipFill>
          <a:blip r:embed="rId3" cstate="print"/>
          <a:srcRect l="50486" b="49971"/>
          <a:stretch>
            <a:fillRect/>
          </a:stretch>
        </p:blipFill>
        <p:spPr bwMode="auto">
          <a:xfrm>
            <a:off x="7490420" y="4181326"/>
            <a:ext cx="1347159" cy="792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Results:</a:t>
            </a:r>
            <a:br>
              <a:rPr lang="en-US" noProof="0" dirty="0"/>
            </a:br>
            <a:r>
              <a:rPr lang="en-US" noProof="0" dirty="0"/>
              <a:t>3) Comparison of the two settings 1) and 2)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19622"/>
            <a:ext cx="4104456" cy="2650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1131590"/>
            <a:ext cx="3722165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Gerade Verbindung 5"/>
          <p:cNvCxnSpPr/>
          <p:nvPr/>
        </p:nvCxnSpPr>
        <p:spPr>
          <a:xfrm flipV="1">
            <a:off x="4355976" y="1131590"/>
            <a:ext cx="864096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/>
        </p:nvCxnSpPr>
        <p:spPr>
          <a:xfrm>
            <a:off x="4355976" y="2643758"/>
            <a:ext cx="864096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/>
          <p:cNvSpPr/>
          <p:nvPr/>
        </p:nvSpPr>
        <p:spPr>
          <a:xfrm>
            <a:off x="1691680" y="4227934"/>
            <a:ext cx="7200800" cy="79208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1400" noProof="0" dirty="0">
                <a:solidFill>
                  <a:schemeClr val="tx1"/>
                </a:solidFill>
              </a:rPr>
              <a:t>The locusts land on the ground due to gravity, but the qualitative character of the final state depends on the regime in which the parameters </a:t>
            </a:r>
            <a:r>
              <a:rPr lang="en-US" sz="1400" i="1" noProof="0" dirty="0">
                <a:solidFill>
                  <a:schemeClr val="tx1"/>
                </a:solidFill>
              </a:rPr>
              <a:t>F</a:t>
            </a:r>
            <a:r>
              <a:rPr lang="en-US" sz="1400" noProof="0" dirty="0">
                <a:solidFill>
                  <a:schemeClr val="tx1"/>
                </a:solidFill>
              </a:rPr>
              <a:t> and </a:t>
            </a:r>
            <a:r>
              <a:rPr lang="en-US" sz="1400" i="1" noProof="0" dirty="0">
                <a:solidFill>
                  <a:schemeClr val="tx1"/>
                </a:solidFill>
              </a:rPr>
              <a:t>L</a:t>
            </a:r>
            <a:r>
              <a:rPr lang="en-US" sz="1400" noProof="0" dirty="0">
                <a:solidFill>
                  <a:schemeClr val="tx1"/>
                </a:solidFill>
              </a:rPr>
              <a:t> lie. In (a) the group has an oblong crystalline structure, while in case (b) it has a bubble-like structure with a void above the ground.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3851920" y="1275606"/>
            <a:ext cx="5040560" cy="864095"/>
          </a:xfrm>
        </p:spPr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917350" y="4712245"/>
            <a:ext cx="197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florian.rupp@kiu.edu.ge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V12iISWwkOOVDsSNsZR1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34,008"/>
  <p:tag name="ORIGINALWIDTH" val="3328,834"/>
  <p:tag name="LATEXADDIN" val="\documentclass{article}\pagestyle{empty}&#10;\usepackage{amsmath}&#10;\usepackage{amsfonts}&#10;\usepackage{amssymb}&#10;\begin{document}&#10;\begin{minipage}{9.4 cm}&#10;{\sffamily{&#10;Locust Swarm Formation (for the desert locust {\emph{Schistocerca gregaria}}):&#10;\begin{itemize}&#10;\item First, the insects may form organized bands that march along the ground. The marching group become a flying group through a&#10;complicated process whose details depend on environmental conditions including time of day, wind, sunshine, and air temperature.\\[-5mm]&#10;\item In general, locust swarm formation begins with grounded individuals performing short, local flights&#10;and other movements which are uncoordinated with those of neighbors. In later stages, groups&#10;of locusts take shape, with each group's members sharing a common spatial orientation.&#10;\end{itemize}&#10;}}&#10;\end{minipage}&#10;\end{document}"/>
  <p:tag name="IGUANATEXSIZE" val="20"/>
  <p:tag name="IGUANATEXCURSOR" val="807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6,6742"/>
  <p:tag name="ORIGINALWIDTH" val="4197,226"/>
  <p:tag name="LATEXADDIN" val="\documentclass{article}\pagestyle{empty}&#10;\usepackage{amsmath}&#10;\usepackage{amsfonts}&#10;\usepackage{amssymb}&#10;\begin{document}&#10;\begin{minipage}{12.4 cm}&#10;{\sffamily{&#10;\begin{itemize}&#10;\item Finally, these groups become coordinated with each other, and the swarm development culminates with&#10;a mass departure.\\[2mm] As the swarm propagates, it forms a rolling motion which is the focus&#10;of our considerations.&#10;\end{itemize}&#10;}}&#10;\end{minipage}&#10;\end{document}"/>
  <p:tag name="IGUANATEXSIZE" val="20"/>
  <p:tag name="IGUANATEXCURSOR" val="30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8,29"/>
  <p:tag name="ORIGINALWIDTH" val="4386,952"/>
  <p:tag name="LATEXADDIN" val="\documentclass{article}\pagestyle{empty}&#10;\usepackage{amsmath}&#10;\usepackage{amsfonts}&#10;\usepackage{amssymb}&#10;\begin{document}&#10;\begin{minipage}{12.4 cm}&#10;{\sffamily{&#10;There are $N$ locusts in the group, and the ith locust has position $x_i$. The general model is&#10;$$&#10;\dot{{\bf{x}}}_i \, \, = \, \, {\bf{S}}_i + {\bf{v}}_g + {\bf{v}}_a \, .&#10;$$&#10;The (noninertial) forces acting on each locust are the social interactions ${\bf{S}}_i$, gravity ${\bf{v}}_g$, and&#10;downwind advection ${\bf{v}}_a$.\\[2mm]&#10;The direction of swarm migration is strongly correlated with the direction of the wind and has little macroscopic motion in&#10;the transverse direction.\\[2mm] For simplicity, we ignore the transverse direction, and so our model is two-dimensional, i.e., ${\bf{x}}_i = (x_i, z_i)$.&#10;Here $x$ is a coordinate which is locally aligned with the main current of the wind and $z \geq 0$ is the usual vertical coordinate ($z=0$ represents the ground).}}&#10;\end{minipage}&#10;\end{document}"/>
  <p:tag name="IGUANATEXSIZE" val="20"/>
  <p:tag name="IGUANATEXCURSOR" val="929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97,75"/>
  <p:tag name="ORIGINALWIDTH" val="4389,952"/>
  <p:tag name="LATEXADDIN" val="\documentclass{article}\pagestyle{empty}&#10;\usepackage{amsmath}&#10;\usepackage{amsfonts}&#10;\usepackage{amssymb}&#10;\begin{document}&#10;\begin{minipage}{12.4 cm}&#10;{\sffamily{&#10;Two locusts in isolation exert forces on each other according to basic biological principles of&#10;attraction and repulsion. Repulsion operates very strongly over a short&#10;length scale in order to prevent collisions. Attraction is weaker, and operates over a longer&#10;length scale, providing the social force necessary for aggregation.\\[2mm]&#10;We model the strength of these social forces using the Morse-type function&#10;$$&#10;s(r) \, \, = \, \, F {\rm{e}}^{-r/L} - {\rm{e}}^{-r} \, .&#10;$$&#10;Here, $r$ is a distance, $F$ describes the strength of attraction, and $L$ is the typical attractive&#10;length scale. We have scaled the time and space coordinates so that the repulsive strength&#10;and length scale are unity.\\[2mm]&#10;We assume that $F &lt; 1$ and $L &gt; 1$ so that repulsion is stronger and shorter-scale, and attraction in&#10;weaker and longer-scale. This is typical for social organisms.&#10;}}&#10;\end{minipage}&#10;\end{document}"/>
  <p:tag name="IGUANATEXSIZE" val="20"/>
  <p:tag name="IGUANATEXCURSOR" val="563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36,258"/>
  <p:tag name="ORIGINALWIDTH" val="4346,457"/>
  <p:tag name="LATEXADDIN" val="\documentclass{article}\pagestyle{empty}&#10;\usepackage{amsmath}&#10;\usepackage{amsfonts}&#10;\usepackage{amssymb}&#10;\begin{document}&#10;\begin{minipage}{12.3 cm}&#10;{\sffamily{&#10;The social force exerted by locust $j$ on locust $i$ is&#10;$$&#10;{\bf{s}}_{ij} \, \, = \, \, s(\| {\bf{x}}_j - {\bf{x}}_i \|) \cdot \frac{{\bf{x}}_j - {\bf{x}}_i}{\| {\bf{x}}_j - {\bf{x}}_i \|} \, ,&#10;$$&#10;such that the interaction acts along the line joining the two locusts.\\[2mm]&#10;We take the total social force on each locust in the swarm to be&#10;the superposition of all of the pairwise interactions,&#10;$$&#10;{\bf{S}}_i \, \, = \, \, \sum^N_{j=1 \, , \, j \neq i} {\bf{s}}_{ij} \, .&#10;$$&#10;Thus every locust feels the sum of all pairwise social effects.&#10;}}&#10;\end{minipage}&#10;\end{document}"/>
  <p:tag name="IGUANATEXSIZE" val="20"/>
  <p:tag name="IGUANATEXCURSOR" val="143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27,259"/>
  <p:tag name="ORIGINALWIDTH" val="3332,584"/>
  <p:tag name="LATEXADDIN" val="\documentclass{article}\pagestyle{empty}&#10;\usepackage{amsmath}&#10;\usepackage{amsfonts}&#10;\usepackage{amssymb}&#10;\begin{document}&#10;\begin{minipage}{9.4 cm}&#10;{\sffamily{&#10;The figure shows examples of the social force ${\bf{s}}$ with different parameters, namely $F = 0.25$ and $L = 1.5$&#10;for (a), $F = 0.5$ and $L = 10$ for (b).\\[1mm] Both examples have short range repulsion ($s &lt; 0$, to the&#10;left of the dotted line) and longer range attraction ($s &gt; 0$, to the right of the dotted line).&#10;As $r \to \infty$, $s \to 0^+$ since the locusts are too far away to sense each other, and hence, to interact.\\[1mm]&#10;At the vertical line, attraction and repulsion balance, and the social interaction induces no movement.&#10;We refer to this distance as the comfortable distance, given by&#10;$$&#10;r_c \, \, = \, \, \frac{L \cdot \ln(F)}{1-L} \, .&#10;$$&#10;}}&#10;\end{minipage}&#10;\end{document}"/>
  <p:tag name="IGUANATEXSIZE" val="20"/>
  <p:tag name="IGUANATEXCURSOR" val="477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9,827"/>
  <p:tag name="ORIGINALWIDTH" val="4360,705"/>
  <p:tag name="LATEXADDIN" val="\documentclass{article}\pagestyle{empty}&#10;\usepackage{amsmath}&#10;\usepackage{amsfonts}&#10;\usepackage{amssymb}&#10;\begin{document}&#10;\begin{minipage}{12.3 cm}&#10;{\sffamily{&#10;Since our model includes vertical structure ($z$-ccordinate), we consider the effect of gravity:\\[2mm] Like all&#10;forces in our model, gravity operates without inertia, and hence locusts in the absence of other&#10;effects (social interactions and downwind advection) experience free-fall at an effective terminal&#10;velocity which we refer to as $g &gt; 0$.\\[2mm]&#10;Thus,&#10;$$&#10;{\bf{v}}_g \, \, = \, \, -g \mathfrak{e}_z \, ,&#10;$$&#10;where $\mathfrak{e}_z$ is the unit vector in the positive $z$ direction.}}&#10;\end{minipage}&#10;\end{document}"/>
  <p:tag name="IGUANATEXSIZE" val="20"/>
  <p:tag name="IGUANATEXCURSOR" val="143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6,352"/>
  <p:tag name="ORIGINALWIDTH" val="4354,706"/>
  <p:tag name="LATEXADDIN" val="\documentclass{article}\pagestyle{empty}&#10;\usepackage{amsmath}&#10;\usepackage{amsfonts}&#10;\usepackage{amssymb}&#10;\begin{document}&#10;\begin{minipage}{12.3 cm}&#10;{\sffamily{&#10;As mentioned above, locusts fly more or less in the direction of the wind. Whether the flight&#10;is active flight in this direction, or passive advection by the wind is irrelevant in our model.\\[2mm]&#10;We include a constant drift at speed $u &gt; 0$, and thus the advective velocity is&#10;$$&#10;{\bf{v}}_a \, \, = \, \, u \mathfrak{e}_x \, ,&#10;$$&#10;where $\mathfrak{e}_x$ is the unit vector in the positive $x$ (downwind) direction.}}&#10;\end{minipage}&#10;\end{document}"/>
  <p:tag name="IGUANATEXSIZE" val="20"/>
  <p:tag name="IGUANATEXCURSOR" val="143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6,506"/>
  <p:tag name="ORIGINALWIDTH" val="4354,706"/>
  <p:tag name="LATEXADDIN" val="\documentclass{article}\pagestyle{empty}&#10;\usepackage{amsmath}&#10;\usepackage{amsfonts}&#10;\usepackage{amssymb}&#10;\begin{document}&#10;\begin{minipage}{12.3 cm}&#10;{\sffamily{&#10;We must also define the behavior of locusts on the ground: We assume a flat, impenetrable&#10;ground, and thus grounded locusts may not have a vertical velocity which is negative. Furthermore,&#10;since locusts rest and feed while grounded, their motion in that state is negligible&#10;compared to their motion in the air.\\[2mm]&#10;The simplest boundary condition satisfying these criteria is the following:&#10;\begin{itemize}&#10;\item For any locust on the ground, if the vertical component of the velocity as&#10;computed on the right side of $\dot{{\bf{x}}}_i \, \, = \, \, {\bf{S}}_i + {\bf{v}}_g + {\bf{v}}_a$ is nonpositive,&#10;then the total velocity of that locust is set to zero:\\[-2mm]&#10;$$&#10;\dot {\bf{x}}_i \, \, = \, \, 0 \qquad \text{if $z_i = 0$ and $\dot{z}_i \leq 0$} \, .&#10;$$&#10;\item If the vertical velocity is positive, then no adjustment is performed and the locust is&#10;allowed to take off.&#10;\end{itemize}&#10;}}&#10;\end{minipage}&#10;\end{document}"/>
  <p:tag name="IGUANATEXSIZE" val="20"/>
  <p:tag name="IGUANATEXCURSOR" val="825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2,8871"/>
  <p:tag name="ORIGINALWIDTH" val="3895,763"/>
  <p:tag name="LATEXADDIN" val="\documentclass{article}\pagestyle{empty}&#10;\usepackage{amsmath}&#10;\usepackage{amsfonts}&#10;\usepackage{amssymb}&#10;\begin{document}&#10;\begin{minipage}{12.3 cm}&#10;{\sffamily{&#10;With respect to the parameters $g$, $u$, $F$, and $L$, our govering equations are&#10;$$&#10;\dot{\bf{x}}_i \, \, = \, \, \sum^N_{j=1 \, , \, j \neq i} s(\|{\bf{x}}_j - {\bf{x}}_i \|) \cdot \frac{{\bf{x}}_j - {\bf{x}}_i}{\|{\bf{x}}_j - {\bf{x}}_i \|}&#10;- g \mathfrak{e}_z + u \mathfrak{e}_x&#10;$$&#10;together with $\dot {\bf{x}}_i = 0$ if $z_i = 0$ and $\dot{z}_i \leq 0$.&#10;&#10;}}&#10;\end{minipage}&#10;\end{document}"/>
  <p:tag name="IGUANATEXSIZE" val="20"/>
  <p:tag name="IGUANATEXCURSOR" val="425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,4867"/>
  <p:tag name="ORIGINALWIDTH" val="470,9411"/>
  <p:tag name="LATEXADDIN" val="\documentclass{article}&#10;\usepackage{amsmath}&#10;\usepackage{amsfonts}&#10;\usepackage{amssymb}&#10;\pagestyle{empty}&#10;\begin{document}&#10;$$&#10;\dot{\bf{x}}_i \, \, = \, \, \bf{S}_i&#10;$$&#10;&#10;&#10;&#10;\end{document}"/>
  <p:tag name="IGUANATEXSIZE" val="20"/>
  <p:tag name="IGUANATEXCURSOR" val="44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,7361"/>
  <p:tag name="ORIGINALWIDTH" val="802,3997"/>
  <p:tag name="LATEXADDIN" val="\documentclass{article}&#10;\usepackage{amsmath}&#10;\usepackage{amsfonts}&#10;\usepackage{amssymb}&#10;\pagestyle{empty}&#10;\begin{document}&#10;$$&#10;\dot{\bf{x}}_i \, \, = \, \, \bf{S}_i - g \mathfrak{e}_z&#10;$$&#10;&#10;&#10;&#10;\end{document}"/>
  <p:tag name="IGUANATEXSIZE" val="20"/>
  <p:tag name="IGUANATEXCURSOR" val="181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,7361"/>
  <p:tag name="ORIGINALWIDTH" val="1151,856"/>
  <p:tag name="LATEXADDIN" val="\documentclass{article}&#10;\usepackage{amsmath}&#10;\usepackage{amsfonts}&#10;\usepackage{amssymb}&#10;\pagestyle{empty}&#10;\begin{document}&#10;$$&#10;\dot{\bf{x}}_i \, \, = \, \, \bf{S}_i - g \mathfrak{e}_z&#10;+ u \mathfrak{e}_x&#10;$$&#10;&#10;&#10;&#10;\end{document}"/>
  <p:tag name="IGUANATEXSIZE" val="20"/>
  <p:tag name="IGUANATEXCURSOR" val="201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2220</Words>
  <Application>Microsoft Office PowerPoint</Application>
  <PresentationFormat>Bildschirmpräsentation (16:9)</PresentationFormat>
  <Paragraphs>354</Paragraphs>
  <Slides>44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49" baseType="lpstr">
      <vt:lpstr>Courier New</vt:lpstr>
      <vt:lpstr>Symbol</vt:lpstr>
      <vt:lpstr>Calibri</vt:lpstr>
      <vt:lpstr>Arial</vt:lpstr>
      <vt:lpstr>Larissa-Design</vt:lpstr>
      <vt:lpstr>Computational Biomathematics</vt:lpstr>
      <vt:lpstr>PowerPoint-Präsentation</vt:lpstr>
      <vt:lpstr>Let us start with the biological/ phenomenological description of the locust swarm formation (1a/ 2)</vt:lpstr>
      <vt:lpstr>Let us start with the biological/ phenomenological description of the locust swarm formation (1b/ 2)</vt:lpstr>
      <vt:lpstr>Let us start with the biological/ phenomenological description of the locust swarm formation (2/ 2)</vt:lpstr>
      <vt:lpstr>The mathematical model for the swarm’s rolling motion consist of the impact of social interactions, gravity, and downwind advection  </vt:lpstr>
      <vt:lpstr>Set-up of the model: 1) social interaction</vt:lpstr>
      <vt:lpstr>Set-up of the model: 1) social interaction</vt:lpstr>
      <vt:lpstr>Set-up of the model: 1) social interaction</vt:lpstr>
      <vt:lpstr>Set-up of the model: 2) gravity influence</vt:lpstr>
      <vt:lpstr>Set-up of the model: 3) downwind advection</vt:lpstr>
      <vt:lpstr>Set-up of the model: 4) ground motion</vt:lpstr>
      <vt:lpstr>Summary: The governing equations for rolling motion</vt:lpstr>
      <vt:lpstr>PowerPoint-Präsentation</vt:lpstr>
      <vt:lpstr>The modular program structure follows our previous architectures</vt:lpstr>
      <vt:lpstr>Here, the single files contain the information necessary to simulate the swarm of locusts according to our mathematical model (1/ 2)</vt:lpstr>
      <vt:lpstr>Here, the single files contain the information necessary to simulate the swarm of locusts according to our mathematical model (2/ 2)</vt:lpstr>
      <vt:lpstr>We build the computational model in three stages (Be careful, AI may overwrite previous setps)</vt:lpstr>
      <vt:lpstr>Building the computational model 1. Free-space social swarm</vt:lpstr>
      <vt:lpstr>Building the computational model 1. Free-space social swarm</vt:lpstr>
      <vt:lpstr>Building the computational model 1. Free-space social swarm</vt:lpstr>
      <vt:lpstr>Building the computational model 2. Add gravity – What do we expect?</vt:lpstr>
      <vt:lpstr>Building the computational model 2a. Add gravity – bubble structure</vt:lpstr>
      <vt:lpstr>Building the computational model 2a. Add gravity – bubble structure</vt:lpstr>
      <vt:lpstr>Building the computational model 2a. Add gravity – bubble structure</vt:lpstr>
      <vt:lpstr>Building the computational model 2a. Add gravity – bubble structure</vt:lpstr>
      <vt:lpstr>Building the computational model 2b. Add gravity – crystalline structure</vt:lpstr>
      <vt:lpstr>Building the computational model 2b. Add gravity – crystalline structure</vt:lpstr>
      <vt:lpstr>Building the computational model 2b. Add gravity – crystalline structure</vt:lpstr>
      <vt:lpstr>Building the computational model 2b. Add gravity – crystalline structure</vt:lpstr>
      <vt:lpstr>Other parameter values to try: Understanding the regime boundary</vt:lpstr>
      <vt:lpstr>Building the computational model 3a. Complete model – bubble structure</vt:lpstr>
      <vt:lpstr>Building the computational model 3a. Complete model – bubble structure</vt:lpstr>
      <vt:lpstr>Building the computational model 3a. Complete model – bubble structure</vt:lpstr>
      <vt:lpstr>Building the computational model 3a. Complete model – bubble structure</vt:lpstr>
      <vt:lpstr>Building the computational model 3b. Complete model – crystalline structure</vt:lpstr>
      <vt:lpstr>Building the computational model 3b. Complete model – crystalline structure</vt:lpstr>
      <vt:lpstr>Building the computational model 3b. Complete model – crystalline structure</vt:lpstr>
      <vt:lpstr>Building the computational model 3b. Complete model – crystalline structure</vt:lpstr>
      <vt:lpstr>PowerPoint-Präsentation</vt:lpstr>
      <vt:lpstr>Results: 1) Simulation of a swarm landing on the ground</vt:lpstr>
      <vt:lpstr>Results: 2) Simulation of a swarm landing on the ground</vt:lpstr>
      <vt:lpstr>Results: 3) Comparison of the two settings 1) and 2)</vt:lpstr>
      <vt:lpstr>Computational Biomathematics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Florian</dc:creator>
  <cp:lastModifiedBy>Florian Rupp</cp:lastModifiedBy>
  <cp:revision>245</cp:revision>
  <dcterms:created xsi:type="dcterms:W3CDTF">2020-04-04T18:50:50Z</dcterms:created>
  <dcterms:modified xsi:type="dcterms:W3CDTF">2026-04-10T20:38:36Z</dcterms:modified>
</cp:coreProperties>
</file>
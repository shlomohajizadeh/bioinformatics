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410" r:id="rId2"/>
    <p:sldId id="446" r:id="rId3"/>
    <p:sldId id="447" r:id="rId4"/>
    <p:sldId id="448" r:id="rId5"/>
    <p:sldId id="445" r:id="rId6"/>
    <p:sldId id="461" r:id="rId7"/>
    <p:sldId id="468" r:id="rId8"/>
    <p:sldId id="462" r:id="rId9"/>
    <p:sldId id="449" r:id="rId10"/>
    <p:sldId id="450" r:id="rId11"/>
    <p:sldId id="464" r:id="rId12"/>
    <p:sldId id="465" r:id="rId13"/>
    <p:sldId id="466" r:id="rId14"/>
    <p:sldId id="467" r:id="rId15"/>
    <p:sldId id="411" r:id="rId16"/>
  </p:sldIdLst>
  <p:sldSz cx="9144000" cy="5143500" type="screen16x9"/>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23" autoAdjust="0"/>
    <p:restoredTop sz="97356" autoAdjust="0"/>
  </p:normalViewPr>
  <p:slideViewPr>
    <p:cSldViewPr>
      <p:cViewPr varScale="1">
        <p:scale>
          <a:sx n="136" d="100"/>
          <a:sy n="136" d="100"/>
        </p:scale>
        <p:origin x="414" y="114"/>
      </p:cViewPr>
      <p:guideLst>
        <p:guide orient="horz" pos="162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95D514-7346-4F82-AE13-C6D6741739D2}" type="datetimeFigureOut">
              <a:rPr lang="en-US" smtClean="0"/>
              <a:t>4/3/2026</a:t>
            </a:fld>
            <a:endParaRPr lang="en-US"/>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EF3066-70EE-4F3C-99F9-465CA6AFB6FD}" type="slidenum">
              <a:rPr lang="en-US" smtClean="0"/>
              <a:t>‹Nr.›</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4.jpe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3.jpeg"/><Relationship Id="rId17" Type="http://schemas.openxmlformats.org/officeDocument/2006/relationships/image" Target="../media/image8.jpeg"/><Relationship Id="rId2" Type="http://schemas.openxmlformats.org/officeDocument/2006/relationships/tags" Target="../tags/tag2.xml"/><Relationship Id="rId16" Type="http://schemas.openxmlformats.org/officeDocument/2006/relationships/image" Target="../media/image7.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2.jpeg"/><Relationship Id="rId5" Type="http://schemas.openxmlformats.org/officeDocument/2006/relationships/tags" Target="../tags/tag5.xml"/><Relationship Id="rId15" Type="http://schemas.openxmlformats.org/officeDocument/2006/relationships/image" Target="../media/image6.jpeg"/><Relationship Id="rId10" Type="http://schemas.openxmlformats.org/officeDocument/2006/relationships/slideMaster" Target="../slideMasters/slideMaster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17.xml"/><Relationship Id="rId13" Type="http://schemas.openxmlformats.org/officeDocument/2006/relationships/image" Target="../media/image11.jpeg"/><Relationship Id="rId3" Type="http://schemas.openxmlformats.org/officeDocument/2006/relationships/tags" Target="../tags/tag12.xml"/><Relationship Id="rId7" Type="http://schemas.openxmlformats.org/officeDocument/2006/relationships/tags" Target="../tags/tag16.xml"/><Relationship Id="rId12" Type="http://schemas.openxmlformats.org/officeDocument/2006/relationships/image" Target="../media/image10.jpe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image" Target="../media/image9.jpeg"/><Relationship Id="rId5" Type="http://schemas.openxmlformats.org/officeDocument/2006/relationships/tags" Target="../tags/tag14.xml"/><Relationship Id="rId15" Type="http://schemas.openxmlformats.org/officeDocument/2006/relationships/image" Target="../media/image13.jpeg"/><Relationship Id="rId10" Type="http://schemas.openxmlformats.org/officeDocument/2006/relationships/slideMaster" Target="../slideMasters/slideMaster1.xml"/><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image" Target="../media/image12.jpeg"/></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image" Target="../media/image3.jpeg"/><Relationship Id="rId18" Type="http://schemas.openxmlformats.org/officeDocument/2006/relationships/image" Target="../media/image8.jpeg"/><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image" Target="../media/image2.jpeg"/><Relationship Id="rId17" Type="http://schemas.openxmlformats.org/officeDocument/2006/relationships/image" Target="../media/image7.png"/><Relationship Id="rId2" Type="http://schemas.openxmlformats.org/officeDocument/2006/relationships/tags" Target="../tags/tag20.xml"/><Relationship Id="rId16" Type="http://schemas.openxmlformats.org/officeDocument/2006/relationships/image" Target="../media/image6.jpeg"/><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slideMaster" Target="../slideMasters/slideMaster1.xml"/><Relationship Id="rId5" Type="http://schemas.openxmlformats.org/officeDocument/2006/relationships/tags" Target="../tags/tag23.xml"/><Relationship Id="rId15" Type="http://schemas.openxmlformats.org/officeDocument/2006/relationships/image" Target="../media/image5.jpeg"/><Relationship Id="rId10" Type="http://schemas.openxmlformats.org/officeDocument/2006/relationships/tags" Target="../tags/tag28.xml"/><Relationship Id="rId19" Type="http://schemas.openxmlformats.org/officeDocument/2006/relationships/image" Target="../media/image14.jpeg"/><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image" Target="../media/image4.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pic>
        <p:nvPicPr>
          <p:cNvPr id="9" name="Picture 8" descr="https://cdn.pixabay.com/photo/2016/04/13/19/23/binary-1327501_960_720.jpg"/>
          <p:cNvPicPr>
            <a:picLocks noChangeAspect="1" noChangeArrowheads="1"/>
          </p:cNvPicPr>
          <p:nvPr/>
        </p:nvPicPr>
        <p:blipFill>
          <a:blip r:embed="rId11" cstate="print"/>
          <a:srcRect/>
          <a:stretch>
            <a:fillRect/>
          </a:stretch>
        </p:blipFill>
        <p:spPr bwMode="auto">
          <a:xfrm>
            <a:off x="395536" y="0"/>
            <a:ext cx="2828754" cy="1152128"/>
          </a:xfrm>
          <a:prstGeom prst="rect">
            <a:avLst/>
          </a:prstGeom>
          <a:noFill/>
        </p:spPr>
      </p:pic>
      <p:grpSp>
        <p:nvGrpSpPr>
          <p:cNvPr id="28" name="Gruppieren 27"/>
          <p:cNvGrpSpPr/>
          <p:nvPr userDrawn="1"/>
        </p:nvGrpSpPr>
        <p:grpSpPr>
          <a:xfrm>
            <a:off x="3059832" y="0"/>
            <a:ext cx="3312368" cy="1152525"/>
            <a:chOff x="3059832" y="0"/>
            <a:chExt cx="3312368" cy="1152525"/>
          </a:xfrm>
        </p:grpSpPr>
        <p:pic>
          <p:nvPicPr>
            <p:cNvPr id="10244"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2" cstate="print"/>
            <a:srcRect/>
            <a:stretch>
              <a:fillRect/>
            </a:stretch>
          </p:blipFill>
          <p:spPr bwMode="auto">
            <a:xfrm>
              <a:off x="3059832" y="0"/>
              <a:ext cx="1728192" cy="1152128"/>
            </a:xfrm>
            <a:prstGeom prst="rect">
              <a:avLst/>
            </a:prstGeom>
            <a:noFill/>
          </p:spPr>
        </p:pic>
        <p:grpSp>
          <p:nvGrpSpPr>
            <p:cNvPr id="27" name="Gruppieren 26"/>
            <p:cNvGrpSpPr/>
            <p:nvPr userDrawn="1"/>
          </p:nvGrpSpPr>
          <p:grpSpPr>
            <a:xfrm>
              <a:off x="4427984" y="0"/>
              <a:ext cx="1944216" cy="1152525"/>
              <a:chOff x="4427984" y="0"/>
              <a:chExt cx="1944216" cy="1152525"/>
            </a:xfrm>
          </p:grpSpPr>
          <p:pic>
            <p:nvPicPr>
              <p:cNvPr id="10242" name="Picture 2" descr="Banner, Header, Mathematik, Formel, Physik, Schule"/>
              <p:cNvPicPr>
                <a:picLocks noChangeAspect="1" noChangeArrowheads="1"/>
              </p:cNvPicPr>
              <p:nvPr userDrawn="1"/>
            </p:nvPicPr>
            <p:blipFill>
              <a:blip r:embed="rId13" cstate="print"/>
              <a:srcRect/>
              <a:stretch>
                <a:fillRect/>
              </a:stretch>
            </p:blipFill>
            <p:spPr bwMode="auto">
              <a:xfrm>
                <a:off x="4427984" y="0"/>
                <a:ext cx="1944216" cy="267494"/>
              </a:xfrm>
              <a:prstGeom prst="rect">
                <a:avLst/>
              </a:prstGeom>
              <a:noFill/>
            </p:spPr>
          </p:pic>
          <p:pic>
            <p:nvPicPr>
              <p:cNvPr id="23" name="Picture 2" descr="Banner, Header, Mathematik, Formel, Physik, Schule"/>
              <p:cNvPicPr>
                <a:picLocks noChangeAspect="1" noChangeArrowheads="1"/>
              </p:cNvPicPr>
              <p:nvPr userDrawn="1"/>
            </p:nvPicPr>
            <p:blipFill>
              <a:blip r:embed="rId14" cstate="print"/>
              <a:srcRect/>
              <a:stretch>
                <a:fillRect/>
              </a:stretch>
            </p:blipFill>
            <p:spPr bwMode="auto">
              <a:xfrm>
                <a:off x="4572000" y="267494"/>
                <a:ext cx="1656184" cy="432048"/>
              </a:xfrm>
              <a:prstGeom prst="rect">
                <a:avLst/>
              </a:prstGeom>
              <a:noFill/>
            </p:spPr>
          </p:pic>
          <p:pic>
            <p:nvPicPr>
              <p:cNvPr id="26" name="Picture 2" descr="Banner, Header, Mathematik, Formel, Physik, Schule"/>
              <p:cNvPicPr>
                <a:picLocks noChangeAspect="1" noChangeArrowheads="1"/>
              </p:cNvPicPr>
              <p:nvPr userDrawn="1"/>
            </p:nvPicPr>
            <p:blipFill>
              <a:blip r:embed="rId15" cstate="print"/>
              <a:srcRect/>
              <a:stretch>
                <a:fillRect/>
              </a:stretch>
            </p:blipFill>
            <p:spPr bwMode="auto">
              <a:xfrm>
                <a:off x="4716016" y="689073"/>
                <a:ext cx="1368152" cy="463452"/>
              </a:xfrm>
              <a:prstGeom prst="rect">
                <a:avLst/>
              </a:prstGeom>
              <a:noFill/>
            </p:spPr>
          </p:pic>
        </p:grpSp>
      </p:grpSp>
      <p:sp>
        <p:nvSpPr>
          <p:cNvPr id="2" name="Titel 1"/>
          <p:cNvSpPr>
            <a:spLocks noGrp="1"/>
          </p:cNvSpPr>
          <p:nvPr userDrawn="1">
            <p:ph type="ctrTitle"/>
          </p:nvPr>
        </p:nvSpPr>
        <p:spPr>
          <a:xfrm>
            <a:off x="685800" y="1347614"/>
            <a:ext cx="7772400" cy="864095"/>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ctr">
              <a:defRPr/>
            </a:lvl1pPr>
          </a:lstStyle>
          <a:p>
            <a:r>
              <a:rPr lang="de-DE" dirty="0"/>
              <a:t>Titelmasterformat durch Klicken bearbeiten</a:t>
            </a:r>
          </a:p>
        </p:txBody>
      </p:sp>
      <p:sp>
        <p:nvSpPr>
          <p:cNvPr id="3" name="Untertitel 2"/>
          <p:cNvSpPr>
            <a:spLocks noGrp="1"/>
          </p:cNvSpPr>
          <p:nvPr userDrawn="1">
            <p:ph type="subTitle" idx="1"/>
          </p:nvPr>
        </p:nvSpPr>
        <p:spPr>
          <a:xfrm>
            <a:off x="1371600" y="2355726"/>
            <a:ext cx="6400800" cy="1314450"/>
          </a:xfrm>
          <a:prstGeom prst="rect">
            <a:avLst/>
          </a:prstGeom>
        </p:spPr>
        <p:txBody>
          <a:bodyPr/>
          <a:lstStyle>
            <a:lvl1pPr marL="0" indent="0" algn="ctr">
              <a:buNone/>
              <a:defRPr sz="1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dirty="0"/>
              <a:t>Formatvorlage des Untertitelmasters durch Klicken bearbeiten</a:t>
            </a:r>
          </a:p>
        </p:txBody>
      </p:sp>
      <p:sp>
        <p:nvSpPr>
          <p:cNvPr id="13" name="Textfeld 12"/>
          <p:cNvSpPr txBox="1"/>
          <p:nvPr userDrawn="1">
            <p:custDataLst>
              <p:tags r:id="rId1"/>
            </p:custDataLst>
          </p:nvPr>
        </p:nvSpPr>
        <p:spPr>
          <a:xfrm>
            <a:off x="7543657" y="720080"/>
            <a:ext cx="150554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Florian Rupp</a:t>
            </a:r>
          </a:p>
        </p:txBody>
      </p:sp>
      <p:sp>
        <p:nvSpPr>
          <p:cNvPr id="14" name="Freihandform 13"/>
          <p:cNvSpPr/>
          <p:nvPr userDrawn="1">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5" name="Parallelogramm 14"/>
          <p:cNvSpPr/>
          <p:nvPr userDrawn="1">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Parallelogramm 15"/>
          <p:cNvSpPr/>
          <p:nvPr userDrawn="1">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Parallelogramm 16"/>
          <p:cNvSpPr/>
          <p:nvPr userDrawn="1">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8" name="Parallelogramm 17"/>
          <p:cNvSpPr/>
          <p:nvPr userDrawn="1">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Freihandform 18"/>
          <p:cNvSpPr/>
          <p:nvPr userDrawn="1">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0" name="Freihandform 19"/>
          <p:cNvSpPr/>
          <p:nvPr userDrawn="1">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1" name="Rechteck 20"/>
          <p:cNvSpPr/>
          <p:nvPr userDrawn="1">
            <p:custDataLst>
              <p:tags r:id="rId9"/>
            </p:custDataLst>
          </p:nvPr>
        </p:nvSpPr>
        <p:spPr>
          <a:xfrm>
            <a:off x="795" y="648469"/>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2" name="Rectangle 3"/>
          <p:cNvSpPr txBox="1">
            <a:spLocks noChangeArrowheads="1"/>
          </p:cNvSpPr>
          <p:nvPr userDrawn="1"/>
        </p:nvSpPr>
        <p:spPr bwMode="auto">
          <a:xfrm>
            <a:off x="845840" y="4240838"/>
            <a:ext cx="7452320" cy="851192"/>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p>
            <a:pPr lvl="0" algn="ctr">
              <a:spcBef>
                <a:spcPct val="20000"/>
              </a:spcBef>
              <a:defRPr/>
            </a:pPr>
            <a:r>
              <a:rPr lang="en-US" sz="1400" b="1" kern="0" dirty="0">
                <a:latin typeface="+mn-lt"/>
              </a:rPr>
              <a:t>Prof. Dr. Dr. </a:t>
            </a:r>
            <a:r>
              <a:rPr lang="en-US" sz="1400" b="1" kern="0" dirty="0" err="1">
                <a:latin typeface="+mn-lt"/>
              </a:rPr>
              <a:t>h.c</a:t>
            </a:r>
            <a:r>
              <a:rPr lang="en-US" sz="1400" b="1" kern="0" dirty="0">
                <a:latin typeface="+mn-lt"/>
              </a:rPr>
              <a:t>. Florian Rupp</a:t>
            </a:r>
            <a:endParaRPr kumimoji="0" lang="en-US" sz="1400" b="1" i="0" u="none" strike="noStrike" kern="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endParaRPr lang="en-US" sz="500" dirty="0"/>
          </a:p>
          <a:p>
            <a:pPr algn="ctr" eaLnBrk="1" hangingPunct="1"/>
            <a:r>
              <a:rPr lang="en-US" sz="1400" baseline="0" dirty="0"/>
              <a:t>Western Caspian University &amp; </a:t>
            </a:r>
            <a:r>
              <a:rPr lang="en-US" sz="1400" dirty="0"/>
              <a:t>Kutaisi International</a:t>
            </a:r>
            <a:r>
              <a:rPr lang="en-US" sz="1400" baseline="0" dirty="0"/>
              <a:t> University</a:t>
            </a:r>
            <a:endParaRPr lang="en-US" sz="1400" dirty="0"/>
          </a:p>
        </p:txBody>
      </p:sp>
      <p:pic>
        <p:nvPicPr>
          <p:cNvPr id="24" name="Grafik 23" descr="index.png"/>
          <p:cNvPicPr>
            <a:picLocks noChangeAspect="1"/>
          </p:cNvPicPr>
          <p:nvPr userDrawn="1"/>
        </p:nvPicPr>
        <p:blipFill>
          <a:blip r:embed="rId16" cstate="print"/>
          <a:stretch>
            <a:fillRect/>
          </a:stretch>
        </p:blipFill>
        <p:spPr>
          <a:xfrm>
            <a:off x="179513" y="4437868"/>
            <a:ext cx="1872207" cy="582154"/>
          </a:xfrm>
          <a:prstGeom prst="rect">
            <a:avLst/>
          </a:prstGeom>
        </p:spPr>
      </p:pic>
      <p:pic>
        <p:nvPicPr>
          <p:cNvPr id="27650" name="Picture 2" descr="https://www.iau-hesd.net/sites/default/files/styles/medium/public/media_logo/western_caspian_university.jpg?itok=s4WTrk6k"/>
          <p:cNvPicPr>
            <a:picLocks noChangeAspect="1" noChangeArrowheads="1"/>
          </p:cNvPicPr>
          <p:nvPr userDrawn="1"/>
        </p:nvPicPr>
        <p:blipFill>
          <a:blip r:embed="rId17" cstate="print"/>
          <a:srcRect/>
          <a:stretch>
            <a:fillRect/>
          </a:stretch>
        </p:blipFill>
        <p:spPr bwMode="auto">
          <a:xfrm>
            <a:off x="251520" y="3219822"/>
            <a:ext cx="1013731" cy="1054898"/>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71600" y="52707"/>
            <a:ext cx="8064896" cy="7096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de-DE" dirty="0"/>
              <a:t>Titelmasterformat durch Klicken bearbeiten</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0" name="Rechteck 19"/>
          <p:cNvSpPr/>
          <p:nvPr userDrawn="1"/>
        </p:nvSpPr>
        <p:spPr>
          <a:xfrm>
            <a:off x="6084168" y="0"/>
            <a:ext cx="3059832" cy="810000"/>
          </a:xfrm>
          <a:prstGeom prst="rect">
            <a:avLst/>
          </a:prstGeom>
          <a:solidFill>
            <a:schemeClr val="tx2"/>
          </a:solidFill>
          <a:ln w="25400" cap="rnd"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Rechteck 18"/>
          <p:cNvSpPr/>
          <p:nvPr>
            <p:custDataLst>
              <p:tags r:id="rId1"/>
            </p:custDataLst>
          </p:nvPr>
        </p:nvSpPr>
        <p:spPr>
          <a:xfrm>
            <a:off x="560" y="456093"/>
            <a:ext cx="9143440" cy="354739"/>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nvGrpSpPr>
          <p:cNvPr id="43" name="Gruppieren 42"/>
          <p:cNvGrpSpPr/>
          <p:nvPr userDrawn="1"/>
        </p:nvGrpSpPr>
        <p:grpSpPr>
          <a:xfrm>
            <a:off x="0" y="0"/>
            <a:ext cx="6444207" cy="811112"/>
            <a:chOff x="0" y="0"/>
            <a:chExt cx="9156701" cy="1152525"/>
          </a:xfrm>
        </p:grpSpPr>
        <p:pic>
          <p:nvPicPr>
            <p:cNvPr id="28" name="Picture 8" descr="https://cdn.pixabay.com/photo/2016/04/13/19/23/binary-1327501_960_720.jpg"/>
            <p:cNvPicPr>
              <a:picLocks noChangeAspect="1" noChangeArrowheads="1"/>
            </p:cNvPicPr>
            <p:nvPr userDrawn="1"/>
          </p:nvPicPr>
          <p:blipFill>
            <a:blip r:embed="rId11" cstate="print"/>
            <a:srcRect/>
            <a:stretch>
              <a:fillRect/>
            </a:stretch>
          </p:blipFill>
          <p:spPr bwMode="auto">
            <a:xfrm>
              <a:off x="395536" y="0"/>
              <a:ext cx="2828754" cy="1152128"/>
            </a:xfrm>
            <a:prstGeom prst="rect">
              <a:avLst/>
            </a:prstGeom>
            <a:noFill/>
          </p:spPr>
        </p:pic>
        <p:grpSp>
          <p:nvGrpSpPr>
            <p:cNvPr id="29" name="Gruppieren 28"/>
            <p:cNvGrpSpPr/>
            <p:nvPr userDrawn="1"/>
          </p:nvGrpSpPr>
          <p:grpSpPr>
            <a:xfrm>
              <a:off x="3059832" y="0"/>
              <a:ext cx="3312368" cy="1152525"/>
              <a:chOff x="3059832" y="0"/>
              <a:chExt cx="3312368" cy="1152525"/>
            </a:xfrm>
          </p:grpSpPr>
          <p:pic>
            <p:nvPicPr>
              <p:cNvPr id="30"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2" cstate="print"/>
              <a:srcRect/>
              <a:stretch>
                <a:fillRect/>
              </a:stretch>
            </p:blipFill>
            <p:spPr bwMode="auto">
              <a:xfrm>
                <a:off x="3059832" y="0"/>
                <a:ext cx="1728192" cy="1152128"/>
              </a:xfrm>
              <a:prstGeom prst="rect">
                <a:avLst/>
              </a:prstGeom>
              <a:noFill/>
            </p:spPr>
          </p:pic>
          <p:grpSp>
            <p:nvGrpSpPr>
              <p:cNvPr id="31" name="Gruppieren 26"/>
              <p:cNvGrpSpPr/>
              <p:nvPr userDrawn="1"/>
            </p:nvGrpSpPr>
            <p:grpSpPr>
              <a:xfrm>
                <a:off x="4427984" y="0"/>
                <a:ext cx="1944216" cy="1152525"/>
                <a:chOff x="4427984" y="0"/>
                <a:chExt cx="1944216" cy="1152525"/>
              </a:xfrm>
            </p:grpSpPr>
            <p:pic>
              <p:nvPicPr>
                <p:cNvPr id="32" name="Picture 2" descr="Banner, Header, Mathematik, Formel, Physik, Schule"/>
                <p:cNvPicPr>
                  <a:picLocks noChangeAspect="1" noChangeArrowheads="1"/>
                </p:cNvPicPr>
                <p:nvPr userDrawn="1"/>
              </p:nvPicPr>
              <p:blipFill>
                <a:blip r:embed="rId13" cstate="print"/>
                <a:srcRect/>
                <a:stretch>
                  <a:fillRect/>
                </a:stretch>
              </p:blipFill>
              <p:spPr bwMode="auto">
                <a:xfrm>
                  <a:off x="4427984" y="0"/>
                  <a:ext cx="1944216" cy="267494"/>
                </a:xfrm>
                <a:prstGeom prst="rect">
                  <a:avLst/>
                </a:prstGeom>
                <a:noFill/>
              </p:spPr>
            </p:pic>
            <p:pic>
              <p:nvPicPr>
                <p:cNvPr id="33" name="Picture 2" descr="Banner, Header, Mathematik, Formel, Physik, Schule"/>
                <p:cNvPicPr>
                  <a:picLocks noChangeAspect="1" noChangeArrowheads="1"/>
                </p:cNvPicPr>
                <p:nvPr userDrawn="1"/>
              </p:nvPicPr>
              <p:blipFill>
                <a:blip r:embed="rId14" cstate="print"/>
                <a:srcRect/>
                <a:stretch>
                  <a:fillRect/>
                </a:stretch>
              </p:blipFill>
              <p:spPr bwMode="auto">
                <a:xfrm>
                  <a:off x="4572000" y="267494"/>
                  <a:ext cx="1656184" cy="432048"/>
                </a:xfrm>
                <a:prstGeom prst="rect">
                  <a:avLst/>
                </a:prstGeom>
                <a:noFill/>
              </p:spPr>
            </p:pic>
            <p:pic>
              <p:nvPicPr>
                <p:cNvPr id="34" name="Picture 2" descr="Banner, Header, Mathematik, Formel, Physik, Schule"/>
                <p:cNvPicPr>
                  <a:picLocks noChangeAspect="1" noChangeArrowheads="1"/>
                </p:cNvPicPr>
                <p:nvPr userDrawn="1"/>
              </p:nvPicPr>
              <p:blipFill>
                <a:blip r:embed="rId15" cstate="print"/>
                <a:srcRect/>
                <a:stretch>
                  <a:fillRect/>
                </a:stretch>
              </p:blipFill>
              <p:spPr bwMode="auto">
                <a:xfrm>
                  <a:off x="4716016" y="689073"/>
                  <a:ext cx="1368152" cy="463452"/>
                </a:xfrm>
                <a:prstGeom prst="rect">
                  <a:avLst/>
                </a:prstGeom>
                <a:noFill/>
              </p:spPr>
            </p:pic>
          </p:grpSp>
        </p:grpSp>
        <p:sp>
          <p:nvSpPr>
            <p:cNvPr id="35" name="Freihandform 34"/>
            <p:cNvSpPr/>
            <p:nvPr userDrawn="1">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6" name="Parallelogramm 35"/>
            <p:cNvSpPr/>
            <p:nvPr userDrawn="1">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7" name="Parallelogramm 36"/>
            <p:cNvSpPr/>
            <p:nvPr userDrawn="1">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8" name="Parallelogramm 37"/>
            <p:cNvSpPr/>
            <p:nvPr userDrawn="1">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9" name="Parallelogramm 38"/>
            <p:cNvSpPr/>
            <p:nvPr userDrawn="1">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0" name="Freihandform 39"/>
            <p:cNvSpPr/>
            <p:nvPr userDrawn="1">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1" name="Freihandform 40"/>
            <p:cNvSpPr/>
            <p:nvPr userDrawn="1">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2" name="Rechteck 41"/>
            <p:cNvSpPr/>
            <p:nvPr userDrawn="1">
              <p:custDataLst>
                <p:tags r:id="rId9"/>
              </p:custDataLst>
            </p:nvPr>
          </p:nvSpPr>
          <p:spPr>
            <a:xfrm>
              <a:off x="795" y="648072"/>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sp>
        <p:nvSpPr>
          <p:cNvPr id="21" name="Line 12"/>
          <p:cNvSpPr>
            <a:spLocks noChangeShapeType="1"/>
          </p:cNvSpPr>
          <p:nvPr userDrawn="1"/>
        </p:nvSpPr>
        <p:spPr bwMode="auto">
          <a:xfrm>
            <a:off x="0" y="824640"/>
            <a:ext cx="9144000" cy="0"/>
          </a:xfrm>
          <a:prstGeom prst="line">
            <a:avLst/>
          </a:prstGeom>
          <a:noFill/>
          <a:ln w="38100">
            <a:solidFill>
              <a:schemeClr val="tx2">
                <a:lumMod val="20000"/>
                <a:lumOff val="80000"/>
              </a:schemeClr>
            </a:solidFill>
            <a:round/>
            <a:headEnd/>
            <a:tailEnd/>
          </a:ln>
          <a:effectLst/>
        </p:spPr>
        <p:txBody>
          <a:bodyPr/>
          <a:lstStyle/>
          <a:p>
            <a:pPr>
              <a:defRPr/>
            </a:pPr>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Leer">
    <p:spTree>
      <p:nvGrpSpPr>
        <p:cNvPr id="1" name=""/>
        <p:cNvGrpSpPr/>
        <p:nvPr/>
      </p:nvGrpSpPr>
      <p:grpSpPr>
        <a:xfrm>
          <a:off x="0" y="0"/>
          <a:ext cx="0" cy="0"/>
          <a:chOff x="0" y="0"/>
          <a:chExt cx="0" cy="0"/>
        </a:xfrm>
      </p:grpSpPr>
      <p:pic>
        <p:nvPicPr>
          <p:cNvPr id="7" name="Picture 8" descr="https://cdn.pixabay.com/photo/2016/04/13/19/23/binary-1327501_960_720.jpg"/>
          <p:cNvPicPr>
            <a:picLocks noChangeAspect="1" noChangeArrowheads="1"/>
          </p:cNvPicPr>
          <p:nvPr/>
        </p:nvPicPr>
        <p:blipFill>
          <a:blip r:embed="rId12" cstate="print"/>
          <a:srcRect/>
          <a:stretch>
            <a:fillRect/>
          </a:stretch>
        </p:blipFill>
        <p:spPr bwMode="auto">
          <a:xfrm>
            <a:off x="395536" y="0"/>
            <a:ext cx="2828754" cy="1152128"/>
          </a:xfrm>
          <a:prstGeom prst="rect">
            <a:avLst/>
          </a:prstGeom>
          <a:noFill/>
        </p:spPr>
      </p:pic>
      <p:grpSp>
        <p:nvGrpSpPr>
          <p:cNvPr id="26" name="Gruppieren 25"/>
          <p:cNvGrpSpPr/>
          <p:nvPr userDrawn="1"/>
        </p:nvGrpSpPr>
        <p:grpSpPr>
          <a:xfrm>
            <a:off x="3059832" y="0"/>
            <a:ext cx="3312368" cy="1152525"/>
            <a:chOff x="3059832" y="0"/>
            <a:chExt cx="3312368" cy="1152525"/>
          </a:xfrm>
        </p:grpSpPr>
        <p:pic>
          <p:nvPicPr>
            <p:cNvPr id="27"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3" cstate="print"/>
            <a:srcRect/>
            <a:stretch>
              <a:fillRect/>
            </a:stretch>
          </p:blipFill>
          <p:spPr bwMode="auto">
            <a:xfrm>
              <a:off x="3059832" y="0"/>
              <a:ext cx="1728192" cy="1152128"/>
            </a:xfrm>
            <a:prstGeom prst="rect">
              <a:avLst/>
            </a:prstGeom>
            <a:noFill/>
          </p:spPr>
        </p:pic>
        <p:grpSp>
          <p:nvGrpSpPr>
            <p:cNvPr id="28" name="Gruppieren 26"/>
            <p:cNvGrpSpPr/>
            <p:nvPr userDrawn="1"/>
          </p:nvGrpSpPr>
          <p:grpSpPr>
            <a:xfrm>
              <a:off x="4427984" y="0"/>
              <a:ext cx="1944216" cy="1152525"/>
              <a:chOff x="4427984" y="0"/>
              <a:chExt cx="1944216" cy="1152525"/>
            </a:xfrm>
          </p:grpSpPr>
          <p:pic>
            <p:nvPicPr>
              <p:cNvPr id="29" name="Picture 2" descr="Banner, Header, Mathematik, Formel, Physik, Schule"/>
              <p:cNvPicPr>
                <a:picLocks noChangeAspect="1" noChangeArrowheads="1"/>
              </p:cNvPicPr>
              <p:nvPr userDrawn="1"/>
            </p:nvPicPr>
            <p:blipFill>
              <a:blip r:embed="rId14" cstate="print"/>
              <a:srcRect/>
              <a:stretch>
                <a:fillRect/>
              </a:stretch>
            </p:blipFill>
            <p:spPr bwMode="auto">
              <a:xfrm>
                <a:off x="4427984" y="0"/>
                <a:ext cx="1944216" cy="267494"/>
              </a:xfrm>
              <a:prstGeom prst="rect">
                <a:avLst/>
              </a:prstGeom>
              <a:noFill/>
            </p:spPr>
          </p:pic>
          <p:pic>
            <p:nvPicPr>
              <p:cNvPr id="30" name="Picture 2" descr="Banner, Header, Mathematik, Formel, Physik, Schule"/>
              <p:cNvPicPr>
                <a:picLocks noChangeAspect="1" noChangeArrowheads="1"/>
              </p:cNvPicPr>
              <p:nvPr userDrawn="1"/>
            </p:nvPicPr>
            <p:blipFill>
              <a:blip r:embed="rId15" cstate="print"/>
              <a:srcRect/>
              <a:stretch>
                <a:fillRect/>
              </a:stretch>
            </p:blipFill>
            <p:spPr bwMode="auto">
              <a:xfrm>
                <a:off x="4572000" y="267494"/>
                <a:ext cx="1656184" cy="432048"/>
              </a:xfrm>
              <a:prstGeom prst="rect">
                <a:avLst/>
              </a:prstGeom>
              <a:noFill/>
            </p:spPr>
          </p:pic>
          <p:pic>
            <p:nvPicPr>
              <p:cNvPr id="31" name="Picture 2" descr="Banner, Header, Mathematik, Formel, Physik, Schule"/>
              <p:cNvPicPr>
                <a:picLocks noChangeAspect="1" noChangeArrowheads="1"/>
              </p:cNvPicPr>
              <p:nvPr userDrawn="1"/>
            </p:nvPicPr>
            <p:blipFill>
              <a:blip r:embed="rId16" cstate="print"/>
              <a:srcRect/>
              <a:stretch>
                <a:fillRect/>
              </a:stretch>
            </p:blipFill>
            <p:spPr bwMode="auto">
              <a:xfrm>
                <a:off x="4716016" y="689073"/>
                <a:ext cx="1368152" cy="463452"/>
              </a:xfrm>
              <a:prstGeom prst="rect">
                <a:avLst/>
              </a:prstGeom>
              <a:noFill/>
            </p:spPr>
          </p:pic>
        </p:grpSp>
      </p:grpSp>
      <p:sp>
        <p:nvSpPr>
          <p:cNvPr id="24" name="Rechteck 23"/>
          <p:cNvSpPr/>
          <p:nvPr userDrawn="1"/>
        </p:nvSpPr>
        <p:spPr>
          <a:xfrm>
            <a:off x="179512" y="1275606"/>
            <a:ext cx="3240360" cy="37444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feld 10"/>
          <p:cNvSpPr txBox="1"/>
          <p:nvPr>
            <p:custDataLst>
              <p:tags r:id="rId1"/>
            </p:custDataLst>
          </p:nvPr>
        </p:nvSpPr>
        <p:spPr>
          <a:xfrm>
            <a:off x="7543657" y="720080"/>
            <a:ext cx="150554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Florian Rupp</a:t>
            </a:r>
          </a:p>
        </p:txBody>
      </p:sp>
      <p:sp>
        <p:nvSpPr>
          <p:cNvPr id="12" name="Freihandform 11"/>
          <p:cNvSpPr/>
          <p:nvPr>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3" name="Parallelogramm 12"/>
          <p:cNvSpPr/>
          <p:nvPr>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4" name="Parallelogramm 13"/>
          <p:cNvSpPr/>
          <p:nvPr>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5" name="Parallelogramm 14"/>
          <p:cNvSpPr/>
          <p:nvPr>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Parallelogramm 15"/>
          <p:cNvSpPr/>
          <p:nvPr>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Freihandform 16"/>
          <p:cNvSpPr/>
          <p:nvPr>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8" name="Freihandform 17"/>
          <p:cNvSpPr/>
          <p:nvPr>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Rechteck 18"/>
          <p:cNvSpPr/>
          <p:nvPr>
            <p:custDataLst>
              <p:tags r:id="rId9"/>
            </p:custDataLst>
          </p:nvPr>
        </p:nvSpPr>
        <p:spPr>
          <a:xfrm>
            <a:off x="795" y="648072"/>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0" name="Titel 1"/>
          <p:cNvSpPr>
            <a:spLocks noGrp="1"/>
          </p:cNvSpPr>
          <p:nvPr userDrawn="1">
            <p:ph type="ctrTitle"/>
          </p:nvPr>
        </p:nvSpPr>
        <p:spPr>
          <a:xfrm>
            <a:off x="3851920" y="1275606"/>
            <a:ext cx="5112568" cy="864095"/>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ctr">
              <a:defRPr/>
            </a:lvl1pPr>
          </a:lstStyle>
          <a:p>
            <a:r>
              <a:rPr lang="de-DE" dirty="0"/>
              <a:t>Titelmasterformat durch Klicken bearbeiten</a:t>
            </a:r>
          </a:p>
        </p:txBody>
      </p:sp>
      <p:sp>
        <p:nvSpPr>
          <p:cNvPr id="23" name="Rectangle 5"/>
          <p:cNvSpPr>
            <a:spLocks noChangeArrowheads="1"/>
          </p:cNvSpPr>
          <p:nvPr userDrawn="1">
            <p:custDataLst>
              <p:tags r:id="rId10"/>
            </p:custDataLst>
          </p:nvPr>
        </p:nvSpPr>
        <p:spPr bwMode="auto">
          <a:xfrm>
            <a:off x="4752020" y="4299942"/>
            <a:ext cx="3240360" cy="720080"/>
          </a:xfrm>
          <a:prstGeom prst="rect">
            <a:avLst/>
          </a:prstGeom>
          <a:noFill/>
          <a:ln w="9525">
            <a:noFill/>
            <a:miter lim="800000"/>
            <a:headEnd/>
            <a:tailEnd/>
          </a:ln>
        </p:spPr>
        <p:txBody>
          <a:bodyPr anchor="b"/>
          <a:lstStyle/>
          <a:p>
            <a:pPr algn="ctr">
              <a:spcBef>
                <a:spcPct val="20000"/>
              </a:spcBef>
            </a:pPr>
            <a:endParaRPr lang="en-US" sz="1400" dirty="0"/>
          </a:p>
        </p:txBody>
      </p:sp>
      <p:sp>
        <p:nvSpPr>
          <p:cNvPr id="25" name="Textfeld 24"/>
          <p:cNvSpPr txBox="1"/>
          <p:nvPr userDrawn="1"/>
        </p:nvSpPr>
        <p:spPr>
          <a:xfrm>
            <a:off x="3851920" y="2355726"/>
            <a:ext cx="5040560" cy="1631216"/>
          </a:xfrm>
          <a:prstGeom prst="rect">
            <a:avLst/>
          </a:prstGeom>
          <a:noFill/>
        </p:spPr>
        <p:txBody>
          <a:bodyPr wrap="square" rtlCol="0">
            <a:spAutoFit/>
          </a:bodyPr>
          <a:lstStyle/>
          <a:p>
            <a:pPr algn="ctr"/>
            <a:r>
              <a:rPr lang="en-US" sz="2000" dirty="0"/>
              <a:t>Questions &amp; Remarks?</a:t>
            </a:r>
          </a:p>
          <a:p>
            <a:pPr algn="ctr"/>
            <a:endParaRPr lang="en-US" sz="2000" dirty="0"/>
          </a:p>
          <a:p>
            <a:pPr algn="ctr"/>
            <a:endParaRPr lang="en-US" sz="2000" dirty="0"/>
          </a:p>
          <a:p>
            <a:pPr algn="ctr"/>
            <a:endParaRPr lang="en-US" sz="2000" dirty="0"/>
          </a:p>
          <a:p>
            <a:pPr algn="ctr"/>
            <a:r>
              <a:rPr lang="en-US" sz="2000" dirty="0"/>
              <a:t>Thank You Very Much</a:t>
            </a:r>
          </a:p>
        </p:txBody>
      </p:sp>
      <p:pic>
        <p:nvPicPr>
          <p:cNvPr id="22" name="Grafik 21" descr="index.png"/>
          <p:cNvPicPr>
            <a:picLocks noChangeAspect="1"/>
          </p:cNvPicPr>
          <p:nvPr userDrawn="1"/>
        </p:nvPicPr>
        <p:blipFill>
          <a:blip r:embed="rId17" cstate="print"/>
          <a:stretch>
            <a:fillRect/>
          </a:stretch>
        </p:blipFill>
        <p:spPr>
          <a:xfrm>
            <a:off x="3798963" y="4578133"/>
            <a:ext cx="1421109" cy="441887"/>
          </a:xfrm>
          <a:prstGeom prst="rect">
            <a:avLst/>
          </a:prstGeom>
        </p:spPr>
      </p:pic>
      <p:pic>
        <p:nvPicPr>
          <p:cNvPr id="32" name="Picture 2" descr="https://www.iau-hesd.net/sites/default/files/styles/medium/public/media_logo/western_caspian_university.jpg?itok=s4WTrk6k"/>
          <p:cNvPicPr>
            <a:picLocks noChangeAspect="1" noChangeArrowheads="1"/>
          </p:cNvPicPr>
          <p:nvPr userDrawn="1"/>
        </p:nvPicPr>
        <p:blipFill>
          <a:blip r:embed="rId18" cstate="print"/>
          <a:srcRect/>
          <a:stretch>
            <a:fillRect/>
          </a:stretch>
        </p:blipFill>
        <p:spPr bwMode="auto">
          <a:xfrm>
            <a:off x="3851920" y="3718029"/>
            <a:ext cx="720080" cy="749323"/>
          </a:xfrm>
          <a:prstGeom prst="rect">
            <a:avLst/>
          </a:prstGeom>
          <a:noFill/>
        </p:spPr>
      </p:pic>
      <p:pic>
        <p:nvPicPr>
          <p:cNvPr id="33" name="Picture 2" descr="https://avatars.mds.yandex.net/get-altay/11886651/2a0000018defa513b9203394e9330d10fd54/XXL_height"/>
          <p:cNvPicPr>
            <a:picLocks noChangeAspect="1" noChangeArrowheads="1"/>
          </p:cNvPicPr>
          <p:nvPr userDrawn="1"/>
        </p:nvPicPr>
        <p:blipFill>
          <a:blip r:embed="rId19" cstate="print"/>
          <a:srcRect l="11628" r="27907" b="6378"/>
          <a:stretch>
            <a:fillRect/>
          </a:stretch>
        </p:blipFill>
        <p:spPr bwMode="auto">
          <a:xfrm>
            <a:off x="251520" y="1347613"/>
            <a:ext cx="3096344" cy="3600401"/>
          </a:xfrm>
          <a:prstGeom prst="rect">
            <a:avLst/>
          </a:prstGeom>
          <a:noFill/>
          <a:effectLst>
            <a:softEdge rad="31750"/>
          </a:effectLst>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Line 12"/>
          <p:cNvSpPr>
            <a:spLocks noChangeShapeType="1"/>
          </p:cNvSpPr>
          <p:nvPr userDrawn="1"/>
        </p:nvSpPr>
        <p:spPr bwMode="auto">
          <a:xfrm>
            <a:off x="0" y="824640"/>
            <a:ext cx="9144000" cy="0"/>
          </a:xfrm>
          <a:prstGeom prst="line">
            <a:avLst/>
          </a:prstGeom>
          <a:noFill/>
          <a:ln w="38100">
            <a:solidFill>
              <a:schemeClr val="tx2">
                <a:lumMod val="20000"/>
                <a:lumOff val="80000"/>
              </a:schemeClr>
            </a:solidFill>
            <a:round/>
            <a:headEnd/>
            <a:tailEnd/>
          </a:ln>
          <a:effectLst/>
        </p:spPr>
        <p:txBody>
          <a:bodyPr/>
          <a:lstStyle/>
          <a:p>
            <a:pPr>
              <a:defRPr/>
            </a:pPr>
            <a:endParaRPr lang="de-DE"/>
          </a:p>
        </p:txBody>
      </p:sp>
      <p:sp>
        <p:nvSpPr>
          <p:cNvPr id="7" name="Rectangle 7"/>
          <p:cNvSpPr>
            <a:spLocks noChangeArrowheads="1"/>
          </p:cNvSpPr>
          <p:nvPr userDrawn="1"/>
        </p:nvSpPr>
        <p:spPr bwMode="invGray">
          <a:xfrm>
            <a:off x="0" y="1"/>
            <a:ext cx="9144000" cy="815024"/>
          </a:xfrm>
          <a:prstGeom prst="rect">
            <a:avLst/>
          </a:prstGeom>
          <a:solidFill>
            <a:schemeClr val="tx2"/>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prst="coolSlant"/>
          </a:sp3d>
        </p:spPr>
        <p:txBody>
          <a:bodyPr wrap="none" anchor="ctr"/>
          <a:lstStyle/>
          <a:p>
            <a:pPr>
              <a:defRPr/>
            </a:pPr>
            <a:endParaRPr lang="de-DE"/>
          </a:p>
        </p:txBody>
      </p:sp>
      <p:sp>
        <p:nvSpPr>
          <p:cNvPr id="9" name="Abgerundetes Rechteck 8"/>
          <p:cNvSpPr/>
          <p:nvPr userDrawn="1"/>
        </p:nvSpPr>
        <p:spPr>
          <a:xfrm>
            <a:off x="118693" y="105507"/>
            <a:ext cx="667317" cy="598738"/>
          </a:xfrm>
          <a:prstGeom prst="roundRect">
            <a:avLst>
              <a:gd name="adj" fmla="val 917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2"/>
          <p:cNvSpPr>
            <a:spLocks noGrp="1" noChangeArrowheads="1"/>
          </p:cNvSpPr>
          <p:nvPr userDrawn="1">
            <p:ph type="title"/>
          </p:nvPr>
        </p:nvSpPr>
        <p:spPr bwMode="auto">
          <a:xfrm>
            <a:off x="971600" y="52707"/>
            <a:ext cx="8064896" cy="7096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de-DE" dirty="0"/>
              <a:t>Titelmasterformat durch Klicken bearbeiten</a:t>
            </a:r>
          </a:p>
        </p:txBody>
      </p:sp>
      <p:pic>
        <p:nvPicPr>
          <p:cNvPr id="28674" name="Picture 2" descr="https://cdn-static.bizzabo.com/bizzabo.users.files/zG7zRd0nS5WvqOWKrgQP_Western%20Caspian%20University%20black.png"/>
          <p:cNvPicPr>
            <a:picLocks noChangeAspect="1" noChangeArrowheads="1"/>
          </p:cNvPicPr>
          <p:nvPr userDrawn="1"/>
        </p:nvPicPr>
        <p:blipFill>
          <a:blip r:embed="rId6" cstate="print"/>
          <a:srcRect r="81904"/>
          <a:stretch>
            <a:fillRect/>
          </a:stretch>
        </p:blipFill>
        <p:spPr bwMode="auto">
          <a:xfrm>
            <a:off x="200323" y="176258"/>
            <a:ext cx="504056" cy="457237"/>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4" r:id="rId2"/>
    <p:sldLayoutId id="2147483655" r:id="rId3"/>
    <p:sldLayoutId id="2147483656" r:id="rId4"/>
  </p:sldLayoutIdLst>
  <p:txStyles>
    <p:titleStyle>
      <a:lvl1pPr algn="l" defTabSz="914400" rtl="0" eaLnBrk="1" latinLnBrk="0" hangingPunct="1">
        <a:spcBef>
          <a:spcPct val="0"/>
        </a:spcBef>
        <a:buNone/>
        <a:defRPr sz="2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US" noProof="0" dirty="0"/>
              <a:t>Computational Biomathematics</a:t>
            </a:r>
          </a:p>
        </p:txBody>
      </p:sp>
      <p:sp>
        <p:nvSpPr>
          <p:cNvPr id="3" name="Untertitel 2"/>
          <p:cNvSpPr>
            <a:spLocks noGrp="1"/>
          </p:cNvSpPr>
          <p:nvPr>
            <p:ph type="subTitle" idx="1"/>
          </p:nvPr>
        </p:nvSpPr>
        <p:spPr/>
        <p:txBody>
          <a:bodyPr/>
          <a:lstStyle/>
          <a:p>
            <a:endParaRPr lang="en-US" noProof="0" dirty="0"/>
          </a:p>
          <a:p>
            <a:r>
              <a:rPr lang="en-US" noProof="0" dirty="0"/>
              <a:t>Coding Lab 1 (2x 90 min)</a:t>
            </a:r>
          </a:p>
          <a:p>
            <a:endParaRPr lang="en-US" sz="500" noProof="0" dirty="0"/>
          </a:p>
          <a:p>
            <a:r>
              <a:rPr lang="en-US" noProof="0" dirty="0"/>
              <a:t>Lessons 5 &amp; 6</a:t>
            </a:r>
          </a:p>
        </p:txBody>
      </p:sp>
      <p:sp>
        <p:nvSpPr>
          <p:cNvPr id="4" name="Rechteck 3"/>
          <p:cNvSpPr/>
          <p:nvPr/>
        </p:nvSpPr>
        <p:spPr>
          <a:xfrm>
            <a:off x="7092280" y="3291830"/>
            <a:ext cx="1800200" cy="171715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7800" lvl="1" indent="-177800">
              <a:spcAft>
                <a:spcPts val="400"/>
              </a:spcAft>
              <a:buFont typeface="Arial" pitchFamily="34" charset="0"/>
              <a:buChar char="•"/>
            </a:pPr>
            <a:r>
              <a:rPr lang="en-US" sz="1200" noProof="0" dirty="0">
                <a:solidFill>
                  <a:schemeClr val="tx1"/>
                </a:solidFill>
              </a:rPr>
              <a:t>Overview</a:t>
            </a:r>
          </a:p>
          <a:p>
            <a:pPr marL="177800" lvl="1" indent="-177800">
              <a:spcAft>
                <a:spcPts val="400"/>
              </a:spcAft>
              <a:buFont typeface="Arial" pitchFamily="34" charset="0"/>
              <a:buChar char="•"/>
            </a:pPr>
            <a:r>
              <a:rPr lang="en-US" sz="1200" noProof="0" dirty="0">
                <a:solidFill>
                  <a:schemeClr val="tx1"/>
                </a:solidFill>
              </a:rPr>
              <a:t>Structure of the lab</a:t>
            </a:r>
          </a:p>
        </p:txBody>
      </p:sp>
      <p:sp>
        <p:nvSpPr>
          <p:cNvPr id="5" name="Rechteck 4"/>
          <p:cNvSpPr/>
          <p:nvPr/>
        </p:nvSpPr>
        <p:spPr>
          <a:xfrm>
            <a:off x="7092280" y="2931790"/>
            <a:ext cx="1800200" cy="288032"/>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Coding Lab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FCCF9E-2B12-A184-DAEA-9CCFFD65B498}"/>
              </a:ext>
            </a:extLst>
          </p:cNvPr>
          <p:cNvSpPr>
            <a:spLocks noGrp="1"/>
          </p:cNvSpPr>
          <p:nvPr>
            <p:ph type="title"/>
          </p:nvPr>
        </p:nvSpPr>
        <p:spPr/>
        <p:txBody>
          <a:bodyPr/>
          <a:lstStyle/>
          <a:p>
            <a:r>
              <a:rPr lang="en-US" noProof="0" dirty="0"/>
              <a:t>In this lab, we are discussing three cases:</a:t>
            </a:r>
            <a:br>
              <a:rPr lang="en-US" noProof="0" dirty="0"/>
            </a:br>
            <a:r>
              <a:rPr lang="en-US" noProof="0" dirty="0"/>
              <a:t>1) Vegetation competition on a lattice</a:t>
            </a:r>
          </a:p>
        </p:txBody>
      </p:sp>
      <p:pic>
        <p:nvPicPr>
          <p:cNvPr id="5" name="Grafik 4">
            <a:extLst>
              <a:ext uri="{FF2B5EF4-FFF2-40B4-BE49-F238E27FC236}">
                <a16:creationId xmlns:a16="http://schemas.microsoft.com/office/drawing/2014/main" id="{B9040F83-5A51-1EDC-45C7-23B2D176A426}"/>
              </a:ext>
            </a:extLst>
          </p:cNvPr>
          <p:cNvPicPr>
            <a:picLocks noChangeAspect="1"/>
          </p:cNvPicPr>
          <p:nvPr/>
        </p:nvPicPr>
        <p:blipFill>
          <a:blip r:embed="rId2"/>
          <a:stretch>
            <a:fillRect/>
          </a:stretch>
        </p:blipFill>
        <p:spPr>
          <a:xfrm>
            <a:off x="251520" y="1131590"/>
            <a:ext cx="4385557" cy="3888432"/>
          </a:xfrm>
          <a:prstGeom prst="rect">
            <a:avLst/>
          </a:prstGeom>
        </p:spPr>
      </p:pic>
      <p:sp>
        <p:nvSpPr>
          <p:cNvPr id="6" name="Rechteck 5">
            <a:extLst>
              <a:ext uri="{FF2B5EF4-FFF2-40B4-BE49-F238E27FC236}">
                <a16:creationId xmlns:a16="http://schemas.microsoft.com/office/drawing/2014/main" id="{10384393-1A72-FA9D-E1AA-773337C5A446}"/>
              </a:ext>
            </a:extLst>
          </p:cNvPr>
          <p:cNvSpPr/>
          <p:nvPr/>
        </p:nvSpPr>
        <p:spPr>
          <a:xfrm>
            <a:off x="4860032" y="1131590"/>
            <a:ext cx="4032448"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400" b="1" noProof="0" dirty="0">
                <a:solidFill>
                  <a:schemeClr val="tx1"/>
                </a:solidFill>
              </a:rPr>
              <a:t>Vegetation Competition on a Lattice</a:t>
            </a:r>
          </a:p>
          <a:p>
            <a:pPr>
              <a:spcAft>
                <a:spcPts val="600"/>
              </a:spcAft>
            </a:pPr>
            <a:endParaRPr lang="en-US" sz="1400" b="1" noProof="0" dirty="0">
              <a:solidFill>
                <a:schemeClr val="tx1"/>
              </a:solidFill>
            </a:endParaRPr>
          </a:p>
          <a:p>
            <a:pPr>
              <a:spcAft>
                <a:spcPts val="600"/>
              </a:spcAft>
            </a:pPr>
            <a:r>
              <a:rPr lang="en-US" sz="1400" b="1" noProof="0" dirty="0">
                <a:solidFill>
                  <a:schemeClr val="tx1"/>
                </a:solidFill>
              </a:rPr>
              <a:t>Idea:</a:t>
            </a:r>
          </a:p>
          <a:p>
            <a:pPr>
              <a:spcAft>
                <a:spcPts val="600"/>
              </a:spcAft>
            </a:pPr>
            <a:r>
              <a:rPr lang="en-US" sz="1400" noProof="0" dirty="0">
                <a:solidFill>
                  <a:schemeClr val="tx1"/>
                </a:solidFill>
              </a:rPr>
              <a:t>Each cell is occupied by grass/ shrub/ tree or empty / occupied</a:t>
            </a:r>
          </a:p>
          <a:p>
            <a:pPr>
              <a:spcAft>
                <a:spcPts val="600"/>
              </a:spcAft>
            </a:pPr>
            <a:r>
              <a:rPr lang="en-US" sz="1400" b="1" noProof="0" dirty="0">
                <a:solidFill>
                  <a:schemeClr val="tx1"/>
                </a:solidFill>
              </a:rPr>
              <a:t>Rules:</a:t>
            </a:r>
          </a:p>
          <a:p>
            <a:pPr marL="182563" indent="-182563">
              <a:spcAft>
                <a:spcPts val="600"/>
              </a:spcAft>
              <a:buFont typeface="Arial" panose="020B0604020202020204" pitchFamily="34" charset="0"/>
              <a:buChar char="•"/>
            </a:pPr>
            <a:r>
              <a:rPr lang="en-US" sz="1400" noProof="0" dirty="0">
                <a:solidFill>
                  <a:schemeClr val="tx1"/>
                </a:solidFill>
              </a:rPr>
              <a:t>local competition (neighbors determine survival)</a:t>
            </a:r>
          </a:p>
          <a:p>
            <a:pPr marL="182563" indent="-182563">
              <a:spcAft>
                <a:spcPts val="600"/>
              </a:spcAft>
              <a:buFont typeface="Arial" panose="020B0604020202020204" pitchFamily="34" charset="0"/>
              <a:buChar char="•"/>
            </a:pPr>
            <a:r>
              <a:rPr lang="en-US" sz="1400" noProof="0" dirty="0">
                <a:solidFill>
                  <a:schemeClr val="tx1"/>
                </a:solidFill>
              </a:rPr>
              <a:t>colonization probabilities</a:t>
            </a:r>
          </a:p>
          <a:p>
            <a:pPr marL="182563" indent="-182563">
              <a:spcAft>
                <a:spcPts val="600"/>
              </a:spcAft>
              <a:buFont typeface="Arial" panose="020B0604020202020204" pitchFamily="34" charset="0"/>
              <a:buChar char="•"/>
            </a:pPr>
            <a:r>
              <a:rPr lang="en-US" sz="1400" noProof="0" dirty="0">
                <a:solidFill>
                  <a:schemeClr val="tx1"/>
                </a:solidFill>
              </a:rPr>
              <a:t>disturbance (fire, drought)</a:t>
            </a:r>
          </a:p>
          <a:p>
            <a:pPr>
              <a:spcAft>
                <a:spcPts val="600"/>
              </a:spcAft>
            </a:pPr>
            <a:r>
              <a:rPr lang="en-US" sz="1400" b="1" noProof="0" dirty="0">
                <a:solidFill>
                  <a:schemeClr val="tx1"/>
                </a:solidFill>
              </a:rPr>
              <a:t>Why it’s good:</a:t>
            </a:r>
          </a:p>
          <a:p>
            <a:pPr marL="182563" indent="-182563">
              <a:spcAft>
                <a:spcPts val="600"/>
              </a:spcAft>
              <a:buFont typeface="Arial" panose="020B0604020202020204" pitchFamily="34" charset="0"/>
              <a:buChar char="•"/>
            </a:pPr>
            <a:r>
              <a:rPr lang="en-US" sz="1400" noProof="0" dirty="0">
                <a:solidFill>
                  <a:schemeClr val="tx1"/>
                </a:solidFill>
              </a:rPr>
              <a:t>direct extension of the forest example</a:t>
            </a:r>
          </a:p>
          <a:p>
            <a:pPr marL="182563" indent="-182563">
              <a:spcAft>
                <a:spcPts val="600"/>
              </a:spcAft>
              <a:buFont typeface="Arial" panose="020B0604020202020204" pitchFamily="34" charset="0"/>
              <a:buChar char="•"/>
            </a:pPr>
            <a:r>
              <a:rPr lang="en-US" sz="1400" noProof="0" dirty="0">
                <a:solidFill>
                  <a:schemeClr val="tx1"/>
                </a:solidFill>
              </a:rPr>
              <a:t>easy to implement</a:t>
            </a:r>
          </a:p>
          <a:p>
            <a:pPr marL="182563" indent="-182563">
              <a:spcAft>
                <a:spcPts val="600"/>
              </a:spcAft>
              <a:buFont typeface="Arial" panose="020B0604020202020204" pitchFamily="34" charset="0"/>
              <a:buChar char="•"/>
            </a:pPr>
            <a:r>
              <a:rPr lang="en-US" sz="1400" noProof="0" dirty="0">
                <a:solidFill>
                  <a:schemeClr val="tx1"/>
                </a:solidFill>
              </a:rPr>
              <a:t>rich spatial patterns (patches, fronts)</a:t>
            </a:r>
          </a:p>
        </p:txBody>
      </p:sp>
    </p:spTree>
    <p:extLst>
      <p:ext uri="{BB962C8B-B14F-4D97-AF65-F5344CB8AC3E}">
        <p14:creationId xmlns:p14="http://schemas.microsoft.com/office/powerpoint/2010/main" val="1100913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FFFB3-AFEC-4A60-1BE4-45295AF89DB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2F8C1C0-BABE-935D-31FE-0FC9E8298E6D}"/>
              </a:ext>
            </a:extLst>
          </p:cNvPr>
          <p:cNvSpPr>
            <a:spLocks noGrp="1"/>
          </p:cNvSpPr>
          <p:nvPr>
            <p:ph type="title"/>
          </p:nvPr>
        </p:nvSpPr>
        <p:spPr/>
        <p:txBody>
          <a:bodyPr/>
          <a:lstStyle/>
          <a:p>
            <a:r>
              <a:rPr lang="en-US" noProof="0" dirty="0"/>
              <a:t>In this lab, we are discussing three cases:</a:t>
            </a:r>
            <a:br>
              <a:rPr lang="en-US" noProof="0" dirty="0"/>
            </a:br>
            <a:r>
              <a:rPr lang="en-US" noProof="0" dirty="0"/>
              <a:t>2) Coral reef/ sessile species competition</a:t>
            </a:r>
          </a:p>
        </p:txBody>
      </p:sp>
      <p:sp>
        <p:nvSpPr>
          <p:cNvPr id="6" name="Rechteck 5">
            <a:extLst>
              <a:ext uri="{FF2B5EF4-FFF2-40B4-BE49-F238E27FC236}">
                <a16:creationId xmlns:a16="http://schemas.microsoft.com/office/drawing/2014/main" id="{BBC85EF3-234C-07DD-BF64-67055F40155A}"/>
              </a:ext>
            </a:extLst>
          </p:cNvPr>
          <p:cNvSpPr/>
          <p:nvPr/>
        </p:nvSpPr>
        <p:spPr>
          <a:xfrm>
            <a:off x="4860032" y="1131590"/>
            <a:ext cx="4032448"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400" b="1" noProof="0" dirty="0">
                <a:solidFill>
                  <a:schemeClr val="tx1"/>
                </a:solidFill>
              </a:rPr>
              <a:t>Coral Reef/ Sessile Species Competition</a:t>
            </a:r>
          </a:p>
          <a:p>
            <a:pPr algn="ctr">
              <a:spcAft>
                <a:spcPts val="600"/>
              </a:spcAft>
            </a:pPr>
            <a:endParaRPr lang="en-US" sz="1400" b="1" noProof="0" dirty="0">
              <a:solidFill>
                <a:schemeClr val="tx1"/>
              </a:solidFill>
            </a:endParaRPr>
          </a:p>
          <a:p>
            <a:pPr>
              <a:spcAft>
                <a:spcPts val="600"/>
              </a:spcAft>
            </a:pPr>
            <a:r>
              <a:rPr lang="en-US" sz="1400" b="1" noProof="0" dirty="0">
                <a:solidFill>
                  <a:schemeClr val="tx1"/>
                </a:solidFill>
              </a:rPr>
              <a:t>Idea:</a:t>
            </a:r>
          </a:p>
          <a:p>
            <a:pPr>
              <a:spcAft>
                <a:spcPts val="600"/>
              </a:spcAft>
            </a:pPr>
            <a:r>
              <a:rPr lang="en-US" sz="1400" noProof="0" dirty="0">
                <a:solidFill>
                  <a:schemeClr val="tx1"/>
                </a:solidFill>
              </a:rPr>
              <a:t>Each cell is in one of the following states: coral, algae, or empty</a:t>
            </a:r>
          </a:p>
          <a:p>
            <a:pPr>
              <a:spcAft>
                <a:spcPts val="600"/>
              </a:spcAft>
            </a:pPr>
            <a:r>
              <a:rPr lang="en-US" sz="1400" b="1" noProof="0" dirty="0">
                <a:solidFill>
                  <a:schemeClr val="tx1"/>
                </a:solidFill>
              </a:rPr>
              <a:t>Rules:</a:t>
            </a:r>
          </a:p>
          <a:p>
            <a:pPr marL="182563" indent="-182563">
              <a:spcAft>
                <a:spcPts val="600"/>
              </a:spcAft>
              <a:buFont typeface="Arial" panose="020B0604020202020204" pitchFamily="34" charset="0"/>
              <a:buChar char="•"/>
            </a:pPr>
            <a:r>
              <a:rPr lang="en-US" sz="1400" noProof="0" dirty="0">
                <a:solidFill>
                  <a:schemeClr val="tx1"/>
                </a:solidFill>
              </a:rPr>
              <a:t>coral grows slowly but is stable</a:t>
            </a:r>
          </a:p>
          <a:p>
            <a:pPr marL="182563" indent="-182563">
              <a:spcAft>
                <a:spcPts val="600"/>
              </a:spcAft>
              <a:buFont typeface="Arial" panose="020B0604020202020204" pitchFamily="34" charset="0"/>
              <a:buChar char="•"/>
            </a:pPr>
            <a:r>
              <a:rPr lang="en-US" sz="1400" noProof="0" dirty="0">
                <a:solidFill>
                  <a:schemeClr val="tx1"/>
                </a:solidFill>
              </a:rPr>
              <a:t>algae spreads quickly</a:t>
            </a:r>
          </a:p>
          <a:p>
            <a:pPr marL="182563" indent="-182563">
              <a:spcAft>
                <a:spcPts val="600"/>
              </a:spcAft>
              <a:buFont typeface="Arial" panose="020B0604020202020204" pitchFamily="34" charset="0"/>
              <a:buChar char="•"/>
            </a:pPr>
            <a:r>
              <a:rPr lang="en-US" sz="1400" noProof="0" dirty="0">
                <a:solidFill>
                  <a:schemeClr val="tx1"/>
                </a:solidFill>
              </a:rPr>
              <a:t>disturbances (bleaching)</a:t>
            </a:r>
          </a:p>
          <a:p>
            <a:pPr>
              <a:spcAft>
                <a:spcPts val="600"/>
              </a:spcAft>
            </a:pPr>
            <a:r>
              <a:rPr lang="en-US" sz="1400" b="1" noProof="0" dirty="0">
                <a:solidFill>
                  <a:schemeClr val="tx1"/>
                </a:solidFill>
              </a:rPr>
              <a:t>Why it’s good:</a:t>
            </a:r>
          </a:p>
          <a:p>
            <a:pPr marL="182563" indent="-182563">
              <a:spcAft>
                <a:spcPts val="600"/>
              </a:spcAft>
              <a:buFont typeface="Arial" panose="020B0604020202020204" pitchFamily="34" charset="0"/>
              <a:buChar char="•"/>
            </a:pPr>
            <a:r>
              <a:rPr lang="en-US" sz="1400" noProof="0" dirty="0">
                <a:solidFill>
                  <a:schemeClr val="tx1"/>
                </a:solidFill>
              </a:rPr>
              <a:t>very clear ecological interpretation</a:t>
            </a:r>
          </a:p>
          <a:p>
            <a:pPr marL="182563" indent="-182563">
              <a:spcAft>
                <a:spcPts val="600"/>
              </a:spcAft>
              <a:buFont typeface="Arial" panose="020B0604020202020204" pitchFamily="34" charset="0"/>
              <a:buChar char="•"/>
            </a:pPr>
            <a:r>
              <a:rPr lang="en-US" sz="1400" noProof="0" dirty="0">
                <a:solidFill>
                  <a:schemeClr val="tx1"/>
                </a:solidFill>
              </a:rPr>
              <a:t>strong spatial effects</a:t>
            </a:r>
          </a:p>
          <a:p>
            <a:pPr marL="182563" indent="-182563">
              <a:spcAft>
                <a:spcPts val="600"/>
              </a:spcAft>
              <a:buFont typeface="Arial" panose="020B0604020202020204" pitchFamily="34" charset="0"/>
              <a:buChar char="•"/>
            </a:pPr>
            <a:r>
              <a:rPr lang="en-US" sz="1400" noProof="0" dirty="0">
                <a:solidFill>
                  <a:schemeClr val="tx1"/>
                </a:solidFill>
              </a:rPr>
              <a:t>connects to climate topics</a:t>
            </a:r>
          </a:p>
        </p:txBody>
      </p:sp>
      <p:pic>
        <p:nvPicPr>
          <p:cNvPr id="2050" name="Picture 2" descr="Competition on a Coral Reef Video — MarineLab">
            <a:extLst>
              <a:ext uri="{FF2B5EF4-FFF2-40B4-BE49-F238E27FC236}">
                <a16:creationId xmlns:a16="http://schemas.microsoft.com/office/drawing/2014/main" id="{A38C1CB4-75E3-571F-0EC2-9C3A0906DC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131590"/>
            <a:ext cx="4334703" cy="2880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3462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3F3C3-1DA5-9AE2-1695-2692E8D64CC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8844C11-594A-E707-6C8D-A95DA5387E4B}"/>
              </a:ext>
            </a:extLst>
          </p:cNvPr>
          <p:cNvSpPr>
            <a:spLocks noGrp="1"/>
          </p:cNvSpPr>
          <p:nvPr>
            <p:ph type="title"/>
          </p:nvPr>
        </p:nvSpPr>
        <p:spPr/>
        <p:txBody>
          <a:bodyPr/>
          <a:lstStyle/>
          <a:p>
            <a:r>
              <a:rPr lang="en-US" noProof="0" dirty="0"/>
              <a:t>In this lab, we are discussing three cases:</a:t>
            </a:r>
            <a:br>
              <a:rPr lang="en-US" noProof="0" dirty="0"/>
            </a:br>
            <a:r>
              <a:rPr lang="en-US" noProof="0" dirty="0"/>
              <a:t>3) Bacterial colony growth (with diffusion-like spreading)</a:t>
            </a:r>
          </a:p>
        </p:txBody>
      </p:sp>
      <p:sp>
        <p:nvSpPr>
          <p:cNvPr id="6" name="Rechteck 5">
            <a:extLst>
              <a:ext uri="{FF2B5EF4-FFF2-40B4-BE49-F238E27FC236}">
                <a16:creationId xmlns:a16="http://schemas.microsoft.com/office/drawing/2014/main" id="{50131B4D-C415-56AD-F380-5D92CE61FBDE}"/>
              </a:ext>
            </a:extLst>
          </p:cNvPr>
          <p:cNvSpPr/>
          <p:nvPr/>
        </p:nvSpPr>
        <p:spPr>
          <a:xfrm>
            <a:off x="4860032" y="1131590"/>
            <a:ext cx="4032448" cy="2880320"/>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400" b="1" noProof="0" dirty="0">
                <a:solidFill>
                  <a:schemeClr val="tx1"/>
                </a:solidFill>
              </a:rPr>
              <a:t>Bacterial Colony Growth</a:t>
            </a:r>
            <a:br>
              <a:rPr lang="en-US" sz="1400" b="1" noProof="0" dirty="0">
                <a:solidFill>
                  <a:schemeClr val="tx1"/>
                </a:solidFill>
              </a:rPr>
            </a:br>
            <a:r>
              <a:rPr lang="en-US" sz="1400" b="1" noProof="0" dirty="0">
                <a:solidFill>
                  <a:schemeClr val="tx1"/>
                </a:solidFill>
              </a:rPr>
              <a:t>(with diffusion-like spreading)</a:t>
            </a:r>
          </a:p>
          <a:p>
            <a:pPr>
              <a:spcAft>
                <a:spcPts val="600"/>
              </a:spcAft>
            </a:pPr>
            <a:r>
              <a:rPr lang="en-US" sz="1400" b="1" noProof="0" dirty="0">
                <a:solidFill>
                  <a:schemeClr val="tx1"/>
                </a:solidFill>
              </a:rPr>
              <a:t>Idea:</a:t>
            </a:r>
          </a:p>
          <a:p>
            <a:pPr marL="182563" indent="-182563">
              <a:spcAft>
                <a:spcPts val="600"/>
              </a:spcAft>
              <a:buFont typeface="Arial" panose="020B0604020202020204" pitchFamily="34" charset="0"/>
              <a:buChar char="•"/>
            </a:pPr>
            <a:r>
              <a:rPr lang="en-US" sz="1400" noProof="0" dirty="0">
                <a:solidFill>
                  <a:schemeClr val="tx1"/>
                </a:solidFill>
              </a:rPr>
              <a:t>cells reproduce and spread locally</a:t>
            </a:r>
          </a:p>
          <a:p>
            <a:pPr marL="182563" indent="-182563">
              <a:spcAft>
                <a:spcPts val="600"/>
              </a:spcAft>
              <a:buFont typeface="Arial" panose="020B0604020202020204" pitchFamily="34" charset="0"/>
              <a:buChar char="•"/>
            </a:pPr>
            <a:r>
              <a:rPr lang="en-US" sz="1400" noProof="0" dirty="0">
                <a:solidFill>
                  <a:schemeClr val="tx1"/>
                </a:solidFill>
              </a:rPr>
              <a:t>nutrient availability affects growth</a:t>
            </a:r>
          </a:p>
          <a:p>
            <a:pPr>
              <a:spcAft>
                <a:spcPts val="600"/>
              </a:spcAft>
            </a:pPr>
            <a:r>
              <a:rPr lang="en-US" sz="1400" b="1" noProof="0" dirty="0">
                <a:solidFill>
                  <a:schemeClr val="tx1"/>
                </a:solidFill>
              </a:rPr>
              <a:t>Why it’s good:</a:t>
            </a:r>
          </a:p>
          <a:p>
            <a:pPr marL="182563" indent="-182563">
              <a:spcAft>
                <a:spcPts val="600"/>
              </a:spcAft>
              <a:buFont typeface="Arial" panose="020B0604020202020204" pitchFamily="34" charset="0"/>
              <a:buChar char="•"/>
            </a:pPr>
            <a:r>
              <a:rPr lang="en-US" sz="1400" noProof="0" dirty="0">
                <a:solidFill>
                  <a:schemeClr val="tx1"/>
                </a:solidFill>
              </a:rPr>
              <a:t>local movement rules</a:t>
            </a:r>
          </a:p>
          <a:p>
            <a:pPr marL="182563" indent="-182563">
              <a:spcAft>
                <a:spcPts val="600"/>
              </a:spcAft>
              <a:buFont typeface="Arial" panose="020B0604020202020204" pitchFamily="34" charset="0"/>
              <a:buChar char="•"/>
            </a:pPr>
            <a:r>
              <a:rPr lang="en-US" sz="1400" noProof="0" dirty="0">
                <a:solidFill>
                  <a:schemeClr val="tx1"/>
                </a:solidFill>
              </a:rPr>
              <a:t>branching patterns</a:t>
            </a:r>
          </a:p>
          <a:p>
            <a:pPr marL="182563" indent="-182563">
              <a:spcAft>
                <a:spcPts val="600"/>
              </a:spcAft>
              <a:buFont typeface="Arial" panose="020B0604020202020204" pitchFamily="34" charset="0"/>
              <a:buChar char="•"/>
            </a:pPr>
            <a:r>
              <a:rPr lang="en-US" sz="1400" noProof="0" dirty="0">
                <a:solidFill>
                  <a:schemeClr val="tx1"/>
                </a:solidFill>
              </a:rPr>
              <a:t>link to diffusion/ PDEs</a:t>
            </a:r>
          </a:p>
        </p:txBody>
      </p:sp>
      <p:grpSp>
        <p:nvGrpSpPr>
          <p:cNvPr id="9" name="Gruppieren 8">
            <a:extLst>
              <a:ext uri="{FF2B5EF4-FFF2-40B4-BE49-F238E27FC236}">
                <a16:creationId xmlns:a16="http://schemas.microsoft.com/office/drawing/2014/main" id="{B5A0D06E-0C80-F0AE-F7BB-CCF34D4EF9BE}"/>
              </a:ext>
            </a:extLst>
          </p:cNvPr>
          <p:cNvGrpSpPr/>
          <p:nvPr/>
        </p:nvGrpSpPr>
        <p:grpSpPr>
          <a:xfrm>
            <a:off x="251520" y="1106954"/>
            <a:ext cx="4392488" cy="2904956"/>
            <a:chOff x="251520" y="1294229"/>
            <a:chExt cx="3757772" cy="2485189"/>
          </a:xfrm>
        </p:grpSpPr>
        <p:pic>
          <p:nvPicPr>
            <p:cNvPr id="4" name="Grafik 3">
              <a:extLst>
                <a:ext uri="{FF2B5EF4-FFF2-40B4-BE49-F238E27FC236}">
                  <a16:creationId xmlns:a16="http://schemas.microsoft.com/office/drawing/2014/main" id="{625D6581-16BB-46AE-3C86-16EB4EE6DC5B}"/>
                </a:ext>
              </a:extLst>
            </p:cNvPr>
            <p:cNvPicPr>
              <a:picLocks noChangeAspect="1"/>
            </p:cNvPicPr>
            <p:nvPr/>
          </p:nvPicPr>
          <p:blipFill>
            <a:blip r:embed="rId2"/>
            <a:srcRect t="2019" b="66720"/>
            <a:stretch>
              <a:fillRect/>
            </a:stretch>
          </p:blipFill>
          <p:spPr>
            <a:xfrm>
              <a:off x="251520" y="1294229"/>
              <a:ext cx="2448272" cy="1188720"/>
            </a:xfrm>
            <a:prstGeom prst="rect">
              <a:avLst/>
            </a:prstGeom>
          </p:spPr>
        </p:pic>
        <p:pic>
          <p:nvPicPr>
            <p:cNvPr id="5" name="Grafik 4">
              <a:extLst>
                <a:ext uri="{FF2B5EF4-FFF2-40B4-BE49-F238E27FC236}">
                  <a16:creationId xmlns:a16="http://schemas.microsoft.com/office/drawing/2014/main" id="{3B17FAFB-F2BA-9432-45E6-6E3C1A778E13}"/>
                </a:ext>
              </a:extLst>
            </p:cNvPr>
            <p:cNvPicPr>
              <a:picLocks noChangeAspect="1"/>
            </p:cNvPicPr>
            <p:nvPr/>
          </p:nvPicPr>
          <p:blipFill>
            <a:blip r:embed="rId2"/>
            <a:srcRect t="35603" b="33136"/>
            <a:stretch>
              <a:fillRect/>
            </a:stretch>
          </p:blipFill>
          <p:spPr>
            <a:xfrm>
              <a:off x="251520" y="2571750"/>
              <a:ext cx="2448272" cy="1188720"/>
            </a:xfrm>
            <a:prstGeom prst="rect">
              <a:avLst/>
            </a:prstGeom>
          </p:spPr>
        </p:pic>
        <p:pic>
          <p:nvPicPr>
            <p:cNvPr id="7" name="Grafik 6">
              <a:extLst>
                <a:ext uri="{FF2B5EF4-FFF2-40B4-BE49-F238E27FC236}">
                  <a16:creationId xmlns:a16="http://schemas.microsoft.com/office/drawing/2014/main" id="{4FFE6CB6-969F-5823-DBD4-033BA8F38A83}"/>
                </a:ext>
              </a:extLst>
            </p:cNvPr>
            <p:cNvPicPr>
              <a:picLocks noChangeAspect="1"/>
            </p:cNvPicPr>
            <p:nvPr/>
          </p:nvPicPr>
          <p:blipFill>
            <a:blip r:embed="rId2"/>
            <a:srcRect t="69461" r="50316"/>
            <a:stretch>
              <a:fillRect/>
            </a:stretch>
          </p:blipFill>
          <p:spPr>
            <a:xfrm>
              <a:off x="2792902" y="1294229"/>
              <a:ext cx="1216390" cy="1161275"/>
            </a:xfrm>
            <a:prstGeom prst="rect">
              <a:avLst/>
            </a:prstGeom>
          </p:spPr>
        </p:pic>
        <p:pic>
          <p:nvPicPr>
            <p:cNvPr id="8" name="Grafik 7">
              <a:extLst>
                <a:ext uri="{FF2B5EF4-FFF2-40B4-BE49-F238E27FC236}">
                  <a16:creationId xmlns:a16="http://schemas.microsoft.com/office/drawing/2014/main" id="{1018FC24-F6D5-B1B7-DCF0-104E4434E753}"/>
                </a:ext>
              </a:extLst>
            </p:cNvPr>
            <p:cNvPicPr>
              <a:picLocks noChangeAspect="1"/>
            </p:cNvPicPr>
            <p:nvPr/>
          </p:nvPicPr>
          <p:blipFill>
            <a:blip r:embed="rId2"/>
            <a:srcRect l="50354" t="69461"/>
            <a:stretch>
              <a:fillRect/>
            </a:stretch>
          </p:blipFill>
          <p:spPr>
            <a:xfrm>
              <a:off x="2757732" y="2618143"/>
              <a:ext cx="1215469" cy="1161275"/>
            </a:xfrm>
            <a:prstGeom prst="rect">
              <a:avLst/>
            </a:prstGeom>
          </p:spPr>
        </p:pic>
      </p:grpSp>
      <p:sp>
        <p:nvSpPr>
          <p:cNvPr id="10" name="Rechteck 9">
            <a:extLst>
              <a:ext uri="{FF2B5EF4-FFF2-40B4-BE49-F238E27FC236}">
                <a16:creationId xmlns:a16="http://schemas.microsoft.com/office/drawing/2014/main" id="{CB026A78-26D6-46BB-3E5C-5F20D4009004}"/>
              </a:ext>
            </a:extLst>
          </p:cNvPr>
          <p:cNvSpPr/>
          <p:nvPr/>
        </p:nvSpPr>
        <p:spPr>
          <a:xfrm>
            <a:off x="251520" y="4388624"/>
            <a:ext cx="8640960" cy="631397"/>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t>Many biological systems can be understood as local interaction rules on space.</a:t>
            </a:r>
            <a:br>
              <a:rPr lang="en-US" sz="1400" noProof="0" dirty="0"/>
            </a:br>
            <a:r>
              <a:rPr lang="en-US" sz="1400" noProof="0" dirty="0"/>
              <a:t>The complexity we observe in nature often emerges from very simple rules applied repeatedly.</a:t>
            </a:r>
          </a:p>
        </p:txBody>
      </p:sp>
    </p:spTree>
    <p:extLst>
      <p:ext uri="{BB962C8B-B14F-4D97-AF65-F5344CB8AC3E}">
        <p14:creationId xmlns:p14="http://schemas.microsoft.com/office/powerpoint/2010/main" val="4084803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90A4C-AEFC-55DE-0AF3-02043F635578}"/>
            </a:ext>
          </a:extLst>
        </p:cNvPr>
        <p:cNvGrpSpPr/>
        <p:nvPr/>
      </p:nvGrpSpPr>
      <p:grpSpPr>
        <a:xfrm>
          <a:off x="0" y="0"/>
          <a:ext cx="0" cy="0"/>
          <a:chOff x="0" y="0"/>
          <a:chExt cx="0" cy="0"/>
        </a:xfrm>
      </p:grpSpPr>
      <p:sp>
        <p:nvSpPr>
          <p:cNvPr id="2" name="Abgerundetes Rechteck 1">
            <a:extLst>
              <a:ext uri="{FF2B5EF4-FFF2-40B4-BE49-F238E27FC236}">
                <a16:creationId xmlns:a16="http://schemas.microsoft.com/office/drawing/2014/main" id="{8CE00983-AF02-4788-0EF0-07DAF13A5854}"/>
              </a:ext>
            </a:extLst>
          </p:cNvPr>
          <p:cNvSpPr/>
          <p:nvPr/>
        </p:nvSpPr>
        <p:spPr>
          <a:xfrm>
            <a:off x="971600" y="1584740"/>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a:extLst>
              <a:ext uri="{FF2B5EF4-FFF2-40B4-BE49-F238E27FC236}">
                <a16:creationId xmlns:a16="http://schemas.microsoft.com/office/drawing/2014/main" id="{8262DEAD-8F66-5914-A3BD-BAF4AE89A30D}"/>
              </a:ext>
            </a:extLst>
          </p:cNvPr>
          <p:cNvSpPr txBox="1"/>
          <p:nvPr/>
        </p:nvSpPr>
        <p:spPr>
          <a:xfrm>
            <a:off x="971600" y="1131590"/>
            <a:ext cx="2515625" cy="1354217"/>
          </a:xfrm>
          <a:prstGeom prst="rect">
            <a:avLst/>
          </a:prstGeom>
          <a:noFill/>
        </p:spPr>
        <p:txBody>
          <a:bodyPr wrap="none" rtlCol="0">
            <a:spAutoFit/>
          </a:bodyPr>
          <a:lstStyle/>
          <a:p>
            <a:r>
              <a:rPr lang="en-US" b="1" noProof="0" dirty="0"/>
              <a:t>Topics</a:t>
            </a:r>
          </a:p>
          <a:p>
            <a:endParaRPr lang="en-US" sz="1000" noProof="0" dirty="0"/>
          </a:p>
          <a:p>
            <a:pPr lvl="1"/>
            <a:r>
              <a:rPr lang="en-US" b="1" noProof="0" dirty="0"/>
              <a:t>Overview</a:t>
            </a:r>
          </a:p>
          <a:p>
            <a:pPr lvl="1"/>
            <a:endParaRPr lang="en-US" noProof="0" dirty="0"/>
          </a:p>
          <a:p>
            <a:pPr lvl="1"/>
            <a:r>
              <a:rPr lang="en-US" noProof="0" dirty="0"/>
              <a:t>Structure of the Lab</a:t>
            </a:r>
          </a:p>
        </p:txBody>
      </p:sp>
    </p:spTree>
    <p:extLst>
      <p:ext uri="{BB962C8B-B14F-4D97-AF65-F5344CB8AC3E}">
        <p14:creationId xmlns:p14="http://schemas.microsoft.com/office/powerpoint/2010/main" val="3896007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AED37-3D06-CD0D-15DB-304091842E0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7312613-ABCB-C873-4A70-9746C7987E73}"/>
              </a:ext>
            </a:extLst>
          </p:cNvPr>
          <p:cNvSpPr>
            <a:spLocks noGrp="1"/>
          </p:cNvSpPr>
          <p:nvPr>
            <p:ph type="title"/>
          </p:nvPr>
        </p:nvSpPr>
        <p:spPr/>
        <p:txBody>
          <a:bodyPr/>
          <a:lstStyle/>
          <a:p>
            <a:r>
              <a:rPr lang="en-US" dirty="0"/>
              <a:t>The</a:t>
            </a:r>
            <a:r>
              <a:rPr lang="en-US" noProof="0" dirty="0"/>
              <a:t> central goals of this lab are to simulate biological systems and to learn how to use AI responsibly and effectively for scientific simulations</a:t>
            </a:r>
          </a:p>
        </p:txBody>
      </p:sp>
      <p:sp>
        <p:nvSpPr>
          <p:cNvPr id="3" name="Rechteck 2">
            <a:extLst>
              <a:ext uri="{FF2B5EF4-FFF2-40B4-BE49-F238E27FC236}">
                <a16:creationId xmlns:a16="http://schemas.microsoft.com/office/drawing/2014/main" id="{870AE570-5FAF-13F3-3B5E-4C8457C2DAED}"/>
              </a:ext>
            </a:extLst>
          </p:cNvPr>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dirty="0">
                <a:solidFill>
                  <a:schemeClr val="tx1"/>
                </a:solidFill>
              </a:rPr>
              <a:t>A central goal of this lab is not only to simulate biological systems, but also to learn how to use AI responsibly and effectively for scientific simulations. We will practice the following workflow:</a:t>
            </a:r>
          </a:p>
          <a:p>
            <a:pPr marL="717550">
              <a:spcAft>
                <a:spcPts val="600"/>
              </a:spcAft>
              <a:tabLst>
                <a:tab pos="1793875" algn="l"/>
              </a:tabLst>
            </a:pPr>
            <a:r>
              <a:rPr lang="en-US" sz="1400" dirty="0">
                <a:solidFill>
                  <a:schemeClr val="tx1"/>
                </a:solidFill>
              </a:rPr>
              <a:t>Biological idea </a:t>
            </a:r>
            <a:r>
              <a:rPr lang="en-US" sz="1400" dirty="0">
                <a:solidFill>
                  <a:schemeClr val="tx1"/>
                </a:solidFill>
                <a:sym typeface="Symbol" panose="05050102010706020507" pitchFamily="18" charset="2"/>
              </a:rPr>
              <a:t> </a:t>
            </a:r>
            <a:r>
              <a:rPr lang="en-US" sz="1400" dirty="0">
                <a:solidFill>
                  <a:schemeClr val="tx1"/>
                </a:solidFill>
              </a:rPr>
              <a:t>mathematical/ computational structure</a:t>
            </a:r>
          </a:p>
          <a:p>
            <a:pPr marL="717550">
              <a:spcAft>
                <a:spcPts val="600"/>
              </a:spcAft>
              <a:tabLst>
                <a:tab pos="1793875" algn="l"/>
              </a:tabLst>
            </a:pPr>
            <a:r>
              <a:rPr lang="en-US" sz="1400" dirty="0">
                <a:solidFill>
                  <a:schemeClr val="tx1"/>
                </a:solidFill>
                <a:sym typeface="Symbol" panose="05050102010706020507" pitchFamily="18" charset="2"/>
              </a:rPr>
              <a:t>	 </a:t>
            </a:r>
            <a:r>
              <a:rPr lang="en-US" sz="1400" dirty="0">
                <a:solidFill>
                  <a:schemeClr val="tx1"/>
                </a:solidFill>
              </a:rPr>
              <a:t>program architecture</a:t>
            </a:r>
          </a:p>
          <a:p>
            <a:pPr marL="717550">
              <a:spcAft>
                <a:spcPts val="600"/>
              </a:spcAft>
              <a:tabLst>
                <a:tab pos="1793875" algn="l"/>
              </a:tabLst>
            </a:pPr>
            <a:r>
              <a:rPr lang="en-US" sz="1400" dirty="0">
                <a:solidFill>
                  <a:schemeClr val="tx1"/>
                </a:solidFill>
                <a:sym typeface="Symbol" panose="05050102010706020507" pitchFamily="18" charset="2"/>
              </a:rPr>
              <a:t>	 </a:t>
            </a:r>
            <a:r>
              <a:rPr lang="en-US" sz="1400" dirty="0">
                <a:solidFill>
                  <a:schemeClr val="tx1"/>
                </a:solidFill>
              </a:rPr>
              <a:t>AI prompt design</a:t>
            </a:r>
          </a:p>
          <a:p>
            <a:pPr marL="717550">
              <a:spcAft>
                <a:spcPts val="600"/>
              </a:spcAft>
              <a:tabLst>
                <a:tab pos="1793875" algn="l"/>
              </a:tabLst>
            </a:pPr>
            <a:r>
              <a:rPr lang="en-US" sz="1400" dirty="0">
                <a:solidFill>
                  <a:schemeClr val="tx1"/>
                </a:solidFill>
                <a:sym typeface="Symbol" panose="05050102010706020507" pitchFamily="18" charset="2"/>
              </a:rPr>
              <a:t>	 </a:t>
            </a:r>
            <a:r>
              <a:rPr lang="en-US" sz="1400" dirty="0">
                <a:solidFill>
                  <a:schemeClr val="tx1"/>
                </a:solidFill>
              </a:rPr>
              <a:t>code review and refinement</a:t>
            </a:r>
          </a:p>
          <a:p>
            <a:pPr>
              <a:spcAft>
                <a:spcPts val="600"/>
              </a:spcAft>
            </a:pPr>
            <a:endParaRPr lang="en-US" sz="1400" dirty="0">
              <a:solidFill>
                <a:schemeClr val="tx1"/>
              </a:solidFill>
            </a:endParaRPr>
          </a:p>
          <a:p>
            <a:pPr>
              <a:spcAft>
                <a:spcPts val="600"/>
              </a:spcAft>
            </a:pPr>
            <a:r>
              <a:rPr lang="en-US" sz="1400" dirty="0">
                <a:solidFill>
                  <a:schemeClr val="tx1"/>
                </a:solidFill>
              </a:rPr>
              <a:t>After completing this lab, you should be able to</a:t>
            </a:r>
          </a:p>
          <a:p>
            <a:pPr marL="285750" indent="-285750">
              <a:spcAft>
                <a:spcPts val="600"/>
              </a:spcAft>
              <a:buFont typeface="Arial" panose="020B0604020202020204" pitchFamily="34" charset="0"/>
              <a:buChar char="•"/>
            </a:pPr>
            <a:r>
              <a:rPr lang="en-US" sz="1400" dirty="0">
                <a:solidFill>
                  <a:schemeClr val="tx1"/>
                </a:solidFill>
              </a:rPr>
              <a:t>explain how local biological rules can generate global patterns,</a:t>
            </a:r>
          </a:p>
          <a:p>
            <a:pPr marL="285750" indent="-285750">
              <a:spcAft>
                <a:spcPts val="600"/>
              </a:spcAft>
              <a:buFont typeface="Arial" panose="020B0604020202020204" pitchFamily="34" charset="0"/>
              <a:buChar char="•"/>
            </a:pPr>
            <a:r>
              <a:rPr lang="en-US" sz="1400" dirty="0">
                <a:solidFill>
                  <a:schemeClr val="tx1"/>
                </a:solidFill>
              </a:rPr>
              <a:t>implement simple lattice-based biological simulations in Python,</a:t>
            </a:r>
          </a:p>
          <a:p>
            <a:pPr marL="285750" indent="-285750">
              <a:spcAft>
                <a:spcPts val="600"/>
              </a:spcAft>
              <a:buFont typeface="Arial" panose="020B0604020202020204" pitchFamily="34" charset="0"/>
              <a:buChar char="•"/>
            </a:pPr>
            <a:r>
              <a:rPr lang="en-US" sz="1400" dirty="0">
                <a:solidFill>
                  <a:schemeClr val="tx1"/>
                </a:solidFill>
              </a:rPr>
              <a:t>design a modular program architecture,</a:t>
            </a:r>
          </a:p>
          <a:p>
            <a:pPr marL="285750" indent="-285750">
              <a:spcAft>
                <a:spcPts val="600"/>
              </a:spcAft>
              <a:buFont typeface="Arial" panose="020B0604020202020204" pitchFamily="34" charset="0"/>
              <a:buChar char="•"/>
            </a:pPr>
            <a:r>
              <a:rPr lang="en-US" sz="1400" dirty="0">
                <a:solidFill>
                  <a:schemeClr val="tx1"/>
                </a:solidFill>
              </a:rPr>
              <a:t>formulate clear prompts for AI-assisted coding,</a:t>
            </a:r>
          </a:p>
          <a:p>
            <a:pPr marL="285750" indent="-285750">
              <a:spcAft>
                <a:spcPts val="600"/>
              </a:spcAft>
              <a:buFont typeface="Arial" panose="020B0604020202020204" pitchFamily="34" charset="0"/>
              <a:buChar char="•"/>
            </a:pPr>
            <a:r>
              <a:rPr lang="en-US" sz="1400" dirty="0">
                <a:solidFill>
                  <a:schemeClr val="tx1"/>
                </a:solidFill>
              </a:rPr>
              <a:t>critically evaluate AI-generated code.</a:t>
            </a:r>
            <a:endParaRPr lang="de-DE" sz="1400" dirty="0">
              <a:solidFill>
                <a:schemeClr val="tx1"/>
              </a:solidFill>
            </a:endParaRPr>
          </a:p>
        </p:txBody>
      </p:sp>
      <p:sp>
        <p:nvSpPr>
          <p:cNvPr id="6" name="Rechteck 5">
            <a:extLst>
              <a:ext uri="{FF2B5EF4-FFF2-40B4-BE49-F238E27FC236}">
                <a16:creationId xmlns:a16="http://schemas.microsoft.com/office/drawing/2014/main" id="{227240C5-9BAC-604C-AC25-35B049A25C6D}"/>
              </a:ext>
            </a:extLst>
          </p:cNvPr>
          <p:cNvSpPr/>
          <p:nvPr/>
        </p:nvSpPr>
        <p:spPr>
          <a:xfrm>
            <a:off x="2123728" y="1656748"/>
            <a:ext cx="5328592" cy="1152128"/>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174033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A541C-EAC5-A365-DD53-57E49A88317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192088F-3ED2-323C-7782-6CACA15B8587}"/>
              </a:ext>
            </a:extLst>
          </p:cNvPr>
          <p:cNvSpPr>
            <a:spLocks noGrp="1"/>
          </p:cNvSpPr>
          <p:nvPr>
            <p:ph type="title"/>
          </p:nvPr>
        </p:nvSpPr>
        <p:spPr/>
        <p:txBody>
          <a:bodyPr/>
          <a:lstStyle/>
          <a:p>
            <a:r>
              <a:rPr lang="en-US" dirty="0"/>
              <a:t>AI can generate code quickly, but scientific quality depends on whether you provide a precise model description and a clear software structure</a:t>
            </a:r>
            <a:endParaRPr lang="en-US" noProof="0" dirty="0"/>
          </a:p>
        </p:txBody>
      </p:sp>
      <p:sp>
        <p:nvSpPr>
          <p:cNvPr id="3" name="Rechteck 2">
            <a:extLst>
              <a:ext uri="{FF2B5EF4-FFF2-40B4-BE49-F238E27FC236}">
                <a16:creationId xmlns:a16="http://schemas.microsoft.com/office/drawing/2014/main" id="{D8C4C7A0-696C-0A43-D63F-8676AE36CE5E}"/>
              </a:ext>
            </a:extLst>
          </p:cNvPr>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dirty="0">
                <a:solidFill>
                  <a:schemeClr val="tx1"/>
                </a:solidFill>
              </a:rPr>
              <a:t>General Setup: </a:t>
            </a:r>
            <a:r>
              <a:rPr lang="en-US" sz="1400" dirty="0">
                <a:solidFill>
                  <a:schemeClr val="tx1"/>
                </a:solidFill>
              </a:rPr>
              <a:t>We represent space as an N </a:t>
            </a:r>
            <a:r>
              <a:rPr lang="en-US" sz="1400" dirty="0">
                <a:solidFill>
                  <a:schemeClr val="tx1"/>
                </a:solidFill>
                <a:sym typeface="Symbol" panose="05050102010706020507" pitchFamily="18" charset="2"/>
              </a:rPr>
              <a:t></a:t>
            </a:r>
            <a:r>
              <a:rPr lang="en-US" sz="1400" dirty="0">
                <a:solidFill>
                  <a:schemeClr val="tx1"/>
                </a:solidFill>
              </a:rPr>
              <a:t> N lattice. Each cell contains a biological state, for example, empty, grass, tree, coral, algae, or bacteria.</a:t>
            </a:r>
          </a:p>
          <a:p>
            <a:pPr>
              <a:spcAft>
                <a:spcPts val="600"/>
              </a:spcAft>
            </a:pPr>
            <a:r>
              <a:rPr lang="en-US" sz="1400" dirty="0">
                <a:solidFill>
                  <a:schemeClr val="tx1"/>
                </a:solidFill>
              </a:rPr>
              <a:t>We use Python together with:</a:t>
            </a:r>
          </a:p>
          <a:p>
            <a:pPr marL="358775" indent="-358775">
              <a:spcAft>
                <a:spcPts val="600"/>
              </a:spcAft>
            </a:pPr>
            <a:r>
              <a:rPr lang="en-US" sz="1400" dirty="0">
                <a:solidFill>
                  <a:schemeClr val="tx1"/>
                </a:solidFill>
              </a:rPr>
              <a:t>	</a:t>
            </a:r>
            <a:r>
              <a:rPr lang="en-US" sz="1400" dirty="0">
                <a:solidFill>
                  <a:schemeClr val="tx1"/>
                </a:solidFill>
                <a:latin typeface="Courier New" panose="02070309020205020404" pitchFamily="49" charset="0"/>
                <a:cs typeface="Courier New" panose="02070309020205020404" pitchFamily="49" charset="0"/>
              </a:rPr>
              <a:t>import </a:t>
            </a:r>
            <a:r>
              <a:rPr lang="en-US" sz="1400" dirty="0" err="1">
                <a:solidFill>
                  <a:schemeClr val="tx1"/>
                </a:solidFill>
                <a:latin typeface="Courier New" panose="02070309020205020404" pitchFamily="49" charset="0"/>
                <a:cs typeface="Courier New" panose="02070309020205020404" pitchFamily="49" charset="0"/>
              </a:rPr>
              <a:t>numpy</a:t>
            </a:r>
            <a:r>
              <a:rPr lang="en-US" sz="1400" dirty="0">
                <a:solidFill>
                  <a:schemeClr val="tx1"/>
                </a:solidFill>
                <a:latin typeface="Courier New" panose="02070309020205020404" pitchFamily="49" charset="0"/>
                <a:cs typeface="Courier New" panose="02070309020205020404" pitchFamily="49" charset="0"/>
              </a:rPr>
              <a:t> as np</a:t>
            </a:r>
          </a:p>
          <a:p>
            <a:pPr marL="358775" indent="-358775">
              <a:spcAft>
                <a:spcPts val="600"/>
              </a:spcAft>
            </a:pPr>
            <a:r>
              <a:rPr lang="en-US" sz="1400" dirty="0">
                <a:solidFill>
                  <a:schemeClr val="tx1"/>
                </a:solidFill>
                <a:latin typeface="Courier New" panose="02070309020205020404" pitchFamily="49" charset="0"/>
                <a:cs typeface="Courier New" panose="02070309020205020404" pitchFamily="49" charset="0"/>
              </a:rPr>
              <a:t>	import </a:t>
            </a:r>
            <a:r>
              <a:rPr lang="en-US" sz="1400" dirty="0" err="1">
                <a:solidFill>
                  <a:schemeClr val="tx1"/>
                </a:solidFill>
                <a:latin typeface="Courier New" panose="02070309020205020404" pitchFamily="49" charset="0"/>
                <a:cs typeface="Courier New" panose="02070309020205020404" pitchFamily="49" charset="0"/>
              </a:rPr>
              <a:t>matplotlib.pyplot</a:t>
            </a:r>
            <a:r>
              <a:rPr lang="en-US" sz="1400" dirty="0">
                <a:solidFill>
                  <a:schemeClr val="tx1"/>
                </a:solidFill>
                <a:latin typeface="Courier New" panose="02070309020205020404" pitchFamily="49" charset="0"/>
                <a:cs typeface="Courier New" panose="02070309020205020404" pitchFamily="49" charset="0"/>
              </a:rPr>
              <a:t> as </a:t>
            </a:r>
            <a:r>
              <a:rPr lang="en-US" sz="1400" dirty="0" err="1">
                <a:solidFill>
                  <a:schemeClr val="tx1"/>
                </a:solidFill>
                <a:latin typeface="Courier New" panose="02070309020205020404" pitchFamily="49" charset="0"/>
                <a:cs typeface="Courier New" panose="02070309020205020404" pitchFamily="49" charset="0"/>
              </a:rPr>
              <a:t>plt</a:t>
            </a:r>
            <a:endParaRPr lang="en-US" sz="1400" dirty="0">
              <a:solidFill>
                <a:schemeClr val="tx1"/>
              </a:solidFill>
              <a:latin typeface="Courier New" panose="02070309020205020404" pitchFamily="49" charset="0"/>
              <a:cs typeface="Courier New" panose="02070309020205020404" pitchFamily="49" charset="0"/>
            </a:endParaRPr>
          </a:p>
          <a:p>
            <a:pPr>
              <a:spcAft>
                <a:spcPts val="600"/>
              </a:spcAft>
            </a:pPr>
            <a:endParaRPr lang="en-US" sz="1400" b="1" dirty="0">
              <a:solidFill>
                <a:schemeClr val="tx1"/>
              </a:solidFill>
            </a:endParaRPr>
          </a:p>
          <a:p>
            <a:pPr>
              <a:spcAft>
                <a:spcPts val="600"/>
              </a:spcAft>
            </a:pPr>
            <a:r>
              <a:rPr lang="en-US" sz="1400" b="1" dirty="0">
                <a:solidFill>
                  <a:schemeClr val="tx1"/>
                </a:solidFill>
              </a:rPr>
              <a:t>Why Prompt Design Matters? </a:t>
            </a:r>
            <a:r>
              <a:rPr lang="en-US" sz="1400" dirty="0">
                <a:solidFill>
                  <a:schemeClr val="tx1"/>
                </a:solidFill>
              </a:rPr>
              <a:t>When using AI for coding, it is tempting to immediately ask</a:t>
            </a:r>
          </a:p>
          <a:p>
            <a:pPr algn="ctr">
              <a:spcAft>
                <a:spcPts val="600"/>
              </a:spcAft>
            </a:pPr>
            <a:r>
              <a:rPr lang="en-US" sz="1400" dirty="0">
                <a:solidFill>
                  <a:schemeClr val="tx1"/>
                </a:solidFill>
              </a:rPr>
              <a:t> “Write me Python code for this model:”</a:t>
            </a:r>
          </a:p>
          <a:p>
            <a:pPr>
              <a:spcAft>
                <a:spcPts val="600"/>
              </a:spcAft>
            </a:pPr>
            <a:r>
              <a:rPr lang="en-US" sz="1400" dirty="0">
                <a:solidFill>
                  <a:schemeClr val="tx1"/>
                </a:solidFill>
              </a:rPr>
              <a:t>However, in scientific programming this is often a poor strategy. Before asking AI to generate code, you should first think about</a:t>
            </a:r>
          </a:p>
          <a:p>
            <a:pPr marL="182563" indent="-182563">
              <a:spcAft>
                <a:spcPts val="600"/>
              </a:spcAft>
              <a:buFont typeface="Arial" panose="020B0604020202020204" pitchFamily="34" charset="0"/>
              <a:buChar char="•"/>
            </a:pPr>
            <a:r>
              <a:rPr lang="en-US" sz="1400" dirty="0">
                <a:solidFill>
                  <a:schemeClr val="tx1"/>
                </a:solidFill>
              </a:rPr>
              <a:t>What biological states exist? </a:t>
            </a:r>
          </a:p>
          <a:p>
            <a:pPr marL="182563" indent="-182563">
              <a:spcAft>
                <a:spcPts val="600"/>
              </a:spcAft>
              <a:buFont typeface="Arial" panose="020B0604020202020204" pitchFamily="34" charset="0"/>
              <a:buChar char="•"/>
            </a:pPr>
            <a:r>
              <a:rPr lang="en-US" sz="1400" dirty="0">
                <a:solidFill>
                  <a:schemeClr val="tx1"/>
                </a:solidFill>
              </a:rPr>
              <a:t>What are the local update rules?</a:t>
            </a:r>
          </a:p>
          <a:p>
            <a:pPr marL="182563" indent="-182563">
              <a:spcAft>
                <a:spcPts val="600"/>
              </a:spcAft>
              <a:buFont typeface="Arial" panose="020B0604020202020204" pitchFamily="34" charset="0"/>
              <a:buChar char="•"/>
            </a:pPr>
            <a:r>
              <a:rPr lang="en-US" sz="1400" dirty="0">
                <a:solidFill>
                  <a:schemeClr val="tx1"/>
                </a:solidFill>
              </a:rPr>
              <a:t>What should be visualized? </a:t>
            </a:r>
          </a:p>
        </p:txBody>
      </p:sp>
      <p:sp>
        <p:nvSpPr>
          <p:cNvPr id="4" name="Textfeld 3">
            <a:extLst>
              <a:ext uri="{FF2B5EF4-FFF2-40B4-BE49-F238E27FC236}">
                <a16:creationId xmlns:a16="http://schemas.microsoft.com/office/drawing/2014/main" id="{259B5141-6747-AFA6-7661-DC7C729CBDDA}"/>
              </a:ext>
            </a:extLst>
          </p:cNvPr>
          <p:cNvSpPr txBox="1"/>
          <p:nvPr/>
        </p:nvSpPr>
        <p:spPr>
          <a:xfrm>
            <a:off x="5076056" y="3867894"/>
            <a:ext cx="3816424" cy="815608"/>
          </a:xfrm>
          <a:prstGeom prst="rect">
            <a:avLst/>
          </a:prstGeom>
          <a:noFill/>
        </p:spPr>
        <p:txBody>
          <a:bodyPr wrap="square" rtlCol="0">
            <a:spAutoFit/>
          </a:bodyPr>
          <a:lstStyle/>
          <a:p>
            <a:pPr marL="182563" indent="-182563">
              <a:spcAft>
                <a:spcPts val="600"/>
              </a:spcAft>
              <a:buFont typeface="Arial" panose="020B0604020202020204" pitchFamily="34" charset="0"/>
              <a:buChar char="•"/>
            </a:pPr>
            <a:r>
              <a:rPr lang="en-US" sz="1400" dirty="0"/>
              <a:t>Which parts of the program should be easy to replace later? </a:t>
            </a:r>
          </a:p>
          <a:p>
            <a:pPr marL="182563" indent="-182563">
              <a:spcAft>
                <a:spcPts val="600"/>
              </a:spcAft>
              <a:buFont typeface="Arial" panose="020B0604020202020204" pitchFamily="34" charset="0"/>
              <a:buChar char="•"/>
            </a:pPr>
            <a:r>
              <a:rPr lang="en-US" sz="1400" dirty="0"/>
              <a:t>Which files or functions are needed</a:t>
            </a:r>
            <a:endParaRPr lang="de-DE" sz="1400" dirty="0"/>
          </a:p>
        </p:txBody>
      </p:sp>
    </p:spTree>
    <p:extLst>
      <p:ext uri="{BB962C8B-B14F-4D97-AF65-F5344CB8AC3E}">
        <p14:creationId xmlns:p14="http://schemas.microsoft.com/office/powerpoint/2010/main" val="792552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AC980-E792-D1C7-CACA-C8818FF544E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6473D48-013E-C753-45EB-DD0616CA9D04}"/>
              </a:ext>
            </a:extLst>
          </p:cNvPr>
          <p:cNvSpPr>
            <a:spLocks noGrp="1"/>
          </p:cNvSpPr>
          <p:nvPr>
            <p:ph type="title"/>
          </p:nvPr>
        </p:nvSpPr>
        <p:spPr/>
        <p:txBody>
          <a:bodyPr/>
          <a:lstStyle/>
          <a:p>
            <a:r>
              <a:rPr lang="en-US" dirty="0"/>
              <a:t>For all three models, a modular structure is recommended</a:t>
            </a:r>
            <a:endParaRPr lang="en-US" noProof="0" dirty="0"/>
          </a:p>
        </p:txBody>
      </p:sp>
      <p:sp>
        <p:nvSpPr>
          <p:cNvPr id="3" name="Rechteck 2">
            <a:extLst>
              <a:ext uri="{FF2B5EF4-FFF2-40B4-BE49-F238E27FC236}">
                <a16:creationId xmlns:a16="http://schemas.microsoft.com/office/drawing/2014/main" id="{28A4F78C-E8A6-A894-F54B-36745F2E01DC}"/>
              </a:ext>
            </a:extLst>
          </p:cNvPr>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dirty="0">
                <a:solidFill>
                  <a:schemeClr val="tx1"/>
                </a:solidFill>
              </a:rPr>
              <a:t>Recommended Program Architecture:</a:t>
            </a:r>
          </a:p>
          <a:p>
            <a:pPr>
              <a:spcAft>
                <a:spcPts val="600"/>
              </a:spcAft>
            </a:pPr>
            <a:r>
              <a:rPr lang="en-US" sz="1400" dirty="0">
                <a:solidFill>
                  <a:schemeClr val="tx1"/>
                </a:solidFill>
              </a:rPr>
              <a:t>For all three models, use a modular structure such as:</a:t>
            </a:r>
          </a:p>
          <a:p>
            <a:pPr marL="182563" indent="-182563">
              <a:spcAft>
                <a:spcPts val="600"/>
              </a:spcAft>
              <a:buFont typeface="Arial" panose="020B0604020202020204" pitchFamily="34" charset="0"/>
              <a:buChar char="•"/>
            </a:pPr>
            <a:r>
              <a:rPr lang="en-US" sz="1400" dirty="0">
                <a:solidFill>
                  <a:schemeClr val="tx1"/>
                </a:solidFill>
                <a:latin typeface="Courier New" panose="02070309020205020404" pitchFamily="49" charset="0"/>
                <a:cs typeface="Courier New" panose="02070309020205020404" pitchFamily="49" charset="0"/>
              </a:rPr>
              <a:t>main.py</a:t>
            </a:r>
            <a:r>
              <a:rPr lang="en-US" sz="1400" dirty="0">
                <a:solidFill>
                  <a:schemeClr val="tx1"/>
                </a:solidFill>
                <a:cs typeface="Courier New" panose="02070309020205020404" pitchFamily="49" charset="0"/>
              </a:rPr>
              <a:t> </a:t>
            </a:r>
            <a:r>
              <a:rPr lang="en-US" sz="1400" dirty="0">
                <a:solidFill>
                  <a:schemeClr val="tx1"/>
                </a:solidFill>
              </a:rPr>
              <a:t>– runs the simulation</a:t>
            </a:r>
          </a:p>
          <a:p>
            <a:pPr marL="182563" indent="-182563">
              <a:spcAft>
                <a:spcPts val="600"/>
              </a:spcAft>
              <a:buFont typeface="Arial" panose="020B0604020202020204" pitchFamily="34" charset="0"/>
              <a:buChar char="•"/>
            </a:pPr>
            <a:r>
              <a:rPr lang="en-US" sz="1400" dirty="0">
                <a:solidFill>
                  <a:schemeClr val="tx1"/>
                </a:solidFill>
                <a:latin typeface="Courier New" panose="02070309020205020404" pitchFamily="49" charset="0"/>
                <a:cs typeface="Courier New" panose="02070309020205020404" pitchFamily="49" charset="0"/>
              </a:rPr>
              <a:t>initialization.py</a:t>
            </a:r>
            <a:r>
              <a:rPr lang="en-US" sz="1400" dirty="0">
                <a:solidFill>
                  <a:schemeClr val="tx1"/>
                </a:solidFill>
                <a:cs typeface="Courier New" panose="02070309020205020404" pitchFamily="49" charset="0"/>
              </a:rPr>
              <a:t> </a:t>
            </a:r>
            <a:r>
              <a:rPr lang="en-US" sz="1400" dirty="0">
                <a:solidFill>
                  <a:schemeClr val="tx1"/>
                </a:solidFill>
              </a:rPr>
              <a:t>– creates the initial grid –</a:t>
            </a:r>
          </a:p>
          <a:p>
            <a:pPr marL="182563" indent="-182563">
              <a:spcAft>
                <a:spcPts val="600"/>
              </a:spcAft>
              <a:buFont typeface="Arial" panose="020B0604020202020204" pitchFamily="34" charset="0"/>
              <a:buChar char="•"/>
            </a:pPr>
            <a:r>
              <a:rPr lang="en-US" sz="1400" dirty="0">
                <a:solidFill>
                  <a:schemeClr val="tx1"/>
                </a:solidFill>
                <a:latin typeface="Courier New" panose="02070309020205020404" pitchFamily="49" charset="0"/>
                <a:cs typeface="Courier New" panose="02070309020205020404" pitchFamily="49" charset="0"/>
              </a:rPr>
              <a:t>dynamics.py</a:t>
            </a:r>
            <a:r>
              <a:rPr lang="en-US" sz="1400" dirty="0">
                <a:solidFill>
                  <a:schemeClr val="tx1"/>
                </a:solidFill>
                <a:cs typeface="Courier New" panose="02070309020205020404" pitchFamily="49" charset="0"/>
              </a:rPr>
              <a:t> </a:t>
            </a:r>
            <a:r>
              <a:rPr lang="en-US" sz="1400" dirty="0">
                <a:solidFill>
                  <a:schemeClr val="tx1"/>
                </a:solidFill>
              </a:rPr>
              <a:t>– contains the update rules</a:t>
            </a:r>
          </a:p>
          <a:p>
            <a:pPr marL="182563" indent="-182563">
              <a:spcAft>
                <a:spcPts val="600"/>
              </a:spcAft>
              <a:buFont typeface="Arial" panose="020B0604020202020204" pitchFamily="34" charset="0"/>
              <a:buChar char="•"/>
            </a:pPr>
            <a:r>
              <a:rPr lang="en-US" sz="1400" dirty="0">
                <a:solidFill>
                  <a:schemeClr val="tx1"/>
                </a:solidFill>
                <a:latin typeface="Courier New" panose="02070309020205020404" pitchFamily="49" charset="0"/>
                <a:cs typeface="Courier New" panose="02070309020205020404" pitchFamily="49" charset="0"/>
              </a:rPr>
              <a:t>visualization.py</a:t>
            </a:r>
            <a:r>
              <a:rPr lang="en-US" sz="1400" dirty="0">
                <a:solidFill>
                  <a:schemeClr val="tx1"/>
                </a:solidFill>
                <a:cs typeface="Courier New" panose="02070309020205020404" pitchFamily="49" charset="0"/>
              </a:rPr>
              <a:t> </a:t>
            </a:r>
            <a:r>
              <a:rPr lang="en-US" sz="1400" dirty="0">
                <a:solidFill>
                  <a:schemeClr val="tx1"/>
                </a:solidFill>
              </a:rPr>
              <a:t>– plotting and animation</a:t>
            </a:r>
          </a:p>
          <a:p>
            <a:pPr marL="182563" indent="-182563">
              <a:spcAft>
                <a:spcPts val="600"/>
              </a:spcAft>
              <a:buFont typeface="Arial" panose="020B0604020202020204" pitchFamily="34" charset="0"/>
              <a:buChar char="•"/>
            </a:pPr>
            <a:r>
              <a:rPr lang="en-US" sz="1400" dirty="0">
                <a:solidFill>
                  <a:schemeClr val="tx1"/>
                </a:solidFill>
                <a:latin typeface="Courier New" panose="02070309020205020404" pitchFamily="49" charset="0"/>
                <a:cs typeface="Courier New" panose="02070309020205020404" pitchFamily="49" charset="0"/>
              </a:rPr>
              <a:t>parameters.py</a:t>
            </a:r>
            <a:r>
              <a:rPr lang="en-US" sz="1400" dirty="0">
                <a:solidFill>
                  <a:schemeClr val="tx1"/>
                </a:solidFill>
                <a:cs typeface="Courier New" panose="02070309020205020404" pitchFamily="49" charset="0"/>
              </a:rPr>
              <a:t> </a:t>
            </a:r>
            <a:r>
              <a:rPr lang="en-US" sz="1400" dirty="0">
                <a:solidFill>
                  <a:schemeClr val="tx1"/>
                </a:solidFill>
              </a:rPr>
              <a:t>– parameters such as </a:t>
            </a:r>
            <a:r>
              <a:rPr lang="en-US" sz="1400" i="1" dirty="0">
                <a:solidFill>
                  <a:schemeClr val="tx1"/>
                </a:solidFill>
              </a:rPr>
              <a:t>N</a:t>
            </a:r>
            <a:r>
              <a:rPr lang="en-US" sz="1400" dirty="0">
                <a:solidFill>
                  <a:schemeClr val="tx1"/>
                </a:solidFill>
              </a:rPr>
              <a:t>, </a:t>
            </a:r>
            <a:r>
              <a:rPr lang="en-US" sz="1400" i="1" dirty="0">
                <a:solidFill>
                  <a:schemeClr val="tx1"/>
                </a:solidFill>
              </a:rPr>
              <a:t>T</a:t>
            </a:r>
            <a:r>
              <a:rPr lang="en-US" sz="1400" dirty="0">
                <a:solidFill>
                  <a:schemeClr val="tx1"/>
                </a:solidFill>
              </a:rPr>
              <a:t>, probabilities, …</a:t>
            </a:r>
          </a:p>
          <a:p>
            <a:pPr>
              <a:spcAft>
                <a:spcPts val="600"/>
              </a:spcAft>
            </a:pPr>
            <a:endParaRPr lang="en-US" sz="1400" b="1" dirty="0">
              <a:solidFill>
                <a:schemeClr val="tx1"/>
              </a:solidFill>
            </a:endParaRPr>
          </a:p>
          <a:p>
            <a:pPr>
              <a:spcAft>
                <a:spcPts val="600"/>
              </a:spcAft>
            </a:pPr>
            <a:r>
              <a:rPr lang="en-US" sz="1400" dirty="0">
                <a:solidFill>
                  <a:schemeClr val="tx1"/>
                </a:solidFill>
              </a:rPr>
              <a:t>Before writing any prompt, sketch the architecture of your program on paper. For each file, write down:</a:t>
            </a:r>
          </a:p>
          <a:p>
            <a:pPr marL="182563" indent="-182563">
              <a:spcAft>
                <a:spcPts val="600"/>
              </a:spcAft>
              <a:buFont typeface="Arial" panose="020B0604020202020204" pitchFamily="34" charset="0"/>
              <a:buChar char="•"/>
            </a:pPr>
            <a:r>
              <a:rPr lang="en-US" sz="1400" dirty="0">
                <a:solidFill>
                  <a:schemeClr val="tx1"/>
                </a:solidFill>
              </a:rPr>
              <a:t>its purpose,</a:t>
            </a:r>
          </a:p>
          <a:p>
            <a:pPr marL="182563" indent="-182563">
              <a:spcAft>
                <a:spcPts val="600"/>
              </a:spcAft>
              <a:buFont typeface="Arial" panose="020B0604020202020204" pitchFamily="34" charset="0"/>
              <a:buChar char="•"/>
            </a:pPr>
            <a:r>
              <a:rPr lang="en-US" sz="1400" dirty="0">
                <a:solidFill>
                  <a:schemeClr val="tx1"/>
                </a:solidFill>
              </a:rPr>
              <a:t>the functions it should contain, as well as</a:t>
            </a:r>
          </a:p>
          <a:p>
            <a:pPr marL="182563" indent="-182563">
              <a:spcAft>
                <a:spcPts val="600"/>
              </a:spcAft>
              <a:buFont typeface="Arial" panose="020B0604020202020204" pitchFamily="34" charset="0"/>
              <a:buChar char="•"/>
            </a:pPr>
            <a:r>
              <a:rPr lang="en-US" sz="1400" dirty="0">
                <a:solidFill>
                  <a:schemeClr val="tx1"/>
                </a:solidFill>
              </a:rPr>
              <a:t>which inputs and outputs these functions should have.</a:t>
            </a:r>
          </a:p>
          <a:p>
            <a:pPr>
              <a:spcAft>
                <a:spcPts val="600"/>
              </a:spcAft>
            </a:pPr>
            <a:endParaRPr lang="en-US" sz="1400" dirty="0">
              <a:solidFill>
                <a:schemeClr val="tx1"/>
              </a:solidFill>
            </a:endParaRPr>
          </a:p>
        </p:txBody>
      </p:sp>
    </p:spTree>
    <p:extLst>
      <p:ext uri="{BB962C8B-B14F-4D97-AF65-F5344CB8AC3E}">
        <p14:creationId xmlns:p14="http://schemas.microsoft.com/office/powerpoint/2010/main" val="2162252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0B694-842A-0BE8-0B63-5EA6BD10E6F8}"/>
            </a:ext>
          </a:extLst>
        </p:cNvPr>
        <p:cNvGrpSpPr/>
        <p:nvPr/>
      </p:nvGrpSpPr>
      <p:grpSpPr>
        <a:xfrm>
          <a:off x="0" y="0"/>
          <a:ext cx="0" cy="0"/>
          <a:chOff x="0" y="0"/>
          <a:chExt cx="0" cy="0"/>
        </a:xfrm>
      </p:grpSpPr>
      <p:sp>
        <p:nvSpPr>
          <p:cNvPr id="2" name="Abgerundetes Rechteck 1">
            <a:extLst>
              <a:ext uri="{FF2B5EF4-FFF2-40B4-BE49-F238E27FC236}">
                <a16:creationId xmlns:a16="http://schemas.microsoft.com/office/drawing/2014/main" id="{445A94CC-115A-727F-3320-7B92B8EBE9CD}"/>
              </a:ext>
            </a:extLst>
          </p:cNvPr>
          <p:cNvSpPr/>
          <p:nvPr/>
        </p:nvSpPr>
        <p:spPr>
          <a:xfrm>
            <a:off x="971600" y="2118600"/>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a:extLst>
              <a:ext uri="{FF2B5EF4-FFF2-40B4-BE49-F238E27FC236}">
                <a16:creationId xmlns:a16="http://schemas.microsoft.com/office/drawing/2014/main" id="{98F1FDA3-1AB1-30C0-6812-48D5FF482613}"/>
              </a:ext>
            </a:extLst>
          </p:cNvPr>
          <p:cNvSpPr txBox="1"/>
          <p:nvPr/>
        </p:nvSpPr>
        <p:spPr>
          <a:xfrm>
            <a:off x="971600" y="1131590"/>
            <a:ext cx="2544927" cy="1354217"/>
          </a:xfrm>
          <a:prstGeom prst="rect">
            <a:avLst/>
          </a:prstGeom>
          <a:noFill/>
        </p:spPr>
        <p:txBody>
          <a:bodyPr wrap="none" rtlCol="0">
            <a:spAutoFit/>
          </a:bodyPr>
          <a:lstStyle/>
          <a:p>
            <a:r>
              <a:rPr lang="en-US" b="1" noProof="0" dirty="0"/>
              <a:t>Topics</a:t>
            </a:r>
          </a:p>
          <a:p>
            <a:endParaRPr lang="en-US" sz="1000" noProof="0" dirty="0"/>
          </a:p>
          <a:p>
            <a:pPr lvl="1"/>
            <a:r>
              <a:rPr lang="en-US" noProof="0" dirty="0"/>
              <a:t>Overview</a:t>
            </a:r>
          </a:p>
          <a:p>
            <a:pPr lvl="1"/>
            <a:endParaRPr lang="en-US" noProof="0" dirty="0"/>
          </a:p>
          <a:p>
            <a:pPr lvl="1"/>
            <a:r>
              <a:rPr lang="en-US" b="1" noProof="0" dirty="0"/>
              <a:t>Structure of the Lab</a:t>
            </a:r>
          </a:p>
        </p:txBody>
      </p:sp>
      <p:sp>
        <p:nvSpPr>
          <p:cNvPr id="4" name="Textfeld 3">
            <a:extLst>
              <a:ext uri="{FF2B5EF4-FFF2-40B4-BE49-F238E27FC236}">
                <a16:creationId xmlns:a16="http://schemas.microsoft.com/office/drawing/2014/main" id="{00514F62-EDB3-3EB5-2E76-B026E28AF43A}"/>
              </a:ext>
            </a:extLst>
          </p:cNvPr>
          <p:cNvSpPr txBox="1"/>
          <p:nvPr/>
        </p:nvSpPr>
        <p:spPr>
          <a:xfrm>
            <a:off x="6012160" y="3188751"/>
            <a:ext cx="2880320" cy="1831271"/>
          </a:xfrm>
          <a:prstGeom prst="rect">
            <a:avLst/>
          </a:prstGeom>
          <a:solidFill>
            <a:schemeClr val="tx2">
              <a:lumMod val="20000"/>
              <a:lumOff val="80000"/>
            </a:schemeClr>
          </a:solidFill>
        </p:spPr>
        <p:txBody>
          <a:bodyPr wrap="square" rtlCol="0">
            <a:spAutoFit/>
          </a:bodyPr>
          <a:lstStyle/>
          <a:p>
            <a:pPr>
              <a:spcAft>
                <a:spcPts val="600"/>
              </a:spcAft>
            </a:pPr>
            <a:r>
              <a:rPr lang="en-US" sz="1400" b="1" dirty="0"/>
              <a:t>High-level structure:</a:t>
            </a:r>
          </a:p>
          <a:p>
            <a:pPr marL="182563" indent="-182563">
              <a:spcAft>
                <a:spcPts val="600"/>
              </a:spcAft>
              <a:buFont typeface="Arial" panose="020B0604020202020204" pitchFamily="34" charset="0"/>
              <a:buChar char="•"/>
            </a:pPr>
            <a:r>
              <a:rPr lang="en-US" sz="1400" b="1" dirty="0"/>
              <a:t>Session 1:</a:t>
            </a:r>
            <a:r>
              <a:rPr lang="en-US" sz="1400" dirty="0"/>
              <a:t> building foundations (architecture &amp; first AI interaction) </a:t>
            </a:r>
          </a:p>
          <a:p>
            <a:pPr marL="182563" indent="-182563">
              <a:spcAft>
                <a:spcPts val="600"/>
              </a:spcAft>
              <a:buFont typeface="Arial" panose="020B0604020202020204" pitchFamily="34" charset="0"/>
              <a:buChar char="•"/>
            </a:pPr>
            <a:r>
              <a:rPr lang="en-US" sz="1400" b="1" dirty="0"/>
              <a:t>Session 2:</a:t>
            </a:r>
            <a:r>
              <a:rPr lang="en-US" sz="1400" dirty="0"/>
              <a:t> deepening (second model, comparison &amp; reflection) </a:t>
            </a:r>
          </a:p>
          <a:p>
            <a:pPr marL="182563" indent="-182563">
              <a:spcAft>
                <a:spcPts val="600"/>
              </a:spcAft>
              <a:buFont typeface="Arial" panose="020B0604020202020204" pitchFamily="34" charset="0"/>
              <a:buChar char="•"/>
            </a:pPr>
            <a:r>
              <a:rPr lang="en-US" sz="1400" b="1" dirty="0"/>
              <a:t>Final 30 min:</a:t>
            </a:r>
            <a:r>
              <a:rPr lang="en-US" sz="1400" dirty="0"/>
              <a:t> presentations across groups</a:t>
            </a:r>
          </a:p>
        </p:txBody>
      </p:sp>
    </p:spTree>
    <p:extLst>
      <p:ext uri="{BB962C8B-B14F-4D97-AF65-F5344CB8AC3E}">
        <p14:creationId xmlns:p14="http://schemas.microsoft.com/office/powerpoint/2010/main" val="366668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E5437C-6B5D-2D21-F018-731009DE3CE8}"/>
              </a:ext>
            </a:extLst>
          </p:cNvPr>
          <p:cNvSpPr>
            <a:spLocks noGrp="1"/>
          </p:cNvSpPr>
          <p:nvPr>
            <p:ph type="title"/>
          </p:nvPr>
        </p:nvSpPr>
        <p:spPr/>
        <p:txBody>
          <a:bodyPr/>
          <a:lstStyle/>
          <a:p>
            <a:r>
              <a:rPr lang="en-US" noProof="0" dirty="0"/>
              <a:t>Roadmap</a:t>
            </a:r>
            <a:br>
              <a:rPr lang="en-US" noProof="0" dirty="0"/>
            </a:br>
            <a:r>
              <a:rPr lang="en-US" noProof="0" dirty="0"/>
              <a:t>A) Session 1: </a:t>
            </a:r>
            <a:r>
              <a:rPr lang="en-US" dirty="0"/>
              <a:t>building foundations – 1/ 3</a:t>
            </a:r>
            <a:endParaRPr lang="en-US" noProof="0" dirty="0"/>
          </a:p>
        </p:txBody>
      </p:sp>
      <p:graphicFrame>
        <p:nvGraphicFramePr>
          <p:cNvPr id="3" name="Tabelle 2">
            <a:extLst>
              <a:ext uri="{FF2B5EF4-FFF2-40B4-BE49-F238E27FC236}">
                <a16:creationId xmlns:a16="http://schemas.microsoft.com/office/drawing/2014/main" id="{FD29BF22-0A73-6FDF-66CC-1B0D99F31682}"/>
              </a:ext>
            </a:extLst>
          </p:cNvPr>
          <p:cNvGraphicFramePr>
            <a:graphicFrameLocks noGrp="1"/>
          </p:cNvGraphicFramePr>
          <p:nvPr>
            <p:extLst>
              <p:ext uri="{D42A27DB-BD31-4B8C-83A1-F6EECF244321}">
                <p14:modId xmlns:p14="http://schemas.microsoft.com/office/powerpoint/2010/main" val="1977369589"/>
              </p:ext>
            </p:extLst>
          </p:nvPr>
        </p:nvGraphicFramePr>
        <p:xfrm>
          <a:off x="251520" y="1491630"/>
          <a:ext cx="8640960" cy="3230880"/>
        </p:xfrm>
        <a:graphic>
          <a:graphicData uri="http://schemas.openxmlformats.org/drawingml/2006/table">
            <a:tbl>
              <a:tblPr firstRow="1" bandRow="1">
                <a:tableStyleId>{5C22544A-7EE6-4342-B048-85BDC9FD1C3A}</a:tableStyleId>
              </a:tblPr>
              <a:tblGrid>
                <a:gridCol w="1440160">
                  <a:extLst>
                    <a:ext uri="{9D8B030D-6E8A-4147-A177-3AD203B41FA5}">
                      <a16:colId xmlns:a16="http://schemas.microsoft.com/office/drawing/2014/main" val="836268514"/>
                    </a:ext>
                  </a:extLst>
                </a:gridCol>
                <a:gridCol w="7200800">
                  <a:extLst>
                    <a:ext uri="{9D8B030D-6E8A-4147-A177-3AD203B41FA5}">
                      <a16:colId xmlns:a16="http://schemas.microsoft.com/office/drawing/2014/main" val="139590432"/>
                    </a:ext>
                  </a:extLst>
                </a:gridCol>
              </a:tblGrid>
              <a:tr h="0">
                <a:tc>
                  <a:txBody>
                    <a:bodyPr/>
                    <a:lstStyle/>
                    <a:p>
                      <a:pPr algn="ctr"/>
                      <a:r>
                        <a:rPr lang="de-DE" sz="1400" dirty="0"/>
                        <a:t>Time</a:t>
                      </a:r>
                    </a:p>
                  </a:txBody>
                  <a:tcPr/>
                </a:tc>
                <a:tc>
                  <a:txBody>
                    <a:bodyPr/>
                    <a:lstStyle/>
                    <a:p>
                      <a:r>
                        <a:rPr lang="de-DE" sz="1400" dirty="0"/>
                        <a:t>Topic</a:t>
                      </a:r>
                    </a:p>
                  </a:txBody>
                  <a:tcPr/>
                </a:tc>
                <a:extLst>
                  <a:ext uri="{0D108BD9-81ED-4DB2-BD59-A6C34878D82A}">
                    <a16:rowId xmlns:a16="http://schemas.microsoft.com/office/drawing/2014/main" val="1523280275"/>
                  </a:ext>
                </a:extLst>
              </a:tr>
              <a:tr h="0">
                <a:tc>
                  <a:txBody>
                    <a:bodyPr/>
                    <a:lstStyle/>
                    <a:p>
                      <a:pPr algn="ctr">
                        <a:spcAft>
                          <a:spcPts val="600"/>
                        </a:spcAft>
                      </a:pPr>
                      <a:r>
                        <a:rPr lang="de-DE" sz="1400" dirty="0"/>
                        <a:t>0 – 15 min</a:t>
                      </a:r>
                    </a:p>
                  </a:txBody>
                  <a:tcPr/>
                </a:tc>
                <a:tc>
                  <a:txBody>
                    <a:bodyPr/>
                    <a:lstStyle/>
                    <a:p>
                      <a:pPr>
                        <a:spcAft>
                          <a:spcPts val="600"/>
                        </a:spcAft>
                      </a:pPr>
                      <a:r>
                        <a:rPr lang="de-DE" sz="1400" b="1" dirty="0" err="1"/>
                        <a:t>Introduction</a:t>
                      </a:r>
                      <a:r>
                        <a:rPr lang="de-DE" sz="1400" b="1" dirty="0"/>
                        <a:t>:</a:t>
                      </a:r>
                      <a:r>
                        <a:rPr lang="de-DE" sz="1400" dirty="0"/>
                        <a:t> </a:t>
                      </a:r>
                      <a:r>
                        <a:rPr lang="de-DE" sz="1400" dirty="0" err="1"/>
                        <a:t>Overview</a:t>
                      </a:r>
                      <a:r>
                        <a:rPr lang="de-DE" sz="1400" dirty="0"/>
                        <a:t> &amp; Lab </a:t>
                      </a:r>
                      <a:r>
                        <a:rPr lang="de-DE" sz="1400" dirty="0" err="1"/>
                        <a:t>Structure</a:t>
                      </a:r>
                      <a:endParaRPr lang="de-DE" sz="1400" dirty="0"/>
                    </a:p>
                    <a:p>
                      <a:pPr>
                        <a:spcAft>
                          <a:spcPts val="600"/>
                        </a:spcAft>
                      </a:pPr>
                      <a:r>
                        <a:rPr lang="en-US" sz="1400" dirty="0"/>
                        <a:t>Key messages</a:t>
                      </a:r>
                    </a:p>
                    <a:p>
                      <a:pPr marL="182563" indent="-182563">
                        <a:spcAft>
                          <a:spcPts val="600"/>
                        </a:spcAft>
                        <a:buFont typeface="Arial" panose="020B0604020202020204" pitchFamily="34" charset="0"/>
                        <a:buChar char="•"/>
                      </a:pPr>
                      <a:r>
                        <a:rPr lang="en-US" sz="1400" dirty="0"/>
                        <a:t>“We are not learning Python. We are learning how to structure models.”</a:t>
                      </a:r>
                    </a:p>
                    <a:p>
                      <a:pPr marL="182563" indent="-182563">
                        <a:spcAft>
                          <a:spcPts val="600"/>
                        </a:spcAft>
                        <a:buFont typeface="Arial" panose="020B0604020202020204" pitchFamily="34" charset="0"/>
                        <a:buChar char="•"/>
                      </a:pPr>
                      <a:r>
                        <a:rPr lang="en-US" sz="1400" dirty="0"/>
                        <a:t>“AI is a coding assistant, not a scientist.”</a:t>
                      </a:r>
                    </a:p>
                    <a:p>
                      <a:pPr marL="182563" indent="-182563">
                        <a:spcAft>
                          <a:spcPts val="600"/>
                        </a:spcAft>
                        <a:buFont typeface="Arial" panose="020B0604020202020204" pitchFamily="34" charset="0"/>
                        <a:buChar char="•"/>
                      </a:pPr>
                      <a:r>
                        <a:rPr lang="en-US" sz="1400" dirty="0"/>
                        <a:t>“Good prompts = clear thinking.”</a:t>
                      </a:r>
                    </a:p>
                    <a:p>
                      <a:pPr marL="0" indent="0">
                        <a:spcAft>
                          <a:spcPts val="600"/>
                        </a:spcAft>
                        <a:buFont typeface="Arial" panose="020B0604020202020204" pitchFamily="34" charset="0"/>
                        <a:buNone/>
                      </a:pPr>
                      <a:r>
                        <a:rPr lang="en-US" sz="1400" dirty="0"/>
                        <a:t>You have seen:</a:t>
                      </a:r>
                    </a:p>
                    <a:p>
                      <a:pPr marL="182563" indent="-182563">
                        <a:spcAft>
                          <a:spcPts val="600"/>
                        </a:spcAft>
                        <a:buFont typeface="Arial" panose="020B0604020202020204" pitchFamily="34" charset="0"/>
                        <a:buChar char="•"/>
                      </a:pPr>
                      <a:r>
                        <a:rPr lang="en-US" sz="1400" dirty="0"/>
                        <a:t>1 weak vs 1 strong prompt (very helpful anchor)</a:t>
                      </a:r>
                    </a:p>
                    <a:p>
                      <a:pPr marL="182563" indent="-182563">
                        <a:spcAft>
                          <a:spcPts val="600"/>
                        </a:spcAft>
                        <a:buFont typeface="Arial" panose="020B0604020202020204" pitchFamily="34" charset="0"/>
                        <a:buChar char="•"/>
                      </a:pPr>
                      <a:r>
                        <a:rPr lang="en-US" sz="1400" dirty="0"/>
                        <a:t>modular structure (just conceptually)</a:t>
                      </a:r>
                      <a:endParaRPr lang="de-DE" sz="1400" dirty="0"/>
                    </a:p>
                  </a:txBody>
                  <a:tcPr/>
                </a:tc>
                <a:extLst>
                  <a:ext uri="{0D108BD9-81ED-4DB2-BD59-A6C34878D82A}">
                    <a16:rowId xmlns:a16="http://schemas.microsoft.com/office/drawing/2014/main" val="813314566"/>
                  </a:ext>
                </a:extLst>
              </a:tr>
              <a:tr h="0">
                <a:tc>
                  <a:txBody>
                    <a:bodyPr/>
                    <a:lstStyle/>
                    <a:p>
                      <a:pPr algn="ctr">
                        <a:spcAft>
                          <a:spcPts val="600"/>
                        </a:spcAft>
                      </a:pPr>
                      <a:r>
                        <a:rPr lang="de-DE" sz="1400" dirty="0"/>
                        <a:t>15 – 25 min</a:t>
                      </a:r>
                    </a:p>
                  </a:txBody>
                  <a:tcPr/>
                </a:tc>
                <a:tc>
                  <a:txBody>
                    <a:bodyPr/>
                    <a:lstStyle/>
                    <a:p>
                      <a:pPr>
                        <a:spcAft>
                          <a:spcPts val="600"/>
                        </a:spcAft>
                      </a:pPr>
                      <a:r>
                        <a:rPr lang="de-DE" sz="1400" b="1" dirty="0"/>
                        <a:t>Group Formation &amp; Task </a:t>
                      </a:r>
                      <a:r>
                        <a:rPr lang="de-DE" sz="1400" b="1" dirty="0" err="1"/>
                        <a:t>Assignment</a:t>
                      </a:r>
                      <a:endParaRPr lang="de-DE" sz="1400" b="1" dirty="0"/>
                    </a:p>
                    <a:p>
                      <a:pPr marL="182563" indent="-182563">
                        <a:spcAft>
                          <a:spcPts val="600"/>
                        </a:spcAft>
                        <a:buFont typeface="Arial" panose="020B0604020202020204" pitchFamily="34" charset="0"/>
                        <a:buChar char="•"/>
                      </a:pPr>
                      <a:r>
                        <a:rPr lang="de-DE" sz="1400" dirty="0"/>
                        <a:t>Different </a:t>
                      </a:r>
                      <a:r>
                        <a:rPr lang="de-DE" sz="1400" dirty="0" err="1"/>
                        <a:t>task</a:t>
                      </a:r>
                      <a:r>
                        <a:rPr lang="de-DE" sz="1400" dirty="0"/>
                        <a:t> per </a:t>
                      </a:r>
                      <a:r>
                        <a:rPr lang="de-DE" sz="1400" dirty="0" err="1"/>
                        <a:t>each</a:t>
                      </a:r>
                      <a:r>
                        <a:rPr lang="de-DE" sz="1400" dirty="0"/>
                        <a:t> </a:t>
                      </a:r>
                      <a:r>
                        <a:rPr lang="de-DE" sz="1400" dirty="0" err="1"/>
                        <a:t>group</a:t>
                      </a:r>
                      <a:r>
                        <a:rPr lang="de-DE" sz="1400" dirty="0"/>
                        <a:t> such </a:t>
                      </a:r>
                      <a:r>
                        <a:rPr lang="de-DE" sz="1400" dirty="0" err="1"/>
                        <a:t>that</a:t>
                      </a:r>
                      <a:r>
                        <a:rPr lang="de-DE" sz="1400" dirty="0"/>
                        <a:t> </a:t>
                      </a:r>
                      <a:r>
                        <a:rPr lang="de-DE" sz="1400" dirty="0" err="1"/>
                        <a:t>there</a:t>
                      </a:r>
                      <a:r>
                        <a:rPr lang="de-DE" sz="1400" dirty="0"/>
                        <a:t> </a:t>
                      </a:r>
                      <a:r>
                        <a:rPr lang="de-DE" sz="1400" dirty="0" err="1"/>
                        <a:t>is</a:t>
                      </a:r>
                      <a:r>
                        <a:rPr lang="de-DE" sz="1400" dirty="0"/>
                        <a:t> </a:t>
                      </a:r>
                      <a:r>
                        <a:rPr lang="en-US" sz="1400" dirty="0"/>
                        <a:t>natural diversity for presentations later</a:t>
                      </a:r>
                      <a:endParaRPr lang="de-DE" sz="1400" dirty="0"/>
                    </a:p>
                  </a:txBody>
                  <a:tcPr/>
                </a:tc>
                <a:extLst>
                  <a:ext uri="{0D108BD9-81ED-4DB2-BD59-A6C34878D82A}">
                    <a16:rowId xmlns:a16="http://schemas.microsoft.com/office/drawing/2014/main" val="1558157276"/>
                  </a:ext>
                </a:extLst>
              </a:tr>
            </a:tbl>
          </a:graphicData>
        </a:graphic>
      </p:graphicFrame>
      <p:sp>
        <p:nvSpPr>
          <p:cNvPr id="4" name="Rechteck 3">
            <a:extLst>
              <a:ext uri="{FF2B5EF4-FFF2-40B4-BE49-F238E27FC236}">
                <a16:creationId xmlns:a16="http://schemas.microsoft.com/office/drawing/2014/main" id="{B78E1D9E-4C7B-7749-ADD9-8C81A9A944FD}"/>
              </a:ext>
            </a:extLst>
          </p:cNvPr>
          <p:cNvSpPr/>
          <p:nvPr/>
        </p:nvSpPr>
        <p:spPr>
          <a:xfrm>
            <a:off x="251520" y="1131590"/>
            <a:ext cx="8640960" cy="288032"/>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Session 1: building foundations (architecture &amp; first AI interaction)</a:t>
            </a:r>
            <a:endParaRPr lang="de-DE"/>
          </a:p>
        </p:txBody>
      </p:sp>
    </p:spTree>
    <p:extLst>
      <p:ext uri="{BB962C8B-B14F-4D97-AF65-F5344CB8AC3E}">
        <p14:creationId xmlns:p14="http://schemas.microsoft.com/office/powerpoint/2010/main" val="2283306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68E35-D298-6A6A-43C1-76B8B093597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7BC8C55-C421-628E-6680-22F080951721}"/>
              </a:ext>
            </a:extLst>
          </p:cNvPr>
          <p:cNvSpPr>
            <a:spLocks noGrp="1"/>
          </p:cNvSpPr>
          <p:nvPr>
            <p:ph type="title"/>
          </p:nvPr>
        </p:nvSpPr>
        <p:spPr/>
        <p:txBody>
          <a:bodyPr/>
          <a:lstStyle/>
          <a:p>
            <a:r>
              <a:rPr lang="en-US" noProof="0" dirty="0"/>
              <a:t>Roadmap</a:t>
            </a:r>
            <a:br>
              <a:rPr lang="en-US" noProof="0" dirty="0"/>
            </a:br>
            <a:r>
              <a:rPr lang="en-US" noProof="0" dirty="0"/>
              <a:t>A) Session 1: </a:t>
            </a:r>
            <a:r>
              <a:rPr lang="en-US" dirty="0"/>
              <a:t>building foundations – 2/ 3</a:t>
            </a:r>
            <a:endParaRPr lang="en-US" noProof="0" dirty="0"/>
          </a:p>
        </p:txBody>
      </p:sp>
      <p:graphicFrame>
        <p:nvGraphicFramePr>
          <p:cNvPr id="3" name="Tabelle 2">
            <a:extLst>
              <a:ext uri="{FF2B5EF4-FFF2-40B4-BE49-F238E27FC236}">
                <a16:creationId xmlns:a16="http://schemas.microsoft.com/office/drawing/2014/main" id="{E3BEB5ED-622B-0968-3BCE-ACA75AA14270}"/>
              </a:ext>
            </a:extLst>
          </p:cNvPr>
          <p:cNvGraphicFramePr>
            <a:graphicFrameLocks noGrp="1"/>
          </p:cNvGraphicFramePr>
          <p:nvPr>
            <p:extLst>
              <p:ext uri="{D42A27DB-BD31-4B8C-83A1-F6EECF244321}">
                <p14:modId xmlns:p14="http://schemas.microsoft.com/office/powerpoint/2010/main" val="81625315"/>
              </p:ext>
            </p:extLst>
          </p:nvPr>
        </p:nvGraphicFramePr>
        <p:xfrm>
          <a:off x="251520" y="1131590"/>
          <a:ext cx="8640960" cy="3810000"/>
        </p:xfrm>
        <a:graphic>
          <a:graphicData uri="http://schemas.openxmlformats.org/drawingml/2006/table">
            <a:tbl>
              <a:tblPr firstRow="1" bandRow="1">
                <a:tableStyleId>{5C22544A-7EE6-4342-B048-85BDC9FD1C3A}</a:tableStyleId>
              </a:tblPr>
              <a:tblGrid>
                <a:gridCol w="1440160">
                  <a:extLst>
                    <a:ext uri="{9D8B030D-6E8A-4147-A177-3AD203B41FA5}">
                      <a16:colId xmlns:a16="http://schemas.microsoft.com/office/drawing/2014/main" val="836268514"/>
                    </a:ext>
                  </a:extLst>
                </a:gridCol>
                <a:gridCol w="7200800">
                  <a:extLst>
                    <a:ext uri="{9D8B030D-6E8A-4147-A177-3AD203B41FA5}">
                      <a16:colId xmlns:a16="http://schemas.microsoft.com/office/drawing/2014/main" val="139590432"/>
                    </a:ext>
                  </a:extLst>
                </a:gridCol>
              </a:tblGrid>
              <a:tr h="0">
                <a:tc>
                  <a:txBody>
                    <a:bodyPr/>
                    <a:lstStyle/>
                    <a:p>
                      <a:pPr algn="ctr"/>
                      <a:r>
                        <a:rPr lang="de-DE" sz="1400" dirty="0"/>
                        <a:t>Time</a:t>
                      </a:r>
                    </a:p>
                  </a:txBody>
                  <a:tcPr/>
                </a:tc>
                <a:tc>
                  <a:txBody>
                    <a:bodyPr/>
                    <a:lstStyle/>
                    <a:p>
                      <a:r>
                        <a:rPr lang="de-DE" sz="1400" dirty="0"/>
                        <a:t>Topic</a:t>
                      </a:r>
                    </a:p>
                  </a:txBody>
                  <a:tcPr/>
                </a:tc>
                <a:extLst>
                  <a:ext uri="{0D108BD9-81ED-4DB2-BD59-A6C34878D82A}">
                    <a16:rowId xmlns:a16="http://schemas.microsoft.com/office/drawing/2014/main" val="1523280275"/>
                  </a:ext>
                </a:extLst>
              </a:tr>
              <a:tr h="0">
                <a:tc>
                  <a:txBody>
                    <a:bodyPr/>
                    <a:lstStyle/>
                    <a:p>
                      <a:pPr algn="ctr">
                        <a:spcAft>
                          <a:spcPts val="600"/>
                        </a:spcAft>
                      </a:pPr>
                      <a:r>
                        <a:rPr lang="de-DE" sz="1400" dirty="0"/>
                        <a:t>25 – 50 min</a:t>
                      </a:r>
                    </a:p>
                  </a:txBody>
                  <a:tcPr/>
                </a:tc>
                <a:tc>
                  <a:txBody>
                    <a:bodyPr/>
                    <a:lstStyle/>
                    <a:p>
                      <a:pPr>
                        <a:spcAft>
                          <a:spcPts val="600"/>
                        </a:spcAft>
                      </a:pPr>
                      <a:r>
                        <a:rPr lang="en-US" sz="1400" b="1" dirty="0"/>
                        <a:t>Phase 1: Architecture thinking (no AI yet) – this is the most important thinking phase</a:t>
                      </a:r>
                    </a:p>
                    <a:p>
                      <a:pPr>
                        <a:spcAft>
                          <a:spcPts val="600"/>
                        </a:spcAft>
                      </a:pPr>
                      <a:r>
                        <a:rPr lang="en-US" sz="1400" dirty="0"/>
                        <a:t>Task:</a:t>
                      </a:r>
                    </a:p>
                    <a:p>
                      <a:pPr marL="182563" indent="-182563">
                        <a:spcAft>
                          <a:spcPts val="600"/>
                        </a:spcAft>
                        <a:buFont typeface="Arial" panose="020B0604020202020204" pitchFamily="34" charset="0"/>
                        <a:buChar char="•"/>
                      </a:pPr>
                      <a:r>
                        <a:rPr lang="en-US" sz="1400" dirty="0"/>
                        <a:t>definition of states, update rules, parameters, outputs, and file structure</a:t>
                      </a:r>
                    </a:p>
                    <a:p>
                      <a:pPr marL="182563" indent="-182563">
                        <a:spcAft>
                          <a:spcPts val="600"/>
                        </a:spcAft>
                        <a:buFont typeface="Arial" panose="020B0604020202020204" pitchFamily="34" charset="0"/>
                        <a:buChar char="•"/>
                      </a:pPr>
                      <a:r>
                        <a:rPr lang="en-US" sz="1400" dirty="0"/>
                        <a:t>give this in writing</a:t>
                      </a:r>
                    </a:p>
                    <a:p>
                      <a:pPr marL="0" indent="0">
                        <a:spcAft>
                          <a:spcPts val="600"/>
                        </a:spcAft>
                        <a:buFont typeface="Arial" panose="020B0604020202020204" pitchFamily="34" charset="0"/>
                        <a:buNone/>
                      </a:pPr>
                      <a:r>
                        <a:rPr lang="en-US" sz="1400" dirty="0"/>
                        <a:t>Guiding questions:</a:t>
                      </a:r>
                    </a:p>
                    <a:p>
                      <a:pPr marL="182563" indent="-182563">
                        <a:spcAft>
                          <a:spcPts val="600"/>
                        </a:spcAft>
                        <a:buFont typeface="Arial" panose="020B0604020202020204" pitchFamily="34" charset="0"/>
                        <a:buChar char="•"/>
                      </a:pPr>
                      <a:r>
                        <a:rPr lang="en-US" sz="1400" dirty="0"/>
                        <a:t>“Where would you put this function?”</a:t>
                      </a:r>
                    </a:p>
                    <a:p>
                      <a:pPr marL="182563" indent="-182563">
                        <a:spcAft>
                          <a:spcPts val="600"/>
                        </a:spcAft>
                        <a:buFont typeface="Arial" panose="020B0604020202020204" pitchFamily="34" charset="0"/>
                        <a:buChar char="•"/>
                      </a:pPr>
                      <a:r>
                        <a:rPr lang="en-US" sz="1400" dirty="0"/>
                        <a:t>“What should be changeable?”</a:t>
                      </a:r>
                    </a:p>
                    <a:p>
                      <a:pPr marL="182563" indent="-182563">
                        <a:spcAft>
                          <a:spcPts val="600"/>
                        </a:spcAft>
                        <a:buFont typeface="Arial" panose="020B0604020202020204" pitchFamily="34" charset="0"/>
                        <a:buChar char="•"/>
                      </a:pPr>
                      <a:r>
                        <a:rPr lang="en-US" sz="1400" dirty="0"/>
                        <a:t>“What is your state space?”</a:t>
                      </a:r>
                    </a:p>
                  </a:txBody>
                  <a:tcPr/>
                </a:tc>
                <a:extLst>
                  <a:ext uri="{0D108BD9-81ED-4DB2-BD59-A6C34878D82A}">
                    <a16:rowId xmlns:a16="http://schemas.microsoft.com/office/drawing/2014/main" val="813314566"/>
                  </a:ext>
                </a:extLst>
              </a:tr>
              <a:tr h="0">
                <a:tc>
                  <a:txBody>
                    <a:bodyPr/>
                    <a:lstStyle/>
                    <a:p>
                      <a:pPr algn="ctr">
                        <a:spcAft>
                          <a:spcPts val="600"/>
                        </a:spcAft>
                      </a:pPr>
                      <a:r>
                        <a:rPr lang="de-DE" sz="1400" dirty="0"/>
                        <a:t>50 – 70 min</a:t>
                      </a:r>
                    </a:p>
                  </a:txBody>
                  <a:tcPr/>
                </a:tc>
                <a:tc>
                  <a:txBody>
                    <a:bodyPr/>
                    <a:lstStyle/>
                    <a:p>
                      <a:pPr>
                        <a:spcAft>
                          <a:spcPts val="600"/>
                        </a:spcAft>
                      </a:pPr>
                      <a:r>
                        <a:rPr lang="de-DE" sz="1400" b="1" dirty="0"/>
                        <a:t>Phase 2: Prompt design (still </a:t>
                      </a:r>
                      <a:r>
                        <a:rPr lang="de-DE" sz="1400" b="1" dirty="0" err="1"/>
                        <a:t>no</a:t>
                      </a:r>
                      <a:r>
                        <a:rPr lang="de-DE" sz="1400" b="1" dirty="0"/>
                        <a:t> AI </a:t>
                      </a:r>
                      <a:r>
                        <a:rPr lang="de-DE" sz="1400" b="1" dirty="0" err="1"/>
                        <a:t>yet</a:t>
                      </a:r>
                      <a:r>
                        <a:rPr lang="de-DE" sz="1400" b="1" dirty="0"/>
                        <a:t>)</a:t>
                      </a:r>
                    </a:p>
                    <a:p>
                      <a:pPr>
                        <a:spcAft>
                          <a:spcPts val="600"/>
                        </a:spcAft>
                      </a:pPr>
                      <a:r>
                        <a:rPr lang="de-DE" sz="1400" dirty="0"/>
                        <a:t>Task:</a:t>
                      </a:r>
                    </a:p>
                    <a:p>
                      <a:pPr marL="182563" indent="-182563">
                        <a:spcAft>
                          <a:spcPts val="600"/>
                        </a:spcAft>
                        <a:buFont typeface="Arial" panose="020B0604020202020204" pitchFamily="34" charset="0"/>
                        <a:buChar char="•"/>
                      </a:pPr>
                      <a:r>
                        <a:rPr lang="en-US" sz="1400" dirty="0"/>
                        <a:t>write a first prompt</a:t>
                      </a:r>
                    </a:p>
                    <a:p>
                      <a:pPr marL="182563" indent="-182563">
                        <a:spcAft>
                          <a:spcPts val="600"/>
                        </a:spcAft>
                        <a:buFont typeface="Arial" panose="020B0604020202020204" pitchFamily="34" charset="0"/>
                        <a:buChar char="•"/>
                      </a:pPr>
                      <a:r>
                        <a:rPr lang="en-US" sz="1400" dirty="0"/>
                        <a:t>improve it by considering structure, precision, modularity, and visualization requirements</a:t>
                      </a:r>
                      <a:endParaRPr lang="de-DE" sz="1400" dirty="0"/>
                    </a:p>
                  </a:txBody>
                  <a:tcPr/>
                </a:tc>
                <a:extLst>
                  <a:ext uri="{0D108BD9-81ED-4DB2-BD59-A6C34878D82A}">
                    <a16:rowId xmlns:a16="http://schemas.microsoft.com/office/drawing/2014/main" val="1558157276"/>
                  </a:ext>
                </a:extLst>
              </a:tr>
            </a:tbl>
          </a:graphicData>
        </a:graphic>
      </p:graphicFrame>
    </p:spTree>
    <p:extLst>
      <p:ext uri="{BB962C8B-B14F-4D97-AF65-F5344CB8AC3E}">
        <p14:creationId xmlns:p14="http://schemas.microsoft.com/office/powerpoint/2010/main" val="310070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B5C0A-6167-2210-4858-34B57A34534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F4A6EAD-F200-251E-17AF-DBC87B13DF49}"/>
              </a:ext>
            </a:extLst>
          </p:cNvPr>
          <p:cNvSpPr>
            <a:spLocks noGrp="1"/>
          </p:cNvSpPr>
          <p:nvPr>
            <p:ph type="title"/>
          </p:nvPr>
        </p:nvSpPr>
        <p:spPr/>
        <p:txBody>
          <a:bodyPr/>
          <a:lstStyle/>
          <a:p>
            <a:r>
              <a:rPr lang="en-US" noProof="0" dirty="0"/>
              <a:t>Roadmap</a:t>
            </a:r>
            <a:br>
              <a:rPr lang="en-US" noProof="0" dirty="0"/>
            </a:br>
            <a:r>
              <a:rPr lang="en-US" noProof="0" dirty="0"/>
              <a:t>A) Session 1: </a:t>
            </a:r>
            <a:r>
              <a:rPr lang="en-US" dirty="0"/>
              <a:t>building foundations – 3/ 3</a:t>
            </a:r>
            <a:endParaRPr lang="en-US" noProof="0" dirty="0"/>
          </a:p>
        </p:txBody>
      </p:sp>
      <p:graphicFrame>
        <p:nvGraphicFramePr>
          <p:cNvPr id="3" name="Tabelle 2">
            <a:extLst>
              <a:ext uri="{FF2B5EF4-FFF2-40B4-BE49-F238E27FC236}">
                <a16:creationId xmlns:a16="http://schemas.microsoft.com/office/drawing/2014/main" id="{2715C2F9-C96C-5C50-623F-73D1F51B5BF0}"/>
              </a:ext>
            </a:extLst>
          </p:cNvPr>
          <p:cNvGraphicFramePr>
            <a:graphicFrameLocks noGrp="1"/>
          </p:cNvGraphicFramePr>
          <p:nvPr>
            <p:extLst>
              <p:ext uri="{D42A27DB-BD31-4B8C-83A1-F6EECF244321}">
                <p14:modId xmlns:p14="http://schemas.microsoft.com/office/powerpoint/2010/main" val="531386055"/>
              </p:ext>
            </p:extLst>
          </p:nvPr>
        </p:nvGraphicFramePr>
        <p:xfrm>
          <a:off x="251520" y="1131590"/>
          <a:ext cx="8640960" cy="2926080"/>
        </p:xfrm>
        <a:graphic>
          <a:graphicData uri="http://schemas.openxmlformats.org/drawingml/2006/table">
            <a:tbl>
              <a:tblPr firstRow="1" bandRow="1">
                <a:tableStyleId>{5C22544A-7EE6-4342-B048-85BDC9FD1C3A}</a:tableStyleId>
              </a:tblPr>
              <a:tblGrid>
                <a:gridCol w="1440160">
                  <a:extLst>
                    <a:ext uri="{9D8B030D-6E8A-4147-A177-3AD203B41FA5}">
                      <a16:colId xmlns:a16="http://schemas.microsoft.com/office/drawing/2014/main" val="836268514"/>
                    </a:ext>
                  </a:extLst>
                </a:gridCol>
                <a:gridCol w="7200800">
                  <a:extLst>
                    <a:ext uri="{9D8B030D-6E8A-4147-A177-3AD203B41FA5}">
                      <a16:colId xmlns:a16="http://schemas.microsoft.com/office/drawing/2014/main" val="139590432"/>
                    </a:ext>
                  </a:extLst>
                </a:gridCol>
              </a:tblGrid>
              <a:tr h="0">
                <a:tc>
                  <a:txBody>
                    <a:bodyPr/>
                    <a:lstStyle/>
                    <a:p>
                      <a:pPr algn="ctr"/>
                      <a:r>
                        <a:rPr lang="de-DE" sz="1400" dirty="0"/>
                        <a:t>Time</a:t>
                      </a:r>
                    </a:p>
                  </a:txBody>
                  <a:tcPr/>
                </a:tc>
                <a:tc>
                  <a:txBody>
                    <a:bodyPr/>
                    <a:lstStyle/>
                    <a:p>
                      <a:r>
                        <a:rPr lang="de-DE" sz="1400" dirty="0"/>
                        <a:t>Topic</a:t>
                      </a:r>
                    </a:p>
                  </a:txBody>
                  <a:tcPr/>
                </a:tc>
                <a:extLst>
                  <a:ext uri="{0D108BD9-81ED-4DB2-BD59-A6C34878D82A}">
                    <a16:rowId xmlns:a16="http://schemas.microsoft.com/office/drawing/2014/main" val="1523280275"/>
                  </a:ext>
                </a:extLst>
              </a:tr>
              <a:tr h="0">
                <a:tc>
                  <a:txBody>
                    <a:bodyPr/>
                    <a:lstStyle/>
                    <a:p>
                      <a:pPr algn="ctr">
                        <a:spcAft>
                          <a:spcPts val="600"/>
                        </a:spcAft>
                      </a:pPr>
                      <a:r>
                        <a:rPr lang="de-DE" sz="1400" dirty="0"/>
                        <a:t>70 – 90 min</a:t>
                      </a:r>
                    </a:p>
                  </a:txBody>
                  <a:tcPr/>
                </a:tc>
                <a:tc>
                  <a:txBody>
                    <a:bodyPr/>
                    <a:lstStyle/>
                    <a:p>
                      <a:pPr>
                        <a:spcAft>
                          <a:spcPts val="600"/>
                        </a:spcAft>
                      </a:pPr>
                      <a:r>
                        <a:rPr lang="en-US" sz="1400" b="1" dirty="0"/>
                        <a:t>Phase 3: First AI interaction</a:t>
                      </a:r>
                    </a:p>
                    <a:p>
                      <a:pPr>
                        <a:spcAft>
                          <a:spcPts val="600"/>
                        </a:spcAft>
                      </a:pPr>
                      <a:r>
                        <a:rPr lang="en-US" sz="1400" dirty="0"/>
                        <a:t>Task:</a:t>
                      </a:r>
                    </a:p>
                    <a:p>
                      <a:pPr marL="182563" indent="-182563">
                        <a:spcAft>
                          <a:spcPts val="600"/>
                        </a:spcAft>
                        <a:buFont typeface="Arial" panose="020B0604020202020204" pitchFamily="34" charset="0"/>
                        <a:buChar char="•"/>
                      </a:pPr>
                      <a:r>
                        <a:rPr lang="en-US" sz="1400" dirty="0"/>
                        <a:t>run prompt</a:t>
                      </a:r>
                    </a:p>
                    <a:p>
                      <a:pPr marL="182563" indent="-182563">
                        <a:spcAft>
                          <a:spcPts val="600"/>
                        </a:spcAft>
                        <a:buFont typeface="Arial" panose="020B0604020202020204" pitchFamily="34" charset="0"/>
                        <a:buChar char="•"/>
                      </a:pPr>
                      <a:r>
                        <a:rPr lang="en-US" sz="1400" dirty="0"/>
                        <a:t>get code</a:t>
                      </a:r>
                    </a:p>
                    <a:p>
                      <a:pPr marL="182563" indent="-182563">
                        <a:spcAft>
                          <a:spcPts val="600"/>
                        </a:spcAft>
                        <a:buFont typeface="Arial" panose="020B0604020202020204" pitchFamily="34" charset="0"/>
                        <a:buChar char="•"/>
                      </a:pPr>
                      <a:r>
                        <a:rPr lang="en-US" sz="1400" dirty="0"/>
                        <a:t>try to run it</a:t>
                      </a:r>
                    </a:p>
                    <a:p>
                      <a:pPr marL="0" indent="0">
                        <a:spcAft>
                          <a:spcPts val="600"/>
                        </a:spcAft>
                        <a:buFont typeface="Arial" panose="020B0604020202020204" pitchFamily="34" charset="0"/>
                        <a:buNone/>
                      </a:pPr>
                      <a:r>
                        <a:rPr lang="en-US" sz="1400" dirty="0"/>
                        <a:t>Likely issues (use AI for debugging):</a:t>
                      </a:r>
                    </a:p>
                    <a:p>
                      <a:pPr marL="182563" indent="-182563">
                        <a:spcAft>
                          <a:spcPts val="600"/>
                        </a:spcAft>
                        <a:buFont typeface="Arial" panose="020B0604020202020204" pitchFamily="34" charset="0"/>
                        <a:buChar char="•"/>
                      </a:pPr>
                      <a:r>
                        <a:rPr lang="en-US" sz="1400" dirty="0"/>
                        <a:t>small errors</a:t>
                      </a:r>
                    </a:p>
                    <a:p>
                      <a:pPr marL="182563" indent="-182563">
                        <a:spcAft>
                          <a:spcPts val="600"/>
                        </a:spcAft>
                        <a:buFont typeface="Arial" panose="020B0604020202020204" pitchFamily="34" charset="0"/>
                        <a:buChar char="•"/>
                      </a:pPr>
                      <a:r>
                        <a:rPr lang="en-US" sz="1400" dirty="0"/>
                        <a:t>plotting problems</a:t>
                      </a:r>
                    </a:p>
                    <a:p>
                      <a:pPr marL="182563" indent="-182563">
                        <a:spcAft>
                          <a:spcPts val="600"/>
                        </a:spcAft>
                        <a:buFont typeface="Arial" panose="020B0604020202020204" pitchFamily="34" charset="0"/>
                        <a:buChar char="•"/>
                      </a:pPr>
                      <a:r>
                        <a:rPr lang="en-US" sz="1400" dirty="0"/>
                        <a:t>confusion about arrays</a:t>
                      </a:r>
                      <a:endParaRPr lang="de-DE" sz="1400" dirty="0"/>
                    </a:p>
                  </a:txBody>
                  <a:tcPr/>
                </a:tc>
                <a:extLst>
                  <a:ext uri="{0D108BD9-81ED-4DB2-BD59-A6C34878D82A}">
                    <a16:rowId xmlns:a16="http://schemas.microsoft.com/office/drawing/2014/main" val="813314566"/>
                  </a:ext>
                </a:extLst>
              </a:tr>
            </a:tbl>
          </a:graphicData>
        </a:graphic>
      </p:graphicFrame>
    </p:spTree>
    <p:extLst>
      <p:ext uri="{BB962C8B-B14F-4D97-AF65-F5344CB8AC3E}">
        <p14:creationId xmlns:p14="http://schemas.microsoft.com/office/powerpoint/2010/main" val="1012457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2D5A9-6689-16AB-1922-C57ECE5C79E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3E55DFA-31D2-0296-B38E-C91CE27DDF0B}"/>
              </a:ext>
            </a:extLst>
          </p:cNvPr>
          <p:cNvSpPr>
            <a:spLocks noGrp="1"/>
          </p:cNvSpPr>
          <p:nvPr>
            <p:ph type="title"/>
          </p:nvPr>
        </p:nvSpPr>
        <p:spPr/>
        <p:txBody>
          <a:bodyPr/>
          <a:lstStyle/>
          <a:p>
            <a:r>
              <a:rPr lang="en-US" noProof="0" dirty="0"/>
              <a:t>Roadmap</a:t>
            </a:r>
            <a:br>
              <a:rPr lang="en-US" noProof="0" dirty="0"/>
            </a:br>
            <a:r>
              <a:rPr lang="en-US" noProof="0" dirty="0"/>
              <a:t>B) Session 2: </a:t>
            </a:r>
            <a:r>
              <a:rPr lang="en-US" dirty="0"/>
              <a:t>deepening &amp; presentation – 1/ 2</a:t>
            </a:r>
            <a:endParaRPr lang="en-US" noProof="0" dirty="0"/>
          </a:p>
        </p:txBody>
      </p:sp>
      <p:graphicFrame>
        <p:nvGraphicFramePr>
          <p:cNvPr id="3" name="Tabelle 2">
            <a:extLst>
              <a:ext uri="{FF2B5EF4-FFF2-40B4-BE49-F238E27FC236}">
                <a16:creationId xmlns:a16="http://schemas.microsoft.com/office/drawing/2014/main" id="{347CB2A6-1F28-57EA-339B-0024E3816095}"/>
              </a:ext>
            </a:extLst>
          </p:cNvPr>
          <p:cNvGraphicFramePr>
            <a:graphicFrameLocks noGrp="1"/>
          </p:cNvGraphicFramePr>
          <p:nvPr>
            <p:extLst>
              <p:ext uri="{D42A27DB-BD31-4B8C-83A1-F6EECF244321}">
                <p14:modId xmlns:p14="http://schemas.microsoft.com/office/powerpoint/2010/main" val="1252653203"/>
              </p:ext>
            </p:extLst>
          </p:nvPr>
        </p:nvGraphicFramePr>
        <p:xfrm>
          <a:off x="251520" y="1491630"/>
          <a:ext cx="8640960" cy="3230880"/>
        </p:xfrm>
        <a:graphic>
          <a:graphicData uri="http://schemas.openxmlformats.org/drawingml/2006/table">
            <a:tbl>
              <a:tblPr firstRow="1" bandRow="1">
                <a:tableStyleId>{5C22544A-7EE6-4342-B048-85BDC9FD1C3A}</a:tableStyleId>
              </a:tblPr>
              <a:tblGrid>
                <a:gridCol w="1440160">
                  <a:extLst>
                    <a:ext uri="{9D8B030D-6E8A-4147-A177-3AD203B41FA5}">
                      <a16:colId xmlns:a16="http://schemas.microsoft.com/office/drawing/2014/main" val="836268514"/>
                    </a:ext>
                  </a:extLst>
                </a:gridCol>
                <a:gridCol w="7200800">
                  <a:extLst>
                    <a:ext uri="{9D8B030D-6E8A-4147-A177-3AD203B41FA5}">
                      <a16:colId xmlns:a16="http://schemas.microsoft.com/office/drawing/2014/main" val="139590432"/>
                    </a:ext>
                  </a:extLst>
                </a:gridCol>
              </a:tblGrid>
              <a:tr h="0">
                <a:tc>
                  <a:txBody>
                    <a:bodyPr/>
                    <a:lstStyle/>
                    <a:p>
                      <a:pPr algn="ctr"/>
                      <a:r>
                        <a:rPr lang="de-DE" sz="1400" dirty="0"/>
                        <a:t>Time</a:t>
                      </a:r>
                    </a:p>
                  </a:txBody>
                  <a:tcPr/>
                </a:tc>
                <a:tc>
                  <a:txBody>
                    <a:bodyPr/>
                    <a:lstStyle/>
                    <a:p>
                      <a:r>
                        <a:rPr lang="de-DE" sz="1400" dirty="0"/>
                        <a:t>Topic</a:t>
                      </a:r>
                    </a:p>
                  </a:txBody>
                  <a:tcPr/>
                </a:tc>
                <a:extLst>
                  <a:ext uri="{0D108BD9-81ED-4DB2-BD59-A6C34878D82A}">
                    <a16:rowId xmlns:a16="http://schemas.microsoft.com/office/drawing/2014/main" val="1523280275"/>
                  </a:ext>
                </a:extLst>
              </a:tr>
              <a:tr h="0">
                <a:tc>
                  <a:txBody>
                    <a:bodyPr/>
                    <a:lstStyle/>
                    <a:p>
                      <a:pPr algn="ctr">
                        <a:spcAft>
                          <a:spcPts val="600"/>
                        </a:spcAft>
                      </a:pPr>
                      <a:r>
                        <a:rPr lang="de-DE" sz="1400" dirty="0"/>
                        <a:t>0 – 10 min</a:t>
                      </a:r>
                    </a:p>
                  </a:txBody>
                  <a:tcPr/>
                </a:tc>
                <a:tc>
                  <a:txBody>
                    <a:bodyPr/>
                    <a:lstStyle/>
                    <a:p>
                      <a:pPr>
                        <a:spcAft>
                          <a:spcPts val="600"/>
                        </a:spcAft>
                      </a:pPr>
                      <a:r>
                        <a:rPr lang="de-DE" sz="1400" b="1" dirty="0"/>
                        <a:t>Quick </a:t>
                      </a:r>
                      <a:r>
                        <a:rPr lang="de-DE" sz="1400" b="1" dirty="0" err="1"/>
                        <a:t>Recap</a:t>
                      </a:r>
                      <a:endParaRPr lang="de-DE" sz="1400" b="1" dirty="0"/>
                    </a:p>
                    <a:p>
                      <a:pPr>
                        <a:spcAft>
                          <a:spcPts val="600"/>
                        </a:spcAft>
                      </a:pPr>
                      <a:r>
                        <a:rPr lang="de-DE" sz="1400" dirty="0"/>
                        <a:t>Task:</a:t>
                      </a:r>
                    </a:p>
                    <a:p>
                      <a:pPr marL="182563" indent="-182563">
                        <a:spcAft>
                          <a:spcPts val="600"/>
                        </a:spcAft>
                        <a:buFont typeface="Arial" panose="020B0604020202020204" pitchFamily="34" charset="0"/>
                        <a:buChar char="•"/>
                      </a:pPr>
                      <a:r>
                        <a:rPr lang="de-DE" sz="1400" dirty="0"/>
                        <a:t>“</a:t>
                      </a:r>
                      <a:r>
                        <a:rPr lang="de-DE" sz="1400" dirty="0" err="1"/>
                        <a:t>What</a:t>
                      </a:r>
                      <a:r>
                        <a:rPr lang="de-DE" sz="1400" dirty="0"/>
                        <a:t> </a:t>
                      </a:r>
                      <a:r>
                        <a:rPr lang="de-DE" sz="1400" dirty="0" err="1"/>
                        <a:t>worked</a:t>
                      </a:r>
                      <a:r>
                        <a:rPr lang="de-DE" sz="1400" dirty="0"/>
                        <a:t>?”</a:t>
                      </a:r>
                    </a:p>
                    <a:p>
                      <a:pPr marL="182563" indent="-182563">
                        <a:spcAft>
                          <a:spcPts val="600"/>
                        </a:spcAft>
                        <a:buFont typeface="Arial" panose="020B0604020202020204" pitchFamily="34" charset="0"/>
                        <a:buChar char="•"/>
                      </a:pPr>
                      <a:r>
                        <a:rPr lang="de-DE" sz="1400" dirty="0"/>
                        <a:t>“</a:t>
                      </a:r>
                      <a:r>
                        <a:rPr lang="de-DE" sz="1400" dirty="0" err="1"/>
                        <a:t>What</a:t>
                      </a:r>
                      <a:r>
                        <a:rPr lang="de-DE" sz="1400" dirty="0"/>
                        <a:t> </a:t>
                      </a:r>
                      <a:r>
                        <a:rPr lang="de-DE" sz="1400" dirty="0" err="1"/>
                        <a:t>didn’t</a:t>
                      </a:r>
                      <a:r>
                        <a:rPr lang="de-DE" sz="1400" dirty="0"/>
                        <a:t>?”</a:t>
                      </a:r>
                    </a:p>
                  </a:txBody>
                  <a:tcPr/>
                </a:tc>
                <a:extLst>
                  <a:ext uri="{0D108BD9-81ED-4DB2-BD59-A6C34878D82A}">
                    <a16:rowId xmlns:a16="http://schemas.microsoft.com/office/drawing/2014/main" val="813314566"/>
                  </a:ext>
                </a:extLst>
              </a:tr>
              <a:tr h="0">
                <a:tc>
                  <a:txBody>
                    <a:bodyPr/>
                    <a:lstStyle/>
                    <a:p>
                      <a:pPr algn="ctr">
                        <a:spcAft>
                          <a:spcPts val="600"/>
                        </a:spcAft>
                      </a:pPr>
                      <a:r>
                        <a:rPr lang="de-DE" sz="1400" dirty="0"/>
                        <a:t>10 – 45 min</a:t>
                      </a:r>
                    </a:p>
                  </a:txBody>
                  <a:tcPr/>
                </a:tc>
                <a:tc>
                  <a:txBody>
                    <a:bodyPr/>
                    <a:lstStyle/>
                    <a:p>
                      <a:pPr>
                        <a:spcAft>
                          <a:spcPts val="600"/>
                        </a:spcAft>
                      </a:pPr>
                      <a:r>
                        <a:rPr lang="de-DE" sz="1400" dirty="0"/>
                        <a:t>Phase 4: </a:t>
                      </a:r>
                      <a:r>
                        <a:rPr lang="de-DE" sz="1400" dirty="0" err="1"/>
                        <a:t>Improve</a:t>
                      </a:r>
                      <a:r>
                        <a:rPr lang="de-DE" sz="1400" dirty="0"/>
                        <a:t> &amp; </a:t>
                      </a:r>
                      <a:r>
                        <a:rPr lang="de-DE" sz="1400" dirty="0" err="1"/>
                        <a:t>extend</a:t>
                      </a:r>
                      <a:endParaRPr lang="de-DE" sz="1400" dirty="0"/>
                    </a:p>
                    <a:p>
                      <a:pPr>
                        <a:spcAft>
                          <a:spcPts val="600"/>
                        </a:spcAft>
                      </a:pPr>
                      <a:r>
                        <a:rPr lang="de-DE" sz="1400" dirty="0"/>
                        <a:t>Task:</a:t>
                      </a:r>
                    </a:p>
                    <a:p>
                      <a:pPr marL="182563" indent="-182563">
                        <a:spcAft>
                          <a:spcPts val="600"/>
                        </a:spcAft>
                        <a:buFont typeface="Arial" panose="020B0604020202020204" pitchFamily="34" charset="0"/>
                        <a:buChar char="•"/>
                      </a:pPr>
                      <a:r>
                        <a:rPr lang="de-DE" sz="1400" dirty="0" err="1"/>
                        <a:t>improve</a:t>
                      </a:r>
                      <a:r>
                        <a:rPr lang="de-DE" sz="1400" dirty="0"/>
                        <a:t> prompt and </a:t>
                      </a:r>
                      <a:r>
                        <a:rPr lang="de-DE" sz="1400" dirty="0" err="1"/>
                        <a:t>refine</a:t>
                      </a:r>
                      <a:r>
                        <a:rPr lang="de-DE" sz="1400" dirty="0"/>
                        <a:t> code</a:t>
                      </a:r>
                    </a:p>
                    <a:p>
                      <a:pPr marL="182563" indent="-182563">
                        <a:spcAft>
                          <a:spcPts val="600"/>
                        </a:spcAft>
                        <a:buFont typeface="Arial" panose="020B0604020202020204" pitchFamily="34" charset="0"/>
                        <a:buChar char="•"/>
                      </a:pPr>
                      <a:r>
                        <a:rPr lang="de-DE" sz="1400" dirty="0" err="1"/>
                        <a:t>choose</a:t>
                      </a:r>
                      <a:r>
                        <a:rPr lang="de-DE" sz="1400" dirty="0"/>
                        <a:t> </a:t>
                      </a:r>
                      <a:r>
                        <a:rPr lang="de-DE" sz="1400" dirty="0" err="1"/>
                        <a:t>one</a:t>
                      </a:r>
                      <a:r>
                        <a:rPr lang="de-DE" sz="1400" dirty="0"/>
                        <a:t> of </a:t>
                      </a:r>
                      <a:r>
                        <a:rPr lang="de-DE" sz="1400" dirty="0" err="1"/>
                        <a:t>the</a:t>
                      </a:r>
                      <a:r>
                        <a:rPr lang="de-DE" sz="1400" dirty="0"/>
                        <a:t> </a:t>
                      </a:r>
                      <a:r>
                        <a:rPr lang="de-DE" sz="1400" dirty="0" err="1"/>
                        <a:t>following</a:t>
                      </a:r>
                      <a:endParaRPr lang="de-DE" sz="1400" dirty="0"/>
                    </a:p>
                    <a:p>
                      <a:pPr marL="450850" lvl="1" indent="-268288">
                        <a:spcAft>
                          <a:spcPts val="600"/>
                        </a:spcAft>
                        <a:buFont typeface="Symbol" panose="05050102010706020507" pitchFamily="18" charset="2"/>
                        <a:buChar char="-"/>
                      </a:pPr>
                      <a:r>
                        <a:rPr lang="en-US" sz="1400" dirty="0"/>
                        <a:t>add parameter study</a:t>
                      </a:r>
                    </a:p>
                    <a:p>
                      <a:pPr marL="450850" lvl="1" indent="-268288">
                        <a:spcAft>
                          <a:spcPts val="600"/>
                        </a:spcAft>
                        <a:buFont typeface="Symbol" panose="05050102010706020507" pitchFamily="18" charset="2"/>
                        <a:buChar char="-"/>
                      </a:pPr>
                      <a:r>
                        <a:rPr lang="en-US" sz="1400" dirty="0"/>
                        <a:t>improve visualization</a:t>
                      </a:r>
                    </a:p>
                  </a:txBody>
                  <a:tcPr/>
                </a:tc>
                <a:extLst>
                  <a:ext uri="{0D108BD9-81ED-4DB2-BD59-A6C34878D82A}">
                    <a16:rowId xmlns:a16="http://schemas.microsoft.com/office/drawing/2014/main" val="1558157276"/>
                  </a:ext>
                </a:extLst>
              </a:tr>
            </a:tbl>
          </a:graphicData>
        </a:graphic>
      </p:graphicFrame>
      <p:sp>
        <p:nvSpPr>
          <p:cNvPr id="4" name="Rechteck 3">
            <a:extLst>
              <a:ext uri="{FF2B5EF4-FFF2-40B4-BE49-F238E27FC236}">
                <a16:creationId xmlns:a16="http://schemas.microsoft.com/office/drawing/2014/main" id="{8AEEFD6C-14B5-3349-3D61-C24F58882EC2}"/>
              </a:ext>
            </a:extLst>
          </p:cNvPr>
          <p:cNvSpPr/>
          <p:nvPr/>
        </p:nvSpPr>
        <p:spPr>
          <a:xfrm>
            <a:off x="251520" y="1131590"/>
            <a:ext cx="8640960" cy="288032"/>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Session 2: deepening (second model, comparison &amp; reflection) </a:t>
            </a:r>
          </a:p>
        </p:txBody>
      </p:sp>
      <p:sp>
        <p:nvSpPr>
          <p:cNvPr id="5" name="Textfeld 4">
            <a:extLst>
              <a:ext uri="{FF2B5EF4-FFF2-40B4-BE49-F238E27FC236}">
                <a16:creationId xmlns:a16="http://schemas.microsoft.com/office/drawing/2014/main" id="{131CFC2B-FB5C-68C9-7398-FB6580F2660E}"/>
              </a:ext>
            </a:extLst>
          </p:cNvPr>
          <p:cNvSpPr txBox="1"/>
          <p:nvPr/>
        </p:nvSpPr>
        <p:spPr>
          <a:xfrm>
            <a:off x="4211960" y="4122346"/>
            <a:ext cx="3997569" cy="600164"/>
          </a:xfrm>
          <a:prstGeom prst="rect">
            <a:avLst/>
          </a:prstGeom>
          <a:noFill/>
        </p:spPr>
        <p:txBody>
          <a:bodyPr wrap="none" rtlCol="0">
            <a:spAutoFit/>
          </a:bodyPr>
          <a:lstStyle/>
          <a:p>
            <a:pPr marL="450850" lvl="1" indent="-268288">
              <a:spcAft>
                <a:spcPts val="600"/>
              </a:spcAft>
              <a:buFont typeface="Symbol" panose="05050102010706020507" pitchFamily="18" charset="2"/>
              <a:buChar char="-"/>
            </a:pPr>
            <a:r>
              <a:rPr lang="en-US" sz="1400" dirty="0"/>
              <a:t>extend rule (e.g., neighbor influence strength)</a:t>
            </a:r>
          </a:p>
          <a:p>
            <a:pPr marL="450850" lvl="1" indent="-268288">
              <a:spcAft>
                <a:spcPts val="600"/>
              </a:spcAft>
              <a:buFont typeface="Symbol" panose="05050102010706020507" pitchFamily="18" charset="2"/>
              <a:buChar char="-"/>
            </a:pPr>
            <a:r>
              <a:rPr lang="en-US" sz="1400" dirty="0"/>
              <a:t>compare two parameter settings</a:t>
            </a:r>
            <a:endParaRPr lang="de-DE" sz="1400" dirty="0"/>
          </a:p>
        </p:txBody>
      </p:sp>
    </p:spTree>
    <p:extLst>
      <p:ext uri="{BB962C8B-B14F-4D97-AF65-F5344CB8AC3E}">
        <p14:creationId xmlns:p14="http://schemas.microsoft.com/office/powerpoint/2010/main" val="183818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D565A-BEE7-76F6-AA6F-32E434E83C5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ADA870D-CD83-2D89-AF24-094F13E364A1}"/>
              </a:ext>
            </a:extLst>
          </p:cNvPr>
          <p:cNvSpPr>
            <a:spLocks noGrp="1"/>
          </p:cNvSpPr>
          <p:nvPr>
            <p:ph type="title"/>
          </p:nvPr>
        </p:nvSpPr>
        <p:spPr/>
        <p:txBody>
          <a:bodyPr/>
          <a:lstStyle/>
          <a:p>
            <a:r>
              <a:rPr lang="en-US" noProof="0" dirty="0"/>
              <a:t>Roadmap</a:t>
            </a:r>
            <a:br>
              <a:rPr lang="en-US" noProof="0" dirty="0"/>
            </a:br>
            <a:r>
              <a:rPr lang="en-US" dirty="0"/>
              <a:t>B) Session 2: deepening &amp; presentation – 2/ 2</a:t>
            </a:r>
            <a:endParaRPr lang="en-US" noProof="0" dirty="0"/>
          </a:p>
        </p:txBody>
      </p:sp>
      <p:graphicFrame>
        <p:nvGraphicFramePr>
          <p:cNvPr id="3" name="Tabelle 2">
            <a:extLst>
              <a:ext uri="{FF2B5EF4-FFF2-40B4-BE49-F238E27FC236}">
                <a16:creationId xmlns:a16="http://schemas.microsoft.com/office/drawing/2014/main" id="{C14F6E63-856C-EB07-962C-BE0458F7A150}"/>
              </a:ext>
            </a:extLst>
          </p:cNvPr>
          <p:cNvGraphicFramePr>
            <a:graphicFrameLocks noGrp="1"/>
          </p:cNvGraphicFramePr>
          <p:nvPr>
            <p:extLst>
              <p:ext uri="{D42A27DB-BD31-4B8C-83A1-F6EECF244321}">
                <p14:modId xmlns:p14="http://schemas.microsoft.com/office/powerpoint/2010/main" val="2991492916"/>
              </p:ext>
            </p:extLst>
          </p:nvPr>
        </p:nvGraphicFramePr>
        <p:xfrm>
          <a:off x="251520" y="1131590"/>
          <a:ext cx="8640960" cy="3444240"/>
        </p:xfrm>
        <a:graphic>
          <a:graphicData uri="http://schemas.openxmlformats.org/drawingml/2006/table">
            <a:tbl>
              <a:tblPr firstRow="1" bandRow="1">
                <a:tableStyleId>{5C22544A-7EE6-4342-B048-85BDC9FD1C3A}</a:tableStyleId>
              </a:tblPr>
              <a:tblGrid>
                <a:gridCol w="1440160">
                  <a:extLst>
                    <a:ext uri="{9D8B030D-6E8A-4147-A177-3AD203B41FA5}">
                      <a16:colId xmlns:a16="http://schemas.microsoft.com/office/drawing/2014/main" val="836268514"/>
                    </a:ext>
                  </a:extLst>
                </a:gridCol>
                <a:gridCol w="7200800">
                  <a:extLst>
                    <a:ext uri="{9D8B030D-6E8A-4147-A177-3AD203B41FA5}">
                      <a16:colId xmlns:a16="http://schemas.microsoft.com/office/drawing/2014/main" val="139590432"/>
                    </a:ext>
                  </a:extLst>
                </a:gridCol>
              </a:tblGrid>
              <a:tr h="0">
                <a:tc>
                  <a:txBody>
                    <a:bodyPr/>
                    <a:lstStyle/>
                    <a:p>
                      <a:pPr algn="ctr"/>
                      <a:r>
                        <a:rPr lang="de-DE" sz="1400" dirty="0"/>
                        <a:t>Time</a:t>
                      </a:r>
                    </a:p>
                  </a:txBody>
                  <a:tcPr/>
                </a:tc>
                <a:tc>
                  <a:txBody>
                    <a:bodyPr/>
                    <a:lstStyle/>
                    <a:p>
                      <a:r>
                        <a:rPr lang="de-DE" sz="1400" dirty="0"/>
                        <a:t>Topic</a:t>
                      </a:r>
                    </a:p>
                  </a:txBody>
                  <a:tcPr/>
                </a:tc>
                <a:extLst>
                  <a:ext uri="{0D108BD9-81ED-4DB2-BD59-A6C34878D82A}">
                    <a16:rowId xmlns:a16="http://schemas.microsoft.com/office/drawing/2014/main" val="1523280275"/>
                  </a:ext>
                </a:extLst>
              </a:tr>
              <a:tr h="0">
                <a:tc>
                  <a:txBody>
                    <a:bodyPr/>
                    <a:lstStyle/>
                    <a:p>
                      <a:pPr algn="ctr">
                        <a:spcAft>
                          <a:spcPts val="600"/>
                        </a:spcAft>
                      </a:pPr>
                      <a:r>
                        <a:rPr lang="de-DE" sz="1400" dirty="0"/>
                        <a:t>45 – 60 min</a:t>
                      </a:r>
                    </a:p>
                  </a:txBody>
                  <a:tcPr/>
                </a:tc>
                <a:tc>
                  <a:txBody>
                    <a:bodyPr/>
                    <a:lstStyle/>
                    <a:p>
                      <a:pPr>
                        <a:spcAft>
                          <a:spcPts val="600"/>
                        </a:spcAft>
                      </a:pPr>
                      <a:r>
                        <a:rPr lang="de-DE" sz="1400" b="1" dirty="0"/>
                        <a:t>Phase 5: </a:t>
                      </a:r>
                      <a:r>
                        <a:rPr lang="de-DE" sz="1400" b="1" dirty="0" err="1"/>
                        <a:t>Prepare</a:t>
                      </a:r>
                      <a:r>
                        <a:rPr lang="de-DE" sz="1400" b="1" dirty="0"/>
                        <a:t> </a:t>
                      </a:r>
                      <a:r>
                        <a:rPr lang="de-DE" sz="1400" b="1" dirty="0" err="1"/>
                        <a:t>presentation</a:t>
                      </a:r>
                      <a:endParaRPr lang="de-DE" sz="1400" b="1" dirty="0"/>
                    </a:p>
                    <a:p>
                      <a:pPr marL="0" indent="0">
                        <a:spcAft>
                          <a:spcPts val="600"/>
                        </a:spcAft>
                        <a:buFont typeface="Arial" panose="020B0604020202020204" pitchFamily="34" charset="0"/>
                        <a:buNone/>
                      </a:pPr>
                      <a:r>
                        <a:rPr lang="de-DE" sz="1400" dirty="0" err="1"/>
                        <a:t>Prepare</a:t>
                      </a:r>
                      <a:r>
                        <a:rPr lang="de-DE" sz="1400" dirty="0"/>
                        <a:t> </a:t>
                      </a:r>
                      <a:r>
                        <a:rPr lang="de-DE" sz="1400" dirty="0" err="1"/>
                        <a:t>the</a:t>
                      </a:r>
                      <a:r>
                        <a:rPr lang="de-DE" sz="1400" dirty="0"/>
                        <a:t> </a:t>
                      </a:r>
                      <a:r>
                        <a:rPr lang="de-DE" sz="1400" dirty="0" err="1"/>
                        <a:t>following</a:t>
                      </a:r>
                      <a:r>
                        <a:rPr lang="de-DE" sz="1400" dirty="0"/>
                        <a:t> </a:t>
                      </a:r>
                      <a:r>
                        <a:rPr lang="de-DE" sz="1400" dirty="0" err="1"/>
                        <a:t>content</a:t>
                      </a:r>
                      <a:r>
                        <a:rPr lang="de-DE" sz="1400" dirty="0"/>
                        <a:t> </a:t>
                      </a:r>
                      <a:r>
                        <a:rPr lang="de-DE" sz="1400" dirty="0" err="1"/>
                        <a:t>to</a:t>
                      </a:r>
                      <a:r>
                        <a:rPr lang="de-DE" sz="1400" dirty="0"/>
                        <a:t> </a:t>
                      </a:r>
                      <a:r>
                        <a:rPr lang="de-DE" sz="1400" dirty="0" err="1"/>
                        <a:t>be</a:t>
                      </a:r>
                      <a:r>
                        <a:rPr lang="de-DE" sz="1400" dirty="0"/>
                        <a:t> </a:t>
                      </a:r>
                      <a:r>
                        <a:rPr lang="de-DE" sz="1400" dirty="0" err="1"/>
                        <a:t>ready</a:t>
                      </a:r>
                      <a:r>
                        <a:rPr lang="de-DE" sz="1400" dirty="0"/>
                        <a:t> </a:t>
                      </a:r>
                      <a:r>
                        <a:rPr lang="de-DE" sz="1400" dirty="0" err="1"/>
                        <a:t>for</a:t>
                      </a:r>
                      <a:r>
                        <a:rPr lang="de-DE" sz="1400" dirty="0"/>
                        <a:t> </a:t>
                      </a:r>
                      <a:r>
                        <a:rPr lang="de-DE" sz="1400" dirty="0" err="1"/>
                        <a:t>presentation</a:t>
                      </a:r>
                      <a:r>
                        <a:rPr lang="de-DE" sz="1400" dirty="0"/>
                        <a:t>:</a:t>
                      </a:r>
                    </a:p>
                    <a:p>
                      <a:pPr marL="182563" indent="-182563">
                        <a:spcAft>
                          <a:spcPts val="600"/>
                        </a:spcAft>
                        <a:buFont typeface="Arial" panose="020B0604020202020204" pitchFamily="34" charset="0"/>
                        <a:buChar char="•"/>
                      </a:pPr>
                      <a:r>
                        <a:rPr lang="en-US" sz="1400" dirty="0"/>
                        <a:t>Biological model (1–2 min)</a:t>
                      </a:r>
                    </a:p>
                    <a:p>
                      <a:pPr marL="182563" indent="-182563">
                        <a:spcAft>
                          <a:spcPts val="600"/>
                        </a:spcAft>
                        <a:buFont typeface="Arial" panose="020B0604020202020204" pitchFamily="34" charset="0"/>
                        <a:buChar char="•"/>
                      </a:pPr>
                      <a:r>
                        <a:rPr lang="en-US" sz="1400" dirty="0"/>
                        <a:t>Architecture (files/ modules)</a:t>
                      </a:r>
                    </a:p>
                    <a:p>
                      <a:pPr marL="182563" indent="-182563">
                        <a:spcAft>
                          <a:spcPts val="600"/>
                        </a:spcAft>
                        <a:buFont typeface="Arial" panose="020B0604020202020204" pitchFamily="34" charset="0"/>
                        <a:buChar char="•"/>
                      </a:pPr>
                      <a:r>
                        <a:rPr lang="en-US" sz="1400" dirty="0"/>
                        <a:t>Best prompt</a:t>
                      </a:r>
                    </a:p>
                    <a:p>
                      <a:pPr marL="182563" indent="-182563">
                        <a:spcAft>
                          <a:spcPts val="600"/>
                        </a:spcAft>
                        <a:buFont typeface="Arial" panose="020B0604020202020204" pitchFamily="34" charset="0"/>
                        <a:buChar char="•"/>
                      </a:pPr>
                      <a:r>
                        <a:rPr lang="en-US" sz="1400" dirty="0"/>
                        <a:t>One challenge the group faced</a:t>
                      </a:r>
                    </a:p>
                    <a:p>
                      <a:pPr marL="182563" indent="-182563">
                        <a:spcAft>
                          <a:spcPts val="600"/>
                        </a:spcAft>
                        <a:buFont typeface="Arial" panose="020B0604020202020204" pitchFamily="34" charset="0"/>
                        <a:buChar char="•"/>
                      </a:pPr>
                      <a:r>
                        <a:rPr lang="en-US" sz="1400" dirty="0"/>
                        <a:t>One insight about AI usage</a:t>
                      </a:r>
                    </a:p>
                    <a:p>
                      <a:pPr marL="182563" indent="-182563">
                        <a:spcAft>
                          <a:spcPts val="600"/>
                        </a:spcAft>
                        <a:buFont typeface="Arial" panose="020B0604020202020204" pitchFamily="34" charset="0"/>
                        <a:buChar char="•"/>
                      </a:pPr>
                      <a:r>
                        <a:rPr lang="en-US" sz="1400" dirty="0"/>
                        <a:t>One simulation result</a:t>
                      </a:r>
                      <a:endParaRPr lang="de-DE" sz="1400" dirty="0"/>
                    </a:p>
                  </a:txBody>
                  <a:tcPr/>
                </a:tc>
                <a:extLst>
                  <a:ext uri="{0D108BD9-81ED-4DB2-BD59-A6C34878D82A}">
                    <a16:rowId xmlns:a16="http://schemas.microsoft.com/office/drawing/2014/main" val="813314566"/>
                  </a:ext>
                </a:extLst>
              </a:tr>
              <a:tr h="0">
                <a:tc>
                  <a:txBody>
                    <a:bodyPr/>
                    <a:lstStyle/>
                    <a:p>
                      <a:pPr algn="ctr">
                        <a:spcAft>
                          <a:spcPts val="600"/>
                        </a:spcAft>
                      </a:pPr>
                      <a:r>
                        <a:rPr lang="de-DE" sz="1400" dirty="0"/>
                        <a:t>60 – 90 min</a:t>
                      </a:r>
                    </a:p>
                  </a:txBody>
                  <a:tcPr/>
                </a:tc>
                <a:tc>
                  <a:txBody>
                    <a:bodyPr/>
                    <a:lstStyle/>
                    <a:p>
                      <a:pPr>
                        <a:spcAft>
                          <a:spcPts val="600"/>
                        </a:spcAft>
                      </a:pPr>
                      <a:r>
                        <a:rPr lang="de-DE" sz="1400" b="1" dirty="0" err="1"/>
                        <a:t>Presentations</a:t>
                      </a:r>
                      <a:r>
                        <a:rPr lang="de-DE" sz="1400" b="1" dirty="0"/>
                        <a:t> (</a:t>
                      </a:r>
                      <a:r>
                        <a:rPr lang="de-DE" sz="1400" b="1" dirty="0" err="1"/>
                        <a:t>approx</a:t>
                      </a:r>
                      <a:r>
                        <a:rPr lang="de-DE" sz="1400" b="1" dirty="0"/>
                        <a:t>. 5 min per </a:t>
                      </a:r>
                      <a:r>
                        <a:rPr lang="de-DE" sz="1400" b="1" dirty="0" err="1"/>
                        <a:t>group</a:t>
                      </a:r>
                      <a:r>
                        <a:rPr lang="de-DE" sz="1400" b="1" dirty="0"/>
                        <a:t> plus Q &amp; A)</a:t>
                      </a:r>
                    </a:p>
                    <a:p>
                      <a:pPr>
                        <a:spcAft>
                          <a:spcPts val="600"/>
                        </a:spcAft>
                      </a:pPr>
                      <a:r>
                        <a:rPr lang="en-US" sz="1400" dirty="0"/>
                        <a:t>After each presentation should briefly highlight (</a:t>
                      </a:r>
                      <a:r>
                        <a:rPr lang="en-US" sz="1400" dirty="0" err="1"/>
                        <a:t>i</a:t>
                      </a:r>
                      <a:r>
                        <a:rPr lang="en-US" sz="1400" dirty="0"/>
                        <a:t>) good prompt features, (ii) good modular design, and (iii) interesting biological behavior.</a:t>
                      </a:r>
                      <a:endParaRPr lang="de-DE" sz="1400" dirty="0"/>
                    </a:p>
                  </a:txBody>
                  <a:tcPr/>
                </a:tc>
                <a:extLst>
                  <a:ext uri="{0D108BD9-81ED-4DB2-BD59-A6C34878D82A}">
                    <a16:rowId xmlns:a16="http://schemas.microsoft.com/office/drawing/2014/main" val="1558157276"/>
                  </a:ext>
                </a:extLst>
              </a:tr>
            </a:tbl>
          </a:graphicData>
        </a:graphic>
      </p:graphicFrame>
    </p:spTree>
    <p:extLst>
      <p:ext uri="{BB962C8B-B14F-4D97-AF65-F5344CB8AC3E}">
        <p14:creationId xmlns:p14="http://schemas.microsoft.com/office/powerpoint/2010/main" val="805036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ctrTitle"/>
          </p:nvPr>
        </p:nvSpPr>
        <p:spPr>
          <a:xfrm>
            <a:off x="3851920" y="1275606"/>
            <a:ext cx="5040560" cy="864095"/>
          </a:xfrm>
        </p:spPr>
        <p:txBody>
          <a:bodyPr/>
          <a:lstStyle/>
          <a:p>
            <a:r>
              <a:rPr lang="en-US" noProof="0" dirty="0"/>
              <a:t>Computational Biomathematics</a:t>
            </a:r>
          </a:p>
        </p:txBody>
      </p:sp>
      <p:sp>
        <p:nvSpPr>
          <p:cNvPr id="4" name="Textfeld 3"/>
          <p:cNvSpPr txBox="1"/>
          <p:nvPr/>
        </p:nvSpPr>
        <p:spPr>
          <a:xfrm>
            <a:off x="6917350" y="4712245"/>
            <a:ext cx="1974066" cy="307777"/>
          </a:xfrm>
          <a:prstGeom prst="rect">
            <a:avLst/>
          </a:prstGeom>
          <a:noFill/>
        </p:spPr>
        <p:txBody>
          <a:bodyPr wrap="none" rtlCol="0">
            <a:spAutoFit/>
          </a:bodyPr>
          <a:lstStyle/>
          <a:p>
            <a:pPr algn="r"/>
            <a:r>
              <a:rPr lang="en-US" sz="1400" noProof="0" dirty="0"/>
              <a:t>florian.rupp@kiu.edu.ge</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v4sBCPrLdUOGmmGtjuAVn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v4sBCPrLdUOGmmGtjuAVn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AV12iISWwkOOVDsSNsZR1w"/>
</p:tagLst>
</file>

<file path=ppt/theme/theme1.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rnd" cmpd="sng" algn="ctr">
          <a:solidFill>
            <a:schemeClr val="phClr">
              <a:shade val="95000"/>
              <a:satMod val="105000"/>
            </a:schemeClr>
          </a:solidFill>
          <a:prstDash val="solid"/>
        </a:ln>
        <a:ln w="25400" cap="rnd" cmpd="sng" algn="ctr">
          <a:solidFill>
            <a:schemeClr val="phClr"/>
          </a:solidFill>
          <a:prstDash val="solid"/>
        </a:ln>
        <a:ln w="38100" cap="rnd" cmpd="sng" algn="ctr">
          <a:solidFill>
            <a:schemeClr val="phClr"/>
          </a:solidFill>
          <a:prstDash val="solid"/>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1190</Words>
  <Application>Microsoft Office PowerPoint</Application>
  <PresentationFormat>Bildschirmpräsentation (16:9)</PresentationFormat>
  <Paragraphs>179</Paragraphs>
  <Slides>15</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15</vt:i4>
      </vt:variant>
    </vt:vector>
  </HeadingPairs>
  <TitlesOfParts>
    <vt:vector size="20" baseType="lpstr">
      <vt:lpstr>Symbol</vt:lpstr>
      <vt:lpstr>Arial</vt:lpstr>
      <vt:lpstr>Courier New</vt:lpstr>
      <vt:lpstr>Calibri</vt:lpstr>
      <vt:lpstr>Larissa-Design</vt:lpstr>
      <vt:lpstr>Computational Biomathematics</vt:lpstr>
      <vt:lpstr>In this lab, we are discussing three cases: 1) Vegetation competition on a lattice</vt:lpstr>
      <vt:lpstr>In this lab, we are discussing three cases: 2) Coral reef/ sessile species competition</vt:lpstr>
      <vt:lpstr>In this lab, we are discussing three cases: 3) Bacterial colony growth (with diffusion-like spreading)</vt:lpstr>
      <vt:lpstr>PowerPoint-Präsentation</vt:lpstr>
      <vt:lpstr>The central goals of this lab are to simulate biological systems and to learn how to use AI responsibly and effectively for scientific simulations</vt:lpstr>
      <vt:lpstr>AI can generate code quickly, but scientific quality depends on whether you provide a precise model description and a clear software structure</vt:lpstr>
      <vt:lpstr>For all three models, a modular structure is recommended</vt:lpstr>
      <vt:lpstr>PowerPoint-Präsentation</vt:lpstr>
      <vt:lpstr>Roadmap A) Session 1: building foundations – 1/ 3</vt:lpstr>
      <vt:lpstr>Roadmap A) Session 1: building foundations – 2/ 3</vt:lpstr>
      <vt:lpstr>Roadmap A) Session 1: building foundations – 3/ 3</vt:lpstr>
      <vt:lpstr>Roadmap B) Session 2: deepening &amp; presentation – 1/ 2</vt:lpstr>
      <vt:lpstr>Roadmap B) Session 2: deepening &amp; presentation – 2/ 2</vt:lpstr>
      <vt:lpstr>Computational Biomathematics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Florian</dc:creator>
  <cp:lastModifiedBy>Florian Rupp</cp:lastModifiedBy>
  <cp:revision>218</cp:revision>
  <dcterms:created xsi:type="dcterms:W3CDTF">2020-04-04T18:50:50Z</dcterms:created>
  <dcterms:modified xsi:type="dcterms:W3CDTF">2026-04-03T17:25:16Z</dcterms:modified>
</cp:coreProperties>
</file>
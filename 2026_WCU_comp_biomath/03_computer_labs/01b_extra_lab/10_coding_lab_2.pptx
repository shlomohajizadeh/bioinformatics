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410" r:id="rId2"/>
    <p:sldId id="431" r:id="rId3"/>
    <p:sldId id="432" r:id="rId4"/>
    <p:sldId id="446" r:id="rId5"/>
    <p:sldId id="459" r:id="rId6"/>
    <p:sldId id="454" r:id="rId7"/>
    <p:sldId id="445" r:id="rId8"/>
    <p:sldId id="447" r:id="rId9"/>
    <p:sldId id="450" r:id="rId10"/>
    <p:sldId id="455" r:id="rId11"/>
    <p:sldId id="456" r:id="rId12"/>
    <p:sldId id="457" r:id="rId13"/>
    <p:sldId id="458" r:id="rId14"/>
    <p:sldId id="452" r:id="rId15"/>
    <p:sldId id="453" r:id="rId16"/>
    <p:sldId id="451" r:id="rId17"/>
    <p:sldId id="460" r:id="rId18"/>
    <p:sldId id="448" r:id="rId19"/>
    <p:sldId id="433" r:id="rId20"/>
    <p:sldId id="434" r:id="rId21"/>
    <p:sldId id="411" r:id="rId22"/>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97356" autoAdjust="0"/>
  </p:normalViewPr>
  <p:slideViewPr>
    <p:cSldViewPr>
      <p:cViewPr varScale="1">
        <p:scale>
          <a:sx n="136" d="100"/>
          <a:sy n="136" d="100"/>
        </p:scale>
        <p:origin x="414" y="132"/>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4/3/2026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2" Type="http://schemas.openxmlformats.org/officeDocument/2006/relationships/tags" Target="../tags/tag33.xml"/><Relationship Id="rId16"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10" Type="http://schemas.openxmlformats.org/officeDocument/2006/relationships/tags" Target="../tags/tag41.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Coding Lab 2 (90 min)</a:t>
            </a:r>
          </a:p>
          <a:p>
            <a:endParaRPr lang="en-US" sz="500" noProof="0" dirty="0"/>
          </a:p>
          <a:p>
            <a:r>
              <a:rPr lang="en-US" noProof="0" dirty="0"/>
              <a:t>Lesson 10</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The individual group tasks</a:t>
            </a:r>
          </a:p>
          <a:p>
            <a:pPr marL="177800" lvl="1" indent="-177800">
              <a:spcAft>
                <a:spcPts val="400"/>
              </a:spcAft>
              <a:buFont typeface="Arial" pitchFamily="34" charset="0"/>
              <a:buChar char="•"/>
            </a:pPr>
            <a:r>
              <a:rPr lang="en-US" sz="1200" noProof="0" dirty="0">
                <a:solidFill>
                  <a:schemeClr val="tx1"/>
                </a:solidFill>
              </a:rPr>
              <a:t>Outlook: “Win Stay – Lose Shift”</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Genetic algorithms adapt the biological processes of selection, mutation, and recombination to optimize a target functional (1/ 2)</a:t>
            </a:r>
          </a:p>
        </p:txBody>
      </p:sp>
      <p:pic>
        <p:nvPicPr>
          <p:cNvPr id="1026" name="Picture 2" descr="https://marlin-prod.literatumonline.com/cms/attachment/aca93b01-c21d-4273-9ca8-e664ed9e5c77/gr5.jpg"/>
          <p:cNvPicPr>
            <a:picLocks noChangeAspect="1" noChangeArrowheads="1"/>
          </p:cNvPicPr>
          <p:nvPr/>
        </p:nvPicPr>
        <p:blipFill>
          <a:blip r:embed="rId2" cstate="print"/>
          <a:srcRect/>
          <a:stretch>
            <a:fillRect/>
          </a:stretch>
        </p:blipFill>
        <p:spPr bwMode="auto">
          <a:xfrm>
            <a:off x="244796" y="987574"/>
            <a:ext cx="2736304" cy="4035279"/>
          </a:xfrm>
          <a:prstGeom prst="rect">
            <a:avLst/>
          </a:prstGeom>
          <a:noFill/>
        </p:spPr>
      </p:pic>
      <p:pic>
        <p:nvPicPr>
          <p:cNvPr id="1028" name="Picture 4" descr="https://www.researchgate.net/profile/J_Arjan_De_Visser/publication/308040697/figure/fig2/AS:667133553958913@1536068442117/Genotype-space-and-fitness-landscape-exploration-a-schematic-representation-of-the.png"/>
          <p:cNvPicPr>
            <a:picLocks noChangeAspect="1" noChangeArrowheads="1"/>
          </p:cNvPicPr>
          <p:nvPr/>
        </p:nvPicPr>
        <p:blipFill>
          <a:blip r:embed="rId3" cstate="print"/>
          <a:srcRect/>
          <a:stretch>
            <a:fillRect/>
          </a:stretch>
        </p:blipFill>
        <p:spPr bwMode="auto">
          <a:xfrm>
            <a:off x="3761901" y="1059582"/>
            <a:ext cx="5123855" cy="396044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Genetic algorithms adapt the biological processes of selection, mutation, and recombination to optimize a target functional (2/ 2)</a:t>
            </a:r>
          </a:p>
        </p:txBody>
      </p:sp>
      <p:sp>
        <p:nvSpPr>
          <p:cNvPr id="3" name="Flussdiagramm: Prozess 2"/>
          <p:cNvSpPr/>
          <p:nvPr/>
        </p:nvSpPr>
        <p:spPr>
          <a:xfrm>
            <a:off x="251520" y="1131590"/>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Initialize Population</a:t>
            </a:r>
          </a:p>
        </p:txBody>
      </p:sp>
      <p:sp>
        <p:nvSpPr>
          <p:cNvPr id="4" name="Flussdiagramm: Prozess 3"/>
          <p:cNvSpPr/>
          <p:nvPr/>
        </p:nvSpPr>
        <p:spPr>
          <a:xfrm>
            <a:off x="251520" y="4227934"/>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Best-Fit</a:t>
            </a:r>
          </a:p>
          <a:p>
            <a:pPr algn="ctr"/>
            <a:r>
              <a:rPr lang="en-US" sz="1400" noProof="0" dirty="0"/>
              <a:t>Population</a:t>
            </a:r>
          </a:p>
        </p:txBody>
      </p:sp>
      <p:sp>
        <p:nvSpPr>
          <p:cNvPr id="5" name="Flussdiagramm: Prozess 4"/>
          <p:cNvSpPr/>
          <p:nvPr/>
        </p:nvSpPr>
        <p:spPr>
          <a:xfrm>
            <a:off x="251520" y="2067694"/>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Calculate</a:t>
            </a:r>
          </a:p>
          <a:p>
            <a:pPr algn="ctr"/>
            <a:r>
              <a:rPr lang="en-US" sz="1400" noProof="0" dirty="0"/>
              <a:t>Fitness</a:t>
            </a:r>
          </a:p>
        </p:txBody>
      </p:sp>
      <p:sp>
        <p:nvSpPr>
          <p:cNvPr id="9" name="Flussdiagramm: Verzweigung 8"/>
          <p:cNvSpPr/>
          <p:nvPr/>
        </p:nvSpPr>
        <p:spPr>
          <a:xfrm>
            <a:off x="251520" y="3039802"/>
            <a:ext cx="1440160" cy="7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400" noProof="0" dirty="0"/>
              <a:t>Criteria Met?</a:t>
            </a:r>
          </a:p>
        </p:txBody>
      </p:sp>
      <p:cxnSp>
        <p:nvCxnSpPr>
          <p:cNvPr id="11" name="Gerade Verbindung mit Pfeil 10"/>
          <p:cNvCxnSpPr>
            <a:stCxn id="3" idx="2"/>
            <a:endCxn id="5" idx="0"/>
          </p:cNvCxnSpPr>
          <p:nvPr/>
        </p:nvCxnSpPr>
        <p:spPr>
          <a:xfrm>
            <a:off x="971600" y="1635646"/>
            <a:ext cx="0" cy="432048"/>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5" name="Gewinkelte Verbindung 14"/>
          <p:cNvCxnSpPr>
            <a:stCxn id="9" idx="3"/>
            <a:endCxn id="22" idx="2"/>
          </p:cNvCxnSpPr>
          <p:nvPr/>
        </p:nvCxnSpPr>
        <p:spPr>
          <a:xfrm>
            <a:off x="1691680" y="3399842"/>
            <a:ext cx="2592288" cy="1404156"/>
          </a:xfrm>
          <a:prstGeom prst="bentConnector4">
            <a:avLst>
              <a:gd name="adj1" fmla="val 55064"/>
              <a:gd name="adj2" fmla="val 110448"/>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6" name="Flussdiagramm: Prozess 15"/>
          <p:cNvSpPr/>
          <p:nvPr/>
        </p:nvSpPr>
        <p:spPr>
          <a:xfrm>
            <a:off x="3419872" y="2067694"/>
            <a:ext cx="5472608" cy="29523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lussdiagramm: Prozess 16"/>
          <p:cNvSpPr/>
          <p:nvPr/>
        </p:nvSpPr>
        <p:spPr>
          <a:xfrm>
            <a:off x="3563888" y="2283718"/>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Mutation</a:t>
            </a:r>
          </a:p>
        </p:txBody>
      </p:sp>
      <p:sp>
        <p:nvSpPr>
          <p:cNvPr id="21" name="Flussdiagramm: Prozess 20"/>
          <p:cNvSpPr/>
          <p:nvPr/>
        </p:nvSpPr>
        <p:spPr>
          <a:xfrm>
            <a:off x="3563888" y="3291830"/>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Crossover/ Recombination</a:t>
            </a:r>
          </a:p>
        </p:txBody>
      </p:sp>
      <p:sp>
        <p:nvSpPr>
          <p:cNvPr id="22" name="Flussdiagramm: Prozess 21"/>
          <p:cNvSpPr/>
          <p:nvPr/>
        </p:nvSpPr>
        <p:spPr>
          <a:xfrm>
            <a:off x="3563888" y="4299942"/>
            <a:ext cx="1440160"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Selection</a:t>
            </a:r>
          </a:p>
        </p:txBody>
      </p:sp>
      <p:cxnSp>
        <p:nvCxnSpPr>
          <p:cNvPr id="28" name="Gerade Verbindung mit Pfeil 27"/>
          <p:cNvCxnSpPr>
            <a:stCxn id="21" idx="0"/>
            <a:endCxn id="17" idx="2"/>
          </p:cNvCxnSpPr>
          <p:nvPr/>
        </p:nvCxnSpPr>
        <p:spPr>
          <a:xfrm flipV="1">
            <a:off x="4283968" y="2787774"/>
            <a:ext cx="0" cy="504056"/>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1" name="Gerade Verbindung mit Pfeil 30"/>
          <p:cNvCxnSpPr>
            <a:stCxn id="22" idx="0"/>
            <a:endCxn id="21" idx="2"/>
          </p:cNvCxnSpPr>
          <p:nvPr/>
        </p:nvCxnSpPr>
        <p:spPr>
          <a:xfrm flipV="1">
            <a:off x="4283968" y="3795886"/>
            <a:ext cx="0" cy="504056"/>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5" name="Textfeld 34"/>
          <p:cNvSpPr txBox="1"/>
          <p:nvPr/>
        </p:nvSpPr>
        <p:spPr>
          <a:xfrm>
            <a:off x="467544" y="3795886"/>
            <a:ext cx="420243" cy="307777"/>
          </a:xfrm>
          <a:prstGeom prst="rect">
            <a:avLst/>
          </a:prstGeom>
          <a:noFill/>
        </p:spPr>
        <p:txBody>
          <a:bodyPr wrap="none" rtlCol="0">
            <a:spAutoFit/>
          </a:bodyPr>
          <a:lstStyle/>
          <a:p>
            <a:r>
              <a:rPr lang="en-US" sz="1400" noProof="0" dirty="0"/>
              <a:t>Yes</a:t>
            </a:r>
          </a:p>
        </p:txBody>
      </p:sp>
      <p:cxnSp>
        <p:nvCxnSpPr>
          <p:cNvPr id="120" name="Gerade Verbindung mit Pfeil 119"/>
          <p:cNvCxnSpPr>
            <a:stCxn id="5" idx="2"/>
            <a:endCxn id="9" idx="0"/>
          </p:cNvCxnSpPr>
          <p:nvPr/>
        </p:nvCxnSpPr>
        <p:spPr>
          <a:xfrm>
            <a:off x="971600" y="2571750"/>
            <a:ext cx="0" cy="468052"/>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1" name="Gerade Verbindung mit Pfeil 120"/>
          <p:cNvCxnSpPr>
            <a:stCxn id="9" idx="2"/>
            <a:endCxn id="4" idx="0"/>
          </p:cNvCxnSpPr>
          <p:nvPr/>
        </p:nvCxnSpPr>
        <p:spPr>
          <a:xfrm>
            <a:off x="971600" y="3759882"/>
            <a:ext cx="0" cy="468052"/>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66" name="Rechteck 165"/>
          <p:cNvSpPr/>
          <p:nvPr/>
        </p:nvSpPr>
        <p:spPr>
          <a:xfrm>
            <a:off x="5220072"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7" name="Rechteck 166"/>
          <p:cNvSpPr/>
          <p:nvPr/>
        </p:nvSpPr>
        <p:spPr>
          <a:xfrm>
            <a:off x="5436096"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8" name="Rechteck 167"/>
          <p:cNvSpPr/>
          <p:nvPr/>
        </p:nvSpPr>
        <p:spPr>
          <a:xfrm>
            <a:off x="5652120"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69" name="Rechteck 168"/>
          <p:cNvSpPr/>
          <p:nvPr/>
        </p:nvSpPr>
        <p:spPr>
          <a:xfrm>
            <a:off x="5940152"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0" name="Rechteck 169"/>
          <p:cNvSpPr/>
          <p:nvPr/>
        </p:nvSpPr>
        <p:spPr>
          <a:xfrm>
            <a:off x="6156176"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71" name="Rechteck 170"/>
          <p:cNvSpPr/>
          <p:nvPr/>
        </p:nvSpPr>
        <p:spPr>
          <a:xfrm>
            <a:off x="6372200"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2" name="Rechteck 171"/>
          <p:cNvSpPr/>
          <p:nvPr/>
        </p:nvSpPr>
        <p:spPr>
          <a:xfrm>
            <a:off x="6660232"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3" name="Rechteck 172"/>
          <p:cNvSpPr/>
          <p:nvPr/>
        </p:nvSpPr>
        <p:spPr>
          <a:xfrm>
            <a:off x="6876256"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4" name="Rechteck 173"/>
          <p:cNvSpPr/>
          <p:nvPr/>
        </p:nvSpPr>
        <p:spPr>
          <a:xfrm>
            <a:off x="7092280"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5" name="Rechteck 174"/>
          <p:cNvSpPr/>
          <p:nvPr/>
        </p:nvSpPr>
        <p:spPr>
          <a:xfrm>
            <a:off x="7380312"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6" name="Rechteck 175"/>
          <p:cNvSpPr/>
          <p:nvPr/>
        </p:nvSpPr>
        <p:spPr>
          <a:xfrm>
            <a:off x="7596336"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7" name="Rechteck 176"/>
          <p:cNvSpPr/>
          <p:nvPr/>
        </p:nvSpPr>
        <p:spPr>
          <a:xfrm>
            <a:off x="7812360" y="422793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8" name="Rechteck 177"/>
          <p:cNvSpPr/>
          <p:nvPr/>
        </p:nvSpPr>
        <p:spPr>
          <a:xfrm>
            <a:off x="5220072"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79" name="Rechteck 178"/>
          <p:cNvSpPr/>
          <p:nvPr/>
        </p:nvSpPr>
        <p:spPr>
          <a:xfrm>
            <a:off x="5436096"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80" name="Rechteck 179"/>
          <p:cNvSpPr/>
          <p:nvPr/>
        </p:nvSpPr>
        <p:spPr>
          <a:xfrm>
            <a:off x="5652120"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81" name="Rechteck 180"/>
          <p:cNvSpPr/>
          <p:nvPr/>
        </p:nvSpPr>
        <p:spPr>
          <a:xfrm>
            <a:off x="5940152"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82" name="Rechteck 181"/>
          <p:cNvSpPr/>
          <p:nvPr/>
        </p:nvSpPr>
        <p:spPr>
          <a:xfrm>
            <a:off x="6156176"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83" name="Rechteck 182"/>
          <p:cNvSpPr/>
          <p:nvPr/>
        </p:nvSpPr>
        <p:spPr>
          <a:xfrm>
            <a:off x="6372200"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84" name="Rechteck 183"/>
          <p:cNvSpPr/>
          <p:nvPr/>
        </p:nvSpPr>
        <p:spPr>
          <a:xfrm>
            <a:off x="6660232" y="4659982"/>
            <a:ext cx="216024" cy="216024"/>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0</a:t>
            </a:r>
          </a:p>
        </p:txBody>
      </p:sp>
      <p:sp>
        <p:nvSpPr>
          <p:cNvPr id="185" name="Rechteck 184"/>
          <p:cNvSpPr/>
          <p:nvPr/>
        </p:nvSpPr>
        <p:spPr>
          <a:xfrm>
            <a:off x="6876256" y="4659982"/>
            <a:ext cx="216024" cy="216024"/>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0</a:t>
            </a:r>
          </a:p>
        </p:txBody>
      </p:sp>
      <p:sp>
        <p:nvSpPr>
          <p:cNvPr id="186" name="Rechteck 185"/>
          <p:cNvSpPr/>
          <p:nvPr/>
        </p:nvSpPr>
        <p:spPr>
          <a:xfrm>
            <a:off x="7092280" y="4659982"/>
            <a:ext cx="216024" cy="216024"/>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0</a:t>
            </a:r>
          </a:p>
        </p:txBody>
      </p:sp>
      <p:sp>
        <p:nvSpPr>
          <p:cNvPr id="187" name="Rechteck 186"/>
          <p:cNvSpPr/>
          <p:nvPr/>
        </p:nvSpPr>
        <p:spPr>
          <a:xfrm>
            <a:off x="7380312"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88" name="Rechteck 187"/>
          <p:cNvSpPr/>
          <p:nvPr/>
        </p:nvSpPr>
        <p:spPr>
          <a:xfrm>
            <a:off x="7596336"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89" name="Rechteck 188"/>
          <p:cNvSpPr/>
          <p:nvPr/>
        </p:nvSpPr>
        <p:spPr>
          <a:xfrm>
            <a:off x="7812360" y="465998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98" name="Flussdiagramm: Prozess 197"/>
          <p:cNvSpPr/>
          <p:nvPr/>
        </p:nvSpPr>
        <p:spPr>
          <a:xfrm>
            <a:off x="3419872" y="1779662"/>
            <a:ext cx="5472608" cy="28803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Generate new Population</a:t>
            </a:r>
          </a:p>
        </p:txBody>
      </p:sp>
      <p:sp>
        <p:nvSpPr>
          <p:cNvPr id="201" name="Textfeld 200"/>
          <p:cNvSpPr txBox="1"/>
          <p:nvPr/>
        </p:nvSpPr>
        <p:spPr>
          <a:xfrm>
            <a:off x="8172400" y="4193814"/>
            <a:ext cx="689163" cy="276999"/>
          </a:xfrm>
          <a:prstGeom prst="rect">
            <a:avLst/>
          </a:prstGeom>
          <a:noFill/>
        </p:spPr>
        <p:txBody>
          <a:bodyPr wrap="none" rtlCol="0">
            <a:spAutoFit/>
          </a:bodyPr>
          <a:lstStyle/>
          <a:p>
            <a:r>
              <a:rPr lang="en-US" sz="1200" noProof="0" dirty="0"/>
              <a:t>children</a:t>
            </a:r>
          </a:p>
        </p:txBody>
      </p:sp>
      <p:sp>
        <p:nvSpPr>
          <p:cNvPr id="204" name="Textfeld 203"/>
          <p:cNvSpPr txBox="1"/>
          <p:nvPr/>
        </p:nvSpPr>
        <p:spPr>
          <a:xfrm>
            <a:off x="8172400" y="4625862"/>
            <a:ext cx="657296" cy="276999"/>
          </a:xfrm>
          <a:prstGeom prst="rect">
            <a:avLst/>
          </a:prstGeom>
          <a:noFill/>
        </p:spPr>
        <p:txBody>
          <a:bodyPr wrap="none" rtlCol="0">
            <a:spAutoFit/>
          </a:bodyPr>
          <a:lstStyle/>
          <a:p>
            <a:r>
              <a:rPr lang="en-US" sz="1200" noProof="0" dirty="0"/>
              <a:t>parents</a:t>
            </a:r>
          </a:p>
        </p:txBody>
      </p:sp>
      <p:sp>
        <p:nvSpPr>
          <p:cNvPr id="205" name="Rechteck 204"/>
          <p:cNvSpPr/>
          <p:nvPr/>
        </p:nvSpPr>
        <p:spPr>
          <a:xfrm>
            <a:off x="1907704"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06" name="Rechteck 205"/>
          <p:cNvSpPr/>
          <p:nvPr/>
        </p:nvSpPr>
        <p:spPr>
          <a:xfrm>
            <a:off x="2123728"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07" name="Rechteck 206"/>
          <p:cNvSpPr/>
          <p:nvPr/>
        </p:nvSpPr>
        <p:spPr>
          <a:xfrm>
            <a:off x="2339752"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08" name="Rechteck 207"/>
          <p:cNvSpPr/>
          <p:nvPr/>
        </p:nvSpPr>
        <p:spPr>
          <a:xfrm>
            <a:off x="2699792"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09" name="Rechteck 208"/>
          <p:cNvSpPr/>
          <p:nvPr/>
        </p:nvSpPr>
        <p:spPr>
          <a:xfrm>
            <a:off x="2915816"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10" name="Rechteck 209"/>
          <p:cNvSpPr/>
          <p:nvPr/>
        </p:nvSpPr>
        <p:spPr>
          <a:xfrm>
            <a:off x="3131840" y="113159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11" name="Rechteck 210"/>
          <p:cNvSpPr/>
          <p:nvPr/>
        </p:nvSpPr>
        <p:spPr>
          <a:xfrm>
            <a:off x="1907704"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12" name="Rechteck 211"/>
          <p:cNvSpPr/>
          <p:nvPr/>
        </p:nvSpPr>
        <p:spPr>
          <a:xfrm>
            <a:off x="2123728"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13" name="Rechteck 212"/>
          <p:cNvSpPr/>
          <p:nvPr/>
        </p:nvSpPr>
        <p:spPr>
          <a:xfrm>
            <a:off x="2339752"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14" name="Rechteck 213"/>
          <p:cNvSpPr/>
          <p:nvPr/>
        </p:nvSpPr>
        <p:spPr>
          <a:xfrm>
            <a:off x="2699792"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15" name="Rechteck 214"/>
          <p:cNvSpPr/>
          <p:nvPr/>
        </p:nvSpPr>
        <p:spPr>
          <a:xfrm>
            <a:off x="2915816"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16" name="Rechteck 215"/>
          <p:cNvSpPr/>
          <p:nvPr/>
        </p:nvSpPr>
        <p:spPr>
          <a:xfrm>
            <a:off x="3131840" y="14196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cxnSp>
        <p:nvCxnSpPr>
          <p:cNvPr id="218" name="Gewinkelte Verbindung 217"/>
          <p:cNvCxnSpPr>
            <a:stCxn id="17" idx="0"/>
            <a:endCxn id="5" idx="3"/>
          </p:cNvCxnSpPr>
          <p:nvPr/>
        </p:nvCxnSpPr>
        <p:spPr>
          <a:xfrm rot="16200000" flipH="1" flipV="1">
            <a:off x="2969822" y="1005576"/>
            <a:ext cx="36004" cy="2592288"/>
          </a:xfrm>
          <a:prstGeom prst="bentConnector4">
            <a:avLst>
              <a:gd name="adj1" fmla="val -388538"/>
              <a:gd name="adj2" fmla="val 44783"/>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28" name="Gerade Verbindung mit Pfeil 227"/>
          <p:cNvCxnSpPr>
            <a:stCxn id="179" idx="0"/>
            <a:endCxn id="167" idx="2"/>
          </p:cNvCxnSpPr>
          <p:nvPr/>
        </p:nvCxnSpPr>
        <p:spPr>
          <a:xfrm flipV="1">
            <a:off x="5544108" y="4443958"/>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30" name="Gerade Verbindung mit Pfeil 229"/>
          <p:cNvCxnSpPr>
            <a:stCxn id="182" idx="0"/>
            <a:endCxn id="170" idx="2"/>
          </p:cNvCxnSpPr>
          <p:nvPr/>
        </p:nvCxnSpPr>
        <p:spPr>
          <a:xfrm flipV="1">
            <a:off x="6264188" y="4443958"/>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32" name="Gerade Verbindung mit Pfeil 231"/>
          <p:cNvCxnSpPr>
            <a:stCxn id="188" idx="0"/>
            <a:endCxn id="176" idx="2"/>
          </p:cNvCxnSpPr>
          <p:nvPr/>
        </p:nvCxnSpPr>
        <p:spPr>
          <a:xfrm flipV="1">
            <a:off x="7704348" y="4443958"/>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34" name="Gewinkelte Verbindung 233"/>
          <p:cNvCxnSpPr>
            <a:stCxn id="188" idx="0"/>
            <a:endCxn id="173" idx="2"/>
          </p:cNvCxnSpPr>
          <p:nvPr/>
        </p:nvCxnSpPr>
        <p:spPr>
          <a:xfrm rot="16200000" flipV="1">
            <a:off x="7236296" y="4191930"/>
            <a:ext cx="216024" cy="720080"/>
          </a:xfrm>
          <a:prstGeom prst="bentConnector3">
            <a:avLst>
              <a:gd name="adj1" fmla="val 31047"/>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6" name="Gruppieren 285"/>
          <p:cNvGrpSpPr/>
          <p:nvPr/>
        </p:nvGrpSpPr>
        <p:grpSpPr>
          <a:xfrm>
            <a:off x="5220072" y="2177590"/>
            <a:ext cx="3641491" cy="709047"/>
            <a:chOff x="5220072" y="2177590"/>
            <a:chExt cx="3641491" cy="709047"/>
          </a:xfrm>
        </p:grpSpPr>
        <p:sp>
          <p:nvSpPr>
            <p:cNvPr id="142" name="Rechteck 141"/>
            <p:cNvSpPr/>
            <p:nvPr/>
          </p:nvSpPr>
          <p:spPr>
            <a:xfrm>
              <a:off x="5220072"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3" name="Rechteck 142"/>
            <p:cNvSpPr/>
            <p:nvPr/>
          </p:nvSpPr>
          <p:spPr>
            <a:xfrm>
              <a:off x="5436096"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4" name="Rechteck 143"/>
            <p:cNvSpPr/>
            <p:nvPr/>
          </p:nvSpPr>
          <p:spPr>
            <a:xfrm>
              <a:off x="5652120"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5" name="Rechteck 144"/>
            <p:cNvSpPr/>
            <p:nvPr/>
          </p:nvSpPr>
          <p:spPr>
            <a:xfrm>
              <a:off x="5940152"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6" name="Rechteck 145"/>
            <p:cNvSpPr/>
            <p:nvPr/>
          </p:nvSpPr>
          <p:spPr>
            <a:xfrm>
              <a:off x="6156176"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47" name="Rechteck 146"/>
            <p:cNvSpPr/>
            <p:nvPr/>
          </p:nvSpPr>
          <p:spPr>
            <a:xfrm>
              <a:off x="6372200" y="2211710"/>
              <a:ext cx="216024" cy="216024"/>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8" name="Rechteck 147"/>
            <p:cNvSpPr/>
            <p:nvPr/>
          </p:nvSpPr>
          <p:spPr>
            <a:xfrm>
              <a:off x="6660232"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49" name="Rechteck 148"/>
            <p:cNvSpPr/>
            <p:nvPr/>
          </p:nvSpPr>
          <p:spPr>
            <a:xfrm>
              <a:off x="6876256"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0" name="Rechteck 149"/>
            <p:cNvSpPr/>
            <p:nvPr/>
          </p:nvSpPr>
          <p:spPr>
            <a:xfrm>
              <a:off x="7092280"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1" name="Rechteck 150"/>
            <p:cNvSpPr/>
            <p:nvPr/>
          </p:nvSpPr>
          <p:spPr>
            <a:xfrm>
              <a:off x="7380312"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2" name="Rechteck 151"/>
            <p:cNvSpPr/>
            <p:nvPr/>
          </p:nvSpPr>
          <p:spPr>
            <a:xfrm>
              <a:off x="7596336"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3" name="Rechteck 152"/>
            <p:cNvSpPr/>
            <p:nvPr/>
          </p:nvSpPr>
          <p:spPr>
            <a:xfrm>
              <a:off x="7812360" y="221171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4" name="Rechteck 153"/>
            <p:cNvSpPr/>
            <p:nvPr/>
          </p:nvSpPr>
          <p:spPr>
            <a:xfrm>
              <a:off x="5220072"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5" name="Rechteck 154"/>
            <p:cNvSpPr/>
            <p:nvPr/>
          </p:nvSpPr>
          <p:spPr>
            <a:xfrm>
              <a:off x="5436096"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6" name="Rechteck 155"/>
            <p:cNvSpPr/>
            <p:nvPr/>
          </p:nvSpPr>
          <p:spPr>
            <a:xfrm>
              <a:off x="5652120"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7" name="Rechteck 156"/>
            <p:cNvSpPr/>
            <p:nvPr/>
          </p:nvSpPr>
          <p:spPr>
            <a:xfrm>
              <a:off x="5940152"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58" name="Rechteck 157"/>
            <p:cNvSpPr/>
            <p:nvPr/>
          </p:nvSpPr>
          <p:spPr>
            <a:xfrm>
              <a:off x="6156176"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59" name="Rechteck 158"/>
            <p:cNvSpPr/>
            <p:nvPr/>
          </p:nvSpPr>
          <p:spPr>
            <a:xfrm>
              <a:off x="6372200"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160" name="Rechteck 159"/>
            <p:cNvSpPr/>
            <p:nvPr/>
          </p:nvSpPr>
          <p:spPr>
            <a:xfrm>
              <a:off x="6660232"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1" name="Rechteck 160"/>
            <p:cNvSpPr/>
            <p:nvPr/>
          </p:nvSpPr>
          <p:spPr>
            <a:xfrm>
              <a:off x="6876256"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2" name="Rechteck 161"/>
            <p:cNvSpPr/>
            <p:nvPr/>
          </p:nvSpPr>
          <p:spPr>
            <a:xfrm>
              <a:off x="7092280"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3" name="Rechteck 162"/>
            <p:cNvSpPr/>
            <p:nvPr/>
          </p:nvSpPr>
          <p:spPr>
            <a:xfrm>
              <a:off x="7380312"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4" name="Rechteck 163"/>
            <p:cNvSpPr/>
            <p:nvPr/>
          </p:nvSpPr>
          <p:spPr>
            <a:xfrm>
              <a:off x="7596336"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65" name="Rechteck 164"/>
            <p:cNvSpPr/>
            <p:nvPr/>
          </p:nvSpPr>
          <p:spPr>
            <a:xfrm>
              <a:off x="7812360" y="264375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199" name="Textfeld 198"/>
            <p:cNvSpPr txBox="1"/>
            <p:nvPr/>
          </p:nvSpPr>
          <p:spPr>
            <a:xfrm>
              <a:off x="8172400" y="2177590"/>
              <a:ext cx="689163" cy="276999"/>
            </a:xfrm>
            <a:prstGeom prst="rect">
              <a:avLst/>
            </a:prstGeom>
            <a:noFill/>
          </p:spPr>
          <p:txBody>
            <a:bodyPr wrap="none" rtlCol="0">
              <a:spAutoFit/>
            </a:bodyPr>
            <a:lstStyle/>
            <a:p>
              <a:r>
                <a:rPr lang="en-US" sz="1200" noProof="0" dirty="0"/>
                <a:t>children</a:t>
              </a:r>
            </a:p>
          </p:txBody>
        </p:sp>
        <p:sp>
          <p:nvSpPr>
            <p:cNvPr id="202" name="Textfeld 201"/>
            <p:cNvSpPr txBox="1"/>
            <p:nvPr/>
          </p:nvSpPr>
          <p:spPr>
            <a:xfrm>
              <a:off x="8172400" y="2609638"/>
              <a:ext cx="657296" cy="276999"/>
            </a:xfrm>
            <a:prstGeom prst="rect">
              <a:avLst/>
            </a:prstGeom>
            <a:noFill/>
          </p:spPr>
          <p:txBody>
            <a:bodyPr wrap="none" rtlCol="0">
              <a:spAutoFit/>
            </a:bodyPr>
            <a:lstStyle/>
            <a:p>
              <a:r>
                <a:rPr lang="en-US" sz="1200" noProof="0" dirty="0"/>
                <a:t>parents</a:t>
              </a:r>
            </a:p>
          </p:txBody>
        </p:sp>
        <p:cxnSp>
          <p:nvCxnSpPr>
            <p:cNvPr id="245" name="Gerade Verbindung mit Pfeil 244"/>
            <p:cNvCxnSpPr>
              <a:stCxn id="158" idx="0"/>
              <a:endCxn id="146" idx="2"/>
            </p:cNvCxnSpPr>
            <p:nvPr/>
          </p:nvCxnSpPr>
          <p:spPr>
            <a:xfrm flipV="1">
              <a:off x="6264188" y="2427734"/>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6" name="Gerade Verbindung mit Pfeil 245"/>
            <p:cNvCxnSpPr>
              <a:stCxn id="161" idx="0"/>
              <a:endCxn id="149" idx="2"/>
            </p:cNvCxnSpPr>
            <p:nvPr/>
          </p:nvCxnSpPr>
          <p:spPr>
            <a:xfrm flipV="1">
              <a:off x="6984268" y="2427734"/>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7" name="Gerade Verbindung mit Pfeil 246"/>
            <p:cNvCxnSpPr>
              <a:stCxn id="155" idx="0"/>
              <a:endCxn id="143" idx="2"/>
            </p:cNvCxnSpPr>
            <p:nvPr/>
          </p:nvCxnSpPr>
          <p:spPr>
            <a:xfrm flipV="1">
              <a:off x="5544108" y="2427734"/>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4" name="Gerade Verbindung mit Pfeil 253"/>
            <p:cNvCxnSpPr>
              <a:stCxn id="164" idx="0"/>
              <a:endCxn id="152" idx="2"/>
            </p:cNvCxnSpPr>
            <p:nvPr/>
          </p:nvCxnSpPr>
          <p:spPr>
            <a:xfrm flipV="1">
              <a:off x="7704348" y="2427734"/>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grpSp>
        <p:nvGrpSpPr>
          <p:cNvPr id="7" name="Gruppieren 284"/>
          <p:cNvGrpSpPr/>
          <p:nvPr/>
        </p:nvGrpSpPr>
        <p:grpSpPr>
          <a:xfrm>
            <a:off x="5220072" y="3185702"/>
            <a:ext cx="3641491" cy="826208"/>
            <a:chOff x="5220072" y="3185702"/>
            <a:chExt cx="3641491" cy="826208"/>
          </a:xfrm>
        </p:grpSpPr>
        <p:sp>
          <p:nvSpPr>
            <p:cNvPr id="53" name="Rechteck 52"/>
            <p:cNvSpPr/>
            <p:nvPr/>
          </p:nvSpPr>
          <p:spPr>
            <a:xfrm>
              <a:off x="5220072"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54" name="Rechteck 53"/>
            <p:cNvSpPr/>
            <p:nvPr/>
          </p:nvSpPr>
          <p:spPr>
            <a:xfrm>
              <a:off x="5436096"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55" name="Rechteck 54"/>
            <p:cNvSpPr/>
            <p:nvPr/>
          </p:nvSpPr>
          <p:spPr>
            <a:xfrm>
              <a:off x="5652120"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56" name="Rechteck 55"/>
            <p:cNvSpPr/>
            <p:nvPr/>
          </p:nvSpPr>
          <p:spPr>
            <a:xfrm>
              <a:off x="5940152"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57" name="Rechteck 56"/>
            <p:cNvSpPr/>
            <p:nvPr/>
          </p:nvSpPr>
          <p:spPr>
            <a:xfrm>
              <a:off x="6156176"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58" name="Rechteck 57"/>
            <p:cNvSpPr/>
            <p:nvPr/>
          </p:nvSpPr>
          <p:spPr>
            <a:xfrm>
              <a:off x="6372200"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59" name="Rechteck 58"/>
            <p:cNvSpPr/>
            <p:nvPr/>
          </p:nvSpPr>
          <p:spPr>
            <a:xfrm>
              <a:off x="6660232"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0" name="Rechteck 59"/>
            <p:cNvSpPr/>
            <p:nvPr/>
          </p:nvSpPr>
          <p:spPr>
            <a:xfrm>
              <a:off x="6876256"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1" name="Rechteck 60"/>
            <p:cNvSpPr/>
            <p:nvPr/>
          </p:nvSpPr>
          <p:spPr>
            <a:xfrm>
              <a:off x="7092280"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2" name="Rechteck 61"/>
            <p:cNvSpPr/>
            <p:nvPr/>
          </p:nvSpPr>
          <p:spPr>
            <a:xfrm>
              <a:off x="7380312"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3" name="Rechteck 62"/>
            <p:cNvSpPr/>
            <p:nvPr/>
          </p:nvSpPr>
          <p:spPr>
            <a:xfrm>
              <a:off x="7596336"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4" name="Rechteck 63"/>
            <p:cNvSpPr/>
            <p:nvPr/>
          </p:nvSpPr>
          <p:spPr>
            <a:xfrm>
              <a:off x="7812360" y="3219822"/>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5" name="Rechteck 64"/>
            <p:cNvSpPr/>
            <p:nvPr/>
          </p:nvSpPr>
          <p:spPr>
            <a:xfrm>
              <a:off x="5220072"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6" name="Rechteck 65"/>
            <p:cNvSpPr/>
            <p:nvPr/>
          </p:nvSpPr>
          <p:spPr>
            <a:xfrm>
              <a:off x="5436096"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7" name="Rechteck 66"/>
            <p:cNvSpPr/>
            <p:nvPr/>
          </p:nvSpPr>
          <p:spPr>
            <a:xfrm>
              <a:off x="5652120"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68" name="Rechteck 67"/>
            <p:cNvSpPr/>
            <p:nvPr/>
          </p:nvSpPr>
          <p:spPr>
            <a:xfrm>
              <a:off x="5940152"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69" name="Rechteck 68"/>
            <p:cNvSpPr/>
            <p:nvPr/>
          </p:nvSpPr>
          <p:spPr>
            <a:xfrm>
              <a:off x="6156176"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70" name="Rechteck 69"/>
            <p:cNvSpPr/>
            <p:nvPr/>
          </p:nvSpPr>
          <p:spPr>
            <a:xfrm>
              <a:off x="6372200"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1" name="Rechteck 70"/>
            <p:cNvSpPr/>
            <p:nvPr/>
          </p:nvSpPr>
          <p:spPr>
            <a:xfrm>
              <a:off x="6660232"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2" name="Rechteck 71"/>
            <p:cNvSpPr/>
            <p:nvPr/>
          </p:nvSpPr>
          <p:spPr>
            <a:xfrm>
              <a:off x="6876256"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3" name="Rechteck 72"/>
            <p:cNvSpPr/>
            <p:nvPr/>
          </p:nvSpPr>
          <p:spPr>
            <a:xfrm>
              <a:off x="7092280"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4" name="Rechteck 73"/>
            <p:cNvSpPr/>
            <p:nvPr/>
          </p:nvSpPr>
          <p:spPr>
            <a:xfrm>
              <a:off x="7380312"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5" name="Rechteck 74"/>
            <p:cNvSpPr/>
            <p:nvPr/>
          </p:nvSpPr>
          <p:spPr>
            <a:xfrm>
              <a:off x="7596336"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76" name="Rechteck 75"/>
            <p:cNvSpPr/>
            <p:nvPr/>
          </p:nvSpPr>
          <p:spPr>
            <a:xfrm>
              <a:off x="7812360" y="365187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00" name="Textfeld 199"/>
            <p:cNvSpPr txBox="1"/>
            <p:nvPr/>
          </p:nvSpPr>
          <p:spPr>
            <a:xfrm>
              <a:off x="8172400" y="3185702"/>
              <a:ext cx="689163" cy="276999"/>
            </a:xfrm>
            <a:prstGeom prst="rect">
              <a:avLst/>
            </a:prstGeom>
            <a:noFill/>
          </p:spPr>
          <p:txBody>
            <a:bodyPr wrap="none" rtlCol="0">
              <a:spAutoFit/>
            </a:bodyPr>
            <a:lstStyle/>
            <a:p>
              <a:r>
                <a:rPr lang="en-US" sz="1200" noProof="0" dirty="0"/>
                <a:t>children</a:t>
              </a:r>
            </a:p>
          </p:txBody>
        </p:sp>
        <p:sp>
          <p:nvSpPr>
            <p:cNvPr id="203" name="Textfeld 202"/>
            <p:cNvSpPr txBox="1"/>
            <p:nvPr/>
          </p:nvSpPr>
          <p:spPr>
            <a:xfrm>
              <a:off x="8172400" y="3617750"/>
              <a:ext cx="657296" cy="276999"/>
            </a:xfrm>
            <a:prstGeom prst="rect">
              <a:avLst/>
            </a:prstGeom>
            <a:noFill/>
          </p:spPr>
          <p:txBody>
            <a:bodyPr wrap="none" rtlCol="0">
              <a:spAutoFit/>
            </a:bodyPr>
            <a:lstStyle/>
            <a:p>
              <a:r>
                <a:rPr lang="en-US" sz="1200" noProof="0" dirty="0"/>
                <a:t>parents</a:t>
              </a:r>
            </a:p>
          </p:txBody>
        </p:sp>
        <p:cxnSp>
          <p:nvCxnSpPr>
            <p:cNvPr id="258" name="Gerade Verbindung 257"/>
            <p:cNvCxnSpPr/>
            <p:nvPr/>
          </p:nvCxnSpPr>
          <p:spPr>
            <a:xfrm>
              <a:off x="5652120" y="3579862"/>
              <a:ext cx="0" cy="360040"/>
            </a:xfrm>
            <a:prstGeom prst="lin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59" name="Gerade Verbindung 258"/>
            <p:cNvCxnSpPr/>
            <p:nvPr/>
          </p:nvCxnSpPr>
          <p:spPr>
            <a:xfrm>
              <a:off x="6372200" y="3579862"/>
              <a:ext cx="0" cy="360040"/>
            </a:xfrm>
            <a:prstGeom prst="lin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60" name="Gerade Verbindung 259"/>
            <p:cNvCxnSpPr/>
            <p:nvPr/>
          </p:nvCxnSpPr>
          <p:spPr>
            <a:xfrm>
              <a:off x="6876256" y="3579862"/>
              <a:ext cx="0" cy="360040"/>
            </a:xfrm>
            <a:prstGeom prst="lin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61" name="Gerade Verbindung 260"/>
            <p:cNvCxnSpPr/>
            <p:nvPr/>
          </p:nvCxnSpPr>
          <p:spPr>
            <a:xfrm>
              <a:off x="7596336" y="3579862"/>
              <a:ext cx="0" cy="360040"/>
            </a:xfrm>
            <a:prstGeom prst="lin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262" name="Runde Klammer links 261"/>
            <p:cNvSpPr/>
            <p:nvPr/>
          </p:nvSpPr>
          <p:spPr>
            <a:xfrm rot="16200000">
              <a:off x="5868144" y="3291830"/>
              <a:ext cx="72008" cy="1368152"/>
            </a:xfrm>
            <a:prstGeom prst="leftBracket">
              <a:avLst>
                <a:gd name="adj" fmla="val 10092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3" name="Runde Klammer links 262"/>
            <p:cNvSpPr/>
            <p:nvPr/>
          </p:nvSpPr>
          <p:spPr>
            <a:xfrm rot="16200000">
              <a:off x="7308304" y="3291830"/>
              <a:ext cx="72008" cy="1368152"/>
            </a:xfrm>
            <a:prstGeom prst="leftBracket">
              <a:avLst>
                <a:gd name="adj" fmla="val 10092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64" name="Gerade Verbindung mit Pfeil 263"/>
            <p:cNvCxnSpPr>
              <a:stCxn id="65" idx="0"/>
              <a:endCxn id="53" idx="2"/>
            </p:cNvCxnSpPr>
            <p:nvPr/>
          </p:nvCxnSpPr>
          <p:spPr>
            <a:xfrm flipV="1">
              <a:off x="5328084" y="3435846"/>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67" name="Gerade Verbindung mit Pfeil 266"/>
            <p:cNvCxnSpPr>
              <a:stCxn id="66" idx="0"/>
              <a:endCxn id="54" idx="2"/>
            </p:cNvCxnSpPr>
            <p:nvPr/>
          </p:nvCxnSpPr>
          <p:spPr>
            <a:xfrm flipV="1">
              <a:off x="5544108" y="3435846"/>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73" name="Gewinkelte Verbindung 272"/>
            <p:cNvCxnSpPr>
              <a:stCxn id="70" idx="0"/>
              <a:endCxn id="55" idx="2"/>
            </p:cNvCxnSpPr>
            <p:nvPr/>
          </p:nvCxnSpPr>
          <p:spPr>
            <a:xfrm rot="16200000" flipV="1">
              <a:off x="6012160" y="3183818"/>
              <a:ext cx="216024" cy="720080"/>
            </a:xfrm>
            <a:prstGeom prst="bentConnector3">
              <a:avLst>
                <a:gd name="adj1" fmla="val 5000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76" name="Gewinkelte Verbindung 275"/>
            <p:cNvCxnSpPr>
              <a:stCxn id="75" idx="0"/>
              <a:endCxn id="60" idx="2"/>
            </p:cNvCxnSpPr>
            <p:nvPr/>
          </p:nvCxnSpPr>
          <p:spPr>
            <a:xfrm rot="16200000" flipV="1">
              <a:off x="7236296" y="3183818"/>
              <a:ext cx="216024" cy="720080"/>
            </a:xfrm>
            <a:prstGeom prst="bentConnector3">
              <a:avLst>
                <a:gd name="adj1" fmla="val 5000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79" name="Gewinkelte Verbindung 278"/>
            <p:cNvCxnSpPr>
              <a:stCxn id="76" idx="0"/>
              <a:endCxn id="61" idx="2"/>
            </p:cNvCxnSpPr>
            <p:nvPr/>
          </p:nvCxnSpPr>
          <p:spPr>
            <a:xfrm rot="16200000" flipV="1">
              <a:off x="7452320" y="3183818"/>
              <a:ext cx="216024" cy="720080"/>
            </a:xfrm>
            <a:prstGeom prst="bentConnector3">
              <a:avLst>
                <a:gd name="adj1" fmla="val 5000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82" name="Gerade Verbindung mit Pfeil 281"/>
            <p:cNvCxnSpPr>
              <a:stCxn id="71" idx="0"/>
              <a:endCxn id="59" idx="2"/>
            </p:cNvCxnSpPr>
            <p:nvPr/>
          </p:nvCxnSpPr>
          <p:spPr>
            <a:xfrm flipV="1">
              <a:off x="6768244" y="3435846"/>
              <a:ext cx="0" cy="216024"/>
            </a:xfrm>
            <a:prstGeom prst="straightConnector1">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287" name="Rechteck 286"/>
          <p:cNvSpPr/>
          <p:nvPr/>
        </p:nvSpPr>
        <p:spPr>
          <a:xfrm>
            <a:off x="2339752" y="350785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88" name="Rechteck 287"/>
          <p:cNvSpPr/>
          <p:nvPr/>
        </p:nvSpPr>
        <p:spPr>
          <a:xfrm>
            <a:off x="2555776" y="350785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89" name="Rechteck 288"/>
          <p:cNvSpPr/>
          <p:nvPr/>
        </p:nvSpPr>
        <p:spPr>
          <a:xfrm>
            <a:off x="2771800" y="3507854"/>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90" name="Rechteck 289"/>
          <p:cNvSpPr/>
          <p:nvPr/>
        </p:nvSpPr>
        <p:spPr>
          <a:xfrm>
            <a:off x="2339752" y="3795886"/>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91" name="Rechteck 290"/>
          <p:cNvSpPr/>
          <p:nvPr/>
        </p:nvSpPr>
        <p:spPr>
          <a:xfrm>
            <a:off x="2555776" y="3795886"/>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92" name="Rechteck 291"/>
          <p:cNvSpPr/>
          <p:nvPr/>
        </p:nvSpPr>
        <p:spPr>
          <a:xfrm>
            <a:off x="2771800" y="3795886"/>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93" name="Rechteck 292"/>
          <p:cNvSpPr/>
          <p:nvPr/>
        </p:nvSpPr>
        <p:spPr>
          <a:xfrm>
            <a:off x="2339752" y="408391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94" name="Rechteck 293"/>
          <p:cNvSpPr/>
          <p:nvPr/>
        </p:nvSpPr>
        <p:spPr>
          <a:xfrm>
            <a:off x="2555776" y="408391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1</a:t>
            </a:r>
          </a:p>
        </p:txBody>
      </p:sp>
      <p:sp>
        <p:nvSpPr>
          <p:cNvPr id="295" name="Rechteck 294"/>
          <p:cNvSpPr/>
          <p:nvPr/>
        </p:nvSpPr>
        <p:spPr>
          <a:xfrm>
            <a:off x="2771800" y="408391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96" name="Rechteck 295"/>
          <p:cNvSpPr/>
          <p:nvPr/>
        </p:nvSpPr>
        <p:spPr>
          <a:xfrm>
            <a:off x="2339752" y="437195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97" name="Rechteck 296"/>
          <p:cNvSpPr/>
          <p:nvPr/>
        </p:nvSpPr>
        <p:spPr>
          <a:xfrm>
            <a:off x="2555776" y="437195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98" name="Rechteck 297"/>
          <p:cNvSpPr/>
          <p:nvPr/>
        </p:nvSpPr>
        <p:spPr>
          <a:xfrm>
            <a:off x="2771800" y="4371950"/>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t>0</a:t>
            </a:r>
          </a:p>
        </p:txBody>
      </p:sp>
      <p:sp>
        <p:nvSpPr>
          <p:cNvPr id="299" name="Textfeld 298"/>
          <p:cNvSpPr txBox="1"/>
          <p:nvPr/>
        </p:nvSpPr>
        <p:spPr>
          <a:xfrm>
            <a:off x="1691680" y="3003798"/>
            <a:ext cx="394660" cy="307777"/>
          </a:xfrm>
          <a:prstGeom prst="rect">
            <a:avLst/>
          </a:prstGeom>
          <a:noFill/>
        </p:spPr>
        <p:txBody>
          <a:bodyPr wrap="none" rtlCol="0">
            <a:spAutoFit/>
          </a:bodyPr>
          <a:lstStyle/>
          <a:p>
            <a:r>
              <a:rPr lang="en-US" sz="1400" noProof="0" dirty="0"/>
              <a:t>No</a:t>
            </a:r>
          </a:p>
        </p:txBody>
      </p:sp>
      <p:sp>
        <p:nvSpPr>
          <p:cNvPr id="300" name="Ellipse 299"/>
          <p:cNvSpPr/>
          <p:nvPr/>
        </p:nvSpPr>
        <p:spPr>
          <a:xfrm>
            <a:off x="2051720" y="3507854"/>
            <a:ext cx="21602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3</a:t>
            </a:r>
          </a:p>
        </p:txBody>
      </p:sp>
      <p:sp>
        <p:nvSpPr>
          <p:cNvPr id="301" name="Ellipse 300"/>
          <p:cNvSpPr/>
          <p:nvPr/>
        </p:nvSpPr>
        <p:spPr>
          <a:xfrm>
            <a:off x="2051720" y="3795886"/>
            <a:ext cx="21602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2</a:t>
            </a:r>
          </a:p>
        </p:txBody>
      </p:sp>
      <p:sp>
        <p:nvSpPr>
          <p:cNvPr id="302" name="Ellipse 301"/>
          <p:cNvSpPr/>
          <p:nvPr/>
        </p:nvSpPr>
        <p:spPr>
          <a:xfrm>
            <a:off x="2051720" y="4083918"/>
            <a:ext cx="21602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2</a:t>
            </a:r>
          </a:p>
        </p:txBody>
      </p:sp>
      <p:sp>
        <p:nvSpPr>
          <p:cNvPr id="303" name="Ellipse 302"/>
          <p:cNvSpPr/>
          <p:nvPr/>
        </p:nvSpPr>
        <p:spPr>
          <a:xfrm>
            <a:off x="2051720" y="4371950"/>
            <a:ext cx="216024" cy="216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0</a:t>
            </a:r>
          </a:p>
        </p:txBody>
      </p:sp>
      <p:cxnSp>
        <p:nvCxnSpPr>
          <p:cNvPr id="305" name="Gerade Verbindung 304"/>
          <p:cNvCxnSpPr/>
          <p:nvPr/>
        </p:nvCxnSpPr>
        <p:spPr>
          <a:xfrm flipH="1">
            <a:off x="2051720" y="4659982"/>
            <a:ext cx="936104" cy="0"/>
          </a:xfrm>
          <a:prstGeom prst="line">
            <a:avLst/>
          </a:prstGeom>
          <a:noFill/>
        </p:spPr>
        <p:style>
          <a:lnRef idx="2">
            <a:schemeClr val="accent1">
              <a:shade val="50000"/>
            </a:schemeClr>
          </a:lnRef>
          <a:fillRef idx="1">
            <a:schemeClr val="accent1"/>
          </a:fillRef>
          <a:effectRef idx="0">
            <a:schemeClr val="accent1"/>
          </a:effectRef>
          <a:fontRef idx="minor">
            <a:schemeClr val="lt1"/>
          </a:fontRef>
        </p:style>
      </p:cxnSp>
      <p:sp>
        <p:nvSpPr>
          <p:cNvPr id="307" name="Textfeld 306"/>
          <p:cNvSpPr txBox="1"/>
          <p:nvPr/>
        </p:nvSpPr>
        <p:spPr>
          <a:xfrm>
            <a:off x="2051720" y="4731990"/>
            <a:ext cx="931665" cy="246221"/>
          </a:xfrm>
          <a:prstGeom prst="rect">
            <a:avLst/>
          </a:prstGeom>
          <a:noFill/>
        </p:spPr>
        <p:txBody>
          <a:bodyPr wrap="none" rtlCol="0">
            <a:spAutoFit/>
          </a:bodyPr>
          <a:lstStyle/>
          <a:p>
            <a:pPr algn="ctr"/>
            <a:r>
              <a:rPr lang="en-US" sz="1000" noProof="0" dirty="0"/>
              <a:t>7/4 &lt; criterion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9E4BC-AC25-3E05-BDD7-5F72CF24447B}"/>
              </a:ext>
            </a:extLst>
          </p:cNvPr>
          <p:cNvSpPr>
            <a:spLocks noGrp="1"/>
          </p:cNvSpPr>
          <p:nvPr>
            <p:ph type="title"/>
          </p:nvPr>
        </p:nvSpPr>
        <p:spPr/>
        <p:txBody>
          <a:bodyPr/>
          <a:lstStyle/>
          <a:p>
            <a:r>
              <a:rPr lang="en-US" noProof="0" dirty="0"/>
              <a:t>Genetic Algorithms Lab:</a:t>
            </a:r>
            <a:br>
              <a:rPr lang="en-US" noProof="0" dirty="0"/>
            </a:br>
            <a:r>
              <a:rPr lang="en-US" noProof="0" dirty="0"/>
              <a:t>Group Tasks</a:t>
            </a:r>
          </a:p>
        </p:txBody>
      </p:sp>
      <p:sp>
        <p:nvSpPr>
          <p:cNvPr id="3" name="Rechteck 2">
            <a:extLst>
              <a:ext uri="{FF2B5EF4-FFF2-40B4-BE49-F238E27FC236}">
                <a16:creationId xmlns:a16="http://schemas.microsoft.com/office/drawing/2014/main" id="{FEA8136B-4FAB-BF8C-BA00-459B226B22FB}"/>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General Instruction (for all groups):</a:t>
            </a:r>
          </a:p>
          <a:p>
            <a:pPr algn="just">
              <a:spcAft>
                <a:spcPts val="600"/>
              </a:spcAft>
            </a:pPr>
            <a:r>
              <a:rPr lang="en-US" sz="1400" noProof="0" dirty="0">
                <a:solidFill>
                  <a:schemeClr val="tx1"/>
                </a:solidFill>
              </a:rPr>
              <a:t>All groups implement a genetic algorithm with the following components:</a:t>
            </a:r>
          </a:p>
          <a:p>
            <a:pPr marL="285750" indent="-285750" algn="just">
              <a:spcAft>
                <a:spcPts val="600"/>
              </a:spcAft>
              <a:buFont typeface="Arial" panose="020B0604020202020204" pitchFamily="34" charset="0"/>
              <a:buChar char="•"/>
            </a:pPr>
            <a:r>
              <a:rPr lang="en-US" sz="1400" noProof="0" dirty="0">
                <a:solidFill>
                  <a:schemeClr val="tx1"/>
                </a:solidFill>
              </a:rPr>
              <a:t>Initialize population</a:t>
            </a:r>
          </a:p>
          <a:p>
            <a:pPr marL="285750" indent="-285750" algn="just">
              <a:spcAft>
                <a:spcPts val="600"/>
              </a:spcAft>
              <a:buFont typeface="Arial" panose="020B0604020202020204" pitchFamily="34" charset="0"/>
              <a:buChar char="•"/>
            </a:pPr>
            <a:r>
              <a:rPr lang="en-US" sz="1400" noProof="0" dirty="0">
                <a:solidFill>
                  <a:schemeClr val="tx1"/>
                </a:solidFill>
              </a:rPr>
              <a:t>Evaluate fitness</a:t>
            </a:r>
          </a:p>
          <a:p>
            <a:pPr marL="285750" indent="-285750" algn="just">
              <a:spcAft>
                <a:spcPts val="600"/>
              </a:spcAft>
              <a:buFont typeface="Arial" panose="020B0604020202020204" pitchFamily="34" charset="0"/>
              <a:buChar char="•"/>
            </a:pPr>
            <a:r>
              <a:rPr lang="en-US" sz="1400" noProof="0" dirty="0">
                <a:solidFill>
                  <a:schemeClr val="tx1"/>
                </a:solidFill>
              </a:rPr>
              <a:t>Selection (e.g., survival tournament)</a:t>
            </a:r>
          </a:p>
          <a:p>
            <a:pPr marL="285750" indent="-285750" algn="just">
              <a:spcAft>
                <a:spcPts val="600"/>
              </a:spcAft>
              <a:buFont typeface="Arial" panose="020B0604020202020204" pitchFamily="34" charset="0"/>
              <a:buChar char="•"/>
            </a:pPr>
            <a:r>
              <a:rPr lang="en-US" sz="1400" noProof="0" dirty="0">
                <a:solidFill>
                  <a:schemeClr val="tx1"/>
                </a:solidFill>
              </a:rPr>
              <a:t>Crossover (recombination)</a:t>
            </a:r>
          </a:p>
          <a:p>
            <a:pPr marL="285750" indent="-285750" algn="just">
              <a:spcAft>
                <a:spcPts val="600"/>
              </a:spcAft>
              <a:buFont typeface="Arial" panose="020B0604020202020204" pitchFamily="34" charset="0"/>
              <a:buChar char="•"/>
            </a:pPr>
            <a:r>
              <a:rPr lang="en-US" sz="1400" noProof="0" dirty="0">
                <a:solidFill>
                  <a:schemeClr val="tx1"/>
                </a:solidFill>
              </a:rPr>
              <a:t>Mutation (variation)</a:t>
            </a:r>
          </a:p>
          <a:p>
            <a:pPr marL="285750" indent="-285750" algn="just">
              <a:spcAft>
                <a:spcPts val="600"/>
              </a:spcAft>
              <a:buFont typeface="Arial" panose="020B0604020202020204" pitchFamily="34" charset="0"/>
              <a:buChar char="•"/>
            </a:pPr>
            <a:r>
              <a:rPr lang="en-US" sz="1400" noProof="0" dirty="0">
                <a:solidFill>
                  <a:schemeClr val="tx1"/>
                </a:solidFill>
              </a:rPr>
              <a:t>Iterate over generations</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Your goal is not only to run the algorithm, but to:</a:t>
            </a:r>
          </a:p>
          <a:p>
            <a:pPr marL="285750" indent="-285750" algn="just">
              <a:spcAft>
                <a:spcPts val="600"/>
              </a:spcAft>
              <a:buFont typeface="Arial" panose="020B0604020202020204" pitchFamily="34" charset="0"/>
              <a:buChar char="•"/>
            </a:pPr>
            <a:r>
              <a:rPr lang="en-US" sz="1400" noProof="0" dirty="0">
                <a:solidFill>
                  <a:schemeClr val="tx1"/>
                </a:solidFill>
              </a:rPr>
              <a:t>design a good prompt,</a:t>
            </a:r>
          </a:p>
          <a:p>
            <a:pPr marL="285750" indent="-285750" algn="just">
              <a:spcAft>
                <a:spcPts val="600"/>
              </a:spcAft>
              <a:buFont typeface="Arial" panose="020B0604020202020204" pitchFamily="34" charset="0"/>
              <a:buChar char="•"/>
            </a:pPr>
            <a:r>
              <a:rPr lang="en-US" sz="1400" noProof="0" dirty="0">
                <a:solidFill>
                  <a:schemeClr val="tx1"/>
                </a:solidFill>
              </a:rPr>
              <a:t>understand the biology behind the model, and</a:t>
            </a:r>
          </a:p>
          <a:p>
            <a:pPr marL="285750" indent="-285750" algn="just">
              <a:spcAft>
                <a:spcPts val="600"/>
              </a:spcAft>
              <a:buFont typeface="Arial" panose="020B0604020202020204" pitchFamily="34" charset="0"/>
              <a:buChar char="•"/>
            </a:pPr>
            <a:r>
              <a:rPr lang="en-US" sz="1400" noProof="0" dirty="0">
                <a:solidFill>
                  <a:schemeClr val="tx1"/>
                </a:solidFill>
              </a:rPr>
              <a:t>interpret the results.</a:t>
            </a:r>
          </a:p>
        </p:txBody>
      </p:sp>
      <p:sp>
        <p:nvSpPr>
          <p:cNvPr id="4" name="Rechteck 3">
            <a:extLst>
              <a:ext uri="{FF2B5EF4-FFF2-40B4-BE49-F238E27FC236}">
                <a16:creationId xmlns:a16="http://schemas.microsoft.com/office/drawing/2014/main" id="{2AB22008-7E2F-84BC-B0E2-D4A2B973C4BC}"/>
              </a:ext>
            </a:extLst>
          </p:cNvPr>
          <p:cNvSpPr/>
          <p:nvPr/>
        </p:nvSpPr>
        <p:spPr>
          <a:xfrm>
            <a:off x="6012160" y="3795886"/>
            <a:ext cx="2808312" cy="115212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A genetic algorithm is not just a computational trick; it is a simplified model of evolution acting on traits, parameters, or strategies.</a:t>
            </a:r>
          </a:p>
        </p:txBody>
      </p:sp>
      <p:sp>
        <p:nvSpPr>
          <p:cNvPr id="5" name="Rechteck 4">
            <a:extLst>
              <a:ext uri="{FF2B5EF4-FFF2-40B4-BE49-F238E27FC236}">
                <a16:creationId xmlns:a16="http://schemas.microsoft.com/office/drawing/2014/main" id="{1C35EF7F-436C-0F00-9AC1-D89D5EEF5195}"/>
              </a:ext>
            </a:extLst>
          </p:cNvPr>
          <p:cNvSpPr/>
          <p:nvPr/>
        </p:nvSpPr>
        <p:spPr>
          <a:xfrm>
            <a:off x="251520" y="1131590"/>
            <a:ext cx="1296144" cy="709613"/>
          </a:xfrm>
          <a:prstGeom prst="rect">
            <a:avLst/>
          </a:prstGeom>
          <a:solidFill>
            <a:schemeClr val="bg1">
              <a:lumMod val="8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Evolution of a Trait</a:t>
            </a:r>
          </a:p>
        </p:txBody>
      </p:sp>
      <p:sp>
        <p:nvSpPr>
          <p:cNvPr id="6" name="Rechteck 5">
            <a:extLst>
              <a:ext uri="{FF2B5EF4-FFF2-40B4-BE49-F238E27FC236}">
                <a16:creationId xmlns:a16="http://schemas.microsoft.com/office/drawing/2014/main" id="{58210FBA-CCFB-E7D7-2EA8-58124309933E}"/>
              </a:ext>
            </a:extLst>
          </p:cNvPr>
          <p:cNvSpPr/>
          <p:nvPr/>
        </p:nvSpPr>
        <p:spPr>
          <a:xfrm>
            <a:off x="251520" y="1923678"/>
            <a:ext cx="1296144" cy="709613"/>
          </a:xfrm>
          <a:prstGeom prst="rect">
            <a:avLst/>
          </a:prstGeom>
          <a:solidFill>
            <a:schemeClr val="bg1">
              <a:lumMod val="8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Fitting a Population Model</a:t>
            </a:r>
          </a:p>
        </p:txBody>
      </p:sp>
      <p:sp>
        <p:nvSpPr>
          <p:cNvPr id="7" name="Rechteck 6">
            <a:extLst>
              <a:ext uri="{FF2B5EF4-FFF2-40B4-BE49-F238E27FC236}">
                <a16:creationId xmlns:a16="http://schemas.microsoft.com/office/drawing/2014/main" id="{F57F3F8A-4747-A290-319D-277EF75D30B7}"/>
              </a:ext>
            </a:extLst>
          </p:cNvPr>
          <p:cNvSpPr/>
          <p:nvPr/>
        </p:nvSpPr>
        <p:spPr>
          <a:xfrm>
            <a:off x="251520" y="2715766"/>
            <a:ext cx="1296144" cy="709613"/>
          </a:xfrm>
          <a:prstGeom prst="rect">
            <a:avLst/>
          </a:prstGeom>
          <a:solidFill>
            <a:schemeClr val="bg1">
              <a:lumMod val="8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Evolution of Antibiotic Resistance </a:t>
            </a:r>
          </a:p>
        </p:txBody>
      </p:sp>
      <p:sp>
        <p:nvSpPr>
          <p:cNvPr id="8" name="Rechteck 7">
            <a:extLst>
              <a:ext uri="{FF2B5EF4-FFF2-40B4-BE49-F238E27FC236}">
                <a16:creationId xmlns:a16="http://schemas.microsoft.com/office/drawing/2014/main" id="{6B623053-89C1-0188-D1E4-D81D19028377}"/>
              </a:ext>
            </a:extLst>
          </p:cNvPr>
          <p:cNvSpPr/>
          <p:nvPr/>
        </p:nvSpPr>
        <p:spPr>
          <a:xfrm>
            <a:off x="251520" y="3507854"/>
            <a:ext cx="1296144" cy="709613"/>
          </a:xfrm>
          <a:prstGeom prst="rect">
            <a:avLst/>
          </a:prstGeom>
          <a:solidFill>
            <a:schemeClr val="bg1">
              <a:lumMod val="8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Evolution of Cooperation Strategies </a:t>
            </a:r>
          </a:p>
        </p:txBody>
      </p:sp>
    </p:spTree>
    <p:extLst>
      <p:ext uri="{BB962C8B-B14F-4D97-AF65-F5344CB8AC3E}">
        <p14:creationId xmlns:p14="http://schemas.microsoft.com/office/powerpoint/2010/main" val="1698289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FE7222-8276-5F91-451F-D8AB8516BB11}"/>
              </a:ext>
            </a:extLst>
          </p:cNvPr>
          <p:cNvSpPr>
            <a:spLocks noGrp="1"/>
          </p:cNvSpPr>
          <p:nvPr>
            <p:ph type="title"/>
          </p:nvPr>
        </p:nvSpPr>
        <p:spPr/>
        <p:txBody>
          <a:bodyPr/>
          <a:lstStyle/>
          <a:p>
            <a:r>
              <a:rPr lang="en-US" noProof="0" dirty="0"/>
              <a:t>Genetic Algorithms Lab:</a:t>
            </a:r>
            <a:br>
              <a:rPr lang="en-US" noProof="0" dirty="0"/>
            </a:br>
            <a:r>
              <a:rPr lang="en-US" noProof="0" dirty="0"/>
              <a:t>Common Implementation Guidance (for all groups)</a:t>
            </a:r>
          </a:p>
        </p:txBody>
      </p:sp>
      <p:sp>
        <p:nvSpPr>
          <p:cNvPr id="3" name="Rechteck 2">
            <a:extLst>
              <a:ext uri="{FF2B5EF4-FFF2-40B4-BE49-F238E27FC236}">
                <a16:creationId xmlns:a16="http://schemas.microsoft.com/office/drawing/2014/main" id="{85EE9F69-72E8-E3D0-4981-B223BE979DE7}"/>
              </a:ext>
            </a:extLst>
          </p:cNvPr>
          <p:cNvSpPr/>
          <p:nvPr/>
        </p:nvSpPr>
        <p:spPr>
          <a:xfrm>
            <a:off x="251520" y="1131590"/>
            <a:ext cx="4248472" cy="172819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Minimal Structure:</a:t>
            </a:r>
          </a:p>
        </p:txBody>
      </p:sp>
      <p:sp>
        <p:nvSpPr>
          <p:cNvPr id="4" name="Rechteck 3">
            <a:extLst>
              <a:ext uri="{FF2B5EF4-FFF2-40B4-BE49-F238E27FC236}">
                <a16:creationId xmlns:a16="http://schemas.microsoft.com/office/drawing/2014/main" id="{719C0A88-F218-B1ED-30B6-60581E90C6B5}"/>
              </a:ext>
            </a:extLst>
          </p:cNvPr>
          <p:cNvSpPr/>
          <p:nvPr/>
        </p:nvSpPr>
        <p:spPr>
          <a:xfrm>
            <a:off x="4652392" y="1133604"/>
            <a:ext cx="4248472" cy="3886417"/>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Important Advice:</a:t>
            </a:r>
          </a:p>
          <a:p>
            <a:pPr marL="182563" indent="-182563">
              <a:spcAft>
                <a:spcPts val="600"/>
              </a:spcAft>
              <a:buFont typeface="Arial" panose="020B0604020202020204" pitchFamily="34" charset="0"/>
              <a:buChar char="•"/>
            </a:pPr>
            <a:r>
              <a:rPr lang="en-US" sz="1400" noProof="0" dirty="0">
                <a:solidFill>
                  <a:schemeClr val="tx1"/>
                </a:solidFill>
              </a:rPr>
              <a:t>Before using AI: define your model clearly</a:t>
            </a:r>
          </a:p>
          <a:p>
            <a:pPr marL="182563" indent="-182563">
              <a:spcAft>
                <a:spcPts val="600"/>
              </a:spcAft>
              <a:buFont typeface="Arial" panose="020B0604020202020204" pitchFamily="34" charset="0"/>
              <a:buChar char="•"/>
            </a:pPr>
            <a:r>
              <a:rPr lang="en-US" sz="1400" noProof="0" dirty="0">
                <a:solidFill>
                  <a:schemeClr val="tx1"/>
                </a:solidFill>
              </a:rPr>
              <a:t>When using AI: ask for</a:t>
            </a:r>
          </a:p>
          <a:p>
            <a:pPr marL="450850" lvl="1" indent="-268288">
              <a:spcAft>
                <a:spcPts val="600"/>
              </a:spcAft>
              <a:buFont typeface="Symbol" panose="05050102010706020507" pitchFamily="18" charset="2"/>
              <a:buChar char="-"/>
            </a:pPr>
            <a:r>
              <a:rPr lang="en-US" sz="1400" noProof="0" dirty="0">
                <a:solidFill>
                  <a:schemeClr val="tx1"/>
                </a:solidFill>
              </a:rPr>
              <a:t>modular code</a:t>
            </a:r>
          </a:p>
          <a:p>
            <a:pPr marL="450850" lvl="1" indent="-268288">
              <a:spcAft>
                <a:spcPts val="600"/>
              </a:spcAft>
              <a:buFont typeface="Symbol" panose="05050102010706020507" pitchFamily="18" charset="2"/>
              <a:buChar char="-"/>
            </a:pPr>
            <a:r>
              <a:rPr lang="en-US" sz="1400" noProof="0" dirty="0">
                <a:solidFill>
                  <a:schemeClr val="tx1"/>
                </a:solidFill>
              </a:rPr>
              <a:t>simple implementation</a:t>
            </a:r>
          </a:p>
          <a:p>
            <a:pPr marL="450850" lvl="1" indent="-268288">
              <a:spcAft>
                <a:spcPts val="600"/>
              </a:spcAft>
              <a:buFont typeface="Symbol" panose="05050102010706020507" pitchFamily="18" charset="2"/>
              <a:buChar char="-"/>
            </a:pPr>
            <a:r>
              <a:rPr lang="en-US" sz="1400" noProof="0" dirty="0">
                <a:solidFill>
                  <a:schemeClr val="tx1"/>
                </a:solidFill>
              </a:rPr>
              <a:t>comments</a:t>
            </a:r>
          </a:p>
          <a:p>
            <a:pPr marL="182563" indent="-182563">
              <a:spcAft>
                <a:spcPts val="600"/>
              </a:spcAft>
              <a:buFont typeface="Arial" panose="020B0604020202020204" pitchFamily="34" charset="0"/>
              <a:buChar char="•"/>
            </a:pPr>
            <a:r>
              <a:rPr lang="en-US" sz="1400" noProof="0" dirty="0">
                <a:solidFill>
                  <a:schemeClr val="tx1"/>
                </a:solidFill>
              </a:rPr>
              <a:t>After using AI: verify</a:t>
            </a:r>
          </a:p>
          <a:p>
            <a:pPr marL="450850" lvl="1" indent="-268288">
              <a:spcAft>
                <a:spcPts val="600"/>
              </a:spcAft>
              <a:buFont typeface="Symbol" panose="05050102010706020507" pitchFamily="18" charset="2"/>
              <a:buChar char="-"/>
            </a:pPr>
            <a:r>
              <a:rPr lang="en-US" sz="1400" noProof="0" dirty="0">
                <a:solidFill>
                  <a:schemeClr val="tx1"/>
                </a:solidFill>
              </a:rPr>
              <a:t>fitness function</a:t>
            </a:r>
          </a:p>
          <a:p>
            <a:pPr marL="450850" lvl="1" indent="-268288">
              <a:spcAft>
                <a:spcPts val="600"/>
              </a:spcAft>
              <a:buFont typeface="Symbol" panose="05050102010706020507" pitchFamily="18" charset="2"/>
              <a:buChar char="-"/>
            </a:pPr>
            <a:r>
              <a:rPr lang="en-US" sz="1400" noProof="0" dirty="0">
                <a:solidFill>
                  <a:schemeClr val="tx1"/>
                </a:solidFill>
              </a:rPr>
              <a:t>mutation</a:t>
            </a:r>
          </a:p>
          <a:p>
            <a:pPr marL="450850" lvl="1" indent="-268288">
              <a:spcAft>
                <a:spcPts val="600"/>
              </a:spcAft>
              <a:buFont typeface="Symbol" panose="05050102010706020507" pitchFamily="18" charset="2"/>
              <a:buChar char="-"/>
            </a:pPr>
            <a:r>
              <a:rPr lang="en-US" sz="1400" noProof="0" dirty="0">
                <a:solidFill>
                  <a:schemeClr val="tx1"/>
                </a:solidFill>
              </a:rPr>
              <a:t>selection</a:t>
            </a:r>
          </a:p>
        </p:txBody>
      </p:sp>
      <p:sp>
        <p:nvSpPr>
          <p:cNvPr id="5" name="Rechteck 4">
            <a:extLst>
              <a:ext uri="{FF2B5EF4-FFF2-40B4-BE49-F238E27FC236}">
                <a16:creationId xmlns:a16="http://schemas.microsoft.com/office/drawing/2014/main" id="{19CD3177-66DE-52F0-10B6-9BC9689BD8F2}"/>
              </a:ext>
            </a:extLst>
          </p:cNvPr>
          <p:cNvSpPr/>
          <p:nvPr/>
        </p:nvSpPr>
        <p:spPr>
          <a:xfrm>
            <a:off x="251520" y="3003798"/>
            <a:ext cx="4248472" cy="201622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Visualization (required):</a:t>
            </a:r>
          </a:p>
          <a:p>
            <a:pPr marL="182563" indent="-182563">
              <a:spcAft>
                <a:spcPts val="600"/>
              </a:spcAft>
              <a:buFont typeface="Arial" panose="020B0604020202020204" pitchFamily="34" charset="0"/>
              <a:buChar char="•"/>
            </a:pPr>
            <a:r>
              <a:rPr lang="en-US" sz="1400" noProof="0" dirty="0">
                <a:solidFill>
                  <a:schemeClr val="tx1"/>
                </a:solidFill>
              </a:rPr>
              <a:t>best fitness over time</a:t>
            </a:r>
          </a:p>
          <a:p>
            <a:pPr marL="182563" indent="-182563">
              <a:spcAft>
                <a:spcPts val="600"/>
              </a:spcAft>
              <a:buFont typeface="Arial" panose="020B0604020202020204" pitchFamily="34" charset="0"/>
              <a:buChar char="•"/>
            </a:pPr>
            <a:r>
              <a:rPr lang="en-US" sz="1400" noProof="0" dirty="0">
                <a:solidFill>
                  <a:schemeClr val="tx1"/>
                </a:solidFill>
              </a:rPr>
              <a:t>average fitness over time</a:t>
            </a:r>
          </a:p>
        </p:txBody>
      </p:sp>
      <p:sp>
        <p:nvSpPr>
          <p:cNvPr id="7" name="Textfeld 6">
            <a:extLst>
              <a:ext uri="{FF2B5EF4-FFF2-40B4-BE49-F238E27FC236}">
                <a16:creationId xmlns:a16="http://schemas.microsoft.com/office/drawing/2014/main" id="{B2CD0227-06EC-170E-0E19-9A05BA52AACE}"/>
              </a:ext>
            </a:extLst>
          </p:cNvPr>
          <p:cNvSpPr txBox="1"/>
          <p:nvPr/>
        </p:nvSpPr>
        <p:spPr>
          <a:xfrm>
            <a:off x="363024" y="1563638"/>
            <a:ext cx="3992952" cy="1169551"/>
          </a:xfrm>
          <a:prstGeom prst="rect">
            <a:avLst/>
          </a:prstGeom>
          <a:solidFill>
            <a:schemeClr val="tx2">
              <a:lumMod val="20000"/>
              <a:lumOff val="80000"/>
            </a:schemeClr>
          </a:solidFill>
        </p:spPr>
        <p:txBody>
          <a:bodyPr wrap="square">
            <a:spAutoFit/>
          </a:bodyPr>
          <a:lstStyle/>
          <a:p>
            <a:r>
              <a:rPr lang="en-US" sz="1000" noProof="0" dirty="0">
                <a:latin typeface="Courier New" panose="02070309020205020404" pitchFamily="49" charset="0"/>
                <a:cs typeface="Courier New" panose="02070309020205020404" pitchFamily="49" charset="0"/>
              </a:rPr>
              <a:t>population = </a:t>
            </a:r>
            <a:r>
              <a:rPr lang="en-US" sz="1000" noProof="0" dirty="0" err="1">
                <a:latin typeface="Courier New" panose="02070309020205020404" pitchFamily="49" charset="0"/>
                <a:cs typeface="Courier New" panose="02070309020205020404" pitchFamily="49" charset="0"/>
              </a:rPr>
              <a:t>initialize_population</a:t>
            </a:r>
            <a:r>
              <a:rPr lang="en-US" sz="1000" noProof="0" dirty="0">
                <a:latin typeface="Courier New" panose="02070309020205020404" pitchFamily="49" charset="0"/>
                <a:cs typeface="Courier New" panose="02070309020205020404" pitchFamily="49" charset="0"/>
              </a:rPr>
              <a:t>()</a:t>
            </a:r>
          </a:p>
          <a:p>
            <a:endParaRPr lang="en-US" sz="1000" noProof="0" dirty="0">
              <a:latin typeface="Courier New" panose="02070309020205020404" pitchFamily="49" charset="0"/>
              <a:cs typeface="Courier New" panose="02070309020205020404" pitchFamily="49" charset="0"/>
            </a:endParaRPr>
          </a:p>
          <a:p>
            <a:r>
              <a:rPr lang="en-US" sz="1000" noProof="0" dirty="0">
                <a:latin typeface="Courier New" panose="02070309020205020404" pitchFamily="49" charset="0"/>
                <a:cs typeface="Courier New" panose="02070309020205020404" pitchFamily="49" charset="0"/>
              </a:rPr>
              <a:t>for generation in range(T):</a:t>
            </a:r>
          </a:p>
          <a:p>
            <a:r>
              <a:rPr lang="en-US" sz="1000" noProof="0" dirty="0">
                <a:latin typeface="Courier New" panose="02070309020205020404" pitchFamily="49" charset="0"/>
                <a:cs typeface="Courier New" panose="02070309020205020404" pitchFamily="49" charset="0"/>
              </a:rPr>
              <a:t>    fitness = evaluate(population)</a:t>
            </a:r>
          </a:p>
          <a:p>
            <a:r>
              <a:rPr lang="en-US" sz="1000" noProof="0" dirty="0">
                <a:latin typeface="Courier New" panose="02070309020205020404" pitchFamily="49" charset="0"/>
                <a:cs typeface="Courier New" panose="02070309020205020404" pitchFamily="49" charset="0"/>
              </a:rPr>
              <a:t>    selected = selection(population, fitness)</a:t>
            </a:r>
          </a:p>
          <a:p>
            <a:r>
              <a:rPr lang="en-US" sz="1000" noProof="0" dirty="0">
                <a:latin typeface="Courier New" panose="02070309020205020404" pitchFamily="49" charset="0"/>
                <a:cs typeface="Courier New" panose="02070309020205020404" pitchFamily="49" charset="0"/>
              </a:rPr>
              <a:t>    offspring = crossover(selected)</a:t>
            </a:r>
          </a:p>
          <a:p>
            <a:r>
              <a:rPr lang="en-US" sz="1000" noProof="0" dirty="0">
                <a:latin typeface="Courier New" panose="02070309020205020404" pitchFamily="49" charset="0"/>
                <a:cs typeface="Courier New" panose="02070309020205020404" pitchFamily="49" charset="0"/>
              </a:rPr>
              <a:t>    population = mutate(offspring)</a:t>
            </a:r>
          </a:p>
        </p:txBody>
      </p:sp>
    </p:spTree>
    <p:extLst>
      <p:ext uri="{BB962C8B-B14F-4D97-AF65-F5344CB8AC3E}">
        <p14:creationId xmlns:p14="http://schemas.microsoft.com/office/powerpoint/2010/main" val="2034822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5C9F49-7BDD-6387-60D8-22BA78163002}"/>
              </a:ext>
            </a:extLst>
          </p:cNvPr>
          <p:cNvSpPr>
            <a:spLocks noGrp="1"/>
          </p:cNvSpPr>
          <p:nvPr>
            <p:ph type="title"/>
          </p:nvPr>
        </p:nvSpPr>
        <p:spPr/>
        <p:txBody>
          <a:bodyPr/>
          <a:lstStyle/>
          <a:p>
            <a:r>
              <a:rPr lang="en-US" noProof="0" dirty="0"/>
              <a:t>Genetic Algorithms Lab:</a:t>
            </a:r>
            <a:br>
              <a:rPr lang="en-US" noProof="0" dirty="0"/>
            </a:br>
            <a:r>
              <a:rPr lang="en-US" noProof="0" dirty="0"/>
              <a:t>Link to Lab 1</a:t>
            </a:r>
          </a:p>
        </p:txBody>
      </p:sp>
      <p:graphicFrame>
        <p:nvGraphicFramePr>
          <p:cNvPr id="3" name="Tabelle 2">
            <a:extLst>
              <a:ext uri="{FF2B5EF4-FFF2-40B4-BE49-F238E27FC236}">
                <a16:creationId xmlns:a16="http://schemas.microsoft.com/office/drawing/2014/main" id="{343867F3-937B-1A6B-AAC5-AACCBB7A49F7}"/>
              </a:ext>
            </a:extLst>
          </p:cNvPr>
          <p:cNvGraphicFramePr>
            <a:graphicFrameLocks noGrp="1"/>
          </p:cNvGraphicFramePr>
          <p:nvPr>
            <p:extLst>
              <p:ext uri="{D42A27DB-BD31-4B8C-83A1-F6EECF244321}">
                <p14:modId xmlns:p14="http://schemas.microsoft.com/office/powerpoint/2010/main" val="3491230229"/>
              </p:ext>
            </p:extLst>
          </p:nvPr>
        </p:nvGraphicFramePr>
        <p:xfrm>
          <a:off x="971600" y="1131590"/>
          <a:ext cx="7200800" cy="1219200"/>
        </p:xfrm>
        <a:graphic>
          <a:graphicData uri="http://schemas.openxmlformats.org/drawingml/2006/table">
            <a:tbl>
              <a:tblPr firstRow="1" bandRow="1">
                <a:tableStyleId>{5C22544A-7EE6-4342-B048-85BDC9FD1C3A}</a:tableStyleId>
              </a:tblPr>
              <a:tblGrid>
                <a:gridCol w="3600400">
                  <a:extLst>
                    <a:ext uri="{9D8B030D-6E8A-4147-A177-3AD203B41FA5}">
                      <a16:colId xmlns:a16="http://schemas.microsoft.com/office/drawing/2014/main" val="3577289553"/>
                    </a:ext>
                  </a:extLst>
                </a:gridCol>
                <a:gridCol w="3600400">
                  <a:extLst>
                    <a:ext uri="{9D8B030D-6E8A-4147-A177-3AD203B41FA5}">
                      <a16:colId xmlns:a16="http://schemas.microsoft.com/office/drawing/2014/main" val="187927456"/>
                    </a:ext>
                  </a:extLst>
                </a:gridCol>
              </a:tblGrid>
              <a:tr h="0">
                <a:tc>
                  <a:txBody>
                    <a:bodyPr/>
                    <a:lstStyle/>
                    <a:p>
                      <a:pPr algn="ctr"/>
                      <a:r>
                        <a:rPr lang="en-US" sz="1400" noProof="0" dirty="0"/>
                        <a:t>Lab 1</a:t>
                      </a:r>
                    </a:p>
                  </a:txBody>
                  <a:tcPr/>
                </a:tc>
                <a:tc>
                  <a:txBody>
                    <a:bodyPr/>
                    <a:lstStyle/>
                    <a:p>
                      <a:pPr algn="ctr"/>
                      <a:r>
                        <a:rPr lang="en-US" sz="1400" noProof="0" dirty="0"/>
                        <a:t>Lab 2</a:t>
                      </a:r>
                    </a:p>
                  </a:txBody>
                  <a:tcPr/>
                </a:tc>
                <a:extLst>
                  <a:ext uri="{0D108BD9-81ED-4DB2-BD59-A6C34878D82A}">
                    <a16:rowId xmlns:a16="http://schemas.microsoft.com/office/drawing/2014/main" val="2949776700"/>
                  </a:ext>
                </a:extLst>
              </a:tr>
              <a:tr h="0">
                <a:tc>
                  <a:txBody>
                    <a:bodyPr/>
                    <a:lstStyle/>
                    <a:p>
                      <a:pPr algn="ctr"/>
                      <a:r>
                        <a:rPr lang="en-US" sz="1400" noProof="0" dirty="0"/>
                        <a:t>local rules</a:t>
                      </a:r>
                    </a:p>
                  </a:txBody>
                  <a:tcPr/>
                </a:tc>
                <a:tc>
                  <a:txBody>
                    <a:bodyPr/>
                    <a:lstStyle/>
                    <a:p>
                      <a:pPr algn="ctr"/>
                      <a:r>
                        <a:rPr lang="en-US" sz="1400" noProof="0" dirty="0"/>
                        <a:t>global optimization</a:t>
                      </a:r>
                    </a:p>
                  </a:txBody>
                  <a:tcPr/>
                </a:tc>
                <a:extLst>
                  <a:ext uri="{0D108BD9-81ED-4DB2-BD59-A6C34878D82A}">
                    <a16:rowId xmlns:a16="http://schemas.microsoft.com/office/drawing/2014/main" val="352200701"/>
                  </a:ext>
                </a:extLst>
              </a:tr>
              <a:tr h="0">
                <a:tc>
                  <a:txBody>
                    <a:bodyPr/>
                    <a:lstStyle/>
                    <a:p>
                      <a:pPr algn="ctr"/>
                      <a:r>
                        <a:rPr lang="en-US" sz="1400" noProof="0" dirty="0"/>
                        <a:t>spatial dynamics</a:t>
                      </a:r>
                    </a:p>
                  </a:txBody>
                  <a:tcPr/>
                </a:tc>
                <a:tc>
                  <a:txBody>
                    <a:bodyPr/>
                    <a:lstStyle/>
                    <a:p>
                      <a:pPr algn="ctr"/>
                      <a:r>
                        <a:rPr lang="en-US" sz="1400" noProof="0" dirty="0"/>
                        <a:t>evolution in abstract space</a:t>
                      </a:r>
                    </a:p>
                  </a:txBody>
                  <a:tcPr/>
                </a:tc>
                <a:extLst>
                  <a:ext uri="{0D108BD9-81ED-4DB2-BD59-A6C34878D82A}">
                    <a16:rowId xmlns:a16="http://schemas.microsoft.com/office/drawing/2014/main" val="939800932"/>
                  </a:ext>
                </a:extLst>
              </a:tr>
              <a:tr h="0">
                <a:tc>
                  <a:txBody>
                    <a:bodyPr/>
                    <a:lstStyle/>
                    <a:p>
                      <a:pPr algn="ctr"/>
                      <a:r>
                        <a:rPr lang="en-US" sz="1400" noProof="0" dirty="0"/>
                        <a:t>emergence</a:t>
                      </a:r>
                    </a:p>
                  </a:txBody>
                  <a:tcPr/>
                </a:tc>
                <a:tc>
                  <a:txBody>
                    <a:bodyPr/>
                    <a:lstStyle/>
                    <a:p>
                      <a:pPr algn="ctr"/>
                      <a:r>
                        <a:rPr lang="en-US" sz="1400" noProof="0" dirty="0"/>
                        <a:t>selection</a:t>
                      </a:r>
                    </a:p>
                  </a:txBody>
                  <a:tcPr/>
                </a:tc>
                <a:extLst>
                  <a:ext uri="{0D108BD9-81ED-4DB2-BD59-A6C34878D82A}">
                    <a16:rowId xmlns:a16="http://schemas.microsoft.com/office/drawing/2014/main" val="2122217507"/>
                  </a:ext>
                </a:extLst>
              </a:tr>
            </a:tbl>
          </a:graphicData>
        </a:graphic>
      </p:graphicFrame>
    </p:spTree>
    <p:extLst>
      <p:ext uri="{BB962C8B-B14F-4D97-AF65-F5344CB8AC3E}">
        <p14:creationId xmlns:p14="http://schemas.microsoft.com/office/powerpoint/2010/main" val="144558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0A4C-AEFC-55DE-0AF3-02043F63557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CE00983-AF02-4788-0EF0-07DAF13A5854}"/>
              </a:ext>
            </a:extLst>
          </p:cNvPr>
          <p:cNvSpPr/>
          <p:nvPr/>
        </p:nvSpPr>
        <p:spPr>
          <a:xfrm>
            <a:off x="971600" y="158474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8262DEAD-8F66-5914-A3BD-BAF4AE89A30D}"/>
              </a:ext>
            </a:extLst>
          </p:cNvPr>
          <p:cNvSpPr txBox="1"/>
          <p:nvPr/>
        </p:nvSpPr>
        <p:spPr>
          <a:xfrm>
            <a:off x="971600" y="1131590"/>
            <a:ext cx="3668440" cy="1354217"/>
          </a:xfrm>
          <a:prstGeom prst="rect">
            <a:avLst/>
          </a:prstGeom>
          <a:noFill/>
        </p:spPr>
        <p:txBody>
          <a:bodyPr wrap="none" rtlCol="0">
            <a:spAutoFit/>
          </a:bodyPr>
          <a:lstStyle/>
          <a:p>
            <a:r>
              <a:rPr lang="en-US" b="1" noProof="0" dirty="0"/>
              <a:t>Topics</a:t>
            </a:r>
          </a:p>
          <a:p>
            <a:endParaRPr lang="en-US" sz="1000" noProof="0" dirty="0"/>
          </a:p>
          <a:p>
            <a:pPr lvl="1"/>
            <a:r>
              <a:rPr lang="en-US" b="1" noProof="0" dirty="0"/>
              <a:t>The Individual Group Tasks</a:t>
            </a:r>
          </a:p>
          <a:p>
            <a:pPr lvl="1"/>
            <a:endParaRPr lang="en-US" noProof="0" dirty="0"/>
          </a:p>
          <a:p>
            <a:pPr lvl="1"/>
            <a:r>
              <a:rPr lang="en-US" noProof="0" dirty="0"/>
              <a:t>Outlook: “Win Stay – Lose Shift”</a:t>
            </a:r>
          </a:p>
        </p:txBody>
      </p:sp>
      <p:sp>
        <p:nvSpPr>
          <p:cNvPr id="4" name="Rechteck 3">
            <a:extLst>
              <a:ext uri="{FF2B5EF4-FFF2-40B4-BE49-F238E27FC236}">
                <a16:creationId xmlns:a16="http://schemas.microsoft.com/office/drawing/2014/main" id="{3CC43305-9A38-9BBD-0DFA-5D00C158510C}"/>
              </a:ext>
            </a:extLst>
          </p:cNvPr>
          <p:cNvSpPr/>
          <p:nvPr/>
        </p:nvSpPr>
        <p:spPr>
          <a:xfrm>
            <a:off x="5796136" y="3438730"/>
            <a:ext cx="1296144" cy="709613"/>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Evolution of a Trait</a:t>
            </a:r>
          </a:p>
        </p:txBody>
      </p:sp>
      <p:sp>
        <p:nvSpPr>
          <p:cNvPr id="5" name="Rechteck 4">
            <a:extLst>
              <a:ext uri="{FF2B5EF4-FFF2-40B4-BE49-F238E27FC236}">
                <a16:creationId xmlns:a16="http://schemas.microsoft.com/office/drawing/2014/main" id="{F470445E-35DE-DBE7-59C4-3174DF10FE3F}"/>
              </a:ext>
            </a:extLst>
          </p:cNvPr>
          <p:cNvSpPr/>
          <p:nvPr/>
        </p:nvSpPr>
        <p:spPr>
          <a:xfrm>
            <a:off x="5796136" y="4302826"/>
            <a:ext cx="1296144" cy="709613"/>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Fitting a Population Model</a:t>
            </a:r>
          </a:p>
        </p:txBody>
      </p:sp>
      <p:sp>
        <p:nvSpPr>
          <p:cNvPr id="6" name="Rechteck 5">
            <a:extLst>
              <a:ext uri="{FF2B5EF4-FFF2-40B4-BE49-F238E27FC236}">
                <a16:creationId xmlns:a16="http://schemas.microsoft.com/office/drawing/2014/main" id="{959E02BD-5E49-9D00-81F4-74D59BF86690}"/>
              </a:ext>
            </a:extLst>
          </p:cNvPr>
          <p:cNvSpPr/>
          <p:nvPr/>
        </p:nvSpPr>
        <p:spPr>
          <a:xfrm>
            <a:off x="7596336" y="3438730"/>
            <a:ext cx="1296144" cy="709613"/>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Evolution of Antibiotic Resistance </a:t>
            </a:r>
          </a:p>
        </p:txBody>
      </p:sp>
      <p:sp>
        <p:nvSpPr>
          <p:cNvPr id="7" name="Rechteck 6">
            <a:extLst>
              <a:ext uri="{FF2B5EF4-FFF2-40B4-BE49-F238E27FC236}">
                <a16:creationId xmlns:a16="http://schemas.microsoft.com/office/drawing/2014/main" id="{175496A7-7B0F-70CD-F36B-044F0A3DE112}"/>
              </a:ext>
            </a:extLst>
          </p:cNvPr>
          <p:cNvSpPr/>
          <p:nvPr/>
        </p:nvSpPr>
        <p:spPr>
          <a:xfrm>
            <a:off x="7596336" y="4302826"/>
            <a:ext cx="1296144" cy="709613"/>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Evolution of Cooperation Strategies </a:t>
            </a:r>
          </a:p>
        </p:txBody>
      </p:sp>
      <p:sp>
        <p:nvSpPr>
          <p:cNvPr id="8" name="Rechteck 7">
            <a:extLst>
              <a:ext uri="{FF2B5EF4-FFF2-40B4-BE49-F238E27FC236}">
                <a16:creationId xmlns:a16="http://schemas.microsoft.com/office/drawing/2014/main" id="{24BEFB69-F41F-FF10-8962-213058AD3904}"/>
              </a:ext>
            </a:extLst>
          </p:cNvPr>
          <p:cNvSpPr/>
          <p:nvPr/>
        </p:nvSpPr>
        <p:spPr>
          <a:xfrm>
            <a:off x="7236296" y="3435846"/>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C</a:t>
            </a:r>
          </a:p>
        </p:txBody>
      </p:sp>
      <p:sp>
        <p:nvSpPr>
          <p:cNvPr id="9" name="Rechteck 8">
            <a:extLst>
              <a:ext uri="{FF2B5EF4-FFF2-40B4-BE49-F238E27FC236}">
                <a16:creationId xmlns:a16="http://schemas.microsoft.com/office/drawing/2014/main" id="{4106779B-AD2A-FB05-00C2-3FED4C40BB4C}"/>
              </a:ext>
            </a:extLst>
          </p:cNvPr>
          <p:cNvSpPr/>
          <p:nvPr/>
        </p:nvSpPr>
        <p:spPr>
          <a:xfrm>
            <a:off x="7236296" y="4302826"/>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D</a:t>
            </a:r>
          </a:p>
        </p:txBody>
      </p:sp>
      <p:sp>
        <p:nvSpPr>
          <p:cNvPr id="10" name="Rechteck 9">
            <a:extLst>
              <a:ext uri="{FF2B5EF4-FFF2-40B4-BE49-F238E27FC236}">
                <a16:creationId xmlns:a16="http://schemas.microsoft.com/office/drawing/2014/main" id="{8968C114-B693-9879-9928-6BAFEF45A167}"/>
              </a:ext>
            </a:extLst>
          </p:cNvPr>
          <p:cNvSpPr/>
          <p:nvPr/>
        </p:nvSpPr>
        <p:spPr>
          <a:xfrm>
            <a:off x="5442753" y="4302826"/>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B</a:t>
            </a:r>
          </a:p>
        </p:txBody>
      </p:sp>
      <p:sp>
        <p:nvSpPr>
          <p:cNvPr id="11" name="Rechteck 10">
            <a:extLst>
              <a:ext uri="{FF2B5EF4-FFF2-40B4-BE49-F238E27FC236}">
                <a16:creationId xmlns:a16="http://schemas.microsoft.com/office/drawing/2014/main" id="{F5D85B45-2EDF-1A58-B9EC-52CF23E0CECD}"/>
              </a:ext>
            </a:extLst>
          </p:cNvPr>
          <p:cNvSpPr/>
          <p:nvPr/>
        </p:nvSpPr>
        <p:spPr>
          <a:xfrm>
            <a:off x="5431902" y="3435846"/>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A</a:t>
            </a:r>
          </a:p>
        </p:txBody>
      </p:sp>
    </p:spTree>
    <p:extLst>
      <p:ext uri="{BB962C8B-B14F-4D97-AF65-F5344CB8AC3E}">
        <p14:creationId xmlns:p14="http://schemas.microsoft.com/office/powerpoint/2010/main" val="389600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0B422-159B-78BC-F869-7788F6C67898}"/>
              </a:ext>
            </a:extLst>
          </p:cNvPr>
          <p:cNvSpPr>
            <a:spLocks noGrp="1"/>
          </p:cNvSpPr>
          <p:nvPr>
            <p:ph type="title"/>
          </p:nvPr>
        </p:nvSpPr>
        <p:spPr/>
        <p:txBody>
          <a:bodyPr/>
          <a:lstStyle/>
          <a:p>
            <a:r>
              <a:rPr lang="en-US" noProof="0" dirty="0"/>
              <a:t>Group A:</a:t>
            </a:r>
            <a:br>
              <a:rPr lang="en-US" noProof="0" dirty="0"/>
            </a:br>
            <a:r>
              <a:rPr lang="en-US" noProof="0" dirty="0"/>
              <a:t>Evolution of a Trait (Size vs. Survival) – 1/ 2</a:t>
            </a:r>
          </a:p>
        </p:txBody>
      </p:sp>
      <p:sp>
        <p:nvSpPr>
          <p:cNvPr id="3" name="Rechteck 2">
            <a:extLst>
              <a:ext uri="{FF2B5EF4-FFF2-40B4-BE49-F238E27FC236}">
                <a16:creationId xmlns:a16="http://schemas.microsoft.com/office/drawing/2014/main" id="{69A0667D-7BBD-7779-054C-C5A075A93BDC}"/>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Evolution of a Trait (Size vs. Survival)</a:t>
            </a:r>
          </a:p>
          <a:p>
            <a:pPr>
              <a:spcAft>
                <a:spcPts val="600"/>
              </a:spcAft>
            </a:pPr>
            <a:r>
              <a:rPr lang="en-US" sz="1200" noProof="0" dirty="0">
                <a:solidFill>
                  <a:schemeClr val="tx1"/>
                </a:solidFill>
              </a:rPr>
              <a:t>Study a population of organisms where individuals differ in the trait body size x </a:t>
            </a:r>
            <a:r>
              <a:rPr lang="en-US" sz="1200" noProof="0" dirty="0">
                <a:solidFill>
                  <a:schemeClr val="tx1"/>
                </a:solidFill>
                <a:sym typeface="Symbol" panose="05050102010706020507" pitchFamily="18" charset="2"/>
              </a:rPr>
              <a:t> [0,1]</a:t>
            </a:r>
            <a:endParaRPr lang="en-US" sz="1200" noProof="0" dirty="0">
              <a:solidFill>
                <a:schemeClr val="tx1"/>
              </a:solidFill>
            </a:endParaRPr>
          </a:p>
          <a:p>
            <a:pPr>
              <a:spcAft>
                <a:spcPts val="600"/>
              </a:spcAft>
            </a:pPr>
            <a:r>
              <a:rPr lang="en-US" sz="1200" noProof="0" dirty="0">
                <a:solidFill>
                  <a:schemeClr val="tx1"/>
                </a:solidFill>
              </a:rPr>
              <a:t>Biological assumption:</a:t>
            </a:r>
          </a:p>
          <a:p>
            <a:pPr marL="171450" indent="-171450">
              <a:spcAft>
                <a:spcPts val="600"/>
              </a:spcAft>
              <a:buFont typeface="Arial" panose="020B0604020202020204" pitchFamily="34" charset="0"/>
              <a:buChar char="•"/>
            </a:pPr>
            <a:r>
              <a:rPr lang="en-US" sz="1200" noProof="0" dirty="0">
                <a:solidFill>
                  <a:schemeClr val="tx1"/>
                </a:solidFill>
              </a:rPr>
              <a:t>Larger size increases reproductive success </a:t>
            </a:r>
          </a:p>
          <a:p>
            <a:pPr marL="171450" indent="-171450">
              <a:spcAft>
                <a:spcPts val="600"/>
              </a:spcAft>
              <a:buFont typeface="Arial" panose="020B0604020202020204" pitchFamily="34" charset="0"/>
              <a:buChar char="•"/>
            </a:pPr>
            <a:r>
              <a:rPr lang="en-US" sz="1200" noProof="0" dirty="0">
                <a:solidFill>
                  <a:schemeClr val="tx1"/>
                </a:solidFill>
              </a:rPr>
              <a:t>But large size also comes with a survival cost</a:t>
            </a:r>
          </a:p>
          <a:p>
            <a:pPr>
              <a:spcAft>
                <a:spcPts val="600"/>
              </a:spcAft>
            </a:pPr>
            <a:r>
              <a:rPr lang="en-US" sz="1200" noProof="0" dirty="0">
                <a:solidFill>
                  <a:schemeClr val="tx1"/>
                </a:solidFill>
              </a:rPr>
              <a:t>Discuss the trade-off.</a:t>
            </a:r>
          </a:p>
        </p:txBody>
      </p:sp>
      <p:grpSp>
        <p:nvGrpSpPr>
          <p:cNvPr id="4" name="Gruppieren 3">
            <a:extLst>
              <a:ext uri="{FF2B5EF4-FFF2-40B4-BE49-F238E27FC236}">
                <a16:creationId xmlns:a16="http://schemas.microsoft.com/office/drawing/2014/main" id="{6B051104-A54E-950C-DEAB-B5F6EA54A5A6}"/>
              </a:ext>
            </a:extLst>
          </p:cNvPr>
          <p:cNvGrpSpPr/>
          <p:nvPr/>
        </p:nvGrpSpPr>
        <p:grpSpPr>
          <a:xfrm>
            <a:off x="251520" y="1131588"/>
            <a:ext cx="1656184" cy="936107"/>
            <a:chOff x="251520" y="1131588"/>
            <a:chExt cx="1656184" cy="936107"/>
          </a:xfrm>
        </p:grpSpPr>
        <p:sp>
          <p:nvSpPr>
            <p:cNvPr id="5" name="Rechteck 4">
              <a:extLst>
                <a:ext uri="{FF2B5EF4-FFF2-40B4-BE49-F238E27FC236}">
                  <a16:creationId xmlns:a16="http://schemas.microsoft.com/office/drawing/2014/main" id="{969C771D-9D5E-7C54-09DF-325C6B8966B0}"/>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6ED33663-FD46-DA57-09F7-33D1E907082B}"/>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7" name="Rechteck 6">
            <a:extLst>
              <a:ext uri="{FF2B5EF4-FFF2-40B4-BE49-F238E27FC236}">
                <a16:creationId xmlns:a16="http://schemas.microsoft.com/office/drawing/2014/main" id="{BC63E35B-EBD2-7CB9-EC35-896F40791E7E}"/>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Model:</a:t>
            </a:r>
          </a:p>
          <a:p>
            <a:pPr>
              <a:spcAft>
                <a:spcPts val="600"/>
              </a:spcAft>
            </a:pPr>
            <a:r>
              <a:rPr lang="en-US" sz="1400" noProof="0" dirty="0">
                <a:solidFill>
                  <a:schemeClr val="tx1"/>
                </a:solidFill>
              </a:rPr>
              <a:t>Define fitness as: f(x) = x⋅(1-x)</a:t>
            </a:r>
          </a:p>
          <a:p>
            <a:pPr>
              <a:spcAft>
                <a:spcPts val="600"/>
              </a:spcAft>
            </a:pPr>
            <a:r>
              <a:rPr lang="en-US" sz="1400" noProof="0" dirty="0">
                <a:solidFill>
                  <a:schemeClr val="tx1"/>
                </a:solidFill>
              </a:rPr>
              <a:t>Interpretation:</a:t>
            </a:r>
          </a:p>
          <a:p>
            <a:pPr marL="182563" indent="-182563">
              <a:spcAft>
                <a:spcPts val="600"/>
              </a:spcAft>
              <a:buFont typeface="Arial" panose="020B0604020202020204" pitchFamily="34" charset="0"/>
              <a:buChar char="•"/>
            </a:pPr>
            <a:r>
              <a:rPr lang="en-US" sz="1400" noProof="0" dirty="0">
                <a:solidFill>
                  <a:schemeClr val="tx1"/>
                </a:solidFill>
              </a:rPr>
              <a:t>small x: low reproduction</a:t>
            </a:r>
          </a:p>
          <a:p>
            <a:pPr marL="182563" indent="-182563">
              <a:spcAft>
                <a:spcPts val="600"/>
              </a:spcAft>
              <a:buFont typeface="Arial" panose="020B0604020202020204" pitchFamily="34" charset="0"/>
              <a:buChar char="•"/>
            </a:pPr>
            <a:r>
              <a:rPr lang="en-US" sz="1400" noProof="0" dirty="0">
                <a:solidFill>
                  <a:schemeClr val="tx1"/>
                </a:solidFill>
              </a:rPr>
              <a:t>large x: high cost</a:t>
            </a:r>
          </a:p>
          <a:p>
            <a:pPr marL="182563" indent="-182563">
              <a:spcAft>
                <a:spcPts val="600"/>
              </a:spcAft>
              <a:buFont typeface="Arial" panose="020B0604020202020204" pitchFamily="34" charset="0"/>
              <a:buChar char="•"/>
            </a:pPr>
            <a:r>
              <a:rPr lang="en-US" sz="1400" noProof="0" dirty="0">
                <a:solidFill>
                  <a:schemeClr val="tx1"/>
                </a:solidFill>
              </a:rPr>
              <a:t>optimal intermediate value emerges</a:t>
            </a:r>
          </a:p>
        </p:txBody>
      </p:sp>
      <p:sp>
        <p:nvSpPr>
          <p:cNvPr id="8" name="Rechteck 7">
            <a:extLst>
              <a:ext uri="{FF2B5EF4-FFF2-40B4-BE49-F238E27FC236}">
                <a16:creationId xmlns:a16="http://schemas.microsoft.com/office/drawing/2014/main" id="{5C63DEC5-4CB3-1AD2-4327-7D6F1905B079}"/>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Task:</a:t>
            </a:r>
          </a:p>
          <a:p>
            <a:pPr>
              <a:spcAft>
                <a:spcPts val="600"/>
              </a:spcAft>
            </a:pPr>
            <a:r>
              <a:rPr lang="en-US" sz="1400" noProof="0" dirty="0">
                <a:solidFill>
                  <a:schemeClr val="tx1"/>
                </a:solidFill>
              </a:rPr>
              <a:t>Your genetic algorithm (GA) should:</a:t>
            </a:r>
          </a:p>
          <a:p>
            <a:pPr marL="182563" indent="-182563">
              <a:spcAft>
                <a:spcPts val="600"/>
              </a:spcAft>
              <a:buFont typeface="Arial" panose="020B0604020202020204" pitchFamily="34" charset="0"/>
              <a:buChar char="•"/>
            </a:pPr>
            <a:r>
              <a:rPr lang="en-US" sz="1400" noProof="0" dirty="0">
                <a:solidFill>
                  <a:schemeClr val="tx1"/>
                </a:solidFill>
              </a:rPr>
              <a:t>evolve a population of x-values</a:t>
            </a:r>
          </a:p>
          <a:p>
            <a:pPr marL="182563" indent="-182563">
              <a:spcAft>
                <a:spcPts val="600"/>
              </a:spcAft>
              <a:buFont typeface="Arial" panose="020B0604020202020204" pitchFamily="34" charset="0"/>
              <a:buChar char="•"/>
            </a:pPr>
            <a:r>
              <a:rPr lang="en-US" sz="1400" noProof="0" dirty="0">
                <a:solidFill>
                  <a:schemeClr val="tx1"/>
                </a:solidFill>
              </a:rPr>
              <a:t>find the optimal trait value</a:t>
            </a:r>
          </a:p>
        </p:txBody>
      </p:sp>
      <p:sp>
        <p:nvSpPr>
          <p:cNvPr id="9" name="Rechteck 8">
            <a:extLst>
              <a:ext uri="{FF2B5EF4-FFF2-40B4-BE49-F238E27FC236}">
                <a16:creationId xmlns:a16="http://schemas.microsoft.com/office/drawing/2014/main" id="{A43E419F-1854-3287-BBD9-AF529235D831}"/>
              </a:ext>
            </a:extLst>
          </p:cNvPr>
          <p:cNvSpPr/>
          <p:nvPr/>
        </p:nvSpPr>
        <p:spPr>
          <a:xfrm>
            <a:off x="2123728"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Representation:</a:t>
            </a:r>
          </a:p>
          <a:p>
            <a:pPr marL="182563" indent="-182563">
              <a:spcAft>
                <a:spcPts val="600"/>
              </a:spcAft>
              <a:buFont typeface="Arial" panose="020B0604020202020204" pitchFamily="34" charset="0"/>
              <a:buChar char="•"/>
            </a:pPr>
            <a:r>
              <a:rPr lang="en-US" sz="1400" noProof="0" dirty="0">
                <a:solidFill>
                  <a:schemeClr val="tx1"/>
                </a:solidFill>
              </a:rPr>
              <a:t>Every individual is represented by a number x ∈ [0,1]</a:t>
            </a:r>
          </a:p>
          <a:p>
            <a:pPr marL="182563" indent="-182563">
              <a:spcAft>
                <a:spcPts val="600"/>
              </a:spcAft>
              <a:buFont typeface="Arial" panose="020B0604020202020204" pitchFamily="34" charset="0"/>
              <a:buChar char="•"/>
            </a:pPr>
            <a:r>
              <a:rPr lang="en-US" sz="1400" noProof="0" dirty="0">
                <a:solidFill>
                  <a:schemeClr val="tx1"/>
                </a:solidFill>
              </a:rPr>
              <a:t>Option: float or binary encoding</a:t>
            </a:r>
          </a:p>
        </p:txBody>
      </p:sp>
      <p:sp>
        <p:nvSpPr>
          <p:cNvPr id="10" name="Rechteck 9">
            <a:extLst>
              <a:ext uri="{FF2B5EF4-FFF2-40B4-BE49-F238E27FC236}">
                <a16:creationId xmlns:a16="http://schemas.microsoft.com/office/drawing/2014/main" id="{CCA88C11-9893-2132-4519-D7E8ABB5B29E}"/>
              </a:ext>
            </a:extLst>
          </p:cNvPr>
          <p:cNvSpPr/>
          <p:nvPr/>
        </p:nvSpPr>
        <p:spPr>
          <a:xfrm>
            <a:off x="5586253"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Experiment:</a:t>
            </a:r>
          </a:p>
          <a:p>
            <a:pPr marL="182563" indent="-182563">
              <a:spcAft>
                <a:spcPts val="600"/>
              </a:spcAft>
              <a:buFont typeface="Arial" panose="020B0604020202020204" pitchFamily="34" charset="0"/>
              <a:buChar char="•"/>
            </a:pPr>
            <a:r>
              <a:rPr lang="en-US" sz="1400" noProof="0" dirty="0">
                <a:solidFill>
                  <a:schemeClr val="tx1"/>
                </a:solidFill>
              </a:rPr>
              <a:t>Vary: mutation rate and/ or population size</a:t>
            </a:r>
          </a:p>
          <a:p>
            <a:pPr marL="182563" indent="-182563">
              <a:spcAft>
                <a:spcPts val="600"/>
              </a:spcAft>
              <a:buFont typeface="Arial" panose="020B0604020202020204" pitchFamily="34" charset="0"/>
              <a:buChar char="•"/>
            </a:pPr>
            <a:r>
              <a:rPr lang="en-US" sz="1400" noProof="0" dirty="0">
                <a:solidFill>
                  <a:schemeClr val="tx1"/>
                </a:solidFill>
              </a:rPr>
              <a:t>Observe:</a:t>
            </a:r>
          </a:p>
          <a:p>
            <a:pPr marL="450850" indent="-268288">
              <a:spcAft>
                <a:spcPts val="600"/>
              </a:spcAft>
              <a:buFont typeface="Symbol" panose="05050102010706020507" pitchFamily="18" charset="2"/>
              <a:buChar char="-"/>
            </a:pPr>
            <a:r>
              <a:rPr lang="en-US" sz="1400" noProof="0" dirty="0">
                <a:solidFill>
                  <a:schemeClr val="tx1"/>
                </a:solidFill>
              </a:rPr>
              <a:t>convergence speed</a:t>
            </a:r>
          </a:p>
          <a:p>
            <a:pPr marL="450850" indent="-268288">
              <a:spcAft>
                <a:spcPts val="600"/>
              </a:spcAft>
              <a:buFont typeface="Symbol" panose="05050102010706020507" pitchFamily="18" charset="2"/>
              <a:buChar char="-"/>
            </a:pPr>
            <a:r>
              <a:rPr lang="en-US" sz="1400" noProof="0" dirty="0">
                <a:solidFill>
                  <a:schemeClr val="tx1"/>
                </a:solidFill>
              </a:rPr>
              <a:t>variability</a:t>
            </a:r>
          </a:p>
        </p:txBody>
      </p:sp>
      <p:sp>
        <p:nvSpPr>
          <p:cNvPr id="11" name="Rechteck 10">
            <a:extLst>
              <a:ext uri="{FF2B5EF4-FFF2-40B4-BE49-F238E27FC236}">
                <a16:creationId xmlns:a16="http://schemas.microsoft.com/office/drawing/2014/main" id="{F2163521-5887-E049-B504-20FFA85A1BB1}"/>
              </a:ext>
            </a:extLst>
          </p:cNvPr>
          <p:cNvSpPr/>
          <p:nvPr/>
        </p:nvSpPr>
        <p:spPr>
          <a:xfrm>
            <a:off x="304076" y="1167592"/>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A</a:t>
            </a:r>
          </a:p>
        </p:txBody>
      </p:sp>
    </p:spTree>
    <p:extLst>
      <p:ext uri="{BB962C8B-B14F-4D97-AF65-F5344CB8AC3E}">
        <p14:creationId xmlns:p14="http://schemas.microsoft.com/office/powerpoint/2010/main" val="4115462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DAE04-4EEB-1CE3-A657-607D3350940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A358E12-9471-A00C-E261-E8A88124C553}"/>
              </a:ext>
            </a:extLst>
          </p:cNvPr>
          <p:cNvSpPr>
            <a:spLocks noGrp="1"/>
          </p:cNvSpPr>
          <p:nvPr>
            <p:ph type="title"/>
          </p:nvPr>
        </p:nvSpPr>
        <p:spPr/>
        <p:txBody>
          <a:bodyPr/>
          <a:lstStyle/>
          <a:p>
            <a:r>
              <a:rPr lang="en-US" noProof="0" dirty="0"/>
              <a:t>Group A:</a:t>
            </a:r>
            <a:br>
              <a:rPr lang="en-US" noProof="0" dirty="0"/>
            </a:br>
            <a:r>
              <a:rPr lang="en-US" noProof="0" dirty="0"/>
              <a:t>Evolution of a Trait (Size vs. Survival) – 2/ 2</a:t>
            </a:r>
          </a:p>
        </p:txBody>
      </p:sp>
      <p:sp>
        <p:nvSpPr>
          <p:cNvPr id="7" name="Rechteck 6">
            <a:extLst>
              <a:ext uri="{FF2B5EF4-FFF2-40B4-BE49-F238E27FC236}">
                <a16:creationId xmlns:a16="http://schemas.microsoft.com/office/drawing/2014/main" id="{530FCEBC-4FED-2DC5-1F32-908951D7C6B3}"/>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AI Prompt Task:</a:t>
            </a:r>
          </a:p>
          <a:p>
            <a:pPr>
              <a:spcAft>
                <a:spcPts val="600"/>
              </a:spcAft>
            </a:pPr>
            <a:r>
              <a:rPr lang="en-US" sz="1400" noProof="0" dirty="0">
                <a:solidFill>
                  <a:schemeClr val="tx1"/>
                </a:solidFill>
              </a:rPr>
              <a:t>Design a prompt that includes:</a:t>
            </a:r>
          </a:p>
          <a:p>
            <a:pPr marL="182563" indent="-182563">
              <a:spcAft>
                <a:spcPts val="600"/>
              </a:spcAft>
              <a:buFont typeface="Arial" panose="020B0604020202020204" pitchFamily="34" charset="0"/>
              <a:buChar char="•"/>
            </a:pPr>
            <a:r>
              <a:rPr lang="en-US" sz="1400" noProof="0" dirty="0">
                <a:solidFill>
                  <a:schemeClr val="tx1"/>
                </a:solidFill>
              </a:rPr>
              <a:t>trait definition</a:t>
            </a:r>
          </a:p>
          <a:p>
            <a:pPr marL="182563" indent="-182563">
              <a:spcAft>
                <a:spcPts val="600"/>
              </a:spcAft>
              <a:buFont typeface="Arial" panose="020B0604020202020204" pitchFamily="34" charset="0"/>
              <a:buChar char="•"/>
            </a:pPr>
            <a:r>
              <a:rPr lang="en-US" sz="1400" noProof="0" dirty="0">
                <a:solidFill>
                  <a:schemeClr val="tx1"/>
                </a:solidFill>
              </a:rPr>
              <a:t>fitness function</a:t>
            </a:r>
          </a:p>
          <a:p>
            <a:pPr marL="182563" indent="-182563">
              <a:spcAft>
                <a:spcPts val="600"/>
              </a:spcAft>
              <a:buFont typeface="Arial" panose="020B0604020202020204" pitchFamily="34" charset="0"/>
              <a:buChar char="•"/>
            </a:pPr>
            <a:r>
              <a:rPr lang="en-US" sz="1400" noProof="0" dirty="0">
                <a:solidFill>
                  <a:schemeClr val="tx1"/>
                </a:solidFill>
              </a:rPr>
              <a:t>GA steps</a:t>
            </a:r>
          </a:p>
          <a:p>
            <a:pPr marL="182563" indent="-182563">
              <a:spcAft>
                <a:spcPts val="600"/>
              </a:spcAft>
              <a:buFont typeface="Arial" panose="020B0604020202020204" pitchFamily="34" charset="0"/>
              <a:buChar char="•"/>
            </a:pPr>
            <a:r>
              <a:rPr lang="en-US" sz="1400" noProof="0" dirty="0">
                <a:solidFill>
                  <a:schemeClr val="tx1"/>
                </a:solidFill>
              </a:rPr>
              <a:t>visualization (best x over time)</a:t>
            </a:r>
          </a:p>
        </p:txBody>
      </p:sp>
      <p:sp>
        <p:nvSpPr>
          <p:cNvPr id="8" name="Rechteck 7">
            <a:extLst>
              <a:ext uri="{FF2B5EF4-FFF2-40B4-BE49-F238E27FC236}">
                <a16:creationId xmlns:a16="http://schemas.microsoft.com/office/drawing/2014/main" id="{49D11EA9-9A97-E548-1405-92DB21492E6B}"/>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Reflection:</a:t>
            </a:r>
          </a:p>
          <a:p>
            <a:pPr marL="182563" indent="-182563">
              <a:spcAft>
                <a:spcPts val="600"/>
              </a:spcAft>
              <a:buFont typeface="Arial" panose="020B0604020202020204" pitchFamily="34" charset="0"/>
              <a:buChar char="•"/>
            </a:pPr>
            <a:r>
              <a:rPr lang="en-US" sz="1400" noProof="0" dirty="0">
                <a:solidFill>
                  <a:schemeClr val="tx1"/>
                </a:solidFill>
              </a:rPr>
              <a:t>What trait value emerges?</a:t>
            </a:r>
          </a:p>
          <a:p>
            <a:pPr marL="182563" indent="-182563">
              <a:spcAft>
                <a:spcPts val="600"/>
              </a:spcAft>
              <a:buFont typeface="Arial" panose="020B0604020202020204" pitchFamily="34" charset="0"/>
              <a:buChar char="•"/>
            </a:pPr>
            <a:r>
              <a:rPr lang="en-US" sz="1400" noProof="0" dirty="0">
                <a:solidFill>
                  <a:schemeClr val="tx1"/>
                </a:solidFill>
              </a:rPr>
              <a:t>Why does it make biological sense?</a:t>
            </a:r>
          </a:p>
        </p:txBody>
      </p:sp>
    </p:spTree>
    <p:extLst>
      <p:ext uri="{BB962C8B-B14F-4D97-AF65-F5344CB8AC3E}">
        <p14:creationId xmlns:p14="http://schemas.microsoft.com/office/powerpoint/2010/main" val="350620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3A3C-2433-9CE2-6C78-84FA99EAA80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C0A790F-4F16-DBCD-7966-CC70AFDBD9BE}"/>
              </a:ext>
            </a:extLst>
          </p:cNvPr>
          <p:cNvSpPr>
            <a:spLocks noGrp="1"/>
          </p:cNvSpPr>
          <p:nvPr>
            <p:ph type="title"/>
          </p:nvPr>
        </p:nvSpPr>
        <p:spPr/>
        <p:txBody>
          <a:bodyPr/>
          <a:lstStyle/>
          <a:p>
            <a:r>
              <a:rPr lang="en-US" noProof="0" dirty="0"/>
              <a:t>Group B:</a:t>
            </a:r>
            <a:br>
              <a:rPr lang="en-US" noProof="0" dirty="0"/>
            </a:br>
            <a:r>
              <a:rPr lang="en-US" noProof="0" dirty="0"/>
              <a:t>Fitting a Population Model (Logistic Growth) – 1/ 2</a:t>
            </a:r>
          </a:p>
        </p:txBody>
      </p:sp>
      <p:sp>
        <p:nvSpPr>
          <p:cNvPr id="3" name="Rechteck 2">
            <a:extLst>
              <a:ext uri="{FF2B5EF4-FFF2-40B4-BE49-F238E27FC236}">
                <a16:creationId xmlns:a16="http://schemas.microsoft.com/office/drawing/2014/main" id="{0C70E300-F178-9853-6DE4-CF9B8D85A237}"/>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Fitting a Population Model (Logistic Growth)</a:t>
            </a:r>
          </a:p>
          <a:p>
            <a:pPr>
              <a:spcAft>
                <a:spcPts val="600"/>
              </a:spcAft>
            </a:pPr>
            <a:r>
              <a:rPr lang="en-US" sz="1200" noProof="0" dirty="0">
                <a:solidFill>
                  <a:schemeClr val="tx1"/>
                </a:solidFill>
              </a:rPr>
              <a:t>You observe a biological population over time.</a:t>
            </a:r>
          </a:p>
          <a:p>
            <a:pPr>
              <a:spcAft>
                <a:spcPts val="600"/>
              </a:spcAft>
            </a:pPr>
            <a:r>
              <a:rPr lang="en-US" sz="1200" noProof="0" dirty="0">
                <a:solidFill>
                  <a:schemeClr val="tx1"/>
                </a:solidFill>
              </a:rPr>
              <a:t>You suspect it follows logistic growth, but parameters are unknown.</a:t>
            </a:r>
          </a:p>
        </p:txBody>
      </p:sp>
      <p:grpSp>
        <p:nvGrpSpPr>
          <p:cNvPr id="4" name="Gruppieren 3">
            <a:extLst>
              <a:ext uri="{FF2B5EF4-FFF2-40B4-BE49-F238E27FC236}">
                <a16:creationId xmlns:a16="http://schemas.microsoft.com/office/drawing/2014/main" id="{9FAA7AA7-860D-7494-CD15-C58CF4F09D51}"/>
              </a:ext>
            </a:extLst>
          </p:cNvPr>
          <p:cNvGrpSpPr/>
          <p:nvPr/>
        </p:nvGrpSpPr>
        <p:grpSpPr>
          <a:xfrm>
            <a:off x="251520" y="1131588"/>
            <a:ext cx="1656184" cy="936107"/>
            <a:chOff x="251520" y="1131588"/>
            <a:chExt cx="1656184" cy="936107"/>
          </a:xfrm>
        </p:grpSpPr>
        <p:sp>
          <p:nvSpPr>
            <p:cNvPr id="5" name="Rechteck 4">
              <a:extLst>
                <a:ext uri="{FF2B5EF4-FFF2-40B4-BE49-F238E27FC236}">
                  <a16:creationId xmlns:a16="http://schemas.microsoft.com/office/drawing/2014/main" id="{2AF30752-7642-F89B-62B6-04C3AED44A2E}"/>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1042A876-2FED-3E82-622A-E2801D9EC429}"/>
                </a:ext>
              </a:extLst>
            </p:cNvPr>
            <p:cNvPicPr>
              <a:picLocks noChangeAspect="1"/>
            </p:cNvPicPr>
            <p:nvPr/>
          </p:nvPicPr>
          <p:blipFill>
            <a:blip r:embed="rId4"/>
            <a:srcRect t="5700" b="15210"/>
            <a:stretch>
              <a:fillRect/>
            </a:stretch>
          </p:blipFill>
          <p:spPr>
            <a:xfrm>
              <a:off x="487821" y="1131589"/>
              <a:ext cx="1183583" cy="936106"/>
            </a:xfrm>
            <a:prstGeom prst="rect">
              <a:avLst/>
            </a:prstGeom>
          </p:spPr>
        </p:pic>
      </p:grpSp>
      <p:sp>
        <p:nvSpPr>
          <p:cNvPr id="7" name="Rechteck 6">
            <a:extLst>
              <a:ext uri="{FF2B5EF4-FFF2-40B4-BE49-F238E27FC236}">
                <a16:creationId xmlns:a16="http://schemas.microsoft.com/office/drawing/2014/main" id="{570BC5F8-48E2-9B85-2B4C-A452C83F9C85}"/>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Model:</a:t>
            </a:r>
          </a:p>
          <a:p>
            <a:pPr>
              <a:spcAft>
                <a:spcPts val="600"/>
              </a:spcAft>
            </a:pPr>
            <a:r>
              <a:rPr lang="en-US" sz="1400" noProof="0" dirty="0">
                <a:solidFill>
                  <a:schemeClr val="tx1"/>
                </a:solidFill>
              </a:rPr>
              <a:t>Define</a:t>
            </a:r>
          </a:p>
          <a:p>
            <a:pPr>
              <a:spcAft>
                <a:spcPts val="600"/>
              </a:spcAft>
            </a:pPr>
            <a:endParaRPr lang="en-US" sz="1400" noProof="0" dirty="0">
              <a:solidFill>
                <a:schemeClr val="tx1"/>
              </a:solidFill>
            </a:endParaRPr>
          </a:p>
          <a:p>
            <a:pPr>
              <a:spcAft>
                <a:spcPts val="600"/>
              </a:spcAft>
            </a:pPr>
            <a:endParaRPr lang="en-US" sz="1400" noProof="0" dirty="0">
              <a:solidFill>
                <a:schemeClr val="tx1"/>
              </a:solidFill>
            </a:endParaRPr>
          </a:p>
          <a:p>
            <a:pPr>
              <a:spcAft>
                <a:spcPts val="600"/>
              </a:spcAft>
            </a:pPr>
            <a:r>
              <a:rPr lang="en-US" sz="1400" noProof="0" dirty="0">
                <a:solidFill>
                  <a:schemeClr val="tx1"/>
                </a:solidFill>
              </a:rPr>
              <a:t>You are given data (you can simulate or approximate).</a:t>
            </a:r>
          </a:p>
        </p:txBody>
      </p:sp>
      <p:sp>
        <p:nvSpPr>
          <p:cNvPr id="8" name="Rechteck 7">
            <a:extLst>
              <a:ext uri="{FF2B5EF4-FFF2-40B4-BE49-F238E27FC236}">
                <a16:creationId xmlns:a16="http://schemas.microsoft.com/office/drawing/2014/main" id="{B7D1CC49-0837-C10A-B404-C0CFF341AC1F}"/>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Task:</a:t>
            </a:r>
          </a:p>
          <a:p>
            <a:pPr>
              <a:spcAft>
                <a:spcPts val="600"/>
              </a:spcAft>
            </a:pPr>
            <a:r>
              <a:rPr lang="en-US" sz="1400" noProof="0" dirty="0">
                <a:solidFill>
                  <a:schemeClr val="tx1"/>
                </a:solidFill>
              </a:rPr>
              <a:t>Use a genetic algorithm (GA) to estimate:</a:t>
            </a:r>
          </a:p>
          <a:p>
            <a:pPr marL="182563" indent="-182563">
              <a:spcAft>
                <a:spcPts val="600"/>
              </a:spcAft>
              <a:buFont typeface="Arial" panose="020B0604020202020204" pitchFamily="34" charset="0"/>
              <a:buChar char="•"/>
            </a:pPr>
            <a:r>
              <a:rPr lang="en-US" sz="1400" noProof="0" dirty="0">
                <a:solidFill>
                  <a:schemeClr val="tx1"/>
                </a:solidFill>
              </a:rPr>
              <a:t>r (growth rate)</a:t>
            </a:r>
          </a:p>
          <a:p>
            <a:pPr marL="182563" indent="-182563">
              <a:spcAft>
                <a:spcPts val="600"/>
              </a:spcAft>
              <a:buFont typeface="Arial" panose="020B0604020202020204" pitchFamily="34" charset="0"/>
              <a:buChar char="•"/>
            </a:pPr>
            <a:r>
              <a:rPr lang="en-US" sz="1400" noProof="0" dirty="0">
                <a:solidFill>
                  <a:schemeClr val="tx1"/>
                </a:solidFill>
              </a:rPr>
              <a:t>K (carrying capacity)</a:t>
            </a:r>
          </a:p>
        </p:txBody>
      </p:sp>
      <p:sp>
        <p:nvSpPr>
          <p:cNvPr id="9" name="Rechteck 8">
            <a:extLst>
              <a:ext uri="{FF2B5EF4-FFF2-40B4-BE49-F238E27FC236}">
                <a16:creationId xmlns:a16="http://schemas.microsoft.com/office/drawing/2014/main" id="{35EF360A-9C68-4474-0D3F-32E7BD466F42}"/>
              </a:ext>
            </a:extLst>
          </p:cNvPr>
          <p:cNvSpPr/>
          <p:nvPr/>
        </p:nvSpPr>
        <p:spPr>
          <a:xfrm>
            <a:off x="2123728"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Representation &amp; Fitness:</a:t>
            </a:r>
          </a:p>
          <a:p>
            <a:pPr marL="182563" indent="-182563">
              <a:spcAft>
                <a:spcPts val="600"/>
              </a:spcAft>
              <a:buFont typeface="Arial" panose="020B0604020202020204" pitchFamily="34" charset="0"/>
              <a:buChar char="•"/>
            </a:pPr>
            <a:r>
              <a:rPr lang="en-US" sz="1400" noProof="0" dirty="0">
                <a:solidFill>
                  <a:schemeClr val="tx1"/>
                </a:solidFill>
              </a:rPr>
              <a:t>Every individual is represented by a pair (r, K)</a:t>
            </a:r>
          </a:p>
          <a:p>
            <a:pPr marL="182563" indent="-182563">
              <a:spcAft>
                <a:spcPts val="600"/>
              </a:spcAft>
              <a:buFont typeface="Arial" panose="020B0604020202020204" pitchFamily="34" charset="0"/>
              <a:buChar char="•"/>
            </a:pPr>
            <a:r>
              <a:rPr lang="en-US" sz="1400" noProof="0" dirty="0">
                <a:solidFill>
                  <a:schemeClr val="tx1"/>
                </a:solidFill>
              </a:rPr>
              <a:t>Minimize the error</a:t>
            </a:r>
          </a:p>
        </p:txBody>
      </p:sp>
      <p:sp>
        <p:nvSpPr>
          <p:cNvPr id="10" name="Rechteck 9">
            <a:extLst>
              <a:ext uri="{FF2B5EF4-FFF2-40B4-BE49-F238E27FC236}">
                <a16:creationId xmlns:a16="http://schemas.microsoft.com/office/drawing/2014/main" id="{9D09BB20-D22C-BD16-275E-3B21C39AAC95}"/>
              </a:ext>
            </a:extLst>
          </p:cNvPr>
          <p:cNvSpPr/>
          <p:nvPr/>
        </p:nvSpPr>
        <p:spPr>
          <a:xfrm>
            <a:off x="5586253"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Experiment:</a:t>
            </a:r>
          </a:p>
          <a:p>
            <a:pPr marL="182563" indent="-182563">
              <a:spcAft>
                <a:spcPts val="600"/>
              </a:spcAft>
              <a:buFont typeface="Arial" panose="020B0604020202020204" pitchFamily="34" charset="0"/>
              <a:buChar char="•"/>
            </a:pPr>
            <a:r>
              <a:rPr lang="en-US" sz="1400" noProof="0" dirty="0">
                <a:solidFill>
                  <a:schemeClr val="tx1"/>
                </a:solidFill>
              </a:rPr>
              <a:t>Vary: mutation strength and/ or population size</a:t>
            </a:r>
          </a:p>
          <a:p>
            <a:pPr marL="182563" indent="-182563">
              <a:spcAft>
                <a:spcPts val="600"/>
              </a:spcAft>
              <a:buFont typeface="Arial" panose="020B0604020202020204" pitchFamily="34" charset="0"/>
              <a:buChar char="•"/>
            </a:pPr>
            <a:r>
              <a:rPr lang="en-US" sz="1400" noProof="0" dirty="0">
                <a:solidFill>
                  <a:schemeClr val="tx1"/>
                </a:solidFill>
              </a:rPr>
              <a:t>Observe:</a:t>
            </a:r>
          </a:p>
          <a:p>
            <a:pPr marL="450850" indent="-268288">
              <a:spcAft>
                <a:spcPts val="600"/>
              </a:spcAft>
              <a:buFont typeface="Symbol" panose="05050102010706020507" pitchFamily="18" charset="2"/>
              <a:buChar char="-"/>
            </a:pPr>
            <a:r>
              <a:rPr lang="en-US" sz="1400" noProof="0" dirty="0">
                <a:solidFill>
                  <a:schemeClr val="tx1"/>
                </a:solidFill>
              </a:rPr>
              <a:t>convergence speed</a:t>
            </a:r>
          </a:p>
          <a:p>
            <a:pPr marL="450850" indent="-268288">
              <a:spcAft>
                <a:spcPts val="600"/>
              </a:spcAft>
              <a:buFont typeface="Symbol" panose="05050102010706020507" pitchFamily="18" charset="2"/>
              <a:buChar char="-"/>
            </a:pPr>
            <a:r>
              <a:rPr lang="en-US" sz="1400" noProof="0" dirty="0">
                <a:solidFill>
                  <a:schemeClr val="tx1"/>
                </a:solidFill>
              </a:rPr>
              <a:t>variability</a:t>
            </a:r>
          </a:p>
        </p:txBody>
      </p:sp>
      <p:pic>
        <p:nvPicPr>
          <p:cNvPr id="12" name="Grafik 11">
            <a:extLst>
              <a:ext uri="{FF2B5EF4-FFF2-40B4-BE49-F238E27FC236}">
                <a16:creationId xmlns:a16="http://schemas.microsoft.com/office/drawing/2014/main" id="{8EA92D27-4F9B-4399-1350-DDA506D9D964}"/>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084877" y="1779662"/>
            <a:ext cx="1383928" cy="332099"/>
          </a:xfrm>
          <a:prstGeom prst="rect">
            <a:avLst/>
          </a:prstGeom>
        </p:spPr>
      </p:pic>
      <p:pic>
        <p:nvPicPr>
          <p:cNvPr id="15" name="Grafik 14">
            <a:extLst>
              <a:ext uri="{FF2B5EF4-FFF2-40B4-BE49-F238E27FC236}">
                <a16:creationId xmlns:a16="http://schemas.microsoft.com/office/drawing/2014/main" id="{DE370D7C-7BE6-409F-62A0-EC133A8727FC}"/>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605623" y="4299942"/>
            <a:ext cx="2342437" cy="256689"/>
          </a:xfrm>
          <a:prstGeom prst="rect">
            <a:avLst/>
          </a:prstGeom>
        </p:spPr>
      </p:pic>
      <p:sp>
        <p:nvSpPr>
          <p:cNvPr id="16" name="Rechteck 15">
            <a:extLst>
              <a:ext uri="{FF2B5EF4-FFF2-40B4-BE49-F238E27FC236}">
                <a16:creationId xmlns:a16="http://schemas.microsoft.com/office/drawing/2014/main" id="{745465D8-DCA5-9CA3-5890-8C13A07F3C18}"/>
              </a:ext>
            </a:extLst>
          </p:cNvPr>
          <p:cNvSpPr/>
          <p:nvPr/>
        </p:nvSpPr>
        <p:spPr>
          <a:xfrm>
            <a:off x="304076" y="1167592"/>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B</a:t>
            </a:r>
          </a:p>
        </p:txBody>
      </p:sp>
    </p:spTree>
    <p:extLst>
      <p:ext uri="{BB962C8B-B14F-4D97-AF65-F5344CB8AC3E}">
        <p14:creationId xmlns:p14="http://schemas.microsoft.com/office/powerpoint/2010/main" val="3310827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F30-3A78-1CD6-9359-9A15A77D049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89B031-C31A-94C9-F412-F62D7E684BFF}"/>
              </a:ext>
            </a:extLst>
          </p:cNvPr>
          <p:cNvSpPr>
            <a:spLocks noGrp="1"/>
          </p:cNvSpPr>
          <p:nvPr>
            <p:ph type="title"/>
          </p:nvPr>
        </p:nvSpPr>
        <p:spPr/>
        <p:txBody>
          <a:bodyPr/>
          <a:lstStyle/>
          <a:p>
            <a:r>
              <a:rPr lang="en-US" noProof="0" dirty="0"/>
              <a:t>Group B:</a:t>
            </a:r>
            <a:br>
              <a:rPr lang="en-US" noProof="0" dirty="0"/>
            </a:br>
            <a:r>
              <a:rPr lang="en-US" noProof="0" dirty="0"/>
              <a:t>Fitting a Population Model (Logistic Growth) – 2/ 2</a:t>
            </a:r>
          </a:p>
        </p:txBody>
      </p:sp>
      <p:sp>
        <p:nvSpPr>
          <p:cNvPr id="7" name="Rechteck 6">
            <a:extLst>
              <a:ext uri="{FF2B5EF4-FFF2-40B4-BE49-F238E27FC236}">
                <a16:creationId xmlns:a16="http://schemas.microsoft.com/office/drawing/2014/main" id="{261D98DA-7942-AF04-BFD3-C82C927A00BB}"/>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AI Prompt Task:</a:t>
            </a:r>
          </a:p>
          <a:p>
            <a:pPr>
              <a:spcAft>
                <a:spcPts val="600"/>
              </a:spcAft>
            </a:pPr>
            <a:r>
              <a:rPr lang="en-US" sz="1400" noProof="0" dirty="0">
                <a:solidFill>
                  <a:schemeClr val="tx1"/>
                </a:solidFill>
              </a:rPr>
              <a:t>Design a prompt that includes:</a:t>
            </a:r>
          </a:p>
          <a:p>
            <a:pPr marL="182563" indent="-182563">
              <a:spcAft>
                <a:spcPts val="600"/>
              </a:spcAft>
              <a:buFont typeface="Arial" panose="020B0604020202020204" pitchFamily="34" charset="0"/>
              <a:buChar char="•"/>
            </a:pPr>
            <a:r>
              <a:rPr lang="en-US" sz="1400" noProof="0" dirty="0">
                <a:solidFill>
                  <a:schemeClr val="tx1"/>
                </a:solidFill>
              </a:rPr>
              <a:t>parameter estimation goal</a:t>
            </a:r>
          </a:p>
          <a:p>
            <a:pPr marL="182563" indent="-182563">
              <a:spcAft>
                <a:spcPts val="600"/>
              </a:spcAft>
              <a:buFont typeface="Arial" panose="020B0604020202020204" pitchFamily="34" charset="0"/>
              <a:buChar char="•"/>
            </a:pPr>
            <a:r>
              <a:rPr lang="en-US" sz="1400" noProof="0" dirty="0">
                <a:solidFill>
                  <a:schemeClr val="tx1"/>
                </a:solidFill>
              </a:rPr>
              <a:t>simulation of logistic model</a:t>
            </a:r>
          </a:p>
          <a:p>
            <a:pPr marL="182563" indent="-182563">
              <a:spcAft>
                <a:spcPts val="600"/>
              </a:spcAft>
              <a:buFont typeface="Arial" panose="020B0604020202020204" pitchFamily="34" charset="0"/>
              <a:buChar char="•"/>
            </a:pPr>
            <a:r>
              <a:rPr lang="en-US" sz="1400" noProof="0" dirty="0">
                <a:solidFill>
                  <a:schemeClr val="tx1"/>
                </a:solidFill>
              </a:rPr>
              <a:t>error computation</a:t>
            </a:r>
          </a:p>
          <a:p>
            <a:pPr marL="182563" indent="-182563">
              <a:spcAft>
                <a:spcPts val="600"/>
              </a:spcAft>
              <a:buFont typeface="Arial" panose="020B0604020202020204" pitchFamily="34" charset="0"/>
              <a:buChar char="•"/>
            </a:pPr>
            <a:r>
              <a:rPr lang="en-US" sz="1400" noProof="0" dirty="0">
                <a:solidFill>
                  <a:schemeClr val="tx1"/>
                </a:solidFill>
              </a:rPr>
              <a:t>visualization (fit vs data)</a:t>
            </a:r>
          </a:p>
        </p:txBody>
      </p:sp>
      <p:sp>
        <p:nvSpPr>
          <p:cNvPr id="8" name="Rechteck 7">
            <a:extLst>
              <a:ext uri="{FF2B5EF4-FFF2-40B4-BE49-F238E27FC236}">
                <a16:creationId xmlns:a16="http://schemas.microsoft.com/office/drawing/2014/main" id="{DEEA99BA-79A6-BC6B-BE43-884E18855AC2}"/>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Reflection:</a:t>
            </a:r>
          </a:p>
          <a:p>
            <a:pPr marL="182563" indent="-182563">
              <a:spcAft>
                <a:spcPts val="600"/>
              </a:spcAft>
              <a:buFont typeface="Arial" panose="020B0604020202020204" pitchFamily="34" charset="0"/>
              <a:buChar char="•"/>
            </a:pPr>
            <a:r>
              <a:rPr lang="en-US" sz="1400" noProof="0" dirty="0">
                <a:solidFill>
                  <a:schemeClr val="tx1"/>
                </a:solidFill>
              </a:rPr>
              <a:t>Does the GA recover reasonable parameters?</a:t>
            </a:r>
          </a:p>
          <a:p>
            <a:pPr marL="182563" indent="-182563">
              <a:spcAft>
                <a:spcPts val="600"/>
              </a:spcAft>
              <a:buFont typeface="Arial" panose="020B0604020202020204" pitchFamily="34" charset="0"/>
              <a:buChar char="•"/>
            </a:pPr>
            <a:r>
              <a:rPr lang="en-US" sz="1400" noProof="0" dirty="0">
                <a:solidFill>
                  <a:schemeClr val="tx1"/>
                </a:solidFill>
              </a:rPr>
              <a:t>What happens if mutation is too high?</a:t>
            </a:r>
          </a:p>
        </p:txBody>
      </p:sp>
    </p:spTree>
    <p:extLst>
      <p:ext uri="{BB962C8B-B14F-4D97-AF65-F5344CB8AC3E}">
        <p14:creationId xmlns:p14="http://schemas.microsoft.com/office/powerpoint/2010/main" val="416447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EE0F-B99C-8564-D1CB-EB127813001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B713FC-37B6-3F08-D419-EC8F41057A93}"/>
              </a:ext>
            </a:extLst>
          </p:cNvPr>
          <p:cNvSpPr>
            <a:spLocks noGrp="1"/>
          </p:cNvSpPr>
          <p:nvPr>
            <p:ph type="title"/>
          </p:nvPr>
        </p:nvSpPr>
        <p:spPr/>
        <p:txBody>
          <a:bodyPr/>
          <a:lstStyle/>
          <a:p>
            <a:r>
              <a:rPr lang="en-US" noProof="0" dirty="0"/>
              <a:t>Group C:</a:t>
            </a:r>
            <a:br>
              <a:rPr lang="en-US" noProof="0" dirty="0"/>
            </a:br>
            <a:r>
              <a:rPr lang="en-US" noProof="0" dirty="0"/>
              <a:t>Evolution of Antibiotic Resistance – 1/ 2</a:t>
            </a:r>
          </a:p>
        </p:txBody>
      </p:sp>
      <p:sp>
        <p:nvSpPr>
          <p:cNvPr id="3" name="Rechteck 2">
            <a:extLst>
              <a:ext uri="{FF2B5EF4-FFF2-40B4-BE49-F238E27FC236}">
                <a16:creationId xmlns:a16="http://schemas.microsoft.com/office/drawing/2014/main" id="{02066C0F-0B03-CC10-871D-6668D83E506F}"/>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Evolution of Antibiotic Resistance</a:t>
            </a:r>
          </a:p>
          <a:p>
            <a:pPr>
              <a:spcAft>
                <a:spcPts val="600"/>
              </a:spcAft>
            </a:pPr>
            <a:r>
              <a:rPr lang="en-US" sz="1200" noProof="0" dirty="0">
                <a:solidFill>
                  <a:schemeClr val="tx1"/>
                </a:solidFill>
              </a:rPr>
              <a:t>You observe a bacterial population evolves under antibiotic pressure</a:t>
            </a:r>
          </a:p>
          <a:p>
            <a:pPr>
              <a:spcAft>
                <a:spcPts val="600"/>
              </a:spcAft>
            </a:pPr>
            <a:r>
              <a:rPr lang="en-US" sz="1200" noProof="0" dirty="0">
                <a:solidFill>
                  <a:schemeClr val="tx1"/>
                </a:solidFill>
              </a:rPr>
              <a:t>Each bacterium has a resistance level x </a:t>
            </a:r>
            <a:r>
              <a:rPr lang="en-US" sz="1200" noProof="0" dirty="0">
                <a:solidFill>
                  <a:schemeClr val="tx1"/>
                </a:solidFill>
                <a:sym typeface="Symbol" panose="05050102010706020507" pitchFamily="18" charset="2"/>
              </a:rPr>
              <a:t> [0,1]</a:t>
            </a:r>
          </a:p>
          <a:p>
            <a:pPr>
              <a:spcAft>
                <a:spcPts val="600"/>
              </a:spcAft>
            </a:pPr>
            <a:r>
              <a:rPr lang="en-US" sz="1200" noProof="0" dirty="0">
                <a:solidFill>
                  <a:schemeClr val="tx1"/>
                </a:solidFill>
              </a:rPr>
              <a:t>Consider the biological trade-off between higher resistance and lower growth rate</a:t>
            </a:r>
          </a:p>
          <a:p>
            <a:pPr>
              <a:spcAft>
                <a:spcPts val="600"/>
              </a:spcAft>
            </a:pPr>
            <a:endParaRPr lang="en-US" sz="1200" noProof="0" dirty="0">
              <a:solidFill>
                <a:schemeClr val="tx1"/>
              </a:solidFill>
            </a:endParaRPr>
          </a:p>
        </p:txBody>
      </p:sp>
      <p:grpSp>
        <p:nvGrpSpPr>
          <p:cNvPr id="4" name="Gruppieren 3">
            <a:extLst>
              <a:ext uri="{FF2B5EF4-FFF2-40B4-BE49-F238E27FC236}">
                <a16:creationId xmlns:a16="http://schemas.microsoft.com/office/drawing/2014/main" id="{BD9E9070-6BAE-1F69-1B4F-CEC88277310A}"/>
              </a:ext>
            </a:extLst>
          </p:cNvPr>
          <p:cNvGrpSpPr/>
          <p:nvPr/>
        </p:nvGrpSpPr>
        <p:grpSpPr>
          <a:xfrm>
            <a:off x="251520" y="1131588"/>
            <a:ext cx="1656184" cy="936107"/>
            <a:chOff x="251520" y="1131588"/>
            <a:chExt cx="1656184" cy="936107"/>
          </a:xfrm>
        </p:grpSpPr>
        <p:sp>
          <p:nvSpPr>
            <p:cNvPr id="5" name="Rechteck 4">
              <a:extLst>
                <a:ext uri="{FF2B5EF4-FFF2-40B4-BE49-F238E27FC236}">
                  <a16:creationId xmlns:a16="http://schemas.microsoft.com/office/drawing/2014/main" id="{D8B4C2E5-044D-3E45-2D22-D7978C93F2CA}"/>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84BE8391-6BAE-026B-9B4A-6CD4C379B8DA}"/>
                </a:ext>
              </a:extLst>
            </p:cNvPr>
            <p:cNvPicPr>
              <a:picLocks noChangeAspect="1"/>
            </p:cNvPicPr>
            <p:nvPr/>
          </p:nvPicPr>
          <p:blipFill>
            <a:blip r:embed="rId3"/>
            <a:srcRect t="5700" b="15210"/>
            <a:stretch>
              <a:fillRect/>
            </a:stretch>
          </p:blipFill>
          <p:spPr>
            <a:xfrm>
              <a:off x="487821" y="1131589"/>
              <a:ext cx="1183583" cy="936106"/>
            </a:xfrm>
            <a:prstGeom prst="rect">
              <a:avLst/>
            </a:prstGeom>
          </p:spPr>
        </p:pic>
      </p:grpSp>
      <p:sp>
        <p:nvSpPr>
          <p:cNvPr id="7" name="Rechteck 6">
            <a:extLst>
              <a:ext uri="{FF2B5EF4-FFF2-40B4-BE49-F238E27FC236}">
                <a16:creationId xmlns:a16="http://schemas.microsoft.com/office/drawing/2014/main" id="{A3F3610B-5212-1C08-F1CD-80750A6C6DD0}"/>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Model:</a:t>
            </a:r>
          </a:p>
          <a:p>
            <a:pPr>
              <a:spcAft>
                <a:spcPts val="600"/>
              </a:spcAft>
            </a:pPr>
            <a:r>
              <a:rPr lang="en-US" sz="1400" noProof="0" dirty="0">
                <a:solidFill>
                  <a:schemeClr val="tx1"/>
                </a:solidFill>
              </a:rPr>
              <a:t>Use a fitness function defined as</a:t>
            </a:r>
          </a:p>
          <a:p>
            <a:pPr>
              <a:spcAft>
                <a:spcPts val="600"/>
              </a:spcAft>
            </a:pPr>
            <a:endParaRPr lang="en-US" sz="1400" noProof="0" dirty="0">
              <a:solidFill>
                <a:schemeClr val="tx1"/>
              </a:solidFill>
            </a:endParaRPr>
          </a:p>
          <a:p>
            <a:pPr>
              <a:spcAft>
                <a:spcPts val="600"/>
              </a:spcAft>
            </a:pPr>
            <a:endParaRPr lang="en-US" sz="1400" noProof="0" dirty="0">
              <a:solidFill>
                <a:schemeClr val="tx1"/>
              </a:solidFill>
            </a:endParaRPr>
          </a:p>
          <a:p>
            <a:pPr>
              <a:spcAft>
                <a:spcPts val="600"/>
              </a:spcAft>
            </a:pPr>
            <a:endParaRPr lang="en-US" sz="1400" noProof="0" dirty="0">
              <a:solidFill>
                <a:schemeClr val="tx1"/>
              </a:solidFill>
            </a:endParaRPr>
          </a:p>
          <a:p>
            <a:pPr>
              <a:spcAft>
                <a:spcPts val="600"/>
              </a:spcAft>
            </a:pPr>
            <a:r>
              <a:rPr lang="en-US" sz="1400" noProof="0" dirty="0">
                <a:solidFill>
                  <a:schemeClr val="tx1"/>
                </a:solidFill>
              </a:rPr>
              <a:t>where c &gt; 0 is the cost of resistance</a:t>
            </a:r>
          </a:p>
          <a:p>
            <a:pPr>
              <a:spcAft>
                <a:spcPts val="600"/>
              </a:spcAft>
            </a:pPr>
            <a:endParaRPr lang="en-US" sz="1400" noProof="0" dirty="0">
              <a:solidFill>
                <a:schemeClr val="tx1"/>
              </a:solidFill>
            </a:endParaRPr>
          </a:p>
        </p:txBody>
      </p:sp>
      <p:sp>
        <p:nvSpPr>
          <p:cNvPr id="8" name="Rechteck 7">
            <a:extLst>
              <a:ext uri="{FF2B5EF4-FFF2-40B4-BE49-F238E27FC236}">
                <a16:creationId xmlns:a16="http://schemas.microsoft.com/office/drawing/2014/main" id="{7999B166-B2C4-2947-7523-D81F7F65ECEC}"/>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Task:</a:t>
            </a:r>
          </a:p>
          <a:p>
            <a:pPr>
              <a:spcAft>
                <a:spcPts val="600"/>
              </a:spcAft>
            </a:pPr>
            <a:r>
              <a:rPr lang="en-US" sz="1400" noProof="0" dirty="0">
                <a:solidFill>
                  <a:schemeClr val="tx1"/>
                </a:solidFill>
              </a:rPr>
              <a:t>Simulate evolution under:</a:t>
            </a:r>
          </a:p>
          <a:p>
            <a:pPr marL="182563" indent="-182563">
              <a:spcAft>
                <a:spcPts val="600"/>
              </a:spcAft>
              <a:buFont typeface="Arial" panose="020B0604020202020204" pitchFamily="34" charset="0"/>
              <a:buChar char="•"/>
            </a:pPr>
            <a:r>
              <a:rPr lang="en-US" sz="1400" noProof="0" dirty="0">
                <a:solidFill>
                  <a:schemeClr val="tx1"/>
                </a:solidFill>
              </a:rPr>
              <a:t>environment </a:t>
            </a:r>
            <a:r>
              <a:rPr lang="en-US" sz="1400" b="1" noProof="0" dirty="0">
                <a:solidFill>
                  <a:schemeClr val="tx1"/>
                </a:solidFill>
              </a:rPr>
              <a:t>without</a:t>
            </a:r>
            <a:r>
              <a:rPr lang="en-US" sz="1400" noProof="0" dirty="0">
                <a:solidFill>
                  <a:schemeClr val="tx1"/>
                </a:solidFill>
              </a:rPr>
              <a:t> antibiotic</a:t>
            </a:r>
          </a:p>
          <a:p>
            <a:pPr marL="182563" indent="-182563">
              <a:spcAft>
                <a:spcPts val="600"/>
              </a:spcAft>
              <a:buFont typeface="Arial" panose="020B0604020202020204" pitchFamily="34" charset="0"/>
              <a:buChar char="•"/>
            </a:pPr>
            <a:r>
              <a:rPr lang="en-US" sz="1400" noProof="0" dirty="0">
                <a:solidFill>
                  <a:schemeClr val="tx1"/>
                </a:solidFill>
              </a:rPr>
              <a:t>environment </a:t>
            </a:r>
            <a:r>
              <a:rPr lang="en-US" sz="1400" b="1" noProof="0" dirty="0">
                <a:solidFill>
                  <a:schemeClr val="tx1"/>
                </a:solidFill>
              </a:rPr>
              <a:t>with</a:t>
            </a:r>
            <a:r>
              <a:rPr lang="en-US" sz="1400" noProof="0" dirty="0">
                <a:solidFill>
                  <a:schemeClr val="tx1"/>
                </a:solidFill>
              </a:rPr>
              <a:t> antibiotic</a:t>
            </a:r>
          </a:p>
        </p:txBody>
      </p:sp>
      <p:sp>
        <p:nvSpPr>
          <p:cNvPr id="9" name="Rechteck 8">
            <a:extLst>
              <a:ext uri="{FF2B5EF4-FFF2-40B4-BE49-F238E27FC236}">
                <a16:creationId xmlns:a16="http://schemas.microsoft.com/office/drawing/2014/main" id="{1B86E1F4-A1BA-FDDF-DD41-590CE2A34B15}"/>
              </a:ext>
            </a:extLst>
          </p:cNvPr>
          <p:cNvSpPr/>
          <p:nvPr/>
        </p:nvSpPr>
        <p:spPr>
          <a:xfrm>
            <a:off x="2123728"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Representation:</a:t>
            </a:r>
          </a:p>
          <a:p>
            <a:pPr marL="182563" indent="-182563">
              <a:spcAft>
                <a:spcPts val="600"/>
              </a:spcAft>
              <a:buFont typeface="Arial" panose="020B0604020202020204" pitchFamily="34" charset="0"/>
              <a:buChar char="•"/>
            </a:pPr>
            <a:r>
              <a:rPr lang="en-US" sz="1400" noProof="0" dirty="0">
                <a:solidFill>
                  <a:schemeClr val="tx1"/>
                </a:solidFill>
              </a:rPr>
              <a:t>Every individual has a resistance level x</a:t>
            </a:r>
          </a:p>
        </p:txBody>
      </p:sp>
      <p:sp>
        <p:nvSpPr>
          <p:cNvPr id="10" name="Rechteck 9">
            <a:extLst>
              <a:ext uri="{FF2B5EF4-FFF2-40B4-BE49-F238E27FC236}">
                <a16:creationId xmlns:a16="http://schemas.microsoft.com/office/drawing/2014/main" id="{8777ED7F-FFEC-A76A-4F36-10557F5169FC}"/>
              </a:ext>
            </a:extLst>
          </p:cNvPr>
          <p:cNvSpPr/>
          <p:nvPr/>
        </p:nvSpPr>
        <p:spPr>
          <a:xfrm>
            <a:off x="5586253"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Experiment:</a:t>
            </a:r>
          </a:p>
          <a:p>
            <a:pPr marL="182563" indent="-182563">
              <a:spcAft>
                <a:spcPts val="600"/>
              </a:spcAft>
              <a:buFont typeface="Arial" panose="020B0604020202020204" pitchFamily="34" charset="0"/>
              <a:buChar char="•"/>
            </a:pPr>
            <a:r>
              <a:rPr lang="en-US" sz="1400" noProof="0" dirty="0">
                <a:solidFill>
                  <a:schemeClr val="tx1"/>
                </a:solidFill>
              </a:rPr>
              <a:t>Compare the evolution in both environments</a:t>
            </a:r>
          </a:p>
        </p:txBody>
      </p:sp>
      <p:pic>
        <p:nvPicPr>
          <p:cNvPr id="22" name="Grafik 21">
            <a:extLst>
              <a:ext uri="{FF2B5EF4-FFF2-40B4-BE49-F238E27FC236}">
                <a16:creationId xmlns:a16="http://schemas.microsoft.com/office/drawing/2014/main" id="{4FDA3B10-DD38-B4E9-D6D4-18506ECD163B}"/>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243953" y="1779662"/>
            <a:ext cx="3065776" cy="545286"/>
          </a:xfrm>
          <a:prstGeom prst="rect">
            <a:avLst/>
          </a:prstGeom>
        </p:spPr>
      </p:pic>
      <p:sp>
        <p:nvSpPr>
          <p:cNvPr id="16" name="Rechteck 15">
            <a:extLst>
              <a:ext uri="{FF2B5EF4-FFF2-40B4-BE49-F238E27FC236}">
                <a16:creationId xmlns:a16="http://schemas.microsoft.com/office/drawing/2014/main" id="{B7D03546-CCA9-388E-5545-E9A24FBADAFE}"/>
              </a:ext>
            </a:extLst>
          </p:cNvPr>
          <p:cNvSpPr/>
          <p:nvPr/>
        </p:nvSpPr>
        <p:spPr>
          <a:xfrm>
            <a:off x="304076" y="1167592"/>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C</a:t>
            </a:r>
          </a:p>
        </p:txBody>
      </p:sp>
    </p:spTree>
    <p:extLst>
      <p:ext uri="{BB962C8B-B14F-4D97-AF65-F5344CB8AC3E}">
        <p14:creationId xmlns:p14="http://schemas.microsoft.com/office/powerpoint/2010/main" val="592801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5373F-3225-57A2-CA40-8FBEABDC82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325BE2B-4E61-7B2D-D904-8DDB45FF00A1}"/>
              </a:ext>
            </a:extLst>
          </p:cNvPr>
          <p:cNvSpPr>
            <a:spLocks noGrp="1"/>
          </p:cNvSpPr>
          <p:nvPr>
            <p:ph type="title"/>
          </p:nvPr>
        </p:nvSpPr>
        <p:spPr/>
        <p:txBody>
          <a:bodyPr/>
          <a:lstStyle/>
          <a:p>
            <a:r>
              <a:rPr lang="en-US" noProof="0" dirty="0"/>
              <a:t>Group C:</a:t>
            </a:r>
            <a:br>
              <a:rPr lang="en-US" noProof="0" dirty="0"/>
            </a:br>
            <a:r>
              <a:rPr lang="en-US" noProof="0" dirty="0"/>
              <a:t>Evolution of Antibiotic Resistance – 2/ 2</a:t>
            </a:r>
          </a:p>
        </p:txBody>
      </p:sp>
      <p:sp>
        <p:nvSpPr>
          <p:cNvPr id="7" name="Rechteck 6">
            <a:extLst>
              <a:ext uri="{FF2B5EF4-FFF2-40B4-BE49-F238E27FC236}">
                <a16:creationId xmlns:a16="http://schemas.microsoft.com/office/drawing/2014/main" id="{6C9EA8C8-2234-3E4C-98B3-74167DC0C2F7}"/>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AI Prompt Task:</a:t>
            </a:r>
          </a:p>
          <a:p>
            <a:pPr>
              <a:spcAft>
                <a:spcPts val="600"/>
              </a:spcAft>
            </a:pPr>
            <a:r>
              <a:rPr lang="en-US" sz="1400" noProof="0" dirty="0">
                <a:solidFill>
                  <a:schemeClr val="tx1"/>
                </a:solidFill>
              </a:rPr>
              <a:t>Design a prompt that includes:</a:t>
            </a:r>
          </a:p>
          <a:p>
            <a:pPr marL="182563" indent="-182563">
              <a:spcAft>
                <a:spcPts val="600"/>
              </a:spcAft>
              <a:buFont typeface="Arial" panose="020B0604020202020204" pitchFamily="34" charset="0"/>
              <a:buChar char="•"/>
            </a:pPr>
            <a:r>
              <a:rPr lang="en-US" sz="1400" noProof="0" dirty="0">
                <a:solidFill>
                  <a:schemeClr val="tx1"/>
                </a:solidFill>
              </a:rPr>
              <a:t>environmental dependence</a:t>
            </a:r>
          </a:p>
          <a:p>
            <a:pPr marL="182563" indent="-182563">
              <a:spcAft>
                <a:spcPts val="600"/>
              </a:spcAft>
              <a:buFont typeface="Arial" panose="020B0604020202020204" pitchFamily="34" charset="0"/>
              <a:buChar char="•"/>
            </a:pPr>
            <a:r>
              <a:rPr lang="en-US" sz="1400" noProof="0" dirty="0">
                <a:solidFill>
                  <a:schemeClr val="tx1"/>
                </a:solidFill>
              </a:rPr>
              <a:t>two scenarios</a:t>
            </a:r>
          </a:p>
          <a:p>
            <a:pPr marL="182563" indent="-182563">
              <a:spcAft>
                <a:spcPts val="600"/>
              </a:spcAft>
              <a:buFont typeface="Arial" panose="020B0604020202020204" pitchFamily="34" charset="0"/>
              <a:buChar char="•"/>
            </a:pPr>
            <a:r>
              <a:rPr lang="en-US" sz="1400" noProof="0" dirty="0">
                <a:solidFill>
                  <a:schemeClr val="tx1"/>
                </a:solidFill>
              </a:rPr>
              <a:t>comparison of outcomes</a:t>
            </a:r>
          </a:p>
        </p:txBody>
      </p:sp>
      <p:sp>
        <p:nvSpPr>
          <p:cNvPr id="8" name="Rechteck 7">
            <a:extLst>
              <a:ext uri="{FF2B5EF4-FFF2-40B4-BE49-F238E27FC236}">
                <a16:creationId xmlns:a16="http://schemas.microsoft.com/office/drawing/2014/main" id="{9ADD6305-4708-2664-D5D5-544ED6EE2757}"/>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Reflection:</a:t>
            </a:r>
          </a:p>
          <a:p>
            <a:pPr marL="182563" indent="-182563">
              <a:spcAft>
                <a:spcPts val="600"/>
              </a:spcAft>
              <a:buFont typeface="Arial" panose="020B0604020202020204" pitchFamily="34" charset="0"/>
              <a:buChar char="•"/>
            </a:pPr>
            <a:r>
              <a:rPr lang="en-US" sz="1400" noProof="0" dirty="0">
                <a:solidFill>
                  <a:schemeClr val="tx1"/>
                </a:solidFill>
              </a:rPr>
              <a:t>Why does resistance increase?</a:t>
            </a:r>
          </a:p>
          <a:p>
            <a:pPr marL="182563" indent="-182563">
              <a:spcAft>
                <a:spcPts val="600"/>
              </a:spcAft>
              <a:buFont typeface="Arial" panose="020B0604020202020204" pitchFamily="34" charset="0"/>
              <a:buChar char="•"/>
            </a:pPr>
            <a:r>
              <a:rPr lang="en-US" sz="1400" noProof="0" dirty="0">
                <a:solidFill>
                  <a:schemeClr val="tx1"/>
                </a:solidFill>
              </a:rPr>
              <a:t>What is the cost of resistance?</a:t>
            </a:r>
          </a:p>
        </p:txBody>
      </p:sp>
      <p:sp>
        <p:nvSpPr>
          <p:cNvPr id="3" name="Rechteck 2">
            <a:extLst>
              <a:ext uri="{FF2B5EF4-FFF2-40B4-BE49-F238E27FC236}">
                <a16:creationId xmlns:a16="http://schemas.microsoft.com/office/drawing/2014/main" id="{B5BB14EE-7D84-8183-14F4-1A206DBE3978}"/>
              </a:ext>
            </a:extLst>
          </p:cNvPr>
          <p:cNvSpPr/>
          <p:nvPr/>
        </p:nvSpPr>
        <p:spPr>
          <a:xfrm>
            <a:off x="2123728" y="3291830"/>
            <a:ext cx="6768752" cy="172819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b="1" noProof="0" dirty="0">
              <a:solidFill>
                <a:schemeClr val="tx1"/>
              </a:solidFill>
            </a:endParaRPr>
          </a:p>
        </p:txBody>
      </p:sp>
      <p:sp>
        <p:nvSpPr>
          <p:cNvPr id="4" name="Rechteck 3">
            <a:extLst>
              <a:ext uri="{FF2B5EF4-FFF2-40B4-BE49-F238E27FC236}">
                <a16:creationId xmlns:a16="http://schemas.microsoft.com/office/drawing/2014/main" id="{8BEF0EA4-A22F-149A-F549-8F83EE8A5E2B}"/>
              </a:ext>
            </a:extLst>
          </p:cNvPr>
          <p:cNvSpPr/>
          <p:nvPr/>
        </p:nvSpPr>
        <p:spPr>
          <a:xfrm>
            <a:off x="2123728" y="3291830"/>
            <a:ext cx="3306227" cy="1728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Remark on the fitness function:</a:t>
            </a:r>
          </a:p>
          <a:p>
            <a:pPr>
              <a:spcAft>
                <a:spcPts val="600"/>
              </a:spcAft>
            </a:pPr>
            <a:r>
              <a:rPr lang="en-US" sz="1400" noProof="0" dirty="0">
                <a:solidFill>
                  <a:schemeClr val="tx1"/>
                </a:solidFill>
              </a:rPr>
              <a:t>The fitness under antibiotics has two competing effects:</a:t>
            </a:r>
          </a:p>
          <a:p>
            <a:pPr marL="182563" indent="-182563">
              <a:spcAft>
                <a:spcPts val="600"/>
              </a:spcAft>
              <a:buFont typeface="Arial" panose="020B0604020202020204" pitchFamily="34" charset="0"/>
              <a:buChar char="•"/>
            </a:pPr>
            <a:r>
              <a:rPr lang="en-US" sz="1400" noProof="0" dirty="0">
                <a:solidFill>
                  <a:schemeClr val="tx1"/>
                </a:solidFill>
              </a:rPr>
              <a:t>x: benefit (survival under antibiotic)</a:t>
            </a:r>
          </a:p>
          <a:p>
            <a:pPr marL="182563" indent="-182563">
              <a:spcAft>
                <a:spcPts val="600"/>
              </a:spcAft>
              <a:buFont typeface="Arial" panose="020B0604020202020204" pitchFamily="34" charset="0"/>
              <a:buChar char="•"/>
            </a:pPr>
            <a:r>
              <a:rPr lang="en-US" sz="1400" noProof="0" dirty="0">
                <a:solidFill>
                  <a:schemeClr val="tx1"/>
                </a:solidFill>
              </a:rPr>
              <a:t>(1-cx): cost (reduced growth)</a:t>
            </a:r>
          </a:p>
        </p:txBody>
      </p:sp>
      <p:sp>
        <p:nvSpPr>
          <p:cNvPr id="5" name="Rechteck 4">
            <a:extLst>
              <a:ext uri="{FF2B5EF4-FFF2-40B4-BE49-F238E27FC236}">
                <a16:creationId xmlns:a16="http://schemas.microsoft.com/office/drawing/2014/main" id="{4AED8811-10E1-C555-EA27-E2D296D4D4D9}"/>
              </a:ext>
            </a:extLst>
          </p:cNvPr>
          <p:cNvSpPr/>
          <p:nvPr/>
        </p:nvSpPr>
        <p:spPr>
          <a:xfrm>
            <a:off x="5586253" y="3291830"/>
            <a:ext cx="3306227" cy="1728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a:p>
            <a:pPr>
              <a:spcAft>
                <a:spcPts val="600"/>
              </a:spcAft>
            </a:pPr>
            <a:r>
              <a:rPr lang="en-US" sz="1400" noProof="0" dirty="0">
                <a:solidFill>
                  <a:schemeClr val="tx1"/>
                </a:solidFill>
              </a:rPr>
              <a:t>So:</a:t>
            </a:r>
          </a:p>
          <a:p>
            <a:pPr marL="182563" indent="-182563">
              <a:spcAft>
                <a:spcPts val="600"/>
              </a:spcAft>
              <a:buFont typeface="Arial" panose="020B0604020202020204" pitchFamily="34" charset="0"/>
              <a:buChar char="•"/>
            </a:pPr>
            <a:r>
              <a:rPr lang="en-US" sz="1400" noProof="0" dirty="0">
                <a:solidFill>
                  <a:schemeClr val="tx1"/>
                </a:solidFill>
              </a:rPr>
              <a:t>small x: low resistance </a:t>
            </a:r>
            <a:r>
              <a:rPr lang="en-US" sz="1400" noProof="0" dirty="0">
                <a:solidFill>
                  <a:schemeClr val="tx1"/>
                </a:solidFill>
                <a:sym typeface="Symbol" panose="05050102010706020507" pitchFamily="18" charset="2"/>
              </a:rPr>
              <a:t></a:t>
            </a:r>
            <a:r>
              <a:rPr lang="en-US" sz="1400" noProof="0" dirty="0">
                <a:solidFill>
                  <a:schemeClr val="tx1"/>
                </a:solidFill>
              </a:rPr>
              <a:t> vulnerable</a:t>
            </a:r>
          </a:p>
          <a:p>
            <a:pPr marL="182563" indent="-182563">
              <a:spcAft>
                <a:spcPts val="600"/>
              </a:spcAft>
              <a:buFont typeface="Arial" panose="020B0604020202020204" pitchFamily="34" charset="0"/>
              <a:buChar char="•"/>
            </a:pPr>
            <a:r>
              <a:rPr lang="en-US" sz="1400" noProof="0" dirty="0">
                <a:solidFill>
                  <a:schemeClr val="tx1"/>
                </a:solidFill>
              </a:rPr>
              <a:t>large x: high resistance </a:t>
            </a:r>
            <a:r>
              <a:rPr lang="en-US" sz="1400" noProof="0" dirty="0">
                <a:solidFill>
                  <a:schemeClr val="tx1"/>
                </a:solidFill>
                <a:sym typeface="Symbol" panose="05050102010706020507" pitchFamily="18" charset="2"/>
              </a:rPr>
              <a:t></a:t>
            </a:r>
            <a:r>
              <a:rPr lang="en-US" sz="1400" noProof="0" dirty="0">
                <a:solidFill>
                  <a:schemeClr val="tx1"/>
                </a:solidFill>
              </a:rPr>
              <a:t> costly</a:t>
            </a:r>
          </a:p>
          <a:p>
            <a:pPr marL="182563" indent="-182563">
              <a:spcAft>
                <a:spcPts val="600"/>
              </a:spcAft>
              <a:buFont typeface="Arial" panose="020B0604020202020204" pitchFamily="34" charset="0"/>
              <a:buChar char="•"/>
            </a:pPr>
            <a:r>
              <a:rPr lang="en-US" sz="1400" noProof="0" dirty="0">
                <a:solidFill>
                  <a:schemeClr val="tx1"/>
                </a:solidFill>
              </a:rPr>
              <a:t>optimal x</a:t>
            </a:r>
            <a:r>
              <a:rPr lang="en-US" sz="1400" baseline="30000" noProof="0" dirty="0">
                <a:solidFill>
                  <a:schemeClr val="tx1"/>
                </a:solidFill>
              </a:rPr>
              <a:t>∗</a:t>
            </a:r>
            <a:r>
              <a:rPr lang="en-US" sz="1400" noProof="0" dirty="0">
                <a:solidFill>
                  <a:schemeClr val="tx1"/>
                </a:solidFill>
              </a:rPr>
              <a:t>: balance between both</a:t>
            </a:r>
          </a:p>
        </p:txBody>
      </p:sp>
    </p:spTree>
    <p:extLst>
      <p:ext uri="{BB962C8B-B14F-4D97-AF65-F5344CB8AC3E}">
        <p14:creationId xmlns:p14="http://schemas.microsoft.com/office/powerpoint/2010/main" val="2746802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903AC-F064-5685-93A1-733C222330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3EED738-2BA1-64E0-D28D-1C8E3A893D0F}"/>
              </a:ext>
            </a:extLst>
          </p:cNvPr>
          <p:cNvSpPr>
            <a:spLocks noGrp="1"/>
          </p:cNvSpPr>
          <p:nvPr>
            <p:ph type="title"/>
          </p:nvPr>
        </p:nvSpPr>
        <p:spPr/>
        <p:txBody>
          <a:bodyPr/>
          <a:lstStyle/>
          <a:p>
            <a:r>
              <a:rPr lang="en-US" noProof="0" dirty="0"/>
              <a:t>Group D:</a:t>
            </a:r>
            <a:br>
              <a:rPr lang="en-US" noProof="0" dirty="0"/>
            </a:br>
            <a:r>
              <a:rPr lang="en-US" noProof="0" dirty="0"/>
              <a:t>Evolution of Cooperation Strategies – 1/ 2</a:t>
            </a:r>
          </a:p>
        </p:txBody>
      </p:sp>
      <p:sp>
        <p:nvSpPr>
          <p:cNvPr id="3" name="Rechteck 2">
            <a:extLst>
              <a:ext uri="{FF2B5EF4-FFF2-40B4-BE49-F238E27FC236}">
                <a16:creationId xmlns:a16="http://schemas.microsoft.com/office/drawing/2014/main" id="{7264779F-E69B-11E9-8AF7-3AE0300B6F04}"/>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Evolution of Cooperation Strategies</a:t>
            </a:r>
          </a:p>
          <a:p>
            <a:pPr>
              <a:spcAft>
                <a:spcPts val="600"/>
              </a:spcAft>
            </a:pPr>
            <a:r>
              <a:rPr lang="en-US" sz="1200" noProof="0" dirty="0">
                <a:solidFill>
                  <a:schemeClr val="tx1"/>
                </a:solidFill>
              </a:rPr>
              <a:t>Individuals repeatedly interact using a simple rule:</a:t>
            </a:r>
          </a:p>
          <a:p>
            <a:pPr marL="171450" indent="-171450">
              <a:spcAft>
                <a:spcPts val="600"/>
              </a:spcAft>
              <a:buFont typeface="Arial" panose="020B0604020202020204" pitchFamily="34" charset="0"/>
              <a:buChar char="•"/>
            </a:pPr>
            <a:r>
              <a:rPr lang="en-US" sz="1200" noProof="0" dirty="0">
                <a:solidFill>
                  <a:schemeClr val="tx1"/>
                </a:solidFill>
              </a:rPr>
              <a:t>cooperate or</a:t>
            </a:r>
          </a:p>
          <a:p>
            <a:pPr marL="171450" indent="-171450">
              <a:spcAft>
                <a:spcPts val="600"/>
              </a:spcAft>
              <a:buFont typeface="Arial" panose="020B0604020202020204" pitchFamily="34" charset="0"/>
              <a:buChar char="•"/>
            </a:pPr>
            <a:r>
              <a:rPr lang="en-US" sz="1200" noProof="0" dirty="0">
                <a:solidFill>
                  <a:schemeClr val="tx1"/>
                </a:solidFill>
              </a:rPr>
              <a:t>defect</a:t>
            </a:r>
          </a:p>
          <a:p>
            <a:pPr>
              <a:spcAft>
                <a:spcPts val="600"/>
              </a:spcAft>
            </a:pPr>
            <a:r>
              <a:rPr lang="en-US" sz="1200" noProof="0" dirty="0">
                <a:solidFill>
                  <a:schemeClr val="tx1"/>
                </a:solidFill>
              </a:rPr>
              <a:t>Strategies evolve based on success.</a:t>
            </a:r>
          </a:p>
        </p:txBody>
      </p:sp>
      <p:grpSp>
        <p:nvGrpSpPr>
          <p:cNvPr id="4" name="Gruppieren 3">
            <a:extLst>
              <a:ext uri="{FF2B5EF4-FFF2-40B4-BE49-F238E27FC236}">
                <a16:creationId xmlns:a16="http://schemas.microsoft.com/office/drawing/2014/main" id="{CDD18B4C-CD3D-002F-D88D-BF9DBBAD3716}"/>
              </a:ext>
            </a:extLst>
          </p:cNvPr>
          <p:cNvGrpSpPr/>
          <p:nvPr/>
        </p:nvGrpSpPr>
        <p:grpSpPr>
          <a:xfrm>
            <a:off x="251520" y="1131588"/>
            <a:ext cx="1656184" cy="936107"/>
            <a:chOff x="251520" y="1131588"/>
            <a:chExt cx="1656184" cy="936107"/>
          </a:xfrm>
        </p:grpSpPr>
        <p:sp>
          <p:nvSpPr>
            <p:cNvPr id="5" name="Rechteck 4">
              <a:extLst>
                <a:ext uri="{FF2B5EF4-FFF2-40B4-BE49-F238E27FC236}">
                  <a16:creationId xmlns:a16="http://schemas.microsoft.com/office/drawing/2014/main" id="{D9E5808C-6E62-1965-6DD7-7DA61F58E205}"/>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543E28B0-B0D6-C180-D916-6538D99B72C3}"/>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7" name="Rechteck 6">
            <a:extLst>
              <a:ext uri="{FF2B5EF4-FFF2-40B4-BE49-F238E27FC236}">
                <a16:creationId xmlns:a16="http://schemas.microsoft.com/office/drawing/2014/main" id="{2F6AFCE7-D842-D0AA-2A98-9B285E7312DD}"/>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Model:</a:t>
            </a:r>
          </a:p>
          <a:p>
            <a:pPr marL="182563" indent="-182563">
              <a:spcAft>
                <a:spcPts val="600"/>
              </a:spcAft>
              <a:buFont typeface="Arial" panose="020B0604020202020204" pitchFamily="34" charset="0"/>
              <a:buChar char="•"/>
            </a:pPr>
            <a:r>
              <a:rPr lang="en-US" sz="1400" noProof="0" dirty="0">
                <a:solidFill>
                  <a:schemeClr val="tx1"/>
                </a:solidFill>
              </a:rPr>
              <a:t>ach individual has a probability of cooperation p </a:t>
            </a:r>
            <a:r>
              <a:rPr lang="en-US" sz="1400" noProof="0" dirty="0">
                <a:solidFill>
                  <a:schemeClr val="tx1"/>
                </a:solidFill>
                <a:sym typeface="Symbol" panose="05050102010706020507" pitchFamily="18" charset="2"/>
              </a:rPr>
              <a:t> [0,1]</a:t>
            </a:r>
            <a:endParaRPr lang="en-US" sz="1400" noProof="0" dirty="0">
              <a:solidFill>
                <a:schemeClr val="tx1"/>
              </a:solidFill>
            </a:endParaRPr>
          </a:p>
          <a:p>
            <a:pPr marL="182563" indent="-182563">
              <a:spcAft>
                <a:spcPts val="600"/>
              </a:spcAft>
              <a:buFont typeface="Arial" panose="020B0604020202020204" pitchFamily="34" charset="0"/>
              <a:buChar char="•"/>
            </a:pPr>
            <a:r>
              <a:rPr lang="en-US" sz="1400" noProof="0" dirty="0">
                <a:solidFill>
                  <a:schemeClr val="tx1"/>
                </a:solidFill>
              </a:rPr>
              <a:t>Fitness: payoff from repeated interactions </a:t>
            </a:r>
          </a:p>
          <a:p>
            <a:pPr>
              <a:spcAft>
                <a:spcPts val="600"/>
              </a:spcAft>
            </a:pPr>
            <a:endParaRPr lang="en-US" sz="1400" noProof="0" dirty="0">
              <a:solidFill>
                <a:schemeClr val="tx1"/>
              </a:solidFill>
            </a:endParaRPr>
          </a:p>
        </p:txBody>
      </p:sp>
      <p:sp>
        <p:nvSpPr>
          <p:cNvPr id="8" name="Rechteck 7">
            <a:extLst>
              <a:ext uri="{FF2B5EF4-FFF2-40B4-BE49-F238E27FC236}">
                <a16:creationId xmlns:a16="http://schemas.microsoft.com/office/drawing/2014/main" id="{E76CF48C-4963-C656-4F44-0A2A1DBA40A6}"/>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Task:</a:t>
            </a:r>
          </a:p>
          <a:p>
            <a:pPr>
              <a:spcAft>
                <a:spcPts val="600"/>
              </a:spcAft>
            </a:pPr>
            <a:r>
              <a:rPr lang="en-US" sz="1400" noProof="0" dirty="0">
                <a:solidFill>
                  <a:schemeClr val="tx1"/>
                </a:solidFill>
              </a:rPr>
              <a:t>Use your genetic algorithm (GA) to evolve the cooperation strategies</a:t>
            </a:r>
          </a:p>
        </p:txBody>
      </p:sp>
      <p:sp>
        <p:nvSpPr>
          <p:cNvPr id="9" name="Rechteck 8">
            <a:extLst>
              <a:ext uri="{FF2B5EF4-FFF2-40B4-BE49-F238E27FC236}">
                <a16:creationId xmlns:a16="http://schemas.microsoft.com/office/drawing/2014/main" id="{1B2DCD3B-52C2-02E0-4332-530C78CB39D2}"/>
              </a:ext>
            </a:extLst>
          </p:cNvPr>
          <p:cNvSpPr/>
          <p:nvPr/>
        </p:nvSpPr>
        <p:spPr>
          <a:xfrm>
            <a:off x="2123728"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Representation:</a:t>
            </a:r>
          </a:p>
          <a:p>
            <a:pPr marL="182563" indent="-182563">
              <a:spcAft>
                <a:spcPts val="600"/>
              </a:spcAft>
              <a:buFont typeface="Arial" panose="020B0604020202020204" pitchFamily="34" charset="0"/>
              <a:buChar char="•"/>
            </a:pPr>
            <a:r>
              <a:rPr lang="en-US" sz="1400" noProof="0" dirty="0">
                <a:solidFill>
                  <a:schemeClr val="tx1"/>
                </a:solidFill>
              </a:rPr>
              <a:t>Every individual has a strategy parameter p</a:t>
            </a:r>
          </a:p>
        </p:txBody>
      </p:sp>
      <p:sp>
        <p:nvSpPr>
          <p:cNvPr id="10" name="Rechteck 9">
            <a:extLst>
              <a:ext uri="{FF2B5EF4-FFF2-40B4-BE49-F238E27FC236}">
                <a16:creationId xmlns:a16="http://schemas.microsoft.com/office/drawing/2014/main" id="{4C151490-0D69-286A-6CF3-64B921819EC1}"/>
              </a:ext>
            </a:extLst>
          </p:cNvPr>
          <p:cNvSpPr/>
          <p:nvPr/>
        </p:nvSpPr>
        <p:spPr>
          <a:xfrm>
            <a:off x="5586253" y="3147814"/>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Experiment:</a:t>
            </a:r>
          </a:p>
          <a:p>
            <a:pPr marL="182563" indent="-182563">
              <a:spcAft>
                <a:spcPts val="600"/>
              </a:spcAft>
              <a:buFont typeface="Arial" panose="020B0604020202020204" pitchFamily="34" charset="0"/>
              <a:buChar char="•"/>
            </a:pPr>
            <a:r>
              <a:rPr lang="en-US" sz="1400" noProof="0" dirty="0">
                <a:solidFill>
                  <a:schemeClr val="tx1"/>
                </a:solidFill>
              </a:rPr>
              <a:t>Vary:</a:t>
            </a:r>
          </a:p>
          <a:p>
            <a:pPr marL="450850" indent="-268288">
              <a:spcAft>
                <a:spcPts val="600"/>
              </a:spcAft>
              <a:buFont typeface="Symbol" panose="05050102010706020507" pitchFamily="18" charset="2"/>
              <a:buChar char="-"/>
            </a:pPr>
            <a:r>
              <a:rPr lang="en-US" sz="1400" noProof="0" dirty="0">
                <a:solidFill>
                  <a:schemeClr val="tx1"/>
                </a:solidFill>
              </a:rPr>
              <a:t>mutation rate</a:t>
            </a:r>
          </a:p>
          <a:p>
            <a:pPr marL="450850" indent="-268288">
              <a:spcAft>
                <a:spcPts val="600"/>
              </a:spcAft>
              <a:buFont typeface="Symbol" panose="05050102010706020507" pitchFamily="18" charset="2"/>
              <a:buChar char="-"/>
            </a:pPr>
            <a:r>
              <a:rPr lang="en-US" sz="1400" noProof="0" dirty="0">
                <a:solidFill>
                  <a:schemeClr val="tx1"/>
                </a:solidFill>
              </a:rPr>
              <a:t>interaction noise</a:t>
            </a:r>
          </a:p>
        </p:txBody>
      </p:sp>
      <p:sp>
        <p:nvSpPr>
          <p:cNvPr id="16" name="Rechteck 15">
            <a:extLst>
              <a:ext uri="{FF2B5EF4-FFF2-40B4-BE49-F238E27FC236}">
                <a16:creationId xmlns:a16="http://schemas.microsoft.com/office/drawing/2014/main" id="{64239EFF-01C7-5CEC-BAAA-F6242243EA01}"/>
              </a:ext>
            </a:extLst>
          </p:cNvPr>
          <p:cNvSpPr/>
          <p:nvPr/>
        </p:nvSpPr>
        <p:spPr>
          <a:xfrm>
            <a:off x="304076" y="1167592"/>
            <a:ext cx="288034" cy="28803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D</a:t>
            </a:r>
          </a:p>
        </p:txBody>
      </p:sp>
    </p:spTree>
    <p:extLst>
      <p:ext uri="{BB962C8B-B14F-4D97-AF65-F5344CB8AC3E}">
        <p14:creationId xmlns:p14="http://schemas.microsoft.com/office/powerpoint/2010/main" val="3223708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94B46-F8AE-E08C-E99B-E95A9DF0C1E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2943F68-479B-1973-D4DF-86DFF72D8563}"/>
              </a:ext>
            </a:extLst>
          </p:cNvPr>
          <p:cNvSpPr>
            <a:spLocks noGrp="1"/>
          </p:cNvSpPr>
          <p:nvPr>
            <p:ph type="title"/>
          </p:nvPr>
        </p:nvSpPr>
        <p:spPr/>
        <p:txBody>
          <a:bodyPr/>
          <a:lstStyle/>
          <a:p>
            <a:r>
              <a:rPr lang="en-US" noProof="0" dirty="0"/>
              <a:t>Group D:</a:t>
            </a:r>
            <a:br>
              <a:rPr lang="en-US" noProof="0" dirty="0"/>
            </a:br>
            <a:r>
              <a:rPr lang="en-US" noProof="0" dirty="0"/>
              <a:t>Evolution of Cooperation Strategies – 2/ 2</a:t>
            </a:r>
          </a:p>
        </p:txBody>
      </p:sp>
      <p:sp>
        <p:nvSpPr>
          <p:cNvPr id="7" name="Rechteck 6">
            <a:extLst>
              <a:ext uri="{FF2B5EF4-FFF2-40B4-BE49-F238E27FC236}">
                <a16:creationId xmlns:a16="http://schemas.microsoft.com/office/drawing/2014/main" id="{F3A49E0F-F65E-E985-7B25-411A5A9CA7FE}"/>
              </a:ext>
            </a:extLst>
          </p:cNvPr>
          <p:cNvSpPr/>
          <p:nvPr/>
        </p:nvSpPr>
        <p:spPr>
          <a:xfrm>
            <a:off x="2123728"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AI Prompt Task:</a:t>
            </a:r>
          </a:p>
          <a:p>
            <a:pPr>
              <a:spcAft>
                <a:spcPts val="600"/>
              </a:spcAft>
            </a:pPr>
            <a:r>
              <a:rPr lang="en-US" sz="1400" noProof="0" dirty="0">
                <a:solidFill>
                  <a:schemeClr val="tx1"/>
                </a:solidFill>
              </a:rPr>
              <a:t>Design a prompt that includes:</a:t>
            </a:r>
          </a:p>
          <a:p>
            <a:pPr marL="182563" indent="-182563">
              <a:spcAft>
                <a:spcPts val="600"/>
              </a:spcAft>
              <a:buFont typeface="Arial" panose="020B0604020202020204" pitchFamily="34" charset="0"/>
              <a:buChar char="•"/>
            </a:pPr>
            <a:r>
              <a:rPr lang="en-US" sz="1400" noProof="0" dirty="0">
                <a:solidFill>
                  <a:schemeClr val="tx1"/>
                </a:solidFill>
              </a:rPr>
              <a:t>interaction rule</a:t>
            </a:r>
          </a:p>
          <a:p>
            <a:pPr marL="182563" indent="-182563">
              <a:spcAft>
                <a:spcPts val="600"/>
              </a:spcAft>
              <a:buFont typeface="Arial" panose="020B0604020202020204" pitchFamily="34" charset="0"/>
              <a:buChar char="•"/>
            </a:pPr>
            <a:r>
              <a:rPr lang="en-US" sz="1400" noProof="0" dirty="0">
                <a:solidFill>
                  <a:schemeClr val="tx1"/>
                </a:solidFill>
              </a:rPr>
              <a:t>fitness from interactions</a:t>
            </a:r>
          </a:p>
          <a:p>
            <a:pPr marL="182563" indent="-182563">
              <a:spcAft>
                <a:spcPts val="600"/>
              </a:spcAft>
              <a:buFont typeface="Arial" panose="020B0604020202020204" pitchFamily="34" charset="0"/>
              <a:buChar char="•"/>
            </a:pPr>
            <a:r>
              <a:rPr lang="en-US" sz="1400" noProof="0" dirty="0">
                <a:solidFill>
                  <a:schemeClr val="tx1"/>
                </a:solidFill>
              </a:rPr>
              <a:t>evolution via GA</a:t>
            </a:r>
          </a:p>
        </p:txBody>
      </p:sp>
      <p:sp>
        <p:nvSpPr>
          <p:cNvPr id="8" name="Rechteck 7">
            <a:extLst>
              <a:ext uri="{FF2B5EF4-FFF2-40B4-BE49-F238E27FC236}">
                <a16:creationId xmlns:a16="http://schemas.microsoft.com/office/drawing/2014/main" id="{4B8AB001-8B7B-7DBC-6DBB-A2F3CA827E97}"/>
              </a:ext>
            </a:extLst>
          </p:cNvPr>
          <p:cNvSpPr/>
          <p:nvPr/>
        </p:nvSpPr>
        <p:spPr>
          <a:xfrm>
            <a:off x="5586253" y="1131588"/>
            <a:ext cx="3306227" cy="1872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Reflection:</a:t>
            </a:r>
          </a:p>
          <a:p>
            <a:pPr marL="182563" indent="-182563">
              <a:spcAft>
                <a:spcPts val="600"/>
              </a:spcAft>
              <a:buFont typeface="Arial" panose="020B0604020202020204" pitchFamily="34" charset="0"/>
              <a:buChar char="•"/>
            </a:pPr>
            <a:r>
              <a:rPr lang="en-US" sz="1400" noProof="0" dirty="0">
                <a:solidFill>
                  <a:schemeClr val="tx1"/>
                </a:solidFill>
              </a:rPr>
              <a:t>Does cooperation emerge?</a:t>
            </a:r>
          </a:p>
          <a:p>
            <a:pPr marL="182563" indent="-182563">
              <a:spcAft>
                <a:spcPts val="600"/>
              </a:spcAft>
              <a:buFont typeface="Arial" panose="020B0604020202020204" pitchFamily="34" charset="0"/>
              <a:buChar char="•"/>
            </a:pPr>
            <a:r>
              <a:rPr lang="en-US" sz="1400" noProof="0" dirty="0">
                <a:solidFill>
                  <a:schemeClr val="tx1"/>
                </a:solidFill>
              </a:rPr>
              <a:t>Under what conditions?</a:t>
            </a:r>
          </a:p>
        </p:txBody>
      </p:sp>
      <p:sp>
        <p:nvSpPr>
          <p:cNvPr id="3" name="Rechteck 2">
            <a:extLst>
              <a:ext uri="{FF2B5EF4-FFF2-40B4-BE49-F238E27FC236}">
                <a16:creationId xmlns:a16="http://schemas.microsoft.com/office/drawing/2014/main" id="{8F6F0A8A-6323-401B-267A-43F593962B4C}"/>
              </a:ext>
            </a:extLst>
          </p:cNvPr>
          <p:cNvSpPr/>
          <p:nvPr/>
        </p:nvSpPr>
        <p:spPr>
          <a:xfrm>
            <a:off x="2123728" y="3291830"/>
            <a:ext cx="6768752" cy="172819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b="1" noProof="0" dirty="0">
              <a:solidFill>
                <a:schemeClr val="tx1"/>
              </a:solidFill>
            </a:endParaRPr>
          </a:p>
        </p:txBody>
      </p:sp>
      <p:sp>
        <p:nvSpPr>
          <p:cNvPr id="4" name="Rechteck 3">
            <a:extLst>
              <a:ext uri="{FF2B5EF4-FFF2-40B4-BE49-F238E27FC236}">
                <a16:creationId xmlns:a16="http://schemas.microsoft.com/office/drawing/2014/main" id="{E89ACA30-93E3-8F60-4199-36903C75B4AE}"/>
              </a:ext>
            </a:extLst>
          </p:cNvPr>
          <p:cNvSpPr/>
          <p:nvPr/>
        </p:nvSpPr>
        <p:spPr>
          <a:xfrm>
            <a:off x="2123728" y="3291830"/>
            <a:ext cx="3306227" cy="1728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Remark :</a:t>
            </a:r>
          </a:p>
          <a:p>
            <a:pPr>
              <a:spcAft>
                <a:spcPts val="600"/>
              </a:spcAft>
            </a:pPr>
            <a:r>
              <a:rPr lang="en-US" sz="1400" noProof="0" dirty="0">
                <a:solidFill>
                  <a:schemeClr val="tx1"/>
                </a:solidFill>
              </a:rPr>
              <a:t>Use one number p per individual and expected payoffs; do not build a complex game model</a:t>
            </a:r>
          </a:p>
        </p:txBody>
      </p:sp>
    </p:spTree>
    <p:extLst>
      <p:ext uri="{BB962C8B-B14F-4D97-AF65-F5344CB8AC3E}">
        <p14:creationId xmlns:p14="http://schemas.microsoft.com/office/powerpoint/2010/main" val="3502473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218730-AED9-2B24-C46D-0DD0A47689BB}"/>
              </a:ext>
            </a:extLst>
          </p:cNvPr>
          <p:cNvSpPr>
            <a:spLocks noGrp="1"/>
          </p:cNvSpPr>
          <p:nvPr>
            <p:ph type="title"/>
          </p:nvPr>
        </p:nvSpPr>
        <p:spPr/>
        <p:txBody>
          <a:bodyPr/>
          <a:lstStyle/>
          <a:p>
            <a:r>
              <a:rPr lang="en-US" noProof="0" dirty="0"/>
              <a:t>Roadmap</a:t>
            </a:r>
          </a:p>
        </p:txBody>
      </p:sp>
      <p:graphicFrame>
        <p:nvGraphicFramePr>
          <p:cNvPr id="3" name="Tabelle 2">
            <a:extLst>
              <a:ext uri="{FF2B5EF4-FFF2-40B4-BE49-F238E27FC236}">
                <a16:creationId xmlns:a16="http://schemas.microsoft.com/office/drawing/2014/main" id="{016CB4B3-E73B-DD5F-2EBC-F6146F77E305}"/>
              </a:ext>
            </a:extLst>
          </p:cNvPr>
          <p:cNvGraphicFramePr>
            <a:graphicFrameLocks noGrp="1"/>
          </p:cNvGraphicFramePr>
          <p:nvPr>
            <p:extLst>
              <p:ext uri="{D42A27DB-BD31-4B8C-83A1-F6EECF244321}">
                <p14:modId xmlns:p14="http://schemas.microsoft.com/office/powerpoint/2010/main" val="1227220619"/>
              </p:ext>
            </p:extLst>
          </p:nvPr>
        </p:nvGraphicFramePr>
        <p:xfrm>
          <a:off x="251520" y="1131590"/>
          <a:ext cx="8640960" cy="381000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836268514"/>
                    </a:ext>
                  </a:extLst>
                </a:gridCol>
                <a:gridCol w="7272808">
                  <a:extLst>
                    <a:ext uri="{9D8B030D-6E8A-4147-A177-3AD203B41FA5}">
                      <a16:colId xmlns:a16="http://schemas.microsoft.com/office/drawing/2014/main" val="139590432"/>
                    </a:ext>
                  </a:extLst>
                </a:gridCol>
              </a:tblGrid>
              <a:tr h="0">
                <a:tc>
                  <a:txBody>
                    <a:bodyPr/>
                    <a:lstStyle/>
                    <a:p>
                      <a:pPr algn="ctr"/>
                      <a:r>
                        <a:rPr lang="en-US" sz="1400" noProof="0" dirty="0"/>
                        <a:t>Time</a:t>
                      </a:r>
                    </a:p>
                  </a:txBody>
                  <a:tcPr/>
                </a:tc>
                <a:tc>
                  <a:txBody>
                    <a:bodyPr/>
                    <a:lstStyle/>
                    <a:p>
                      <a:r>
                        <a:rPr lang="en-US" sz="1400" noProof="0" dirty="0"/>
                        <a:t>Topic</a:t>
                      </a:r>
                    </a:p>
                  </a:txBody>
                  <a:tcPr/>
                </a:tc>
                <a:extLst>
                  <a:ext uri="{0D108BD9-81ED-4DB2-BD59-A6C34878D82A}">
                    <a16:rowId xmlns:a16="http://schemas.microsoft.com/office/drawing/2014/main" val="1523280275"/>
                  </a:ext>
                </a:extLst>
              </a:tr>
              <a:tr h="0">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400" noProof="0" dirty="0"/>
                        <a:t>0 – 15 min</a:t>
                      </a:r>
                    </a:p>
                  </a:txBody>
                  <a:tcPr/>
                </a:tc>
                <a:tc>
                  <a:txBody>
                    <a:bodyPr/>
                    <a:lstStyle/>
                    <a:p>
                      <a:pPr>
                        <a:spcAft>
                          <a:spcPts val="600"/>
                        </a:spcAft>
                      </a:pPr>
                      <a:r>
                        <a:rPr lang="en-US" sz="1400" b="1" noProof="0" dirty="0"/>
                        <a:t>Introduction</a:t>
                      </a:r>
                    </a:p>
                    <a:p>
                      <a:pPr marL="182563" indent="-182563">
                        <a:spcAft>
                          <a:spcPts val="600"/>
                        </a:spcAft>
                        <a:buFont typeface="Arial" panose="020B0604020202020204" pitchFamily="34" charset="0"/>
                        <a:buChar char="•"/>
                      </a:pPr>
                      <a:r>
                        <a:rPr lang="en-US" sz="1400" noProof="0" dirty="0"/>
                        <a:t>GA loop &amp; interpretation (selection = survival, crossover = recombination, mutation = variation)</a:t>
                      </a:r>
                    </a:p>
                    <a:p>
                      <a:pPr marL="182563" indent="-182563">
                        <a:spcAft>
                          <a:spcPts val="600"/>
                        </a:spcAft>
                        <a:buFont typeface="Arial" panose="020B0604020202020204" pitchFamily="34" charset="0"/>
                        <a:buChar char="•"/>
                      </a:pPr>
                      <a:r>
                        <a:rPr lang="en-US" sz="1400" noProof="0" dirty="0"/>
                        <a:t>Project overview &amp; roadmap</a:t>
                      </a:r>
                    </a:p>
                  </a:txBody>
                  <a:tcPr/>
                </a:tc>
                <a:extLst>
                  <a:ext uri="{0D108BD9-81ED-4DB2-BD59-A6C34878D82A}">
                    <a16:rowId xmlns:a16="http://schemas.microsoft.com/office/drawing/2014/main" val="813314566"/>
                  </a:ext>
                </a:extLst>
              </a:tr>
              <a:tr h="0">
                <a:tc>
                  <a:txBody>
                    <a:bodyPr/>
                    <a:lstStyle/>
                    <a:p>
                      <a:pPr algn="ctr">
                        <a:spcAft>
                          <a:spcPts val="600"/>
                        </a:spcAft>
                      </a:pPr>
                      <a:r>
                        <a:rPr lang="en-US" sz="1400" noProof="0" dirty="0"/>
                        <a:t>15 – 40 min</a:t>
                      </a:r>
                    </a:p>
                  </a:txBody>
                  <a:tcPr/>
                </a:tc>
                <a:tc>
                  <a:txBody>
                    <a:bodyPr/>
                    <a:lstStyle/>
                    <a:p>
                      <a:pPr>
                        <a:spcAft>
                          <a:spcPts val="600"/>
                        </a:spcAft>
                      </a:pPr>
                      <a:r>
                        <a:rPr lang="en-US" sz="1400" b="1" noProof="0" dirty="0"/>
                        <a:t>Architecture &amp; Prompt Design (no AI yet)</a:t>
                      </a:r>
                    </a:p>
                    <a:p>
                      <a:pPr>
                        <a:spcAft>
                          <a:spcPts val="600"/>
                        </a:spcAft>
                      </a:pPr>
                      <a:r>
                        <a:rPr lang="en-US" sz="1400" noProof="0" dirty="0"/>
                        <a:t>Each group defines</a:t>
                      </a:r>
                    </a:p>
                    <a:p>
                      <a:pPr marL="182563" indent="-182563">
                        <a:spcAft>
                          <a:spcPts val="600"/>
                        </a:spcAft>
                        <a:buFont typeface="Arial" panose="020B0604020202020204" pitchFamily="34" charset="0"/>
                        <a:buChar char="•"/>
                      </a:pPr>
                      <a:r>
                        <a:rPr lang="en-US" sz="1400" noProof="0" dirty="0"/>
                        <a:t>representation: bitstring? real values?</a:t>
                      </a:r>
                    </a:p>
                    <a:p>
                      <a:pPr marL="182563" indent="-182563">
                        <a:spcAft>
                          <a:spcPts val="600"/>
                        </a:spcAft>
                        <a:buFont typeface="Arial" panose="020B0604020202020204" pitchFamily="34" charset="0"/>
                        <a:buChar char="•"/>
                      </a:pPr>
                      <a:r>
                        <a:rPr lang="en-US" sz="1400" noProof="0" dirty="0"/>
                        <a:t>fitness function</a:t>
                      </a:r>
                    </a:p>
                    <a:p>
                      <a:pPr marL="182563" indent="-182563">
                        <a:spcAft>
                          <a:spcPts val="600"/>
                        </a:spcAft>
                        <a:buFont typeface="Arial" panose="020B0604020202020204" pitchFamily="34" charset="0"/>
                        <a:buChar char="•"/>
                      </a:pPr>
                      <a:r>
                        <a:rPr lang="en-US" sz="1400" noProof="0" dirty="0"/>
                        <a:t>parameters: population size, mutation rate, crossover rate, …</a:t>
                      </a:r>
                    </a:p>
                    <a:p>
                      <a:pPr marL="182563" indent="-182563">
                        <a:spcAft>
                          <a:spcPts val="600"/>
                        </a:spcAft>
                        <a:buFont typeface="Arial" panose="020B0604020202020204" pitchFamily="34" charset="0"/>
                        <a:buChar char="•"/>
                      </a:pPr>
                      <a:r>
                        <a:rPr lang="en-US" sz="1400" noProof="0" dirty="0"/>
                        <a:t>outputs: best fitness over time</a:t>
                      </a:r>
                    </a:p>
                    <a:p>
                      <a:pPr marL="0" indent="0">
                        <a:spcAft>
                          <a:spcPts val="600"/>
                        </a:spcAft>
                        <a:buFont typeface="Arial" panose="020B0604020202020204" pitchFamily="34" charset="0"/>
                        <a:buNone/>
                      </a:pPr>
                      <a:r>
                        <a:rPr lang="en-US" sz="1400" noProof="0" dirty="0"/>
                        <a:t>Each group must write</a:t>
                      </a:r>
                    </a:p>
                    <a:p>
                      <a:pPr marL="182563" indent="-182563">
                        <a:spcAft>
                          <a:spcPts val="600"/>
                        </a:spcAft>
                        <a:buFont typeface="Arial" panose="020B0604020202020204" pitchFamily="34" charset="0"/>
                        <a:buChar char="•"/>
                      </a:pPr>
                      <a:r>
                        <a:rPr lang="en-US" sz="1400" noProof="0" dirty="0"/>
                        <a:t>Prompt v1 (basic)</a:t>
                      </a:r>
                    </a:p>
                    <a:p>
                      <a:pPr marL="182563" indent="-182563">
                        <a:spcAft>
                          <a:spcPts val="600"/>
                        </a:spcAft>
                        <a:buFont typeface="Arial" panose="020B0604020202020204" pitchFamily="34" charset="0"/>
                        <a:buChar char="•"/>
                      </a:pPr>
                      <a:r>
                        <a:rPr lang="en-US" sz="1400" noProof="0" dirty="0"/>
                        <a:t>Prompt v2 (improved) including GA steps, modular structure, and visualization</a:t>
                      </a:r>
                    </a:p>
                  </a:txBody>
                  <a:tcPr/>
                </a:tc>
                <a:extLst>
                  <a:ext uri="{0D108BD9-81ED-4DB2-BD59-A6C34878D82A}">
                    <a16:rowId xmlns:a16="http://schemas.microsoft.com/office/drawing/2014/main" val="1558157276"/>
                  </a:ext>
                </a:extLst>
              </a:tr>
            </a:tbl>
          </a:graphicData>
        </a:graphic>
      </p:graphicFrame>
    </p:spTree>
    <p:extLst>
      <p:ext uri="{BB962C8B-B14F-4D97-AF65-F5344CB8AC3E}">
        <p14:creationId xmlns:p14="http://schemas.microsoft.com/office/powerpoint/2010/main" val="3603137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92A2-124E-5B7A-4D02-D8C0690618E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8BBC22F-768C-D2FA-B705-38CDC780279C}"/>
              </a:ext>
            </a:extLst>
          </p:cNvPr>
          <p:cNvSpPr>
            <a:spLocks noGrp="1"/>
          </p:cNvSpPr>
          <p:nvPr>
            <p:ph type="title"/>
          </p:nvPr>
        </p:nvSpPr>
        <p:spPr/>
        <p:txBody>
          <a:bodyPr/>
          <a:lstStyle/>
          <a:p>
            <a:r>
              <a:rPr lang="en-US" noProof="0" dirty="0"/>
              <a:t>Roadmap</a:t>
            </a:r>
          </a:p>
        </p:txBody>
      </p:sp>
      <p:graphicFrame>
        <p:nvGraphicFramePr>
          <p:cNvPr id="3" name="Tabelle 2">
            <a:extLst>
              <a:ext uri="{FF2B5EF4-FFF2-40B4-BE49-F238E27FC236}">
                <a16:creationId xmlns:a16="http://schemas.microsoft.com/office/drawing/2014/main" id="{51F32740-C732-54D6-AA4F-C8BFABCC2E5A}"/>
              </a:ext>
            </a:extLst>
          </p:cNvPr>
          <p:cNvGraphicFramePr>
            <a:graphicFrameLocks noGrp="1"/>
          </p:cNvGraphicFramePr>
          <p:nvPr>
            <p:extLst>
              <p:ext uri="{D42A27DB-BD31-4B8C-83A1-F6EECF244321}">
                <p14:modId xmlns:p14="http://schemas.microsoft.com/office/powerpoint/2010/main" val="2392630411"/>
              </p:ext>
            </p:extLst>
          </p:nvPr>
        </p:nvGraphicFramePr>
        <p:xfrm>
          <a:off x="251520" y="1131590"/>
          <a:ext cx="8640960" cy="382524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836268514"/>
                    </a:ext>
                  </a:extLst>
                </a:gridCol>
                <a:gridCol w="7272808">
                  <a:extLst>
                    <a:ext uri="{9D8B030D-6E8A-4147-A177-3AD203B41FA5}">
                      <a16:colId xmlns:a16="http://schemas.microsoft.com/office/drawing/2014/main" val="139590432"/>
                    </a:ext>
                  </a:extLst>
                </a:gridCol>
              </a:tblGrid>
              <a:tr h="0">
                <a:tc>
                  <a:txBody>
                    <a:bodyPr/>
                    <a:lstStyle/>
                    <a:p>
                      <a:pPr algn="ctr">
                        <a:spcAft>
                          <a:spcPts val="600"/>
                        </a:spcAft>
                      </a:pPr>
                      <a:r>
                        <a:rPr lang="en-US" sz="1400" noProof="0" dirty="0"/>
                        <a:t>Time</a:t>
                      </a:r>
                    </a:p>
                  </a:txBody>
                  <a:tcPr/>
                </a:tc>
                <a:tc>
                  <a:txBody>
                    <a:bodyPr/>
                    <a:lstStyle/>
                    <a:p>
                      <a:pPr>
                        <a:spcAft>
                          <a:spcPts val="600"/>
                        </a:spcAft>
                      </a:pPr>
                      <a:r>
                        <a:rPr lang="en-US" sz="1400" noProof="0" dirty="0"/>
                        <a:t>Topic</a:t>
                      </a:r>
                    </a:p>
                  </a:txBody>
                  <a:tcPr/>
                </a:tc>
                <a:extLst>
                  <a:ext uri="{0D108BD9-81ED-4DB2-BD59-A6C34878D82A}">
                    <a16:rowId xmlns:a16="http://schemas.microsoft.com/office/drawing/2014/main" val="1523280275"/>
                  </a:ext>
                </a:extLst>
              </a:tr>
              <a:tr h="0">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400" noProof="0" dirty="0"/>
                        <a:t>40 – 60 min</a:t>
                      </a:r>
                    </a:p>
                  </a:txBody>
                  <a:tcPr/>
                </a:tc>
                <a:tc>
                  <a:txBody>
                    <a:bodyPr/>
                    <a:lstStyle/>
                    <a:p>
                      <a:pPr>
                        <a:spcAft>
                          <a:spcPts val="600"/>
                        </a:spcAft>
                      </a:pPr>
                      <a:r>
                        <a:rPr lang="en-US" sz="1400" b="1" noProof="0" dirty="0"/>
                        <a:t>AI Coding &amp; Running</a:t>
                      </a:r>
                    </a:p>
                    <a:p>
                      <a:pPr>
                        <a:spcAft>
                          <a:spcPts val="600"/>
                        </a:spcAft>
                      </a:pPr>
                      <a:r>
                        <a:rPr lang="en-US" sz="1400" b="0" noProof="0" dirty="0"/>
                        <a:t>Task: </a:t>
                      </a:r>
                      <a:r>
                        <a:rPr lang="en-US" sz="1400" noProof="0" dirty="0"/>
                        <a:t>run prompt, get code, execute, debug</a:t>
                      </a:r>
                      <a:endParaRPr lang="en-US" sz="1400" b="0" noProof="0" dirty="0"/>
                    </a:p>
                  </a:txBody>
                  <a:tcPr/>
                </a:tc>
                <a:extLst>
                  <a:ext uri="{0D108BD9-81ED-4DB2-BD59-A6C34878D82A}">
                    <a16:rowId xmlns:a16="http://schemas.microsoft.com/office/drawing/2014/main" val="813314566"/>
                  </a:ext>
                </a:extLst>
              </a:tr>
              <a:tr h="0">
                <a:tc>
                  <a:txBody>
                    <a:bodyPr/>
                    <a:lstStyle/>
                    <a:p>
                      <a:pPr algn="ctr">
                        <a:spcAft>
                          <a:spcPts val="600"/>
                        </a:spcAft>
                      </a:pPr>
                      <a:r>
                        <a:rPr lang="en-US" sz="1400" noProof="0" dirty="0"/>
                        <a:t>60 – 75 min</a:t>
                      </a:r>
                    </a:p>
                  </a:txBody>
                  <a:tcPr/>
                </a:tc>
                <a:tc>
                  <a:txBody>
                    <a:bodyPr/>
                    <a:lstStyle/>
                    <a:p>
                      <a:pPr>
                        <a:spcAft>
                          <a:spcPts val="600"/>
                        </a:spcAft>
                      </a:pPr>
                      <a:r>
                        <a:rPr lang="en-US" sz="1400" b="1" noProof="0" dirty="0"/>
                        <a:t>Exploration</a:t>
                      </a:r>
                    </a:p>
                    <a:p>
                      <a:pPr>
                        <a:spcAft>
                          <a:spcPts val="600"/>
                        </a:spcAft>
                      </a:pPr>
                      <a:r>
                        <a:rPr lang="en-US" sz="1400" noProof="0" dirty="0"/>
                        <a:t>Each group varies: mutation rate, population size, selection pressure</a:t>
                      </a:r>
                    </a:p>
                    <a:p>
                      <a:pPr>
                        <a:spcAft>
                          <a:spcPts val="600"/>
                        </a:spcAft>
                      </a:pPr>
                      <a:r>
                        <a:rPr lang="en-US" sz="1400" noProof="0" dirty="0"/>
                        <a:t>Task: Observe convergence speed, stability, and randomness</a:t>
                      </a:r>
                    </a:p>
                  </a:txBody>
                  <a:tcPr/>
                </a:tc>
                <a:extLst>
                  <a:ext uri="{0D108BD9-81ED-4DB2-BD59-A6C34878D82A}">
                    <a16:rowId xmlns:a16="http://schemas.microsoft.com/office/drawing/2014/main" val="1558157276"/>
                  </a:ext>
                </a:extLst>
              </a:tr>
              <a:tr h="0">
                <a:tc>
                  <a:txBody>
                    <a:bodyPr/>
                    <a:lstStyle/>
                    <a:p>
                      <a:pPr algn="ctr">
                        <a:spcAft>
                          <a:spcPts val="600"/>
                        </a:spcAft>
                      </a:pPr>
                      <a:r>
                        <a:rPr lang="en-US" sz="1400" noProof="0" dirty="0"/>
                        <a:t>75 – 90 min</a:t>
                      </a:r>
                    </a:p>
                  </a:txBody>
                  <a:tcPr/>
                </a:tc>
                <a:tc>
                  <a:txBody>
                    <a:bodyPr/>
                    <a:lstStyle/>
                    <a:p>
                      <a:pPr>
                        <a:spcAft>
                          <a:spcPts val="600"/>
                        </a:spcAft>
                      </a:pPr>
                      <a:r>
                        <a:rPr lang="en-US" sz="1400" b="1" noProof="0" dirty="0"/>
                        <a:t>Final Mini-Presentation (3-4 min per group)</a:t>
                      </a:r>
                    </a:p>
                    <a:p>
                      <a:pPr>
                        <a:spcAft>
                          <a:spcPts val="600"/>
                        </a:spcAft>
                      </a:pPr>
                      <a:r>
                        <a:rPr lang="en-US" sz="1400" noProof="0" dirty="0"/>
                        <a:t>Each group presents:</a:t>
                      </a:r>
                    </a:p>
                    <a:p>
                      <a:pPr marL="182563" indent="-182563">
                        <a:spcAft>
                          <a:spcPts val="600"/>
                        </a:spcAft>
                        <a:buFont typeface="Arial" panose="020B0604020202020204" pitchFamily="34" charset="0"/>
                        <a:buChar char="•"/>
                      </a:pPr>
                      <a:r>
                        <a:rPr lang="en-US" sz="1400" noProof="0" dirty="0"/>
                        <a:t>Biological problem </a:t>
                      </a:r>
                    </a:p>
                    <a:p>
                      <a:pPr marL="182563" indent="-182563">
                        <a:spcAft>
                          <a:spcPts val="600"/>
                        </a:spcAft>
                        <a:buFont typeface="Arial" panose="020B0604020202020204" pitchFamily="34" charset="0"/>
                        <a:buChar char="•"/>
                      </a:pPr>
                      <a:r>
                        <a:rPr lang="en-US" sz="1400" noProof="0" dirty="0"/>
                        <a:t>Representation </a:t>
                      </a:r>
                    </a:p>
                    <a:p>
                      <a:pPr marL="182563" indent="-182563">
                        <a:spcAft>
                          <a:spcPts val="600"/>
                        </a:spcAft>
                        <a:buFont typeface="Arial" panose="020B0604020202020204" pitchFamily="34" charset="0"/>
                        <a:buChar char="•"/>
                      </a:pPr>
                      <a:r>
                        <a:rPr lang="en-US" sz="1400" noProof="0" dirty="0"/>
                        <a:t>Best prompt </a:t>
                      </a:r>
                    </a:p>
                    <a:p>
                      <a:pPr marL="182563" indent="-182563">
                        <a:spcAft>
                          <a:spcPts val="600"/>
                        </a:spcAft>
                        <a:buFont typeface="Arial" panose="020B0604020202020204" pitchFamily="34" charset="0"/>
                        <a:buChar char="•"/>
                      </a:pPr>
                      <a:r>
                        <a:rPr lang="en-US" sz="1400" noProof="0" dirty="0"/>
                        <a:t>Result </a:t>
                      </a:r>
                    </a:p>
                    <a:p>
                      <a:pPr marL="182563" indent="-182563">
                        <a:spcAft>
                          <a:spcPts val="600"/>
                        </a:spcAft>
                        <a:buFont typeface="Arial" panose="020B0604020202020204" pitchFamily="34" charset="0"/>
                        <a:buChar char="•"/>
                      </a:pPr>
                      <a:r>
                        <a:rPr lang="en-US" sz="1400" noProof="0" dirty="0"/>
                        <a:t>One insight</a:t>
                      </a:r>
                    </a:p>
                  </a:txBody>
                  <a:tcPr/>
                </a:tc>
                <a:extLst>
                  <a:ext uri="{0D108BD9-81ED-4DB2-BD59-A6C34878D82A}">
                    <a16:rowId xmlns:a16="http://schemas.microsoft.com/office/drawing/2014/main" val="3276521858"/>
                  </a:ext>
                </a:extLst>
              </a:tr>
            </a:tbl>
          </a:graphicData>
        </a:graphic>
      </p:graphicFrame>
    </p:spTree>
    <p:extLst>
      <p:ext uri="{BB962C8B-B14F-4D97-AF65-F5344CB8AC3E}">
        <p14:creationId xmlns:p14="http://schemas.microsoft.com/office/powerpoint/2010/main" val="3301151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3AA55-2048-6C1A-CBAA-8CD047FD67DA}"/>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D0BC1483-22EC-CF2B-70E4-144808A0B4F3}"/>
              </a:ext>
            </a:extLst>
          </p:cNvPr>
          <p:cNvSpPr/>
          <p:nvPr/>
        </p:nvSpPr>
        <p:spPr>
          <a:xfrm>
            <a:off x="971600" y="2125634"/>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73BD9192-1347-51BC-794F-0A96F4F0819F}"/>
              </a:ext>
            </a:extLst>
          </p:cNvPr>
          <p:cNvSpPr txBox="1"/>
          <p:nvPr/>
        </p:nvSpPr>
        <p:spPr>
          <a:xfrm>
            <a:off x="971600" y="1131590"/>
            <a:ext cx="3738331" cy="1354217"/>
          </a:xfrm>
          <a:prstGeom prst="rect">
            <a:avLst/>
          </a:prstGeom>
          <a:noFill/>
        </p:spPr>
        <p:txBody>
          <a:bodyPr wrap="none" rtlCol="0">
            <a:spAutoFit/>
          </a:bodyPr>
          <a:lstStyle/>
          <a:p>
            <a:r>
              <a:rPr lang="en-US" b="1" noProof="0" dirty="0"/>
              <a:t>Topics</a:t>
            </a:r>
          </a:p>
          <a:p>
            <a:endParaRPr lang="en-US" sz="1000" noProof="0" dirty="0"/>
          </a:p>
          <a:p>
            <a:pPr lvl="1"/>
            <a:r>
              <a:rPr lang="en-US" noProof="0" dirty="0"/>
              <a:t>The Individual Group Tasks</a:t>
            </a:r>
          </a:p>
          <a:p>
            <a:pPr lvl="1"/>
            <a:endParaRPr lang="en-US" noProof="0" dirty="0"/>
          </a:p>
          <a:p>
            <a:pPr lvl="1"/>
            <a:r>
              <a:rPr lang="en-US" b="1" noProof="0" dirty="0"/>
              <a:t>Outlook: “Win Stay – Lose Shift”</a:t>
            </a:r>
          </a:p>
        </p:txBody>
      </p:sp>
    </p:spTree>
    <p:extLst>
      <p:ext uri="{BB962C8B-B14F-4D97-AF65-F5344CB8AC3E}">
        <p14:creationId xmlns:p14="http://schemas.microsoft.com/office/powerpoint/2010/main" val="2361455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107504" y="915566"/>
            <a:ext cx="1872208"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Aspirations</a:t>
            </a:r>
          </a:p>
        </p:txBody>
      </p:sp>
      <p:sp>
        <p:nvSpPr>
          <p:cNvPr id="2" name="Titel 1"/>
          <p:cNvSpPr>
            <a:spLocks noGrp="1"/>
          </p:cNvSpPr>
          <p:nvPr>
            <p:ph type="title"/>
          </p:nvPr>
        </p:nvSpPr>
        <p:spPr/>
        <p:txBody>
          <a:bodyPr/>
          <a:lstStyle/>
          <a:p>
            <a:r>
              <a:rPr lang="en-US" noProof="0" dirty="0"/>
              <a:t>Win Stay – Lose Shift:</a:t>
            </a:r>
            <a:br>
              <a:rPr lang="en-US" noProof="0" dirty="0"/>
            </a:br>
            <a:r>
              <a:rPr lang="en-US" noProof="0" dirty="0"/>
              <a:t>An elementary Learning Rule for Normal Form Games</a:t>
            </a:r>
          </a:p>
        </p:txBody>
      </p:sp>
      <p:sp>
        <p:nvSpPr>
          <p:cNvPr id="6" name="Rechteck 5"/>
          <p:cNvSpPr/>
          <p:nvPr/>
        </p:nvSpPr>
        <p:spPr>
          <a:xfrm>
            <a:off x="2411760" y="915566"/>
            <a:ext cx="3240360"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Interaction &amp; Decision Rules</a:t>
            </a:r>
          </a:p>
        </p:txBody>
      </p:sp>
      <p:sp>
        <p:nvSpPr>
          <p:cNvPr id="7" name="Rechteck 6"/>
          <p:cNvSpPr/>
          <p:nvPr/>
        </p:nvSpPr>
        <p:spPr>
          <a:xfrm>
            <a:off x="5796136" y="915566"/>
            <a:ext cx="3240360"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Generic Algorithm</a:t>
            </a:r>
          </a:p>
        </p:txBody>
      </p:sp>
      <p:sp>
        <p:nvSpPr>
          <p:cNvPr id="8" name="Rechteck 7"/>
          <p:cNvSpPr/>
          <p:nvPr/>
        </p:nvSpPr>
        <p:spPr>
          <a:xfrm>
            <a:off x="2411760" y="1275606"/>
            <a:ext cx="3240360" cy="374441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indent="-177800">
              <a:spcAft>
                <a:spcPts val="400"/>
              </a:spcAft>
              <a:buFont typeface="Arial" pitchFamily="34" charset="0"/>
              <a:buChar char="•"/>
            </a:pPr>
            <a:r>
              <a:rPr lang="en-US" sz="1200" noProof="0" dirty="0">
                <a:solidFill>
                  <a:schemeClr val="tx1"/>
                </a:solidFill>
              </a:rPr>
              <a:t>At each round each agent interacts with all other agents according to the iterated Prisoner’s scheme:</a:t>
            </a:r>
          </a:p>
          <a:p>
            <a:pPr marL="355600" lvl="1" indent="-174625">
              <a:spcAft>
                <a:spcPts val="400"/>
              </a:spcAft>
              <a:buFont typeface="Symbol" pitchFamily="18" charset="2"/>
              <a:buChar char="-"/>
            </a:pPr>
            <a:r>
              <a:rPr lang="en-US" sz="1200" noProof="0" dirty="0">
                <a:solidFill>
                  <a:schemeClr val="tx1"/>
                </a:solidFill>
              </a:rPr>
              <a:t>The payoff from the interaction is added to the agent’s resource level</a:t>
            </a:r>
          </a:p>
          <a:p>
            <a:pPr marL="355600" lvl="1" indent="-174625">
              <a:spcAft>
                <a:spcPts val="400"/>
              </a:spcAft>
              <a:buFont typeface="Symbol" pitchFamily="18" charset="2"/>
              <a:buChar char="-"/>
            </a:pPr>
            <a:r>
              <a:rPr lang="en-US" sz="1200" noProof="0" dirty="0">
                <a:solidFill>
                  <a:schemeClr val="tx1"/>
                </a:solidFill>
              </a:rPr>
              <a:t>With a certain update probability each agent evaluates the performance of their strategy:</a:t>
            </a:r>
          </a:p>
          <a:p>
            <a:pPr marL="538163" lvl="2" indent="-182563">
              <a:spcAft>
                <a:spcPts val="400"/>
              </a:spcAft>
              <a:buFont typeface="Calibri" pitchFamily="34" charset="0"/>
              <a:buChar char="̵"/>
            </a:pPr>
            <a:r>
              <a:rPr lang="en-US" sz="1200" noProof="0" dirty="0">
                <a:solidFill>
                  <a:schemeClr val="tx1"/>
                </a:solidFill>
              </a:rPr>
              <a:t>Each agent has an aspiration </a:t>
            </a:r>
            <a:r>
              <a:rPr lang="en-US" sz="1200" noProof="0" dirty="0" err="1">
                <a:solidFill>
                  <a:schemeClr val="tx1"/>
                </a:solidFill>
              </a:rPr>
              <a:t>w.r.t.</a:t>
            </a:r>
            <a:r>
              <a:rPr lang="en-US" sz="1200" noProof="0" dirty="0">
                <a:solidFill>
                  <a:schemeClr val="tx1"/>
                </a:solidFill>
              </a:rPr>
              <a:t> to the outcome of an interaction. Depending on the strategy the agent may change their strategy</a:t>
            </a:r>
          </a:p>
          <a:p>
            <a:pPr marL="177800" indent="-177800">
              <a:spcAft>
                <a:spcPts val="400"/>
              </a:spcAft>
              <a:buFont typeface="Arial" pitchFamily="34" charset="0"/>
              <a:buChar char="•"/>
            </a:pPr>
            <a:r>
              <a:rPr lang="en-US" sz="1200" noProof="0" dirty="0">
                <a:solidFill>
                  <a:schemeClr val="tx1"/>
                </a:solidFill>
              </a:rPr>
              <a:t>With a certain evaluation probability, the resource levels of all agents are evaluated after a round, and the non-fit strategies are sorted out</a:t>
            </a:r>
          </a:p>
          <a:p>
            <a:pPr marL="177800" indent="-177800">
              <a:spcAft>
                <a:spcPts val="400"/>
              </a:spcAft>
              <a:buFont typeface="Arial" pitchFamily="34" charset="0"/>
              <a:buChar char="•"/>
            </a:pPr>
            <a:r>
              <a:rPr lang="en-US" sz="1200" noProof="0" dirty="0">
                <a:solidFill>
                  <a:schemeClr val="tx1"/>
                </a:solidFill>
              </a:rPr>
              <a:t>This is done by means of a generic algorithm, as described on the right-hand side</a:t>
            </a:r>
          </a:p>
        </p:txBody>
      </p:sp>
      <p:sp>
        <p:nvSpPr>
          <p:cNvPr id="9" name="Rechteck 8"/>
          <p:cNvSpPr/>
          <p:nvPr/>
        </p:nvSpPr>
        <p:spPr>
          <a:xfrm>
            <a:off x="5796136" y="1275606"/>
            <a:ext cx="3240360" cy="374441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spcAft>
                <a:spcPts val="600"/>
              </a:spcAft>
              <a:buFont typeface="+mj-lt"/>
              <a:buAutoNum type="arabicPeriod"/>
            </a:pPr>
            <a:r>
              <a:rPr lang="en-US" sz="1200" noProof="0" dirty="0">
                <a:solidFill>
                  <a:schemeClr val="tx1"/>
                </a:solidFill>
              </a:rPr>
              <a:t>Tournament Selection:</a:t>
            </a:r>
          </a:p>
          <a:p>
            <a:pPr marL="228600" indent="-228600">
              <a:spcAft>
                <a:spcPts val="600"/>
              </a:spcAft>
            </a:pPr>
            <a:r>
              <a:rPr lang="en-US" sz="1200" noProof="0" dirty="0">
                <a:solidFill>
                  <a:schemeClr val="tx1"/>
                </a:solidFill>
              </a:rPr>
              <a:t>	Two agents are randomly chosen, and their average payoffs are compared.</a:t>
            </a:r>
          </a:p>
          <a:p>
            <a:pPr marL="228600" indent="-228600">
              <a:spcAft>
                <a:spcPts val="600"/>
              </a:spcAft>
            </a:pPr>
            <a:r>
              <a:rPr lang="en-US" sz="1200" noProof="0" dirty="0">
                <a:solidFill>
                  <a:schemeClr val="tx1"/>
                </a:solidFill>
              </a:rPr>
              <a:t>	That with the higher value is added to the pool of agents for further reproduction</a:t>
            </a:r>
          </a:p>
          <a:p>
            <a:pPr marL="228600" indent="-228600">
              <a:spcAft>
                <a:spcPts val="600"/>
              </a:spcAft>
              <a:buFont typeface="+mj-lt"/>
              <a:buAutoNum type="arabicPeriod" startAt="2"/>
            </a:pPr>
            <a:r>
              <a:rPr lang="en-US" sz="1200" noProof="0" dirty="0">
                <a:solidFill>
                  <a:schemeClr val="tx1"/>
                </a:solidFill>
              </a:rPr>
              <a:t>Crossover:</a:t>
            </a:r>
          </a:p>
          <a:p>
            <a:pPr marL="228600" indent="-228600">
              <a:spcAft>
                <a:spcPts val="600"/>
              </a:spcAft>
            </a:pPr>
            <a:r>
              <a:rPr lang="en-US" sz="1200" noProof="0" dirty="0">
                <a:solidFill>
                  <a:schemeClr val="tx1"/>
                </a:solidFill>
              </a:rPr>
              <a:t>	The agents exchange each coordinate of their strategy vector with a certain probability</a:t>
            </a:r>
          </a:p>
          <a:p>
            <a:pPr marL="228600" indent="-228600">
              <a:spcAft>
                <a:spcPts val="600"/>
              </a:spcAft>
              <a:buFont typeface="+mj-lt"/>
              <a:buAutoNum type="arabicPeriod" startAt="3"/>
            </a:pPr>
            <a:r>
              <a:rPr lang="en-US" sz="1200" noProof="0" dirty="0">
                <a:solidFill>
                  <a:schemeClr val="tx1"/>
                </a:solidFill>
              </a:rPr>
              <a:t>Mutation:</a:t>
            </a:r>
          </a:p>
          <a:p>
            <a:pPr marL="228600" indent="-228600">
              <a:spcAft>
                <a:spcPts val="600"/>
              </a:spcAft>
            </a:pPr>
            <a:r>
              <a:rPr lang="en-US" sz="1200" noProof="0" dirty="0">
                <a:solidFill>
                  <a:schemeClr val="tx1"/>
                </a:solidFill>
              </a:rPr>
              <a:t>	Each coordinate of the strategy vector is subject to a point mutation with a certain probability</a:t>
            </a:r>
          </a:p>
        </p:txBody>
      </p:sp>
      <p:sp>
        <p:nvSpPr>
          <p:cNvPr id="16" name="Textfeld 15"/>
          <p:cNvSpPr txBox="1"/>
          <p:nvPr/>
        </p:nvSpPr>
        <p:spPr>
          <a:xfrm>
            <a:off x="611560" y="3291830"/>
            <a:ext cx="1368152" cy="82330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176213" indent="-176213">
              <a:spcAft>
                <a:spcPts val="300"/>
              </a:spcAft>
              <a:buFont typeface="Arial" pitchFamily="34" charset="0"/>
              <a:buChar char="•"/>
            </a:pPr>
            <a:r>
              <a:rPr lang="en-US" sz="1000" b="1" noProof="0" dirty="0">
                <a:solidFill>
                  <a:schemeClr val="tx1"/>
                </a:solidFill>
              </a:rPr>
              <a:t>strategy vector</a:t>
            </a:r>
          </a:p>
          <a:p>
            <a:pPr marL="176213" indent="-176213">
              <a:spcAft>
                <a:spcPts val="300"/>
              </a:spcAft>
              <a:buFont typeface="Arial" pitchFamily="34" charset="0"/>
              <a:buChar char="•"/>
            </a:pPr>
            <a:r>
              <a:rPr lang="en-US" sz="1000" b="1" noProof="0" dirty="0">
                <a:solidFill>
                  <a:schemeClr val="tx1"/>
                </a:solidFill>
              </a:rPr>
              <a:t>update probability</a:t>
            </a:r>
          </a:p>
          <a:p>
            <a:pPr marL="176213" indent="-176213">
              <a:spcAft>
                <a:spcPts val="300"/>
              </a:spcAft>
              <a:buFont typeface="Arial" pitchFamily="34" charset="0"/>
              <a:buChar char="•"/>
            </a:pPr>
            <a:r>
              <a:rPr lang="en-US" sz="1000" b="1" noProof="0" dirty="0">
                <a:solidFill>
                  <a:schemeClr val="tx1"/>
                </a:solidFill>
              </a:rPr>
              <a:t>aspiration level</a:t>
            </a:r>
            <a:endParaRPr lang="en-US" sz="1000" noProof="0" dirty="0">
              <a:solidFill>
                <a:schemeClr val="tx1"/>
              </a:solidFill>
            </a:endParaRPr>
          </a:p>
          <a:p>
            <a:pPr marL="176213" indent="-176213">
              <a:spcAft>
                <a:spcPts val="300"/>
              </a:spcAft>
              <a:buFont typeface="Arial" pitchFamily="34" charset="0"/>
              <a:buChar char="•"/>
            </a:pPr>
            <a:r>
              <a:rPr lang="en-US" sz="1000" noProof="0" dirty="0">
                <a:solidFill>
                  <a:schemeClr val="tx1"/>
                </a:solidFill>
              </a:rPr>
              <a:t>resource level</a:t>
            </a:r>
            <a:endParaRPr lang="en-US" sz="1000" b="1" noProof="0" dirty="0">
              <a:solidFill>
                <a:schemeClr val="tx1"/>
              </a:solidFill>
            </a:endParaRPr>
          </a:p>
        </p:txBody>
      </p:sp>
      <p:grpSp>
        <p:nvGrpSpPr>
          <p:cNvPr id="3" name="Gruppieren 16"/>
          <p:cNvGrpSpPr/>
          <p:nvPr>
            <p:custDataLst>
              <p:tags r:id="rId1"/>
            </p:custDataLst>
          </p:nvPr>
        </p:nvGrpSpPr>
        <p:grpSpPr>
          <a:xfrm>
            <a:off x="107504" y="3917505"/>
            <a:ext cx="267466" cy="382437"/>
            <a:chOff x="9144000" y="4198691"/>
            <a:chExt cx="374624" cy="535657"/>
          </a:xfrm>
          <a:solidFill>
            <a:srgbClr val="00B050"/>
          </a:solidFill>
        </p:grpSpPr>
        <p:sp>
          <p:nvSpPr>
            <p:cNvPr id="18" name="Gleichschenkliges Dreieck 17"/>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Ellipse 18"/>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cxnSp>
        <p:nvCxnSpPr>
          <p:cNvPr id="20" name="Form 19"/>
          <p:cNvCxnSpPr>
            <a:stCxn id="16" idx="1"/>
            <a:endCxn id="19" idx="0"/>
          </p:cNvCxnSpPr>
          <p:nvPr/>
        </p:nvCxnSpPr>
        <p:spPr>
          <a:xfrm rot="10800000" flipV="1">
            <a:off x="241238" y="3703481"/>
            <a:ext cx="370322" cy="214024"/>
          </a:xfrm>
          <a:prstGeom prst="bentConnector2">
            <a:avLst/>
          </a:prstGeom>
          <a:solidFill>
            <a:schemeClr val="tx2">
              <a:lumMod val="20000"/>
              <a:lumOff val="80000"/>
            </a:schemeClr>
          </a:solid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1" name="Flussdiagramm: Verzweigung 20"/>
          <p:cNvSpPr/>
          <p:nvPr/>
        </p:nvSpPr>
        <p:spPr>
          <a:xfrm>
            <a:off x="697216" y="1360708"/>
            <a:ext cx="1143008" cy="785818"/>
          </a:xfrm>
          <a:prstGeom prst="flowChartDecision">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22" name="Tabelle 21"/>
          <p:cNvGraphicFramePr>
            <a:graphicFrameLocks noGrp="1"/>
          </p:cNvGraphicFramePr>
          <p:nvPr>
            <p:extLst>
              <p:ext uri="{D42A27DB-BD31-4B8C-83A1-F6EECF244321}">
                <p14:modId xmlns:p14="http://schemas.microsoft.com/office/powerpoint/2010/main" val="3131979726"/>
              </p:ext>
            </p:extLst>
          </p:nvPr>
        </p:nvGraphicFramePr>
        <p:xfrm>
          <a:off x="873415" y="1545964"/>
          <a:ext cx="785818" cy="426720"/>
        </p:xfrm>
        <a:graphic>
          <a:graphicData uri="http://schemas.openxmlformats.org/drawingml/2006/table">
            <a:tbl>
              <a:tblPr firstRow="1" bandRow="1">
                <a:tableStyleId>{5C22544A-7EE6-4342-B048-85BDC9FD1C3A}</a:tableStyleId>
              </a:tblPr>
              <a:tblGrid>
                <a:gridCol w="392909">
                  <a:extLst>
                    <a:ext uri="{9D8B030D-6E8A-4147-A177-3AD203B41FA5}">
                      <a16:colId xmlns:a16="http://schemas.microsoft.com/office/drawing/2014/main" val="20000"/>
                    </a:ext>
                  </a:extLst>
                </a:gridCol>
                <a:gridCol w="392909">
                  <a:extLst>
                    <a:ext uri="{9D8B030D-6E8A-4147-A177-3AD203B41FA5}">
                      <a16:colId xmlns:a16="http://schemas.microsoft.com/office/drawing/2014/main" val="20001"/>
                    </a:ext>
                  </a:extLst>
                </a:gridCol>
              </a:tblGrid>
              <a:tr h="0">
                <a:tc>
                  <a:txBody>
                    <a:bodyPr/>
                    <a:lstStyle/>
                    <a:p>
                      <a:pPr algn="ctr"/>
                      <a:r>
                        <a:rPr lang="en-US" sz="800" b="1" noProof="0" dirty="0">
                          <a:solidFill>
                            <a:schemeClr val="tx1"/>
                          </a:solidFill>
                        </a:rPr>
                        <a:t>3, 3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noProof="0" dirty="0">
                          <a:solidFill>
                            <a:schemeClr val="tx1"/>
                          </a:solidFill>
                        </a:rPr>
                        <a:t>0, 5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r>
                        <a:rPr lang="en-US" sz="800" b="1" noProof="0" dirty="0">
                          <a:solidFill>
                            <a:schemeClr val="tx1"/>
                          </a:solidFill>
                        </a:rPr>
                        <a:t>5, 0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800" b="1" noProof="0" dirty="0">
                          <a:solidFill>
                            <a:schemeClr val="tx1"/>
                          </a:solidFill>
                        </a:rPr>
                        <a:t>1, 1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cxnSp>
        <p:nvCxnSpPr>
          <p:cNvPr id="23" name="Gerade Verbindung 22"/>
          <p:cNvCxnSpPr/>
          <p:nvPr/>
        </p:nvCxnSpPr>
        <p:spPr>
          <a:xfrm flipH="1">
            <a:off x="539552" y="1941968"/>
            <a:ext cx="288032" cy="216024"/>
          </a:xfrm>
          <a:prstGeom prst="line">
            <a:avLst/>
          </a:prstGeom>
          <a:solidFill>
            <a:schemeClr val="tx2">
              <a:lumMod val="20000"/>
              <a:lumOff val="80000"/>
            </a:schemeClr>
          </a:solid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Gerade Verbindung 23"/>
          <p:cNvCxnSpPr/>
          <p:nvPr/>
        </p:nvCxnSpPr>
        <p:spPr>
          <a:xfrm>
            <a:off x="539552" y="2157992"/>
            <a:ext cx="0" cy="288032"/>
          </a:xfrm>
          <a:prstGeom prst="lin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Gerade Verbindung 24"/>
          <p:cNvCxnSpPr/>
          <p:nvPr/>
        </p:nvCxnSpPr>
        <p:spPr>
          <a:xfrm>
            <a:off x="539552" y="2446024"/>
            <a:ext cx="144016" cy="0"/>
          </a:xfrm>
          <a:prstGeom prst="lin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feld 25"/>
          <p:cNvSpPr txBox="1"/>
          <p:nvPr/>
        </p:nvSpPr>
        <p:spPr>
          <a:xfrm>
            <a:off x="755576" y="2243648"/>
            <a:ext cx="1224136" cy="400110"/>
          </a:xfrm>
          <a:prstGeom prst="rect">
            <a:avLst/>
          </a:prstGeom>
          <a:noFill/>
        </p:spPr>
        <p:txBody>
          <a:bodyPr wrap="square" rtlCol="0">
            <a:spAutoFit/>
          </a:bodyPr>
          <a:lstStyle/>
          <a:p>
            <a:r>
              <a:rPr lang="en-US" sz="1000" noProof="0" dirty="0"/>
              <a:t>we assume additive utility</a:t>
            </a:r>
          </a:p>
        </p:txBody>
      </p:sp>
      <p:grpSp>
        <p:nvGrpSpPr>
          <p:cNvPr id="4" name="Gruppieren 26"/>
          <p:cNvGrpSpPr/>
          <p:nvPr>
            <p:custDataLst>
              <p:tags r:id="rId2"/>
            </p:custDataLst>
          </p:nvPr>
        </p:nvGrpSpPr>
        <p:grpSpPr>
          <a:xfrm>
            <a:off x="467544" y="4515967"/>
            <a:ext cx="151081" cy="216024"/>
            <a:chOff x="9144000" y="4198691"/>
            <a:chExt cx="374624" cy="535657"/>
          </a:xfrm>
          <a:solidFill>
            <a:schemeClr val="tx2"/>
          </a:solidFill>
        </p:grpSpPr>
        <p:sp>
          <p:nvSpPr>
            <p:cNvPr id="28" name="Gleichschenkliges Dreieck 27"/>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Ellipse 28"/>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0" name="Gruppieren 29"/>
          <p:cNvGrpSpPr/>
          <p:nvPr>
            <p:custDataLst>
              <p:tags r:id="rId3"/>
            </p:custDataLst>
          </p:nvPr>
        </p:nvGrpSpPr>
        <p:grpSpPr>
          <a:xfrm>
            <a:off x="683568" y="4515966"/>
            <a:ext cx="151081" cy="216024"/>
            <a:chOff x="9144000" y="4198691"/>
            <a:chExt cx="374624" cy="535657"/>
          </a:xfrm>
          <a:solidFill>
            <a:schemeClr val="accent2"/>
          </a:solidFill>
        </p:grpSpPr>
        <p:sp>
          <p:nvSpPr>
            <p:cNvPr id="31" name="Gleichschenkliges Dreieck 30"/>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Ellipse 31"/>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1" name="Gruppieren 32"/>
          <p:cNvGrpSpPr/>
          <p:nvPr>
            <p:custDataLst>
              <p:tags r:id="rId4"/>
            </p:custDataLst>
          </p:nvPr>
        </p:nvGrpSpPr>
        <p:grpSpPr>
          <a:xfrm>
            <a:off x="899592" y="4515965"/>
            <a:ext cx="151081" cy="216024"/>
            <a:chOff x="9144000" y="4198691"/>
            <a:chExt cx="374624" cy="535657"/>
          </a:xfrm>
          <a:solidFill>
            <a:schemeClr val="accent4"/>
          </a:solidFill>
        </p:grpSpPr>
        <p:sp>
          <p:nvSpPr>
            <p:cNvPr id="34" name="Gleichschenkliges Dreieck 33"/>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Ellipse 34"/>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2" name="Gruppieren 35"/>
          <p:cNvGrpSpPr/>
          <p:nvPr>
            <p:custDataLst>
              <p:tags r:id="rId5"/>
            </p:custDataLst>
          </p:nvPr>
        </p:nvGrpSpPr>
        <p:grpSpPr>
          <a:xfrm>
            <a:off x="1115616" y="4515964"/>
            <a:ext cx="151081" cy="216024"/>
            <a:chOff x="9144000" y="4198691"/>
            <a:chExt cx="374624" cy="535657"/>
          </a:xfrm>
          <a:solidFill>
            <a:schemeClr val="bg2">
              <a:lumMod val="50000"/>
            </a:schemeClr>
          </a:solidFill>
        </p:grpSpPr>
        <p:sp>
          <p:nvSpPr>
            <p:cNvPr id="37" name="Gleichschenkliges Dreieck 36"/>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Ellipse 37"/>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3" name="Gruppieren 38"/>
          <p:cNvGrpSpPr/>
          <p:nvPr>
            <p:custDataLst>
              <p:tags r:id="rId6"/>
            </p:custDataLst>
          </p:nvPr>
        </p:nvGrpSpPr>
        <p:grpSpPr>
          <a:xfrm>
            <a:off x="1331640" y="4515963"/>
            <a:ext cx="151081" cy="216024"/>
            <a:chOff x="9144000" y="4198691"/>
            <a:chExt cx="374624" cy="535657"/>
          </a:xfrm>
          <a:solidFill>
            <a:schemeClr val="accent5"/>
          </a:solidFill>
        </p:grpSpPr>
        <p:sp>
          <p:nvSpPr>
            <p:cNvPr id="40" name="Gleichschenkliges Dreieck 39"/>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Ellipse 40"/>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4" name="Gruppieren 41"/>
          <p:cNvGrpSpPr/>
          <p:nvPr>
            <p:custDataLst>
              <p:tags r:id="rId7"/>
            </p:custDataLst>
          </p:nvPr>
        </p:nvGrpSpPr>
        <p:grpSpPr>
          <a:xfrm>
            <a:off x="1547664" y="4515962"/>
            <a:ext cx="151081" cy="216024"/>
            <a:chOff x="9144000" y="4198691"/>
            <a:chExt cx="374624" cy="535657"/>
          </a:xfrm>
          <a:solidFill>
            <a:schemeClr val="accent3"/>
          </a:solidFill>
        </p:grpSpPr>
        <p:sp>
          <p:nvSpPr>
            <p:cNvPr id="43" name="Gleichschenkliges Dreieck 42"/>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4" name="Ellipse 43"/>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uppieren 44"/>
          <p:cNvGrpSpPr/>
          <p:nvPr>
            <p:custDataLst>
              <p:tags r:id="rId8"/>
            </p:custDataLst>
          </p:nvPr>
        </p:nvGrpSpPr>
        <p:grpSpPr>
          <a:xfrm>
            <a:off x="1763688" y="4515961"/>
            <a:ext cx="151081" cy="216024"/>
            <a:chOff x="9144000" y="4198691"/>
            <a:chExt cx="374624" cy="535657"/>
          </a:xfrm>
          <a:solidFill>
            <a:srgbClr val="FFC000"/>
          </a:solidFill>
        </p:grpSpPr>
        <p:sp>
          <p:nvSpPr>
            <p:cNvPr id="46" name="Gleichschenkliges Dreieck 45"/>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7" name="Ellipse 46"/>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uppieren 47"/>
          <p:cNvGrpSpPr/>
          <p:nvPr>
            <p:custDataLst>
              <p:tags r:id="rId9"/>
            </p:custDataLst>
          </p:nvPr>
        </p:nvGrpSpPr>
        <p:grpSpPr>
          <a:xfrm>
            <a:off x="467544" y="4803998"/>
            <a:ext cx="151081" cy="216024"/>
            <a:chOff x="9144000" y="4198691"/>
            <a:chExt cx="374624" cy="535657"/>
          </a:xfrm>
          <a:solidFill>
            <a:schemeClr val="accent3"/>
          </a:solidFill>
        </p:grpSpPr>
        <p:sp>
          <p:nvSpPr>
            <p:cNvPr id="49" name="Gleichschenkliges Dreieck 48"/>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Ellipse 49"/>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7" name="Gruppieren 50"/>
          <p:cNvGrpSpPr/>
          <p:nvPr>
            <p:custDataLst>
              <p:tags r:id="rId10"/>
            </p:custDataLst>
          </p:nvPr>
        </p:nvGrpSpPr>
        <p:grpSpPr>
          <a:xfrm>
            <a:off x="683568" y="4803997"/>
            <a:ext cx="151081" cy="216024"/>
            <a:chOff x="9144000" y="4198691"/>
            <a:chExt cx="374624" cy="535657"/>
          </a:xfrm>
          <a:solidFill>
            <a:srgbClr val="FFC000"/>
          </a:solidFill>
        </p:grpSpPr>
        <p:sp>
          <p:nvSpPr>
            <p:cNvPr id="52" name="Gleichschenkliges Dreieck 51"/>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Ellipse 52"/>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0" name="Gruppieren 53"/>
          <p:cNvGrpSpPr/>
          <p:nvPr>
            <p:custDataLst>
              <p:tags r:id="rId11"/>
            </p:custDataLst>
          </p:nvPr>
        </p:nvGrpSpPr>
        <p:grpSpPr>
          <a:xfrm>
            <a:off x="899592" y="4803996"/>
            <a:ext cx="151081" cy="216024"/>
            <a:chOff x="9144000" y="4198691"/>
            <a:chExt cx="374624" cy="535657"/>
          </a:xfrm>
          <a:solidFill>
            <a:schemeClr val="accent5"/>
          </a:solidFill>
        </p:grpSpPr>
        <p:sp>
          <p:nvSpPr>
            <p:cNvPr id="55" name="Gleichschenkliges Dreieck 54"/>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Ellipse 55"/>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3" name="Gruppieren 56"/>
          <p:cNvGrpSpPr/>
          <p:nvPr>
            <p:custDataLst>
              <p:tags r:id="rId12"/>
            </p:custDataLst>
          </p:nvPr>
        </p:nvGrpSpPr>
        <p:grpSpPr>
          <a:xfrm>
            <a:off x="1115616" y="4803995"/>
            <a:ext cx="151081" cy="216024"/>
            <a:chOff x="9144000" y="4198691"/>
            <a:chExt cx="374624" cy="535657"/>
          </a:xfrm>
          <a:solidFill>
            <a:srgbClr val="7030A0"/>
          </a:solidFill>
        </p:grpSpPr>
        <p:sp>
          <p:nvSpPr>
            <p:cNvPr id="58" name="Gleichschenkliges Dreieck 57"/>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Ellipse 58"/>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6" name="Gruppieren 59"/>
          <p:cNvGrpSpPr/>
          <p:nvPr>
            <p:custDataLst>
              <p:tags r:id="rId13"/>
            </p:custDataLst>
          </p:nvPr>
        </p:nvGrpSpPr>
        <p:grpSpPr>
          <a:xfrm>
            <a:off x="1331640" y="4803994"/>
            <a:ext cx="151081" cy="216024"/>
            <a:chOff x="9144000" y="4198691"/>
            <a:chExt cx="374624" cy="535657"/>
          </a:xfrm>
          <a:solidFill>
            <a:schemeClr val="accent2"/>
          </a:solidFill>
        </p:grpSpPr>
        <p:sp>
          <p:nvSpPr>
            <p:cNvPr id="61" name="Gleichschenkliges Dreieck 60"/>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Ellipse 61"/>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39" name="Gruppieren 62"/>
          <p:cNvGrpSpPr/>
          <p:nvPr>
            <p:custDataLst>
              <p:tags r:id="rId14"/>
            </p:custDataLst>
          </p:nvPr>
        </p:nvGrpSpPr>
        <p:grpSpPr>
          <a:xfrm>
            <a:off x="1547664" y="4803993"/>
            <a:ext cx="151081" cy="216024"/>
            <a:chOff x="9144000" y="4198691"/>
            <a:chExt cx="374624" cy="535657"/>
          </a:xfrm>
          <a:solidFill>
            <a:schemeClr val="bg2">
              <a:lumMod val="50000"/>
            </a:schemeClr>
          </a:solidFill>
        </p:grpSpPr>
        <p:sp>
          <p:nvSpPr>
            <p:cNvPr id="64" name="Gleichschenkliges Dreieck 63"/>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5" name="Ellipse 64"/>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2" name="Gruppieren 65"/>
          <p:cNvGrpSpPr/>
          <p:nvPr>
            <p:custDataLst>
              <p:tags r:id="rId15"/>
            </p:custDataLst>
          </p:nvPr>
        </p:nvGrpSpPr>
        <p:grpSpPr>
          <a:xfrm>
            <a:off x="1763688" y="4803992"/>
            <a:ext cx="151081" cy="216024"/>
            <a:chOff x="9144000" y="4198691"/>
            <a:chExt cx="374624" cy="535657"/>
          </a:xfrm>
          <a:solidFill>
            <a:schemeClr val="tx2"/>
          </a:solidFill>
        </p:grpSpPr>
        <p:sp>
          <p:nvSpPr>
            <p:cNvPr id="67" name="Gleichschenkliges Dreieck 66"/>
            <p:cNvSpPr/>
            <p:nvPr/>
          </p:nvSpPr>
          <p:spPr>
            <a:xfrm>
              <a:off x="9144000" y="4359724"/>
              <a:ext cx="374624" cy="374624"/>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8" name="Ellipse 67"/>
            <p:cNvSpPr/>
            <p:nvPr/>
          </p:nvSpPr>
          <p:spPr>
            <a:xfrm>
              <a:off x="9170520" y="4198691"/>
              <a:ext cx="321586" cy="321586"/>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cxnSp>
        <p:nvCxnSpPr>
          <p:cNvPr id="70" name="Gerade Verbindung 69"/>
          <p:cNvCxnSpPr/>
          <p:nvPr/>
        </p:nvCxnSpPr>
        <p:spPr>
          <a:xfrm>
            <a:off x="251520" y="4423786"/>
            <a:ext cx="0" cy="360040"/>
          </a:xfrm>
          <a:prstGeom prst="lin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Gerade Verbindung 73"/>
          <p:cNvCxnSpPr/>
          <p:nvPr/>
        </p:nvCxnSpPr>
        <p:spPr>
          <a:xfrm>
            <a:off x="251520" y="4783826"/>
            <a:ext cx="144016" cy="0"/>
          </a:xfrm>
          <a:prstGeom prst="lin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6" name="Textfeld 75"/>
          <p:cNvSpPr txBox="1"/>
          <p:nvPr/>
        </p:nvSpPr>
        <p:spPr>
          <a:xfrm>
            <a:off x="611560" y="2771368"/>
            <a:ext cx="1368152" cy="40011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176213" indent="-176213">
              <a:spcAft>
                <a:spcPts val="300"/>
              </a:spcAft>
              <a:buFont typeface="Arial" pitchFamily="34" charset="0"/>
              <a:buChar char="•"/>
            </a:pPr>
            <a:r>
              <a:rPr lang="en-US" sz="1000" b="1" noProof="0" dirty="0">
                <a:solidFill>
                  <a:schemeClr val="tx1"/>
                </a:solidFill>
              </a:rPr>
              <a:t>evaluation probability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Win Stay – Lose Shift:</a:t>
            </a:r>
            <a:br>
              <a:rPr lang="en-US" noProof="0" dirty="0"/>
            </a:br>
            <a:r>
              <a:rPr lang="en-US" noProof="0" dirty="0"/>
              <a:t>An elementary Learning Rule for Normal Form Games</a:t>
            </a:r>
          </a:p>
        </p:txBody>
      </p:sp>
      <p:sp>
        <p:nvSpPr>
          <p:cNvPr id="3" name="Rechteck 2"/>
          <p:cNvSpPr/>
          <p:nvPr/>
        </p:nvSpPr>
        <p:spPr>
          <a:xfrm>
            <a:off x="107504" y="915566"/>
            <a:ext cx="1872208"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Strategies with a fixed aspiration level</a:t>
            </a:r>
          </a:p>
        </p:txBody>
      </p:sp>
      <p:sp>
        <p:nvSpPr>
          <p:cNvPr id="6" name="Gleichschenkliges Dreieck 5"/>
          <p:cNvSpPr/>
          <p:nvPr/>
        </p:nvSpPr>
        <p:spPr>
          <a:xfrm rot="5400000">
            <a:off x="1770889" y="1232401"/>
            <a:ext cx="648072" cy="86410"/>
          </a:xfrm>
          <a:prstGeom prst="triangl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26" name="Picture 2"/>
          <p:cNvPicPr>
            <a:picLocks noChangeAspect="1" noChangeArrowheads="1"/>
          </p:cNvPicPr>
          <p:nvPr/>
        </p:nvPicPr>
        <p:blipFill>
          <a:blip r:embed="rId2" cstate="print"/>
          <a:srcRect/>
          <a:stretch>
            <a:fillRect/>
          </a:stretch>
        </p:blipFill>
        <p:spPr bwMode="auto">
          <a:xfrm>
            <a:off x="2366647" y="935738"/>
            <a:ext cx="4399634" cy="1479969"/>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306132" y="2715766"/>
            <a:ext cx="4444534" cy="1073559"/>
          </a:xfrm>
          <a:prstGeom prst="rect">
            <a:avLst/>
          </a:prstGeom>
          <a:noFill/>
          <a:ln w="9525">
            <a:noFill/>
            <a:miter lim="800000"/>
            <a:headEnd/>
            <a:tailEnd/>
          </a:ln>
        </p:spPr>
      </p:pic>
      <p:sp>
        <p:nvSpPr>
          <p:cNvPr id="11" name="Textfeld 10"/>
          <p:cNvSpPr txBox="1"/>
          <p:nvPr/>
        </p:nvSpPr>
        <p:spPr>
          <a:xfrm>
            <a:off x="7020272" y="915566"/>
            <a:ext cx="2016224" cy="1477328"/>
          </a:xfrm>
          <a:prstGeom prst="rect">
            <a:avLst/>
          </a:prstGeom>
          <a:noFill/>
        </p:spPr>
        <p:txBody>
          <a:bodyPr wrap="square" rtlCol="0">
            <a:spAutoFit/>
          </a:bodyPr>
          <a:lstStyle/>
          <a:p>
            <a:r>
              <a:rPr lang="en-US" sz="1000" noProof="0" dirty="0"/>
              <a:t>The average payoffs and (initial) aspiration levels  for different noise levels. The average is taken over the whole population, over all generations and the simulation runs. The height of the bars gives the average; the height of the T’s is the standard deviation of the averages in the simulation runs.</a:t>
            </a:r>
          </a:p>
        </p:txBody>
      </p:sp>
      <p:sp>
        <p:nvSpPr>
          <p:cNvPr id="12" name="Textfeld 11"/>
          <p:cNvSpPr txBox="1"/>
          <p:nvPr/>
        </p:nvSpPr>
        <p:spPr>
          <a:xfrm>
            <a:off x="7020272" y="2643758"/>
            <a:ext cx="2016224" cy="553998"/>
          </a:xfrm>
          <a:prstGeom prst="rect">
            <a:avLst/>
          </a:prstGeom>
          <a:noFill/>
        </p:spPr>
        <p:txBody>
          <a:bodyPr wrap="square" rtlCol="0">
            <a:spAutoFit/>
          </a:bodyPr>
          <a:lstStyle/>
          <a:p>
            <a:r>
              <a:rPr lang="en-US" sz="1000" noProof="0" dirty="0"/>
              <a:t>The average updating probabilities and adaption rates for different noise levels.</a:t>
            </a:r>
          </a:p>
        </p:txBody>
      </p:sp>
      <p:sp>
        <p:nvSpPr>
          <p:cNvPr id="13" name="Rechteck 12"/>
          <p:cNvSpPr/>
          <p:nvPr/>
        </p:nvSpPr>
        <p:spPr>
          <a:xfrm>
            <a:off x="2339752" y="4299942"/>
            <a:ext cx="3312368" cy="72008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rPr>
              <a:t>Fixed strategies:</a:t>
            </a:r>
          </a:p>
          <a:p>
            <a:pPr marL="87313" indent="-87313">
              <a:buFont typeface="Arial" pitchFamily="34" charset="0"/>
              <a:buChar char="•"/>
            </a:pPr>
            <a:r>
              <a:rPr lang="en-US" sz="1000" noProof="0" dirty="0">
                <a:solidFill>
                  <a:schemeClr val="tx1"/>
                </a:solidFill>
              </a:rPr>
              <a:t>Cooperation dominates but decreases with increasing noise level</a:t>
            </a:r>
          </a:p>
          <a:p>
            <a:pPr marL="87313" indent="-87313">
              <a:buFont typeface="Arial" pitchFamily="34" charset="0"/>
              <a:buChar char="•"/>
            </a:pPr>
            <a:r>
              <a:rPr lang="en-US" sz="1000" noProof="0" dirty="0">
                <a:solidFill>
                  <a:schemeClr val="tx1"/>
                </a:solidFill>
              </a:rPr>
              <a:t>Updating probabilities decrease with increasing noise level </a:t>
            </a:r>
          </a:p>
        </p:txBody>
      </p:sp>
      <p:sp>
        <p:nvSpPr>
          <p:cNvPr id="15" name="Rechteck 14"/>
          <p:cNvSpPr/>
          <p:nvPr/>
        </p:nvSpPr>
        <p:spPr>
          <a:xfrm>
            <a:off x="107504" y="1707654"/>
            <a:ext cx="1872208"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Strategies that adapt their  aspiration level with a certain speed of adaption</a:t>
            </a:r>
          </a:p>
        </p:txBody>
      </p:sp>
      <p:sp>
        <p:nvSpPr>
          <p:cNvPr id="16" name="Gleichschenkliges Dreieck 15"/>
          <p:cNvSpPr/>
          <p:nvPr/>
        </p:nvSpPr>
        <p:spPr>
          <a:xfrm rot="5400000">
            <a:off x="1770889" y="2024489"/>
            <a:ext cx="648072" cy="86410"/>
          </a:xfrm>
          <a:prstGeom prst="triangl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hteck 16"/>
          <p:cNvSpPr/>
          <p:nvPr/>
        </p:nvSpPr>
        <p:spPr>
          <a:xfrm>
            <a:off x="2339752" y="915566"/>
            <a:ext cx="6696744" cy="1656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noProof="0" dirty="0">
              <a:solidFill>
                <a:schemeClr val="tx1"/>
              </a:solidFill>
            </a:endParaRPr>
          </a:p>
        </p:txBody>
      </p:sp>
      <p:sp>
        <p:nvSpPr>
          <p:cNvPr id="18" name="Rechteck 17"/>
          <p:cNvSpPr/>
          <p:nvPr/>
        </p:nvSpPr>
        <p:spPr>
          <a:xfrm>
            <a:off x="2339752" y="2643758"/>
            <a:ext cx="6696744" cy="1296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noProof="0" dirty="0">
              <a:solidFill>
                <a:schemeClr val="tx1"/>
              </a:solidFill>
            </a:endParaRPr>
          </a:p>
        </p:txBody>
      </p:sp>
      <p:sp>
        <p:nvSpPr>
          <p:cNvPr id="19" name="Gleichschenkliges Dreieck 18"/>
          <p:cNvSpPr/>
          <p:nvPr/>
        </p:nvSpPr>
        <p:spPr>
          <a:xfrm rot="10800000">
            <a:off x="4435776" y="4011909"/>
            <a:ext cx="2504695" cy="144016"/>
          </a:xfrm>
          <a:prstGeom prst="triangl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hteck 19"/>
          <p:cNvSpPr/>
          <p:nvPr/>
        </p:nvSpPr>
        <p:spPr>
          <a:xfrm>
            <a:off x="5724128" y="4299942"/>
            <a:ext cx="3312368" cy="72008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rPr>
              <a:t>Adapting strategies:</a:t>
            </a:r>
          </a:p>
          <a:p>
            <a:pPr marL="87313" indent="-87313">
              <a:buFont typeface="Arial" pitchFamily="34" charset="0"/>
              <a:buChar char="•"/>
            </a:pPr>
            <a:r>
              <a:rPr lang="en-US" sz="1000" noProof="0" dirty="0">
                <a:solidFill>
                  <a:schemeClr val="tx1"/>
                </a:solidFill>
              </a:rPr>
              <a:t>“winners” in terms of resource accumulation</a:t>
            </a:r>
          </a:p>
          <a:p>
            <a:pPr marL="87313" indent="-87313">
              <a:buFont typeface="Arial" pitchFamily="34" charset="0"/>
              <a:buChar char="•"/>
            </a:pPr>
            <a:r>
              <a:rPr lang="en-US" sz="1000" noProof="0" dirty="0">
                <a:solidFill>
                  <a:schemeClr val="tx1"/>
                </a:solidFill>
              </a:rPr>
              <a:t>Updating probabilities increase with increasing noise level, this is balanced with an decreased speed of adaption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28,7214"/>
  <p:tag name="ORIGINALWIDTH" val="953,1309"/>
  <p:tag name="LATEXADDIN" val="\documentclass{article}&#10;\usepackage{amsmath}&#10;\pagestyle{empty}&#10;\begin{document}&#10;$$&#10;\dot{x} \, \, = \, \, r x \left( 1 - \frac{x}{K} \right)&#10;$$&#10;&#10;&#10;&#10;\end{document}"/>
  <p:tag name="IGUANATEXSIZE" val="20"/>
  <p:tag name="IGUANATEXCURSOR" val="139"/>
  <p:tag name="TRANSPARENCY" val="Wahr"/>
  <p:tag name="LATEXENGINEID" val="0"/>
  <p:tag name="TEMPFOLDER" val="c:\temp\"/>
  <p:tag name="LATEXFORMHEIGHT" val="312"/>
  <p:tag name="LATEXFORMWIDTH" val="384"/>
  <p:tag name="LATEXFORMWRAP" val="Wahr"/>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76,228"/>
  <p:tag name="ORIGINALWIDTH" val="1613,048"/>
  <p:tag name="LATEXADDIN" val="\documentclass{article}&#10;\usepackage{amsmath}&#10;\pagestyle{empty}&#10;\begin{document}&#10;$$&#10;{\text{error}} \, \, = \, \, &#10;\sum \left( x_{\text{model}} - x_{\text{data}} \right)^2&#10;$$&#10;&#10;&#10;&#10;\end{document}"/>
  <p:tag name="IGUANATEXSIZE" val="20"/>
  <p:tag name="IGUANATEXCURSOR" val="89"/>
  <p:tag name="TRANSPARENCY" val="Wahr"/>
  <p:tag name="LATEXENGINEID" val="0"/>
  <p:tag name="TEMPFOLDER" val="c:\temp\"/>
  <p:tag name="LATEXFORMHEIGHT" val="312"/>
  <p:tag name="LATEXFORMWIDTH" val="384"/>
  <p:tag name="LATEXFORMWRAP" val="Wahr"/>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110,236"/>
  <p:tag name="LATEXADDIN" val="\documentclass{article}&#10;\usepackage{amsmath}&#10;\pagestyle{empty}&#10;\begin{document}&#10;$$&#10;f(x) \, \, = \, \left\{ \begin{array}{l l}&#10;1-x \, , &amp; \text{no antibiotic} \\[1mm]&#10;x(1-cx) \, , &amp; \text{with antibiotic}&#10;\end{array} \right.&#10;$$&#10;&#10;&#10;&#10;\end{document}"/>
  <p:tag name="IGUANATEXSIZE" val="20"/>
  <p:tag name="IGUANATEXCURSOR" val="122"/>
  <p:tag name="TRANSPARENCY" val="Wahr"/>
  <p:tag name="LATEXENGINEID" val="0"/>
  <p:tag name="TEMPFOLDER" val="c:\temp\"/>
  <p:tag name="LATEXFORMHEIGHT" val="312"/>
  <p:tag name="LATEXFORMWIDTH" val="384"/>
  <p:tag name="LATEXFORMWRAP" val="Wahr"/>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zqkIWGj8cE6vsDMRj.C2zA"/>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1770</Words>
  <Application>Microsoft Office PowerPoint</Application>
  <PresentationFormat>Bildschirmpräsentation (16:9)</PresentationFormat>
  <Paragraphs>407</Paragraphs>
  <Slides>21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21</vt:i4>
      </vt:variant>
    </vt:vector>
  </HeadingPairs>
  <TitlesOfParts>
    <vt:vector size="26" baseType="lpstr">
      <vt:lpstr>Symbol</vt:lpstr>
      <vt:lpstr>Arial</vt:lpstr>
      <vt:lpstr>Courier New</vt:lpstr>
      <vt:lpstr>Calibri</vt:lpstr>
      <vt:lpstr>Larissa-Design</vt:lpstr>
      <vt:lpstr>Computational Biomathematics</vt:lpstr>
      <vt:lpstr>Genetic algorithms adapt the biological processes of selection, mutation, and recombination to optimize a target functional (1/ 2)</vt:lpstr>
      <vt:lpstr>Genetic algorithms adapt the biological processes of selection, mutation, and recombination to optimize a target functional (2/ 2)</vt:lpstr>
      <vt:lpstr>Genetic Algorithms Lab: Group Tasks</vt:lpstr>
      <vt:lpstr>Genetic Algorithms Lab: Common Implementation Guidance (for all groups)</vt:lpstr>
      <vt:lpstr>Genetic Algorithms Lab: Link to Lab 1</vt:lpstr>
      <vt:lpstr>PowerPoint-Präsentation</vt:lpstr>
      <vt:lpstr>Group A: Evolution of a Trait (Size vs. Survival) – 1/ 2</vt:lpstr>
      <vt:lpstr>Group A: Evolution of a Trait (Size vs. Survival) – 2/ 2</vt:lpstr>
      <vt:lpstr>Group B: Fitting a Population Model (Logistic Growth) – 1/ 2</vt:lpstr>
      <vt:lpstr>Group B: Fitting a Population Model (Logistic Growth) – 2/ 2</vt:lpstr>
      <vt:lpstr>Group C: Evolution of Antibiotic Resistance – 1/ 2</vt:lpstr>
      <vt:lpstr>Group C: Evolution of Antibiotic Resistance – 2/ 2</vt:lpstr>
      <vt:lpstr>Group D: Evolution of Cooperation Strategies – 1/ 2</vt:lpstr>
      <vt:lpstr>Group D: Evolution of Cooperation Strategies – 2/ 2</vt:lpstr>
      <vt:lpstr>Roadmap</vt:lpstr>
      <vt:lpstr>Roadmap</vt:lpstr>
      <vt:lpstr>PowerPoint-Präsentation</vt:lpstr>
      <vt:lpstr>Win Stay – Lose Shift: An elementary Learning Rule for Normal Form Games</vt:lpstr>
      <vt:lpstr>Win Stay – Lose Shift: An elementary Learning Rule for Normal Form Games</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216</cp:revision>
  <dcterms:created xsi:type="dcterms:W3CDTF">2020-04-04T18:50:50Z</dcterms:created>
  <dcterms:modified xsi:type="dcterms:W3CDTF">2026-04-03T17:30:53Z</dcterms:modified>
</cp:coreProperties>
</file>
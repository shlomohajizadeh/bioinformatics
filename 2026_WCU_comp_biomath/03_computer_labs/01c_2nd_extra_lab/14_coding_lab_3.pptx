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heme/theme2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410" r:id="rId2"/>
    <p:sldId id="446" r:id="rId3"/>
    <p:sldId id="466" r:id="rId4"/>
    <p:sldId id="467" r:id="rId5"/>
    <p:sldId id="468" r:id="rId6"/>
    <p:sldId id="445" r:id="rId7"/>
    <p:sldId id="452" r:id="rId8"/>
    <p:sldId id="463" r:id="rId9"/>
    <p:sldId id="464" r:id="rId10"/>
    <p:sldId id="465" r:id="rId11"/>
    <p:sldId id="451" r:id="rId12"/>
    <p:sldId id="460" r:id="rId13"/>
    <p:sldId id="411" r:id="rId14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7356" autoAdjust="0"/>
  </p:normalViewPr>
  <p:slideViewPr>
    <p:cSldViewPr>
      <p:cViewPr varScale="1">
        <p:scale>
          <a:sx n="136" d="100"/>
          <a:sy n="136" d="100"/>
        </p:scale>
        <p:origin x="414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5D514-7346-4F82-AE13-C6D6741739D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EF3066-70EE-4F3C-99F9-465CA6AFB6FD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4.jpe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3.jpeg"/><Relationship Id="rId17" Type="http://schemas.openxmlformats.org/officeDocument/2006/relationships/image" Target="../media/image8.jpeg"/><Relationship Id="rId2" Type="http://schemas.openxmlformats.org/officeDocument/2006/relationships/tags" Target="../tags/tag2.xml"/><Relationship Id="rId16" Type="http://schemas.openxmlformats.org/officeDocument/2006/relationships/image" Target="../media/image7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jpeg"/><Relationship Id="rId5" Type="http://schemas.openxmlformats.org/officeDocument/2006/relationships/tags" Target="../tags/tag5.xml"/><Relationship Id="rId15" Type="http://schemas.openxmlformats.org/officeDocument/2006/relationships/image" Target="../media/image6.jpeg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image" Target="../media/image11.jpe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10.jpe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9.jpeg"/><Relationship Id="rId5" Type="http://schemas.openxmlformats.org/officeDocument/2006/relationships/tags" Target="../tags/tag14.xml"/><Relationship Id="rId15" Type="http://schemas.openxmlformats.org/officeDocument/2006/relationships/image" Target="../media/image13.jpeg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image" Target="../media/image12.jpe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image" Target="../media/image3.jpeg"/><Relationship Id="rId18" Type="http://schemas.openxmlformats.org/officeDocument/2006/relationships/image" Target="../media/image8.jpeg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image" Target="../media/image2.jpeg"/><Relationship Id="rId17" Type="http://schemas.openxmlformats.org/officeDocument/2006/relationships/image" Target="../media/image7.png"/><Relationship Id="rId2" Type="http://schemas.openxmlformats.org/officeDocument/2006/relationships/tags" Target="../tags/tag20.xml"/><Relationship Id="rId16" Type="http://schemas.openxmlformats.org/officeDocument/2006/relationships/image" Target="../media/image6.jpeg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3.xml"/><Relationship Id="rId15" Type="http://schemas.openxmlformats.org/officeDocument/2006/relationships/image" Target="../media/image5.jpeg"/><Relationship Id="rId10" Type="http://schemas.openxmlformats.org/officeDocument/2006/relationships/tags" Target="../tags/tag28.xml"/><Relationship Id="rId19" Type="http://schemas.openxmlformats.org/officeDocument/2006/relationships/image" Target="../media/image14.jpeg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ttps://cdn.pixabay.com/photo/2016/04/13/19/23/binary-1327501_960_720.jp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95536" y="0"/>
            <a:ext cx="2828754" cy="1152128"/>
          </a:xfrm>
          <a:prstGeom prst="rect">
            <a:avLst/>
          </a:prstGeom>
          <a:noFill/>
        </p:spPr>
      </p:pic>
      <p:grpSp>
        <p:nvGrpSpPr>
          <p:cNvPr id="28" name="Gruppieren 27"/>
          <p:cNvGrpSpPr/>
          <p:nvPr userDrawn="1"/>
        </p:nvGrpSpPr>
        <p:grpSpPr>
          <a:xfrm>
            <a:off x="3059832" y="0"/>
            <a:ext cx="3312368" cy="1152525"/>
            <a:chOff x="3059832" y="0"/>
            <a:chExt cx="3312368" cy="1152525"/>
          </a:xfrm>
        </p:grpSpPr>
        <p:pic>
          <p:nvPicPr>
            <p:cNvPr id="10244" name="Picture 4" descr="https://scontent-muc2-1.xx.fbcdn.net/v/t1.0-9/105047738_302269647821182_6536006559647297022_o.jpg?_nc_cat=105&amp;_nc_sid=730e14&amp;_nc_ohc=TQF0ZCkImkEAX_9ZuvG&amp;_nc_ht=scontent-muc2-1.xx&amp;oh=0be3c9382f21dded80330d22b968e298&amp;oe=5F833F90"/>
            <p:cNvPicPr>
              <a:picLocks noChangeAspect="1" noChangeArrowheads="1"/>
            </p:cNvPicPr>
            <p:nvPr userDrawn="1"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3059832" y="0"/>
              <a:ext cx="1728192" cy="1152128"/>
            </a:xfrm>
            <a:prstGeom prst="rect">
              <a:avLst/>
            </a:prstGeom>
            <a:noFill/>
          </p:spPr>
        </p:pic>
        <p:grpSp>
          <p:nvGrpSpPr>
            <p:cNvPr id="27" name="Gruppieren 26"/>
            <p:cNvGrpSpPr/>
            <p:nvPr userDrawn="1"/>
          </p:nvGrpSpPr>
          <p:grpSpPr>
            <a:xfrm>
              <a:off x="4427984" y="0"/>
              <a:ext cx="1944216" cy="1152525"/>
              <a:chOff x="4427984" y="0"/>
              <a:chExt cx="1944216" cy="1152525"/>
            </a:xfrm>
          </p:grpSpPr>
          <p:pic>
            <p:nvPicPr>
              <p:cNvPr id="10242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3" cstate="print"/>
              <a:srcRect/>
              <a:stretch>
                <a:fillRect/>
              </a:stretch>
            </p:blipFill>
            <p:spPr bwMode="auto">
              <a:xfrm>
                <a:off x="4427984" y="0"/>
                <a:ext cx="1944216" cy="267494"/>
              </a:xfrm>
              <a:prstGeom prst="rect">
                <a:avLst/>
              </a:prstGeom>
              <a:noFill/>
            </p:spPr>
          </p:pic>
          <p:pic>
            <p:nvPicPr>
              <p:cNvPr id="23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4572000" y="267494"/>
                <a:ext cx="1656184" cy="432048"/>
              </a:xfrm>
              <a:prstGeom prst="rect">
                <a:avLst/>
              </a:prstGeom>
              <a:noFill/>
            </p:spPr>
          </p:pic>
          <p:pic>
            <p:nvPicPr>
              <p:cNvPr id="26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4716016" y="689073"/>
                <a:ext cx="1368152" cy="463452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" name="Titel 1"/>
          <p:cNvSpPr>
            <a:spLocks noGrp="1"/>
          </p:cNvSpPr>
          <p:nvPr userDrawn="1">
            <p:ph type="ctrTitle"/>
          </p:nvPr>
        </p:nvSpPr>
        <p:spPr>
          <a:xfrm>
            <a:off x="685800" y="1347614"/>
            <a:ext cx="7772400" cy="86409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/>
          </p:nvPr>
        </p:nvSpPr>
        <p:spPr>
          <a:xfrm>
            <a:off x="1371600" y="2355726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3" name="Textfeld 12"/>
          <p:cNvSpPr txBox="1"/>
          <p:nvPr userDrawn="1">
            <p:custDataLst>
              <p:tags r:id="rId1"/>
            </p:custDataLst>
          </p:nvPr>
        </p:nvSpPr>
        <p:spPr>
          <a:xfrm>
            <a:off x="7543657" y="72008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Florian Rupp</a:t>
            </a:r>
          </a:p>
        </p:txBody>
      </p:sp>
      <p:sp>
        <p:nvSpPr>
          <p:cNvPr id="14" name="Freihandform 13"/>
          <p:cNvSpPr/>
          <p:nvPr userDrawn="1">
            <p:custDataLst>
              <p:tags r:id="rId2"/>
            </p:custDataLst>
          </p:nvPr>
        </p:nvSpPr>
        <p:spPr>
          <a:xfrm flipH="1">
            <a:off x="6024860" y="447"/>
            <a:ext cx="313184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1955800"/>
              <a:gd name="connsiteY0" fmla="*/ 0 h 1143000"/>
              <a:gd name="connsiteX1" fmla="*/ 1641023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641023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Parallelogramm 14"/>
          <p:cNvSpPr/>
          <p:nvPr userDrawn="1">
            <p:custDataLst>
              <p:tags r:id="rId3"/>
            </p:custDataLst>
          </p:nvPr>
        </p:nvSpPr>
        <p:spPr>
          <a:xfrm>
            <a:off x="5808836" y="1"/>
            <a:ext cx="792088" cy="1152128"/>
          </a:xfrm>
          <a:prstGeom prst="parallelogram">
            <a:avLst>
              <a:gd name="adj" fmla="val 63481"/>
            </a:avLst>
          </a:pr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Parallelogramm 15"/>
          <p:cNvSpPr/>
          <p:nvPr userDrawn="1">
            <p:custDataLst>
              <p:tags r:id="rId4"/>
            </p:custDataLst>
          </p:nvPr>
        </p:nvSpPr>
        <p:spPr>
          <a:xfrm>
            <a:off x="2568476" y="1"/>
            <a:ext cx="1152128" cy="1152128"/>
          </a:xfrm>
          <a:prstGeom prst="parallelogram">
            <a:avLst>
              <a:gd name="adj" fmla="val 52628"/>
            </a:avLst>
          </a:prstGeom>
          <a:solidFill>
            <a:srgbClr val="1F497D">
              <a:lumMod val="60000"/>
              <a:lumOff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Parallelogramm 16"/>
          <p:cNvSpPr/>
          <p:nvPr userDrawn="1">
            <p:custDataLst>
              <p:tags r:id="rId5"/>
            </p:custDataLst>
          </p:nvPr>
        </p:nvSpPr>
        <p:spPr>
          <a:xfrm flipH="1">
            <a:off x="4296668" y="1"/>
            <a:ext cx="648072" cy="1152128"/>
          </a:xfrm>
          <a:prstGeom prst="parallelogram">
            <a:avLst>
              <a:gd name="adj" fmla="val 68305"/>
            </a:avLst>
          </a:prstGeom>
          <a:solidFill>
            <a:srgbClr val="F79646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Parallelogramm 17"/>
          <p:cNvSpPr/>
          <p:nvPr userDrawn="1">
            <p:custDataLst>
              <p:tags r:id="rId6"/>
            </p:custDataLst>
          </p:nvPr>
        </p:nvSpPr>
        <p:spPr>
          <a:xfrm>
            <a:off x="2568476" y="1"/>
            <a:ext cx="1008112" cy="1152128"/>
          </a:xfrm>
          <a:prstGeom prst="parallelogram">
            <a:avLst>
              <a:gd name="adj" fmla="val 88390"/>
            </a:avLst>
          </a:prstGeom>
          <a:solidFill>
            <a:srgbClr val="4F81BD">
              <a:lumMod val="20000"/>
              <a:lumOff val="8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reihandform 18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95580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485900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Freihandform 19"/>
          <p:cNvSpPr/>
          <p:nvPr userDrawn="1">
            <p:custDataLst>
              <p:tags r:id="rId8"/>
            </p:custDataLst>
          </p:nvPr>
        </p:nvSpPr>
        <p:spPr>
          <a:xfrm>
            <a:off x="2580060" y="1"/>
            <a:ext cx="92452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0 w 2880320"/>
              <a:gd name="connsiteY4" fmla="*/ 0 h 1143000"/>
              <a:gd name="connsiteX0" fmla="*/ 216024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2160240 w 28803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132432 w 924520"/>
              <a:gd name="connsiteY3" fmla="*/ 643436 h 1143000"/>
              <a:gd name="connsiteX4" fmla="*/ 204440 w 9245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204440 w 924520"/>
              <a:gd name="connsiteY4" fmla="*/ 0 h 1143000"/>
              <a:gd name="connsiteX0" fmla="*/ 348456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348456 w 924520"/>
              <a:gd name="connsiteY4" fmla="*/ 0 h 1143000"/>
              <a:gd name="connsiteX0" fmla="*/ 348456 w 924520"/>
              <a:gd name="connsiteY0" fmla="*/ 571943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0" fmla="*/ 420464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420464 w 924520"/>
              <a:gd name="connsiteY3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520" h="1143000">
                <a:moveTo>
                  <a:pt x="420464" y="0"/>
                </a:moveTo>
                <a:lnTo>
                  <a:pt x="924520" y="0"/>
                </a:lnTo>
                <a:lnTo>
                  <a:pt x="0" y="1143000"/>
                </a:lnTo>
                <a:lnTo>
                  <a:pt x="420464" y="0"/>
                </a:lnTo>
                <a:close/>
              </a:path>
            </a:pathLst>
          </a:cu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hteck 20"/>
          <p:cNvSpPr/>
          <p:nvPr userDrawn="1">
            <p:custDataLst>
              <p:tags r:id="rId9"/>
            </p:custDataLst>
          </p:nvPr>
        </p:nvSpPr>
        <p:spPr>
          <a:xfrm>
            <a:off x="795" y="648469"/>
            <a:ext cx="9155906" cy="504056"/>
          </a:xfrm>
          <a:prstGeom prst="rect">
            <a:avLst/>
          </a:prstGeom>
          <a:solidFill>
            <a:srgbClr val="FFFFFF">
              <a:alpha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 userDrawn="1"/>
        </p:nvSpPr>
        <p:spPr bwMode="auto">
          <a:xfrm>
            <a:off x="845840" y="4240838"/>
            <a:ext cx="7452320" cy="85119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algn="ctr">
              <a:spcBef>
                <a:spcPct val="20000"/>
              </a:spcBef>
              <a:defRPr/>
            </a:pPr>
            <a:r>
              <a:rPr lang="en-US" sz="1400" b="1" kern="0" dirty="0">
                <a:latin typeface="+mn-lt"/>
              </a:rPr>
              <a:t>Prof. Dr. Dr. </a:t>
            </a:r>
            <a:r>
              <a:rPr lang="en-US" sz="1400" b="1" kern="0" dirty="0" err="1">
                <a:latin typeface="+mn-lt"/>
              </a:rPr>
              <a:t>h.c</a:t>
            </a:r>
            <a:r>
              <a:rPr lang="en-US" sz="1400" b="1" kern="0" dirty="0">
                <a:latin typeface="+mn-lt"/>
              </a:rPr>
              <a:t>. Florian Rupp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500" dirty="0"/>
          </a:p>
          <a:p>
            <a:pPr algn="ctr" eaLnBrk="1" hangingPunct="1"/>
            <a:r>
              <a:rPr lang="en-US" sz="1400" baseline="0" dirty="0"/>
              <a:t>Western Caspian University &amp; </a:t>
            </a:r>
            <a:r>
              <a:rPr lang="en-US" sz="1400" dirty="0"/>
              <a:t>Kutaisi International</a:t>
            </a:r>
            <a:r>
              <a:rPr lang="en-US" sz="1400" baseline="0" dirty="0"/>
              <a:t> University</a:t>
            </a:r>
            <a:endParaRPr lang="en-US" sz="1400" dirty="0"/>
          </a:p>
        </p:txBody>
      </p:sp>
      <p:pic>
        <p:nvPicPr>
          <p:cNvPr id="24" name="Grafik 23" descr="index.png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179513" y="4437868"/>
            <a:ext cx="1872207" cy="582154"/>
          </a:xfrm>
          <a:prstGeom prst="rect">
            <a:avLst/>
          </a:prstGeom>
        </p:spPr>
      </p:pic>
      <p:pic>
        <p:nvPicPr>
          <p:cNvPr id="27650" name="Picture 2" descr="https://www.iau-hesd.net/sites/default/files/styles/medium/public/media_logo/western_caspian_university.jpg?itok=s4WTrk6k"/>
          <p:cNvPicPr>
            <a:picLocks noChangeAspect="1" noChangeArrowheads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51520" y="3219822"/>
            <a:ext cx="1013731" cy="105489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71600" y="52707"/>
            <a:ext cx="8064896" cy="70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/>
          <p:cNvSpPr/>
          <p:nvPr userDrawn="1"/>
        </p:nvSpPr>
        <p:spPr>
          <a:xfrm>
            <a:off x="6084168" y="0"/>
            <a:ext cx="3059832" cy="810000"/>
          </a:xfrm>
          <a:prstGeom prst="rect">
            <a:avLst/>
          </a:pr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hteck 18"/>
          <p:cNvSpPr/>
          <p:nvPr>
            <p:custDataLst>
              <p:tags r:id="rId1"/>
            </p:custDataLst>
          </p:nvPr>
        </p:nvSpPr>
        <p:spPr>
          <a:xfrm>
            <a:off x="560" y="456093"/>
            <a:ext cx="9143440" cy="354739"/>
          </a:xfrm>
          <a:prstGeom prst="rect">
            <a:avLst/>
          </a:prstGeom>
          <a:solidFill>
            <a:srgbClr val="FFFFFF">
              <a:alpha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3" name="Gruppieren 42"/>
          <p:cNvGrpSpPr/>
          <p:nvPr userDrawn="1"/>
        </p:nvGrpSpPr>
        <p:grpSpPr>
          <a:xfrm>
            <a:off x="0" y="0"/>
            <a:ext cx="6444207" cy="811112"/>
            <a:chOff x="0" y="0"/>
            <a:chExt cx="9156701" cy="1152525"/>
          </a:xfrm>
        </p:grpSpPr>
        <p:pic>
          <p:nvPicPr>
            <p:cNvPr id="28" name="Picture 8" descr="https://cdn.pixabay.com/photo/2016/04/13/19/23/binary-1327501_960_720.jpg"/>
            <p:cNvPicPr>
              <a:picLocks noChangeAspect="1" noChangeArrowheads="1"/>
            </p:cNvPicPr>
            <p:nvPr userDrawn="1"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395536" y="0"/>
              <a:ext cx="2828754" cy="1152128"/>
            </a:xfrm>
            <a:prstGeom prst="rect">
              <a:avLst/>
            </a:prstGeom>
            <a:noFill/>
          </p:spPr>
        </p:pic>
        <p:grpSp>
          <p:nvGrpSpPr>
            <p:cNvPr id="29" name="Gruppieren 28"/>
            <p:cNvGrpSpPr/>
            <p:nvPr userDrawn="1"/>
          </p:nvGrpSpPr>
          <p:grpSpPr>
            <a:xfrm>
              <a:off x="3059832" y="0"/>
              <a:ext cx="3312368" cy="1152525"/>
              <a:chOff x="3059832" y="0"/>
              <a:chExt cx="3312368" cy="1152525"/>
            </a:xfrm>
          </p:grpSpPr>
          <p:pic>
            <p:nvPicPr>
              <p:cNvPr id="30" name="Picture 4" descr="https://scontent-muc2-1.xx.fbcdn.net/v/t1.0-9/105047738_302269647821182_6536006559647297022_o.jpg?_nc_cat=105&amp;_nc_sid=730e14&amp;_nc_ohc=TQF0ZCkImkEAX_9ZuvG&amp;_nc_ht=scontent-muc2-1.xx&amp;oh=0be3c9382f21dded80330d22b968e298&amp;oe=5F833F90"/>
              <p:cNvPicPr>
                <a:picLocks noChangeAspect="1" noChangeArrowheads="1"/>
              </p:cNvPicPr>
              <p:nvPr userDrawn="1"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3059832" y="0"/>
                <a:ext cx="1728192" cy="1152128"/>
              </a:xfrm>
              <a:prstGeom prst="rect">
                <a:avLst/>
              </a:prstGeom>
              <a:noFill/>
            </p:spPr>
          </p:pic>
          <p:grpSp>
            <p:nvGrpSpPr>
              <p:cNvPr id="31" name="Gruppieren 26"/>
              <p:cNvGrpSpPr/>
              <p:nvPr userDrawn="1"/>
            </p:nvGrpSpPr>
            <p:grpSpPr>
              <a:xfrm>
                <a:off x="4427984" y="0"/>
                <a:ext cx="1944216" cy="1152525"/>
                <a:chOff x="4427984" y="0"/>
                <a:chExt cx="1944216" cy="1152525"/>
              </a:xfrm>
            </p:grpSpPr>
            <p:pic>
              <p:nvPicPr>
                <p:cNvPr id="32" name="Picture 2" descr="Banner, Header, Mathematik, Formel, Physik, Schule"/>
                <p:cNvPicPr>
                  <a:picLocks noChangeAspect="1" noChangeArrowheads="1"/>
                </p:cNvPicPr>
                <p:nvPr userDrawn="1"/>
              </p:nvPicPr>
              <p:blipFill>
                <a:blip r:embed="rId13" cstate="print"/>
                <a:srcRect/>
                <a:stretch>
                  <a:fillRect/>
                </a:stretch>
              </p:blipFill>
              <p:spPr bwMode="auto">
                <a:xfrm>
                  <a:off x="4427984" y="0"/>
                  <a:ext cx="1944216" cy="267494"/>
                </a:xfrm>
                <a:prstGeom prst="rect">
                  <a:avLst/>
                </a:prstGeom>
                <a:noFill/>
              </p:spPr>
            </p:pic>
            <p:pic>
              <p:nvPicPr>
                <p:cNvPr id="33" name="Picture 2" descr="Banner, Header, Mathematik, Formel, Physik, Schule"/>
                <p:cNvPicPr>
                  <a:picLocks noChangeAspect="1" noChangeArrowheads="1"/>
                </p:cNvPicPr>
                <p:nvPr userDrawn="1"/>
              </p:nvPicPr>
              <p:blipFill>
                <a:blip r:embed="rId14" cstate="print"/>
                <a:srcRect/>
                <a:stretch>
                  <a:fillRect/>
                </a:stretch>
              </p:blipFill>
              <p:spPr bwMode="auto">
                <a:xfrm>
                  <a:off x="4572000" y="267494"/>
                  <a:ext cx="1656184" cy="432048"/>
                </a:xfrm>
                <a:prstGeom prst="rect">
                  <a:avLst/>
                </a:prstGeom>
                <a:noFill/>
              </p:spPr>
            </p:pic>
            <p:pic>
              <p:nvPicPr>
                <p:cNvPr id="34" name="Picture 2" descr="Banner, Header, Mathematik, Formel, Physik, Schule"/>
                <p:cNvPicPr>
                  <a:picLocks noChangeAspect="1" noChangeArrowheads="1"/>
                </p:cNvPicPr>
                <p:nvPr userDrawn="1"/>
              </p:nvPicPr>
              <p:blipFill>
                <a:blip r:embed="rId15" cstate="print"/>
                <a:srcRect/>
                <a:stretch>
                  <a:fillRect/>
                </a:stretch>
              </p:blipFill>
              <p:spPr bwMode="auto">
                <a:xfrm>
                  <a:off x="4716016" y="689073"/>
                  <a:ext cx="1368152" cy="463452"/>
                </a:xfrm>
                <a:prstGeom prst="rect">
                  <a:avLst/>
                </a:prstGeom>
                <a:noFill/>
              </p:spPr>
            </p:pic>
          </p:grpSp>
        </p:grpSp>
        <p:sp>
          <p:nvSpPr>
            <p:cNvPr id="35" name="Freihandform 34"/>
            <p:cNvSpPr/>
            <p:nvPr userDrawn="1">
              <p:custDataLst>
                <p:tags r:id="rId2"/>
              </p:custDataLst>
            </p:nvPr>
          </p:nvSpPr>
          <p:spPr>
            <a:xfrm flipH="1">
              <a:off x="6024860" y="447"/>
              <a:ext cx="3131840" cy="1151235"/>
            </a:xfrm>
            <a:custGeom>
              <a:avLst/>
              <a:gdLst>
                <a:gd name="connsiteX0" fmla="*/ 0 w 1955800"/>
                <a:gd name="connsiteY0" fmla="*/ 0 h 1143000"/>
                <a:gd name="connsiteX1" fmla="*/ 1485900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  <a:gd name="connsiteX0" fmla="*/ 0 w 1955800"/>
                <a:gd name="connsiteY0" fmla="*/ 0 h 1143000"/>
                <a:gd name="connsiteX1" fmla="*/ 1641023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5800" h="1143000">
                  <a:moveTo>
                    <a:pt x="0" y="0"/>
                  </a:moveTo>
                  <a:lnTo>
                    <a:pt x="1641023" y="0"/>
                  </a:lnTo>
                  <a:lnTo>
                    <a:pt x="19558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Parallelogramm 35"/>
            <p:cNvSpPr/>
            <p:nvPr userDrawn="1">
              <p:custDataLst>
                <p:tags r:id="rId3"/>
              </p:custDataLst>
            </p:nvPr>
          </p:nvSpPr>
          <p:spPr>
            <a:xfrm>
              <a:off x="5808836" y="1"/>
              <a:ext cx="792088" cy="1152128"/>
            </a:xfrm>
            <a:prstGeom prst="parallelogram">
              <a:avLst>
                <a:gd name="adj" fmla="val 63481"/>
              </a:avLst>
            </a:prstGeom>
            <a:solidFill>
              <a:srgbClr val="F79646">
                <a:lumMod val="75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Parallelogramm 36"/>
            <p:cNvSpPr/>
            <p:nvPr userDrawn="1">
              <p:custDataLst>
                <p:tags r:id="rId4"/>
              </p:custDataLst>
            </p:nvPr>
          </p:nvSpPr>
          <p:spPr>
            <a:xfrm>
              <a:off x="2568476" y="1"/>
              <a:ext cx="1152128" cy="1152128"/>
            </a:xfrm>
            <a:prstGeom prst="parallelogram">
              <a:avLst>
                <a:gd name="adj" fmla="val 52628"/>
              </a:avLst>
            </a:prstGeom>
            <a:solidFill>
              <a:srgbClr val="1F497D">
                <a:lumMod val="60000"/>
                <a:lumOff val="40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Parallelogramm 37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4296668" y="1"/>
              <a:ext cx="648072" cy="1152128"/>
            </a:xfrm>
            <a:prstGeom prst="parallelogram">
              <a:avLst>
                <a:gd name="adj" fmla="val 68305"/>
              </a:avLst>
            </a:prstGeom>
            <a:solidFill>
              <a:srgbClr val="F79646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Parallelogramm 38"/>
            <p:cNvSpPr/>
            <p:nvPr userDrawn="1">
              <p:custDataLst>
                <p:tags r:id="rId6"/>
              </p:custDataLst>
            </p:nvPr>
          </p:nvSpPr>
          <p:spPr>
            <a:xfrm>
              <a:off x="2568476" y="1"/>
              <a:ext cx="1008112" cy="1152128"/>
            </a:xfrm>
            <a:prstGeom prst="parallelogram">
              <a:avLst>
                <a:gd name="adj" fmla="val 88390"/>
              </a:avLst>
            </a:prstGeom>
            <a:solidFill>
              <a:srgbClr val="4F81BD">
                <a:lumMod val="20000"/>
                <a:lumOff val="80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Freihandform 39"/>
            <p:cNvSpPr/>
            <p:nvPr userDrawn="1">
              <p:custDataLst>
                <p:tags r:id="rId7"/>
              </p:custDataLst>
            </p:nvPr>
          </p:nvSpPr>
          <p:spPr>
            <a:xfrm>
              <a:off x="0" y="0"/>
              <a:ext cx="1955800" cy="1151235"/>
            </a:xfrm>
            <a:custGeom>
              <a:avLst/>
              <a:gdLst>
                <a:gd name="connsiteX0" fmla="*/ 0 w 1955800"/>
                <a:gd name="connsiteY0" fmla="*/ 0 h 1143000"/>
                <a:gd name="connsiteX1" fmla="*/ 1485900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5800" h="1143000">
                  <a:moveTo>
                    <a:pt x="0" y="0"/>
                  </a:moveTo>
                  <a:lnTo>
                    <a:pt x="1485900" y="0"/>
                  </a:lnTo>
                  <a:lnTo>
                    <a:pt x="19558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Freihandform 40"/>
            <p:cNvSpPr/>
            <p:nvPr userDrawn="1">
              <p:custDataLst>
                <p:tags r:id="rId8"/>
              </p:custDataLst>
            </p:nvPr>
          </p:nvSpPr>
          <p:spPr>
            <a:xfrm>
              <a:off x="2580060" y="1"/>
              <a:ext cx="924520" cy="1151235"/>
            </a:xfrm>
            <a:custGeom>
              <a:avLst/>
              <a:gdLst>
                <a:gd name="connsiteX0" fmla="*/ 0 w 1955800"/>
                <a:gd name="connsiteY0" fmla="*/ 0 h 1143000"/>
                <a:gd name="connsiteX1" fmla="*/ 1485900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  <a:gd name="connsiteX0" fmla="*/ 0 w 2880320"/>
                <a:gd name="connsiteY0" fmla="*/ 0 h 1143000"/>
                <a:gd name="connsiteX1" fmla="*/ 2880320 w 2880320"/>
                <a:gd name="connsiteY1" fmla="*/ 0 h 1143000"/>
                <a:gd name="connsiteX2" fmla="*/ 1955800 w 2880320"/>
                <a:gd name="connsiteY2" fmla="*/ 1143000 h 1143000"/>
                <a:gd name="connsiteX3" fmla="*/ 0 w 2880320"/>
                <a:gd name="connsiteY3" fmla="*/ 1143000 h 1143000"/>
                <a:gd name="connsiteX4" fmla="*/ 0 w 2880320"/>
                <a:gd name="connsiteY4" fmla="*/ 0 h 1143000"/>
                <a:gd name="connsiteX0" fmla="*/ 2160240 w 2880320"/>
                <a:gd name="connsiteY0" fmla="*/ 0 h 1143000"/>
                <a:gd name="connsiteX1" fmla="*/ 2880320 w 2880320"/>
                <a:gd name="connsiteY1" fmla="*/ 0 h 1143000"/>
                <a:gd name="connsiteX2" fmla="*/ 1955800 w 2880320"/>
                <a:gd name="connsiteY2" fmla="*/ 1143000 h 1143000"/>
                <a:gd name="connsiteX3" fmla="*/ 0 w 2880320"/>
                <a:gd name="connsiteY3" fmla="*/ 1143000 h 1143000"/>
                <a:gd name="connsiteX4" fmla="*/ 2160240 w 2880320"/>
                <a:gd name="connsiteY4" fmla="*/ 0 h 1143000"/>
                <a:gd name="connsiteX0" fmla="*/ 204440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132432 w 924520"/>
                <a:gd name="connsiteY3" fmla="*/ 643436 h 1143000"/>
                <a:gd name="connsiteX4" fmla="*/ 204440 w 924520"/>
                <a:gd name="connsiteY4" fmla="*/ 0 h 1143000"/>
                <a:gd name="connsiteX0" fmla="*/ 204440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348456 w 924520"/>
                <a:gd name="connsiteY3" fmla="*/ 571943 h 1143000"/>
                <a:gd name="connsiteX4" fmla="*/ 204440 w 924520"/>
                <a:gd name="connsiteY4" fmla="*/ 0 h 1143000"/>
                <a:gd name="connsiteX0" fmla="*/ 348456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348456 w 924520"/>
                <a:gd name="connsiteY3" fmla="*/ 571943 h 1143000"/>
                <a:gd name="connsiteX4" fmla="*/ 348456 w 924520"/>
                <a:gd name="connsiteY4" fmla="*/ 0 h 1143000"/>
                <a:gd name="connsiteX0" fmla="*/ 348456 w 924520"/>
                <a:gd name="connsiteY0" fmla="*/ 571943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348456 w 924520"/>
                <a:gd name="connsiteY3" fmla="*/ 571943 h 1143000"/>
                <a:gd name="connsiteX0" fmla="*/ 420464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420464 w 924520"/>
                <a:gd name="connsiteY3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520" h="1143000">
                  <a:moveTo>
                    <a:pt x="420464" y="0"/>
                  </a:moveTo>
                  <a:lnTo>
                    <a:pt x="924520" y="0"/>
                  </a:lnTo>
                  <a:lnTo>
                    <a:pt x="0" y="1143000"/>
                  </a:lnTo>
                  <a:lnTo>
                    <a:pt x="420464" y="0"/>
                  </a:lnTo>
                  <a:close/>
                </a:path>
              </a:pathLst>
            </a:custGeom>
            <a:solidFill>
              <a:srgbClr val="F79646">
                <a:lumMod val="75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Rechteck 41"/>
            <p:cNvSpPr/>
            <p:nvPr userDrawn="1">
              <p:custDataLst>
                <p:tags r:id="rId9"/>
              </p:custDataLst>
            </p:nvPr>
          </p:nvSpPr>
          <p:spPr>
            <a:xfrm>
              <a:off x="795" y="648072"/>
              <a:ext cx="9155906" cy="504056"/>
            </a:xfrm>
            <a:prstGeom prst="rect">
              <a:avLst/>
            </a:prstGeom>
            <a:solidFill>
              <a:srgbClr val="FFFFFF">
                <a:alpha val="40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1" name="Line 12"/>
          <p:cNvSpPr>
            <a:spLocks noChangeShapeType="1"/>
          </p:cNvSpPr>
          <p:nvPr userDrawn="1"/>
        </p:nvSpPr>
        <p:spPr bwMode="auto">
          <a:xfrm>
            <a:off x="0" y="824640"/>
            <a:ext cx="9144000" cy="0"/>
          </a:xfrm>
          <a:prstGeom prst="line">
            <a:avLst/>
          </a:prstGeom>
          <a:noFill/>
          <a:ln w="38100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https://cdn.pixabay.com/photo/2016/04/13/19/23/binary-1327501_960_720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95536" y="0"/>
            <a:ext cx="2828754" cy="1152128"/>
          </a:xfrm>
          <a:prstGeom prst="rect">
            <a:avLst/>
          </a:prstGeom>
          <a:noFill/>
        </p:spPr>
      </p:pic>
      <p:grpSp>
        <p:nvGrpSpPr>
          <p:cNvPr id="26" name="Gruppieren 25"/>
          <p:cNvGrpSpPr/>
          <p:nvPr userDrawn="1"/>
        </p:nvGrpSpPr>
        <p:grpSpPr>
          <a:xfrm>
            <a:off x="3059832" y="0"/>
            <a:ext cx="3312368" cy="1152525"/>
            <a:chOff x="3059832" y="0"/>
            <a:chExt cx="3312368" cy="1152525"/>
          </a:xfrm>
        </p:grpSpPr>
        <p:pic>
          <p:nvPicPr>
            <p:cNvPr id="27" name="Picture 4" descr="https://scontent-muc2-1.xx.fbcdn.net/v/t1.0-9/105047738_302269647821182_6536006559647297022_o.jpg?_nc_cat=105&amp;_nc_sid=730e14&amp;_nc_ohc=TQF0ZCkImkEAX_9ZuvG&amp;_nc_ht=scontent-muc2-1.xx&amp;oh=0be3c9382f21dded80330d22b968e298&amp;oe=5F833F90"/>
            <p:cNvPicPr>
              <a:picLocks noChangeAspect="1" noChangeArrowheads="1"/>
            </p:cNvPicPr>
            <p:nvPr userDrawn="1"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3059832" y="0"/>
              <a:ext cx="1728192" cy="1152128"/>
            </a:xfrm>
            <a:prstGeom prst="rect">
              <a:avLst/>
            </a:prstGeom>
            <a:noFill/>
          </p:spPr>
        </p:pic>
        <p:grpSp>
          <p:nvGrpSpPr>
            <p:cNvPr id="28" name="Gruppieren 26"/>
            <p:cNvGrpSpPr/>
            <p:nvPr userDrawn="1"/>
          </p:nvGrpSpPr>
          <p:grpSpPr>
            <a:xfrm>
              <a:off x="4427984" y="0"/>
              <a:ext cx="1944216" cy="1152525"/>
              <a:chOff x="4427984" y="0"/>
              <a:chExt cx="1944216" cy="1152525"/>
            </a:xfrm>
          </p:grpSpPr>
          <p:pic>
            <p:nvPicPr>
              <p:cNvPr id="29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4427984" y="0"/>
                <a:ext cx="1944216" cy="267494"/>
              </a:xfrm>
              <a:prstGeom prst="rect">
                <a:avLst/>
              </a:prstGeom>
              <a:noFill/>
            </p:spPr>
          </p:pic>
          <p:pic>
            <p:nvPicPr>
              <p:cNvPr id="30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4572000" y="267494"/>
                <a:ext cx="1656184" cy="432048"/>
              </a:xfrm>
              <a:prstGeom prst="rect">
                <a:avLst/>
              </a:prstGeom>
              <a:noFill/>
            </p:spPr>
          </p:pic>
          <p:pic>
            <p:nvPicPr>
              <p:cNvPr id="31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6" cstate="print"/>
              <a:srcRect/>
              <a:stretch>
                <a:fillRect/>
              </a:stretch>
            </p:blipFill>
            <p:spPr bwMode="auto">
              <a:xfrm>
                <a:off x="4716016" y="689073"/>
                <a:ext cx="1368152" cy="463452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4" name="Rechteck 23"/>
          <p:cNvSpPr/>
          <p:nvPr userDrawn="1"/>
        </p:nvSpPr>
        <p:spPr>
          <a:xfrm>
            <a:off x="179512" y="1275606"/>
            <a:ext cx="3240360" cy="37444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feld 10"/>
          <p:cNvSpPr txBox="1"/>
          <p:nvPr>
            <p:custDataLst>
              <p:tags r:id="rId1"/>
            </p:custDataLst>
          </p:nvPr>
        </p:nvSpPr>
        <p:spPr>
          <a:xfrm>
            <a:off x="7543657" y="72008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Florian Rupp</a:t>
            </a:r>
          </a:p>
        </p:txBody>
      </p:sp>
      <p:sp>
        <p:nvSpPr>
          <p:cNvPr id="12" name="Freihandform 11"/>
          <p:cNvSpPr/>
          <p:nvPr>
            <p:custDataLst>
              <p:tags r:id="rId2"/>
            </p:custDataLst>
          </p:nvPr>
        </p:nvSpPr>
        <p:spPr>
          <a:xfrm flipH="1">
            <a:off x="6024860" y="447"/>
            <a:ext cx="313184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1955800"/>
              <a:gd name="connsiteY0" fmla="*/ 0 h 1143000"/>
              <a:gd name="connsiteX1" fmla="*/ 1641023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641023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Parallelogramm 12"/>
          <p:cNvSpPr/>
          <p:nvPr>
            <p:custDataLst>
              <p:tags r:id="rId3"/>
            </p:custDataLst>
          </p:nvPr>
        </p:nvSpPr>
        <p:spPr>
          <a:xfrm>
            <a:off x="5808836" y="1"/>
            <a:ext cx="792088" cy="1152128"/>
          </a:xfrm>
          <a:prstGeom prst="parallelogram">
            <a:avLst>
              <a:gd name="adj" fmla="val 63481"/>
            </a:avLst>
          </a:pr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Parallelogramm 13"/>
          <p:cNvSpPr/>
          <p:nvPr>
            <p:custDataLst>
              <p:tags r:id="rId4"/>
            </p:custDataLst>
          </p:nvPr>
        </p:nvSpPr>
        <p:spPr>
          <a:xfrm>
            <a:off x="2568476" y="1"/>
            <a:ext cx="1152128" cy="1152128"/>
          </a:xfrm>
          <a:prstGeom prst="parallelogram">
            <a:avLst>
              <a:gd name="adj" fmla="val 52628"/>
            </a:avLst>
          </a:prstGeom>
          <a:solidFill>
            <a:srgbClr val="1F497D">
              <a:lumMod val="60000"/>
              <a:lumOff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Parallelogramm 14"/>
          <p:cNvSpPr/>
          <p:nvPr>
            <p:custDataLst>
              <p:tags r:id="rId5"/>
            </p:custDataLst>
          </p:nvPr>
        </p:nvSpPr>
        <p:spPr>
          <a:xfrm flipH="1">
            <a:off x="4296668" y="1"/>
            <a:ext cx="648072" cy="1152128"/>
          </a:xfrm>
          <a:prstGeom prst="parallelogram">
            <a:avLst>
              <a:gd name="adj" fmla="val 68305"/>
            </a:avLst>
          </a:prstGeom>
          <a:solidFill>
            <a:srgbClr val="F79646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Parallelogramm 15"/>
          <p:cNvSpPr/>
          <p:nvPr>
            <p:custDataLst>
              <p:tags r:id="rId6"/>
            </p:custDataLst>
          </p:nvPr>
        </p:nvSpPr>
        <p:spPr>
          <a:xfrm>
            <a:off x="2568476" y="1"/>
            <a:ext cx="1008112" cy="1152128"/>
          </a:xfrm>
          <a:prstGeom prst="parallelogram">
            <a:avLst>
              <a:gd name="adj" fmla="val 88390"/>
            </a:avLst>
          </a:prstGeom>
          <a:solidFill>
            <a:srgbClr val="4F81BD">
              <a:lumMod val="20000"/>
              <a:lumOff val="8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reihandform 16"/>
          <p:cNvSpPr/>
          <p:nvPr>
            <p:custDataLst>
              <p:tags r:id="rId7"/>
            </p:custDataLst>
          </p:nvPr>
        </p:nvSpPr>
        <p:spPr>
          <a:xfrm>
            <a:off x="0" y="0"/>
            <a:ext cx="195580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485900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reihandform 17"/>
          <p:cNvSpPr/>
          <p:nvPr>
            <p:custDataLst>
              <p:tags r:id="rId8"/>
            </p:custDataLst>
          </p:nvPr>
        </p:nvSpPr>
        <p:spPr>
          <a:xfrm>
            <a:off x="2580060" y="1"/>
            <a:ext cx="92452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0 w 2880320"/>
              <a:gd name="connsiteY4" fmla="*/ 0 h 1143000"/>
              <a:gd name="connsiteX0" fmla="*/ 216024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2160240 w 28803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132432 w 924520"/>
              <a:gd name="connsiteY3" fmla="*/ 643436 h 1143000"/>
              <a:gd name="connsiteX4" fmla="*/ 204440 w 9245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204440 w 924520"/>
              <a:gd name="connsiteY4" fmla="*/ 0 h 1143000"/>
              <a:gd name="connsiteX0" fmla="*/ 348456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348456 w 924520"/>
              <a:gd name="connsiteY4" fmla="*/ 0 h 1143000"/>
              <a:gd name="connsiteX0" fmla="*/ 348456 w 924520"/>
              <a:gd name="connsiteY0" fmla="*/ 571943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0" fmla="*/ 420464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420464 w 924520"/>
              <a:gd name="connsiteY3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520" h="1143000">
                <a:moveTo>
                  <a:pt x="420464" y="0"/>
                </a:moveTo>
                <a:lnTo>
                  <a:pt x="924520" y="0"/>
                </a:lnTo>
                <a:lnTo>
                  <a:pt x="0" y="1143000"/>
                </a:lnTo>
                <a:lnTo>
                  <a:pt x="420464" y="0"/>
                </a:lnTo>
                <a:close/>
              </a:path>
            </a:pathLst>
          </a:cu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hteck 18"/>
          <p:cNvSpPr/>
          <p:nvPr>
            <p:custDataLst>
              <p:tags r:id="rId9"/>
            </p:custDataLst>
          </p:nvPr>
        </p:nvSpPr>
        <p:spPr>
          <a:xfrm>
            <a:off x="795" y="648072"/>
            <a:ext cx="9155906" cy="504056"/>
          </a:xfrm>
          <a:prstGeom prst="rect">
            <a:avLst/>
          </a:prstGeom>
          <a:solidFill>
            <a:srgbClr val="FFFFFF">
              <a:alpha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itel 1"/>
          <p:cNvSpPr>
            <a:spLocks noGrp="1"/>
          </p:cNvSpPr>
          <p:nvPr userDrawn="1">
            <p:ph type="ctrTitle"/>
          </p:nvPr>
        </p:nvSpPr>
        <p:spPr>
          <a:xfrm>
            <a:off x="3851920" y="1275606"/>
            <a:ext cx="5112568" cy="86409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23" name="Rectangle 5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4752020" y="4299942"/>
            <a:ext cx="3240360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>
              <a:spcBef>
                <a:spcPct val="20000"/>
              </a:spcBef>
            </a:pPr>
            <a:endParaRPr lang="en-US" sz="1400" dirty="0"/>
          </a:p>
        </p:txBody>
      </p:sp>
      <p:sp>
        <p:nvSpPr>
          <p:cNvPr id="25" name="Textfeld 24"/>
          <p:cNvSpPr txBox="1"/>
          <p:nvPr userDrawn="1"/>
        </p:nvSpPr>
        <p:spPr>
          <a:xfrm>
            <a:off x="3851920" y="2355726"/>
            <a:ext cx="50405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Questions &amp; Remarks?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Thank You Very Much</a:t>
            </a:r>
          </a:p>
        </p:txBody>
      </p:sp>
      <p:pic>
        <p:nvPicPr>
          <p:cNvPr id="22" name="Grafik 21" descr="index.png"/>
          <p:cNvPicPr>
            <a:picLocks noChangeAspect="1"/>
          </p:cNvPicPr>
          <p:nvPr userDrawn="1"/>
        </p:nvPicPr>
        <p:blipFill>
          <a:blip r:embed="rId17" cstate="print"/>
          <a:stretch>
            <a:fillRect/>
          </a:stretch>
        </p:blipFill>
        <p:spPr>
          <a:xfrm>
            <a:off x="3798963" y="4578133"/>
            <a:ext cx="1421109" cy="441887"/>
          </a:xfrm>
          <a:prstGeom prst="rect">
            <a:avLst/>
          </a:prstGeom>
        </p:spPr>
      </p:pic>
      <p:pic>
        <p:nvPicPr>
          <p:cNvPr id="32" name="Picture 2" descr="https://www.iau-hesd.net/sites/default/files/styles/medium/public/media_logo/western_caspian_university.jpg?itok=s4WTrk6k"/>
          <p:cNvPicPr>
            <a:picLocks noChangeAspect="1" noChangeArrowheads="1"/>
          </p:cNvPicPr>
          <p:nvPr userDrawn="1"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3851920" y="3718029"/>
            <a:ext cx="720080" cy="749323"/>
          </a:xfrm>
          <a:prstGeom prst="rect">
            <a:avLst/>
          </a:prstGeom>
          <a:noFill/>
        </p:spPr>
      </p:pic>
      <p:pic>
        <p:nvPicPr>
          <p:cNvPr id="33" name="Picture 2" descr="https://avatars.mds.yandex.net/get-altay/11886651/2a0000018defa513b9203394e9330d10fd54/XXL_height"/>
          <p:cNvPicPr>
            <a:picLocks noChangeAspect="1" noChangeArrowheads="1"/>
          </p:cNvPicPr>
          <p:nvPr userDrawn="1"/>
        </p:nvPicPr>
        <p:blipFill>
          <a:blip r:embed="rId19" cstate="print"/>
          <a:srcRect l="11628" r="27907" b="6378"/>
          <a:stretch>
            <a:fillRect/>
          </a:stretch>
        </p:blipFill>
        <p:spPr bwMode="auto">
          <a:xfrm>
            <a:off x="251520" y="1347613"/>
            <a:ext cx="3096344" cy="3600401"/>
          </a:xfrm>
          <a:prstGeom prst="rect">
            <a:avLst/>
          </a:prstGeom>
          <a:noFill/>
          <a:effectLst>
            <a:softEdge rad="31750"/>
          </a:effec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2"/>
          <p:cNvSpPr>
            <a:spLocks noChangeShapeType="1"/>
          </p:cNvSpPr>
          <p:nvPr userDrawn="1"/>
        </p:nvSpPr>
        <p:spPr bwMode="auto">
          <a:xfrm>
            <a:off x="0" y="824640"/>
            <a:ext cx="9144000" cy="0"/>
          </a:xfrm>
          <a:prstGeom prst="line">
            <a:avLst/>
          </a:prstGeom>
          <a:noFill/>
          <a:ln w="38100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Rectangle 7"/>
          <p:cNvSpPr>
            <a:spLocks noChangeArrowheads="1"/>
          </p:cNvSpPr>
          <p:nvPr userDrawn="1"/>
        </p:nvSpPr>
        <p:spPr bwMode="invGray">
          <a:xfrm>
            <a:off x="0" y="1"/>
            <a:ext cx="9144000" cy="815024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coolSlant"/>
          </a:sp3d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9" name="Abgerundetes Rechteck 8"/>
          <p:cNvSpPr/>
          <p:nvPr userDrawn="1"/>
        </p:nvSpPr>
        <p:spPr>
          <a:xfrm>
            <a:off x="118693" y="105507"/>
            <a:ext cx="667317" cy="598738"/>
          </a:xfrm>
          <a:prstGeom prst="roundRect">
            <a:avLst>
              <a:gd name="adj" fmla="val 91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71600" y="52707"/>
            <a:ext cx="8064896" cy="70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pic>
        <p:nvPicPr>
          <p:cNvPr id="28674" name="Picture 2" descr="https://cdn-static.bizzabo.com/bizzabo.users.files/zG7zRd0nS5WvqOWKrgQP_Western%20Caspian%20University%20black.png"/>
          <p:cNvPicPr>
            <a:picLocks noChangeAspect="1" noChangeArrowheads="1"/>
          </p:cNvPicPr>
          <p:nvPr userDrawn="1"/>
        </p:nvPicPr>
        <p:blipFill>
          <a:blip r:embed="rId6" cstate="print"/>
          <a:srcRect r="81904"/>
          <a:stretch>
            <a:fillRect/>
          </a:stretch>
        </p:blipFill>
        <p:spPr bwMode="auto">
          <a:xfrm>
            <a:off x="200323" y="176258"/>
            <a:ext cx="504056" cy="457237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</p:sldLayoutIdLst>
  <p:txStyles>
    <p:titleStyle>
      <a:lvl1pPr algn="l" defTabSz="914400" rtl="0" eaLnBrk="1" latinLnBrk="0" hangingPunct="1">
        <a:spcBef>
          <a:spcPct val="0"/>
        </a:spcBef>
        <a:buNone/>
        <a:defRPr sz="2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Computational Biomathematics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  <a:p>
            <a:r>
              <a:rPr lang="en-US" noProof="0" dirty="0"/>
              <a:t>Coding Lab 3 (90 min)</a:t>
            </a:r>
          </a:p>
          <a:p>
            <a:endParaRPr lang="en-US" sz="500" noProof="0" dirty="0"/>
          </a:p>
          <a:p>
            <a:r>
              <a:rPr lang="en-US" noProof="0" dirty="0"/>
              <a:t>Lesson 14</a:t>
            </a:r>
          </a:p>
        </p:txBody>
      </p:sp>
      <p:sp>
        <p:nvSpPr>
          <p:cNvPr id="4" name="Rechteck 3"/>
          <p:cNvSpPr/>
          <p:nvPr/>
        </p:nvSpPr>
        <p:spPr>
          <a:xfrm>
            <a:off x="7092280" y="3291830"/>
            <a:ext cx="1800200" cy="17171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7800" lvl="1" indent="-17780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The individual group tasks</a:t>
            </a:r>
          </a:p>
        </p:txBody>
      </p:sp>
      <p:sp>
        <p:nvSpPr>
          <p:cNvPr id="5" name="Rechteck 4"/>
          <p:cNvSpPr/>
          <p:nvPr/>
        </p:nvSpPr>
        <p:spPr>
          <a:xfrm>
            <a:off x="7092280" y="2931790"/>
            <a:ext cx="1800200" cy="288032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Lecture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B0DBAC-0F4A-0642-2BE3-6DF8B21C0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Overall Design Principle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BA36BA8-5765-44B6-83AB-8296C2366949}"/>
              </a:ext>
            </a:extLst>
          </p:cNvPr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All groups use the same base model, a simple 2-species reaction–diffusion system. Hence, the task is not to derive the model, instead it is about 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exploring the parameter space,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interpretation of the results, and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prompt design.</a:t>
            </a:r>
          </a:p>
          <a:p>
            <a:pPr>
              <a:spcAft>
                <a:spcPts val="600"/>
              </a:spcAft>
            </a:pPr>
            <a:endParaRPr lang="en-US" sz="1400" noProof="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Common Core Model (for all groups):</a:t>
            </a:r>
          </a:p>
          <a:p>
            <a:pPr>
              <a:spcAft>
                <a:spcPts val="600"/>
              </a:spcAft>
            </a:pPr>
            <a:endParaRPr lang="en-US" sz="1400" noProof="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endParaRPr lang="en-US" sz="1400" noProof="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endParaRPr lang="en-US" sz="1400" noProof="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1EF806D-BC57-604B-8E9B-7EE11EC977B8}"/>
              </a:ext>
            </a:extLst>
          </p:cNvPr>
          <p:cNvSpPr txBox="1"/>
          <p:nvPr/>
        </p:nvSpPr>
        <p:spPr>
          <a:xfrm>
            <a:off x="1907704" y="3147814"/>
            <a:ext cx="3724096" cy="5539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# u, v are 2D arrays</a:t>
            </a:r>
          </a:p>
          <a:p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u_next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= u + (Du * </a:t>
            </a:r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laplacian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(u) + f(</a:t>
            </a:r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)) * dt</a:t>
            </a:r>
          </a:p>
          <a:p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v_next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= v + (</a:t>
            </a:r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Dv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laplacian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(v) + g(</a:t>
            </a:r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)) * dt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9F3A546-CF2E-50DE-0E03-D6C5E3B187FC}"/>
              </a:ext>
            </a:extLst>
          </p:cNvPr>
          <p:cNvSpPr txBox="1"/>
          <p:nvPr/>
        </p:nvSpPr>
        <p:spPr>
          <a:xfrm>
            <a:off x="5814324" y="3147814"/>
            <a:ext cx="2877711" cy="13234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laplacian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(Z):</a:t>
            </a:r>
          </a:p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(</a:t>
            </a:r>
          </a:p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-4*Z</a:t>
            </a:r>
          </a:p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+ </a:t>
            </a:r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np.roll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(Z, (1,0), (0,1))</a:t>
            </a:r>
          </a:p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+ </a:t>
            </a:r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np.roll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(Z, (-1,0), (0,1))</a:t>
            </a:r>
          </a:p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+ </a:t>
            </a:r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np.roll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(Z, (0,1), (0,1))</a:t>
            </a:r>
          </a:p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+ </a:t>
            </a:r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np.roll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(Z, (0,-1), (0,1))</a:t>
            </a:r>
          </a:p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20B2F6C-11AB-77E3-643C-4DF7147A59EA}"/>
              </a:ext>
            </a:extLst>
          </p:cNvPr>
          <p:cNvSpPr/>
          <p:nvPr/>
        </p:nvSpPr>
        <p:spPr>
          <a:xfrm>
            <a:off x="251520" y="1131590"/>
            <a:ext cx="1296144" cy="7096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Diffusion vs. Reaction Balance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87CEF0C-DBB1-2BC9-B0F4-6BB4DC65DB3C}"/>
              </a:ext>
            </a:extLst>
          </p:cNvPr>
          <p:cNvSpPr/>
          <p:nvPr/>
        </p:nvSpPr>
        <p:spPr>
          <a:xfrm>
            <a:off x="251520" y="1923678"/>
            <a:ext cx="1296144" cy="7096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From Noise to Pattern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5249357-DC34-30FB-F1CF-25108E3A3A1B}"/>
              </a:ext>
            </a:extLst>
          </p:cNvPr>
          <p:cNvSpPr/>
          <p:nvPr/>
        </p:nvSpPr>
        <p:spPr>
          <a:xfrm>
            <a:off x="251520" y="2715766"/>
            <a:ext cx="1296144" cy="7096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Parameter Sensitivity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F73D589-9390-9085-C143-24BB99B1F76D}"/>
              </a:ext>
            </a:extLst>
          </p:cNvPr>
          <p:cNvSpPr/>
          <p:nvPr/>
        </p:nvSpPr>
        <p:spPr>
          <a:xfrm>
            <a:off x="251520" y="3507854"/>
            <a:ext cx="1296144" cy="7096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Biological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2453529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58A931-2E0D-E103-65A4-782DD4675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For the lab, we are using the Gray-Scott model for reaction-diffusion system</a:t>
            </a:r>
            <a:br>
              <a:rPr lang="en-US" noProof="0" dirty="0"/>
            </a:br>
            <a:r>
              <a:rPr lang="en-US" noProof="0" dirty="0"/>
              <a:t>(1/ 2)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5989A11-D163-964C-5AC8-5E402862273D}"/>
              </a:ext>
            </a:extLst>
          </p:cNvPr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6DF6A6F-B9FB-D5C9-8440-C1229D94DA7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90" y="1203552"/>
            <a:ext cx="7078732" cy="3323453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413066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D7A57D-D205-F384-A407-5BA433F3A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For the lab, we are using the Gray-Scott model for reaction-diffusion system</a:t>
            </a:r>
            <a:br>
              <a:rPr lang="en-US" noProof="0" dirty="0"/>
            </a:br>
            <a:r>
              <a:rPr lang="en-US" noProof="0" dirty="0"/>
              <a:t>(2/ 2)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014E273-CA83-ABCA-C6A8-4F4311A7E912}"/>
              </a:ext>
            </a:extLst>
          </p:cNvPr>
          <p:cNvSpPr txBox="1"/>
          <p:nvPr/>
        </p:nvSpPr>
        <p:spPr>
          <a:xfrm>
            <a:off x="1907704" y="1491630"/>
            <a:ext cx="4570482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u = u + (Du * </a:t>
            </a:r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laplacian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(u) - u * v**2 + F * (1 - u)) * dt</a:t>
            </a:r>
          </a:p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v = v + (</a:t>
            </a:r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Dv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laplacian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(v) + u * v**2 - (F + k) * v) * dt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994B68D-75D7-DECF-F105-C29D8FD921DF}"/>
              </a:ext>
            </a:extLst>
          </p:cNvPr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Discrete update (what is to be implemented):</a:t>
            </a:r>
          </a:p>
          <a:p>
            <a:pPr algn="just">
              <a:spcAft>
                <a:spcPts val="600"/>
              </a:spcAft>
            </a:pPr>
            <a:endParaRPr lang="en-US" sz="1400" noProof="0" dirty="0">
              <a:solidFill>
                <a:schemeClr val="tx1"/>
              </a:solidFill>
            </a:endParaRPr>
          </a:p>
          <a:p>
            <a:pPr algn="just">
              <a:spcAft>
                <a:spcPts val="600"/>
              </a:spcAft>
            </a:pPr>
            <a:endParaRPr lang="en-US" sz="1400" noProof="0" dirty="0">
              <a:solidFill>
                <a:schemeClr val="tx1"/>
              </a:solidFill>
            </a:endParaRPr>
          </a:p>
          <a:p>
            <a:pPr algn="just">
              <a:spcAft>
                <a:spcPts val="600"/>
              </a:spcAft>
            </a:pPr>
            <a:endParaRPr lang="en-US" sz="1400" noProof="0" dirty="0">
              <a:solidFill>
                <a:schemeClr val="tx1"/>
              </a:solidFill>
            </a:endParaRPr>
          </a:p>
          <a:p>
            <a:pPr algn="just"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Good default parameters:		Initial conditions (important!):</a:t>
            </a:r>
          </a:p>
          <a:p>
            <a:pPr algn="just">
              <a:spcAft>
                <a:spcPts val="600"/>
              </a:spcAft>
            </a:pPr>
            <a:endParaRPr lang="en-US" sz="1400" noProof="0" dirty="0">
              <a:solidFill>
                <a:schemeClr val="tx1"/>
              </a:solidFill>
            </a:endParaRPr>
          </a:p>
          <a:p>
            <a:pPr algn="just">
              <a:spcAft>
                <a:spcPts val="600"/>
              </a:spcAft>
            </a:pPr>
            <a:endParaRPr lang="en-US" sz="1400" noProof="0" dirty="0">
              <a:solidFill>
                <a:schemeClr val="tx1"/>
              </a:solidFill>
            </a:endParaRPr>
          </a:p>
          <a:p>
            <a:pPr algn="just">
              <a:spcAft>
                <a:spcPts val="600"/>
              </a:spcAft>
            </a:pPr>
            <a:endParaRPr lang="en-US" sz="1400" noProof="0" dirty="0">
              <a:solidFill>
                <a:schemeClr val="tx1"/>
              </a:solidFill>
            </a:endParaRPr>
          </a:p>
          <a:p>
            <a:pPr algn="just">
              <a:spcAft>
                <a:spcPts val="600"/>
              </a:spcAft>
            </a:pPr>
            <a:endParaRPr lang="en-US" sz="1400" noProof="0" dirty="0">
              <a:solidFill>
                <a:schemeClr val="tx1"/>
              </a:solidFill>
            </a:endParaRPr>
          </a:p>
          <a:p>
            <a:pPr algn="just">
              <a:spcAft>
                <a:spcPts val="600"/>
              </a:spcAft>
            </a:pPr>
            <a:endParaRPr lang="en-US" sz="1400" noProof="0" dirty="0">
              <a:solidFill>
                <a:schemeClr val="tx1"/>
              </a:solidFill>
            </a:endParaRPr>
          </a:p>
          <a:p>
            <a:pPr algn="just"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What you will see:</a:t>
            </a:r>
          </a:p>
          <a:p>
            <a:pPr algn="just"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spots, stripes, and labyrinth patterns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7CD7BDE-D987-ED8A-F06F-E7299374F11D}"/>
              </a:ext>
            </a:extLst>
          </p:cNvPr>
          <p:cNvSpPr txBox="1"/>
          <p:nvPr/>
        </p:nvSpPr>
        <p:spPr>
          <a:xfrm>
            <a:off x="1907704" y="2643758"/>
            <a:ext cx="954107" cy="8617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Du = 0.16</a:t>
            </a:r>
          </a:p>
          <a:p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Dv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= 0.08</a:t>
            </a:r>
          </a:p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  = 0.035</a:t>
            </a:r>
          </a:p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k  = 0.065</a:t>
            </a:r>
          </a:p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dt = 1.0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3FF92E6-7B30-4B06-A268-9995FF6D9D27}"/>
              </a:ext>
            </a:extLst>
          </p:cNvPr>
          <p:cNvSpPr txBox="1"/>
          <p:nvPr/>
        </p:nvSpPr>
        <p:spPr>
          <a:xfrm>
            <a:off x="5652120" y="2643758"/>
            <a:ext cx="2416046" cy="11695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N = 100</a:t>
            </a:r>
          </a:p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u = </a:t>
            </a:r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np.ones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((N, N))</a:t>
            </a:r>
          </a:p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v = </a:t>
            </a:r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np.zeros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((N, N))</a:t>
            </a:r>
          </a:p>
          <a:p>
            <a:endParaRPr lang="en-US" sz="1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# small disturbance in center</a:t>
            </a:r>
          </a:p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u[40:60, 40:60] = 0.5</a:t>
            </a:r>
          </a:p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v[40:60, 40:60] = 0.25</a:t>
            </a:r>
          </a:p>
        </p:txBody>
      </p:sp>
    </p:spTree>
    <p:extLst>
      <p:ext uri="{BB962C8B-B14F-4D97-AF65-F5344CB8AC3E}">
        <p14:creationId xmlns:p14="http://schemas.microsoft.com/office/powerpoint/2010/main" val="3905036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80E079-C62A-591F-19DE-0A273B0AF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Another model is the mathematically more transparent activator-inhibitor system (toy model)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7438744-3D05-12DB-D593-0EC1B46134D7}"/>
              </a:ext>
            </a:extLst>
          </p:cNvPr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61FDF44-12A0-EED3-3274-FD9C6145CB8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91" y="1203551"/>
            <a:ext cx="7065380" cy="3256804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1272638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90A4C-AEFC-55DE-0AF3-02043F635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8CE00983-AF02-4788-0EF0-07DAF13A5854}"/>
              </a:ext>
            </a:extLst>
          </p:cNvPr>
          <p:cNvSpPr/>
          <p:nvPr/>
        </p:nvSpPr>
        <p:spPr>
          <a:xfrm>
            <a:off x="971600" y="1584740"/>
            <a:ext cx="7200800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262DEAD-8F66-5914-A3BD-BAF4AE89A30D}"/>
              </a:ext>
            </a:extLst>
          </p:cNvPr>
          <p:cNvSpPr txBox="1"/>
          <p:nvPr/>
        </p:nvSpPr>
        <p:spPr>
          <a:xfrm>
            <a:off x="971600" y="1131590"/>
            <a:ext cx="3140027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Topics</a:t>
            </a:r>
          </a:p>
          <a:p>
            <a:endParaRPr lang="en-US" sz="1000" noProof="0" dirty="0"/>
          </a:p>
          <a:p>
            <a:pPr lvl="1"/>
            <a:r>
              <a:rPr lang="en-US" b="1" noProof="0" dirty="0"/>
              <a:t>The individual group tasks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7631D24-EBDA-D64A-1A8B-A9FDB279F4D7}"/>
              </a:ext>
            </a:extLst>
          </p:cNvPr>
          <p:cNvSpPr/>
          <p:nvPr/>
        </p:nvSpPr>
        <p:spPr>
          <a:xfrm>
            <a:off x="5796136" y="3438730"/>
            <a:ext cx="1296144" cy="7096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/>
                </a:solidFill>
              </a:rPr>
              <a:t>Diffusion vs. Reaction Balance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9405FD6-6681-EFE7-B622-D2DEA5305DD0}"/>
              </a:ext>
            </a:extLst>
          </p:cNvPr>
          <p:cNvSpPr/>
          <p:nvPr/>
        </p:nvSpPr>
        <p:spPr>
          <a:xfrm>
            <a:off x="5796136" y="4302826"/>
            <a:ext cx="1296144" cy="7096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/>
                </a:solidFill>
              </a:rPr>
              <a:t>From Noise to Pattern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89EA29-EFAE-DA21-85EE-2D5A5B24E6AC}"/>
              </a:ext>
            </a:extLst>
          </p:cNvPr>
          <p:cNvSpPr/>
          <p:nvPr/>
        </p:nvSpPr>
        <p:spPr>
          <a:xfrm>
            <a:off x="7596336" y="3438730"/>
            <a:ext cx="1296144" cy="7096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/>
                </a:solidFill>
              </a:rPr>
              <a:t>Parameter Sensitivity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970F3FD-AD9F-24F0-89AE-B6A541A16BE2}"/>
              </a:ext>
            </a:extLst>
          </p:cNvPr>
          <p:cNvSpPr/>
          <p:nvPr/>
        </p:nvSpPr>
        <p:spPr>
          <a:xfrm>
            <a:off x="7596336" y="4302826"/>
            <a:ext cx="1296144" cy="7096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/>
                </a:solidFill>
              </a:rPr>
              <a:t>Biological Interpretation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3E2A1FC-362D-20F6-5579-8DF1D7E1EFA8}"/>
              </a:ext>
            </a:extLst>
          </p:cNvPr>
          <p:cNvSpPr/>
          <p:nvPr/>
        </p:nvSpPr>
        <p:spPr>
          <a:xfrm>
            <a:off x="7236296" y="3435846"/>
            <a:ext cx="288034" cy="28803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5C45A67-3921-AD71-8582-519551754A1A}"/>
              </a:ext>
            </a:extLst>
          </p:cNvPr>
          <p:cNvSpPr/>
          <p:nvPr/>
        </p:nvSpPr>
        <p:spPr>
          <a:xfrm>
            <a:off x="7236296" y="4302826"/>
            <a:ext cx="288034" cy="28803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57E84E0-B0BE-F9A8-CE13-5FBEDCE1A649}"/>
              </a:ext>
            </a:extLst>
          </p:cNvPr>
          <p:cNvSpPr/>
          <p:nvPr/>
        </p:nvSpPr>
        <p:spPr>
          <a:xfrm>
            <a:off x="5442753" y="4302826"/>
            <a:ext cx="288034" cy="28803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DD79B6F-5504-BB2E-EE9D-748CEDD53756}"/>
              </a:ext>
            </a:extLst>
          </p:cNvPr>
          <p:cNvSpPr/>
          <p:nvPr/>
        </p:nvSpPr>
        <p:spPr>
          <a:xfrm>
            <a:off x="5431902" y="3435846"/>
            <a:ext cx="288034" cy="28803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896007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903AC-F064-5685-93A1-733C22233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EED738-2BA1-64E0-D28D-1C8E3A893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Group A:</a:t>
            </a:r>
            <a:br>
              <a:rPr lang="en-US" noProof="0" dirty="0"/>
            </a:br>
            <a:r>
              <a:rPr lang="en-US" noProof="0" dirty="0"/>
              <a:t>Diffusion vs. Reaction Balance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264779F-E69B-11E9-8AF7-3AE0300B6F04}"/>
              </a:ext>
            </a:extLst>
          </p:cNvPr>
          <p:cNvSpPr/>
          <p:nvPr/>
        </p:nvSpPr>
        <p:spPr>
          <a:xfrm>
            <a:off x="251520" y="2139702"/>
            <a:ext cx="1656184" cy="2880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lang="en-US" sz="1200" b="1" noProof="0" dirty="0">
                <a:solidFill>
                  <a:schemeClr val="tx1"/>
                </a:solidFill>
              </a:rPr>
              <a:t>Diffusion vs. Reaction Balance</a:t>
            </a:r>
          </a:p>
          <a:p>
            <a:pPr>
              <a:spcAft>
                <a:spcPts val="600"/>
              </a:spcAft>
            </a:pPr>
            <a:r>
              <a:rPr lang="en-US" sz="1200" noProof="0" dirty="0">
                <a:solidFill>
                  <a:schemeClr val="tx1"/>
                </a:solidFill>
              </a:rPr>
              <a:t>You study how two chemicals interact and diffuse in tissue.</a:t>
            </a:r>
          </a:p>
          <a:p>
            <a:pPr>
              <a:spcAft>
                <a:spcPts val="600"/>
              </a:spcAft>
            </a:pPr>
            <a:r>
              <a:rPr lang="en-US" sz="1200" noProof="0" dirty="0">
                <a:solidFill>
                  <a:schemeClr val="tx1"/>
                </a:solidFill>
              </a:rPr>
              <a:t>Biological idea: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one activates,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one inhibits.</a:t>
            </a:r>
          </a:p>
          <a:p>
            <a:pPr>
              <a:spcAft>
                <a:spcPts val="600"/>
              </a:spcAft>
            </a:pPr>
            <a:r>
              <a:rPr lang="en-US" sz="1200" noProof="0" dirty="0">
                <a:solidFill>
                  <a:schemeClr val="tx1"/>
                </a:solidFill>
              </a:rPr>
              <a:t>Patterns emerge from balance.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DD18B4C-CD3D-002F-D88D-BF9DBBAD3716}"/>
              </a:ext>
            </a:extLst>
          </p:cNvPr>
          <p:cNvGrpSpPr/>
          <p:nvPr/>
        </p:nvGrpSpPr>
        <p:grpSpPr>
          <a:xfrm>
            <a:off x="251520" y="1131588"/>
            <a:ext cx="1656184" cy="936107"/>
            <a:chOff x="251520" y="1131588"/>
            <a:chExt cx="1656184" cy="936107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D9E5808C-6E62-1965-6DD7-7DA61F58E205}"/>
                </a:ext>
              </a:extLst>
            </p:cNvPr>
            <p:cNvSpPr/>
            <p:nvPr/>
          </p:nvSpPr>
          <p:spPr>
            <a:xfrm>
              <a:off x="251520" y="1131588"/>
              <a:ext cx="1656184" cy="936106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543E28B0-B0D6-C180-D916-6538D99B7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700" b="15210"/>
            <a:stretch>
              <a:fillRect/>
            </a:stretch>
          </p:blipFill>
          <p:spPr>
            <a:xfrm>
              <a:off x="487821" y="1131589"/>
              <a:ext cx="1183583" cy="936106"/>
            </a:xfrm>
            <a:prstGeom prst="rect">
              <a:avLst/>
            </a:prstGeom>
          </p:spPr>
        </p:pic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2F6AFCE7-D842-D0AA-2A98-9B285E7312DD}"/>
              </a:ext>
            </a:extLst>
          </p:cNvPr>
          <p:cNvSpPr/>
          <p:nvPr/>
        </p:nvSpPr>
        <p:spPr>
          <a:xfrm>
            <a:off x="2123728" y="1131588"/>
            <a:ext cx="3306227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Task:</a:t>
            </a:r>
          </a:p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Explore how patterns change when the diffusion rates D</a:t>
            </a:r>
            <a:r>
              <a:rPr lang="en-US" sz="1400" baseline="-25000" noProof="0" dirty="0">
                <a:solidFill>
                  <a:schemeClr val="tx1"/>
                </a:solidFill>
              </a:rPr>
              <a:t>u</a:t>
            </a:r>
            <a:r>
              <a:rPr lang="en-US" sz="1400" noProof="0" dirty="0">
                <a:solidFill>
                  <a:schemeClr val="tx1"/>
                </a:solidFill>
              </a:rPr>
              <a:t> and </a:t>
            </a:r>
            <a:r>
              <a:rPr lang="en-US" sz="1400" noProof="0" dirty="0" err="1">
                <a:solidFill>
                  <a:schemeClr val="tx1"/>
                </a:solidFill>
              </a:rPr>
              <a:t>D</a:t>
            </a:r>
            <a:r>
              <a:rPr lang="en-US" sz="1400" baseline="-25000" noProof="0" dirty="0" err="1">
                <a:solidFill>
                  <a:schemeClr val="tx1"/>
                </a:solidFill>
              </a:rPr>
              <a:t>v</a:t>
            </a:r>
            <a:r>
              <a:rPr lang="en-US" sz="1400" noProof="0" dirty="0">
                <a:solidFill>
                  <a:schemeClr val="tx1"/>
                </a:solidFill>
              </a:rPr>
              <a:t> vary.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76CF48C-4963-C656-4F44-0A2A1DBA40A6}"/>
              </a:ext>
            </a:extLst>
          </p:cNvPr>
          <p:cNvSpPr/>
          <p:nvPr/>
        </p:nvSpPr>
        <p:spPr>
          <a:xfrm>
            <a:off x="5586253" y="1131588"/>
            <a:ext cx="3306227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What to do: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run simulation with:</a:t>
            </a:r>
          </a:p>
          <a:p>
            <a:pPr marL="450850" lvl="1" indent="-268288"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sz="1400" noProof="0" dirty="0">
                <a:solidFill>
                  <a:schemeClr val="tx1"/>
                </a:solidFill>
              </a:rPr>
              <a:t>D</a:t>
            </a:r>
            <a:r>
              <a:rPr lang="en-US" sz="1400" baseline="-25000" noProof="0" dirty="0">
                <a:solidFill>
                  <a:schemeClr val="tx1"/>
                </a:solidFill>
              </a:rPr>
              <a:t>u</a:t>
            </a:r>
            <a:r>
              <a:rPr lang="en-US" sz="1400" noProof="0" dirty="0">
                <a:solidFill>
                  <a:schemeClr val="tx1"/>
                </a:solidFill>
              </a:rPr>
              <a:t> ≪ </a:t>
            </a:r>
            <a:r>
              <a:rPr lang="en-US" sz="1400" noProof="0" dirty="0" err="1">
                <a:solidFill>
                  <a:schemeClr val="tx1"/>
                </a:solidFill>
              </a:rPr>
              <a:t>D</a:t>
            </a:r>
            <a:r>
              <a:rPr lang="en-US" sz="1400" baseline="-25000" noProof="0" dirty="0" err="1">
                <a:solidFill>
                  <a:schemeClr val="tx1"/>
                </a:solidFill>
              </a:rPr>
              <a:t>v</a:t>
            </a:r>
            <a:endParaRPr lang="en-US" sz="1400" baseline="-25000" noProof="0" dirty="0">
              <a:solidFill>
                <a:schemeClr val="tx1"/>
              </a:solidFill>
            </a:endParaRPr>
          </a:p>
          <a:p>
            <a:pPr marL="450850" lvl="1" indent="-268288"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sz="1400" noProof="0" dirty="0">
                <a:solidFill>
                  <a:schemeClr val="tx1"/>
                </a:solidFill>
              </a:rPr>
              <a:t>D</a:t>
            </a:r>
            <a:r>
              <a:rPr lang="en-US" sz="1400" baseline="-25000" noProof="0" dirty="0">
                <a:solidFill>
                  <a:schemeClr val="tx1"/>
                </a:solidFill>
              </a:rPr>
              <a:t>u</a:t>
            </a:r>
            <a:r>
              <a:rPr lang="en-US" sz="1400" noProof="0" dirty="0">
                <a:solidFill>
                  <a:schemeClr val="tx1"/>
                </a:solidFill>
              </a:rPr>
              <a:t> ≈ </a:t>
            </a:r>
            <a:r>
              <a:rPr lang="en-US" sz="1400" noProof="0" dirty="0" err="1">
                <a:solidFill>
                  <a:schemeClr val="tx1"/>
                </a:solidFill>
              </a:rPr>
              <a:t>D</a:t>
            </a:r>
            <a:r>
              <a:rPr lang="en-US" sz="1400" baseline="-25000" noProof="0" dirty="0" err="1">
                <a:solidFill>
                  <a:schemeClr val="tx1"/>
                </a:solidFill>
              </a:rPr>
              <a:t>v</a:t>
            </a:r>
            <a:endParaRPr lang="en-US" sz="1400" baseline="-25000" noProof="0" dirty="0">
              <a:solidFill>
                <a:schemeClr val="tx1"/>
              </a:solidFill>
            </a:endParaRP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​compare patterns: spots, stripes or homogeneous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B2DCD3B-52C2-02E0-4332-530C78CB39D2}"/>
              </a:ext>
            </a:extLst>
          </p:cNvPr>
          <p:cNvSpPr/>
          <p:nvPr/>
        </p:nvSpPr>
        <p:spPr>
          <a:xfrm>
            <a:off x="2123728" y="3147814"/>
            <a:ext cx="3306227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Learning goal:</a:t>
            </a:r>
          </a:p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Pattern formation depends critically on different diffusion speeds.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C151490-0D69-286A-6CF3-64B921819EC1}"/>
              </a:ext>
            </a:extLst>
          </p:cNvPr>
          <p:cNvSpPr/>
          <p:nvPr/>
        </p:nvSpPr>
        <p:spPr>
          <a:xfrm>
            <a:off x="5586253" y="3147814"/>
            <a:ext cx="3306227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Experiment:</a:t>
            </a:r>
          </a:p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Ask AI to: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implement reaction-diffusion system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allow parameter changes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visualize evolution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4239EFF-01C7-5CEC-BAAA-F6242243EA01}"/>
              </a:ext>
            </a:extLst>
          </p:cNvPr>
          <p:cNvSpPr/>
          <p:nvPr/>
        </p:nvSpPr>
        <p:spPr>
          <a:xfrm>
            <a:off x="304076" y="1167592"/>
            <a:ext cx="288034" cy="28803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223708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2E7A7-A7E7-64A7-B518-5BC51EBA4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87183D-7ACE-00D5-3DC0-157AB97A6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Group B:</a:t>
            </a:r>
            <a:br>
              <a:rPr lang="en-US" noProof="0" dirty="0"/>
            </a:br>
            <a:r>
              <a:rPr lang="en-US" noProof="0" dirty="0"/>
              <a:t>From Noise to Pattern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7C5D59D-329A-360D-DFC3-66A90BF83E50}"/>
              </a:ext>
            </a:extLst>
          </p:cNvPr>
          <p:cNvSpPr/>
          <p:nvPr/>
        </p:nvSpPr>
        <p:spPr>
          <a:xfrm>
            <a:off x="251520" y="2139702"/>
            <a:ext cx="1656184" cy="2880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lang="en-US" sz="1200" b="1" noProof="0" dirty="0">
                <a:solidFill>
                  <a:schemeClr val="tx1"/>
                </a:solidFill>
              </a:rPr>
              <a:t>From Noise to Pattern</a:t>
            </a:r>
          </a:p>
          <a:p>
            <a:pPr>
              <a:spcAft>
                <a:spcPts val="600"/>
              </a:spcAft>
            </a:pPr>
            <a:r>
              <a:rPr lang="en-US" sz="1200" noProof="0" dirty="0">
                <a:solidFill>
                  <a:schemeClr val="tx1"/>
                </a:solidFill>
              </a:rPr>
              <a:t>Real biological systems start from small random fluctuations.</a:t>
            </a:r>
          </a:p>
          <a:p>
            <a:pPr>
              <a:spcAft>
                <a:spcPts val="600"/>
              </a:spcAft>
            </a:pPr>
            <a:r>
              <a:rPr lang="en-US" sz="1200" noProof="0" dirty="0">
                <a:solidFill>
                  <a:schemeClr val="tx1"/>
                </a:solidFill>
              </a:rPr>
              <a:t>Patterns emerge from noise.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8E18E7E-D915-20E9-27DA-A5B59342A06B}"/>
              </a:ext>
            </a:extLst>
          </p:cNvPr>
          <p:cNvGrpSpPr/>
          <p:nvPr/>
        </p:nvGrpSpPr>
        <p:grpSpPr>
          <a:xfrm>
            <a:off x="251520" y="1131588"/>
            <a:ext cx="1656184" cy="936107"/>
            <a:chOff x="251520" y="1131588"/>
            <a:chExt cx="1656184" cy="936107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B79CDCC9-1AF4-34B4-A0A6-20E1A4A5EAA3}"/>
                </a:ext>
              </a:extLst>
            </p:cNvPr>
            <p:cNvSpPr/>
            <p:nvPr/>
          </p:nvSpPr>
          <p:spPr>
            <a:xfrm>
              <a:off x="251520" y="1131588"/>
              <a:ext cx="1656184" cy="936106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8F7C7D98-585B-69FD-CE98-044361880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700" b="15210"/>
            <a:stretch>
              <a:fillRect/>
            </a:stretch>
          </p:blipFill>
          <p:spPr>
            <a:xfrm>
              <a:off x="487821" y="1131589"/>
              <a:ext cx="1183583" cy="936106"/>
            </a:xfrm>
            <a:prstGeom prst="rect">
              <a:avLst/>
            </a:prstGeom>
          </p:spPr>
        </p:pic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F64006E5-478E-A22B-EBAD-0D2F1F87237E}"/>
              </a:ext>
            </a:extLst>
          </p:cNvPr>
          <p:cNvSpPr/>
          <p:nvPr/>
        </p:nvSpPr>
        <p:spPr>
          <a:xfrm>
            <a:off x="2123728" y="1131588"/>
            <a:ext cx="3306227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Task:</a:t>
            </a:r>
          </a:p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Investigate how initial conditions affect patterns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010E0E3-3954-67F5-1121-1B3FF3D6D8E7}"/>
              </a:ext>
            </a:extLst>
          </p:cNvPr>
          <p:cNvSpPr/>
          <p:nvPr/>
        </p:nvSpPr>
        <p:spPr>
          <a:xfrm>
            <a:off x="5586253" y="1131588"/>
            <a:ext cx="3306227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What to do:</a:t>
            </a:r>
          </a:p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Compare: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random noise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single localized perturbation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structured initial condition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C06570F-C84E-16A9-7E67-A0C7A1F18DC0}"/>
              </a:ext>
            </a:extLst>
          </p:cNvPr>
          <p:cNvSpPr/>
          <p:nvPr/>
        </p:nvSpPr>
        <p:spPr>
          <a:xfrm>
            <a:off x="2123728" y="3147814"/>
            <a:ext cx="3306227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Learning goal:</a:t>
            </a:r>
          </a:p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Patterns do not need pre-patterns; they can self-organize.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47E5F82-7512-C8F5-6EC5-1692A1AAC1C6}"/>
              </a:ext>
            </a:extLst>
          </p:cNvPr>
          <p:cNvSpPr/>
          <p:nvPr/>
        </p:nvSpPr>
        <p:spPr>
          <a:xfrm>
            <a:off x="5586253" y="3147814"/>
            <a:ext cx="3306227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Experiment:</a:t>
            </a:r>
          </a:p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Prompt focus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emphasize initialization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reproducibility (random seed)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EA55702-7048-2AD8-1DD5-DBCB435D128F}"/>
              </a:ext>
            </a:extLst>
          </p:cNvPr>
          <p:cNvSpPr/>
          <p:nvPr/>
        </p:nvSpPr>
        <p:spPr>
          <a:xfrm>
            <a:off x="304076" y="1167592"/>
            <a:ext cx="288034" cy="28803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674411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47D53-08C0-D967-2B3B-3EA69AEA7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0D5809-F48E-0990-2D18-EFC6511DC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Group C:</a:t>
            </a:r>
            <a:br>
              <a:rPr lang="en-US" noProof="0" dirty="0"/>
            </a:br>
            <a:r>
              <a:rPr lang="en-US" noProof="0" dirty="0"/>
              <a:t>Parameter Sensitivity (Biological Robustness)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18231AA-090C-F9D5-B6D1-995F2C4EE71B}"/>
              </a:ext>
            </a:extLst>
          </p:cNvPr>
          <p:cNvSpPr/>
          <p:nvPr/>
        </p:nvSpPr>
        <p:spPr>
          <a:xfrm>
            <a:off x="251520" y="2139702"/>
            <a:ext cx="1656184" cy="2880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lang="en-US" sz="1200" b="1" noProof="0" dirty="0">
                <a:solidFill>
                  <a:schemeClr val="tx1"/>
                </a:solidFill>
              </a:rPr>
              <a:t>Parameter Sensitivity (Biological Robustness)</a:t>
            </a:r>
          </a:p>
          <a:p>
            <a:r>
              <a:rPr lang="en-US" sz="1200" noProof="0" dirty="0">
                <a:solidFill>
                  <a:schemeClr val="tx1"/>
                </a:solidFill>
              </a:rPr>
              <a:t>Biological systems must be robust, i.e., small parameter changes should not destroy patterns completely. 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344EABAB-873C-D6BE-3248-0D27082BDB97}"/>
              </a:ext>
            </a:extLst>
          </p:cNvPr>
          <p:cNvGrpSpPr/>
          <p:nvPr/>
        </p:nvGrpSpPr>
        <p:grpSpPr>
          <a:xfrm>
            <a:off x="251520" y="1131588"/>
            <a:ext cx="1656184" cy="936107"/>
            <a:chOff x="251520" y="1131588"/>
            <a:chExt cx="1656184" cy="936107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5F89DEF6-B925-04B8-C414-C7F9F5172EA9}"/>
                </a:ext>
              </a:extLst>
            </p:cNvPr>
            <p:cNvSpPr/>
            <p:nvPr/>
          </p:nvSpPr>
          <p:spPr>
            <a:xfrm>
              <a:off x="251520" y="1131588"/>
              <a:ext cx="1656184" cy="936106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1D926CBA-FEDF-5307-5D68-9A22950CA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700" b="15210"/>
            <a:stretch>
              <a:fillRect/>
            </a:stretch>
          </p:blipFill>
          <p:spPr>
            <a:xfrm>
              <a:off x="487821" y="1131589"/>
              <a:ext cx="1183583" cy="936106"/>
            </a:xfrm>
            <a:prstGeom prst="rect">
              <a:avLst/>
            </a:prstGeom>
          </p:spPr>
        </p:pic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5B102821-F18C-430C-9075-ECFCBA5D77FC}"/>
              </a:ext>
            </a:extLst>
          </p:cNvPr>
          <p:cNvSpPr/>
          <p:nvPr/>
        </p:nvSpPr>
        <p:spPr>
          <a:xfrm>
            <a:off x="2123728" y="1131588"/>
            <a:ext cx="3306227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Task:</a:t>
            </a:r>
          </a:p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Vary reaction parameters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2F87065-A11C-A463-3674-C6265CA16595}"/>
              </a:ext>
            </a:extLst>
          </p:cNvPr>
          <p:cNvSpPr/>
          <p:nvPr/>
        </p:nvSpPr>
        <p:spPr>
          <a:xfrm>
            <a:off x="5586253" y="1131588"/>
            <a:ext cx="3306227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What to do: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run several parameter sets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classify outcomes</a:t>
            </a:r>
          </a:p>
          <a:p>
            <a:pPr marL="450850" indent="-268288"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sz="1400" noProof="0" dirty="0">
                <a:solidFill>
                  <a:schemeClr val="tx1"/>
                </a:solidFill>
              </a:rPr>
              <a:t>stable pattern</a:t>
            </a:r>
          </a:p>
          <a:p>
            <a:pPr marL="450850" indent="-268288"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sz="1400" noProof="0" dirty="0">
                <a:solidFill>
                  <a:schemeClr val="tx1"/>
                </a:solidFill>
              </a:rPr>
              <a:t>oscillation</a:t>
            </a:r>
          </a:p>
          <a:p>
            <a:pPr marL="450850" indent="-268288"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sz="1400" noProof="0" dirty="0">
                <a:solidFill>
                  <a:schemeClr val="tx1"/>
                </a:solidFill>
              </a:rPr>
              <a:t>no pattern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40926DA-BB23-5629-E175-D0CA1CDC495B}"/>
              </a:ext>
            </a:extLst>
          </p:cNvPr>
          <p:cNvSpPr/>
          <p:nvPr/>
        </p:nvSpPr>
        <p:spPr>
          <a:xfrm>
            <a:off x="2123728" y="3147814"/>
            <a:ext cx="3306227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Learning goal:</a:t>
            </a:r>
          </a:p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Biological pattern formation occurs only in specific parameter regimes.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2C3D502-D3AD-7C93-547A-C5BFBE46646C}"/>
              </a:ext>
            </a:extLst>
          </p:cNvPr>
          <p:cNvSpPr/>
          <p:nvPr/>
        </p:nvSpPr>
        <p:spPr>
          <a:xfrm>
            <a:off x="5586253" y="3147814"/>
            <a:ext cx="3306227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Experiment:</a:t>
            </a:r>
          </a:p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Prompt focus: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parameter sweeps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multiple runs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visualization grid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F2DE472-CA0F-C427-60B4-E7159EF58E6A}"/>
              </a:ext>
            </a:extLst>
          </p:cNvPr>
          <p:cNvSpPr/>
          <p:nvPr/>
        </p:nvSpPr>
        <p:spPr>
          <a:xfrm>
            <a:off x="304076" y="1167592"/>
            <a:ext cx="288034" cy="28803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176095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5B7A8-BA4A-0782-69A7-B6559C463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33E08C-A2C2-00C9-38A4-3C63DE65D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Group D:</a:t>
            </a:r>
            <a:br>
              <a:rPr lang="en-US" noProof="0" dirty="0"/>
            </a:br>
            <a:r>
              <a:rPr lang="en-US" noProof="0" dirty="0"/>
              <a:t>Biological Interpretation (Morphogenesis)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A804134-84CF-D015-589C-8EBC0AD8B703}"/>
              </a:ext>
            </a:extLst>
          </p:cNvPr>
          <p:cNvSpPr/>
          <p:nvPr/>
        </p:nvSpPr>
        <p:spPr>
          <a:xfrm>
            <a:off x="251520" y="2139702"/>
            <a:ext cx="1656184" cy="2880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lang="en-US" sz="1200" b="1" noProof="0" dirty="0">
                <a:solidFill>
                  <a:schemeClr val="tx1"/>
                </a:solidFill>
              </a:rPr>
              <a:t>Biological Interpretation (Morphogenesis)</a:t>
            </a:r>
          </a:p>
          <a:p>
            <a:pPr>
              <a:spcAft>
                <a:spcPts val="600"/>
              </a:spcAft>
            </a:pPr>
            <a:r>
              <a:rPr lang="en-US" sz="1200" noProof="0" dirty="0">
                <a:solidFill>
                  <a:schemeClr val="tx1"/>
                </a:solidFill>
              </a:rPr>
              <a:t>You interpret patterns as: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animal skin (zebra, leopard)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chemical morphogens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developmental biology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006CD87-3B95-FB6C-50E3-5000BD02059A}"/>
              </a:ext>
            </a:extLst>
          </p:cNvPr>
          <p:cNvGrpSpPr/>
          <p:nvPr/>
        </p:nvGrpSpPr>
        <p:grpSpPr>
          <a:xfrm>
            <a:off x="251520" y="1131588"/>
            <a:ext cx="1656184" cy="936107"/>
            <a:chOff x="251520" y="1131588"/>
            <a:chExt cx="1656184" cy="936107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774DD815-8849-5C10-E65A-298BC22CDB72}"/>
                </a:ext>
              </a:extLst>
            </p:cNvPr>
            <p:cNvSpPr/>
            <p:nvPr/>
          </p:nvSpPr>
          <p:spPr>
            <a:xfrm>
              <a:off x="251520" y="1131588"/>
              <a:ext cx="1656184" cy="936106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199229BD-41A3-4AA6-D985-F4C663C3D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700" b="15210"/>
            <a:stretch>
              <a:fillRect/>
            </a:stretch>
          </p:blipFill>
          <p:spPr>
            <a:xfrm>
              <a:off x="487821" y="1131589"/>
              <a:ext cx="1183583" cy="936106"/>
            </a:xfrm>
            <a:prstGeom prst="rect">
              <a:avLst/>
            </a:prstGeom>
          </p:spPr>
        </p:pic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F0970E03-2A84-576B-203F-296C5C9E39A8}"/>
              </a:ext>
            </a:extLst>
          </p:cNvPr>
          <p:cNvSpPr/>
          <p:nvPr/>
        </p:nvSpPr>
        <p:spPr>
          <a:xfrm>
            <a:off x="2123728" y="1131588"/>
            <a:ext cx="3306227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Tasks: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run the simulation of the reaction-diffusion system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interpret patterns biologically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A3393BF-8839-9A7E-FDB8-93515DE0FEA9}"/>
              </a:ext>
            </a:extLst>
          </p:cNvPr>
          <p:cNvSpPr/>
          <p:nvPr/>
        </p:nvSpPr>
        <p:spPr>
          <a:xfrm>
            <a:off x="5586253" y="1131588"/>
            <a:ext cx="3306227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What to do: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generate patterns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describe: stripes vs. spots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density connect to real organisms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5EAF70F-A425-CBAA-7530-E06E811A6852}"/>
              </a:ext>
            </a:extLst>
          </p:cNvPr>
          <p:cNvSpPr/>
          <p:nvPr/>
        </p:nvSpPr>
        <p:spPr>
          <a:xfrm>
            <a:off x="2123728" y="3147814"/>
            <a:ext cx="3306227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Learning goal:</a:t>
            </a:r>
          </a:p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Mathematical models help to explain real biological structures.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8CB9955-CBFF-CFE4-DEDB-FEE7219C1927}"/>
              </a:ext>
            </a:extLst>
          </p:cNvPr>
          <p:cNvSpPr/>
          <p:nvPr/>
        </p:nvSpPr>
        <p:spPr>
          <a:xfrm>
            <a:off x="5586253" y="3147814"/>
            <a:ext cx="3306227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Experiment:</a:t>
            </a:r>
          </a:p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Prompt focus: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visualization quality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parameter tuning for pattern types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54C9059-7E94-BF76-7A89-0038ACEC4551}"/>
              </a:ext>
            </a:extLst>
          </p:cNvPr>
          <p:cNvSpPr/>
          <p:nvPr/>
        </p:nvSpPr>
        <p:spPr>
          <a:xfrm>
            <a:off x="304076" y="1167592"/>
            <a:ext cx="288034" cy="28803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380988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218730-AED9-2B24-C46D-0DD0A4768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Roadmap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016CB4B3-E73B-DD5F-2EBC-F6146F77E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864676"/>
              </p:ext>
            </p:extLst>
          </p:nvPr>
        </p:nvGraphicFramePr>
        <p:xfrm>
          <a:off x="251520" y="1131590"/>
          <a:ext cx="8640960" cy="355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836268514"/>
                    </a:ext>
                  </a:extLst>
                </a:gridCol>
                <a:gridCol w="7272808">
                  <a:extLst>
                    <a:ext uri="{9D8B030D-6E8A-4147-A177-3AD203B41FA5}">
                      <a16:colId xmlns:a16="http://schemas.microsoft.com/office/drawing/2014/main" val="1395904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280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0 – 15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/>
                        <a:t>Introduction</a:t>
                      </a:r>
                    </a:p>
                    <a:p>
                      <a:pPr marL="182563" indent="-182563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noProof="0" dirty="0"/>
                        <a:t>Project overview &amp; roadmap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314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400" noProof="0" dirty="0"/>
                        <a:t>15 – 40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/>
                        <a:t>Architecture &amp; Prompt Design (no AI yet)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noProof="0" dirty="0"/>
                        <a:t>Each group defines their program architecture best suited for their project 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noProof="0" dirty="0"/>
                        <a:t>Each group must write</a:t>
                      </a:r>
                    </a:p>
                    <a:p>
                      <a:pPr marL="182563" indent="-182563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noProof="0" dirty="0"/>
                        <a:t>Prompt v1 (basic)</a:t>
                      </a:r>
                    </a:p>
                    <a:p>
                      <a:pPr marL="182563" indent="-182563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noProof="0" dirty="0"/>
                        <a:t>Prompt v2 (improved) including GA steps, modular structure, and visualization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157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40 – 60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/>
                        <a:t>AI Coding &amp; Running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0" noProof="0" dirty="0"/>
                        <a:t>Task: </a:t>
                      </a:r>
                      <a:r>
                        <a:rPr lang="en-US" sz="1400" noProof="0" dirty="0"/>
                        <a:t>run prompt, get code, execute, debug</a:t>
                      </a:r>
                      <a:endParaRPr lang="en-US" sz="1400" b="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495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400" noProof="0" dirty="0"/>
                        <a:t>60 – 75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/>
                        <a:t>Exploration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noProof="0" dirty="0"/>
                        <a:t>Each group varies the parameters as suggested in their task and observe the outcomes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710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3137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B92A2-124E-5B7A-4D02-D8C069061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BBC22F-768C-D2FA-B705-38CDC7802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Roadmap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51F32740-C732-54D6-AA4F-C8BFABCC2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431167"/>
              </p:ext>
            </p:extLst>
          </p:nvPr>
        </p:nvGraphicFramePr>
        <p:xfrm>
          <a:off x="251520" y="1131590"/>
          <a:ext cx="86409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836268514"/>
                    </a:ext>
                  </a:extLst>
                </a:gridCol>
                <a:gridCol w="7272808">
                  <a:extLst>
                    <a:ext uri="{9D8B030D-6E8A-4147-A177-3AD203B41FA5}">
                      <a16:colId xmlns:a16="http://schemas.microsoft.com/office/drawing/2014/main" val="1395904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400" noProof="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noProof="0" dirty="0"/>
                        <a:t>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280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400" noProof="0" dirty="0"/>
                        <a:t>75 – 90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/>
                        <a:t>Final Mini-Presentation (3-4 min per group)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noProof="0" dirty="0"/>
                        <a:t>Each group presents:</a:t>
                      </a:r>
                    </a:p>
                    <a:p>
                      <a:pPr marL="182563" indent="-182563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noProof="0" dirty="0"/>
                        <a:t>What they varied</a:t>
                      </a:r>
                    </a:p>
                    <a:p>
                      <a:pPr marL="182563" indent="-182563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noProof="0" dirty="0"/>
                        <a:t>What pattern emerged</a:t>
                      </a:r>
                    </a:p>
                    <a:p>
                      <a:pPr marL="182563" indent="-182563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noProof="0" dirty="0"/>
                        <a:t>Best prompt</a:t>
                      </a:r>
                    </a:p>
                    <a:p>
                      <a:pPr marL="182563" indent="-182563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noProof="0" dirty="0"/>
                        <a:t>Biological 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521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1151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>
          <a:xfrm>
            <a:off x="3851920" y="1275606"/>
            <a:ext cx="5040560" cy="864095"/>
          </a:xfrm>
        </p:spPr>
        <p:txBody>
          <a:bodyPr/>
          <a:lstStyle/>
          <a:p>
            <a:r>
              <a:rPr lang="en-US" noProof="0" dirty="0"/>
              <a:t>Computational Biomathematics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6917350" y="4712245"/>
            <a:ext cx="1974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noProof="0" dirty="0"/>
              <a:t>florian.rupp@kiu.edu.ge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4sBCPrLdUOGmmGtjuAVn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5ULgxRsCUC2aETaaLLML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yLLHUoUaSByAvs2zA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wS88IkDwk2u2UXfeYk5s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QrG_PT1jUaZ5G6vt.PRt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IYaHeW61US7GVC_CvTlV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06EWmBMUKiWbxTgKZHj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lQONa1hU24NWfOu_k0X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5ULgxRsCUC2aETaaLLM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yLLHUoUaSByAvs2zAN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wS88IkDwk2u2UXfeYk5s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QrG_PT1jUaZ5G6vt.PRt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IYaHeW61US7GVC_CvTlV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06EWmBMUKiWbxTgKZHj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lQONa1hU24NWfOu_k0X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4sBCPrLdUOGmmGtjuAVn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5ULgxRsCUC2aETaaLLML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yLLHUoUaSByAvs2zAN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wS88IkDwk2u2UXfeYk5s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QrG_PT1jUaZ5G6vt.PRt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IYaHeW61US7GVC_CvTlV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06EWmBMUKiWbxTgKZHj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lQONa1hU24NWfOu_k0X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V12iISWwkOOVDsSNsZR1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1,526"/>
  <p:tag name="ORIGINALWIDTH" val="4388,451"/>
  <p:tag name="LATEXADDIN" val="\documentclass{article}\pagestyle{empty}&#10;\usepackage{amsmath}&#10;\usepackage{amsfonts}&#10;\usepackage{amssymb}&#10;\begin{document}&#10;\begin{minipage}{12.4 cm}&#10;{\sffamily{&#10;Let $u$ be the 'nutrient' or background chemical and $v$ the 'activator' (pattern-forming substance), then the equations of the Gray-Scott model read&#10;\begin{eqnarray*}&#10;u_t \, \, = \, \, D_u \Delta u - u v^2 + F(1-u) \\[1mm]&#10;v_t \, \, = \, \, D_v \Delta v + u v^2 - (F+k) v \, .&#10;\end{eqnarray*}&#10;The terms can be interpreted as follows:&#10;\begin{itemize}&#10;\item $u v^2$ as non-linear reaction,&#10;\item $F(1-u)$ as feeding on $u$ with a proportionality constant $F &gt; 0$, and&#10;\item $(F+k) v$ as the decay of $v$, where $k &gt; 0$ is another constant.&#10;\end{itemize}&#10;}}&#10;\end{minipage}&#10;\end{document}"/>
  <p:tag name="IGUANATEXSIZE" val="20"/>
  <p:tag name="IGUANATEXCURSOR" val="698"/>
  <p:tag name="TRANSPARENCY" val="Wahr"/>
  <p:tag name="LATEXENGINEID" val="0"/>
  <p:tag name="TEMPFOLDER" val="c:\temp\"/>
  <p:tag name="LATEXFORMHEIGHT" val="482,25"/>
  <p:tag name="LATEXFORMWIDTH" val="1030,5"/>
  <p:tag name="LATEXFORMWRAP" val="Wahr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4,031"/>
  <p:tag name="ORIGINALWIDTH" val="4379,453"/>
  <p:tag name="LATEXADDIN" val="\documentclass{article}\pagestyle{empty}&#10;\usepackage{amsmath}&#10;\usepackage{amsfonts}&#10;\usepackage{amssymb}&#10;\begin{document}&#10;\begin{minipage}{12.4 cm}&#10;{\sffamily{&#10;Let $u$ be the 'activator' and $v$ the 'inhibitor', then the model equations read&#10;\begin{eqnarray*}&#10;u_t \, \, = \, \, D_u \Delta u - a u v + b u \\[1mm]&#10;v_t \, \, = \, \, D_v \Delta v + c u v - d v \, .&#10;\end{eqnarray*}&#10;Similar to the Lotka-Volterra system, the terms can be interpreted as follows:&#10;\begin{itemize}&#10;\item $bu$ as growth of activator and $-auv$ as inhibition, as well as&#10;\item $cuv$ as inhibitor growth and $-dv$ as decay.&#10;\end{itemize}&#10;This model is conceptually easier, but less robust visually than the Gray–Scott model such that we do not use it for this lab.&#10;}}&#10;\end{minipage}&#10;\end{document}"/>
  <p:tag name="IGUANATEXSIZE" val="20"/>
  <p:tag name="IGUANATEXCURSOR" val="736"/>
  <p:tag name="TRANSPARENCY" val="Wahr"/>
  <p:tag name="LATEXENGINEID" val="0"/>
  <p:tag name="TEMPFOLDER" val="c:\temp\"/>
  <p:tag name="LATEXFORMHEIGHT" val="482,25"/>
  <p:tag name="LATEXFORMWIDTH" val="1030,5"/>
  <p:tag name="LATEXFORMWRAP" val="Wahr"/>
  <p:tag name="BITMAPVECTOR" val="0"/>
</p:tagLst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906</Words>
  <Application>Microsoft Office PowerPoint</Application>
  <PresentationFormat>Bildschirmpräsentation (16:9)</PresentationFormat>
  <Paragraphs>180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Courier New</vt:lpstr>
      <vt:lpstr>Symbol</vt:lpstr>
      <vt:lpstr>Calibri</vt:lpstr>
      <vt:lpstr>Arial</vt:lpstr>
      <vt:lpstr>Larissa-Design</vt:lpstr>
      <vt:lpstr>Computational Biomathematics</vt:lpstr>
      <vt:lpstr>Overall Design Principle</vt:lpstr>
      <vt:lpstr>For the lab, we are using the Gray-Scott model for reaction-diffusion system (1/ 2)</vt:lpstr>
      <vt:lpstr>For the lab, we are using the Gray-Scott model for reaction-diffusion system (2/ 2)</vt:lpstr>
      <vt:lpstr>Another model is the mathematically more transparent activator-inhibitor system (toy model)</vt:lpstr>
      <vt:lpstr>PowerPoint-Präsentation</vt:lpstr>
      <vt:lpstr>Group A: Diffusion vs. Reaction Balance</vt:lpstr>
      <vt:lpstr>Group B: From Noise to Pattern</vt:lpstr>
      <vt:lpstr>Group C: Parameter Sensitivity (Biological Robustness)</vt:lpstr>
      <vt:lpstr>Group D: Biological Interpretation (Morphogenesis)</vt:lpstr>
      <vt:lpstr>Roadmap</vt:lpstr>
      <vt:lpstr>Roadmap</vt:lpstr>
      <vt:lpstr>Computational Biomathematics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Florian</dc:creator>
  <cp:lastModifiedBy>Florian Rupp</cp:lastModifiedBy>
  <cp:revision>217</cp:revision>
  <dcterms:created xsi:type="dcterms:W3CDTF">2020-04-04T18:50:50Z</dcterms:created>
  <dcterms:modified xsi:type="dcterms:W3CDTF">2026-04-04T20:28:05Z</dcterms:modified>
</cp:coreProperties>
</file>
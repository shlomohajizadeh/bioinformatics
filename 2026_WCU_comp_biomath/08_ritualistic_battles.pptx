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heme/theme2.xml" ContentType="application/vnd.openxmlformats-officedocument.theme+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46"/>
  </p:notesMasterIdLst>
  <p:sldIdLst>
    <p:sldId id="410" r:id="rId2"/>
    <p:sldId id="391" r:id="rId3"/>
    <p:sldId id="392" r:id="rId4"/>
    <p:sldId id="393" r:id="rId5"/>
    <p:sldId id="394" r:id="rId6"/>
    <p:sldId id="395" r:id="rId7"/>
    <p:sldId id="396" r:id="rId8"/>
    <p:sldId id="400" r:id="rId9"/>
    <p:sldId id="401" r:id="rId10"/>
    <p:sldId id="402" r:id="rId11"/>
    <p:sldId id="403" r:id="rId12"/>
    <p:sldId id="404" r:id="rId13"/>
    <p:sldId id="405" r:id="rId14"/>
    <p:sldId id="406" r:id="rId15"/>
    <p:sldId id="407" r:id="rId16"/>
    <p:sldId id="408" r:id="rId17"/>
    <p:sldId id="409" r:id="rId18"/>
    <p:sldId id="446" r:id="rId19"/>
    <p:sldId id="447" r:id="rId20"/>
    <p:sldId id="412" r:id="rId21"/>
    <p:sldId id="413" r:id="rId22"/>
    <p:sldId id="414" r:id="rId23"/>
    <p:sldId id="415" r:id="rId24"/>
    <p:sldId id="416" r:id="rId25"/>
    <p:sldId id="417" r:id="rId26"/>
    <p:sldId id="418" r:id="rId27"/>
    <p:sldId id="419" r:id="rId28"/>
    <p:sldId id="420" r:id="rId29"/>
    <p:sldId id="421" r:id="rId30"/>
    <p:sldId id="422" r:id="rId31"/>
    <p:sldId id="423" r:id="rId32"/>
    <p:sldId id="424" r:id="rId33"/>
    <p:sldId id="425" r:id="rId34"/>
    <p:sldId id="426" r:id="rId35"/>
    <p:sldId id="427" r:id="rId36"/>
    <p:sldId id="428" r:id="rId37"/>
    <p:sldId id="429" r:id="rId38"/>
    <p:sldId id="430" r:id="rId39"/>
    <p:sldId id="431" r:id="rId40"/>
    <p:sldId id="432" r:id="rId41"/>
    <p:sldId id="433" r:id="rId42"/>
    <p:sldId id="434" r:id="rId43"/>
    <p:sldId id="435" r:id="rId44"/>
    <p:sldId id="411" r:id="rId45"/>
  </p:sldIdLst>
  <p:sldSz cx="9144000" cy="5143500" type="screen16x9"/>
  <p:notesSz cx="6858000" cy="9144000"/>
  <p:defaultTex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4F81BD"/>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ittlere Formatvorlage 2 - Akz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2623" autoAdjust="0"/>
    <p:restoredTop sz="97356" autoAdjust="0"/>
  </p:normalViewPr>
  <p:slideViewPr>
    <p:cSldViewPr>
      <p:cViewPr varScale="1">
        <p:scale>
          <a:sx n="86" d="100"/>
          <a:sy n="86" d="100"/>
        </p:scale>
        <p:origin x="702" y="84"/>
      </p:cViewPr>
      <p:guideLst>
        <p:guide orient="horz" pos="1620"/>
        <p:guide pos="2880"/>
      </p:guideLst>
    </p:cSldViewPr>
  </p:slideViewPr>
  <p:notesTextViewPr>
    <p:cViewPr>
      <p:scale>
        <a:sx n="100" d="100"/>
        <a:sy n="100" d="100"/>
      </p:scale>
      <p:origin x="0" y="0"/>
    </p:cViewPr>
  </p:notesTextViewPr>
  <p:sorterViewPr>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presProps" Target="presProps.xml"/><Relationship Id="rId50"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notesMaster" Target="notesMasters/notesMaster1.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Kopfzeilenplatzhalt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umsplatzhalt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9495D514-7346-4F82-AE13-C6D6741739D2}" type="datetimeFigureOut">
              <a:rPr lang="en-US" smtClean="0"/>
              <a:t>4/6/2026</a:t>
            </a:fld>
            <a:endParaRPr lang="en-US"/>
          </a:p>
        </p:txBody>
      </p:sp>
      <p:sp>
        <p:nvSpPr>
          <p:cNvPr id="4" name="Folienbildplatzhalt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izenplatzhalt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de-DE"/>
              <a:t>Textmasterformate durch Klicken bearbeiten</a:t>
            </a:r>
          </a:p>
          <a:p>
            <a:pPr lvl="1"/>
            <a:r>
              <a:rPr lang="de-DE"/>
              <a:t>Zweite Ebene</a:t>
            </a:r>
          </a:p>
          <a:p>
            <a:pPr lvl="2"/>
            <a:r>
              <a:rPr lang="de-DE"/>
              <a:t>Dritte Ebene</a:t>
            </a:r>
          </a:p>
          <a:p>
            <a:pPr lvl="3"/>
            <a:r>
              <a:rPr lang="de-DE"/>
              <a:t>Vierte Ebene</a:t>
            </a:r>
          </a:p>
          <a:p>
            <a:pPr lvl="4"/>
            <a:r>
              <a:rPr lang="de-DE"/>
              <a:t>Fünfte Ebene</a:t>
            </a:r>
            <a:endParaRPr lang="en-US"/>
          </a:p>
        </p:txBody>
      </p:sp>
      <p:sp>
        <p:nvSpPr>
          <p:cNvPr id="6" name="Fußzeilenplatzhalt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Foliennummernplatzhalt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A6EF3066-70EE-4F3C-99F9-465CA6AFB6FD}" type="slidenum">
              <a:rPr lang="en-US" smtClean="0"/>
              <a:t>‹Nr.›</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8" Type="http://schemas.openxmlformats.org/officeDocument/2006/relationships/tags" Target="../tags/tag8.xml"/><Relationship Id="rId13" Type="http://schemas.openxmlformats.org/officeDocument/2006/relationships/image" Target="../media/image4.jpeg"/><Relationship Id="rId3" Type="http://schemas.openxmlformats.org/officeDocument/2006/relationships/tags" Target="../tags/tag3.xml"/><Relationship Id="rId7" Type="http://schemas.openxmlformats.org/officeDocument/2006/relationships/tags" Target="../tags/tag7.xml"/><Relationship Id="rId12" Type="http://schemas.openxmlformats.org/officeDocument/2006/relationships/image" Target="../media/image3.jpeg"/><Relationship Id="rId17" Type="http://schemas.openxmlformats.org/officeDocument/2006/relationships/image" Target="../media/image8.jpeg"/><Relationship Id="rId2" Type="http://schemas.openxmlformats.org/officeDocument/2006/relationships/tags" Target="../tags/tag2.xml"/><Relationship Id="rId16" Type="http://schemas.openxmlformats.org/officeDocument/2006/relationships/image" Target="../media/image7.png"/><Relationship Id="rId1" Type="http://schemas.openxmlformats.org/officeDocument/2006/relationships/tags" Target="../tags/tag1.xml"/><Relationship Id="rId6" Type="http://schemas.openxmlformats.org/officeDocument/2006/relationships/tags" Target="../tags/tag6.xml"/><Relationship Id="rId11" Type="http://schemas.openxmlformats.org/officeDocument/2006/relationships/image" Target="../media/image2.jpeg"/><Relationship Id="rId5" Type="http://schemas.openxmlformats.org/officeDocument/2006/relationships/tags" Target="../tags/tag5.xml"/><Relationship Id="rId15" Type="http://schemas.openxmlformats.org/officeDocument/2006/relationships/image" Target="../media/image6.jpeg"/><Relationship Id="rId10" Type="http://schemas.openxmlformats.org/officeDocument/2006/relationships/slideMaster" Target="../slideMasters/slideMaster1.xml"/><Relationship Id="rId4" Type="http://schemas.openxmlformats.org/officeDocument/2006/relationships/tags" Target="../tags/tag4.xml"/><Relationship Id="rId9" Type="http://schemas.openxmlformats.org/officeDocument/2006/relationships/tags" Target="../tags/tag9.xml"/><Relationship Id="rId14" Type="http://schemas.openxmlformats.org/officeDocument/2006/relationships/image" Target="../media/image5.jpe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8" Type="http://schemas.openxmlformats.org/officeDocument/2006/relationships/tags" Target="../tags/tag17.xml"/><Relationship Id="rId13" Type="http://schemas.openxmlformats.org/officeDocument/2006/relationships/image" Target="../media/image11.jpeg"/><Relationship Id="rId3" Type="http://schemas.openxmlformats.org/officeDocument/2006/relationships/tags" Target="../tags/tag12.xml"/><Relationship Id="rId7" Type="http://schemas.openxmlformats.org/officeDocument/2006/relationships/tags" Target="../tags/tag16.xml"/><Relationship Id="rId12" Type="http://schemas.openxmlformats.org/officeDocument/2006/relationships/image" Target="../media/image10.jpeg"/><Relationship Id="rId2" Type="http://schemas.openxmlformats.org/officeDocument/2006/relationships/tags" Target="../tags/tag11.xml"/><Relationship Id="rId1" Type="http://schemas.openxmlformats.org/officeDocument/2006/relationships/tags" Target="../tags/tag10.xml"/><Relationship Id="rId6" Type="http://schemas.openxmlformats.org/officeDocument/2006/relationships/tags" Target="../tags/tag15.xml"/><Relationship Id="rId11" Type="http://schemas.openxmlformats.org/officeDocument/2006/relationships/image" Target="../media/image9.jpeg"/><Relationship Id="rId5" Type="http://schemas.openxmlformats.org/officeDocument/2006/relationships/tags" Target="../tags/tag14.xml"/><Relationship Id="rId15" Type="http://schemas.openxmlformats.org/officeDocument/2006/relationships/image" Target="../media/image13.jpeg"/><Relationship Id="rId10" Type="http://schemas.openxmlformats.org/officeDocument/2006/relationships/slideMaster" Target="../slideMasters/slideMaster1.xml"/><Relationship Id="rId4" Type="http://schemas.openxmlformats.org/officeDocument/2006/relationships/tags" Target="../tags/tag13.xml"/><Relationship Id="rId9" Type="http://schemas.openxmlformats.org/officeDocument/2006/relationships/tags" Target="../tags/tag18.xml"/><Relationship Id="rId14" Type="http://schemas.openxmlformats.org/officeDocument/2006/relationships/image" Target="../media/image12.jpeg"/></Relationships>
</file>

<file path=ppt/slideLayouts/_rels/slideLayout4.xml.rels><?xml version="1.0" encoding="UTF-8" standalone="yes"?>
<Relationships xmlns="http://schemas.openxmlformats.org/package/2006/relationships"><Relationship Id="rId8" Type="http://schemas.openxmlformats.org/officeDocument/2006/relationships/tags" Target="../tags/tag26.xml"/><Relationship Id="rId13" Type="http://schemas.openxmlformats.org/officeDocument/2006/relationships/image" Target="../media/image3.jpeg"/><Relationship Id="rId18" Type="http://schemas.openxmlformats.org/officeDocument/2006/relationships/image" Target="../media/image8.jpeg"/><Relationship Id="rId3" Type="http://schemas.openxmlformats.org/officeDocument/2006/relationships/tags" Target="../tags/tag21.xml"/><Relationship Id="rId7" Type="http://schemas.openxmlformats.org/officeDocument/2006/relationships/tags" Target="../tags/tag25.xml"/><Relationship Id="rId12" Type="http://schemas.openxmlformats.org/officeDocument/2006/relationships/image" Target="../media/image2.jpeg"/><Relationship Id="rId17" Type="http://schemas.openxmlformats.org/officeDocument/2006/relationships/image" Target="../media/image7.png"/><Relationship Id="rId2" Type="http://schemas.openxmlformats.org/officeDocument/2006/relationships/tags" Target="../tags/tag20.xml"/><Relationship Id="rId16" Type="http://schemas.openxmlformats.org/officeDocument/2006/relationships/image" Target="../media/image6.jpeg"/><Relationship Id="rId1" Type="http://schemas.openxmlformats.org/officeDocument/2006/relationships/tags" Target="../tags/tag19.xml"/><Relationship Id="rId6" Type="http://schemas.openxmlformats.org/officeDocument/2006/relationships/tags" Target="../tags/tag24.xml"/><Relationship Id="rId11" Type="http://schemas.openxmlformats.org/officeDocument/2006/relationships/slideMaster" Target="../slideMasters/slideMaster1.xml"/><Relationship Id="rId5" Type="http://schemas.openxmlformats.org/officeDocument/2006/relationships/tags" Target="../tags/tag23.xml"/><Relationship Id="rId15" Type="http://schemas.openxmlformats.org/officeDocument/2006/relationships/image" Target="../media/image5.jpeg"/><Relationship Id="rId10" Type="http://schemas.openxmlformats.org/officeDocument/2006/relationships/tags" Target="../tags/tag28.xml"/><Relationship Id="rId19" Type="http://schemas.openxmlformats.org/officeDocument/2006/relationships/image" Target="../media/image14.jpeg"/><Relationship Id="rId4" Type="http://schemas.openxmlformats.org/officeDocument/2006/relationships/tags" Target="../tags/tag22.xml"/><Relationship Id="rId9" Type="http://schemas.openxmlformats.org/officeDocument/2006/relationships/tags" Target="../tags/tag27.xml"/><Relationship Id="rId14" Type="http://schemas.openxmlformats.org/officeDocument/2006/relationships/image" Target="../media/image4.jpeg"/></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elfolie">
    <p:spTree>
      <p:nvGrpSpPr>
        <p:cNvPr id="1" name=""/>
        <p:cNvGrpSpPr/>
        <p:nvPr/>
      </p:nvGrpSpPr>
      <p:grpSpPr>
        <a:xfrm>
          <a:off x="0" y="0"/>
          <a:ext cx="0" cy="0"/>
          <a:chOff x="0" y="0"/>
          <a:chExt cx="0" cy="0"/>
        </a:xfrm>
      </p:grpSpPr>
      <p:pic>
        <p:nvPicPr>
          <p:cNvPr id="9" name="Picture 8" descr="https://cdn.pixabay.com/photo/2016/04/13/19/23/binary-1327501_960_720.jpg"/>
          <p:cNvPicPr>
            <a:picLocks noChangeAspect="1" noChangeArrowheads="1"/>
          </p:cNvPicPr>
          <p:nvPr/>
        </p:nvPicPr>
        <p:blipFill>
          <a:blip r:embed="rId11" cstate="print"/>
          <a:srcRect/>
          <a:stretch>
            <a:fillRect/>
          </a:stretch>
        </p:blipFill>
        <p:spPr bwMode="auto">
          <a:xfrm>
            <a:off x="395536" y="0"/>
            <a:ext cx="2828754" cy="1152128"/>
          </a:xfrm>
          <a:prstGeom prst="rect">
            <a:avLst/>
          </a:prstGeom>
          <a:noFill/>
        </p:spPr>
      </p:pic>
      <p:grpSp>
        <p:nvGrpSpPr>
          <p:cNvPr id="28" name="Gruppieren 27"/>
          <p:cNvGrpSpPr/>
          <p:nvPr userDrawn="1"/>
        </p:nvGrpSpPr>
        <p:grpSpPr>
          <a:xfrm>
            <a:off x="3059832" y="0"/>
            <a:ext cx="3312368" cy="1152525"/>
            <a:chOff x="3059832" y="0"/>
            <a:chExt cx="3312368" cy="1152525"/>
          </a:xfrm>
        </p:grpSpPr>
        <p:pic>
          <p:nvPicPr>
            <p:cNvPr id="10244" name="Picture 4" descr="https://scontent-muc2-1.xx.fbcdn.net/v/t1.0-9/105047738_302269647821182_6536006559647297022_o.jpg?_nc_cat=105&amp;_nc_sid=730e14&amp;_nc_ohc=TQF0ZCkImkEAX_9ZuvG&amp;_nc_ht=scontent-muc2-1.xx&amp;oh=0be3c9382f21dded80330d22b968e298&amp;oe=5F833F90"/>
            <p:cNvPicPr>
              <a:picLocks noChangeAspect="1" noChangeArrowheads="1"/>
            </p:cNvPicPr>
            <p:nvPr userDrawn="1"/>
          </p:nvPicPr>
          <p:blipFill>
            <a:blip r:embed="rId12" cstate="print"/>
            <a:srcRect/>
            <a:stretch>
              <a:fillRect/>
            </a:stretch>
          </p:blipFill>
          <p:spPr bwMode="auto">
            <a:xfrm>
              <a:off x="3059832" y="0"/>
              <a:ext cx="1728192" cy="1152128"/>
            </a:xfrm>
            <a:prstGeom prst="rect">
              <a:avLst/>
            </a:prstGeom>
            <a:noFill/>
          </p:spPr>
        </p:pic>
        <p:grpSp>
          <p:nvGrpSpPr>
            <p:cNvPr id="27" name="Gruppieren 26"/>
            <p:cNvGrpSpPr/>
            <p:nvPr userDrawn="1"/>
          </p:nvGrpSpPr>
          <p:grpSpPr>
            <a:xfrm>
              <a:off x="4427984" y="0"/>
              <a:ext cx="1944216" cy="1152525"/>
              <a:chOff x="4427984" y="0"/>
              <a:chExt cx="1944216" cy="1152525"/>
            </a:xfrm>
          </p:grpSpPr>
          <p:pic>
            <p:nvPicPr>
              <p:cNvPr id="10242" name="Picture 2" descr="Banner, Header, Mathematik, Formel, Physik, Schule"/>
              <p:cNvPicPr>
                <a:picLocks noChangeAspect="1" noChangeArrowheads="1"/>
              </p:cNvPicPr>
              <p:nvPr userDrawn="1"/>
            </p:nvPicPr>
            <p:blipFill>
              <a:blip r:embed="rId13" cstate="print"/>
              <a:srcRect/>
              <a:stretch>
                <a:fillRect/>
              </a:stretch>
            </p:blipFill>
            <p:spPr bwMode="auto">
              <a:xfrm>
                <a:off x="4427984" y="0"/>
                <a:ext cx="1944216" cy="267494"/>
              </a:xfrm>
              <a:prstGeom prst="rect">
                <a:avLst/>
              </a:prstGeom>
              <a:noFill/>
            </p:spPr>
          </p:pic>
          <p:pic>
            <p:nvPicPr>
              <p:cNvPr id="23" name="Picture 2" descr="Banner, Header, Mathematik, Formel, Physik, Schule"/>
              <p:cNvPicPr>
                <a:picLocks noChangeAspect="1" noChangeArrowheads="1"/>
              </p:cNvPicPr>
              <p:nvPr userDrawn="1"/>
            </p:nvPicPr>
            <p:blipFill>
              <a:blip r:embed="rId14" cstate="print"/>
              <a:srcRect/>
              <a:stretch>
                <a:fillRect/>
              </a:stretch>
            </p:blipFill>
            <p:spPr bwMode="auto">
              <a:xfrm>
                <a:off x="4572000" y="267494"/>
                <a:ext cx="1656184" cy="432048"/>
              </a:xfrm>
              <a:prstGeom prst="rect">
                <a:avLst/>
              </a:prstGeom>
              <a:noFill/>
            </p:spPr>
          </p:pic>
          <p:pic>
            <p:nvPicPr>
              <p:cNvPr id="26" name="Picture 2" descr="Banner, Header, Mathematik, Formel, Physik, Schule"/>
              <p:cNvPicPr>
                <a:picLocks noChangeAspect="1" noChangeArrowheads="1"/>
              </p:cNvPicPr>
              <p:nvPr userDrawn="1"/>
            </p:nvPicPr>
            <p:blipFill>
              <a:blip r:embed="rId15" cstate="print"/>
              <a:srcRect/>
              <a:stretch>
                <a:fillRect/>
              </a:stretch>
            </p:blipFill>
            <p:spPr bwMode="auto">
              <a:xfrm>
                <a:off x="4716016" y="689073"/>
                <a:ext cx="1368152" cy="463452"/>
              </a:xfrm>
              <a:prstGeom prst="rect">
                <a:avLst/>
              </a:prstGeom>
              <a:noFill/>
            </p:spPr>
          </p:pic>
        </p:grpSp>
      </p:grpSp>
      <p:sp>
        <p:nvSpPr>
          <p:cNvPr id="2" name="Titel 1"/>
          <p:cNvSpPr>
            <a:spLocks noGrp="1"/>
          </p:cNvSpPr>
          <p:nvPr userDrawn="1">
            <p:ph type="ctrTitle"/>
          </p:nvPr>
        </p:nvSpPr>
        <p:spPr>
          <a:xfrm>
            <a:off x="685800" y="1347614"/>
            <a:ext cx="7772400" cy="864095"/>
          </a:xfrm>
          <a:prstGeom prst="rect">
            <a:avLst/>
          </a:prstGeom>
          <a:solidFill>
            <a:schemeClr val="tx2"/>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a:lstStyle>
            <a:lvl1pPr algn="ctr">
              <a:defRPr/>
            </a:lvl1pPr>
          </a:lstStyle>
          <a:p>
            <a:r>
              <a:rPr lang="de-DE" dirty="0"/>
              <a:t>Titelmasterformat durch Klicken bearbeiten</a:t>
            </a:r>
          </a:p>
        </p:txBody>
      </p:sp>
      <p:sp>
        <p:nvSpPr>
          <p:cNvPr id="3" name="Untertitel 2"/>
          <p:cNvSpPr>
            <a:spLocks noGrp="1"/>
          </p:cNvSpPr>
          <p:nvPr userDrawn="1">
            <p:ph type="subTitle" idx="1"/>
          </p:nvPr>
        </p:nvSpPr>
        <p:spPr>
          <a:xfrm>
            <a:off x="1371600" y="2355726"/>
            <a:ext cx="6400800" cy="1314450"/>
          </a:xfrm>
          <a:prstGeom prst="rect">
            <a:avLst/>
          </a:prstGeom>
        </p:spPr>
        <p:txBody>
          <a:bodyPr/>
          <a:lstStyle>
            <a:lvl1pPr marL="0" indent="0" algn="ctr">
              <a:buNone/>
              <a:defRPr sz="140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de-DE" dirty="0"/>
              <a:t>Formatvorlage des Untertitelmasters durch Klicken bearbeiten</a:t>
            </a:r>
          </a:p>
        </p:txBody>
      </p:sp>
      <p:sp>
        <p:nvSpPr>
          <p:cNvPr id="13" name="Textfeld 12"/>
          <p:cNvSpPr txBox="1"/>
          <p:nvPr userDrawn="1">
            <p:custDataLst>
              <p:tags r:id="rId1"/>
            </p:custDataLst>
          </p:nvPr>
        </p:nvSpPr>
        <p:spPr>
          <a:xfrm>
            <a:off x="7543657" y="720080"/>
            <a:ext cx="1505540" cy="369332"/>
          </a:xfrm>
          <a:prstGeom prst="rect">
            <a:avLst/>
          </a:prstGeom>
          <a:noFill/>
        </p:spPr>
        <p:txBody>
          <a:bodyPr wrap="non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sysClr val="windowText" lastClr="000000"/>
                </a:solidFill>
                <a:effectLst/>
                <a:uLnTx/>
                <a:uFillTx/>
              </a:rPr>
              <a:t>Florian Rupp</a:t>
            </a:r>
          </a:p>
        </p:txBody>
      </p:sp>
      <p:sp>
        <p:nvSpPr>
          <p:cNvPr id="14" name="Freihandform 13"/>
          <p:cNvSpPr/>
          <p:nvPr userDrawn="1">
            <p:custDataLst>
              <p:tags r:id="rId2"/>
            </p:custDataLst>
          </p:nvPr>
        </p:nvSpPr>
        <p:spPr>
          <a:xfrm flipH="1">
            <a:off x="6024860" y="447"/>
            <a:ext cx="3131840" cy="1151235"/>
          </a:xfrm>
          <a:custGeom>
            <a:avLst/>
            <a:gdLst>
              <a:gd name="connsiteX0" fmla="*/ 0 w 1955800"/>
              <a:gd name="connsiteY0" fmla="*/ 0 h 1143000"/>
              <a:gd name="connsiteX1" fmla="*/ 1485900 w 1955800"/>
              <a:gd name="connsiteY1" fmla="*/ 0 h 1143000"/>
              <a:gd name="connsiteX2" fmla="*/ 1955800 w 1955800"/>
              <a:gd name="connsiteY2" fmla="*/ 1143000 h 1143000"/>
              <a:gd name="connsiteX3" fmla="*/ 0 w 1955800"/>
              <a:gd name="connsiteY3" fmla="*/ 1143000 h 1143000"/>
              <a:gd name="connsiteX4" fmla="*/ 0 w 1955800"/>
              <a:gd name="connsiteY4" fmla="*/ 0 h 1143000"/>
              <a:gd name="connsiteX0" fmla="*/ 0 w 1955800"/>
              <a:gd name="connsiteY0" fmla="*/ 0 h 1143000"/>
              <a:gd name="connsiteX1" fmla="*/ 1641023 w 1955800"/>
              <a:gd name="connsiteY1" fmla="*/ 0 h 1143000"/>
              <a:gd name="connsiteX2" fmla="*/ 1955800 w 1955800"/>
              <a:gd name="connsiteY2" fmla="*/ 1143000 h 1143000"/>
              <a:gd name="connsiteX3" fmla="*/ 0 w 1955800"/>
              <a:gd name="connsiteY3" fmla="*/ 1143000 h 1143000"/>
              <a:gd name="connsiteX4" fmla="*/ 0 w 1955800"/>
              <a:gd name="connsiteY4" fmla="*/ 0 h 1143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55800" h="1143000">
                <a:moveTo>
                  <a:pt x="0" y="0"/>
                </a:moveTo>
                <a:lnTo>
                  <a:pt x="1641023" y="0"/>
                </a:lnTo>
                <a:lnTo>
                  <a:pt x="1955800" y="1143000"/>
                </a:lnTo>
                <a:lnTo>
                  <a:pt x="0" y="1143000"/>
                </a:lnTo>
                <a:lnTo>
                  <a:pt x="0" y="0"/>
                </a:lnTo>
                <a:close/>
              </a:path>
            </a:pathLst>
          </a:custGeom>
          <a:solidFill>
            <a:schemeClr val="tx2"/>
          </a:solidFill>
          <a:ln w="25400" cap="rnd"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ysClr val="window" lastClr="FFFFFF"/>
              </a:solidFill>
              <a:effectLst/>
              <a:uLnTx/>
              <a:uFillTx/>
              <a:latin typeface="Calibri"/>
              <a:ea typeface="+mn-ea"/>
              <a:cs typeface="+mn-cs"/>
            </a:endParaRPr>
          </a:p>
        </p:txBody>
      </p:sp>
      <p:sp>
        <p:nvSpPr>
          <p:cNvPr id="15" name="Parallelogramm 14"/>
          <p:cNvSpPr/>
          <p:nvPr userDrawn="1">
            <p:custDataLst>
              <p:tags r:id="rId3"/>
            </p:custDataLst>
          </p:nvPr>
        </p:nvSpPr>
        <p:spPr>
          <a:xfrm>
            <a:off x="5808836" y="1"/>
            <a:ext cx="792088" cy="1152128"/>
          </a:xfrm>
          <a:prstGeom prst="parallelogram">
            <a:avLst>
              <a:gd name="adj" fmla="val 63481"/>
            </a:avLst>
          </a:prstGeom>
          <a:solidFill>
            <a:srgbClr val="F79646">
              <a:lumMod val="75000"/>
            </a:srgbClr>
          </a:solidFill>
          <a:ln w="25400" cap="rnd"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ysClr val="window" lastClr="FFFFFF"/>
              </a:solidFill>
              <a:effectLst/>
              <a:uLnTx/>
              <a:uFillTx/>
              <a:latin typeface="Calibri"/>
              <a:ea typeface="+mn-ea"/>
              <a:cs typeface="+mn-cs"/>
            </a:endParaRPr>
          </a:p>
        </p:txBody>
      </p:sp>
      <p:sp>
        <p:nvSpPr>
          <p:cNvPr id="16" name="Parallelogramm 15"/>
          <p:cNvSpPr/>
          <p:nvPr userDrawn="1">
            <p:custDataLst>
              <p:tags r:id="rId4"/>
            </p:custDataLst>
          </p:nvPr>
        </p:nvSpPr>
        <p:spPr>
          <a:xfrm>
            <a:off x="2568476" y="1"/>
            <a:ext cx="1152128" cy="1152128"/>
          </a:xfrm>
          <a:prstGeom prst="parallelogram">
            <a:avLst>
              <a:gd name="adj" fmla="val 52628"/>
            </a:avLst>
          </a:prstGeom>
          <a:solidFill>
            <a:srgbClr val="1F497D">
              <a:lumMod val="60000"/>
              <a:lumOff val="40000"/>
            </a:srgbClr>
          </a:solidFill>
          <a:ln w="25400" cap="rnd"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ysClr val="window" lastClr="FFFFFF"/>
              </a:solidFill>
              <a:effectLst/>
              <a:uLnTx/>
              <a:uFillTx/>
              <a:latin typeface="Calibri"/>
              <a:ea typeface="+mn-ea"/>
              <a:cs typeface="+mn-cs"/>
            </a:endParaRPr>
          </a:p>
        </p:txBody>
      </p:sp>
      <p:sp>
        <p:nvSpPr>
          <p:cNvPr id="17" name="Parallelogramm 16"/>
          <p:cNvSpPr/>
          <p:nvPr userDrawn="1">
            <p:custDataLst>
              <p:tags r:id="rId5"/>
            </p:custDataLst>
          </p:nvPr>
        </p:nvSpPr>
        <p:spPr>
          <a:xfrm flipH="1">
            <a:off x="4296668" y="1"/>
            <a:ext cx="648072" cy="1152128"/>
          </a:xfrm>
          <a:prstGeom prst="parallelogram">
            <a:avLst>
              <a:gd name="adj" fmla="val 68305"/>
            </a:avLst>
          </a:prstGeom>
          <a:solidFill>
            <a:srgbClr val="F79646"/>
          </a:solidFill>
          <a:ln w="25400" cap="rnd"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ysClr val="window" lastClr="FFFFFF"/>
              </a:solidFill>
              <a:effectLst/>
              <a:uLnTx/>
              <a:uFillTx/>
              <a:latin typeface="Calibri"/>
              <a:ea typeface="+mn-ea"/>
              <a:cs typeface="+mn-cs"/>
            </a:endParaRPr>
          </a:p>
        </p:txBody>
      </p:sp>
      <p:sp>
        <p:nvSpPr>
          <p:cNvPr id="18" name="Parallelogramm 17"/>
          <p:cNvSpPr/>
          <p:nvPr userDrawn="1">
            <p:custDataLst>
              <p:tags r:id="rId6"/>
            </p:custDataLst>
          </p:nvPr>
        </p:nvSpPr>
        <p:spPr>
          <a:xfrm>
            <a:off x="2568476" y="1"/>
            <a:ext cx="1008112" cy="1152128"/>
          </a:xfrm>
          <a:prstGeom prst="parallelogram">
            <a:avLst>
              <a:gd name="adj" fmla="val 88390"/>
            </a:avLst>
          </a:prstGeom>
          <a:solidFill>
            <a:srgbClr val="4F81BD">
              <a:lumMod val="20000"/>
              <a:lumOff val="80000"/>
            </a:srgbClr>
          </a:solidFill>
          <a:ln w="25400" cap="rnd"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ysClr val="window" lastClr="FFFFFF"/>
              </a:solidFill>
              <a:effectLst/>
              <a:uLnTx/>
              <a:uFillTx/>
              <a:latin typeface="Calibri"/>
              <a:ea typeface="+mn-ea"/>
              <a:cs typeface="+mn-cs"/>
            </a:endParaRPr>
          </a:p>
        </p:txBody>
      </p:sp>
      <p:sp>
        <p:nvSpPr>
          <p:cNvPr id="19" name="Freihandform 18"/>
          <p:cNvSpPr/>
          <p:nvPr userDrawn="1">
            <p:custDataLst>
              <p:tags r:id="rId7"/>
            </p:custDataLst>
          </p:nvPr>
        </p:nvSpPr>
        <p:spPr>
          <a:xfrm>
            <a:off x="0" y="0"/>
            <a:ext cx="1955800" cy="1151235"/>
          </a:xfrm>
          <a:custGeom>
            <a:avLst/>
            <a:gdLst>
              <a:gd name="connsiteX0" fmla="*/ 0 w 1955800"/>
              <a:gd name="connsiteY0" fmla="*/ 0 h 1143000"/>
              <a:gd name="connsiteX1" fmla="*/ 1485900 w 1955800"/>
              <a:gd name="connsiteY1" fmla="*/ 0 h 1143000"/>
              <a:gd name="connsiteX2" fmla="*/ 1955800 w 1955800"/>
              <a:gd name="connsiteY2" fmla="*/ 1143000 h 1143000"/>
              <a:gd name="connsiteX3" fmla="*/ 0 w 1955800"/>
              <a:gd name="connsiteY3" fmla="*/ 1143000 h 1143000"/>
              <a:gd name="connsiteX4" fmla="*/ 0 w 1955800"/>
              <a:gd name="connsiteY4" fmla="*/ 0 h 1143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55800" h="1143000">
                <a:moveTo>
                  <a:pt x="0" y="0"/>
                </a:moveTo>
                <a:lnTo>
                  <a:pt x="1485900" y="0"/>
                </a:lnTo>
                <a:lnTo>
                  <a:pt x="1955800" y="1143000"/>
                </a:lnTo>
                <a:lnTo>
                  <a:pt x="0" y="1143000"/>
                </a:lnTo>
                <a:lnTo>
                  <a:pt x="0" y="0"/>
                </a:lnTo>
                <a:close/>
              </a:path>
            </a:pathLst>
          </a:custGeom>
          <a:solidFill>
            <a:schemeClr val="tx2"/>
          </a:solidFill>
          <a:ln w="25400" cap="rnd"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ysClr val="window" lastClr="FFFFFF"/>
              </a:solidFill>
              <a:effectLst/>
              <a:uLnTx/>
              <a:uFillTx/>
              <a:latin typeface="Calibri"/>
              <a:ea typeface="+mn-ea"/>
              <a:cs typeface="+mn-cs"/>
            </a:endParaRPr>
          </a:p>
        </p:txBody>
      </p:sp>
      <p:sp>
        <p:nvSpPr>
          <p:cNvPr id="20" name="Freihandform 19"/>
          <p:cNvSpPr/>
          <p:nvPr userDrawn="1">
            <p:custDataLst>
              <p:tags r:id="rId8"/>
            </p:custDataLst>
          </p:nvPr>
        </p:nvSpPr>
        <p:spPr>
          <a:xfrm>
            <a:off x="2580060" y="1"/>
            <a:ext cx="924520" cy="1151235"/>
          </a:xfrm>
          <a:custGeom>
            <a:avLst/>
            <a:gdLst>
              <a:gd name="connsiteX0" fmla="*/ 0 w 1955800"/>
              <a:gd name="connsiteY0" fmla="*/ 0 h 1143000"/>
              <a:gd name="connsiteX1" fmla="*/ 1485900 w 1955800"/>
              <a:gd name="connsiteY1" fmla="*/ 0 h 1143000"/>
              <a:gd name="connsiteX2" fmla="*/ 1955800 w 1955800"/>
              <a:gd name="connsiteY2" fmla="*/ 1143000 h 1143000"/>
              <a:gd name="connsiteX3" fmla="*/ 0 w 1955800"/>
              <a:gd name="connsiteY3" fmla="*/ 1143000 h 1143000"/>
              <a:gd name="connsiteX4" fmla="*/ 0 w 1955800"/>
              <a:gd name="connsiteY4" fmla="*/ 0 h 1143000"/>
              <a:gd name="connsiteX0" fmla="*/ 0 w 2880320"/>
              <a:gd name="connsiteY0" fmla="*/ 0 h 1143000"/>
              <a:gd name="connsiteX1" fmla="*/ 2880320 w 2880320"/>
              <a:gd name="connsiteY1" fmla="*/ 0 h 1143000"/>
              <a:gd name="connsiteX2" fmla="*/ 1955800 w 2880320"/>
              <a:gd name="connsiteY2" fmla="*/ 1143000 h 1143000"/>
              <a:gd name="connsiteX3" fmla="*/ 0 w 2880320"/>
              <a:gd name="connsiteY3" fmla="*/ 1143000 h 1143000"/>
              <a:gd name="connsiteX4" fmla="*/ 0 w 2880320"/>
              <a:gd name="connsiteY4" fmla="*/ 0 h 1143000"/>
              <a:gd name="connsiteX0" fmla="*/ 2160240 w 2880320"/>
              <a:gd name="connsiteY0" fmla="*/ 0 h 1143000"/>
              <a:gd name="connsiteX1" fmla="*/ 2880320 w 2880320"/>
              <a:gd name="connsiteY1" fmla="*/ 0 h 1143000"/>
              <a:gd name="connsiteX2" fmla="*/ 1955800 w 2880320"/>
              <a:gd name="connsiteY2" fmla="*/ 1143000 h 1143000"/>
              <a:gd name="connsiteX3" fmla="*/ 0 w 2880320"/>
              <a:gd name="connsiteY3" fmla="*/ 1143000 h 1143000"/>
              <a:gd name="connsiteX4" fmla="*/ 2160240 w 2880320"/>
              <a:gd name="connsiteY4" fmla="*/ 0 h 1143000"/>
              <a:gd name="connsiteX0" fmla="*/ 204440 w 924520"/>
              <a:gd name="connsiteY0" fmla="*/ 0 h 1143000"/>
              <a:gd name="connsiteX1" fmla="*/ 924520 w 924520"/>
              <a:gd name="connsiteY1" fmla="*/ 0 h 1143000"/>
              <a:gd name="connsiteX2" fmla="*/ 0 w 924520"/>
              <a:gd name="connsiteY2" fmla="*/ 1143000 h 1143000"/>
              <a:gd name="connsiteX3" fmla="*/ 132432 w 924520"/>
              <a:gd name="connsiteY3" fmla="*/ 643436 h 1143000"/>
              <a:gd name="connsiteX4" fmla="*/ 204440 w 924520"/>
              <a:gd name="connsiteY4" fmla="*/ 0 h 1143000"/>
              <a:gd name="connsiteX0" fmla="*/ 204440 w 924520"/>
              <a:gd name="connsiteY0" fmla="*/ 0 h 1143000"/>
              <a:gd name="connsiteX1" fmla="*/ 924520 w 924520"/>
              <a:gd name="connsiteY1" fmla="*/ 0 h 1143000"/>
              <a:gd name="connsiteX2" fmla="*/ 0 w 924520"/>
              <a:gd name="connsiteY2" fmla="*/ 1143000 h 1143000"/>
              <a:gd name="connsiteX3" fmla="*/ 348456 w 924520"/>
              <a:gd name="connsiteY3" fmla="*/ 571943 h 1143000"/>
              <a:gd name="connsiteX4" fmla="*/ 204440 w 924520"/>
              <a:gd name="connsiteY4" fmla="*/ 0 h 1143000"/>
              <a:gd name="connsiteX0" fmla="*/ 348456 w 924520"/>
              <a:gd name="connsiteY0" fmla="*/ 0 h 1143000"/>
              <a:gd name="connsiteX1" fmla="*/ 924520 w 924520"/>
              <a:gd name="connsiteY1" fmla="*/ 0 h 1143000"/>
              <a:gd name="connsiteX2" fmla="*/ 0 w 924520"/>
              <a:gd name="connsiteY2" fmla="*/ 1143000 h 1143000"/>
              <a:gd name="connsiteX3" fmla="*/ 348456 w 924520"/>
              <a:gd name="connsiteY3" fmla="*/ 571943 h 1143000"/>
              <a:gd name="connsiteX4" fmla="*/ 348456 w 924520"/>
              <a:gd name="connsiteY4" fmla="*/ 0 h 1143000"/>
              <a:gd name="connsiteX0" fmla="*/ 348456 w 924520"/>
              <a:gd name="connsiteY0" fmla="*/ 571943 h 1143000"/>
              <a:gd name="connsiteX1" fmla="*/ 924520 w 924520"/>
              <a:gd name="connsiteY1" fmla="*/ 0 h 1143000"/>
              <a:gd name="connsiteX2" fmla="*/ 0 w 924520"/>
              <a:gd name="connsiteY2" fmla="*/ 1143000 h 1143000"/>
              <a:gd name="connsiteX3" fmla="*/ 348456 w 924520"/>
              <a:gd name="connsiteY3" fmla="*/ 571943 h 1143000"/>
              <a:gd name="connsiteX0" fmla="*/ 420464 w 924520"/>
              <a:gd name="connsiteY0" fmla="*/ 0 h 1143000"/>
              <a:gd name="connsiteX1" fmla="*/ 924520 w 924520"/>
              <a:gd name="connsiteY1" fmla="*/ 0 h 1143000"/>
              <a:gd name="connsiteX2" fmla="*/ 0 w 924520"/>
              <a:gd name="connsiteY2" fmla="*/ 1143000 h 1143000"/>
              <a:gd name="connsiteX3" fmla="*/ 420464 w 924520"/>
              <a:gd name="connsiteY3" fmla="*/ 0 h 1143000"/>
            </a:gdLst>
            <a:ahLst/>
            <a:cxnLst>
              <a:cxn ang="0">
                <a:pos x="connsiteX0" y="connsiteY0"/>
              </a:cxn>
              <a:cxn ang="0">
                <a:pos x="connsiteX1" y="connsiteY1"/>
              </a:cxn>
              <a:cxn ang="0">
                <a:pos x="connsiteX2" y="connsiteY2"/>
              </a:cxn>
              <a:cxn ang="0">
                <a:pos x="connsiteX3" y="connsiteY3"/>
              </a:cxn>
            </a:cxnLst>
            <a:rect l="l" t="t" r="r" b="b"/>
            <a:pathLst>
              <a:path w="924520" h="1143000">
                <a:moveTo>
                  <a:pt x="420464" y="0"/>
                </a:moveTo>
                <a:lnTo>
                  <a:pt x="924520" y="0"/>
                </a:lnTo>
                <a:lnTo>
                  <a:pt x="0" y="1143000"/>
                </a:lnTo>
                <a:lnTo>
                  <a:pt x="420464" y="0"/>
                </a:lnTo>
                <a:close/>
              </a:path>
            </a:pathLst>
          </a:custGeom>
          <a:solidFill>
            <a:srgbClr val="F79646">
              <a:lumMod val="75000"/>
            </a:srgbClr>
          </a:solidFill>
          <a:ln w="25400" cap="rnd"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ysClr val="window" lastClr="FFFFFF"/>
              </a:solidFill>
              <a:effectLst/>
              <a:uLnTx/>
              <a:uFillTx/>
              <a:latin typeface="Calibri"/>
              <a:ea typeface="+mn-ea"/>
              <a:cs typeface="+mn-cs"/>
            </a:endParaRPr>
          </a:p>
        </p:txBody>
      </p:sp>
      <p:sp>
        <p:nvSpPr>
          <p:cNvPr id="21" name="Rechteck 20"/>
          <p:cNvSpPr/>
          <p:nvPr userDrawn="1">
            <p:custDataLst>
              <p:tags r:id="rId9"/>
            </p:custDataLst>
          </p:nvPr>
        </p:nvSpPr>
        <p:spPr>
          <a:xfrm>
            <a:off x="795" y="648469"/>
            <a:ext cx="9155906" cy="504056"/>
          </a:xfrm>
          <a:prstGeom prst="rect">
            <a:avLst/>
          </a:prstGeom>
          <a:solidFill>
            <a:srgbClr val="FFFFFF">
              <a:alpha val="40000"/>
            </a:srgbClr>
          </a:solidFill>
          <a:ln w="25400" cap="rnd"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ysClr val="window" lastClr="FFFFFF"/>
              </a:solidFill>
              <a:effectLst/>
              <a:uLnTx/>
              <a:uFillTx/>
              <a:latin typeface="Calibri"/>
              <a:ea typeface="+mn-ea"/>
              <a:cs typeface="+mn-cs"/>
            </a:endParaRPr>
          </a:p>
        </p:txBody>
      </p:sp>
      <p:sp>
        <p:nvSpPr>
          <p:cNvPr id="22" name="Rectangle 3"/>
          <p:cNvSpPr txBox="1">
            <a:spLocks noChangeArrowheads="1"/>
          </p:cNvSpPr>
          <p:nvPr userDrawn="1"/>
        </p:nvSpPr>
        <p:spPr bwMode="auto">
          <a:xfrm>
            <a:off x="845840" y="4240838"/>
            <a:ext cx="7452320" cy="851192"/>
          </a:xfrm>
          <a:prstGeom prst="rect">
            <a:avLst/>
          </a:prstGeom>
          <a:noFill/>
          <a:ln>
            <a:miter lim="800000"/>
            <a:headEnd/>
            <a:tailEnd/>
          </a:ln>
        </p:spPr>
        <p:txBody>
          <a:bodyPr vert="horz" wrap="square" lIns="91440" tIns="45720" rIns="91440" bIns="45720" numCol="1" anchor="b" anchorCtr="0" compatLnSpc="1">
            <a:prstTxWarp prst="textNoShape">
              <a:avLst/>
            </a:prstTxWarp>
          </a:bodyPr>
          <a:lstStyle/>
          <a:p>
            <a:pPr lvl="0" algn="ctr">
              <a:spcBef>
                <a:spcPct val="20000"/>
              </a:spcBef>
              <a:defRPr/>
            </a:pPr>
            <a:r>
              <a:rPr lang="en-US" sz="1400" b="1" kern="0" dirty="0">
                <a:latin typeface="+mn-lt"/>
              </a:rPr>
              <a:t>Prof. Dr. Dr. </a:t>
            </a:r>
            <a:r>
              <a:rPr lang="en-US" sz="1400" b="1" kern="0" dirty="0" err="1">
                <a:latin typeface="+mn-lt"/>
              </a:rPr>
              <a:t>h.c</a:t>
            </a:r>
            <a:r>
              <a:rPr lang="en-US" sz="1400" b="1" kern="0" dirty="0">
                <a:latin typeface="+mn-lt"/>
              </a:rPr>
              <a:t>. Florian Rupp</a:t>
            </a:r>
            <a:endParaRPr kumimoji="0" lang="en-US" sz="1400" b="1" i="0" u="none" strike="noStrike" kern="0" cap="none" spc="0" normalizeH="0" baseline="0" noProof="0" dirty="0">
              <a:ln>
                <a:noFill/>
              </a:ln>
              <a:solidFill>
                <a:schemeClr val="tx1"/>
              </a:solidFill>
              <a:effectLst/>
              <a:uLnTx/>
              <a:uFillTx/>
              <a:latin typeface="+mn-lt"/>
              <a:ea typeface="+mn-ea"/>
              <a:cs typeface="+mn-cs"/>
            </a:endParaRPr>
          </a:p>
          <a:p>
            <a:pPr marL="0" marR="0" lvl="0" indent="0" algn="ctr" defTabSz="914400" rtl="0" eaLnBrk="1" fontAlgn="base" latinLnBrk="0" hangingPunct="1">
              <a:lnSpc>
                <a:spcPct val="100000"/>
              </a:lnSpc>
              <a:spcBef>
                <a:spcPct val="20000"/>
              </a:spcBef>
              <a:spcAft>
                <a:spcPct val="0"/>
              </a:spcAft>
              <a:buClrTx/>
              <a:buSzTx/>
              <a:buFontTx/>
              <a:buNone/>
              <a:tabLst/>
              <a:defRPr/>
            </a:pPr>
            <a:endParaRPr lang="en-US" sz="500" dirty="0"/>
          </a:p>
          <a:p>
            <a:pPr algn="ctr" eaLnBrk="1" hangingPunct="1"/>
            <a:r>
              <a:rPr lang="en-US" sz="1400" baseline="0" dirty="0"/>
              <a:t>Western Caspian University &amp; </a:t>
            </a:r>
            <a:r>
              <a:rPr lang="en-US" sz="1400" dirty="0"/>
              <a:t>Kutaisi International</a:t>
            </a:r>
            <a:r>
              <a:rPr lang="en-US" sz="1400" baseline="0" dirty="0"/>
              <a:t> University</a:t>
            </a:r>
            <a:endParaRPr lang="en-US" sz="1400" dirty="0"/>
          </a:p>
        </p:txBody>
      </p:sp>
      <p:pic>
        <p:nvPicPr>
          <p:cNvPr id="24" name="Grafik 23" descr="index.png"/>
          <p:cNvPicPr>
            <a:picLocks noChangeAspect="1"/>
          </p:cNvPicPr>
          <p:nvPr userDrawn="1"/>
        </p:nvPicPr>
        <p:blipFill>
          <a:blip r:embed="rId16" cstate="print"/>
          <a:stretch>
            <a:fillRect/>
          </a:stretch>
        </p:blipFill>
        <p:spPr>
          <a:xfrm>
            <a:off x="179513" y="4437868"/>
            <a:ext cx="1872207" cy="582154"/>
          </a:xfrm>
          <a:prstGeom prst="rect">
            <a:avLst/>
          </a:prstGeom>
        </p:spPr>
      </p:pic>
      <p:pic>
        <p:nvPicPr>
          <p:cNvPr id="27650" name="Picture 2" descr="https://www.iau-hesd.net/sites/default/files/styles/medium/public/media_logo/western_caspian_university.jpg?itok=s4WTrk6k"/>
          <p:cNvPicPr>
            <a:picLocks noChangeAspect="1" noChangeArrowheads="1"/>
          </p:cNvPicPr>
          <p:nvPr userDrawn="1"/>
        </p:nvPicPr>
        <p:blipFill>
          <a:blip r:embed="rId17" cstate="print"/>
          <a:srcRect/>
          <a:stretch>
            <a:fillRect/>
          </a:stretch>
        </p:blipFill>
        <p:spPr bwMode="auto">
          <a:xfrm>
            <a:off x="251520" y="3219822"/>
            <a:ext cx="1013731" cy="1054898"/>
          </a:xfrm>
          <a:prstGeom prst="rect">
            <a:avLst/>
          </a:prstGeom>
          <a:noFill/>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Nur Titel">
    <p:spTree>
      <p:nvGrpSpPr>
        <p:cNvPr id="1" name=""/>
        <p:cNvGrpSpPr/>
        <p:nvPr/>
      </p:nvGrpSpPr>
      <p:grpSpPr>
        <a:xfrm>
          <a:off x="0" y="0"/>
          <a:ext cx="0" cy="0"/>
          <a:chOff x="0" y="0"/>
          <a:chExt cx="0" cy="0"/>
        </a:xfrm>
      </p:grpSpPr>
      <p:sp>
        <p:nvSpPr>
          <p:cNvPr id="6" name="Rectangle 2"/>
          <p:cNvSpPr>
            <a:spLocks noGrp="1" noChangeArrowheads="1"/>
          </p:cNvSpPr>
          <p:nvPr>
            <p:ph type="title"/>
          </p:nvPr>
        </p:nvSpPr>
        <p:spPr bwMode="auto">
          <a:xfrm>
            <a:off x="971600" y="52707"/>
            <a:ext cx="8064896" cy="709613"/>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de-DE" dirty="0"/>
              <a:t>Titelmasterformat durch Klicken bearbeiten</a:t>
            </a: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blank" preserve="1">
  <p:cSld name="Leer">
    <p:spTree>
      <p:nvGrpSpPr>
        <p:cNvPr id="1" name=""/>
        <p:cNvGrpSpPr/>
        <p:nvPr/>
      </p:nvGrpSpPr>
      <p:grpSpPr>
        <a:xfrm>
          <a:off x="0" y="0"/>
          <a:ext cx="0" cy="0"/>
          <a:chOff x="0" y="0"/>
          <a:chExt cx="0" cy="0"/>
        </a:xfrm>
      </p:grpSpPr>
      <p:sp>
        <p:nvSpPr>
          <p:cNvPr id="20" name="Rechteck 19"/>
          <p:cNvSpPr/>
          <p:nvPr userDrawn="1"/>
        </p:nvSpPr>
        <p:spPr>
          <a:xfrm>
            <a:off x="6084168" y="0"/>
            <a:ext cx="3059832" cy="810000"/>
          </a:xfrm>
          <a:prstGeom prst="rect">
            <a:avLst/>
          </a:prstGeom>
          <a:solidFill>
            <a:schemeClr val="tx2"/>
          </a:solidFill>
          <a:ln w="25400" cap="rnd" cmpd="sng" algn="ctr">
            <a:noFill/>
            <a:prstDash val="soli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ysClr val="window" lastClr="FFFFFF"/>
              </a:solidFill>
              <a:effectLst/>
              <a:uLnTx/>
              <a:uFillTx/>
              <a:latin typeface="Calibri"/>
              <a:ea typeface="+mn-ea"/>
              <a:cs typeface="+mn-cs"/>
            </a:endParaRPr>
          </a:p>
        </p:txBody>
      </p:sp>
      <p:sp>
        <p:nvSpPr>
          <p:cNvPr id="19" name="Rechteck 18"/>
          <p:cNvSpPr/>
          <p:nvPr>
            <p:custDataLst>
              <p:tags r:id="rId1"/>
            </p:custDataLst>
          </p:nvPr>
        </p:nvSpPr>
        <p:spPr>
          <a:xfrm>
            <a:off x="560" y="456093"/>
            <a:ext cx="9143440" cy="354739"/>
          </a:xfrm>
          <a:prstGeom prst="rect">
            <a:avLst/>
          </a:prstGeom>
          <a:solidFill>
            <a:srgbClr val="FFFFFF">
              <a:alpha val="40000"/>
            </a:srgbClr>
          </a:solidFill>
          <a:ln w="25400" cap="rnd"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ysClr val="window" lastClr="FFFFFF"/>
              </a:solidFill>
              <a:effectLst/>
              <a:uLnTx/>
              <a:uFillTx/>
              <a:latin typeface="Calibri"/>
              <a:ea typeface="+mn-ea"/>
              <a:cs typeface="+mn-cs"/>
            </a:endParaRPr>
          </a:p>
        </p:txBody>
      </p:sp>
      <p:grpSp>
        <p:nvGrpSpPr>
          <p:cNvPr id="43" name="Gruppieren 42"/>
          <p:cNvGrpSpPr/>
          <p:nvPr userDrawn="1"/>
        </p:nvGrpSpPr>
        <p:grpSpPr>
          <a:xfrm>
            <a:off x="0" y="0"/>
            <a:ext cx="6444207" cy="811112"/>
            <a:chOff x="0" y="0"/>
            <a:chExt cx="9156701" cy="1152525"/>
          </a:xfrm>
        </p:grpSpPr>
        <p:pic>
          <p:nvPicPr>
            <p:cNvPr id="28" name="Picture 8" descr="https://cdn.pixabay.com/photo/2016/04/13/19/23/binary-1327501_960_720.jpg"/>
            <p:cNvPicPr>
              <a:picLocks noChangeAspect="1" noChangeArrowheads="1"/>
            </p:cNvPicPr>
            <p:nvPr userDrawn="1"/>
          </p:nvPicPr>
          <p:blipFill>
            <a:blip r:embed="rId11" cstate="print"/>
            <a:srcRect/>
            <a:stretch>
              <a:fillRect/>
            </a:stretch>
          </p:blipFill>
          <p:spPr bwMode="auto">
            <a:xfrm>
              <a:off x="395536" y="0"/>
              <a:ext cx="2828754" cy="1152128"/>
            </a:xfrm>
            <a:prstGeom prst="rect">
              <a:avLst/>
            </a:prstGeom>
            <a:noFill/>
          </p:spPr>
        </p:pic>
        <p:grpSp>
          <p:nvGrpSpPr>
            <p:cNvPr id="29" name="Gruppieren 28"/>
            <p:cNvGrpSpPr/>
            <p:nvPr userDrawn="1"/>
          </p:nvGrpSpPr>
          <p:grpSpPr>
            <a:xfrm>
              <a:off x="3059832" y="0"/>
              <a:ext cx="3312368" cy="1152525"/>
              <a:chOff x="3059832" y="0"/>
              <a:chExt cx="3312368" cy="1152525"/>
            </a:xfrm>
          </p:grpSpPr>
          <p:pic>
            <p:nvPicPr>
              <p:cNvPr id="30" name="Picture 4" descr="https://scontent-muc2-1.xx.fbcdn.net/v/t1.0-9/105047738_302269647821182_6536006559647297022_o.jpg?_nc_cat=105&amp;_nc_sid=730e14&amp;_nc_ohc=TQF0ZCkImkEAX_9ZuvG&amp;_nc_ht=scontent-muc2-1.xx&amp;oh=0be3c9382f21dded80330d22b968e298&amp;oe=5F833F90"/>
              <p:cNvPicPr>
                <a:picLocks noChangeAspect="1" noChangeArrowheads="1"/>
              </p:cNvPicPr>
              <p:nvPr userDrawn="1"/>
            </p:nvPicPr>
            <p:blipFill>
              <a:blip r:embed="rId12" cstate="print"/>
              <a:srcRect/>
              <a:stretch>
                <a:fillRect/>
              </a:stretch>
            </p:blipFill>
            <p:spPr bwMode="auto">
              <a:xfrm>
                <a:off x="3059832" y="0"/>
                <a:ext cx="1728192" cy="1152128"/>
              </a:xfrm>
              <a:prstGeom prst="rect">
                <a:avLst/>
              </a:prstGeom>
              <a:noFill/>
            </p:spPr>
          </p:pic>
          <p:grpSp>
            <p:nvGrpSpPr>
              <p:cNvPr id="31" name="Gruppieren 26"/>
              <p:cNvGrpSpPr/>
              <p:nvPr userDrawn="1"/>
            </p:nvGrpSpPr>
            <p:grpSpPr>
              <a:xfrm>
                <a:off x="4427984" y="0"/>
                <a:ext cx="1944216" cy="1152525"/>
                <a:chOff x="4427984" y="0"/>
                <a:chExt cx="1944216" cy="1152525"/>
              </a:xfrm>
            </p:grpSpPr>
            <p:pic>
              <p:nvPicPr>
                <p:cNvPr id="32" name="Picture 2" descr="Banner, Header, Mathematik, Formel, Physik, Schule"/>
                <p:cNvPicPr>
                  <a:picLocks noChangeAspect="1" noChangeArrowheads="1"/>
                </p:cNvPicPr>
                <p:nvPr userDrawn="1"/>
              </p:nvPicPr>
              <p:blipFill>
                <a:blip r:embed="rId13" cstate="print"/>
                <a:srcRect/>
                <a:stretch>
                  <a:fillRect/>
                </a:stretch>
              </p:blipFill>
              <p:spPr bwMode="auto">
                <a:xfrm>
                  <a:off x="4427984" y="0"/>
                  <a:ext cx="1944216" cy="267494"/>
                </a:xfrm>
                <a:prstGeom prst="rect">
                  <a:avLst/>
                </a:prstGeom>
                <a:noFill/>
              </p:spPr>
            </p:pic>
            <p:pic>
              <p:nvPicPr>
                <p:cNvPr id="33" name="Picture 2" descr="Banner, Header, Mathematik, Formel, Physik, Schule"/>
                <p:cNvPicPr>
                  <a:picLocks noChangeAspect="1" noChangeArrowheads="1"/>
                </p:cNvPicPr>
                <p:nvPr userDrawn="1"/>
              </p:nvPicPr>
              <p:blipFill>
                <a:blip r:embed="rId14" cstate="print"/>
                <a:srcRect/>
                <a:stretch>
                  <a:fillRect/>
                </a:stretch>
              </p:blipFill>
              <p:spPr bwMode="auto">
                <a:xfrm>
                  <a:off x="4572000" y="267494"/>
                  <a:ext cx="1656184" cy="432048"/>
                </a:xfrm>
                <a:prstGeom prst="rect">
                  <a:avLst/>
                </a:prstGeom>
                <a:noFill/>
              </p:spPr>
            </p:pic>
            <p:pic>
              <p:nvPicPr>
                <p:cNvPr id="34" name="Picture 2" descr="Banner, Header, Mathematik, Formel, Physik, Schule"/>
                <p:cNvPicPr>
                  <a:picLocks noChangeAspect="1" noChangeArrowheads="1"/>
                </p:cNvPicPr>
                <p:nvPr userDrawn="1"/>
              </p:nvPicPr>
              <p:blipFill>
                <a:blip r:embed="rId15" cstate="print"/>
                <a:srcRect/>
                <a:stretch>
                  <a:fillRect/>
                </a:stretch>
              </p:blipFill>
              <p:spPr bwMode="auto">
                <a:xfrm>
                  <a:off x="4716016" y="689073"/>
                  <a:ext cx="1368152" cy="463452"/>
                </a:xfrm>
                <a:prstGeom prst="rect">
                  <a:avLst/>
                </a:prstGeom>
                <a:noFill/>
              </p:spPr>
            </p:pic>
          </p:grpSp>
        </p:grpSp>
        <p:sp>
          <p:nvSpPr>
            <p:cNvPr id="35" name="Freihandform 34"/>
            <p:cNvSpPr/>
            <p:nvPr userDrawn="1">
              <p:custDataLst>
                <p:tags r:id="rId2"/>
              </p:custDataLst>
            </p:nvPr>
          </p:nvSpPr>
          <p:spPr>
            <a:xfrm flipH="1">
              <a:off x="6024860" y="447"/>
              <a:ext cx="3131840" cy="1151235"/>
            </a:xfrm>
            <a:custGeom>
              <a:avLst/>
              <a:gdLst>
                <a:gd name="connsiteX0" fmla="*/ 0 w 1955800"/>
                <a:gd name="connsiteY0" fmla="*/ 0 h 1143000"/>
                <a:gd name="connsiteX1" fmla="*/ 1485900 w 1955800"/>
                <a:gd name="connsiteY1" fmla="*/ 0 h 1143000"/>
                <a:gd name="connsiteX2" fmla="*/ 1955800 w 1955800"/>
                <a:gd name="connsiteY2" fmla="*/ 1143000 h 1143000"/>
                <a:gd name="connsiteX3" fmla="*/ 0 w 1955800"/>
                <a:gd name="connsiteY3" fmla="*/ 1143000 h 1143000"/>
                <a:gd name="connsiteX4" fmla="*/ 0 w 1955800"/>
                <a:gd name="connsiteY4" fmla="*/ 0 h 1143000"/>
                <a:gd name="connsiteX0" fmla="*/ 0 w 1955800"/>
                <a:gd name="connsiteY0" fmla="*/ 0 h 1143000"/>
                <a:gd name="connsiteX1" fmla="*/ 1641023 w 1955800"/>
                <a:gd name="connsiteY1" fmla="*/ 0 h 1143000"/>
                <a:gd name="connsiteX2" fmla="*/ 1955800 w 1955800"/>
                <a:gd name="connsiteY2" fmla="*/ 1143000 h 1143000"/>
                <a:gd name="connsiteX3" fmla="*/ 0 w 1955800"/>
                <a:gd name="connsiteY3" fmla="*/ 1143000 h 1143000"/>
                <a:gd name="connsiteX4" fmla="*/ 0 w 1955800"/>
                <a:gd name="connsiteY4" fmla="*/ 0 h 1143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55800" h="1143000">
                  <a:moveTo>
                    <a:pt x="0" y="0"/>
                  </a:moveTo>
                  <a:lnTo>
                    <a:pt x="1641023" y="0"/>
                  </a:lnTo>
                  <a:lnTo>
                    <a:pt x="1955800" y="1143000"/>
                  </a:lnTo>
                  <a:lnTo>
                    <a:pt x="0" y="1143000"/>
                  </a:lnTo>
                  <a:lnTo>
                    <a:pt x="0" y="0"/>
                  </a:lnTo>
                  <a:close/>
                </a:path>
              </a:pathLst>
            </a:custGeom>
            <a:solidFill>
              <a:schemeClr val="tx2"/>
            </a:solidFill>
            <a:ln w="25400" cap="rnd"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ysClr val="window" lastClr="FFFFFF"/>
                </a:solidFill>
                <a:effectLst/>
                <a:uLnTx/>
                <a:uFillTx/>
                <a:latin typeface="Calibri"/>
                <a:ea typeface="+mn-ea"/>
                <a:cs typeface="+mn-cs"/>
              </a:endParaRPr>
            </a:p>
          </p:txBody>
        </p:sp>
        <p:sp>
          <p:nvSpPr>
            <p:cNvPr id="36" name="Parallelogramm 35"/>
            <p:cNvSpPr/>
            <p:nvPr userDrawn="1">
              <p:custDataLst>
                <p:tags r:id="rId3"/>
              </p:custDataLst>
            </p:nvPr>
          </p:nvSpPr>
          <p:spPr>
            <a:xfrm>
              <a:off x="5808836" y="1"/>
              <a:ext cx="792088" cy="1152128"/>
            </a:xfrm>
            <a:prstGeom prst="parallelogram">
              <a:avLst>
                <a:gd name="adj" fmla="val 63481"/>
              </a:avLst>
            </a:prstGeom>
            <a:solidFill>
              <a:srgbClr val="F79646">
                <a:lumMod val="75000"/>
              </a:srgbClr>
            </a:solidFill>
            <a:ln w="25400" cap="rnd"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ysClr val="window" lastClr="FFFFFF"/>
                </a:solidFill>
                <a:effectLst/>
                <a:uLnTx/>
                <a:uFillTx/>
                <a:latin typeface="Calibri"/>
                <a:ea typeface="+mn-ea"/>
                <a:cs typeface="+mn-cs"/>
              </a:endParaRPr>
            </a:p>
          </p:txBody>
        </p:sp>
        <p:sp>
          <p:nvSpPr>
            <p:cNvPr id="37" name="Parallelogramm 36"/>
            <p:cNvSpPr/>
            <p:nvPr userDrawn="1">
              <p:custDataLst>
                <p:tags r:id="rId4"/>
              </p:custDataLst>
            </p:nvPr>
          </p:nvSpPr>
          <p:spPr>
            <a:xfrm>
              <a:off x="2568476" y="1"/>
              <a:ext cx="1152128" cy="1152128"/>
            </a:xfrm>
            <a:prstGeom prst="parallelogram">
              <a:avLst>
                <a:gd name="adj" fmla="val 52628"/>
              </a:avLst>
            </a:prstGeom>
            <a:solidFill>
              <a:srgbClr val="1F497D">
                <a:lumMod val="60000"/>
                <a:lumOff val="40000"/>
              </a:srgbClr>
            </a:solidFill>
            <a:ln w="25400" cap="rnd"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ysClr val="window" lastClr="FFFFFF"/>
                </a:solidFill>
                <a:effectLst/>
                <a:uLnTx/>
                <a:uFillTx/>
                <a:latin typeface="Calibri"/>
                <a:ea typeface="+mn-ea"/>
                <a:cs typeface="+mn-cs"/>
              </a:endParaRPr>
            </a:p>
          </p:txBody>
        </p:sp>
        <p:sp>
          <p:nvSpPr>
            <p:cNvPr id="38" name="Parallelogramm 37"/>
            <p:cNvSpPr/>
            <p:nvPr userDrawn="1">
              <p:custDataLst>
                <p:tags r:id="rId5"/>
              </p:custDataLst>
            </p:nvPr>
          </p:nvSpPr>
          <p:spPr>
            <a:xfrm flipH="1">
              <a:off x="4296668" y="1"/>
              <a:ext cx="648072" cy="1152128"/>
            </a:xfrm>
            <a:prstGeom prst="parallelogram">
              <a:avLst>
                <a:gd name="adj" fmla="val 68305"/>
              </a:avLst>
            </a:prstGeom>
            <a:solidFill>
              <a:srgbClr val="F79646"/>
            </a:solidFill>
            <a:ln w="25400" cap="rnd"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ysClr val="window" lastClr="FFFFFF"/>
                </a:solidFill>
                <a:effectLst/>
                <a:uLnTx/>
                <a:uFillTx/>
                <a:latin typeface="Calibri"/>
                <a:ea typeface="+mn-ea"/>
                <a:cs typeface="+mn-cs"/>
              </a:endParaRPr>
            </a:p>
          </p:txBody>
        </p:sp>
        <p:sp>
          <p:nvSpPr>
            <p:cNvPr id="39" name="Parallelogramm 38"/>
            <p:cNvSpPr/>
            <p:nvPr userDrawn="1">
              <p:custDataLst>
                <p:tags r:id="rId6"/>
              </p:custDataLst>
            </p:nvPr>
          </p:nvSpPr>
          <p:spPr>
            <a:xfrm>
              <a:off x="2568476" y="1"/>
              <a:ext cx="1008112" cy="1152128"/>
            </a:xfrm>
            <a:prstGeom prst="parallelogram">
              <a:avLst>
                <a:gd name="adj" fmla="val 88390"/>
              </a:avLst>
            </a:prstGeom>
            <a:solidFill>
              <a:srgbClr val="4F81BD">
                <a:lumMod val="20000"/>
                <a:lumOff val="80000"/>
              </a:srgbClr>
            </a:solidFill>
            <a:ln w="25400" cap="rnd"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ysClr val="window" lastClr="FFFFFF"/>
                </a:solidFill>
                <a:effectLst/>
                <a:uLnTx/>
                <a:uFillTx/>
                <a:latin typeface="Calibri"/>
                <a:ea typeface="+mn-ea"/>
                <a:cs typeface="+mn-cs"/>
              </a:endParaRPr>
            </a:p>
          </p:txBody>
        </p:sp>
        <p:sp>
          <p:nvSpPr>
            <p:cNvPr id="40" name="Freihandform 39"/>
            <p:cNvSpPr/>
            <p:nvPr userDrawn="1">
              <p:custDataLst>
                <p:tags r:id="rId7"/>
              </p:custDataLst>
            </p:nvPr>
          </p:nvSpPr>
          <p:spPr>
            <a:xfrm>
              <a:off x="0" y="0"/>
              <a:ext cx="1955800" cy="1151235"/>
            </a:xfrm>
            <a:custGeom>
              <a:avLst/>
              <a:gdLst>
                <a:gd name="connsiteX0" fmla="*/ 0 w 1955800"/>
                <a:gd name="connsiteY0" fmla="*/ 0 h 1143000"/>
                <a:gd name="connsiteX1" fmla="*/ 1485900 w 1955800"/>
                <a:gd name="connsiteY1" fmla="*/ 0 h 1143000"/>
                <a:gd name="connsiteX2" fmla="*/ 1955800 w 1955800"/>
                <a:gd name="connsiteY2" fmla="*/ 1143000 h 1143000"/>
                <a:gd name="connsiteX3" fmla="*/ 0 w 1955800"/>
                <a:gd name="connsiteY3" fmla="*/ 1143000 h 1143000"/>
                <a:gd name="connsiteX4" fmla="*/ 0 w 1955800"/>
                <a:gd name="connsiteY4" fmla="*/ 0 h 1143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55800" h="1143000">
                  <a:moveTo>
                    <a:pt x="0" y="0"/>
                  </a:moveTo>
                  <a:lnTo>
                    <a:pt x="1485900" y="0"/>
                  </a:lnTo>
                  <a:lnTo>
                    <a:pt x="1955800" y="1143000"/>
                  </a:lnTo>
                  <a:lnTo>
                    <a:pt x="0" y="1143000"/>
                  </a:lnTo>
                  <a:lnTo>
                    <a:pt x="0" y="0"/>
                  </a:lnTo>
                  <a:close/>
                </a:path>
              </a:pathLst>
            </a:custGeom>
            <a:solidFill>
              <a:schemeClr val="tx2"/>
            </a:solidFill>
            <a:ln w="25400" cap="rnd"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ysClr val="window" lastClr="FFFFFF"/>
                </a:solidFill>
                <a:effectLst/>
                <a:uLnTx/>
                <a:uFillTx/>
                <a:latin typeface="Calibri"/>
                <a:ea typeface="+mn-ea"/>
                <a:cs typeface="+mn-cs"/>
              </a:endParaRPr>
            </a:p>
          </p:txBody>
        </p:sp>
        <p:sp>
          <p:nvSpPr>
            <p:cNvPr id="41" name="Freihandform 40"/>
            <p:cNvSpPr/>
            <p:nvPr userDrawn="1">
              <p:custDataLst>
                <p:tags r:id="rId8"/>
              </p:custDataLst>
            </p:nvPr>
          </p:nvSpPr>
          <p:spPr>
            <a:xfrm>
              <a:off x="2580060" y="1"/>
              <a:ext cx="924520" cy="1151235"/>
            </a:xfrm>
            <a:custGeom>
              <a:avLst/>
              <a:gdLst>
                <a:gd name="connsiteX0" fmla="*/ 0 w 1955800"/>
                <a:gd name="connsiteY0" fmla="*/ 0 h 1143000"/>
                <a:gd name="connsiteX1" fmla="*/ 1485900 w 1955800"/>
                <a:gd name="connsiteY1" fmla="*/ 0 h 1143000"/>
                <a:gd name="connsiteX2" fmla="*/ 1955800 w 1955800"/>
                <a:gd name="connsiteY2" fmla="*/ 1143000 h 1143000"/>
                <a:gd name="connsiteX3" fmla="*/ 0 w 1955800"/>
                <a:gd name="connsiteY3" fmla="*/ 1143000 h 1143000"/>
                <a:gd name="connsiteX4" fmla="*/ 0 w 1955800"/>
                <a:gd name="connsiteY4" fmla="*/ 0 h 1143000"/>
                <a:gd name="connsiteX0" fmla="*/ 0 w 2880320"/>
                <a:gd name="connsiteY0" fmla="*/ 0 h 1143000"/>
                <a:gd name="connsiteX1" fmla="*/ 2880320 w 2880320"/>
                <a:gd name="connsiteY1" fmla="*/ 0 h 1143000"/>
                <a:gd name="connsiteX2" fmla="*/ 1955800 w 2880320"/>
                <a:gd name="connsiteY2" fmla="*/ 1143000 h 1143000"/>
                <a:gd name="connsiteX3" fmla="*/ 0 w 2880320"/>
                <a:gd name="connsiteY3" fmla="*/ 1143000 h 1143000"/>
                <a:gd name="connsiteX4" fmla="*/ 0 w 2880320"/>
                <a:gd name="connsiteY4" fmla="*/ 0 h 1143000"/>
                <a:gd name="connsiteX0" fmla="*/ 2160240 w 2880320"/>
                <a:gd name="connsiteY0" fmla="*/ 0 h 1143000"/>
                <a:gd name="connsiteX1" fmla="*/ 2880320 w 2880320"/>
                <a:gd name="connsiteY1" fmla="*/ 0 h 1143000"/>
                <a:gd name="connsiteX2" fmla="*/ 1955800 w 2880320"/>
                <a:gd name="connsiteY2" fmla="*/ 1143000 h 1143000"/>
                <a:gd name="connsiteX3" fmla="*/ 0 w 2880320"/>
                <a:gd name="connsiteY3" fmla="*/ 1143000 h 1143000"/>
                <a:gd name="connsiteX4" fmla="*/ 2160240 w 2880320"/>
                <a:gd name="connsiteY4" fmla="*/ 0 h 1143000"/>
                <a:gd name="connsiteX0" fmla="*/ 204440 w 924520"/>
                <a:gd name="connsiteY0" fmla="*/ 0 h 1143000"/>
                <a:gd name="connsiteX1" fmla="*/ 924520 w 924520"/>
                <a:gd name="connsiteY1" fmla="*/ 0 h 1143000"/>
                <a:gd name="connsiteX2" fmla="*/ 0 w 924520"/>
                <a:gd name="connsiteY2" fmla="*/ 1143000 h 1143000"/>
                <a:gd name="connsiteX3" fmla="*/ 132432 w 924520"/>
                <a:gd name="connsiteY3" fmla="*/ 643436 h 1143000"/>
                <a:gd name="connsiteX4" fmla="*/ 204440 w 924520"/>
                <a:gd name="connsiteY4" fmla="*/ 0 h 1143000"/>
                <a:gd name="connsiteX0" fmla="*/ 204440 w 924520"/>
                <a:gd name="connsiteY0" fmla="*/ 0 h 1143000"/>
                <a:gd name="connsiteX1" fmla="*/ 924520 w 924520"/>
                <a:gd name="connsiteY1" fmla="*/ 0 h 1143000"/>
                <a:gd name="connsiteX2" fmla="*/ 0 w 924520"/>
                <a:gd name="connsiteY2" fmla="*/ 1143000 h 1143000"/>
                <a:gd name="connsiteX3" fmla="*/ 348456 w 924520"/>
                <a:gd name="connsiteY3" fmla="*/ 571943 h 1143000"/>
                <a:gd name="connsiteX4" fmla="*/ 204440 w 924520"/>
                <a:gd name="connsiteY4" fmla="*/ 0 h 1143000"/>
                <a:gd name="connsiteX0" fmla="*/ 348456 w 924520"/>
                <a:gd name="connsiteY0" fmla="*/ 0 h 1143000"/>
                <a:gd name="connsiteX1" fmla="*/ 924520 w 924520"/>
                <a:gd name="connsiteY1" fmla="*/ 0 h 1143000"/>
                <a:gd name="connsiteX2" fmla="*/ 0 w 924520"/>
                <a:gd name="connsiteY2" fmla="*/ 1143000 h 1143000"/>
                <a:gd name="connsiteX3" fmla="*/ 348456 w 924520"/>
                <a:gd name="connsiteY3" fmla="*/ 571943 h 1143000"/>
                <a:gd name="connsiteX4" fmla="*/ 348456 w 924520"/>
                <a:gd name="connsiteY4" fmla="*/ 0 h 1143000"/>
                <a:gd name="connsiteX0" fmla="*/ 348456 w 924520"/>
                <a:gd name="connsiteY0" fmla="*/ 571943 h 1143000"/>
                <a:gd name="connsiteX1" fmla="*/ 924520 w 924520"/>
                <a:gd name="connsiteY1" fmla="*/ 0 h 1143000"/>
                <a:gd name="connsiteX2" fmla="*/ 0 w 924520"/>
                <a:gd name="connsiteY2" fmla="*/ 1143000 h 1143000"/>
                <a:gd name="connsiteX3" fmla="*/ 348456 w 924520"/>
                <a:gd name="connsiteY3" fmla="*/ 571943 h 1143000"/>
                <a:gd name="connsiteX0" fmla="*/ 420464 w 924520"/>
                <a:gd name="connsiteY0" fmla="*/ 0 h 1143000"/>
                <a:gd name="connsiteX1" fmla="*/ 924520 w 924520"/>
                <a:gd name="connsiteY1" fmla="*/ 0 h 1143000"/>
                <a:gd name="connsiteX2" fmla="*/ 0 w 924520"/>
                <a:gd name="connsiteY2" fmla="*/ 1143000 h 1143000"/>
                <a:gd name="connsiteX3" fmla="*/ 420464 w 924520"/>
                <a:gd name="connsiteY3" fmla="*/ 0 h 1143000"/>
              </a:gdLst>
              <a:ahLst/>
              <a:cxnLst>
                <a:cxn ang="0">
                  <a:pos x="connsiteX0" y="connsiteY0"/>
                </a:cxn>
                <a:cxn ang="0">
                  <a:pos x="connsiteX1" y="connsiteY1"/>
                </a:cxn>
                <a:cxn ang="0">
                  <a:pos x="connsiteX2" y="connsiteY2"/>
                </a:cxn>
                <a:cxn ang="0">
                  <a:pos x="connsiteX3" y="connsiteY3"/>
                </a:cxn>
              </a:cxnLst>
              <a:rect l="l" t="t" r="r" b="b"/>
              <a:pathLst>
                <a:path w="924520" h="1143000">
                  <a:moveTo>
                    <a:pt x="420464" y="0"/>
                  </a:moveTo>
                  <a:lnTo>
                    <a:pt x="924520" y="0"/>
                  </a:lnTo>
                  <a:lnTo>
                    <a:pt x="0" y="1143000"/>
                  </a:lnTo>
                  <a:lnTo>
                    <a:pt x="420464" y="0"/>
                  </a:lnTo>
                  <a:close/>
                </a:path>
              </a:pathLst>
            </a:custGeom>
            <a:solidFill>
              <a:srgbClr val="F79646">
                <a:lumMod val="75000"/>
              </a:srgbClr>
            </a:solidFill>
            <a:ln w="25400" cap="rnd"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ysClr val="window" lastClr="FFFFFF"/>
                </a:solidFill>
                <a:effectLst/>
                <a:uLnTx/>
                <a:uFillTx/>
                <a:latin typeface="Calibri"/>
                <a:ea typeface="+mn-ea"/>
                <a:cs typeface="+mn-cs"/>
              </a:endParaRPr>
            </a:p>
          </p:txBody>
        </p:sp>
        <p:sp>
          <p:nvSpPr>
            <p:cNvPr id="42" name="Rechteck 41"/>
            <p:cNvSpPr/>
            <p:nvPr userDrawn="1">
              <p:custDataLst>
                <p:tags r:id="rId9"/>
              </p:custDataLst>
            </p:nvPr>
          </p:nvSpPr>
          <p:spPr>
            <a:xfrm>
              <a:off x="795" y="648072"/>
              <a:ext cx="9155906" cy="504056"/>
            </a:xfrm>
            <a:prstGeom prst="rect">
              <a:avLst/>
            </a:prstGeom>
            <a:solidFill>
              <a:srgbClr val="FFFFFF">
                <a:alpha val="40000"/>
              </a:srgbClr>
            </a:solidFill>
            <a:ln w="25400" cap="rnd"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ysClr val="window" lastClr="FFFFFF"/>
                </a:solidFill>
                <a:effectLst/>
                <a:uLnTx/>
                <a:uFillTx/>
                <a:latin typeface="Calibri"/>
                <a:ea typeface="+mn-ea"/>
                <a:cs typeface="+mn-cs"/>
              </a:endParaRPr>
            </a:p>
          </p:txBody>
        </p:sp>
      </p:grpSp>
      <p:sp>
        <p:nvSpPr>
          <p:cNvPr id="21" name="Line 12"/>
          <p:cNvSpPr>
            <a:spLocks noChangeShapeType="1"/>
          </p:cNvSpPr>
          <p:nvPr userDrawn="1"/>
        </p:nvSpPr>
        <p:spPr bwMode="auto">
          <a:xfrm>
            <a:off x="0" y="824640"/>
            <a:ext cx="9144000" cy="0"/>
          </a:xfrm>
          <a:prstGeom prst="line">
            <a:avLst/>
          </a:prstGeom>
          <a:noFill/>
          <a:ln w="38100">
            <a:solidFill>
              <a:schemeClr val="tx2">
                <a:lumMod val="20000"/>
                <a:lumOff val="80000"/>
              </a:schemeClr>
            </a:solidFill>
            <a:round/>
            <a:headEnd/>
            <a:tailEnd/>
          </a:ln>
          <a:effectLst/>
        </p:spPr>
        <p:txBody>
          <a:bodyPr/>
          <a:lstStyle/>
          <a:p>
            <a:pPr>
              <a:defRPr/>
            </a:pPr>
            <a:endParaRPr lang="de-D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1_Leer">
    <p:spTree>
      <p:nvGrpSpPr>
        <p:cNvPr id="1" name=""/>
        <p:cNvGrpSpPr/>
        <p:nvPr/>
      </p:nvGrpSpPr>
      <p:grpSpPr>
        <a:xfrm>
          <a:off x="0" y="0"/>
          <a:ext cx="0" cy="0"/>
          <a:chOff x="0" y="0"/>
          <a:chExt cx="0" cy="0"/>
        </a:xfrm>
      </p:grpSpPr>
      <p:pic>
        <p:nvPicPr>
          <p:cNvPr id="7" name="Picture 8" descr="https://cdn.pixabay.com/photo/2016/04/13/19/23/binary-1327501_960_720.jpg"/>
          <p:cNvPicPr>
            <a:picLocks noChangeAspect="1" noChangeArrowheads="1"/>
          </p:cNvPicPr>
          <p:nvPr/>
        </p:nvPicPr>
        <p:blipFill>
          <a:blip r:embed="rId12" cstate="print"/>
          <a:srcRect/>
          <a:stretch>
            <a:fillRect/>
          </a:stretch>
        </p:blipFill>
        <p:spPr bwMode="auto">
          <a:xfrm>
            <a:off x="395536" y="0"/>
            <a:ext cx="2828754" cy="1152128"/>
          </a:xfrm>
          <a:prstGeom prst="rect">
            <a:avLst/>
          </a:prstGeom>
          <a:noFill/>
        </p:spPr>
      </p:pic>
      <p:grpSp>
        <p:nvGrpSpPr>
          <p:cNvPr id="26" name="Gruppieren 25"/>
          <p:cNvGrpSpPr/>
          <p:nvPr userDrawn="1"/>
        </p:nvGrpSpPr>
        <p:grpSpPr>
          <a:xfrm>
            <a:off x="3059832" y="0"/>
            <a:ext cx="3312368" cy="1152525"/>
            <a:chOff x="3059832" y="0"/>
            <a:chExt cx="3312368" cy="1152525"/>
          </a:xfrm>
        </p:grpSpPr>
        <p:pic>
          <p:nvPicPr>
            <p:cNvPr id="27" name="Picture 4" descr="https://scontent-muc2-1.xx.fbcdn.net/v/t1.0-9/105047738_302269647821182_6536006559647297022_o.jpg?_nc_cat=105&amp;_nc_sid=730e14&amp;_nc_ohc=TQF0ZCkImkEAX_9ZuvG&amp;_nc_ht=scontent-muc2-1.xx&amp;oh=0be3c9382f21dded80330d22b968e298&amp;oe=5F833F90"/>
            <p:cNvPicPr>
              <a:picLocks noChangeAspect="1" noChangeArrowheads="1"/>
            </p:cNvPicPr>
            <p:nvPr userDrawn="1"/>
          </p:nvPicPr>
          <p:blipFill>
            <a:blip r:embed="rId13" cstate="print"/>
            <a:srcRect/>
            <a:stretch>
              <a:fillRect/>
            </a:stretch>
          </p:blipFill>
          <p:spPr bwMode="auto">
            <a:xfrm>
              <a:off x="3059832" y="0"/>
              <a:ext cx="1728192" cy="1152128"/>
            </a:xfrm>
            <a:prstGeom prst="rect">
              <a:avLst/>
            </a:prstGeom>
            <a:noFill/>
          </p:spPr>
        </p:pic>
        <p:grpSp>
          <p:nvGrpSpPr>
            <p:cNvPr id="28" name="Gruppieren 26"/>
            <p:cNvGrpSpPr/>
            <p:nvPr userDrawn="1"/>
          </p:nvGrpSpPr>
          <p:grpSpPr>
            <a:xfrm>
              <a:off x="4427984" y="0"/>
              <a:ext cx="1944216" cy="1152525"/>
              <a:chOff x="4427984" y="0"/>
              <a:chExt cx="1944216" cy="1152525"/>
            </a:xfrm>
          </p:grpSpPr>
          <p:pic>
            <p:nvPicPr>
              <p:cNvPr id="29" name="Picture 2" descr="Banner, Header, Mathematik, Formel, Physik, Schule"/>
              <p:cNvPicPr>
                <a:picLocks noChangeAspect="1" noChangeArrowheads="1"/>
              </p:cNvPicPr>
              <p:nvPr userDrawn="1"/>
            </p:nvPicPr>
            <p:blipFill>
              <a:blip r:embed="rId14" cstate="print"/>
              <a:srcRect/>
              <a:stretch>
                <a:fillRect/>
              </a:stretch>
            </p:blipFill>
            <p:spPr bwMode="auto">
              <a:xfrm>
                <a:off x="4427984" y="0"/>
                <a:ext cx="1944216" cy="267494"/>
              </a:xfrm>
              <a:prstGeom prst="rect">
                <a:avLst/>
              </a:prstGeom>
              <a:noFill/>
            </p:spPr>
          </p:pic>
          <p:pic>
            <p:nvPicPr>
              <p:cNvPr id="30" name="Picture 2" descr="Banner, Header, Mathematik, Formel, Physik, Schule"/>
              <p:cNvPicPr>
                <a:picLocks noChangeAspect="1" noChangeArrowheads="1"/>
              </p:cNvPicPr>
              <p:nvPr userDrawn="1"/>
            </p:nvPicPr>
            <p:blipFill>
              <a:blip r:embed="rId15" cstate="print"/>
              <a:srcRect/>
              <a:stretch>
                <a:fillRect/>
              </a:stretch>
            </p:blipFill>
            <p:spPr bwMode="auto">
              <a:xfrm>
                <a:off x="4572000" y="267494"/>
                <a:ext cx="1656184" cy="432048"/>
              </a:xfrm>
              <a:prstGeom prst="rect">
                <a:avLst/>
              </a:prstGeom>
              <a:noFill/>
            </p:spPr>
          </p:pic>
          <p:pic>
            <p:nvPicPr>
              <p:cNvPr id="31" name="Picture 2" descr="Banner, Header, Mathematik, Formel, Physik, Schule"/>
              <p:cNvPicPr>
                <a:picLocks noChangeAspect="1" noChangeArrowheads="1"/>
              </p:cNvPicPr>
              <p:nvPr userDrawn="1"/>
            </p:nvPicPr>
            <p:blipFill>
              <a:blip r:embed="rId16" cstate="print"/>
              <a:srcRect/>
              <a:stretch>
                <a:fillRect/>
              </a:stretch>
            </p:blipFill>
            <p:spPr bwMode="auto">
              <a:xfrm>
                <a:off x="4716016" y="689073"/>
                <a:ext cx="1368152" cy="463452"/>
              </a:xfrm>
              <a:prstGeom prst="rect">
                <a:avLst/>
              </a:prstGeom>
              <a:noFill/>
            </p:spPr>
          </p:pic>
        </p:grpSp>
      </p:grpSp>
      <p:sp>
        <p:nvSpPr>
          <p:cNvPr id="24" name="Rechteck 23"/>
          <p:cNvSpPr/>
          <p:nvPr userDrawn="1"/>
        </p:nvSpPr>
        <p:spPr>
          <a:xfrm>
            <a:off x="179512" y="1275606"/>
            <a:ext cx="3240360" cy="374441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feld 10"/>
          <p:cNvSpPr txBox="1"/>
          <p:nvPr>
            <p:custDataLst>
              <p:tags r:id="rId1"/>
            </p:custDataLst>
          </p:nvPr>
        </p:nvSpPr>
        <p:spPr>
          <a:xfrm>
            <a:off x="7543657" y="720080"/>
            <a:ext cx="1505540" cy="369332"/>
          </a:xfrm>
          <a:prstGeom prst="rect">
            <a:avLst/>
          </a:prstGeom>
          <a:noFill/>
        </p:spPr>
        <p:txBody>
          <a:bodyPr wrap="non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sysClr val="windowText" lastClr="000000"/>
                </a:solidFill>
                <a:effectLst/>
                <a:uLnTx/>
                <a:uFillTx/>
              </a:rPr>
              <a:t>Florian Rupp</a:t>
            </a:r>
          </a:p>
        </p:txBody>
      </p:sp>
      <p:sp>
        <p:nvSpPr>
          <p:cNvPr id="12" name="Freihandform 11"/>
          <p:cNvSpPr/>
          <p:nvPr>
            <p:custDataLst>
              <p:tags r:id="rId2"/>
            </p:custDataLst>
          </p:nvPr>
        </p:nvSpPr>
        <p:spPr>
          <a:xfrm flipH="1">
            <a:off x="6024860" y="447"/>
            <a:ext cx="3131840" cy="1151235"/>
          </a:xfrm>
          <a:custGeom>
            <a:avLst/>
            <a:gdLst>
              <a:gd name="connsiteX0" fmla="*/ 0 w 1955800"/>
              <a:gd name="connsiteY0" fmla="*/ 0 h 1143000"/>
              <a:gd name="connsiteX1" fmla="*/ 1485900 w 1955800"/>
              <a:gd name="connsiteY1" fmla="*/ 0 h 1143000"/>
              <a:gd name="connsiteX2" fmla="*/ 1955800 w 1955800"/>
              <a:gd name="connsiteY2" fmla="*/ 1143000 h 1143000"/>
              <a:gd name="connsiteX3" fmla="*/ 0 w 1955800"/>
              <a:gd name="connsiteY3" fmla="*/ 1143000 h 1143000"/>
              <a:gd name="connsiteX4" fmla="*/ 0 w 1955800"/>
              <a:gd name="connsiteY4" fmla="*/ 0 h 1143000"/>
              <a:gd name="connsiteX0" fmla="*/ 0 w 1955800"/>
              <a:gd name="connsiteY0" fmla="*/ 0 h 1143000"/>
              <a:gd name="connsiteX1" fmla="*/ 1641023 w 1955800"/>
              <a:gd name="connsiteY1" fmla="*/ 0 h 1143000"/>
              <a:gd name="connsiteX2" fmla="*/ 1955800 w 1955800"/>
              <a:gd name="connsiteY2" fmla="*/ 1143000 h 1143000"/>
              <a:gd name="connsiteX3" fmla="*/ 0 w 1955800"/>
              <a:gd name="connsiteY3" fmla="*/ 1143000 h 1143000"/>
              <a:gd name="connsiteX4" fmla="*/ 0 w 1955800"/>
              <a:gd name="connsiteY4" fmla="*/ 0 h 1143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55800" h="1143000">
                <a:moveTo>
                  <a:pt x="0" y="0"/>
                </a:moveTo>
                <a:lnTo>
                  <a:pt x="1641023" y="0"/>
                </a:lnTo>
                <a:lnTo>
                  <a:pt x="1955800" y="1143000"/>
                </a:lnTo>
                <a:lnTo>
                  <a:pt x="0" y="1143000"/>
                </a:lnTo>
                <a:lnTo>
                  <a:pt x="0" y="0"/>
                </a:lnTo>
                <a:close/>
              </a:path>
            </a:pathLst>
          </a:custGeom>
          <a:solidFill>
            <a:schemeClr val="tx2"/>
          </a:solidFill>
          <a:ln w="25400" cap="rnd"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ysClr val="window" lastClr="FFFFFF"/>
              </a:solidFill>
              <a:effectLst/>
              <a:uLnTx/>
              <a:uFillTx/>
              <a:latin typeface="Calibri"/>
              <a:ea typeface="+mn-ea"/>
              <a:cs typeface="+mn-cs"/>
            </a:endParaRPr>
          </a:p>
        </p:txBody>
      </p:sp>
      <p:sp>
        <p:nvSpPr>
          <p:cNvPr id="13" name="Parallelogramm 12"/>
          <p:cNvSpPr/>
          <p:nvPr>
            <p:custDataLst>
              <p:tags r:id="rId3"/>
            </p:custDataLst>
          </p:nvPr>
        </p:nvSpPr>
        <p:spPr>
          <a:xfrm>
            <a:off x="5808836" y="1"/>
            <a:ext cx="792088" cy="1152128"/>
          </a:xfrm>
          <a:prstGeom prst="parallelogram">
            <a:avLst>
              <a:gd name="adj" fmla="val 63481"/>
            </a:avLst>
          </a:prstGeom>
          <a:solidFill>
            <a:srgbClr val="F79646">
              <a:lumMod val="75000"/>
            </a:srgbClr>
          </a:solidFill>
          <a:ln w="25400" cap="rnd"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ysClr val="window" lastClr="FFFFFF"/>
              </a:solidFill>
              <a:effectLst/>
              <a:uLnTx/>
              <a:uFillTx/>
              <a:latin typeface="Calibri"/>
              <a:ea typeface="+mn-ea"/>
              <a:cs typeface="+mn-cs"/>
            </a:endParaRPr>
          </a:p>
        </p:txBody>
      </p:sp>
      <p:sp>
        <p:nvSpPr>
          <p:cNvPr id="14" name="Parallelogramm 13"/>
          <p:cNvSpPr/>
          <p:nvPr>
            <p:custDataLst>
              <p:tags r:id="rId4"/>
            </p:custDataLst>
          </p:nvPr>
        </p:nvSpPr>
        <p:spPr>
          <a:xfrm>
            <a:off x="2568476" y="1"/>
            <a:ext cx="1152128" cy="1152128"/>
          </a:xfrm>
          <a:prstGeom prst="parallelogram">
            <a:avLst>
              <a:gd name="adj" fmla="val 52628"/>
            </a:avLst>
          </a:prstGeom>
          <a:solidFill>
            <a:srgbClr val="1F497D">
              <a:lumMod val="60000"/>
              <a:lumOff val="40000"/>
            </a:srgbClr>
          </a:solidFill>
          <a:ln w="25400" cap="rnd"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ysClr val="window" lastClr="FFFFFF"/>
              </a:solidFill>
              <a:effectLst/>
              <a:uLnTx/>
              <a:uFillTx/>
              <a:latin typeface="Calibri"/>
              <a:ea typeface="+mn-ea"/>
              <a:cs typeface="+mn-cs"/>
            </a:endParaRPr>
          </a:p>
        </p:txBody>
      </p:sp>
      <p:sp>
        <p:nvSpPr>
          <p:cNvPr id="15" name="Parallelogramm 14"/>
          <p:cNvSpPr/>
          <p:nvPr>
            <p:custDataLst>
              <p:tags r:id="rId5"/>
            </p:custDataLst>
          </p:nvPr>
        </p:nvSpPr>
        <p:spPr>
          <a:xfrm flipH="1">
            <a:off x="4296668" y="1"/>
            <a:ext cx="648072" cy="1152128"/>
          </a:xfrm>
          <a:prstGeom prst="parallelogram">
            <a:avLst>
              <a:gd name="adj" fmla="val 68305"/>
            </a:avLst>
          </a:prstGeom>
          <a:solidFill>
            <a:srgbClr val="F79646"/>
          </a:solidFill>
          <a:ln w="25400" cap="rnd"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ysClr val="window" lastClr="FFFFFF"/>
              </a:solidFill>
              <a:effectLst/>
              <a:uLnTx/>
              <a:uFillTx/>
              <a:latin typeface="Calibri"/>
              <a:ea typeface="+mn-ea"/>
              <a:cs typeface="+mn-cs"/>
            </a:endParaRPr>
          </a:p>
        </p:txBody>
      </p:sp>
      <p:sp>
        <p:nvSpPr>
          <p:cNvPr id="16" name="Parallelogramm 15"/>
          <p:cNvSpPr/>
          <p:nvPr>
            <p:custDataLst>
              <p:tags r:id="rId6"/>
            </p:custDataLst>
          </p:nvPr>
        </p:nvSpPr>
        <p:spPr>
          <a:xfrm>
            <a:off x="2568476" y="1"/>
            <a:ext cx="1008112" cy="1152128"/>
          </a:xfrm>
          <a:prstGeom prst="parallelogram">
            <a:avLst>
              <a:gd name="adj" fmla="val 88390"/>
            </a:avLst>
          </a:prstGeom>
          <a:solidFill>
            <a:srgbClr val="4F81BD">
              <a:lumMod val="20000"/>
              <a:lumOff val="80000"/>
            </a:srgbClr>
          </a:solidFill>
          <a:ln w="25400" cap="rnd"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ysClr val="window" lastClr="FFFFFF"/>
              </a:solidFill>
              <a:effectLst/>
              <a:uLnTx/>
              <a:uFillTx/>
              <a:latin typeface="Calibri"/>
              <a:ea typeface="+mn-ea"/>
              <a:cs typeface="+mn-cs"/>
            </a:endParaRPr>
          </a:p>
        </p:txBody>
      </p:sp>
      <p:sp>
        <p:nvSpPr>
          <p:cNvPr id="17" name="Freihandform 16"/>
          <p:cNvSpPr/>
          <p:nvPr>
            <p:custDataLst>
              <p:tags r:id="rId7"/>
            </p:custDataLst>
          </p:nvPr>
        </p:nvSpPr>
        <p:spPr>
          <a:xfrm>
            <a:off x="0" y="0"/>
            <a:ext cx="1955800" cy="1151235"/>
          </a:xfrm>
          <a:custGeom>
            <a:avLst/>
            <a:gdLst>
              <a:gd name="connsiteX0" fmla="*/ 0 w 1955800"/>
              <a:gd name="connsiteY0" fmla="*/ 0 h 1143000"/>
              <a:gd name="connsiteX1" fmla="*/ 1485900 w 1955800"/>
              <a:gd name="connsiteY1" fmla="*/ 0 h 1143000"/>
              <a:gd name="connsiteX2" fmla="*/ 1955800 w 1955800"/>
              <a:gd name="connsiteY2" fmla="*/ 1143000 h 1143000"/>
              <a:gd name="connsiteX3" fmla="*/ 0 w 1955800"/>
              <a:gd name="connsiteY3" fmla="*/ 1143000 h 1143000"/>
              <a:gd name="connsiteX4" fmla="*/ 0 w 1955800"/>
              <a:gd name="connsiteY4" fmla="*/ 0 h 1143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55800" h="1143000">
                <a:moveTo>
                  <a:pt x="0" y="0"/>
                </a:moveTo>
                <a:lnTo>
                  <a:pt x="1485900" y="0"/>
                </a:lnTo>
                <a:lnTo>
                  <a:pt x="1955800" y="1143000"/>
                </a:lnTo>
                <a:lnTo>
                  <a:pt x="0" y="1143000"/>
                </a:lnTo>
                <a:lnTo>
                  <a:pt x="0" y="0"/>
                </a:lnTo>
                <a:close/>
              </a:path>
            </a:pathLst>
          </a:custGeom>
          <a:solidFill>
            <a:schemeClr val="tx2"/>
          </a:solidFill>
          <a:ln w="25400" cap="rnd"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ysClr val="window" lastClr="FFFFFF"/>
              </a:solidFill>
              <a:effectLst/>
              <a:uLnTx/>
              <a:uFillTx/>
              <a:latin typeface="Calibri"/>
              <a:ea typeface="+mn-ea"/>
              <a:cs typeface="+mn-cs"/>
            </a:endParaRPr>
          </a:p>
        </p:txBody>
      </p:sp>
      <p:sp>
        <p:nvSpPr>
          <p:cNvPr id="18" name="Freihandform 17"/>
          <p:cNvSpPr/>
          <p:nvPr>
            <p:custDataLst>
              <p:tags r:id="rId8"/>
            </p:custDataLst>
          </p:nvPr>
        </p:nvSpPr>
        <p:spPr>
          <a:xfrm>
            <a:off x="2580060" y="1"/>
            <a:ext cx="924520" cy="1151235"/>
          </a:xfrm>
          <a:custGeom>
            <a:avLst/>
            <a:gdLst>
              <a:gd name="connsiteX0" fmla="*/ 0 w 1955800"/>
              <a:gd name="connsiteY0" fmla="*/ 0 h 1143000"/>
              <a:gd name="connsiteX1" fmla="*/ 1485900 w 1955800"/>
              <a:gd name="connsiteY1" fmla="*/ 0 h 1143000"/>
              <a:gd name="connsiteX2" fmla="*/ 1955800 w 1955800"/>
              <a:gd name="connsiteY2" fmla="*/ 1143000 h 1143000"/>
              <a:gd name="connsiteX3" fmla="*/ 0 w 1955800"/>
              <a:gd name="connsiteY3" fmla="*/ 1143000 h 1143000"/>
              <a:gd name="connsiteX4" fmla="*/ 0 w 1955800"/>
              <a:gd name="connsiteY4" fmla="*/ 0 h 1143000"/>
              <a:gd name="connsiteX0" fmla="*/ 0 w 2880320"/>
              <a:gd name="connsiteY0" fmla="*/ 0 h 1143000"/>
              <a:gd name="connsiteX1" fmla="*/ 2880320 w 2880320"/>
              <a:gd name="connsiteY1" fmla="*/ 0 h 1143000"/>
              <a:gd name="connsiteX2" fmla="*/ 1955800 w 2880320"/>
              <a:gd name="connsiteY2" fmla="*/ 1143000 h 1143000"/>
              <a:gd name="connsiteX3" fmla="*/ 0 w 2880320"/>
              <a:gd name="connsiteY3" fmla="*/ 1143000 h 1143000"/>
              <a:gd name="connsiteX4" fmla="*/ 0 w 2880320"/>
              <a:gd name="connsiteY4" fmla="*/ 0 h 1143000"/>
              <a:gd name="connsiteX0" fmla="*/ 2160240 w 2880320"/>
              <a:gd name="connsiteY0" fmla="*/ 0 h 1143000"/>
              <a:gd name="connsiteX1" fmla="*/ 2880320 w 2880320"/>
              <a:gd name="connsiteY1" fmla="*/ 0 h 1143000"/>
              <a:gd name="connsiteX2" fmla="*/ 1955800 w 2880320"/>
              <a:gd name="connsiteY2" fmla="*/ 1143000 h 1143000"/>
              <a:gd name="connsiteX3" fmla="*/ 0 w 2880320"/>
              <a:gd name="connsiteY3" fmla="*/ 1143000 h 1143000"/>
              <a:gd name="connsiteX4" fmla="*/ 2160240 w 2880320"/>
              <a:gd name="connsiteY4" fmla="*/ 0 h 1143000"/>
              <a:gd name="connsiteX0" fmla="*/ 204440 w 924520"/>
              <a:gd name="connsiteY0" fmla="*/ 0 h 1143000"/>
              <a:gd name="connsiteX1" fmla="*/ 924520 w 924520"/>
              <a:gd name="connsiteY1" fmla="*/ 0 h 1143000"/>
              <a:gd name="connsiteX2" fmla="*/ 0 w 924520"/>
              <a:gd name="connsiteY2" fmla="*/ 1143000 h 1143000"/>
              <a:gd name="connsiteX3" fmla="*/ 132432 w 924520"/>
              <a:gd name="connsiteY3" fmla="*/ 643436 h 1143000"/>
              <a:gd name="connsiteX4" fmla="*/ 204440 w 924520"/>
              <a:gd name="connsiteY4" fmla="*/ 0 h 1143000"/>
              <a:gd name="connsiteX0" fmla="*/ 204440 w 924520"/>
              <a:gd name="connsiteY0" fmla="*/ 0 h 1143000"/>
              <a:gd name="connsiteX1" fmla="*/ 924520 w 924520"/>
              <a:gd name="connsiteY1" fmla="*/ 0 h 1143000"/>
              <a:gd name="connsiteX2" fmla="*/ 0 w 924520"/>
              <a:gd name="connsiteY2" fmla="*/ 1143000 h 1143000"/>
              <a:gd name="connsiteX3" fmla="*/ 348456 w 924520"/>
              <a:gd name="connsiteY3" fmla="*/ 571943 h 1143000"/>
              <a:gd name="connsiteX4" fmla="*/ 204440 w 924520"/>
              <a:gd name="connsiteY4" fmla="*/ 0 h 1143000"/>
              <a:gd name="connsiteX0" fmla="*/ 348456 w 924520"/>
              <a:gd name="connsiteY0" fmla="*/ 0 h 1143000"/>
              <a:gd name="connsiteX1" fmla="*/ 924520 w 924520"/>
              <a:gd name="connsiteY1" fmla="*/ 0 h 1143000"/>
              <a:gd name="connsiteX2" fmla="*/ 0 w 924520"/>
              <a:gd name="connsiteY2" fmla="*/ 1143000 h 1143000"/>
              <a:gd name="connsiteX3" fmla="*/ 348456 w 924520"/>
              <a:gd name="connsiteY3" fmla="*/ 571943 h 1143000"/>
              <a:gd name="connsiteX4" fmla="*/ 348456 w 924520"/>
              <a:gd name="connsiteY4" fmla="*/ 0 h 1143000"/>
              <a:gd name="connsiteX0" fmla="*/ 348456 w 924520"/>
              <a:gd name="connsiteY0" fmla="*/ 571943 h 1143000"/>
              <a:gd name="connsiteX1" fmla="*/ 924520 w 924520"/>
              <a:gd name="connsiteY1" fmla="*/ 0 h 1143000"/>
              <a:gd name="connsiteX2" fmla="*/ 0 w 924520"/>
              <a:gd name="connsiteY2" fmla="*/ 1143000 h 1143000"/>
              <a:gd name="connsiteX3" fmla="*/ 348456 w 924520"/>
              <a:gd name="connsiteY3" fmla="*/ 571943 h 1143000"/>
              <a:gd name="connsiteX0" fmla="*/ 420464 w 924520"/>
              <a:gd name="connsiteY0" fmla="*/ 0 h 1143000"/>
              <a:gd name="connsiteX1" fmla="*/ 924520 w 924520"/>
              <a:gd name="connsiteY1" fmla="*/ 0 h 1143000"/>
              <a:gd name="connsiteX2" fmla="*/ 0 w 924520"/>
              <a:gd name="connsiteY2" fmla="*/ 1143000 h 1143000"/>
              <a:gd name="connsiteX3" fmla="*/ 420464 w 924520"/>
              <a:gd name="connsiteY3" fmla="*/ 0 h 1143000"/>
            </a:gdLst>
            <a:ahLst/>
            <a:cxnLst>
              <a:cxn ang="0">
                <a:pos x="connsiteX0" y="connsiteY0"/>
              </a:cxn>
              <a:cxn ang="0">
                <a:pos x="connsiteX1" y="connsiteY1"/>
              </a:cxn>
              <a:cxn ang="0">
                <a:pos x="connsiteX2" y="connsiteY2"/>
              </a:cxn>
              <a:cxn ang="0">
                <a:pos x="connsiteX3" y="connsiteY3"/>
              </a:cxn>
            </a:cxnLst>
            <a:rect l="l" t="t" r="r" b="b"/>
            <a:pathLst>
              <a:path w="924520" h="1143000">
                <a:moveTo>
                  <a:pt x="420464" y="0"/>
                </a:moveTo>
                <a:lnTo>
                  <a:pt x="924520" y="0"/>
                </a:lnTo>
                <a:lnTo>
                  <a:pt x="0" y="1143000"/>
                </a:lnTo>
                <a:lnTo>
                  <a:pt x="420464" y="0"/>
                </a:lnTo>
                <a:close/>
              </a:path>
            </a:pathLst>
          </a:custGeom>
          <a:solidFill>
            <a:srgbClr val="F79646">
              <a:lumMod val="75000"/>
            </a:srgbClr>
          </a:solidFill>
          <a:ln w="25400" cap="rnd"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ysClr val="window" lastClr="FFFFFF"/>
              </a:solidFill>
              <a:effectLst/>
              <a:uLnTx/>
              <a:uFillTx/>
              <a:latin typeface="Calibri"/>
              <a:ea typeface="+mn-ea"/>
              <a:cs typeface="+mn-cs"/>
            </a:endParaRPr>
          </a:p>
        </p:txBody>
      </p:sp>
      <p:sp>
        <p:nvSpPr>
          <p:cNvPr id="19" name="Rechteck 18"/>
          <p:cNvSpPr/>
          <p:nvPr>
            <p:custDataLst>
              <p:tags r:id="rId9"/>
            </p:custDataLst>
          </p:nvPr>
        </p:nvSpPr>
        <p:spPr>
          <a:xfrm>
            <a:off x="795" y="648072"/>
            <a:ext cx="9155906" cy="504056"/>
          </a:xfrm>
          <a:prstGeom prst="rect">
            <a:avLst/>
          </a:prstGeom>
          <a:solidFill>
            <a:srgbClr val="FFFFFF">
              <a:alpha val="40000"/>
            </a:srgbClr>
          </a:solidFill>
          <a:ln w="25400" cap="rnd"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ysClr val="window" lastClr="FFFFFF"/>
              </a:solidFill>
              <a:effectLst/>
              <a:uLnTx/>
              <a:uFillTx/>
              <a:latin typeface="Calibri"/>
              <a:ea typeface="+mn-ea"/>
              <a:cs typeface="+mn-cs"/>
            </a:endParaRPr>
          </a:p>
        </p:txBody>
      </p:sp>
      <p:sp>
        <p:nvSpPr>
          <p:cNvPr id="20" name="Titel 1"/>
          <p:cNvSpPr>
            <a:spLocks noGrp="1"/>
          </p:cNvSpPr>
          <p:nvPr userDrawn="1">
            <p:ph type="ctrTitle"/>
          </p:nvPr>
        </p:nvSpPr>
        <p:spPr>
          <a:xfrm>
            <a:off x="3851920" y="1275606"/>
            <a:ext cx="5112568" cy="864095"/>
          </a:xfrm>
          <a:prstGeom prst="rect">
            <a:avLst/>
          </a:prstGeom>
          <a:solidFill>
            <a:schemeClr val="tx2"/>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a:lstStyle>
            <a:lvl1pPr algn="ctr">
              <a:defRPr/>
            </a:lvl1pPr>
          </a:lstStyle>
          <a:p>
            <a:r>
              <a:rPr lang="de-DE" dirty="0"/>
              <a:t>Titelmasterformat durch Klicken bearbeiten</a:t>
            </a:r>
          </a:p>
        </p:txBody>
      </p:sp>
      <p:sp>
        <p:nvSpPr>
          <p:cNvPr id="23" name="Rectangle 5"/>
          <p:cNvSpPr>
            <a:spLocks noChangeArrowheads="1"/>
          </p:cNvSpPr>
          <p:nvPr userDrawn="1">
            <p:custDataLst>
              <p:tags r:id="rId10"/>
            </p:custDataLst>
          </p:nvPr>
        </p:nvSpPr>
        <p:spPr bwMode="auto">
          <a:xfrm>
            <a:off x="4752020" y="4299942"/>
            <a:ext cx="3240360" cy="720080"/>
          </a:xfrm>
          <a:prstGeom prst="rect">
            <a:avLst/>
          </a:prstGeom>
          <a:noFill/>
          <a:ln w="9525">
            <a:noFill/>
            <a:miter lim="800000"/>
            <a:headEnd/>
            <a:tailEnd/>
          </a:ln>
        </p:spPr>
        <p:txBody>
          <a:bodyPr anchor="b"/>
          <a:lstStyle/>
          <a:p>
            <a:pPr algn="ctr">
              <a:spcBef>
                <a:spcPct val="20000"/>
              </a:spcBef>
            </a:pPr>
            <a:endParaRPr lang="en-US" sz="1400" dirty="0"/>
          </a:p>
        </p:txBody>
      </p:sp>
      <p:sp>
        <p:nvSpPr>
          <p:cNvPr id="25" name="Textfeld 24"/>
          <p:cNvSpPr txBox="1"/>
          <p:nvPr userDrawn="1"/>
        </p:nvSpPr>
        <p:spPr>
          <a:xfrm>
            <a:off x="3851920" y="2355726"/>
            <a:ext cx="5040560" cy="1631216"/>
          </a:xfrm>
          <a:prstGeom prst="rect">
            <a:avLst/>
          </a:prstGeom>
          <a:noFill/>
        </p:spPr>
        <p:txBody>
          <a:bodyPr wrap="square" rtlCol="0">
            <a:spAutoFit/>
          </a:bodyPr>
          <a:lstStyle/>
          <a:p>
            <a:pPr algn="ctr"/>
            <a:r>
              <a:rPr lang="en-US" sz="2000" dirty="0"/>
              <a:t>Questions &amp; Remarks?</a:t>
            </a:r>
          </a:p>
          <a:p>
            <a:pPr algn="ctr"/>
            <a:endParaRPr lang="en-US" sz="2000" dirty="0"/>
          </a:p>
          <a:p>
            <a:pPr algn="ctr"/>
            <a:endParaRPr lang="en-US" sz="2000" dirty="0"/>
          </a:p>
          <a:p>
            <a:pPr algn="ctr"/>
            <a:endParaRPr lang="en-US" sz="2000" dirty="0"/>
          </a:p>
          <a:p>
            <a:pPr algn="ctr"/>
            <a:r>
              <a:rPr lang="en-US" sz="2000" dirty="0"/>
              <a:t>Thank You Very Much</a:t>
            </a:r>
          </a:p>
        </p:txBody>
      </p:sp>
      <p:pic>
        <p:nvPicPr>
          <p:cNvPr id="22" name="Grafik 21" descr="index.png"/>
          <p:cNvPicPr>
            <a:picLocks noChangeAspect="1"/>
          </p:cNvPicPr>
          <p:nvPr userDrawn="1"/>
        </p:nvPicPr>
        <p:blipFill>
          <a:blip r:embed="rId17" cstate="print"/>
          <a:stretch>
            <a:fillRect/>
          </a:stretch>
        </p:blipFill>
        <p:spPr>
          <a:xfrm>
            <a:off x="3798963" y="4578133"/>
            <a:ext cx="1421109" cy="441887"/>
          </a:xfrm>
          <a:prstGeom prst="rect">
            <a:avLst/>
          </a:prstGeom>
        </p:spPr>
      </p:pic>
      <p:pic>
        <p:nvPicPr>
          <p:cNvPr id="32" name="Picture 2" descr="https://www.iau-hesd.net/sites/default/files/styles/medium/public/media_logo/western_caspian_university.jpg?itok=s4WTrk6k"/>
          <p:cNvPicPr>
            <a:picLocks noChangeAspect="1" noChangeArrowheads="1"/>
          </p:cNvPicPr>
          <p:nvPr userDrawn="1"/>
        </p:nvPicPr>
        <p:blipFill>
          <a:blip r:embed="rId18" cstate="print"/>
          <a:srcRect/>
          <a:stretch>
            <a:fillRect/>
          </a:stretch>
        </p:blipFill>
        <p:spPr bwMode="auto">
          <a:xfrm>
            <a:off x="3851920" y="3718029"/>
            <a:ext cx="720080" cy="749323"/>
          </a:xfrm>
          <a:prstGeom prst="rect">
            <a:avLst/>
          </a:prstGeom>
          <a:noFill/>
        </p:spPr>
      </p:pic>
      <p:pic>
        <p:nvPicPr>
          <p:cNvPr id="33" name="Picture 2" descr="https://avatars.mds.yandex.net/get-altay/11886651/2a0000018defa513b9203394e9330d10fd54/XXL_height"/>
          <p:cNvPicPr>
            <a:picLocks noChangeAspect="1" noChangeArrowheads="1"/>
          </p:cNvPicPr>
          <p:nvPr userDrawn="1"/>
        </p:nvPicPr>
        <p:blipFill>
          <a:blip r:embed="rId19" cstate="print"/>
          <a:srcRect l="11628" r="27907" b="6378"/>
          <a:stretch>
            <a:fillRect/>
          </a:stretch>
        </p:blipFill>
        <p:spPr bwMode="auto">
          <a:xfrm>
            <a:off x="251520" y="1347613"/>
            <a:ext cx="3096344" cy="3600401"/>
          </a:xfrm>
          <a:prstGeom prst="rect">
            <a:avLst/>
          </a:prstGeom>
          <a:noFill/>
          <a:effectLst>
            <a:softEdge rad="31750"/>
          </a:effectLst>
        </p:spPr>
      </p:pic>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image" Target="../media/image1.png"/><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8" name="Line 12"/>
          <p:cNvSpPr>
            <a:spLocks noChangeShapeType="1"/>
          </p:cNvSpPr>
          <p:nvPr userDrawn="1"/>
        </p:nvSpPr>
        <p:spPr bwMode="auto">
          <a:xfrm>
            <a:off x="0" y="824640"/>
            <a:ext cx="9144000" cy="0"/>
          </a:xfrm>
          <a:prstGeom prst="line">
            <a:avLst/>
          </a:prstGeom>
          <a:noFill/>
          <a:ln w="38100">
            <a:solidFill>
              <a:schemeClr val="tx2">
                <a:lumMod val="20000"/>
                <a:lumOff val="80000"/>
              </a:schemeClr>
            </a:solidFill>
            <a:round/>
            <a:headEnd/>
            <a:tailEnd/>
          </a:ln>
          <a:effectLst/>
        </p:spPr>
        <p:txBody>
          <a:bodyPr/>
          <a:lstStyle/>
          <a:p>
            <a:pPr>
              <a:defRPr/>
            </a:pPr>
            <a:endParaRPr lang="de-DE"/>
          </a:p>
        </p:txBody>
      </p:sp>
      <p:sp>
        <p:nvSpPr>
          <p:cNvPr id="7" name="Rectangle 7"/>
          <p:cNvSpPr>
            <a:spLocks noChangeArrowheads="1"/>
          </p:cNvSpPr>
          <p:nvPr userDrawn="1"/>
        </p:nvSpPr>
        <p:spPr bwMode="invGray">
          <a:xfrm>
            <a:off x="0" y="1"/>
            <a:ext cx="9144000" cy="815024"/>
          </a:xfrm>
          <a:prstGeom prst="rect">
            <a:avLst/>
          </a:prstGeom>
          <a:solidFill>
            <a:schemeClr val="tx2"/>
          </a:solidFill>
          <a:ln w="9525">
            <a:noFill/>
            <a:miter lim="800000"/>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prst="coolSlant"/>
          </a:sp3d>
        </p:spPr>
        <p:txBody>
          <a:bodyPr wrap="none" anchor="ctr"/>
          <a:lstStyle/>
          <a:p>
            <a:pPr>
              <a:defRPr/>
            </a:pPr>
            <a:endParaRPr lang="de-DE"/>
          </a:p>
        </p:txBody>
      </p:sp>
      <p:sp>
        <p:nvSpPr>
          <p:cNvPr id="9" name="Abgerundetes Rechteck 8"/>
          <p:cNvSpPr/>
          <p:nvPr userDrawn="1"/>
        </p:nvSpPr>
        <p:spPr>
          <a:xfrm>
            <a:off x="118693" y="105507"/>
            <a:ext cx="667317" cy="598738"/>
          </a:xfrm>
          <a:prstGeom prst="roundRect">
            <a:avLst>
              <a:gd name="adj" fmla="val 9178"/>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2"/>
          <p:cNvSpPr>
            <a:spLocks noGrp="1" noChangeArrowheads="1"/>
          </p:cNvSpPr>
          <p:nvPr userDrawn="1">
            <p:ph type="title"/>
          </p:nvPr>
        </p:nvSpPr>
        <p:spPr bwMode="auto">
          <a:xfrm>
            <a:off x="971600" y="52707"/>
            <a:ext cx="8064896" cy="709613"/>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de-DE" dirty="0"/>
              <a:t>Titelmasterformat durch Klicken bearbeiten</a:t>
            </a:r>
          </a:p>
        </p:txBody>
      </p:sp>
      <p:pic>
        <p:nvPicPr>
          <p:cNvPr id="28674" name="Picture 2" descr="https://cdn-static.bizzabo.com/bizzabo.users.files/zG7zRd0nS5WvqOWKrgQP_Western%20Caspian%20University%20black.png"/>
          <p:cNvPicPr>
            <a:picLocks noChangeAspect="1" noChangeArrowheads="1"/>
          </p:cNvPicPr>
          <p:nvPr userDrawn="1"/>
        </p:nvPicPr>
        <p:blipFill>
          <a:blip r:embed="rId6" cstate="print"/>
          <a:srcRect r="81904"/>
          <a:stretch>
            <a:fillRect/>
          </a:stretch>
        </p:blipFill>
        <p:spPr bwMode="auto">
          <a:xfrm>
            <a:off x="200323" y="176258"/>
            <a:ext cx="504056" cy="457237"/>
          </a:xfrm>
          <a:prstGeom prst="rect">
            <a:avLst/>
          </a:prstGeom>
          <a:noFill/>
        </p:spPr>
      </p:pic>
    </p:spTree>
  </p:cSld>
  <p:clrMap bg1="lt1" tx1="dk1" bg2="lt2" tx2="dk2" accent1="accent1" accent2="accent2" accent3="accent3" accent4="accent4" accent5="accent5" accent6="accent6" hlink="hlink" folHlink="folHlink"/>
  <p:sldLayoutIdLst>
    <p:sldLayoutId id="2147483649" r:id="rId1"/>
    <p:sldLayoutId id="2147483654" r:id="rId2"/>
    <p:sldLayoutId id="2147483655" r:id="rId3"/>
    <p:sldLayoutId id="2147483656" r:id="rId4"/>
  </p:sldLayoutIdLst>
  <p:txStyles>
    <p:titleStyle>
      <a:lvl1pPr algn="l" defTabSz="914400" rtl="0" eaLnBrk="1" latinLnBrk="0" hangingPunct="1">
        <a:spcBef>
          <a:spcPct val="0"/>
        </a:spcBef>
        <a:buNone/>
        <a:defRPr sz="2000" kern="1200">
          <a:solidFill>
            <a:schemeClr val="bg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image" Target="../media/image16.jpeg"/><Relationship Id="rId1" Type="http://schemas.openxmlformats.org/officeDocument/2006/relationships/slideLayout" Target="../slideLayouts/slideLayout2.xml"/><Relationship Id="rId5" Type="http://schemas.openxmlformats.org/officeDocument/2006/relationships/image" Target="../media/image19.png"/><Relationship Id="rId4" Type="http://schemas.openxmlformats.org/officeDocument/2006/relationships/image" Target="../media/image18.png"/></Relationships>
</file>

<file path=ppt/slides/_rels/slide4.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jpeg"/><Relationship Id="rId1" Type="http://schemas.openxmlformats.org/officeDocument/2006/relationships/slideLayout" Target="../slideLayouts/slideLayout2.xml"/><Relationship Id="rId4" Type="http://schemas.openxmlformats.org/officeDocument/2006/relationships/image" Target="../media/image19.png"/></Relationships>
</file>

<file path=ppt/slides/_rels/slide5.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30.xml"/><Relationship Id="rId1" Type="http://schemas.openxmlformats.org/officeDocument/2006/relationships/tags" Target="../tags/tag29.xml"/></Relationships>
</file>

<file path=ppt/slides/_rels/slide8.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slideLayout" Target="../slideLayouts/slideLayout2.xml"/><Relationship Id="rId1" Type="http://schemas.openxmlformats.org/officeDocument/2006/relationships/tags" Target="../tags/tag31.xml"/></Relationships>
</file>

<file path=ppt/slides/_rels/slide9.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slideLayout" Target="../slideLayouts/slideLayout2.xml"/><Relationship Id="rId1" Type="http://schemas.openxmlformats.org/officeDocument/2006/relationships/tags" Target="../tags/tag32.xml"/><Relationship Id="rId4" Type="http://schemas.openxmlformats.org/officeDocument/2006/relationships/image" Target="../media/image26.png"/></Relationships>
</file>

<file path=ppt/slides/_rels/slide10.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34.xml"/><Relationship Id="rId1" Type="http://schemas.openxmlformats.org/officeDocument/2006/relationships/tags" Target="../tags/tag33.xml"/><Relationship Id="rId5" Type="http://schemas.openxmlformats.org/officeDocument/2006/relationships/image" Target="../media/image26.png"/><Relationship Id="rId4" Type="http://schemas.openxmlformats.org/officeDocument/2006/relationships/image" Target="../media/image25.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jpeg"/><Relationship Id="rId1" Type="http://schemas.openxmlformats.org/officeDocument/2006/relationships/slideLayout" Target="../slideLayouts/slideLayout2.xml"/><Relationship Id="rId4" Type="http://schemas.openxmlformats.org/officeDocument/2006/relationships/image" Target="../media/image29.png"/></Relationships>
</file>

<file path=ppt/slides/_rels/slide13.xml.rels><?xml version="1.0" encoding="UTF-8" standalone="yes"?>
<Relationships xmlns="http://schemas.openxmlformats.org/package/2006/relationships"><Relationship Id="rId3" Type="http://schemas.openxmlformats.org/officeDocument/2006/relationships/image" Target="../media/image18.png"/><Relationship Id="rId7" Type="http://schemas.openxmlformats.org/officeDocument/2006/relationships/image" Target="../media/image32.png"/><Relationship Id="rId2" Type="http://schemas.openxmlformats.org/officeDocument/2006/relationships/slideLayout" Target="../slideLayouts/slideLayout2.xml"/><Relationship Id="rId1" Type="http://schemas.openxmlformats.org/officeDocument/2006/relationships/tags" Target="../tags/tag35.xml"/><Relationship Id="rId6" Type="http://schemas.openxmlformats.org/officeDocument/2006/relationships/image" Target="../media/image31.png"/><Relationship Id="rId5" Type="http://schemas.openxmlformats.org/officeDocument/2006/relationships/image" Target="../media/image30.png"/><Relationship Id="rId4" Type="http://schemas.openxmlformats.org/officeDocument/2006/relationships/image" Target="../media/image19.png"/></Relationships>
</file>

<file path=ppt/slides/_rels/slide14.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slideLayout" Target="../slideLayouts/slideLayout2.xml"/><Relationship Id="rId1" Type="http://schemas.openxmlformats.org/officeDocument/2006/relationships/tags" Target="../tags/tag36.xml"/></Relationships>
</file>

<file path=ppt/slides/_rels/slide15.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slideLayout" Target="../slideLayouts/slideLayout2.xml"/><Relationship Id="rId1" Type="http://schemas.openxmlformats.org/officeDocument/2006/relationships/tags" Target="../tags/tag37.xml"/></Relationships>
</file>

<file path=ppt/slides/_rels/slide16.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slideLayout" Target="../slideLayouts/slideLayout2.xml"/><Relationship Id="rId1" Type="http://schemas.openxmlformats.org/officeDocument/2006/relationships/tags" Target="../tags/tag38.xml"/></Relationships>
</file>

<file path=ppt/slides/_rels/slide17.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slideLayout" Target="../slideLayouts/slideLayout2.xml"/><Relationship Id="rId1" Type="http://schemas.openxmlformats.org/officeDocument/2006/relationships/tags" Target="../tags/tag39.xml"/><Relationship Id="rId4" Type="http://schemas.openxmlformats.org/officeDocument/2006/relationships/image" Target="../media/image37.png"/></Relationships>
</file>

<file path=ppt/slides/_rels/slide18.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slideLayout" Target="../slideLayouts/slideLayout2.xml"/><Relationship Id="rId1" Type="http://schemas.openxmlformats.org/officeDocument/2006/relationships/tags" Target="../tags/tag40.xml"/></Relationships>
</file>

<file path=ppt/slides/_rels/slide19.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slideLayout" Target="../slideLayouts/slideLayout2.xml"/><Relationship Id="rId1" Type="http://schemas.openxmlformats.org/officeDocument/2006/relationships/tags" Target="../tags/tag41.xml"/></Relationships>
</file>

<file path=ppt/slides/_rels/slide20.xml.rels><?xml version="1.0" encoding="UTF-8" standalone="yes"?>
<Relationships xmlns="http://schemas.openxmlformats.org/package/2006/relationships"><Relationship Id="rId8" Type="http://schemas.openxmlformats.org/officeDocument/2006/relationships/image" Target="../media/image42.png"/><Relationship Id="rId3" Type="http://schemas.openxmlformats.org/officeDocument/2006/relationships/tags" Target="../tags/tag44.xml"/><Relationship Id="rId7" Type="http://schemas.openxmlformats.org/officeDocument/2006/relationships/image" Target="../media/image41.png"/><Relationship Id="rId12" Type="http://schemas.openxmlformats.org/officeDocument/2006/relationships/image" Target="../media/image46.png"/><Relationship Id="rId2" Type="http://schemas.openxmlformats.org/officeDocument/2006/relationships/tags" Target="../tags/tag43.xml"/><Relationship Id="rId1" Type="http://schemas.openxmlformats.org/officeDocument/2006/relationships/tags" Target="../tags/tag42.xml"/><Relationship Id="rId6" Type="http://schemas.openxmlformats.org/officeDocument/2006/relationships/image" Target="../media/image40.png"/><Relationship Id="rId11" Type="http://schemas.openxmlformats.org/officeDocument/2006/relationships/image" Target="../media/image45.png"/><Relationship Id="rId5" Type="http://schemas.openxmlformats.org/officeDocument/2006/relationships/slideLayout" Target="../slideLayouts/slideLayout2.xml"/><Relationship Id="rId10" Type="http://schemas.openxmlformats.org/officeDocument/2006/relationships/image" Target="../media/image44.png"/><Relationship Id="rId4" Type="http://schemas.openxmlformats.org/officeDocument/2006/relationships/tags" Target="../tags/tag45.xml"/><Relationship Id="rId9" Type="http://schemas.openxmlformats.org/officeDocument/2006/relationships/image" Target="../media/image43.png"/></Relationships>
</file>

<file path=ppt/slides/_rels/slide21.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slideLayout" Target="../slideLayouts/slideLayout2.xml"/><Relationship Id="rId1" Type="http://schemas.openxmlformats.org/officeDocument/2006/relationships/tags" Target="../tags/tag46.xml"/></Relationships>
</file>

<file path=ppt/slides/_rels/slide22.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slideLayout" Target="../slideLayouts/slideLayout2.xml"/><Relationship Id="rId1" Type="http://schemas.openxmlformats.org/officeDocument/2006/relationships/tags" Target="../tags/tag47.xml"/></Relationships>
</file>

<file path=ppt/slides/_rels/slide23.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49.xml"/><Relationship Id="rId1" Type="http://schemas.openxmlformats.org/officeDocument/2006/relationships/tags" Target="../tags/tag48.xml"/><Relationship Id="rId6" Type="http://schemas.openxmlformats.org/officeDocument/2006/relationships/image" Target="../media/image49.png"/><Relationship Id="rId5" Type="http://schemas.openxmlformats.org/officeDocument/2006/relationships/image" Target="../media/image26.png"/><Relationship Id="rId4" Type="http://schemas.openxmlformats.org/officeDocument/2006/relationships/image" Target="../media/image25.png"/></Relationships>
</file>

<file path=ppt/slides/_rels/slide24.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51.xml"/><Relationship Id="rId1" Type="http://schemas.openxmlformats.org/officeDocument/2006/relationships/tags" Target="../tags/tag50.xml"/><Relationship Id="rId6" Type="http://schemas.openxmlformats.org/officeDocument/2006/relationships/image" Target="../media/image50.png"/><Relationship Id="rId5" Type="http://schemas.openxmlformats.org/officeDocument/2006/relationships/image" Target="../media/image26.png"/><Relationship Id="rId4" Type="http://schemas.openxmlformats.org/officeDocument/2006/relationships/image" Target="../media/image25.png"/></Relationships>
</file>

<file path=ppt/slides/_rels/slide25.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53.xml"/><Relationship Id="rId1" Type="http://schemas.openxmlformats.org/officeDocument/2006/relationships/tags" Target="../tags/tag52.xml"/><Relationship Id="rId6" Type="http://schemas.openxmlformats.org/officeDocument/2006/relationships/image" Target="../media/image51.png"/><Relationship Id="rId5" Type="http://schemas.openxmlformats.org/officeDocument/2006/relationships/image" Target="../media/image26.png"/><Relationship Id="rId4" Type="http://schemas.openxmlformats.org/officeDocument/2006/relationships/image" Target="../media/image25.png"/></Relationships>
</file>

<file path=ppt/slides/_rels/slide26.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slideLayout" Target="../slideLayouts/slideLayout2.xml"/><Relationship Id="rId1" Type="http://schemas.openxmlformats.org/officeDocument/2006/relationships/tags" Target="../tags/tag54.xml"/></Relationships>
</file>

<file path=ppt/slides/_rels/slide27.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slideLayout" Target="../slideLayouts/slideLayout2.xml"/><Relationship Id="rId1" Type="http://schemas.openxmlformats.org/officeDocument/2006/relationships/tags" Target="../tags/tag55.xml"/></Relationships>
</file>

<file path=ppt/slides/_rels/slide28.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slideLayout" Target="../slideLayouts/slideLayout2.xml"/><Relationship Id="rId1" Type="http://schemas.openxmlformats.org/officeDocument/2006/relationships/tags" Target="../tags/tag56.xml"/></Relationships>
</file>

<file path=ppt/slides/_rels/slide29.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slideLayout" Target="../slideLayouts/slideLayout2.xml"/><Relationship Id="rId1" Type="http://schemas.openxmlformats.org/officeDocument/2006/relationships/tags" Target="../tags/tag57.xml"/></Relationships>
</file>

<file path=ppt/slides/_rels/slide30.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slideLayout" Target="../slideLayouts/slideLayout2.xml"/><Relationship Id="rId1" Type="http://schemas.openxmlformats.org/officeDocument/2006/relationships/tags" Target="../tags/tag58.xml"/></Relationships>
</file>

<file path=ppt/slides/_rels/slide31.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image" Target="../media/image57.png"/><Relationship Id="rId1" Type="http://schemas.openxmlformats.org/officeDocument/2006/relationships/slideLayout" Target="../slideLayouts/slideLayout2.xml"/><Relationship Id="rId4" Type="http://schemas.openxmlformats.org/officeDocument/2006/relationships/image" Target="../media/image59.png"/></Relationships>
</file>

<file path=ppt/slides/_rels/slide32.xml.rels><?xml version="1.0" encoding="UTF-8" standalone="yes"?>
<Relationships xmlns="http://schemas.openxmlformats.org/package/2006/relationships"><Relationship Id="rId3" Type="http://schemas.openxmlformats.org/officeDocument/2006/relationships/tags" Target="../tags/tag61.xml"/><Relationship Id="rId7" Type="http://schemas.openxmlformats.org/officeDocument/2006/relationships/image" Target="../media/image61.png"/><Relationship Id="rId2" Type="http://schemas.openxmlformats.org/officeDocument/2006/relationships/tags" Target="../tags/tag60.xml"/><Relationship Id="rId1" Type="http://schemas.openxmlformats.org/officeDocument/2006/relationships/tags" Target="../tags/tag59.xml"/><Relationship Id="rId6" Type="http://schemas.openxmlformats.org/officeDocument/2006/relationships/image" Target="../media/image60.png"/><Relationship Id="rId5" Type="http://schemas.openxmlformats.org/officeDocument/2006/relationships/slideLayout" Target="../slideLayouts/slideLayout2.xml"/><Relationship Id="rId4" Type="http://schemas.openxmlformats.org/officeDocument/2006/relationships/tags" Target="../tags/tag6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4.xml.rels><?xml version="1.0" encoding="UTF-8" standalone="yes"?>
<Relationships xmlns="http://schemas.openxmlformats.org/package/2006/relationships"><Relationship Id="rId3" Type="http://schemas.openxmlformats.org/officeDocument/2006/relationships/image" Target="../media/image63.png"/><Relationship Id="rId2" Type="http://schemas.openxmlformats.org/officeDocument/2006/relationships/image" Target="../media/image62.png"/><Relationship Id="rId1" Type="http://schemas.openxmlformats.org/officeDocument/2006/relationships/slideLayout" Target="../slideLayouts/slideLayout2.xml"/><Relationship Id="rId5" Type="http://schemas.openxmlformats.org/officeDocument/2006/relationships/image" Target="../media/image65.png"/><Relationship Id="rId4" Type="http://schemas.openxmlformats.org/officeDocument/2006/relationships/image" Target="../media/image64.png"/></Relationships>
</file>

<file path=ppt/slides/_rels/slide3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63.xml"/></Relationships>
</file>

<file path=ppt/slides/_rels/slide36.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65.xml"/><Relationship Id="rId1" Type="http://schemas.openxmlformats.org/officeDocument/2006/relationships/tags" Target="../tags/tag64.xml"/><Relationship Id="rId4" Type="http://schemas.openxmlformats.org/officeDocument/2006/relationships/image" Target="../media/image66.png"/></Relationships>
</file>

<file path=ppt/slides/_rels/slide37.xml.rels><?xml version="1.0" encoding="UTF-8" standalone="yes"?>
<Relationships xmlns="http://schemas.openxmlformats.org/package/2006/relationships"><Relationship Id="rId3" Type="http://schemas.openxmlformats.org/officeDocument/2006/relationships/image" Target="../media/image67.png"/><Relationship Id="rId2" Type="http://schemas.openxmlformats.org/officeDocument/2006/relationships/slideLayout" Target="../slideLayouts/slideLayout2.xml"/><Relationship Id="rId1" Type="http://schemas.openxmlformats.org/officeDocument/2006/relationships/tags" Target="../tags/tag66.xml"/></Relationships>
</file>

<file path=ppt/slides/_rels/slide38.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slideLayout" Target="../slideLayouts/slideLayout2.xml"/><Relationship Id="rId1" Type="http://schemas.openxmlformats.org/officeDocument/2006/relationships/tags" Target="../tags/tag67.xml"/></Relationships>
</file>

<file path=ppt/slides/_rels/slide39.xml.rels><?xml version="1.0" encoding="UTF-8" standalone="yes"?>
<Relationships xmlns="http://schemas.openxmlformats.org/package/2006/relationships"><Relationship Id="rId3" Type="http://schemas.openxmlformats.org/officeDocument/2006/relationships/image" Target="../media/image69.png"/><Relationship Id="rId2" Type="http://schemas.openxmlformats.org/officeDocument/2006/relationships/slideLayout" Target="../slideLayouts/slideLayout2.xml"/><Relationship Id="rId1" Type="http://schemas.openxmlformats.org/officeDocument/2006/relationships/tags" Target="../tags/tag68.xml"/></Relationships>
</file>

<file path=ppt/slides/_rels/slide40.xml.rels><?xml version="1.0" encoding="UTF-8" standalone="yes"?>
<Relationships xmlns="http://schemas.openxmlformats.org/package/2006/relationships"><Relationship Id="rId3" Type="http://schemas.openxmlformats.org/officeDocument/2006/relationships/image" Target="../media/image70.png"/><Relationship Id="rId2" Type="http://schemas.openxmlformats.org/officeDocument/2006/relationships/slideLayout" Target="../slideLayouts/slideLayout2.xml"/><Relationship Id="rId1" Type="http://schemas.openxmlformats.org/officeDocument/2006/relationships/tags" Target="../tags/tag69.xml"/></Relationships>
</file>

<file path=ppt/slides/_rels/slide41.xml.rels><?xml version="1.0" encoding="UTF-8" standalone="yes"?>
<Relationships xmlns="http://schemas.openxmlformats.org/package/2006/relationships"><Relationship Id="rId3" Type="http://schemas.openxmlformats.org/officeDocument/2006/relationships/tags" Target="../tags/tag72.xml"/><Relationship Id="rId2" Type="http://schemas.openxmlformats.org/officeDocument/2006/relationships/tags" Target="../tags/tag71.xml"/><Relationship Id="rId1" Type="http://schemas.openxmlformats.org/officeDocument/2006/relationships/tags" Target="../tags/tag70.xml"/><Relationship Id="rId6" Type="http://schemas.openxmlformats.org/officeDocument/2006/relationships/image" Target="../media/image71.png"/><Relationship Id="rId5" Type="http://schemas.openxmlformats.org/officeDocument/2006/relationships/slideLayout" Target="../slideLayouts/slideLayout2.xml"/><Relationship Id="rId4" Type="http://schemas.openxmlformats.org/officeDocument/2006/relationships/tags" Target="../tags/tag73.xml"/></Relationships>
</file>

<file path=ppt/slides/_rels/slide42.xml.rels><?xml version="1.0" encoding="UTF-8" standalone="yes"?>
<Relationships xmlns="http://schemas.openxmlformats.org/package/2006/relationships"><Relationship Id="rId3" Type="http://schemas.openxmlformats.org/officeDocument/2006/relationships/tags" Target="../tags/tag76.xml"/><Relationship Id="rId2" Type="http://schemas.openxmlformats.org/officeDocument/2006/relationships/tags" Target="../tags/tag75.xml"/><Relationship Id="rId1" Type="http://schemas.openxmlformats.org/officeDocument/2006/relationships/tags" Target="../tags/tag74.xml"/><Relationship Id="rId5" Type="http://schemas.openxmlformats.org/officeDocument/2006/relationships/image" Target="../media/image72.png"/><Relationship Id="rId4"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73.png"/><Relationship Id="rId2" Type="http://schemas.openxmlformats.org/officeDocument/2006/relationships/slideLayout" Target="../slideLayouts/slideLayout2.xml"/><Relationship Id="rId1" Type="http://schemas.openxmlformats.org/officeDocument/2006/relationships/tags" Target="../tags/tag7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ctrTitle"/>
          </p:nvPr>
        </p:nvSpPr>
        <p:spPr/>
        <p:txBody>
          <a:bodyPr/>
          <a:lstStyle/>
          <a:p>
            <a:r>
              <a:rPr lang="en-US" noProof="0" dirty="0"/>
              <a:t>Computational Biomathematics</a:t>
            </a:r>
          </a:p>
        </p:txBody>
      </p:sp>
      <p:sp>
        <p:nvSpPr>
          <p:cNvPr id="3" name="Untertitel 2"/>
          <p:cNvSpPr>
            <a:spLocks noGrp="1"/>
          </p:cNvSpPr>
          <p:nvPr>
            <p:ph type="subTitle" idx="1"/>
          </p:nvPr>
        </p:nvSpPr>
        <p:spPr/>
        <p:txBody>
          <a:bodyPr/>
          <a:lstStyle/>
          <a:p>
            <a:endParaRPr lang="en-US" noProof="0" dirty="0"/>
          </a:p>
          <a:p>
            <a:r>
              <a:rPr lang="en-US" noProof="0" dirty="0"/>
              <a:t>Ritualistic Battles</a:t>
            </a:r>
          </a:p>
          <a:p>
            <a:endParaRPr lang="en-US" sz="500" noProof="0" dirty="0"/>
          </a:p>
          <a:p>
            <a:r>
              <a:rPr lang="en-US" noProof="0"/>
              <a:t>Lesson 8</a:t>
            </a:r>
            <a:endParaRPr lang="en-US" noProof="0" dirty="0"/>
          </a:p>
        </p:txBody>
      </p:sp>
      <p:sp>
        <p:nvSpPr>
          <p:cNvPr id="4" name="Rechteck 3"/>
          <p:cNvSpPr/>
          <p:nvPr/>
        </p:nvSpPr>
        <p:spPr>
          <a:xfrm>
            <a:off x="7092280" y="3291830"/>
            <a:ext cx="1800200" cy="1717159"/>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L="177800" lvl="1" indent="-177800">
              <a:spcAft>
                <a:spcPts val="400"/>
              </a:spcAft>
              <a:buFont typeface="Arial" pitchFamily="34" charset="0"/>
              <a:buChar char="•"/>
            </a:pPr>
            <a:r>
              <a:rPr lang="en-US" sz="1200" noProof="0" dirty="0">
                <a:solidFill>
                  <a:schemeClr val="tx1"/>
                </a:solidFill>
              </a:rPr>
              <a:t>Mathematical formulation: The Hawk-Dove game</a:t>
            </a:r>
          </a:p>
          <a:p>
            <a:pPr marL="177800" lvl="1" indent="-177800">
              <a:spcAft>
                <a:spcPts val="400"/>
              </a:spcAft>
              <a:buFont typeface="Arial" pitchFamily="34" charset="0"/>
              <a:buChar char="•"/>
            </a:pPr>
            <a:r>
              <a:rPr lang="en-US" sz="1200" noProof="0" dirty="0">
                <a:solidFill>
                  <a:schemeClr val="tx1"/>
                </a:solidFill>
              </a:rPr>
              <a:t>Discrete evolutionary dynamics</a:t>
            </a:r>
          </a:p>
          <a:p>
            <a:pPr marL="177800" lvl="1" indent="-177800">
              <a:spcAft>
                <a:spcPts val="400"/>
              </a:spcAft>
              <a:buFont typeface="Arial" pitchFamily="34" charset="0"/>
              <a:buChar char="•"/>
            </a:pPr>
            <a:r>
              <a:rPr lang="en-US" sz="1200" noProof="0" dirty="0">
                <a:solidFill>
                  <a:schemeClr val="tx1"/>
                </a:solidFill>
              </a:rPr>
              <a:t>The Hawk-Dove-Bourgeois extension</a:t>
            </a:r>
          </a:p>
        </p:txBody>
      </p:sp>
      <p:sp>
        <p:nvSpPr>
          <p:cNvPr id="5" name="Rechteck 4"/>
          <p:cNvSpPr/>
          <p:nvPr/>
        </p:nvSpPr>
        <p:spPr>
          <a:xfrm>
            <a:off x="7092280" y="2931790"/>
            <a:ext cx="1800200" cy="288032"/>
          </a:xfrm>
          <a:prstGeom prst="rect">
            <a:avLst/>
          </a:prstGeom>
          <a:solidFill>
            <a:schemeClr val="tx2"/>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noProof="0" dirty="0"/>
              <a:t>Lecture</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bgerundetes Rechteck 1"/>
          <p:cNvSpPr/>
          <p:nvPr/>
        </p:nvSpPr>
        <p:spPr>
          <a:xfrm>
            <a:off x="971600" y="1572521"/>
            <a:ext cx="7200800" cy="360040"/>
          </a:xfrm>
          <a:prstGeom prst="roundRect">
            <a:avLst/>
          </a:prstGeom>
          <a:solidFill>
            <a:schemeClr val="tx2">
              <a:lumMod val="40000"/>
              <a:lumOff val="60000"/>
            </a:schemeClr>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feld 2"/>
          <p:cNvSpPr txBox="1"/>
          <p:nvPr/>
        </p:nvSpPr>
        <p:spPr>
          <a:xfrm>
            <a:off x="971600" y="1131590"/>
            <a:ext cx="5443413" cy="1908215"/>
          </a:xfrm>
          <a:prstGeom prst="rect">
            <a:avLst/>
          </a:prstGeom>
          <a:noFill/>
        </p:spPr>
        <p:txBody>
          <a:bodyPr wrap="none" rtlCol="0">
            <a:spAutoFit/>
          </a:bodyPr>
          <a:lstStyle/>
          <a:p>
            <a:r>
              <a:rPr lang="en-US" b="1" dirty="0"/>
              <a:t>Topics</a:t>
            </a:r>
          </a:p>
          <a:p>
            <a:endParaRPr lang="en-US" sz="1000" dirty="0"/>
          </a:p>
          <a:p>
            <a:pPr lvl="1"/>
            <a:r>
              <a:rPr lang="en-US" b="1" dirty="0"/>
              <a:t>Mathematical Formulation: The Hawk-Dove Game</a:t>
            </a:r>
          </a:p>
          <a:p>
            <a:pPr lvl="1"/>
            <a:endParaRPr lang="en-US" b="1" dirty="0"/>
          </a:p>
          <a:p>
            <a:pPr lvl="1"/>
            <a:r>
              <a:rPr lang="en-US" dirty="0"/>
              <a:t>Discrete Evolutionary Dynamics</a:t>
            </a:r>
          </a:p>
          <a:p>
            <a:pPr lvl="1"/>
            <a:endParaRPr lang="en-US" dirty="0"/>
          </a:p>
          <a:p>
            <a:pPr lvl="1"/>
            <a:r>
              <a:rPr lang="en-US" dirty="0"/>
              <a:t>The Hawk-Dove-Bourgeois Extension</a:t>
            </a:r>
          </a:p>
        </p:txBody>
      </p:sp>
      <p:pic>
        <p:nvPicPr>
          <p:cNvPr id="47108" name="Picture 4" descr="Le Taureau by Pablo Picasso - No Frame Print on Wood"/>
          <p:cNvPicPr>
            <a:picLocks noChangeAspect="1" noChangeArrowheads="1"/>
          </p:cNvPicPr>
          <p:nvPr/>
        </p:nvPicPr>
        <p:blipFill>
          <a:blip r:embed="rId2"/>
          <a:srcRect t="16888" b="17549"/>
          <a:stretch>
            <a:fillRect/>
          </a:stretch>
        </p:blipFill>
        <p:spPr bwMode="auto">
          <a:xfrm>
            <a:off x="5309476" y="2571750"/>
            <a:ext cx="3739255" cy="2451581"/>
          </a:xfrm>
          <a:prstGeom prst="rect">
            <a:avLst/>
          </a:prstGeom>
          <a:noFill/>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en-US" dirty="0"/>
              <a:t>We have two identical players with the same strategies and who choose their strategy simultaneously and without cooperation</a:t>
            </a:r>
          </a:p>
        </p:txBody>
      </p:sp>
      <p:sp>
        <p:nvSpPr>
          <p:cNvPr id="3" name="Rechteck 2"/>
          <p:cNvSpPr/>
          <p:nvPr/>
        </p:nvSpPr>
        <p:spPr>
          <a:xfrm>
            <a:off x="1691680" y="1131590"/>
            <a:ext cx="7200800" cy="3888432"/>
          </a:xfrm>
          <a:prstGeom prst="rect">
            <a:avLst/>
          </a:prstGeom>
          <a:noFill/>
          <a:ln>
            <a:solidFill>
              <a:schemeClr val="tx2">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spcAft>
                <a:spcPts val="600"/>
              </a:spcAft>
            </a:pPr>
            <a:endParaRPr lang="en-US" sz="1400" b="1" dirty="0">
              <a:solidFill>
                <a:schemeClr val="tx1"/>
              </a:solidFill>
            </a:endParaRPr>
          </a:p>
          <a:p>
            <a:pPr>
              <a:spcAft>
                <a:spcPts val="600"/>
              </a:spcAft>
            </a:pPr>
            <a:endParaRPr lang="en-US" sz="1400" b="1" dirty="0">
              <a:solidFill>
                <a:schemeClr val="tx1"/>
              </a:solidFill>
            </a:endParaRPr>
          </a:p>
          <a:p>
            <a:pPr>
              <a:spcAft>
                <a:spcPts val="600"/>
              </a:spcAft>
            </a:pPr>
            <a:endParaRPr lang="en-US" sz="1400" b="1" dirty="0">
              <a:solidFill>
                <a:schemeClr val="tx1"/>
              </a:solidFill>
            </a:endParaRPr>
          </a:p>
          <a:p>
            <a:pPr>
              <a:spcAft>
                <a:spcPts val="600"/>
              </a:spcAft>
            </a:pPr>
            <a:endParaRPr lang="en-US" sz="1400" b="1" dirty="0">
              <a:solidFill>
                <a:schemeClr val="tx1"/>
              </a:solidFill>
            </a:endParaRPr>
          </a:p>
          <a:p>
            <a:pPr>
              <a:spcAft>
                <a:spcPts val="600"/>
              </a:spcAft>
            </a:pPr>
            <a:endParaRPr lang="en-US" sz="1400" b="1" dirty="0">
              <a:solidFill>
                <a:schemeClr val="tx1"/>
              </a:solidFill>
            </a:endParaRPr>
          </a:p>
          <a:p>
            <a:pPr>
              <a:spcAft>
                <a:spcPts val="600"/>
              </a:spcAft>
            </a:pPr>
            <a:endParaRPr lang="en-US" sz="1400" b="1" dirty="0">
              <a:solidFill>
                <a:schemeClr val="tx1"/>
              </a:solidFill>
            </a:endParaRPr>
          </a:p>
          <a:p>
            <a:pPr>
              <a:spcAft>
                <a:spcPts val="600"/>
              </a:spcAft>
            </a:pPr>
            <a:endParaRPr lang="en-US" sz="500" b="1" dirty="0">
              <a:solidFill>
                <a:schemeClr val="tx1"/>
              </a:solidFill>
            </a:endParaRPr>
          </a:p>
          <a:p>
            <a:pPr>
              <a:spcAft>
                <a:spcPts val="600"/>
              </a:spcAft>
            </a:pPr>
            <a:r>
              <a:rPr lang="en-US" sz="1400" b="1" dirty="0">
                <a:solidFill>
                  <a:schemeClr val="tx1"/>
                </a:solidFill>
              </a:rPr>
              <a:t>General Modeling Assumptions:</a:t>
            </a:r>
          </a:p>
          <a:p>
            <a:pPr marL="182563" indent="-182563">
              <a:spcAft>
                <a:spcPts val="600"/>
              </a:spcAft>
              <a:buFont typeface="Arial" pitchFamily="34" charset="0"/>
              <a:buChar char="•"/>
            </a:pPr>
            <a:r>
              <a:rPr lang="en-US" sz="1400" dirty="0">
                <a:solidFill>
                  <a:schemeClr val="tx1"/>
                </a:solidFill>
              </a:rPr>
              <a:t>Two ‘identical’ players (player A and player B), i.e.</a:t>
            </a:r>
          </a:p>
          <a:p>
            <a:pPr marL="449263" indent="-266700">
              <a:spcAft>
                <a:spcPts val="600"/>
              </a:spcAft>
              <a:buFont typeface="Symbol" pitchFamily="18" charset="2"/>
              <a:buChar char="-"/>
            </a:pPr>
            <a:r>
              <a:rPr lang="en-US" sz="1400" dirty="0">
                <a:solidFill>
                  <a:schemeClr val="tx1"/>
                </a:solidFill>
              </a:rPr>
              <a:t>identical size, strength, and other attributes,</a:t>
            </a:r>
          </a:p>
          <a:p>
            <a:pPr marL="449263" indent="-266700">
              <a:spcAft>
                <a:spcPts val="600"/>
              </a:spcAft>
              <a:buFont typeface="Symbol" pitchFamily="18" charset="2"/>
              <a:buChar char="-"/>
            </a:pPr>
            <a:r>
              <a:rPr lang="en-US" sz="1400" dirty="0">
                <a:solidFill>
                  <a:schemeClr val="tx1"/>
                </a:solidFill>
              </a:rPr>
              <a:t>identical set of available behavioral strategies.</a:t>
            </a:r>
          </a:p>
          <a:p>
            <a:pPr marL="182563" indent="-182563">
              <a:spcAft>
                <a:spcPts val="600"/>
              </a:spcAft>
              <a:buFont typeface="Arial" pitchFamily="34" charset="0"/>
              <a:buChar char="•"/>
            </a:pPr>
            <a:r>
              <a:rPr lang="en-US" sz="1400" dirty="0">
                <a:solidFill>
                  <a:schemeClr val="tx1"/>
                </a:solidFill>
              </a:rPr>
              <a:t>Each player has two strategies, either to behave like a hawk or like a dove.</a:t>
            </a:r>
          </a:p>
          <a:p>
            <a:pPr marL="182563" indent="-182563">
              <a:spcAft>
                <a:spcPts val="600"/>
              </a:spcAft>
              <a:buFont typeface="Arial" pitchFamily="34" charset="0"/>
              <a:buChar char="•"/>
            </a:pPr>
            <a:r>
              <a:rPr lang="en-US" sz="1400" dirty="0">
                <a:solidFill>
                  <a:schemeClr val="tx1"/>
                </a:solidFill>
              </a:rPr>
              <a:t>The players choose their strategies simultaneously and without knowing which strategy the other player will use (no cooperation/ binding agreements).</a:t>
            </a:r>
          </a:p>
        </p:txBody>
      </p:sp>
      <p:sp>
        <p:nvSpPr>
          <p:cNvPr id="5" name="Rechteck 4"/>
          <p:cNvSpPr/>
          <p:nvPr/>
        </p:nvSpPr>
        <p:spPr>
          <a:xfrm>
            <a:off x="251520" y="1131590"/>
            <a:ext cx="1296144" cy="50405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t>General</a:t>
            </a:r>
          </a:p>
          <a:p>
            <a:pPr algn="ctr"/>
            <a:r>
              <a:rPr lang="en-US" sz="1400" dirty="0"/>
              <a:t>Assumptions</a:t>
            </a:r>
          </a:p>
        </p:txBody>
      </p:sp>
      <p:sp>
        <p:nvSpPr>
          <p:cNvPr id="7" name="Textfeld 6"/>
          <p:cNvSpPr txBox="1"/>
          <p:nvPr/>
        </p:nvSpPr>
        <p:spPr>
          <a:xfrm>
            <a:off x="251520" y="1707654"/>
            <a:ext cx="1296144" cy="1169551"/>
          </a:xfrm>
          <a:prstGeom prst="rect">
            <a:avLst/>
          </a:prstGeom>
          <a:noFill/>
        </p:spPr>
        <p:txBody>
          <a:bodyPr wrap="square" rtlCol="0">
            <a:spAutoFit/>
          </a:bodyPr>
          <a:lstStyle/>
          <a:p>
            <a:pPr marL="92075" indent="-92075">
              <a:spcAft>
                <a:spcPts val="300"/>
              </a:spcAft>
              <a:buFont typeface="Arial" pitchFamily="34" charset="0"/>
              <a:buChar char="•"/>
            </a:pPr>
            <a:r>
              <a:rPr lang="en-US" sz="1200" dirty="0"/>
              <a:t>Players</a:t>
            </a:r>
          </a:p>
          <a:p>
            <a:pPr marL="92075" indent="-92075">
              <a:spcAft>
                <a:spcPts val="300"/>
              </a:spcAft>
              <a:buFont typeface="Arial" pitchFamily="34" charset="0"/>
              <a:buChar char="•"/>
            </a:pPr>
            <a:r>
              <a:rPr lang="en-US" sz="1200" dirty="0"/>
              <a:t>Strategies</a:t>
            </a:r>
          </a:p>
          <a:p>
            <a:pPr marL="92075" indent="-92075">
              <a:spcAft>
                <a:spcPts val="300"/>
              </a:spcAft>
              <a:buFont typeface="Arial" pitchFamily="34" charset="0"/>
              <a:buChar char="•"/>
            </a:pPr>
            <a:r>
              <a:rPr lang="en-US" sz="1200" dirty="0"/>
              <a:t>Outcomes</a:t>
            </a:r>
          </a:p>
          <a:p>
            <a:pPr marL="92075" indent="-92075">
              <a:spcAft>
                <a:spcPts val="300"/>
              </a:spcAft>
              <a:buFont typeface="Arial" pitchFamily="34" charset="0"/>
              <a:buChar char="•"/>
            </a:pPr>
            <a:r>
              <a:rPr lang="en-US" sz="1200" dirty="0"/>
              <a:t>Payoffs</a:t>
            </a:r>
          </a:p>
          <a:p>
            <a:pPr marL="92075" indent="-92075">
              <a:spcAft>
                <a:spcPts val="300"/>
              </a:spcAft>
              <a:buFont typeface="Arial" pitchFamily="34" charset="0"/>
              <a:buChar char="•"/>
            </a:pPr>
            <a:r>
              <a:rPr lang="en-US" sz="1200" dirty="0"/>
              <a:t>Information</a:t>
            </a:r>
          </a:p>
        </p:txBody>
      </p:sp>
      <p:pic>
        <p:nvPicPr>
          <p:cNvPr id="12" name="Picture 4" descr="Müden - Artikel - Urlaub in der Lueneburger Heide"/>
          <p:cNvPicPr>
            <a:picLocks noChangeAspect="1" noChangeArrowheads="1"/>
          </p:cNvPicPr>
          <p:nvPr/>
        </p:nvPicPr>
        <p:blipFill>
          <a:blip r:embed="rId2" cstate="print"/>
          <a:srcRect t="16304"/>
          <a:stretch>
            <a:fillRect/>
          </a:stretch>
        </p:blipFill>
        <p:spPr bwMode="auto">
          <a:xfrm>
            <a:off x="4134118" y="1203599"/>
            <a:ext cx="2354962" cy="1314000"/>
          </a:xfrm>
          <a:prstGeom prst="rect">
            <a:avLst/>
          </a:prstGeom>
          <a:noFill/>
          <a:ln w="3175">
            <a:solidFill>
              <a:schemeClr val="bg1"/>
            </a:solidFill>
          </a:ln>
        </p:spPr>
      </p:pic>
      <p:grpSp>
        <p:nvGrpSpPr>
          <p:cNvPr id="4" name="Gruppieren 41"/>
          <p:cNvGrpSpPr/>
          <p:nvPr/>
        </p:nvGrpSpPr>
        <p:grpSpPr>
          <a:xfrm>
            <a:off x="1907704" y="1203598"/>
            <a:ext cx="1767232" cy="1431472"/>
            <a:chOff x="1907704" y="1203598"/>
            <a:chExt cx="1767232" cy="1431472"/>
          </a:xfrm>
        </p:grpSpPr>
        <p:pic>
          <p:nvPicPr>
            <p:cNvPr id="18" name="Picture 2" descr="Geschichte: Hirschbrunft in der Südheide"/>
            <p:cNvPicPr>
              <a:picLocks noChangeAspect="1" noChangeArrowheads="1"/>
            </p:cNvPicPr>
            <p:nvPr/>
          </p:nvPicPr>
          <p:blipFill>
            <a:blip r:embed="rId3" cstate="print"/>
            <a:srcRect l="42377" t="27735" r="10499" b="7817"/>
            <a:stretch>
              <a:fillRect/>
            </a:stretch>
          </p:blipFill>
          <p:spPr bwMode="auto">
            <a:xfrm>
              <a:off x="2072092" y="1203598"/>
              <a:ext cx="1440160" cy="1313087"/>
            </a:xfrm>
            <a:prstGeom prst="rect">
              <a:avLst/>
            </a:prstGeom>
            <a:ln>
              <a:noFill/>
            </a:ln>
            <a:effectLst/>
          </p:spPr>
        </p:pic>
        <p:grpSp>
          <p:nvGrpSpPr>
            <p:cNvPr id="6" name="Gruppieren 38"/>
            <p:cNvGrpSpPr/>
            <p:nvPr/>
          </p:nvGrpSpPr>
          <p:grpSpPr>
            <a:xfrm>
              <a:off x="1907704" y="2096373"/>
              <a:ext cx="581196" cy="532145"/>
              <a:chOff x="7452320" y="1131590"/>
              <a:chExt cx="1440160" cy="1318616"/>
            </a:xfrm>
          </p:grpSpPr>
          <p:sp>
            <p:nvSpPr>
              <p:cNvPr id="40" name="Rechteck 39"/>
              <p:cNvSpPr/>
              <p:nvPr/>
            </p:nvSpPr>
            <p:spPr>
              <a:xfrm>
                <a:off x="7452320" y="1131590"/>
                <a:ext cx="1440160" cy="1296144"/>
              </a:xfrm>
              <a:prstGeom prst="rect">
                <a:avLst/>
              </a:prstGeom>
              <a:solidFill>
                <a:schemeClr val="tx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1" name="Picture 4" descr="Falke vogel tierform | Kostenlose Icon"/>
              <p:cNvPicPr>
                <a:picLocks noChangeAspect="1" noChangeArrowheads="1"/>
              </p:cNvPicPr>
              <p:nvPr/>
            </p:nvPicPr>
            <p:blipFill>
              <a:blip r:embed="rId4" cstate="print"/>
              <a:srcRect/>
              <a:stretch>
                <a:fillRect/>
              </a:stretch>
            </p:blipFill>
            <p:spPr bwMode="auto">
              <a:xfrm rot="20243383" flipH="1">
                <a:off x="7503272" y="1182543"/>
                <a:ext cx="1267663" cy="1267663"/>
              </a:xfrm>
              <a:prstGeom prst="rect">
                <a:avLst/>
              </a:prstGeom>
              <a:noFill/>
            </p:spPr>
          </p:pic>
        </p:grpSp>
        <p:grpSp>
          <p:nvGrpSpPr>
            <p:cNvPr id="8" name="Gruppieren 18"/>
            <p:cNvGrpSpPr/>
            <p:nvPr/>
          </p:nvGrpSpPr>
          <p:grpSpPr>
            <a:xfrm>
              <a:off x="3093740" y="2082934"/>
              <a:ext cx="581196" cy="552136"/>
              <a:chOff x="251520" y="1059582"/>
              <a:chExt cx="1440160" cy="1368152"/>
            </a:xfrm>
          </p:grpSpPr>
          <p:sp>
            <p:nvSpPr>
              <p:cNvPr id="20" name="Rechteck 19"/>
              <p:cNvSpPr/>
              <p:nvPr/>
            </p:nvSpPr>
            <p:spPr>
              <a:xfrm>
                <a:off x="251520" y="1131590"/>
                <a:ext cx="1440160" cy="1296144"/>
              </a:xfrm>
              <a:prstGeom prst="rect">
                <a:avLst/>
              </a:prstGeom>
              <a:solidFill>
                <a:schemeClr val="tx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1" name="Picture 6" descr="Bird Silhouettes | Bird silhouette, Silhouette, Owl silhouette"/>
              <p:cNvPicPr>
                <a:picLocks noChangeAspect="1" noChangeArrowheads="1"/>
              </p:cNvPicPr>
              <p:nvPr/>
            </p:nvPicPr>
            <p:blipFill>
              <a:blip r:embed="rId5" cstate="print"/>
              <a:srcRect/>
              <a:stretch>
                <a:fillRect/>
              </a:stretch>
            </p:blipFill>
            <p:spPr bwMode="auto">
              <a:xfrm>
                <a:off x="395536" y="1059582"/>
                <a:ext cx="1080120" cy="1339939"/>
              </a:xfrm>
              <a:prstGeom prst="rect">
                <a:avLst/>
              </a:prstGeom>
              <a:noFill/>
            </p:spPr>
          </p:pic>
        </p:grpSp>
        <p:sp>
          <p:nvSpPr>
            <p:cNvPr id="25" name="Textfeld 24"/>
            <p:cNvSpPr txBox="1"/>
            <p:nvPr/>
          </p:nvSpPr>
          <p:spPr>
            <a:xfrm>
              <a:off x="2920948" y="1203599"/>
              <a:ext cx="576064" cy="461665"/>
            </a:xfrm>
            <a:prstGeom prst="rect">
              <a:avLst/>
            </a:prstGeom>
            <a:noFill/>
          </p:spPr>
          <p:txBody>
            <a:bodyPr wrap="square" rtlCol="0">
              <a:spAutoFit/>
            </a:bodyPr>
            <a:lstStyle/>
            <a:p>
              <a:pPr algn="ctr"/>
              <a:r>
                <a:rPr lang="en-US" sz="1200" b="1" dirty="0">
                  <a:solidFill>
                    <a:srgbClr val="FFFF00"/>
                  </a:solidFill>
                </a:rPr>
                <a:t>Player A</a:t>
              </a:r>
            </a:p>
          </p:txBody>
        </p:sp>
      </p:grpSp>
      <p:sp>
        <p:nvSpPr>
          <p:cNvPr id="37" name="Gleichschenkliges Dreieck 36"/>
          <p:cNvSpPr/>
          <p:nvPr/>
        </p:nvSpPr>
        <p:spPr>
          <a:xfrm rot="5400000">
            <a:off x="3364467" y="1815667"/>
            <a:ext cx="1080120" cy="144016"/>
          </a:xfrm>
          <a:prstGeom prst="triangle">
            <a:avLst/>
          </a:prstGeom>
          <a:solidFill>
            <a:schemeClr val="bg1">
              <a:lumMod val="85000"/>
            </a:schemeClr>
          </a:solid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Gleichschenkliges Dreieck 37"/>
          <p:cNvSpPr/>
          <p:nvPr/>
        </p:nvSpPr>
        <p:spPr>
          <a:xfrm rot="16200000">
            <a:off x="6178611" y="1815667"/>
            <a:ext cx="1080120" cy="144016"/>
          </a:xfrm>
          <a:prstGeom prst="triangle">
            <a:avLst/>
          </a:prstGeom>
          <a:solidFill>
            <a:schemeClr val="bg1">
              <a:lumMod val="85000"/>
            </a:schemeClr>
          </a:solid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9" name="Gruppieren 42"/>
          <p:cNvGrpSpPr/>
          <p:nvPr/>
        </p:nvGrpSpPr>
        <p:grpSpPr>
          <a:xfrm>
            <a:off x="6948264" y="1203598"/>
            <a:ext cx="1767232" cy="1431472"/>
            <a:chOff x="1907704" y="1203598"/>
            <a:chExt cx="1767232" cy="1431472"/>
          </a:xfrm>
        </p:grpSpPr>
        <p:pic>
          <p:nvPicPr>
            <p:cNvPr id="44" name="Picture 2" descr="Geschichte: Hirschbrunft in der Südheide"/>
            <p:cNvPicPr>
              <a:picLocks noChangeAspect="1" noChangeArrowheads="1"/>
            </p:cNvPicPr>
            <p:nvPr/>
          </p:nvPicPr>
          <p:blipFill>
            <a:blip r:embed="rId3" cstate="print"/>
            <a:srcRect l="42377" t="27735" r="10499" b="7817"/>
            <a:stretch>
              <a:fillRect/>
            </a:stretch>
          </p:blipFill>
          <p:spPr bwMode="auto">
            <a:xfrm>
              <a:off x="2072092" y="1203598"/>
              <a:ext cx="1440160" cy="1313087"/>
            </a:xfrm>
            <a:prstGeom prst="rect">
              <a:avLst/>
            </a:prstGeom>
            <a:ln>
              <a:noFill/>
            </a:ln>
            <a:effectLst/>
          </p:spPr>
        </p:pic>
        <p:grpSp>
          <p:nvGrpSpPr>
            <p:cNvPr id="10" name="Gruppieren 44"/>
            <p:cNvGrpSpPr/>
            <p:nvPr/>
          </p:nvGrpSpPr>
          <p:grpSpPr>
            <a:xfrm>
              <a:off x="1907704" y="2096373"/>
              <a:ext cx="581196" cy="532145"/>
              <a:chOff x="7452320" y="1131590"/>
              <a:chExt cx="1440160" cy="1318616"/>
            </a:xfrm>
          </p:grpSpPr>
          <p:sp>
            <p:nvSpPr>
              <p:cNvPr id="50" name="Rechteck 49"/>
              <p:cNvSpPr/>
              <p:nvPr/>
            </p:nvSpPr>
            <p:spPr>
              <a:xfrm>
                <a:off x="7452320" y="1131590"/>
                <a:ext cx="1440160" cy="1296144"/>
              </a:xfrm>
              <a:prstGeom prst="rect">
                <a:avLst/>
              </a:prstGeom>
              <a:solidFill>
                <a:schemeClr val="accent2">
                  <a:lumMod val="40000"/>
                  <a:lumOff val="60000"/>
                </a:schemeClr>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1" name="Picture 4" descr="Falke vogel tierform | Kostenlose Icon"/>
              <p:cNvPicPr>
                <a:picLocks noChangeAspect="1" noChangeArrowheads="1"/>
              </p:cNvPicPr>
              <p:nvPr/>
            </p:nvPicPr>
            <p:blipFill>
              <a:blip r:embed="rId4" cstate="print"/>
              <a:srcRect/>
              <a:stretch>
                <a:fillRect/>
              </a:stretch>
            </p:blipFill>
            <p:spPr bwMode="auto">
              <a:xfrm rot="1356617">
                <a:off x="7503271" y="1182544"/>
                <a:ext cx="1267664" cy="1267662"/>
              </a:xfrm>
              <a:prstGeom prst="rect">
                <a:avLst/>
              </a:prstGeom>
              <a:noFill/>
            </p:spPr>
          </p:pic>
        </p:grpSp>
        <p:grpSp>
          <p:nvGrpSpPr>
            <p:cNvPr id="11" name="Gruppieren 45"/>
            <p:cNvGrpSpPr/>
            <p:nvPr/>
          </p:nvGrpSpPr>
          <p:grpSpPr>
            <a:xfrm>
              <a:off x="3093740" y="2082934"/>
              <a:ext cx="581196" cy="552136"/>
              <a:chOff x="251520" y="1059582"/>
              <a:chExt cx="1440160" cy="1368152"/>
            </a:xfrm>
          </p:grpSpPr>
          <p:sp>
            <p:nvSpPr>
              <p:cNvPr id="48" name="Rechteck 47"/>
              <p:cNvSpPr/>
              <p:nvPr/>
            </p:nvSpPr>
            <p:spPr>
              <a:xfrm>
                <a:off x="251520" y="1131590"/>
                <a:ext cx="1440160" cy="1296144"/>
              </a:xfrm>
              <a:prstGeom prst="rect">
                <a:avLst/>
              </a:prstGeom>
              <a:solidFill>
                <a:schemeClr val="accent2">
                  <a:lumMod val="40000"/>
                  <a:lumOff val="60000"/>
                </a:schemeClr>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9" name="Picture 6" descr="Bird Silhouettes | Bird silhouette, Silhouette, Owl silhouette"/>
              <p:cNvPicPr>
                <a:picLocks noChangeAspect="1" noChangeArrowheads="1"/>
              </p:cNvPicPr>
              <p:nvPr/>
            </p:nvPicPr>
            <p:blipFill>
              <a:blip r:embed="rId5" cstate="print"/>
              <a:srcRect/>
              <a:stretch>
                <a:fillRect/>
              </a:stretch>
            </p:blipFill>
            <p:spPr bwMode="auto">
              <a:xfrm flipH="1">
                <a:off x="395537" y="1059582"/>
                <a:ext cx="1080120" cy="1339938"/>
              </a:xfrm>
              <a:prstGeom prst="rect">
                <a:avLst/>
              </a:prstGeom>
              <a:noFill/>
            </p:spPr>
          </p:pic>
        </p:grpSp>
        <p:sp>
          <p:nvSpPr>
            <p:cNvPr id="47" name="Textfeld 46"/>
            <p:cNvSpPr txBox="1"/>
            <p:nvPr/>
          </p:nvSpPr>
          <p:spPr>
            <a:xfrm>
              <a:off x="2920948" y="1203599"/>
              <a:ext cx="576064" cy="461665"/>
            </a:xfrm>
            <a:prstGeom prst="rect">
              <a:avLst/>
            </a:prstGeom>
            <a:noFill/>
          </p:spPr>
          <p:txBody>
            <a:bodyPr wrap="square" rtlCol="0">
              <a:spAutoFit/>
            </a:bodyPr>
            <a:lstStyle/>
            <a:p>
              <a:pPr algn="ctr"/>
              <a:r>
                <a:rPr lang="en-US" sz="1200" b="1" dirty="0">
                  <a:solidFill>
                    <a:srgbClr val="FFFF00"/>
                  </a:solidFill>
                </a:rPr>
                <a:t>Player B</a:t>
              </a:r>
            </a:p>
          </p:txBody>
        </p:sp>
      </p:gr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en-US" dirty="0"/>
              <a:t>This leads to four different strategy pairs or outcomes …</a:t>
            </a:r>
          </a:p>
        </p:txBody>
      </p:sp>
      <p:sp>
        <p:nvSpPr>
          <p:cNvPr id="3" name="Rechteck 2"/>
          <p:cNvSpPr/>
          <p:nvPr/>
        </p:nvSpPr>
        <p:spPr>
          <a:xfrm>
            <a:off x="1691680" y="1131590"/>
            <a:ext cx="7200800" cy="3888432"/>
          </a:xfrm>
          <a:prstGeom prst="rect">
            <a:avLst/>
          </a:prstGeom>
          <a:noFill/>
          <a:ln>
            <a:solidFill>
              <a:schemeClr val="tx2">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spcAft>
                <a:spcPts val="600"/>
              </a:spcAft>
            </a:pPr>
            <a:endParaRPr lang="en-US" sz="1400" b="1" dirty="0">
              <a:solidFill>
                <a:schemeClr val="tx1"/>
              </a:solidFill>
            </a:endParaRPr>
          </a:p>
          <a:p>
            <a:pPr>
              <a:spcAft>
                <a:spcPts val="600"/>
              </a:spcAft>
            </a:pPr>
            <a:endParaRPr lang="en-US" sz="1400" b="1" dirty="0">
              <a:solidFill>
                <a:schemeClr val="tx1"/>
              </a:solidFill>
            </a:endParaRPr>
          </a:p>
          <a:p>
            <a:pPr>
              <a:spcAft>
                <a:spcPts val="600"/>
              </a:spcAft>
            </a:pPr>
            <a:endParaRPr lang="en-US" sz="1400" b="1" dirty="0">
              <a:solidFill>
                <a:schemeClr val="tx1"/>
              </a:solidFill>
            </a:endParaRPr>
          </a:p>
          <a:p>
            <a:pPr>
              <a:spcAft>
                <a:spcPts val="600"/>
              </a:spcAft>
            </a:pPr>
            <a:endParaRPr lang="en-US" sz="1400" b="1" dirty="0">
              <a:solidFill>
                <a:schemeClr val="tx1"/>
              </a:solidFill>
            </a:endParaRPr>
          </a:p>
          <a:p>
            <a:pPr>
              <a:spcAft>
                <a:spcPts val="600"/>
              </a:spcAft>
            </a:pPr>
            <a:endParaRPr lang="en-US" sz="1400" b="1" dirty="0">
              <a:solidFill>
                <a:schemeClr val="tx1"/>
              </a:solidFill>
            </a:endParaRPr>
          </a:p>
          <a:p>
            <a:pPr>
              <a:spcAft>
                <a:spcPts val="600"/>
              </a:spcAft>
            </a:pPr>
            <a:endParaRPr lang="en-US" sz="1400" b="1" dirty="0">
              <a:solidFill>
                <a:schemeClr val="tx1"/>
              </a:solidFill>
            </a:endParaRPr>
          </a:p>
          <a:p>
            <a:pPr>
              <a:spcAft>
                <a:spcPts val="600"/>
              </a:spcAft>
            </a:pPr>
            <a:endParaRPr lang="en-US" sz="500" b="1" dirty="0">
              <a:solidFill>
                <a:schemeClr val="tx1"/>
              </a:solidFill>
            </a:endParaRPr>
          </a:p>
          <a:p>
            <a:pPr marL="182563" indent="-182563">
              <a:spcAft>
                <a:spcPts val="600"/>
              </a:spcAft>
              <a:buFont typeface="Arial" pitchFamily="34" charset="0"/>
              <a:buChar char="•"/>
            </a:pPr>
            <a:r>
              <a:rPr lang="en-US" sz="1400" dirty="0">
                <a:solidFill>
                  <a:schemeClr val="tx1"/>
                </a:solidFill>
              </a:rPr>
              <a:t>I.e., there are four strategy pairs:</a:t>
            </a:r>
          </a:p>
          <a:p>
            <a:pPr marL="449263" indent="-266700">
              <a:spcAft>
                <a:spcPts val="600"/>
              </a:spcAft>
              <a:buFont typeface="Symbol" pitchFamily="18" charset="2"/>
              <a:buChar char="-"/>
            </a:pPr>
            <a:r>
              <a:rPr lang="en-US" sz="1400" dirty="0">
                <a:solidFill>
                  <a:schemeClr val="tx1"/>
                </a:solidFill>
              </a:rPr>
              <a:t>player A chooses hawk and player B chooses hawk</a:t>
            </a:r>
          </a:p>
          <a:p>
            <a:pPr marL="449263" indent="-266700">
              <a:spcAft>
                <a:spcPts val="600"/>
              </a:spcAft>
              <a:buFont typeface="Symbol" pitchFamily="18" charset="2"/>
              <a:buChar char="-"/>
            </a:pPr>
            <a:r>
              <a:rPr lang="en-US" sz="1400" dirty="0">
                <a:solidFill>
                  <a:schemeClr val="tx1"/>
                </a:solidFill>
              </a:rPr>
              <a:t>player A chooses hawk and player B chooses dove</a:t>
            </a:r>
          </a:p>
          <a:p>
            <a:pPr marL="449263" indent="-266700">
              <a:spcAft>
                <a:spcPts val="600"/>
              </a:spcAft>
              <a:buFont typeface="Symbol" pitchFamily="18" charset="2"/>
              <a:buChar char="-"/>
            </a:pPr>
            <a:r>
              <a:rPr lang="en-US" sz="1400" dirty="0">
                <a:solidFill>
                  <a:schemeClr val="tx1"/>
                </a:solidFill>
              </a:rPr>
              <a:t>player A chooses dove and player B chooses hawk</a:t>
            </a:r>
          </a:p>
          <a:p>
            <a:pPr marL="449263" indent="-266700">
              <a:spcAft>
                <a:spcPts val="600"/>
              </a:spcAft>
              <a:buFont typeface="Symbol" pitchFamily="18" charset="2"/>
              <a:buChar char="-"/>
            </a:pPr>
            <a:r>
              <a:rPr lang="en-US" sz="1400" dirty="0">
                <a:solidFill>
                  <a:schemeClr val="tx1"/>
                </a:solidFill>
              </a:rPr>
              <a:t>player A chooses dove and player B chooses dove</a:t>
            </a:r>
          </a:p>
          <a:p>
            <a:pPr marL="182563" indent="-182563">
              <a:spcAft>
                <a:spcPts val="600"/>
              </a:spcAft>
              <a:buFont typeface="Arial" pitchFamily="34" charset="0"/>
              <a:buChar char="•"/>
            </a:pPr>
            <a:r>
              <a:rPr lang="en-US" sz="1400" dirty="0">
                <a:solidFill>
                  <a:schemeClr val="tx1"/>
                </a:solidFill>
              </a:rPr>
              <a:t>An outcome is associated to each strategy pair.</a:t>
            </a:r>
          </a:p>
        </p:txBody>
      </p:sp>
      <p:sp>
        <p:nvSpPr>
          <p:cNvPr id="5" name="Rechteck 4"/>
          <p:cNvSpPr/>
          <p:nvPr/>
        </p:nvSpPr>
        <p:spPr>
          <a:xfrm>
            <a:off x="251520" y="1131590"/>
            <a:ext cx="1296144" cy="50405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t>General</a:t>
            </a:r>
          </a:p>
          <a:p>
            <a:pPr algn="ctr"/>
            <a:r>
              <a:rPr lang="en-US" sz="1400" dirty="0"/>
              <a:t>Assumptions</a:t>
            </a:r>
          </a:p>
        </p:txBody>
      </p:sp>
      <p:sp>
        <p:nvSpPr>
          <p:cNvPr id="7" name="Textfeld 6"/>
          <p:cNvSpPr txBox="1"/>
          <p:nvPr/>
        </p:nvSpPr>
        <p:spPr>
          <a:xfrm>
            <a:off x="251520" y="1707654"/>
            <a:ext cx="1296144" cy="1169551"/>
          </a:xfrm>
          <a:prstGeom prst="rect">
            <a:avLst/>
          </a:prstGeom>
          <a:noFill/>
        </p:spPr>
        <p:txBody>
          <a:bodyPr wrap="square" rtlCol="0">
            <a:spAutoFit/>
          </a:bodyPr>
          <a:lstStyle/>
          <a:p>
            <a:pPr marL="92075" indent="-92075">
              <a:spcAft>
                <a:spcPts val="300"/>
              </a:spcAft>
              <a:buFont typeface="Arial" pitchFamily="34" charset="0"/>
              <a:buChar char="•"/>
            </a:pPr>
            <a:r>
              <a:rPr lang="en-US" sz="1200" dirty="0"/>
              <a:t>Players</a:t>
            </a:r>
          </a:p>
          <a:p>
            <a:pPr marL="92075" indent="-92075">
              <a:spcAft>
                <a:spcPts val="300"/>
              </a:spcAft>
              <a:buFont typeface="Arial" pitchFamily="34" charset="0"/>
              <a:buChar char="•"/>
            </a:pPr>
            <a:r>
              <a:rPr lang="en-US" sz="1200" dirty="0"/>
              <a:t>Strategies</a:t>
            </a:r>
          </a:p>
          <a:p>
            <a:pPr marL="92075" indent="-92075">
              <a:spcAft>
                <a:spcPts val="300"/>
              </a:spcAft>
              <a:buFont typeface="Arial" pitchFamily="34" charset="0"/>
              <a:buChar char="•"/>
            </a:pPr>
            <a:r>
              <a:rPr lang="en-US" sz="1200" dirty="0"/>
              <a:t>Outcomes</a:t>
            </a:r>
          </a:p>
          <a:p>
            <a:pPr marL="92075" indent="-92075">
              <a:spcAft>
                <a:spcPts val="300"/>
              </a:spcAft>
              <a:buFont typeface="Arial" pitchFamily="34" charset="0"/>
              <a:buChar char="•"/>
            </a:pPr>
            <a:r>
              <a:rPr lang="en-US" sz="1200" dirty="0"/>
              <a:t>Payoffs</a:t>
            </a:r>
          </a:p>
          <a:p>
            <a:pPr marL="92075" indent="-92075">
              <a:spcAft>
                <a:spcPts val="300"/>
              </a:spcAft>
              <a:buFont typeface="Arial" pitchFamily="34" charset="0"/>
              <a:buChar char="•"/>
            </a:pPr>
            <a:r>
              <a:rPr lang="en-US" sz="1200" dirty="0"/>
              <a:t>Information</a:t>
            </a:r>
          </a:p>
        </p:txBody>
      </p:sp>
      <p:pic>
        <p:nvPicPr>
          <p:cNvPr id="30" name="Picture 2" descr="Geschichte: Hirschbrunft in der Südheide"/>
          <p:cNvPicPr>
            <a:picLocks noChangeAspect="1" noChangeArrowheads="1"/>
          </p:cNvPicPr>
          <p:nvPr/>
        </p:nvPicPr>
        <p:blipFill>
          <a:blip r:embed="rId2" cstate="print"/>
          <a:srcRect l="42377" t="27735" r="10499" b="7817"/>
          <a:stretch>
            <a:fillRect/>
          </a:stretch>
        </p:blipFill>
        <p:spPr bwMode="auto">
          <a:xfrm>
            <a:off x="2072092" y="1203598"/>
            <a:ext cx="1440160" cy="1313087"/>
          </a:xfrm>
          <a:prstGeom prst="rect">
            <a:avLst/>
          </a:prstGeom>
          <a:ln>
            <a:noFill/>
          </a:ln>
          <a:effectLst/>
        </p:spPr>
      </p:pic>
      <p:grpSp>
        <p:nvGrpSpPr>
          <p:cNvPr id="4" name="Gruppieren 38"/>
          <p:cNvGrpSpPr/>
          <p:nvPr/>
        </p:nvGrpSpPr>
        <p:grpSpPr>
          <a:xfrm>
            <a:off x="1907704" y="2096373"/>
            <a:ext cx="581196" cy="532145"/>
            <a:chOff x="7452320" y="1131590"/>
            <a:chExt cx="1440160" cy="1318616"/>
          </a:xfrm>
        </p:grpSpPr>
        <p:sp>
          <p:nvSpPr>
            <p:cNvPr id="43" name="Rechteck 42"/>
            <p:cNvSpPr/>
            <p:nvPr/>
          </p:nvSpPr>
          <p:spPr>
            <a:xfrm>
              <a:off x="7452320" y="1131590"/>
              <a:ext cx="1440160" cy="1296144"/>
            </a:xfrm>
            <a:prstGeom prst="rect">
              <a:avLst/>
            </a:prstGeom>
            <a:solidFill>
              <a:schemeClr val="tx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4" name="Picture 4" descr="Falke vogel tierform | Kostenlose Icon"/>
            <p:cNvPicPr>
              <a:picLocks noChangeAspect="1" noChangeArrowheads="1"/>
            </p:cNvPicPr>
            <p:nvPr/>
          </p:nvPicPr>
          <p:blipFill>
            <a:blip r:embed="rId3" cstate="print"/>
            <a:srcRect/>
            <a:stretch>
              <a:fillRect/>
            </a:stretch>
          </p:blipFill>
          <p:spPr bwMode="auto">
            <a:xfrm rot="20243383" flipH="1">
              <a:off x="7503272" y="1182543"/>
              <a:ext cx="1267663" cy="1267663"/>
            </a:xfrm>
            <a:prstGeom prst="rect">
              <a:avLst/>
            </a:prstGeom>
            <a:noFill/>
          </p:spPr>
        </p:pic>
      </p:grpSp>
      <p:grpSp>
        <p:nvGrpSpPr>
          <p:cNvPr id="6" name="Gruppieren 18"/>
          <p:cNvGrpSpPr/>
          <p:nvPr/>
        </p:nvGrpSpPr>
        <p:grpSpPr>
          <a:xfrm>
            <a:off x="3093740" y="2082934"/>
            <a:ext cx="581196" cy="552136"/>
            <a:chOff x="251520" y="1059582"/>
            <a:chExt cx="1440160" cy="1368152"/>
          </a:xfrm>
        </p:grpSpPr>
        <p:sp>
          <p:nvSpPr>
            <p:cNvPr id="41" name="Rechteck 40"/>
            <p:cNvSpPr/>
            <p:nvPr/>
          </p:nvSpPr>
          <p:spPr>
            <a:xfrm>
              <a:off x="251520" y="1131590"/>
              <a:ext cx="1440160" cy="1296144"/>
            </a:xfrm>
            <a:prstGeom prst="rect">
              <a:avLst/>
            </a:prstGeom>
            <a:solidFill>
              <a:schemeClr val="tx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2" name="Picture 6" descr="Bird Silhouettes | Bird silhouette, Silhouette, Owl silhouette"/>
            <p:cNvPicPr>
              <a:picLocks noChangeAspect="1" noChangeArrowheads="1"/>
            </p:cNvPicPr>
            <p:nvPr/>
          </p:nvPicPr>
          <p:blipFill>
            <a:blip r:embed="rId4" cstate="print"/>
            <a:srcRect/>
            <a:stretch>
              <a:fillRect/>
            </a:stretch>
          </p:blipFill>
          <p:spPr bwMode="auto">
            <a:xfrm>
              <a:off x="395536" y="1059582"/>
              <a:ext cx="1080120" cy="1339939"/>
            </a:xfrm>
            <a:prstGeom prst="rect">
              <a:avLst/>
            </a:prstGeom>
            <a:noFill/>
          </p:spPr>
        </p:pic>
      </p:grpSp>
      <p:sp>
        <p:nvSpPr>
          <p:cNvPr id="40" name="Textfeld 39"/>
          <p:cNvSpPr txBox="1"/>
          <p:nvPr/>
        </p:nvSpPr>
        <p:spPr>
          <a:xfrm>
            <a:off x="2920948" y="1203599"/>
            <a:ext cx="576064" cy="461665"/>
          </a:xfrm>
          <a:prstGeom prst="rect">
            <a:avLst/>
          </a:prstGeom>
          <a:noFill/>
        </p:spPr>
        <p:txBody>
          <a:bodyPr wrap="square" rtlCol="0">
            <a:spAutoFit/>
          </a:bodyPr>
          <a:lstStyle/>
          <a:p>
            <a:pPr algn="ctr"/>
            <a:r>
              <a:rPr lang="en-US" sz="1200" b="1" dirty="0">
                <a:solidFill>
                  <a:srgbClr val="FFFF00"/>
                </a:solidFill>
              </a:rPr>
              <a:t>Player A</a:t>
            </a:r>
          </a:p>
        </p:txBody>
      </p:sp>
      <p:sp>
        <p:nvSpPr>
          <p:cNvPr id="45" name="Gleichschenkliges Dreieck 44"/>
          <p:cNvSpPr/>
          <p:nvPr/>
        </p:nvSpPr>
        <p:spPr>
          <a:xfrm rot="5400000">
            <a:off x="3364467" y="1815667"/>
            <a:ext cx="1080120" cy="144016"/>
          </a:xfrm>
          <a:prstGeom prst="triangle">
            <a:avLst/>
          </a:prstGeom>
          <a:solidFill>
            <a:schemeClr val="bg1">
              <a:lumMod val="85000"/>
            </a:schemeClr>
          </a:solid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 name="Gleichschenkliges Dreieck 45"/>
          <p:cNvSpPr/>
          <p:nvPr/>
        </p:nvSpPr>
        <p:spPr>
          <a:xfrm rot="16200000">
            <a:off x="6178611" y="1815667"/>
            <a:ext cx="1080120" cy="144016"/>
          </a:xfrm>
          <a:prstGeom prst="triangle">
            <a:avLst/>
          </a:prstGeom>
          <a:solidFill>
            <a:schemeClr val="bg1">
              <a:lumMod val="85000"/>
            </a:schemeClr>
          </a:solid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8" name="Gruppieren 79"/>
          <p:cNvGrpSpPr/>
          <p:nvPr/>
        </p:nvGrpSpPr>
        <p:grpSpPr>
          <a:xfrm>
            <a:off x="4084897" y="1309514"/>
            <a:ext cx="2453404" cy="1167368"/>
            <a:chOff x="4139952" y="1245126"/>
            <a:chExt cx="2453404" cy="1167368"/>
          </a:xfrm>
        </p:grpSpPr>
        <p:grpSp>
          <p:nvGrpSpPr>
            <p:cNvPr id="9" name="Gruppieren 38"/>
            <p:cNvGrpSpPr/>
            <p:nvPr/>
          </p:nvGrpSpPr>
          <p:grpSpPr>
            <a:xfrm>
              <a:off x="4139952" y="1275606"/>
              <a:ext cx="581196" cy="532145"/>
              <a:chOff x="7452320" y="1131590"/>
              <a:chExt cx="1440160" cy="1318616"/>
            </a:xfrm>
          </p:grpSpPr>
          <p:sp>
            <p:nvSpPr>
              <p:cNvPr id="57" name="Rechteck 56"/>
              <p:cNvSpPr/>
              <p:nvPr/>
            </p:nvSpPr>
            <p:spPr>
              <a:xfrm>
                <a:off x="7452320" y="1131590"/>
                <a:ext cx="1440160" cy="1296144"/>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8" name="Picture 4" descr="Falke vogel tierform | Kostenlose Icon"/>
              <p:cNvPicPr>
                <a:picLocks noChangeAspect="1" noChangeArrowheads="1"/>
              </p:cNvPicPr>
              <p:nvPr/>
            </p:nvPicPr>
            <p:blipFill>
              <a:blip r:embed="rId3" cstate="print">
                <a:duotone>
                  <a:schemeClr val="accent1">
                    <a:shade val="45000"/>
                    <a:satMod val="135000"/>
                  </a:schemeClr>
                  <a:prstClr val="white"/>
                </a:duotone>
              </a:blip>
              <a:srcRect/>
              <a:stretch>
                <a:fillRect/>
              </a:stretch>
            </p:blipFill>
            <p:spPr bwMode="auto">
              <a:xfrm rot="20243383" flipH="1">
                <a:off x="7503272" y="1182543"/>
                <a:ext cx="1267663" cy="1267663"/>
              </a:xfrm>
              <a:prstGeom prst="rect">
                <a:avLst/>
              </a:prstGeom>
              <a:noFill/>
            </p:spPr>
          </p:pic>
        </p:grpSp>
        <p:grpSp>
          <p:nvGrpSpPr>
            <p:cNvPr id="10" name="Gruppieren 18"/>
            <p:cNvGrpSpPr/>
            <p:nvPr/>
          </p:nvGrpSpPr>
          <p:grpSpPr>
            <a:xfrm>
              <a:off x="4139952" y="1851670"/>
              <a:ext cx="581196" cy="552136"/>
              <a:chOff x="251520" y="1059582"/>
              <a:chExt cx="1440160" cy="1368152"/>
            </a:xfrm>
          </p:grpSpPr>
          <p:sp>
            <p:nvSpPr>
              <p:cNvPr id="60" name="Rechteck 59"/>
              <p:cNvSpPr/>
              <p:nvPr/>
            </p:nvSpPr>
            <p:spPr>
              <a:xfrm>
                <a:off x="251520" y="1131590"/>
                <a:ext cx="1440160" cy="1296144"/>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1" name="Picture 6" descr="Bird Silhouettes | Bird silhouette, Silhouette, Owl silhouette"/>
              <p:cNvPicPr>
                <a:picLocks noChangeAspect="1" noChangeArrowheads="1"/>
              </p:cNvPicPr>
              <p:nvPr/>
            </p:nvPicPr>
            <p:blipFill>
              <a:blip r:embed="rId4" cstate="print">
                <a:duotone>
                  <a:schemeClr val="accent1">
                    <a:shade val="45000"/>
                    <a:satMod val="135000"/>
                  </a:schemeClr>
                  <a:prstClr val="white"/>
                </a:duotone>
              </a:blip>
              <a:srcRect/>
              <a:stretch>
                <a:fillRect/>
              </a:stretch>
            </p:blipFill>
            <p:spPr bwMode="auto">
              <a:xfrm>
                <a:off x="395536" y="1059582"/>
                <a:ext cx="1080120" cy="1339939"/>
              </a:xfrm>
              <a:prstGeom prst="rect">
                <a:avLst/>
              </a:prstGeom>
              <a:noFill/>
            </p:spPr>
          </p:pic>
        </p:grpSp>
        <p:grpSp>
          <p:nvGrpSpPr>
            <p:cNvPr id="11" name="Gruppieren 18"/>
            <p:cNvGrpSpPr/>
            <p:nvPr/>
          </p:nvGrpSpPr>
          <p:grpSpPr>
            <a:xfrm>
              <a:off x="5436096" y="1851670"/>
              <a:ext cx="581196" cy="552136"/>
              <a:chOff x="251520" y="1059582"/>
              <a:chExt cx="1440160" cy="1368152"/>
            </a:xfrm>
          </p:grpSpPr>
          <p:sp>
            <p:nvSpPr>
              <p:cNvPr id="63" name="Rechteck 62"/>
              <p:cNvSpPr/>
              <p:nvPr/>
            </p:nvSpPr>
            <p:spPr>
              <a:xfrm>
                <a:off x="251520" y="1131590"/>
                <a:ext cx="1440160" cy="1296144"/>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4" name="Picture 6" descr="Bird Silhouettes | Bird silhouette, Silhouette, Owl silhouette"/>
              <p:cNvPicPr>
                <a:picLocks noChangeAspect="1" noChangeArrowheads="1"/>
              </p:cNvPicPr>
              <p:nvPr/>
            </p:nvPicPr>
            <p:blipFill>
              <a:blip r:embed="rId4" cstate="print">
                <a:duotone>
                  <a:schemeClr val="accent1">
                    <a:shade val="45000"/>
                    <a:satMod val="135000"/>
                  </a:schemeClr>
                  <a:prstClr val="white"/>
                </a:duotone>
              </a:blip>
              <a:srcRect/>
              <a:stretch>
                <a:fillRect/>
              </a:stretch>
            </p:blipFill>
            <p:spPr bwMode="auto">
              <a:xfrm>
                <a:off x="395536" y="1059582"/>
                <a:ext cx="1080120" cy="1339939"/>
              </a:xfrm>
              <a:prstGeom prst="rect">
                <a:avLst/>
              </a:prstGeom>
              <a:noFill/>
            </p:spPr>
          </p:pic>
        </p:grpSp>
        <p:grpSp>
          <p:nvGrpSpPr>
            <p:cNvPr id="12" name="Gruppieren 38"/>
            <p:cNvGrpSpPr/>
            <p:nvPr/>
          </p:nvGrpSpPr>
          <p:grpSpPr>
            <a:xfrm>
              <a:off x="5436096" y="1275606"/>
              <a:ext cx="581196" cy="532145"/>
              <a:chOff x="7452320" y="1131590"/>
              <a:chExt cx="1440160" cy="1318616"/>
            </a:xfrm>
          </p:grpSpPr>
          <p:sp>
            <p:nvSpPr>
              <p:cNvPr id="66" name="Rechteck 65"/>
              <p:cNvSpPr/>
              <p:nvPr/>
            </p:nvSpPr>
            <p:spPr>
              <a:xfrm>
                <a:off x="7452320" y="1131590"/>
                <a:ext cx="1440160" cy="1296144"/>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7" name="Picture 4" descr="Falke vogel tierform | Kostenlose Icon"/>
              <p:cNvPicPr>
                <a:picLocks noChangeAspect="1" noChangeArrowheads="1"/>
              </p:cNvPicPr>
              <p:nvPr/>
            </p:nvPicPr>
            <p:blipFill>
              <a:blip r:embed="rId3" cstate="print">
                <a:duotone>
                  <a:schemeClr val="accent1">
                    <a:shade val="45000"/>
                    <a:satMod val="135000"/>
                  </a:schemeClr>
                  <a:prstClr val="white"/>
                </a:duotone>
              </a:blip>
              <a:srcRect/>
              <a:stretch>
                <a:fillRect/>
              </a:stretch>
            </p:blipFill>
            <p:spPr bwMode="auto">
              <a:xfrm rot="20243383" flipH="1">
                <a:off x="7503272" y="1182543"/>
                <a:ext cx="1267663" cy="1267663"/>
              </a:xfrm>
              <a:prstGeom prst="rect">
                <a:avLst/>
              </a:prstGeom>
              <a:noFill/>
            </p:spPr>
          </p:pic>
        </p:grpSp>
        <p:grpSp>
          <p:nvGrpSpPr>
            <p:cNvPr id="13" name="Gruppieren 44"/>
            <p:cNvGrpSpPr/>
            <p:nvPr/>
          </p:nvGrpSpPr>
          <p:grpSpPr>
            <a:xfrm>
              <a:off x="4716016" y="1880349"/>
              <a:ext cx="581196" cy="532145"/>
              <a:chOff x="7452320" y="1131590"/>
              <a:chExt cx="1440160" cy="1318616"/>
            </a:xfrm>
          </p:grpSpPr>
          <p:sp>
            <p:nvSpPr>
              <p:cNvPr id="69" name="Rechteck 68"/>
              <p:cNvSpPr/>
              <p:nvPr/>
            </p:nvSpPr>
            <p:spPr>
              <a:xfrm>
                <a:off x="7452320" y="1131590"/>
                <a:ext cx="1440160" cy="1296144"/>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0" name="Picture 4" descr="Falke vogel tierform | Kostenlose Icon"/>
              <p:cNvPicPr>
                <a:picLocks noChangeAspect="1" noChangeArrowheads="1"/>
              </p:cNvPicPr>
              <p:nvPr/>
            </p:nvPicPr>
            <p:blipFill>
              <a:blip r:embed="rId3" cstate="print">
                <a:duotone>
                  <a:schemeClr val="accent2">
                    <a:shade val="45000"/>
                    <a:satMod val="135000"/>
                  </a:schemeClr>
                  <a:prstClr val="white"/>
                </a:duotone>
              </a:blip>
              <a:srcRect/>
              <a:stretch>
                <a:fillRect/>
              </a:stretch>
            </p:blipFill>
            <p:spPr bwMode="auto">
              <a:xfrm rot="1356617">
                <a:off x="7503271" y="1182544"/>
                <a:ext cx="1267664" cy="1267662"/>
              </a:xfrm>
              <a:prstGeom prst="rect">
                <a:avLst/>
              </a:prstGeom>
              <a:noFill/>
            </p:spPr>
          </p:pic>
        </p:grpSp>
        <p:grpSp>
          <p:nvGrpSpPr>
            <p:cNvPr id="14" name="Gruppieren 44"/>
            <p:cNvGrpSpPr/>
            <p:nvPr/>
          </p:nvGrpSpPr>
          <p:grpSpPr>
            <a:xfrm>
              <a:off x="4716016" y="1275606"/>
              <a:ext cx="581196" cy="532145"/>
              <a:chOff x="7452320" y="1131590"/>
              <a:chExt cx="1440160" cy="1318616"/>
            </a:xfrm>
          </p:grpSpPr>
          <p:sp>
            <p:nvSpPr>
              <p:cNvPr id="72" name="Rechteck 71"/>
              <p:cNvSpPr/>
              <p:nvPr/>
            </p:nvSpPr>
            <p:spPr>
              <a:xfrm>
                <a:off x="7452320" y="1131590"/>
                <a:ext cx="1440160" cy="1296144"/>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3" name="Picture 4" descr="Falke vogel tierform | Kostenlose Icon"/>
              <p:cNvPicPr>
                <a:picLocks noChangeAspect="1" noChangeArrowheads="1"/>
              </p:cNvPicPr>
              <p:nvPr/>
            </p:nvPicPr>
            <p:blipFill>
              <a:blip r:embed="rId3" cstate="print">
                <a:duotone>
                  <a:schemeClr val="accent2">
                    <a:shade val="45000"/>
                    <a:satMod val="135000"/>
                  </a:schemeClr>
                  <a:prstClr val="white"/>
                </a:duotone>
              </a:blip>
              <a:srcRect/>
              <a:stretch>
                <a:fillRect/>
              </a:stretch>
            </p:blipFill>
            <p:spPr bwMode="auto">
              <a:xfrm rot="1356617">
                <a:off x="7503271" y="1182544"/>
                <a:ext cx="1267664" cy="1267662"/>
              </a:xfrm>
              <a:prstGeom prst="rect">
                <a:avLst/>
              </a:prstGeom>
              <a:noFill/>
            </p:spPr>
          </p:pic>
        </p:grpSp>
        <p:grpSp>
          <p:nvGrpSpPr>
            <p:cNvPr id="15" name="Gruppieren 45"/>
            <p:cNvGrpSpPr/>
            <p:nvPr/>
          </p:nvGrpSpPr>
          <p:grpSpPr>
            <a:xfrm>
              <a:off x="6012160" y="1851670"/>
              <a:ext cx="581196" cy="552136"/>
              <a:chOff x="251520" y="1059582"/>
              <a:chExt cx="1440160" cy="1368152"/>
            </a:xfrm>
          </p:grpSpPr>
          <p:sp>
            <p:nvSpPr>
              <p:cNvPr id="75" name="Rechteck 74"/>
              <p:cNvSpPr/>
              <p:nvPr/>
            </p:nvSpPr>
            <p:spPr>
              <a:xfrm>
                <a:off x="251520" y="1131590"/>
                <a:ext cx="1440160" cy="1296144"/>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6" name="Picture 6" descr="Bird Silhouettes | Bird silhouette, Silhouette, Owl silhouette"/>
              <p:cNvPicPr>
                <a:picLocks noChangeAspect="1" noChangeArrowheads="1"/>
              </p:cNvPicPr>
              <p:nvPr/>
            </p:nvPicPr>
            <p:blipFill>
              <a:blip r:embed="rId4" cstate="print">
                <a:duotone>
                  <a:schemeClr val="accent2">
                    <a:shade val="45000"/>
                    <a:satMod val="135000"/>
                  </a:schemeClr>
                  <a:prstClr val="white"/>
                </a:duotone>
              </a:blip>
              <a:srcRect/>
              <a:stretch>
                <a:fillRect/>
              </a:stretch>
            </p:blipFill>
            <p:spPr bwMode="auto">
              <a:xfrm flipH="1">
                <a:off x="395537" y="1059582"/>
                <a:ext cx="1080120" cy="1339938"/>
              </a:xfrm>
              <a:prstGeom prst="rect">
                <a:avLst/>
              </a:prstGeom>
              <a:noFill/>
            </p:spPr>
          </p:pic>
        </p:grpSp>
        <p:grpSp>
          <p:nvGrpSpPr>
            <p:cNvPr id="16" name="Gruppieren 45"/>
            <p:cNvGrpSpPr/>
            <p:nvPr/>
          </p:nvGrpSpPr>
          <p:grpSpPr>
            <a:xfrm>
              <a:off x="6012160" y="1245126"/>
              <a:ext cx="581196" cy="552136"/>
              <a:chOff x="251520" y="1059582"/>
              <a:chExt cx="1440160" cy="1368152"/>
            </a:xfrm>
          </p:grpSpPr>
          <p:sp>
            <p:nvSpPr>
              <p:cNvPr id="78" name="Rechteck 77"/>
              <p:cNvSpPr/>
              <p:nvPr/>
            </p:nvSpPr>
            <p:spPr>
              <a:xfrm>
                <a:off x="251520" y="1131590"/>
                <a:ext cx="1440160" cy="1296144"/>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9" name="Picture 6" descr="Bird Silhouettes | Bird silhouette, Silhouette, Owl silhouette"/>
              <p:cNvPicPr>
                <a:picLocks noChangeAspect="1" noChangeArrowheads="1"/>
              </p:cNvPicPr>
              <p:nvPr/>
            </p:nvPicPr>
            <p:blipFill>
              <a:blip r:embed="rId4" cstate="print">
                <a:duotone>
                  <a:schemeClr val="accent2">
                    <a:shade val="45000"/>
                    <a:satMod val="135000"/>
                  </a:schemeClr>
                  <a:prstClr val="white"/>
                </a:duotone>
              </a:blip>
              <a:srcRect/>
              <a:stretch>
                <a:fillRect/>
              </a:stretch>
            </p:blipFill>
            <p:spPr bwMode="auto">
              <a:xfrm flipH="1">
                <a:off x="395537" y="1059582"/>
                <a:ext cx="1080120" cy="1339938"/>
              </a:xfrm>
              <a:prstGeom prst="rect">
                <a:avLst/>
              </a:prstGeom>
              <a:noFill/>
              <a:ln>
                <a:noFill/>
              </a:ln>
            </p:spPr>
          </p:pic>
        </p:grpSp>
      </p:grpSp>
      <p:sp>
        <p:nvSpPr>
          <p:cNvPr id="81" name="Rechteck 80"/>
          <p:cNvSpPr/>
          <p:nvPr/>
        </p:nvSpPr>
        <p:spPr>
          <a:xfrm>
            <a:off x="6732240" y="3579862"/>
            <a:ext cx="2088232" cy="1368152"/>
          </a:xfrm>
          <a:prstGeom prst="rect">
            <a:avLst/>
          </a:prstGeom>
          <a:noFill/>
          <a:ln>
            <a:solidFill>
              <a:schemeClr val="tx2">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spcAft>
                <a:spcPts val="600"/>
              </a:spcAft>
            </a:pPr>
            <a:r>
              <a:rPr lang="en-US" sz="1400" b="1" dirty="0">
                <a:solidFill>
                  <a:schemeClr val="tx1"/>
                </a:solidFill>
              </a:rPr>
              <a:t>Note: </a:t>
            </a:r>
            <a:r>
              <a:rPr lang="en-US" sz="1400" dirty="0">
                <a:solidFill>
                  <a:schemeClr val="tx1"/>
                </a:solidFill>
              </a:rPr>
              <a:t>players can only influence their choice of a strategy and not an outcome (as this depends on the other’s players choice of their strategy)</a:t>
            </a:r>
          </a:p>
        </p:txBody>
      </p:sp>
      <p:grpSp>
        <p:nvGrpSpPr>
          <p:cNvPr id="17" name="Gruppieren 81"/>
          <p:cNvGrpSpPr/>
          <p:nvPr/>
        </p:nvGrpSpPr>
        <p:grpSpPr>
          <a:xfrm>
            <a:off x="6948264" y="1203598"/>
            <a:ext cx="1767232" cy="1431472"/>
            <a:chOff x="1907704" y="1203598"/>
            <a:chExt cx="1767232" cy="1431472"/>
          </a:xfrm>
        </p:grpSpPr>
        <p:pic>
          <p:nvPicPr>
            <p:cNvPr id="83" name="Picture 2" descr="Geschichte: Hirschbrunft in der Südheide"/>
            <p:cNvPicPr>
              <a:picLocks noChangeAspect="1" noChangeArrowheads="1"/>
            </p:cNvPicPr>
            <p:nvPr/>
          </p:nvPicPr>
          <p:blipFill>
            <a:blip r:embed="rId2" cstate="print"/>
            <a:srcRect l="42377" t="27735" r="10499" b="7817"/>
            <a:stretch>
              <a:fillRect/>
            </a:stretch>
          </p:blipFill>
          <p:spPr bwMode="auto">
            <a:xfrm>
              <a:off x="2072092" y="1203598"/>
              <a:ext cx="1440160" cy="1313087"/>
            </a:xfrm>
            <a:prstGeom prst="rect">
              <a:avLst/>
            </a:prstGeom>
            <a:ln>
              <a:noFill/>
            </a:ln>
            <a:effectLst/>
          </p:spPr>
        </p:pic>
        <p:grpSp>
          <p:nvGrpSpPr>
            <p:cNvPr id="18" name="Gruppieren 44"/>
            <p:cNvGrpSpPr/>
            <p:nvPr/>
          </p:nvGrpSpPr>
          <p:grpSpPr>
            <a:xfrm>
              <a:off x="1907704" y="2096373"/>
              <a:ext cx="581196" cy="532145"/>
              <a:chOff x="7452320" y="1131590"/>
              <a:chExt cx="1440160" cy="1318616"/>
            </a:xfrm>
          </p:grpSpPr>
          <p:sp>
            <p:nvSpPr>
              <p:cNvPr id="89" name="Rechteck 88"/>
              <p:cNvSpPr/>
              <p:nvPr/>
            </p:nvSpPr>
            <p:spPr>
              <a:xfrm>
                <a:off x="7452320" y="1131590"/>
                <a:ext cx="1440160" cy="1296144"/>
              </a:xfrm>
              <a:prstGeom prst="rect">
                <a:avLst/>
              </a:prstGeom>
              <a:solidFill>
                <a:schemeClr val="accent2">
                  <a:lumMod val="40000"/>
                  <a:lumOff val="60000"/>
                </a:schemeClr>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90" name="Picture 4" descr="Falke vogel tierform | Kostenlose Icon"/>
              <p:cNvPicPr>
                <a:picLocks noChangeAspect="1" noChangeArrowheads="1"/>
              </p:cNvPicPr>
              <p:nvPr/>
            </p:nvPicPr>
            <p:blipFill>
              <a:blip r:embed="rId3" cstate="print"/>
              <a:srcRect/>
              <a:stretch>
                <a:fillRect/>
              </a:stretch>
            </p:blipFill>
            <p:spPr bwMode="auto">
              <a:xfrm rot="1356617">
                <a:off x="7503271" y="1182544"/>
                <a:ext cx="1267664" cy="1267662"/>
              </a:xfrm>
              <a:prstGeom prst="rect">
                <a:avLst/>
              </a:prstGeom>
              <a:noFill/>
            </p:spPr>
          </p:pic>
        </p:grpSp>
        <p:grpSp>
          <p:nvGrpSpPr>
            <p:cNvPr id="19" name="Gruppieren 45"/>
            <p:cNvGrpSpPr/>
            <p:nvPr/>
          </p:nvGrpSpPr>
          <p:grpSpPr>
            <a:xfrm>
              <a:off x="3093740" y="2082934"/>
              <a:ext cx="581196" cy="552136"/>
              <a:chOff x="251520" y="1059582"/>
              <a:chExt cx="1440160" cy="1368152"/>
            </a:xfrm>
          </p:grpSpPr>
          <p:sp>
            <p:nvSpPr>
              <p:cNvPr id="87" name="Rechteck 86"/>
              <p:cNvSpPr/>
              <p:nvPr/>
            </p:nvSpPr>
            <p:spPr>
              <a:xfrm>
                <a:off x="251520" y="1131590"/>
                <a:ext cx="1440160" cy="1296144"/>
              </a:xfrm>
              <a:prstGeom prst="rect">
                <a:avLst/>
              </a:prstGeom>
              <a:solidFill>
                <a:schemeClr val="accent2">
                  <a:lumMod val="40000"/>
                  <a:lumOff val="60000"/>
                </a:schemeClr>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88" name="Picture 6" descr="Bird Silhouettes | Bird silhouette, Silhouette, Owl silhouette"/>
              <p:cNvPicPr>
                <a:picLocks noChangeAspect="1" noChangeArrowheads="1"/>
              </p:cNvPicPr>
              <p:nvPr/>
            </p:nvPicPr>
            <p:blipFill>
              <a:blip r:embed="rId4" cstate="print"/>
              <a:srcRect/>
              <a:stretch>
                <a:fillRect/>
              </a:stretch>
            </p:blipFill>
            <p:spPr bwMode="auto">
              <a:xfrm flipH="1">
                <a:off x="395537" y="1059582"/>
                <a:ext cx="1080120" cy="1339938"/>
              </a:xfrm>
              <a:prstGeom prst="rect">
                <a:avLst/>
              </a:prstGeom>
              <a:noFill/>
            </p:spPr>
          </p:pic>
        </p:grpSp>
        <p:sp>
          <p:nvSpPr>
            <p:cNvPr id="86" name="Textfeld 85"/>
            <p:cNvSpPr txBox="1"/>
            <p:nvPr/>
          </p:nvSpPr>
          <p:spPr>
            <a:xfrm>
              <a:off x="2920948" y="1203599"/>
              <a:ext cx="576064" cy="461665"/>
            </a:xfrm>
            <a:prstGeom prst="rect">
              <a:avLst/>
            </a:prstGeom>
            <a:noFill/>
          </p:spPr>
          <p:txBody>
            <a:bodyPr wrap="square" rtlCol="0">
              <a:spAutoFit/>
            </a:bodyPr>
            <a:lstStyle/>
            <a:p>
              <a:pPr algn="ctr"/>
              <a:r>
                <a:rPr lang="en-US" sz="1200" b="1" dirty="0">
                  <a:solidFill>
                    <a:srgbClr val="FFFF00"/>
                  </a:solidFill>
                </a:rPr>
                <a:t>Player B</a:t>
              </a:r>
            </a:p>
          </p:txBody>
        </p:sp>
      </p:gr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en-US" dirty="0"/>
              <a:t>… that can be ordered in a 2x2-matrix (the strategy matrix of the game)</a:t>
            </a:r>
          </a:p>
        </p:txBody>
      </p:sp>
      <p:sp>
        <p:nvSpPr>
          <p:cNvPr id="3" name="Rechteck 2"/>
          <p:cNvSpPr/>
          <p:nvPr/>
        </p:nvSpPr>
        <p:spPr>
          <a:xfrm>
            <a:off x="1691680" y="1131590"/>
            <a:ext cx="7200800" cy="3888432"/>
          </a:xfrm>
          <a:prstGeom prst="rect">
            <a:avLst/>
          </a:prstGeom>
          <a:noFill/>
          <a:ln>
            <a:solidFill>
              <a:schemeClr val="tx2">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spcAft>
                <a:spcPts val="600"/>
              </a:spcAft>
            </a:pPr>
            <a:endParaRPr lang="en-US" sz="1400" b="1" dirty="0">
              <a:solidFill>
                <a:schemeClr val="tx1"/>
              </a:solidFill>
            </a:endParaRPr>
          </a:p>
          <a:p>
            <a:pPr>
              <a:spcAft>
                <a:spcPts val="600"/>
              </a:spcAft>
            </a:pPr>
            <a:endParaRPr lang="en-US" sz="1400" b="1" dirty="0">
              <a:solidFill>
                <a:schemeClr val="tx1"/>
              </a:solidFill>
            </a:endParaRPr>
          </a:p>
          <a:p>
            <a:pPr>
              <a:spcAft>
                <a:spcPts val="600"/>
              </a:spcAft>
            </a:pPr>
            <a:endParaRPr lang="en-US" sz="1400" b="1" dirty="0">
              <a:solidFill>
                <a:schemeClr val="tx1"/>
              </a:solidFill>
            </a:endParaRPr>
          </a:p>
          <a:p>
            <a:pPr>
              <a:spcAft>
                <a:spcPts val="600"/>
              </a:spcAft>
            </a:pPr>
            <a:endParaRPr lang="en-US" sz="1400" b="1" dirty="0">
              <a:solidFill>
                <a:schemeClr val="tx1"/>
              </a:solidFill>
            </a:endParaRPr>
          </a:p>
          <a:p>
            <a:pPr>
              <a:spcAft>
                <a:spcPts val="600"/>
              </a:spcAft>
            </a:pPr>
            <a:endParaRPr lang="en-US" sz="1400" b="1" dirty="0">
              <a:solidFill>
                <a:schemeClr val="tx1"/>
              </a:solidFill>
            </a:endParaRPr>
          </a:p>
          <a:p>
            <a:pPr>
              <a:spcAft>
                <a:spcPts val="600"/>
              </a:spcAft>
            </a:pPr>
            <a:endParaRPr lang="en-US" sz="1400" b="1" dirty="0">
              <a:solidFill>
                <a:schemeClr val="tx1"/>
              </a:solidFill>
            </a:endParaRPr>
          </a:p>
          <a:p>
            <a:pPr>
              <a:spcAft>
                <a:spcPts val="600"/>
              </a:spcAft>
            </a:pPr>
            <a:endParaRPr lang="en-US" sz="1400" b="1" dirty="0">
              <a:solidFill>
                <a:schemeClr val="tx1"/>
              </a:solidFill>
            </a:endParaRPr>
          </a:p>
          <a:p>
            <a:pPr>
              <a:spcAft>
                <a:spcPts val="600"/>
              </a:spcAft>
            </a:pPr>
            <a:endParaRPr lang="en-US" sz="1400" b="1" dirty="0">
              <a:solidFill>
                <a:schemeClr val="tx1"/>
              </a:solidFill>
            </a:endParaRPr>
          </a:p>
          <a:p>
            <a:pPr>
              <a:spcAft>
                <a:spcPts val="600"/>
              </a:spcAft>
            </a:pPr>
            <a:endParaRPr lang="en-US" sz="1400" b="1" dirty="0">
              <a:solidFill>
                <a:schemeClr val="tx1"/>
              </a:solidFill>
            </a:endParaRPr>
          </a:p>
          <a:p>
            <a:pPr>
              <a:spcAft>
                <a:spcPts val="600"/>
              </a:spcAft>
            </a:pPr>
            <a:endParaRPr lang="en-US" sz="1400" b="1" dirty="0">
              <a:solidFill>
                <a:schemeClr val="tx1"/>
              </a:solidFill>
            </a:endParaRPr>
          </a:p>
          <a:p>
            <a:pPr>
              <a:spcAft>
                <a:spcPts val="600"/>
              </a:spcAft>
            </a:pPr>
            <a:endParaRPr lang="en-US" sz="500" b="1" dirty="0">
              <a:solidFill>
                <a:schemeClr val="tx1"/>
              </a:solidFill>
            </a:endParaRPr>
          </a:p>
          <a:p>
            <a:pPr marL="182563" indent="-182563">
              <a:spcAft>
                <a:spcPts val="600"/>
              </a:spcAft>
              <a:buFont typeface="Arial" pitchFamily="34" charset="0"/>
              <a:buChar char="•"/>
            </a:pPr>
            <a:r>
              <a:rPr lang="en-US" sz="1400" dirty="0">
                <a:solidFill>
                  <a:schemeClr val="tx1"/>
                </a:solidFill>
              </a:rPr>
              <a:t>Finally, each player evaluates what the outcome means to them individually and assigns a payoff to the outcome (= strategy pair). Players want to maximize their payoffs.</a:t>
            </a:r>
          </a:p>
          <a:p>
            <a:pPr marL="182563" indent="-182563">
              <a:spcAft>
                <a:spcPts val="600"/>
              </a:spcAft>
              <a:buFont typeface="Arial" pitchFamily="34" charset="0"/>
              <a:buChar char="•"/>
            </a:pPr>
            <a:r>
              <a:rPr lang="en-US" sz="1400" dirty="0">
                <a:solidFill>
                  <a:schemeClr val="tx1"/>
                </a:solidFill>
              </a:rPr>
              <a:t>Both players have complete information (e.g. about strategies, outcomes, payoffs, etc.)</a:t>
            </a:r>
          </a:p>
        </p:txBody>
      </p:sp>
      <p:sp>
        <p:nvSpPr>
          <p:cNvPr id="5" name="Rechteck 4"/>
          <p:cNvSpPr/>
          <p:nvPr/>
        </p:nvSpPr>
        <p:spPr>
          <a:xfrm>
            <a:off x="251520" y="1131590"/>
            <a:ext cx="1296144" cy="50405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t>General</a:t>
            </a:r>
          </a:p>
          <a:p>
            <a:pPr algn="ctr"/>
            <a:r>
              <a:rPr lang="en-US" sz="1400" dirty="0"/>
              <a:t>Assumptions</a:t>
            </a:r>
          </a:p>
        </p:txBody>
      </p:sp>
      <p:sp>
        <p:nvSpPr>
          <p:cNvPr id="7" name="Textfeld 6"/>
          <p:cNvSpPr txBox="1"/>
          <p:nvPr/>
        </p:nvSpPr>
        <p:spPr>
          <a:xfrm>
            <a:off x="251520" y="1707654"/>
            <a:ext cx="1296144" cy="1169551"/>
          </a:xfrm>
          <a:prstGeom prst="rect">
            <a:avLst/>
          </a:prstGeom>
          <a:noFill/>
        </p:spPr>
        <p:txBody>
          <a:bodyPr wrap="square" rtlCol="0">
            <a:spAutoFit/>
          </a:bodyPr>
          <a:lstStyle/>
          <a:p>
            <a:pPr marL="92075" indent="-92075">
              <a:spcAft>
                <a:spcPts val="300"/>
              </a:spcAft>
              <a:buFont typeface="Arial" pitchFamily="34" charset="0"/>
              <a:buChar char="•"/>
            </a:pPr>
            <a:r>
              <a:rPr lang="en-US" sz="1200" dirty="0"/>
              <a:t>Players</a:t>
            </a:r>
          </a:p>
          <a:p>
            <a:pPr marL="92075" indent="-92075">
              <a:spcAft>
                <a:spcPts val="300"/>
              </a:spcAft>
              <a:buFont typeface="Arial" pitchFamily="34" charset="0"/>
              <a:buChar char="•"/>
            </a:pPr>
            <a:r>
              <a:rPr lang="en-US" sz="1200" dirty="0"/>
              <a:t>Strategies</a:t>
            </a:r>
          </a:p>
          <a:p>
            <a:pPr marL="92075" indent="-92075">
              <a:spcAft>
                <a:spcPts val="300"/>
              </a:spcAft>
              <a:buFont typeface="Arial" pitchFamily="34" charset="0"/>
              <a:buChar char="•"/>
            </a:pPr>
            <a:r>
              <a:rPr lang="en-US" sz="1200" dirty="0"/>
              <a:t>Outcomes</a:t>
            </a:r>
          </a:p>
          <a:p>
            <a:pPr marL="92075" indent="-92075">
              <a:spcAft>
                <a:spcPts val="300"/>
              </a:spcAft>
              <a:buFont typeface="Arial" pitchFamily="34" charset="0"/>
              <a:buChar char="•"/>
            </a:pPr>
            <a:r>
              <a:rPr lang="en-US" sz="1200" dirty="0"/>
              <a:t>Payoffs</a:t>
            </a:r>
          </a:p>
          <a:p>
            <a:pPr marL="92075" indent="-92075">
              <a:spcAft>
                <a:spcPts val="300"/>
              </a:spcAft>
              <a:buFont typeface="Arial" pitchFamily="34" charset="0"/>
              <a:buChar char="•"/>
            </a:pPr>
            <a:r>
              <a:rPr lang="en-US" sz="1200" dirty="0"/>
              <a:t>Information</a:t>
            </a:r>
          </a:p>
        </p:txBody>
      </p:sp>
      <p:sp>
        <p:nvSpPr>
          <p:cNvPr id="49" name="Rechteck 48"/>
          <p:cNvSpPr/>
          <p:nvPr/>
        </p:nvSpPr>
        <p:spPr>
          <a:xfrm>
            <a:off x="2555776" y="1563638"/>
            <a:ext cx="1800200" cy="288032"/>
          </a:xfrm>
          <a:prstGeom prst="rect">
            <a:avLst/>
          </a:prstGeom>
          <a:solidFill>
            <a:schemeClr val="tx1">
              <a:lumMod val="50000"/>
              <a:lumOff val="50000"/>
            </a:schemeClr>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t>Hawk</a:t>
            </a:r>
          </a:p>
        </p:txBody>
      </p:sp>
      <p:sp>
        <p:nvSpPr>
          <p:cNvPr id="50" name="Rechteck 49"/>
          <p:cNvSpPr/>
          <p:nvPr/>
        </p:nvSpPr>
        <p:spPr>
          <a:xfrm>
            <a:off x="4427984" y="1563638"/>
            <a:ext cx="1800200" cy="288032"/>
          </a:xfrm>
          <a:prstGeom prst="rect">
            <a:avLst/>
          </a:prstGeom>
          <a:solidFill>
            <a:schemeClr val="tx1">
              <a:lumMod val="50000"/>
              <a:lumOff val="50000"/>
            </a:schemeClr>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t>Dove</a:t>
            </a:r>
          </a:p>
        </p:txBody>
      </p:sp>
      <p:sp>
        <p:nvSpPr>
          <p:cNvPr id="56" name="Rechteck 55"/>
          <p:cNvSpPr/>
          <p:nvPr/>
        </p:nvSpPr>
        <p:spPr>
          <a:xfrm>
            <a:off x="2555776" y="1923678"/>
            <a:ext cx="1800200" cy="936104"/>
          </a:xfrm>
          <a:prstGeom prst="rect">
            <a:avLst/>
          </a:prstGeom>
          <a:no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59" name="Rechteck 58"/>
          <p:cNvSpPr/>
          <p:nvPr/>
        </p:nvSpPr>
        <p:spPr>
          <a:xfrm>
            <a:off x="4427984" y="1923678"/>
            <a:ext cx="1800200" cy="936104"/>
          </a:xfrm>
          <a:prstGeom prst="rect">
            <a:avLst/>
          </a:prstGeom>
          <a:solidFill>
            <a:srgbClr val="FFFF00"/>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62" name="Rechteck 61"/>
          <p:cNvSpPr/>
          <p:nvPr/>
        </p:nvSpPr>
        <p:spPr>
          <a:xfrm>
            <a:off x="2555776" y="2931790"/>
            <a:ext cx="1800200" cy="936104"/>
          </a:xfrm>
          <a:prstGeom prst="rect">
            <a:avLst/>
          </a:prstGeom>
          <a:no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65" name="Rechteck 64"/>
          <p:cNvSpPr/>
          <p:nvPr/>
        </p:nvSpPr>
        <p:spPr>
          <a:xfrm>
            <a:off x="4427984" y="2931790"/>
            <a:ext cx="1800200" cy="936104"/>
          </a:xfrm>
          <a:prstGeom prst="rect">
            <a:avLst/>
          </a:prstGeom>
          <a:no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68" name="Rechteck 67"/>
          <p:cNvSpPr/>
          <p:nvPr/>
        </p:nvSpPr>
        <p:spPr>
          <a:xfrm>
            <a:off x="2195736" y="1923678"/>
            <a:ext cx="288032" cy="936104"/>
          </a:xfrm>
          <a:prstGeom prst="rect">
            <a:avLst/>
          </a:prstGeom>
          <a:solidFill>
            <a:schemeClr val="tx1">
              <a:lumMod val="50000"/>
              <a:lumOff val="50000"/>
            </a:schemeClr>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algn="ctr"/>
            <a:r>
              <a:rPr lang="en-US" sz="1200" dirty="0"/>
              <a:t>Hawk</a:t>
            </a:r>
          </a:p>
        </p:txBody>
      </p:sp>
      <p:sp>
        <p:nvSpPr>
          <p:cNvPr id="71" name="Rechteck 70"/>
          <p:cNvSpPr/>
          <p:nvPr/>
        </p:nvSpPr>
        <p:spPr>
          <a:xfrm>
            <a:off x="2195736" y="2931790"/>
            <a:ext cx="288032" cy="936104"/>
          </a:xfrm>
          <a:prstGeom prst="rect">
            <a:avLst/>
          </a:prstGeom>
          <a:solidFill>
            <a:schemeClr val="tx1">
              <a:lumMod val="50000"/>
              <a:lumOff val="50000"/>
            </a:schemeClr>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algn="ctr"/>
            <a:r>
              <a:rPr lang="en-US" sz="1200" dirty="0"/>
              <a:t>Dove</a:t>
            </a:r>
          </a:p>
        </p:txBody>
      </p:sp>
      <p:grpSp>
        <p:nvGrpSpPr>
          <p:cNvPr id="4" name="Gruppieren 73"/>
          <p:cNvGrpSpPr/>
          <p:nvPr/>
        </p:nvGrpSpPr>
        <p:grpSpPr>
          <a:xfrm>
            <a:off x="4916624" y="3160457"/>
            <a:ext cx="822921" cy="478771"/>
            <a:chOff x="7740352" y="3075806"/>
            <a:chExt cx="1074787" cy="625305"/>
          </a:xfrm>
        </p:grpSpPr>
        <p:pic>
          <p:nvPicPr>
            <p:cNvPr id="77" name="Picture 6" descr="Bird Silhouettes | Bird silhouette, Silhouette, Owl silhouette"/>
            <p:cNvPicPr>
              <a:picLocks noChangeAspect="1" noChangeArrowheads="1"/>
            </p:cNvPicPr>
            <p:nvPr/>
          </p:nvPicPr>
          <p:blipFill>
            <a:blip r:embed="rId2" cstate="print">
              <a:duotone>
                <a:schemeClr val="accent1">
                  <a:shade val="45000"/>
                  <a:satMod val="135000"/>
                </a:schemeClr>
                <a:prstClr val="white"/>
              </a:duotone>
            </a:blip>
            <a:srcRect/>
            <a:stretch>
              <a:fillRect/>
            </a:stretch>
          </p:blipFill>
          <p:spPr bwMode="auto">
            <a:xfrm>
              <a:off x="7740352" y="3075806"/>
              <a:ext cx="504056" cy="625305"/>
            </a:xfrm>
            <a:prstGeom prst="rect">
              <a:avLst/>
            </a:prstGeom>
            <a:noFill/>
          </p:spPr>
        </p:pic>
        <p:pic>
          <p:nvPicPr>
            <p:cNvPr id="80" name="Picture 6" descr="Bird Silhouettes | Bird silhouette, Silhouette, Owl silhouette"/>
            <p:cNvPicPr>
              <a:picLocks noChangeAspect="1" noChangeArrowheads="1"/>
            </p:cNvPicPr>
            <p:nvPr/>
          </p:nvPicPr>
          <p:blipFill>
            <a:blip r:embed="rId2" cstate="print">
              <a:duotone>
                <a:schemeClr val="accent2">
                  <a:shade val="45000"/>
                  <a:satMod val="135000"/>
                </a:schemeClr>
                <a:prstClr val="white"/>
              </a:duotone>
            </a:blip>
            <a:srcRect/>
            <a:stretch>
              <a:fillRect/>
            </a:stretch>
          </p:blipFill>
          <p:spPr bwMode="auto">
            <a:xfrm flipH="1">
              <a:off x="8311083" y="3075806"/>
              <a:ext cx="504056" cy="625305"/>
            </a:xfrm>
            <a:prstGeom prst="rect">
              <a:avLst/>
            </a:prstGeom>
            <a:noFill/>
          </p:spPr>
        </p:pic>
      </p:grpSp>
      <p:grpSp>
        <p:nvGrpSpPr>
          <p:cNvPr id="6" name="Gruppieren 80"/>
          <p:cNvGrpSpPr/>
          <p:nvPr/>
        </p:nvGrpSpPr>
        <p:grpSpPr>
          <a:xfrm>
            <a:off x="2896670" y="2080625"/>
            <a:ext cx="1118413" cy="622211"/>
            <a:chOff x="2212418" y="1724335"/>
            <a:chExt cx="1460717" cy="812646"/>
          </a:xfrm>
        </p:grpSpPr>
        <p:pic>
          <p:nvPicPr>
            <p:cNvPr id="82" name="Picture 4" descr="Falke vogel tierform | Kostenlose Icon"/>
            <p:cNvPicPr>
              <a:picLocks noChangeAspect="1" noChangeArrowheads="1"/>
            </p:cNvPicPr>
            <p:nvPr/>
          </p:nvPicPr>
          <p:blipFill>
            <a:blip r:embed="rId3" cstate="print">
              <a:duotone>
                <a:schemeClr val="accent1">
                  <a:shade val="45000"/>
                  <a:satMod val="135000"/>
                </a:schemeClr>
                <a:prstClr val="white"/>
              </a:duotone>
            </a:blip>
            <a:srcRect/>
            <a:stretch>
              <a:fillRect/>
            </a:stretch>
          </p:blipFill>
          <p:spPr bwMode="auto">
            <a:xfrm rot="18985512" flipH="1">
              <a:off x="2212418" y="1724335"/>
              <a:ext cx="806490" cy="806490"/>
            </a:xfrm>
            <a:prstGeom prst="rect">
              <a:avLst/>
            </a:prstGeom>
            <a:noFill/>
          </p:spPr>
        </p:pic>
        <p:pic>
          <p:nvPicPr>
            <p:cNvPr id="83" name="Picture 4" descr="Falke vogel tierform | Kostenlose Icon"/>
            <p:cNvPicPr>
              <a:picLocks noChangeAspect="1" noChangeArrowheads="1"/>
            </p:cNvPicPr>
            <p:nvPr/>
          </p:nvPicPr>
          <p:blipFill>
            <a:blip r:embed="rId3" cstate="print">
              <a:duotone>
                <a:schemeClr val="accent2">
                  <a:shade val="45000"/>
                  <a:satMod val="135000"/>
                </a:schemeClr>
                <a:prstClr val="white"/>
              </a:duotone>
            </a:blip>
            <a:srcRect/>
            <a:stretch>
              <a:fillRect/>
            </a:stretch>
          </p:blipFill>
          <p:spPr bwMode="auto">
            <a:xfrm rot="2614488">
              <a:off x="2866645" y="1730491"/>
              <a:ext cx="806490" cy="806490"/>
            </a:xfrm>
            <a:prstGeom prst="rect">
              <a:avLst/>
            </a:prstGeom>
            <a:noFill/>
          </p:spPr>
        </p:pic>
      </p:grpSp>
      <p:grpSp>
        <p:nvGrpSpPr>
          <p:cNvPr id="8" name="Gruppieren 83"/>
          <p:cNvGrpSpPr/>
          <p:nvPr/>
        </p:nvGrpSpPr>
        <p:grpSpPr>
          <a:xfrm>
            <a:off x="4923324" y="1995686"/>
            <a:ext cx="809520" cy="792088"/>
            <a:chOff x="2218573" y="3098643"/>
            <a:chExt cx="1057283" cy="1034516"/>
          </a:xfrm>
        </p:grpSpPr>
        <p:pic>
          <p:nvPicPr>
            <p:cNvPr id="85" name="Picture 4" descr="Falke vogel tierform | Kostenlose Icon"/>
            <p:cNvPicPr>
              <a:picLocks noChangeAspect="1" noChangeArrowheads="1"/>
            </p:cNvPicPr>
            <p:nvPr/>
          </p:nvPicPr>
          <p:blipFill>
            <a:blip r:embed="rId3" cstate="print">
              <a:duotone>
                <a:schemeClr val="accent1">
                  <a:shade val="45000"/>
                  <a:satMod val="135000"/>
                </a:schemeClr>
                <a:prstClr val="white"/>
              </a:duotone>
            </a:blip>
            <a:srcRect/>
            <a:stretch>
              <a:fillRect/>
            </a:stretch>
          </p:blipFill>
          <p:spPr bwMode="auto">
            <a:xfrm rot="18985512" flipH="1">
              <a:off x="2218573" y="3098643"/>
              <a:ext cx="806490" cy="806490"/>
            </a:xfrm>
            <a:prstGeom prst="rect">
              <a:avLst/>
            </a:prstGeom>
            <a:noFill/>
          </p:spPr>
        </p:pic>
        <p:pic>
          <p:nvPicPr>
            <p:cNvPr id="86" name="Picture 6" descr="Bird Silhouettes | Bird silhouette, Silhouette, Owl silhouette"/>
            <p:cNvPicPr>
              <a:picLocks noChangeAspect="1" noChangeArrowheads="1"/>
            </p:cNvPicPr>
            <p:nvPr/>
          </p:nvPicPr>
          <p:blipFill>
            <a:blip r:embed="rId2" cstate="print">
              <a:duotone>
                <a:schemeClr val="accent2">
                  <a:shade val="45000"/>
                  <a:satMod val="135000"/>
                </a:schemeClr>
                <a:prstClr val="white"/>
              </a:duotone>
            </a:blip>
            <a:srcRect/>
            <a:stretch>
              <a:fillRect/>
            </a:stretch>
          </p:blipFill>
          <p:spPr bwMode="auto">
            <a:xfrm rot="384929">
              <a:off x="2771800" y="3507854"/>
              <a:ext cx="504056" cy="625305"/>
            </a:xfrm>
            <a:prstGeom prst="rect">
              <a:avLst/>
            </a:prstGeom>
            <a:noFill/>
          </p:spPr>
        </p:pic>
      </p:grpSp>
      <p:grpSp>
        <p:nvGrpSpPr>
          <p:cNvPr id="9" name="Gruppieren 86"/>
          <p:cNvGrpSpPr/>
          <p:nvPr/>
        </p:nvGrpSpPr>
        <p:grpSpPr>
          <a:xfrm flipH="1">
            <a:off x="3051116" y="3003798"/>
            <a:ext cx="809520" cy="792088"/>
            <a:chOff x="5602949" y="1730492"/>
            <a:chExt cx="1057283" cy="1034516"/>
          </a:xfrm>
        </p:grpSpPr>
        <p:pic>
          <p:nvPicPr>
            <p:cNvPr id="88" name="Picture 4" descr="Falke vogel tierform | Kostenlose Icon"/>
            <p:cNvPicPr>
              <a:picLocks noChangeAspect="1" noChangeArrowheads="1"/>
            </p:cNvPicPr>
            <p:nvPr/>
          </p:nvPicPr>
          <p:blipFill>
            <a:blip r:embed="rId3" cstate="print">
              <a:duotone>
                <a:schemeClr val="accent2">
                  <a:shade val="45000"/>
                  <a:satMod val="135000"/>
                </a:schemeClr>
                <a:prstClr val="white"/>
              </a:duotone>
            </a:blip>
            <a:srcRect/>
            <a:stretch>
              <a:fillRect/>
            </a:stretch>
          </p:blipFill>
          <p:spPr bwMode="auto">
            <a:xfrm rot="18985512" flipH="1">
              <a:off x="5602949" y="1730492"/>
              <a:ext cx="806490" cy="806490"/>
            </a:xfrm>
            <a:prstGeom prst="rect">
              <a:avLst/>
            </a:prstGeom>
            <a:noFill/>
          </p:spPr>
        </p:pic>
        <p:pic>
          <p:nvPicPr>
            <p:cNvPr id="89" name="Picture 6" descr="Bird Silhouettes | Bird silhouette, Silhouette, Owl silhouette"/>
            <p:cNvPicPr>
              <a:picLocks noChangeAspect="1" noChangeArrowheads="1"/>
            </p:cNvPicPr>
            <p:nvPr/>
          </p:nvPicPr>
          <p:blipFill>
            <a:blip r:embed="rId2" cstate="print">
              <a:duotone>
                <a:schemeClr val="accent1">
                  <a:shade val="45000"/>
                  <a:satMod val="135000"/>
                </a:schemeClr>
                <a:prstClr val="white"/>
              </a:duotone>
            </a:blip>
            <a:srcRect/>
            <a:stretch>
              <a:fillRect/>
            </a:stretch>
          </p:blipFill>
          <p:spPr bwMode="auto">
            <a:xfrm rot="384929">
              <a:off x="6156176" y="2139703"/>
              <a:ext cx="504056" cy="625305"/>
            </a:xfrm>
            <a:prstGeom prst="rect">
              <a:avLst/>
            </a:prstGeom>
            <a:noFill/>
          </p:spPr>
        </p:pic>
      </p:grpSp>
      <p:sp>
        <p:nvSpPr>
          <p:cNvPr id="94" name="Rechteck 93"/>
          <p:cNvSpPr/>
          <p:nvPr/>
        </p:nvSpPr>
        <p:spPr>
          <a:xfrm>
            <a:off x="2555776" y="1203598"/>
            <a:ext cx="3672408" cy="288032"/>
          </a:xfrm>
          <a:prstGeom prst="rect">
            <a:avLst/>
          </a:prstGeom>
          <a:solidFill>
            <a:srgbClr val="C00000"/>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t>Player B (Column-Player)</a:t>
            </a:r>
          </a:p>
        </p:txBody>
      </p:sp>
      <p:sp>
        <p:nvSpPr>
          <p:cNvPr id="95" name="Rechteck 94"/>
          <p:cNvSpPr/>
          <p:nvPr/>
        </p:nvSpPr>
        <p:spPr>
          <a:xfrm rot="16200000">
            <a:off x="1007604" y="2751770"/>
            <a:ext cx="1944216" cy="288032"/>
          </a:xfrm>
          <a:prstGeom prst="rect">
            <a:avLst/>
          </a:prstGeom>
          <a:solidFill>
            <a:schemeClr val="tx2"/>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t>Player A (Row-Player)</a:t>
            </a:r>
          </a:p>
        </p:txBody>
      </p:sp>
      <p:cxnSp>
        <p:nvCxnSpPr>
          <p:cNvPr id="97" name="Gerade Verbindung 96"/>
          <p:cNvCxnSpPr/>
          <p:nvPr/>
        </p:nvCxnSpPr>
        <p:spPr>
          <a:xfrm flipV="1">
            <a:off x="6012160" y="1635646"/>
            <a:ext cx="1080120" cy="504056"/>
          </a:xfrm>
          <a:prstGeom prst="line">
            <a:avLst/>
          </a:prstGeom>
          <a:no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cxnSp>
      <p:sp>
        <p:nvSpPr>
          <p:cNvPr id="98" name="Textfeld 97"/>
          <p:cNvSpPr txBox="1"/>
          <p:nvPr/>
        </p:nvSpPr>
        <p:spPr>
          <a:xfrm>
            <a:off x="6804249" y="1275606"/>
            <a:ext cx="2016224" cy="2616101"/>
          </a:xfrm>
          <a:prstGeom prst="rect">
            <a:avLst/>
          </a:prstGeom>
          <a:noFill/>
        </p:spPr>
        <p:txBody>
          <a:bodyPr wrap="square" rtlCol="0">
            <a:spAutoFit/>
          </a:bodyPr>
          <a:lstStyle/>
          <a:p>
            <a:pPr algn="ctr"/>
            <a:r>
              <a:rPr lang="en-US" sz="1400" dirty="0"/>
              <a:t>strategy pair or outcome</a:t>
            </a:r>
          </a:p>
          <a:p>
            <a:pPr algn="ctr"/>
            <a:r>
              <a:rPr lang="en-US" sz="1400" dirty="0"/>
              <a:t> (</a:t>
            </a:r>
            <a:r>
              <a:rPr lang="en-US" sz="1400" dirty="0">
                <a:solidFill>
                  <a:schemeClr val="tx2"/>
                </a:solidFill>
              </a:rPr>
              <a:t>hawk</a:t>
            </a:r>
            <a:r>
              <a:rPr lang="en-US" sz="1400" dirty="0"/>
              <a:t>, </a:t>
            </a:r>
            <a:r>
              <a:rPr lang="en-US" sz="1400" dirty="0">
                <a:solidFill>
                  <a:srgbClr val="C00000"/>
                </a:solidFill>
              </a:rPr>
              <a:t>dove</a:t>
            </a:r>
            <a:r>
              <a:rPr lang="en-US" sz="1400" dirty="0"/>
              <a:t>)</a:t>
            </a:r>
          </a:p>
          <a:p>
            <a:pPr algn="ctr"/>
            <a:endParaRPr lang="en-US" sz="500" dirty="0"/>
          </a:p>
          <a:p>
            <a:pPr algn="ctr"/>
            <a:r>
              <a:rPr lang="en-US" sz="1400" dirty="0"/>
              <a:t>This is an ordered pair, the 1</a:t>
            </a:r>
            <a:r>
              <a:rPr lang="en-US" sz="1400" baseline="30000" dirty="0"/>
              <a:t>st</a:t>
            </a:r>
            <a:r>
              <a:rPr lang="en-US" sz="1400" dirty="0"/>
              <a:t> element is for the row player (player A) and the 2</a:t>
            </a:r>
            <a:r>
              <a:rPr lang="en-US" sz="1400" baseline="30000" dirty="0"/>
              <a:t>nd</a:t>
            </a:r>
            <a:r>
              <a:rPr lang="en-US" sz="1400" dirty="0"/>
              <a:t> element for the column player (player B).</a:t>
            </a:r>
          </a:p>
          <a:p>
            <a:pPr algn="ctr"/>
            <a:endParaRPr lang="en-US" sz="500" dirty="0"/>
          </a:p>
          <a:p>
            <a:pPr algn="ctr"/>
            <a:r>
              <a:rPr lang="en-US" sz="1400" dirty="0"/>
              <a:t>This is the best outcome for player A and thus has the highest payoff for them.</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en-US" dirty="0"/>
              <a:t>Finally, each player evaluates what the outcome means to them individually and assigns a payoff to the outcome </a:t>
            </a:r>
          </a:p>
        </p:txBody>
      </p:sp>
      <p:sp>
        <p:nvSpPr>
          <p:cNvPr id="3" name="Rechteck 2"/>
          <p:cNvSpPr/>
          <p:nvPr/>
        </p:nvSpPr>
        <p:spPr>
          <a:xfrm>
            <a:off x="2195736" y="1851670"/>
            <a:ext cx="3312368" cy="432048"/>
          </a:xfrm>
          <a:prstGeom prst="rect">
            <a:avLst/>
          </a:prstGeom>
          <a:solidFill>
            <a:schemeClr val="tx2"/>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t>Hawk</a:t>
            </a:r>
          </a:p>
        </p:txBody>
      </p:sp>
      <p:sp>
        <p:nvSpPr>
          <p:cNvPr id="4" name="Rechteck 3"/>
          <p:cNvSpPr/>
          <p:nvPr/>
        </p:nvSpPr>
        <p:spPr>
          <a:xfrm>
            <a:off x="5580112" y="1851670"/>
            <a:ext cx="3312368" cy="432048"/>
          </a:xfrm>
          <a:prstGeom prst="rect">
            <a:avLst/>
          </a:prstGeom>
          <a:solidFill>
            <a:schemeClr val="tx2"/>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t>Dove</a:t>
            </a:r>
          </a:p>
        </p:txBody>
      </p:sp>
      <p:sp>
        <p:nvSpPr>
          <p:cNvPr id="5" name="Rechteck 4"/>
          <p:cNvSpPr/>
          <p:nvPr/>
        </p:nvSpPr>
        <p:spPr>
          <a:xfrm>
            <a:off x="2195736" y="2355726"/>
            <a:ext cx="3312368" cy="1296144"/>
          </a:xfrm>
          <a:prstGeom prst="rect">
            <a:avLst/>
          </a:prstGeom>
          <a:no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6" name="Rechteck 5"/>
          <p:cNvSpPr/>
          <p:nvPr/>
        </p:nvSpPr>
        <p:spPr>
          <a:xfrm>
            <a:off x="5580112" y="2355726"/>
            <a:ext cx="3312368" cy="1296144"/>
          </a:xfrm>
          <a:prstGeom prst="rect">
            <a:avLst/>
          </a:prstGeom>
          <a:no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7" name="Rechteck 6"/>
          <p:cNvSpPr/>
          <p:nvPr/>
        </p:nvSpPr>
        <p:spPr>
          <a:xfrm>
            <a:off x="2195736" y="3723878"/>
            <a:ext cx="3312368" cy="1296144"/>
          </a:xfrm>
          <a:prstGeom prst="rect">
            <a:avLst/>
          </a:prstGeom>
          <a:no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8" name="Rechteck 7"/>
          <p:cNvSpPr/>
          <p:nvPr/>
        </p:nvSpPr>
        <p:spPr>
          <a:xfrm>
            <a:off x="5580112" y="3723878"/>
            <a:ext cx="3312368" cy="1296144"/>
          </a:xfrm>
          <a:prstGeom prst="rect">
            <a:avLst/>
          </a:prstGeom>
          <a:no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10" name="Rechteck 9"/>
          <p:cNvSpPr/>
          <p:nvPr/>
        </p:nvSpPr>
        <p:spPr>
          <a:xfrm>
            <a:off x="1691680" y="2355726"/>
            <a:ext cx="432048" cy="1296144"/>
          </a:xfrm>
          <a:prstGeom prst="rect">
            <a:avLst/>
          </a:prstGeom>
          <a:solidFill>
            <a:schemeClr val="tx2"/>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algn="ctr"/>
            <a:r>
              <a:rPr lang="en-US" sz="1400" dirty="0"/>
              <a:t>Hawk</a:t>
            </a:r>
          </a:p>
        </p:txBody>
      </p:sp>
      <p:sp>
        <p:nvSpPr>
          <p:cNvPr id="11" name="Rechteck 10"/>
          <p:cNvSpPr/>
          <p:nvPr/>
        </p:nvSpPr>
        <p:spPr>
          <a:xfrm>
            <a:off x="1691680" y="3723878"/>
            <a:ext cx="432048" cy="1296144"/>
          </a:xfrm>
          <a:prstGeom prst="rect">
            <a:avLst/>
          </a:prstGeom>
          <a:solidFill>
            <a:schemeClr val="tx2"/>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algn="ctr"/>
            <a:r>
              <a:rPr lang="en-US" sz="1400" dirty="0"/>
              <a:t>Dove</a:t>
            </a:r>
          </a:p>
        </p:txBody>
      </p:sp>
      <p:grpSp>
        <p:nvGrpSpPr>
          <p:cNvPr id="9" name="Gruppieren 28"/>
          <p:cNvGrpSpPr/>
          <p:nvPr/>
        </p:nvGrpSpPr>
        <p:grpSpPr>
          <a:xfrm>
            <a:off x="7740352" y="3795886"/>
            <a:ext cx="1074787" cy="625305"/>
            <a:chOff x="7740352" y="3075806"/>
            <a:chExt cx="1074787" cy="625305"/>
          </a:xfrm>
        </p:grpSpPr>
        <p:pic>
          <p:nvPicPr>
            <p:cNvPr id="13" name="Picture 6" descr="Bird Silhouettes | Bird silhouette, Silhouette, Owl silhouette"/>
            <p:cNvPicPr>
              <a:picLocks noChangeAspect="1" noChangeArrowheads="1"/>
            </p:cNvPicPr>
            <p:nvPr/>
          </p:nvPicPr>
          <p:blipFill>
            <a:blip r:embed="rId2" cstate="print"/>
            <a:srcRect/>
            <a:stretch>
              <a:fillRect/>
            </a:stretch>
          </p:blipFill>
          <p:spPr bwMode="auto">
            <a:xfrm>
              <a:off x="7740352" y="3075806"/>
              <a:ext cx="504056" cy="625305"/>
            </a:xfrm>
            <a:prstGeom prst="rect">
              <a:avLst/>
            </a:prstGeom>
            <a:noFill/>
          </p:spPr>
        </p:pic>
        <p:pic>
          <p:nvPicPr>
            <p:cNvPr id="14" name="Picture 6" descr="Bird Silhouettes | Bird silhouette, Silhouette, Owl silhouette"/>
            <p:cNvPicPr>
              <a:picLocks noChangeAspect="1" noChangeArrowheads="1"/>
            </p:cNvPicPr>
            <p:nvPr/>
          </p:nvPicPr>
          <p:blipFill>
            <a:blip r:embed="rId2" cstate="print"/>
            <a:srcRect/>
            <a:stretch>
              <a:fillRect/>
            </a:stretch>
          </p:blipFill>
          <p:spPr bwMode="auto">
            <a:xfrm flipH="1">
              <a:off x="8311083" y="3075806"/>
              <a:ext cx="504056" cy="625305"/>
            </a:xfrm>
            <a:prstGeom prst="rect">
              <a:avLst/>
            </a:prstGeom>
            <a:noFill/>
          </p:spPr>
        </p:pic>
      </p:grpSp>
      <p:grpSp>
        <p:nvGrpSpPr>
          <p:cNvPr id="16" name="Gruppieren 26"/>
          <p:cNvGrpSpPr/>
          <p:nvPr/>
        </p:nvGrpSpPr>
        <p:grpSpPr>
          <a:xfrm>
            <a:off x="2212418" y="2444415"/>
            <a:ext cx="1460717" cy="812646"/>
            <a:chOff x="2212418" y="1724335"/>
            <a:chExt cx="1460717" cy="812646"/>
          </a:xfrm>
        </p:grpSpPr>
        <p:pic>
          <p:nvPicPr>
            <p:cNvPr id="12" name="Picture 4" descr="Falke vogel tierform | Kostenlose Icon"/>
            <p:cNvPicPr>
              <a:picLocks noChangeAspect="1" noChangeArrowheads="1"/>
            </p:cNvPicPr>
            <p:nvPr/>
          </p:nvPicPr>
          <p:blipFill>
            <a:blip r:embed="rId3" cstate="print"/>
            <a:srcRect/>
            <a:stretch>
              <a:fillRect/>
            </a:stretch>
          </p:blipFill>
          <p:spPr bwMode="auto">
            <a:xfrm rot="18985512" flipH="1">
              <a:off x="2212418" y="1724335"/>
              <a:ext cx="806490" cy="806490"/>
            </a:xfrm>
            <a:prstGeom prst="rect">
              <a:avLst/>
            </a:prstGeom>
            <a:noFill/>
          </p:spPr>
        </p:pic>
        <p:pic>
          <p:nvPicPr>
            <p:cNvPr id="15" name="Picture 4" descr="Falke vogel tierform | Kostenlose Icon"/>
            <p:cNvPicPr>
              <a:picLocks noChangeAspect="1" noChangeArrowheads="1"/>
            </p:cNvPicPr>
            <p:nvPr/>
          </p:nvPicPr>
          <p:blipFill>
            <a:blip r:embed="rId3" cstate="print"/>
            <a:srcRect/>
            <a:stretch>
              <a:fillRect/>
            </a:stretch>
          </p:blipFill>
          <p:spPr bwMode="auto">
            <a:xfrm rot="2614488">
              <a:off x="2866645" y="1730491"/>
              <a:ext cx="806490" cy="806490"/>
            </a:xfrm>
            <a:prstGeom prst="rect">
              <a:avLst/>
            </a:prstGeom>
            <a:noFill/>
          </p:spPr>
        </p:pic>
      </p:grpSp>
      <p:sp>
        <p:nvSpPr>
          <p:cNvPr id="20" name="Rechteck 19"/>
          <p:cNvSpPr/>
          <p:nvPr/>
        </p:nvSpPr>
        <p:spPr>
          <a:xfrm>
            <a:off x="3779912" y="2427734"/>
            <a:ext cx="1656184" cy="1152128"/>
          </a:xfrm>
          <a:prstGeom prst="rect">
            <a:avLst/>
          </a:prstGeom>
          <a:noFill/>
          <a:ln>
            <a:solidFill>
              <a:schemeClr val="tx2">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sz="1200" dirty="0">
                <a:solidFill>
                  <a:schemeClr val="tx1"/>
                </a:solidFill>
              </a:rPr>
              <a:t>Hawk wins 50% of fights but is injured in 50% fights as well:</a:t>
            </a:r>
          </a:p>
          <a:p>
            <a:pPr algn="ctr"/>
            <a:endParaRPr lang="en-US" sz="1200" dirty="0">
              <a:solidFill>
                <a:schemeClr val="tx1"/>
              </a:solidFill>
            </a:endParaRPr>
          </a:p>
          <a:p>
            <a:pPr algn="ctr"/>
            <a:r>
              <a:rPr lang="en-US" sz="1400" b="1" dirty="0">
                <a:solidFill>
                  <a:schemeClr val="tx1"/>
                </a:solidFill>
              </a:rPr>
              <a:t>(</a:t>
            </a:r>
            <a:r>
              <a:rPr lang="en-US" sz="800" b="1" dirty="0">
                <a:solidFill>
                  <a:schemeClr val="tx1"/>
                </a:solidFill>
              </a:rPr>
              <a:t> </a:t>
            </a:r>
            <a:r>
              <a:rPr lang="en-US" sz="1400" b="1" dirty="0">
                <a:solidFill>
                  <a:schemeClr val="tx1"/>
                </a:solidFill>
              </a:rPr>
              <a:t>(V–D)/2 , (V–D)/2</a:t>
            </a:r>
            <a:r>
              <a:rPr lang="en-US" sz="800" b="1" dirty="0">
                <a:solidFill>
                  <a:schemeClr val="tx1"/>
                </a:solidFill>
              </a:rPr>
              <a:t> </a:t>
            </a:r>
            <a:r>
              <a:rPr lang="en-US" sz="1400" b="1" dirty="0">
                <a:solidFill>
                  <a:schemeClr val="tx1"/>
                </a:solidFill>
              </a:rPr>
              <a:t>)</a:t>
            </a:r>
          </a:p>
        </p:txBody>
      </p:sp>
      <p:sp>
        <p:nvSpPr>
          <p:cNvPr id="21" name="Rechteck 20"/>
          <p:cNvSpPr/>
          <p:nvPr/>
        </p:nvSpPr>
        <p:spPr>
          <a:xfrm>
            <a:off x="3779912" y="3795886"/>
            <a:ext cx="1656184" cy="1152128"/>
          </a:xfrm>
          <a:prstGeom prst="rect">
            <a:avLst/>
          </a:prstGeom>
          <a:noFill/>
          <a:ln>
            <a:solidFill>
              <a:schemeClr val="tx2">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sz="1200" dirty="0">
                <a:solidFill>
                  <a:schemeClr val="tx1"/>
                </a:solidFill>
              </a:rPr>
              <a:t>Hawk always wins, is never injured, and doves always flees:</a:t>
            </a:r>
          </a:p>
          <a:p>
            <a:pPr algn="ctr"/>
            <a:endParaRPr lang="en-US" sz="1200" dirty="0">
              <a:solidFill>
                <a:schemeClr val="tx1"/>
              </a:solidFill>
            </a:endParaRPr>
          </a:p>
          <a:p>
            <a:pPr algn="ctr"/>
            <a:r>
              <a:rPr lang="en-US" sz="1400" b="1" dirty="0">
                <a:solidFill>
                  <a:schemeClr val="tx1"/>
                </a:solidFill>
              </a:rPr>
              <a:t>(0, V)</a:t>
            </a:r>
          </a:p>
        </p:txBody>
      </p:sp>
      <p:sp>
        <p:nvSpPr>
          <p:cNvPr id="22" name="Rechteck 21"/>
          <p:cNvSpPr/>
          <p:nvPr/>
        </p:nvSpPr>
        <p:spPr>
          <a:xfrm>
            <a:off x="5652120" y="3795886"/>
            <a:ext cx="1656184" cy="1152128"/>
          </a:xfrm>
          <a:prstGeom prst="rect">
            <a:avLst/>
          </a:prstGeom>
          <a:noFill/>
          <a:ln>
            <a:solidFill>
              <a:schemeClr val="tx2">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sz="1200" dirty="0">
                <a:solidFill>
                  <a:schemeClr val="tx1"/>
                </a:solidFill>
              </a:rPr>
              <a:t>Doves wins/ flees 50%, never injured but looses time:</a:t>
            </a:r>
          </a:p>
          <a:p>
            <a:pPr algn="ctr"/>
            <a:endParaRPr lang="en-US" sz="1200" dirty="0">
              <a:solidFill>
                <a:schemeClr val="tx1"/>
              </a:solidFill>
            </a:endParaRPr>
          </a:p>
          <a:p>
            <a:pPr algn="ctr"/>
            <a:r>
              <a:rPr lang="en-US" sz="1400" b="1" dirty="0">
                <a:solidFill>
                  <a:schemeClr val="tx1"/>
                </a:solidFill>
              </a:rPr>
              <a:t>( V/2 – T , V/2 – T )</a:t>
            </a:r>
          </a:p>
        </p:txBody>
      </p:sp>
      <p:sp>
        <p:nvSpPr>
          <p:cNvPr id="23" name="Rechteck 22"/>
          <p:cNvSpPr/>
          <p:nvPr/>
        </p:nvSpPr>
        <p:spPr>
          <a:xfrm>
            <a:off x="5652120" y="2427734"/>
            <a:ext cx="1656184" cy="1152128"/>
          </a:xfrm>
          <a:prstGeom prst="rect">
            <a:avLst/>
          </a:prstGeom>
          <a:noFill/>
          <a:ln>
            <a:solidFill>
              <a:schemeClr val="tx2">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sz="1200" dirty="0">
                <a:solidFill>
                  <a:schemeClr val="tx1"/>
                </a:solidFill>
              </a:rPr>
              <a:t>Hawk always wins, is never injured, and doves always flees:</a:t>
            </a:r>
          </a:p>
          <a:p>
            <a:pPr algn="ctr"/>
            <a:endParaRPr lang="en-US" sz="1200" dirty="0">
              <a:solidFill>
                <a:schemeClr val="tx1"/>
              </a:solidFill>
            </a:endParaRPr>
          </a:p>
          <a:p>
            <a:pPr algn="ctr"/>
            <a:r>
              <a:rPr lang="en-US" sz="1400" b="1" dirty="0">
                <a:solidFill>
                  <a:schemeClr val="tx1"/>
                </a:solidFill>
              </a:rPr>
              <a:t>(V, 0)</a:t>
            </a:r>
          </a:p>
        </p:txBody>
      </p:sp>
      <p:sp>
        <p:nvSpPr>
          <p:cNvPr id="25" name="Textfeld 24"/>
          <p:cNvSpPr txBox="1"/>
          <p:nvPr/>
        </p:nvSpPr>
        <p:spPr>
          <a:xfrm>
            <a:off x="1619672" y="1491630"/>
            <a:ext cx="2480615" cy="307777"/>
          </a:xfrm>
          <a:prstGeom prst="rect">
            <a:avLst/>
          </a:prstGeom>
          <a:noFill/>
        </p:spPr>
        <p:txBody>
          <a:bodyPr wrap="none" rtlCol="0">
            <a:spAutoFit/>
          </a:bodyPr>
          <a:lstStyle/>
          <a:p>
            <a:r>
              <a:rPr lang="en-US" sz="1400" b="1" dirty="0"/>
              <a:t>The (symmetric) payoff matrix:</a:t>
            </a:r>
          </a:p>
        </p:txBody>
      </p:sp>
      <p:sp>
        <p:nvSpPr>
          <p:cNvPr id="26" name="Textfeld 25"/>
          <p:cNvSpPr txBox="1"/>
          <p:nvPr/>
        </p:nvSpPr>
        <p:spPr>
          <a:xfrm>
            <a:off x="1691680" y="1131590"/>
            <a:ext cx="7200800" cy="307777"/>
          </a:xfrm>
          <a:prstGeom prst="rect">
            <a:avLst/>
          </a:prstGeom>
          <a:solidFill>
            <a:schemeClr val="tx2">
              <a:lumMod val="20000"/>
              <a:lumOff val="80000"/>
            </a:schemeClr>
          </a:solidFill>
        </p:spPr>
        <p:txBody>
          <a:bodyPr wrap="square" rtlCol="0">
            <a:spAutoFit/>
          </a:bodyPr>
          <a:lstStyle/>
          <a:p>
            <a:pPr algn="ctr"/>
            <a:r>
              <a:rPr lang="en-US" sz="1400" b="1" dirty="0"/>
              <a:t>V</a:t>
            </a:r>
            <a:r>
              <a:rPr lang="en-US" sz="1400" dirty="0"/>
              <a:t> = value of winning resources,   </a:t>
            </a:r>
            <a:r>
              <a:rPr lang="en-US" sz="1400" b="1" dirty="0"/>
              <a:t>D</a:t>
            </a:r>
            <a:r>
              <a:rPr lang="en-US" sz="1400" dirty="0"/>
              <a:t> = costs of injury,   </a:t>
            </a:r>
            <a:r>
              <a:rPr lang="en-US" sz="1400" b="1" dirty="0"/>
              <a:t>T</a:t>
            </a:r>
            <a:r>
              <a:rPr lang="en-US" sz="1400" dirty="0"/>
              <a:t> = costs of wasting time</a:t>
            </a:r>
          </a:p>
        </p:txBody>
      </p:sp>
      <p:grpSp>
        <p:nvGrpSpPr>
          <p:cNvPr id="17" name="Gruppieren 29"/>
          <p:cNvGrpSpPr/>
          <p:nvPr/>
        </p:nvGrpSpPr>
        <p:grpSpPr>
          <a:xfrm flipH="1">
            <a:off x="2434597" y="3818723"/>
            <a:ext cx="1057283" cy="1034516"/>
            <a:chOff x="5602949" y="1730492"/>
            <a:chExt cx="1057283" cy="1034516"/>
          </a:xfrm>
        </p:grpSpPr>
        <p:pic>
          <p:nvPicPr>
            <p:cNvPr id="31" name="Picture 4" descr="Falke vogel tierform | Kostenlose Icon"/>
            <p:cNvPicPr>
              <a:picLocks noChangeAspect="1" noChangeArrowheads="1"/>
            </p:cNvPicPr>
            <p:nvPr/>
          </p:nvPicPr>
          <p:blipFill>
            <a:blip r:embed="rId3" cstate="print"/>
            <a:srcRect/>
            <a:stretch>
              <a:fillRect/>
            </a:stretch>
          </p:blipFill>
          <p:spPr bwMode="auto">
            <a:xfrm rot="18985512" flipH="1">
              <a:off x="5602949" y="1730492"/>
              <a:ext cx="806490" cy="806490"/>
            </a:xfrm>
            <a:prstGeom prst="rect">
              <a:avLst/>
            </a:prstGeom>
            <a:noFill/>
          </p:spPr>
        </p:pic>
        <p:pic>
          <p:nvPicPr>
            <p:cNvPr id="32" name="Picture 6" descr="Bird Silhouettes | Bird silhouette, Silhouette, Owl silhouette"/>
            <p:cNvPicPr>
              <a:picLocks noChangeAspect="1" noChangeArrowheads="1"/>
            </p:cNvPicPr>
            <p:nvPr/>
          </p:nvPicPr>
          <p:blipFill>
            <a:blip r:embed="rId2" cstate="print"/>
            <a:srcRect/>
            <a:stretch>
              <a:fillRect/>
            </a:stretch>
          </p:blipFill>
          <p:spPr bwMode="auto">
            <a:xfrm rot="384929">
              <a:off x="6156176" y="2139703"/>
              <a:ext cx="504056" cy="625305"/>
            </a:xfrm>
            <a:prstGeom prst="rect">
              <a:avLst/>
            </a:prstGeom>
            <a:noFill/>
          </p:spPr>
        </p:pic>
      </p:grpSp>
      <p:grpSp>
        <p:nvGrpSpPr>
          <p:cNvPr id="18" name="Gruppieren 32"/>
          <p:cNvGrpSpPr/>
          <p:nvPr/>
        </p:nvGrpSpPr>
        <p:grpSpPr>
          <a:xfrm>
            <a:off x="7725089" y="2450572"/>
            <a:ext cx="1057283" cy="1034516"/>
            <a:chOff x="2218573" y="3098643"/>
            <a:chExt cx="1057283" cy="1034516"/>
          </a:xfrm>
        </p:grpSpPr>
        <p:pic>
          <p:nvPicPr>
            <p:cNvPr id="34" name="Picture 4" descr="Falke vogel tierform | Kostenlose Icon"/>
            <p:cNvPicPr>
              <a:picLocks noChangeAspect="1" noChangeArrowheads="1"/>
            </p:cNvPicPr>
            <p:nvPr/>
          </p:nvPicPr>
          <p:blipFill>
            <a:blip r:embed="rId3" cstate="print"/>
            <a:srcRect/>
            <a:stretch>
              <a:fillRect/>
            </a:stretch>
          </p:blipFill>
          <p:spPr bwMode="auto">
            <a:xfrm rot="18985512" flipH="1">
              <a:off x="2218573" y="3098643"/>
              <a:ext cx="806490" cy="806490"/>
            </a:xfrm>
            <a:prstGeom prst="rect">
              <a:avLst/>
            </a:prstGeom>
            <a:noFill/>
          </p:spPr>
        </p:pic>
        <p:pic>
          <p:nvPicPr>
            <p:cNvPr id="35" name="Picture 6" descr="Bird Silhouettes | Bird silhouette, Silhouette, Owl silhouette"/>
            <p:cNvPicPr>
              <a:picLocks noChangeAspect="1" noChangeArrowheads="1"/>
            </p:cNvPicPr>
            <p:nvPr/>
          </p:nvPicPr>
          <p:blipFill>
            <a:blip r:embed="rId2" cstate="print"/>
            <a:srcRect/>
            <a:stretch>
              <a:fillRect/>
            </a:stretch>
          </p:blipFill>
          <p:spPr bwMode="auto">
            <a:xfrm rot="384929">
              <a:off x="2771800" y="3507854"/>
              <a:ext cx="504056" cy="625305"/>
            </a:xfrm>
            <a:prstGeom prst="rect">
              <a:avLst/>
            </a:prstGeom>
            <a:noFill/>
          </p:spPr>
        </p:pic>
      </p:gr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en-US" dirty="0"/>
              <a:t>Depending on the cost of injury, we obtain two different payoff sets with rather different game settings</a:t>
            </a:r>
          </a:p>
        </p:txBody>
      </p:sp>
      <p:sp>
        <p:nvSpPr>
          <p:cNvPr id="3" name="Rechteck 2"/>
          <p:cNvSpPr/>
          <p:nvPr/>
        </p:nvSpPr>
        <p:spPr>
          <a:xfrm>
            <a:off x="251520" y="1131590"/>
            <a:ext cx="4176464" cy="288032"/>
          </a:xfrm>
          <a:prstGeom prst="rect">
            <a:avLst/>
          </a:prstGeom>
          <a:solidFill>
            <a:schemeClr val="tx2"/>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t>High Cost of Injury (typical setting)</a:t>
            </a:r>
          </a:p>
        </p:txBody>
      </p:sp>
      <p:sp>
        <p:nvSpPr>
          <p:cNvPr id="4" name="Rechteck 3"/>
          <p:cNvSpPr/>
          <p:nvPr/>
        </p:nvSpPr>
        <p:spPr>
          <a:xfrm>
            <a:off x="4716016" y="1131590"/>
            <a:ext cx="4176464" cy="288032"/>
          </a:xfrm>
          <a:prstGeom prst="rect">
            <a:avLst/>
          </a:prstGeom>
          <a:solidFill>
            <a:schemeClr val="tx2"/>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t>Low Cost of Injury (Prisoner’s Dilemma)</a:t>
            </a:r>
          </a:p>
        </p:txBody>
      </p:sp>
      <p:sp>
        <p:nvSpPr>
          <p:cNvPr id="5" name="Rechteck 4"/>
          <p:cNvSpPr/>
          <p:nvPr/>
        </p:nvSpPr>
        <p:spPr>
          <a:xfrm>
            <a:off x="251520" y="1491630"/>
            <a:ext cx="4176464" cy="3528392"/>
          </a:xfrm>
          <a:prstGeom prst="rect">
            <a:avLst/>
          </a:prstGeom>
          <a:no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hteck 5"/>
          <p:cNvSpPr/>
          <p:nvPr/>
        </p:nvSpPr>
        <p:spPr>
          <a:xfrm>
            <a:off x="4716016" y="1491630"/>
            <a:ext cx="4176464" cy="3528392"/>
          </a:xfrm>
          <a:prstGeom prst="rect">
            <a:avLst/>
          </a:prstGeom>
          <a:no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7" name="Tabelle 6"/>
          <p:cNvGraphicFramePr>
            <a:graphicFrameLocks noGrp="1"/>
          </p:cNvGraphicFramePr>
          <p:nvPr>
            <p:custDataLst>
              <p:tags r:id="rId1"/>
            </p:custDataLst>
          </p:nvPr>
        </p:nvGraphicFramePr>
        <p:xfrm>
          <a:off x="323528" y="1563638"/>
          <a:ext cx="4032448" cy="1656183"/>
        </p:xfrm>
        <a:graphic>
          <a:graphicData uri="http://schemas.openxmlformats.org/drawingml/2006/table">
            <a:tbl>
              <a:tblPr firstRow="1" bandRow="1">
                <a:tableStyleId>{5C22544A-7EE6-4342-B048-85BDC9FD1C3A}</a:tableStyleId>
              </a:tblPr>
              <a:tblGrid>
                <a:gridCol w="1008112">
                  <a:extLst>
                    <a:ext uri="{9D8B030D-6E8A-4147-A177-3AD203B41FA5}">
                      <a16:colId xmlns:a16="http://schemas.microsoft.com/office/drawing/2014/main" val="20000"/>
                    </a:ext>
                  </a:extLst>
                </a:gridCol>
                <a:gridCol w="1548172">
                  <a:extLst>
                    <a:ext uri="{9D8B030D-6E8A-4147-A177-3AD203B41FA5}">
                      <a16:colId xmlns:a16="http://schemas.microsoft.com/office/drawing/2014/main" val="20001"/>
                    </a:ext>
                  </a:extLst>
                </a:gridCol>
                <a:gridCol w="1476164">
                  <a:extLst>
                    <a:ext uri="{9D8B030D-6E8A-4147-A177-3AD203B41FA5}">
                      <a16:colId xmlns:a16="http://schemas.microsoft.com/office/drawing/2014/main" val="20002"/>
                    </a:ext>
                  </a:extLst>
                </a:gridCol>
              </a:tblGrid>
              <a:tr h="552061">
                <a:tc>
                  <a:txBody>
                    <a:bodyPr/>
                    <a:lstStyle/>
                    <a:p>
                      <a:pPr algn="ctr"/>
                      <a:r>
                        <a:rPr lang="en-US" sz="1400" b="0" dirty="0">
                          <a:solidFill>
                            <a:schemeClr val="tx1"/>
                          </a:solidFill>
                        </a:rPr>
                        <a:t>player</a:t>
                      </a:r>
                      <a:br>
                        <a:rPr lang="en-US" sz="1400" b="0" dirty="0">
                          <a:solidFill>
                            <a:schemeClr val="tx1"/>
                          </a:solidFill>
                        </a:rPr>
                      </a:br>
                      <a:r>
                        <a:rPr lang="en-US" sz="1400" b="0" dirty="0">
                          <a:solidFill>
                            <a:schemeClr val="tx2"/>
                          </a:solidFill>
                        </a:rPr>
                        <a:t>A</a:t>
                      </a:r>
                      <a:r>
                        <a:rPr lang="en-US" sz="1400" b="0" dirty="0">
                          <a:solidFill>
                            <a:schemeClr val="tx1"/>
                          </a:solidFill>
                        </a:rPr>
                        <a:t>             </a:t>
                      </a:r>
                      <a:r>
                        <a:rPr lang="en-US" sz="1400" b="0" dirty="0">
                          <a:solidFill>
                            <a:srgbClr val="C00000"/>
                          </a:solidFill>
                        </a:rPr>
                        <a:t>B</a:t>
                      </a:r>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400" b="0" dirty="0">
                          <a:solidFill>
                            <a:srgbClr val="C00000"/>
                          </a:solidFill>
                        </a:rPr>
                        <a:t>Hawk</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400" b="0" dirty="0">
                          <a:solidFill>
                            <a:srgbClr val="C00000"/>
                          </a:solidFill>
                        </a:rPr>
                        <a:t>Dove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0"/>
                  </a:ext>
                </a:extLst>
              </a:tr>
              <a:tr h="552061">
                <a:tc>
                  <a:txBody>
                    <a:bodyPr/>
                    <a:lstStyle/>
                    <a:p>
                      <a:pPr algn="ctr"/>
                      <a:r>
                        <a:rPr lang="en-US" sz="1400" dirty="0">
                          <a:solidFill>
                            <a:schemeClr val="tx2"/>
                          </a:solidFill>
                        </a:rPr>
                        <a:t>Hawk</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400" b="0" dirty="0">
                          <a:solidFill>
                            <a:schemeClr val="tx1"/>
                          </a:solidFill>
                        </a:rPr>
                        <a:t>(</a:t>
                      </a:r>
                      <a:r>
                        <a:rPr lang="en-US" sz="800" b="0" dirty="0">
                          <a:solidFill>
                            <a:schemeClr val="tx1"/>
                          </a:solidFill>
                        </a:rPr>
                        <a:t> </a:t>
                      </a:r>
                      <a:r>
                        <a:rPr lang="en-US" sz="1400" b="0" dirty="0">
                          <a:solidFill>
                            <a:schemeClr val="tx2"/>
                          </a:solidFill>
                        </a:rPr>
                        <a:t>(V–D)/2</a:t>
                      </a:r>
                      <a:r>
                        <a:rPr lang="en-US" sz="1400" b="0" dirty="0">
                          <a:solidFill>
                            <a:schemeClr val="tx1"/>
                          </a:solidFill>
                        </a:rPr>
                        <a:t>, </a:t>
                      </a:r>
                      <a:r>
                        <a:rPr lang="en-US" sz="1400" b="0" dirty="0">
                          <a:solidFill>
                            <a:srgbClr val="C00000"/>
                          </a:solidFill>
                        </a:rPr>
                        <a:t>(V–D)/2</a:t>
                      </a:r>
                      <a:r>
                        <a:rPr lang="en-US" sz="1400" b="0" dirty="0">
                          <a:solidFill>
                            <a:schemeClr val="tx1"/>
                          </a:solidFill>
                        </a:rPr>
                        <a:t>)</a:t>
                      </a:r>
                    </a:p>
                    <a:p>
                      <a:pPr marL="0" marR="0" indent="0" algn="ctr" defTabSz="914400" rtl="0" eaLnBrk="1" fontAlgn="auto" latinLnBrk="0" hangingPunct="1">
                        <a:lnSpc>
                          <a:spcPct val="100000"/>
                        </a:lnSpc>
                        <a:spcBef>
                          <a:spcPts val="0"/>
                        </a:spcBef>
                        <a:spcAft>
                          <a:spcPts val="0"/>
                        </a:spcAft>
                        <a:buClrTx/>
                        <a:buSzTx/>
                        <a:buFontTx/>
                        <a:buNone/>
                        <a:tabLst/>
                        <a:defRPr/>
                      </a:pPr>
                      <a:r>
                        <a:rPr lang="en-US" sz="1400" b="0" dirty="0">
                          <a:solidFill>
                            <a:schemeClr val="tx1"/>
                          </a:solidFill>
                        </a:rPr>
                        <a:t>=  (-</a:t>
                      </a:r>
                      <a:r>
                        <a:rPr lang="en-US" sz="1400" b="0" dirty="0">
                          <a:solidFill>
                            <a:schemeClr val="tx2"/>
                          </a:solidFill>
                        </a:rPr>
                        <a:t>1</a:t>
                      </a:r>
                      <a:r>
                        <a:rPr lang="en-US" sz="1400" b="0" dirty="0">
                          <a:solidFill>
                            <a:schemeClr val="tx1"/>
                          </a:solidFill>
                        </a:rPr>
                        <a:t>, -</a:t>
                      </a:r>
                      <a:r>
                        <a:rPr lang="en-US" sz="1400" b="0" dirty="0">
                          <a:solidFill>
                            <a:srgbClr val="C00000"/>
                          </a:solidFill>
                        </a:rPr>
                        <a:t>1</a:t>
                      </a:r>
                      <a:r>
                        <a:rPr lang="en-US" sz="1400" b="0" dirty="0">
                          <a:solidFill>
                            <a:schemeClr val="tx1"/>
                          </a:solidFill>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400" b="0" dirty="0">
                          <a:solidFill>
                            <a:schemeClr val="tx1"/>
                          </a:solidFill>
                        </a:rPr>
                        <a:t>(</a:t>
                      </a:r>
                      <a:r>
                        <a:rPr lang="en-US" sz="1400" b="0" dirty="0">
                          <a:solidFill>
                            <a:schemeClr val="tx2"/>
                          </a:solidFill>
                        </a:rPr>
                        <a:t>V</a:t>
                      </a:r>
                      <a:r>
                        <a:rPr lang="en-US" sz="1400" b="0" dirty="0">
                          <a:solidFill>
                            <a:schemeClr val="tx1"/>
                          </a:solidFill>
                        </a:rPr>
                        <a:t>, </a:t>
                      </a:r>
                      <a:r>
                        <a:rPr lang="en-US" sz="1400" b="0" dirty="0">
                          <a:solidFill>
                            <a:srgbClr val="C00000"/>
                          </a:solidFill>
                        </a:rPr>
                        <a:t>0</a:t>
                      </a:r>
                      <a:r>
                        <a:rPr lang="en-US" sz="1400" b="0" dirty="0">
                          <a:solidFill>
                            <a:schemeClr val="tx1"/>
                          </a:solidFill>
                        </a:rPr>
                        <a:t>)  =  (</a:t>
                      </a:r>
                      <a:r>
                        <a:rPr lang="en-US" sz="1400" b="0" dirty="0">
                          <a:solidFill>
                            <a:schemeClr val="tx2"/>
                          </a:solidFill>
                        </a:rPr>
                        <a:t>6</a:t>
                      </a:r>
                      <a:r>
                        <a:rPr lang="en-US" sz="1400" b="0" dirty="0">
                          <a:solidFill>
                            <a:schemeClr val="tx1"/>
                          </a:solidFill>
                        </a:rPr>
                        <a:t>, </a:t>
                      </a:r>
                      <a:r>
                        <a:rPr lang="en-US" sz="1400" b="0" dirty="0">
                          <a:solidFill>
                            <a:srgbClr val="C00000"/>
                          </a:solidFill>
                        </a:rPr>
                        <a:t>0</a:t>
                      </a:r>
                      <a:r>
                        <a:rPr lang="en-US" sz="1400" b="0" dirty="0">
                          <a:solidFill>
                            <a:schemeClr val="tx1"/>
                          </a:solidFill>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1"/>
                  </a:ext>
                </a:extLst>
              </a:tr>
              <a:tr h="552061">
                <a:tc>
                  <a:txBody>
                    <a:bodyPr/>
                    <a:lstStyle/>
                    <a:p>
                      <a:pPr algn="ctr"/>
                      <a:r>
                        <a:rPr lang="en-US" sz="1400" dirty="0">
                          <a:solidFill>
                            <a:schemeClr val="tx2"/>
                          </a:solidFill>
                        </a:rPr>
                        <a:t>Dove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400" b="0" dirty="0">
                          <a:solidFill>
                            <a:schemeClr val="tx1"/>
                          </a:solidFill>
                        </a:rPr>
                        <a:t>(</a:t>
                      </a:r>
                      <a:r>
                        <a:rPr lang="en-US" sz="1400" b="0" dirty="0">
                          <a:solidFill>
                            <a:schemeClr val="tx2"/>
                          </a:solidFill>
                        </a:rPr>
                        <a:t>0</a:t>
                      </a:r>
                      <a:r>
                        <a:rPr lang="en-US" sz="1400" b="0" dirty="0">
                          <a:solidFill>
                            <a:schemeClr val="tx1"/>
                          </a:solidFill>
                        </a:rPr>
                        <a:t>, </a:t>
                      </a:r>
                      <a:r>
                        <a:rPr lang="en-US" sz="1400" b="0" dirty="0">
                          <a:solidFill>
                            <a:srgbClr val="C00000"/>
                          </a:solidFill>
                        </a:rPr>
                        <a:t>V</a:t>
                      </a:r>
                      <a:r>
                        <a:rPr lang="en-US" sz="1400" b="0" dirty="0">
                          <a:solidFill>
                            <a:schemeClr val="tx1"/>
                          </a:solidFill>
                        </a:rPr>
                        <a:t>)  =  (</a:t>
                      </a:r>
                      <a:r>
                        <a:rPr lang="en-US" sz="1400" b="0" dirty="0">
                          <a:solidFill>
                            <a:schemeClr val="tx2"/>
                          </a:solidFill>
                        </a:rPr>
                        <a:t>0</a:t>
                      </a:r>
                      <a:r>
                        <a:rPr lang="en-US" sz="1400" b="0" dirty="0">
                          <a:solidFill>
                            <a:schemeClr val="tx1"/>
                          </a:solidFill>
                        </a:rPr>
                        <a:t>, </a:t>
                      </a:r>
                      <a:r>
                        <a:rPr lang="en-US" sz="1400" b="0" dirty="0">
                          <a:solidFill>
                            <a:srgbClr val="C00000"/>
                          </a:solidFill>
                        </a:rPr>
                        <a:t>6</a:t>
                      </a:r>
                      <a:r>
                        <a:rPr lang="en-US" sz="1400" b="0" dirty="0">
                          <a:solidFill>
                            <a:schemeClr val="tx1"/>
                          </a:solidFill>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400" b="0" dirty="0">
                          <a:solidFill>
                            <a:schemeClr val="tx1"/>
                          </a:solidFill>
                        </a:rPr>
                        <a:t>( </a:t>
                      </a:r>
                      <a:r>
                        <a:rPr lang="en-US" sz="1400" b="0" dirty="0">
                          <a:solidFill>
                            <a:schemeClr val="tx2"/>
                          </a:solidFill>
                        </a:rPr>
                        <a:t>V/2–T</a:t>
                      </a:r>
                      <a:r>
                        <a:rPr lang="en-US" sz="1400" b="0" dirty="0">
                          <a:solidFill>
                            <a:schemeClr val="tx1"/>
                          </a:solidFill>
                        </a:rPr>
                        <a:t>, </a:t>
                      </a:r>
                      <a:r>
                        <a:rPr lang="en-US" sz="1400" b="0" dirty="0">
                          <a:solidFill>
                            <a:srgbClr val="C00000"/>
                          </a:solidFill>
                        </a:rPr>
                        <a:t>V/2–T</a:t>
                      </a:r>
                      <a:r>
                        <a:rPr lang="en-US" sz="1400" b="0" dirty="0">
                          <a:solidFill>
                            <a:schemeClr val="tx1"/>
                          </a:solidFill>
                        </a:rPr>
                        <a:t> )</a:t>
                      </a:r>
                    </a:p>
                    <a:p>
                      <a:pPr marL="0" marR="0" indent="0" algn="ctr" defTabSz="914400" rtl="0" eaLnBrk="1" fontAlgn="auto" latinLnBrk="0" hangingPunct="1">
                        <a:lnSpc>
                          <a:spcPct val="100000"/>
                        </a:lnSpc>
                        <a:spcBef>
                          <a:spcPts val="0"/>
                        </a:spcBef>
                        <a:spcAft>
                          <a:spcPts val="0"/>
                        </a:spcAft>
                        <a:buClrTx/>
                        <a:buSzTx/>
                        <a:buFontTx/>
                        <a:buNone/>
                        <a:tabLst/>
                        <a:defRPr/>
                      </a:pPr>
                      <a:r>
                        <a:rPr lang="en-US" sz="1400" b="0" dirty="0">
                          <a:solidFill>
                            <a:schemeClr val="tx1"/>
                          </a:solidFill>
                        </a:rPr>
                        <a:t>= (</a:t>
                      </a:r>
                      <a:r>
                        <a:rPr lang="en-US" sz="1400" b="0" dirty="0">
                          <a:solidFill>
                            <a:schemeClr val="tx2"/>
                          </a:solidFill>
                        </a:rPr>
                        <a:t>2</a:t>
                      </a:r>
                      <a:r>
                        <a:rPr lang="en-US" sz="1400" b="0" dirty="0">
                          <a:solidFill>
                            <a:schemeClr val="tx1"/>
                          </a:solidFill>
                        </a:rPr>
                        <a:t>, </a:t>
                      </a:r>
                      <a:r>
                        <a:rPr lang="en-US" sz="1400" b="0" dirty="0">
                          <a:solidFill>
                            <a:srgbClr val="C00000"/>
                          </a:solidFill>
                        </a:rPr>
                        <a:t>2</a:t>
                      </a:r>
                      <a:r>
                        <a:rPr lang="en-US" sz="1400" b="0" dirty="0">
                          <a:solidFill>
                            <a:schemeClr val="tx1"/>
                          </a:solidFill>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2"/>
                  </a:ext>
                </a:extLst>
              </a:tr>
            </a:tbl>
          </a:graphicData>
        </a:graphic>
      </p:graphicFrame>
      <p:graphicFrame>
        <p:nvGraphicFramePr>
          <p:cNvPr id="8" name="Tabelle 7"/>
          <p:cNvGraphicFramePr>
            <a:graphicFrameLocks noGrp="1"/>
          </p:cNvGraphicFramePr>
          <p:nvPr>
            <p:custDataLst>
              <p:tags r:id="rId2"/>
            </p:custDataLst>
          </p:nvPr>
        </p:nvGraphicFramePr>
        <p:xfrm>
          <a:off x="4788024" y="1563638"/>
          <a:ext cx="4032448" cy="1656183"/>
        </p:xfrm>
        <a:graphic>
          <a:graphicData uri="http://schemas.openxmlformats.org/drawingml/2006/table">
            <a:tbl>
              <a:tblPr firstRow="1" bandRow="1">
                <a:tableStyleId>{5C22544A-7EE6-4342-B048-85BDC9FD1C3A}</a:tableStyleId>
              </a:tblPr>
              <a:tblGrid>
                <a:gridCol w="1008112">
                  <a:extLst>
                    <a:ext uri="{9D8B030D-6E8A-4147-A177-3AD203B41FA5}">
                      <a16:colId xmlns:a16="http://schemas.microsoft.com/office/drawing/2014/main" val="20000"/>
                    </a:ext>
                  </a:extLst>
                </a:gridCol>
                <a:gridCol w="1548172">
                  <a:extLst>
                    <a:ext uri="{9D8B030D-6E8A-4147-A177-3AD203B41FA5}">
                      <a16:colId xmlns:a16="http://schemas.microsoft.com/office/drawing/2014/main" val="20001"/>
                    </a:ext>
                  </a:extLst>
                </a:gridCol>
                <a:gridCol w="1476164">
                  <a:extLst>
                    <a:ext uri="{9D8B030D-6E8A-4147-A177-3AD203B41FA5}">
                      <a16:colId xmlns:a16="http://schemas.microsoft.com/office/drawing/2014/main" val="20002"/>
                    </a:ext>
                  </a:extLst>
                </a:gridCol>
              </a:tblGrid>
              <a:tr h="552061">
                <a:tc>
                  <a:txBody>
                    <a:bodyPr/>
                    <a:lstStyle/>
                    <a:p>
                      <a:pPr algn="ctr"/>
                      <a:r>
                        <a:rPr lang="en-US" sz="1400" b="0" dirty="0">
                          <a:solidFill>
                            <a:schemeClr val="tx1"/>
                          </a:solidFill>
                        </a:rPr>
                        <a:t>player</a:t>
                      </a:r>
                      <a:br>
                        <a:rPr lang="en-US" sz="1400" b="0" dirty="0">
                          <a:solidFill>
                            <a:schemeClr val="tx1"/>
                          </a:solidFill>
                        </a:rPr>
                      </a:br>
                      <a:r>
                        <a:rPr lang="en-US" sz="1400" b="0" dirty="0">
                          <a:solidFill>
                            <a:schemeClr val="tx2"/>
                          </a:solidFill>
                        </a:rPr>
                        <a:t>A</a:t>
                      </a:r>
                      <a:r>
                        <a:rPr lang="en-US" sz="1400" b="0" dirty="0">
                          <a:solidFill>
                            <a:schemeClr val="tx1"/>
                          </a:solidFill>
                        </a:rPr>
                        <a:t>             </a:t>
                      </a:r>
                      <a:r>
                        <a:rPr lang="en-US" sz="1400" b="0" dirty="0">
                          <a:solidFill>
                            <a:srgbClr val="C00000"/>
                          </a:solidFill>
                        </a:rPr>
                        <a:t>B</a:t>
                      </a:r>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400" b="0" dirty="0">
                          <a:solidFill>
                            <a:srgbClr val="C00000"/>
                          </a:solidFill>
                        </a:rPr>
                        <a:t>Hawk</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400" b="0" dirty="0">
                          <a:solidFill>
                            <a:srgbClr val="C00000"/>
                          </a:solidFill>
                        </a:rPr>
                        <a:t>Dove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0"/>
                  </a:ext>
                </a:extLst>
              </a:tr>
              <a:tr h="552061">
                <a:tc>
                  <a:txBody>
                    <a:bodyPr/>
                    <a:lstStyle/>
                    <a:p>
                      <a:pPr algn="ctr"/>
                      <a:r>
                        <a:rPr lang="en-US" sz="1400" dirty="0">
                          <a:solidFill>
                            <a:schemeClr val="tx2"/>
                          </a:solidFill>
                        </a:rPr>
                        <a:t>Hawk</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400" b="0" dirty="0">
                          <a:solidFill>
                            <a:schemeClr val="tx1"/>
                          </a:solidFill>
                        </a:rPr>
                        <a:t>(</a:t>
                      </a:r>
                      <a:r>
                        <a:rPr lang="en-US" sz="800" b="0" dirty="0">
                          <a:solidFill>
                            <a:schemeClr val="tx1"/>
                          </a:solidFill>
                        </a:rPr>
                        <a:t> </a:t>
                      </a:r>
                      <a:r>
                        <a:rPr lang="en-US" sz="1400" b="0" dirty="0">
                          <a:solidFill>
                            <a:schemeClr val="tx2"/>
                          </a:solidFill>
                        </a:rPr>
                        <a:t>(V–D)/2</a:t>
                      </a:r>
                      <a:r>
                        <a:rPr lang="en-US" sz="1400" b="0" dirty="0">
                          <a:solidFill>
                            <a:schemeClr val="tx1"/>
                          </a:solidFill>
                        </a:rPr>
                        <a:t>, </a:t>
                      </a:r>
                      <a:r>
                        <a:rPr lang="en-US" sz="1400" b="0" dirty="0">
                          <a:solidFill>
                            <a:srgbClr val="C00000"/>
                          </a:solidFill>
                        </a:rPr>
                        <a:t>(V–D)/2</a:t>
                      </a:r>
                      <a:r>
                        <a:rPr lang="en-US" sz="1400" b="0" dirty="0">
                          <a:solidFill>
                            <a:schemeClr val="tx1"/>
                          </a:solidFill>
                        </a:rPr>
                        <a:t>)</a:t>
                      </a:r>
                    </a:p>
                    <a:p>
                      <a:pPr marL="0" marR="0" indent="0" algn="ctr" defTabSz="914400" rtl="0" eaLnBrk="1" fontAlgn="auto" latinLnBrk="0" hangingPunct="1">
                        <a:lnSpc>
                          <a:spcPct val="100000"/>
                        </a:lnSpc>
                        <a:spcBef>
                          <a:spcPts val="0"/>
                        </a:spcBef>
                        <a:spcAft>
                          <a:spcPts val="0"/>
                        </a:spcAft>
                        <a:buClrTx/>
                        <a:buSzTx/>
                        <a:buFontTx/>
                        <a:buNone/>
                        <a:tabLst/>
                        <a:defRPr/>
                      </a:pPr>
                      <a:r>
                        <a:rPr lang="en-US" sz="1400" b="0" dirty="0">
                          <a:solidFill>
                            <a:schemeClr val="tx1"/>
                          </a:solidFill>
                        </a:rPr>
                        <a:t>=  (</a:t>
                      </a:r>
                      <a:r>
                        <a:rPr lang="en-US" sz="1400" b="0" dirty="0">
                          <a:solidFill>
                            <a:schemeClr val="tx2"/>
                          </a:solidFill>
                        </a:rPr>
                        <a:t>1</a:t>
                      </a:r>
                      <a:r>
                        <a:rPr lang="en-US" sz="1400" b="0" dirty="0">
                          <a:solidFill>
                            <a:schemeClr val="tx1"/>
                          </a:solidFill>
                        </a:rPr>
                        <a:t>, </a:t>
                      </a:r>
                      <a:r>
                        <a:rPr lang="en-US" sz="1400" b="0" dirty="0">
                          <a:solidFill>
                            <a:srgbClr val="C00000"/>
                          </a:solidFill>
                        </a:rPr>
                        <a:t>1</a:t>
                      </a:r>
                      <a:r>
                        <a:rPr lang="en-US" sz="1400" b="0" dirty="0">
                          <a:solidFill>
                            <a:schemeClr val="tx1"/>
                          </a:solidFill>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400" b="0" dirty="0">
                          <a:solidFill>
                            <a:schemeClr val="tx1"/>
                          </a:solidFill>
                        </a:rPr>
                        <a:t>(</a:t>
                      </a:r>
                      <a:r>
                        <a:rPr lang="en-US" sz="1400" b="0" dirty="0">
                          <a:solidFill>
                            <a:schemeClr val="tx2"/>
                          </a:solidFill>
                        </a:rPr>
                        <a:t>V</a:t>
                      </a:r>
                      <a:r>
                        <a:rPr lang="en-US" sz="1400" b="0" dirty="0">
                          <a:solidFill>
                            <a:schemeClr val="tx1"/>
                          </a:solidFill>
                        </a:rPr>
                        <a:t>, </a:t>
                      </a:r>
                      <a:r>
                        <a:rPr lang="en-US" sz="1400" b="0" dirty="0">
                          <a:solidFill>
                            <a:srgbClr val="C00000"/>
                          </a:solidFill>
                        </a:rPr>
                        <a:t>0</a:t>
                      </a:r>
                      <a:r>
                        <a:rPr lang="en-US" sz="1400" b="0" dirty="0">
                          <a:solidFill>
                            <a:schemeClr val="tx1"/>
                          </a:solidFill>
                        </a:rPr>
                        <a:t>)  =  (</a:t>
                      </a:r>
                      <a:r>
                        <a:rPr lang="en-US" sz="1400" b="0" dirty="0">
                          <a:solidFill>
                            <a:schemeClr val="tx2"/>
                          </a:solidFill>
                        </a:rPr>
                        <a:t>6</a:t>
                      </a:r>
                      <a:r>
                        <a:rPr lang="en-US" sz="1400" b="0" dirty="0">
                          <a:solidFill>
                            <a:schemeClr val="tx1"/>
                          </a:solidFill>
                        </a:rPr>
                        <a:t>, </a:t>
                      </a:r>
                      <a:r>
                        <a:rPr lang="en-US" sz="1400" b="0" dirty="0">
                          <a:solidFill>
                            <a:srgbClr val="C00000"/>
                          </a:solidFill>
                        </a:rPr>
                        <a:t>0</a:t>
                      </a:r>
                      <a:r>
                        <a:rPr lang="en-US" sz="1400" b="0" dirty="0">
                          <a:solidFill>
                            <a:schemeClr val="tx1"/>
                          </a:solidFill>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1"/>
                  </a:ext>
                </a:extLst>
              </a:tr>
              <a:tr h="552061">
                <a:tc>
                  <a:txBody>
                    <a:bodyPr/>
                    <a:lstStyle/>
                    <a:p>
                      <a:pPr algn="ctr"/>
                      <a:r>
                        <a:rPr lang="en-US" sz="1400" dirty="0">
                          <a:solidFill>
                            <a:schemeClr val="tx2"/>
                          </a:solidFill>
                        </a:rPr>
                        <a:t>Dove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400" b="0" dirty="0">
                          <a:solidFill>
                            <a:schemeClr val="tx1"/>
                          </a:solidFill>
                        </a:rPr>
                        <a:t>(</a:t>
                      </a:r>
                      <a:r>
                        <a:rPr lang="en-US" sz="1400" b="0" dirty="0">
                          <a:solidFill>
                            <a:schemeClr val="tx2"/>
                          </a:solidFill>
                        </a:rPr>
                        <a:t>0</a:t>
                      </a:r>
                      <a:r>
                        <a:rPr lang="en-US" sz="1400" b="0" dirty="0">
                          <a:solidFill>
                            <a:schemeClr val="tx1"/>
                          </a:solidFill>
                        </a:rPr>
                        <a:t>, </a:t>
                      </a:r>
                      <a:r>
                        <a:rPr lang="en-US" sz="1400" b="0" dirty="0">
                          <a:solidFill>
                            <a:srgbClr val="C00000"/>
                          </a:solidFill>
                        </a:rPr>
                        <a:t>V</a:t>
                      </a:r>
                      <a:r>
                        <a:rPr lang="en-US" sz="1400" b="0" dirty="0">
                          <a:solidFill>
                            <a:schemeClr val="tx1"/>
                          </a:solidFill>
                        </a:rPr>
                        <a:t>)  =  (</a:t>
                      </a:r>
                      <a:r>
                        <a:rPr lang="en-US" sz="1400" b="0" dirty="0">
                          <a:solidFill>
                            <a:schemeClr val="tx2"/>
                          </a:solidFill>
                        </a:rPr>
                        <a:t>0</a:t>
                      </a:r>
                      <a:r>
                        <a:rPr lang="en-US" sz="1400" b="0" dirty="0">
                          <a:solidFill>
                            <a:schemeClr val="tx1"/>
                          </a:solidFill>
                        </a:rPr>
                        <a:t>, </a:t>
                      </a:r>
                      <a:r>
                        <a:rPr lang="en-US" sz="1400" b="0" dirty="0">
                          <a:solidFill>
                            <a:srgbClr val="C00000"/>
                          </a:solidFill>
                        </a:rPr>
                        <a:t>6</a:t>
                      </a:r>
                      <a:r>
                        <a:rPr lang="en-US" sz="1400" b="0" dirty="0">
                          <a:solidFill>
                            <a:schemeClr val="tx1"/>
                          </a:solidFill>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400" b="0" dirty="0">
                          <a:solidFill>
                            <a:schemeClr val="tx1"/>
                          </a:solidFill>
                        </a:rPr>
                        <a:t>( </a:t>
                      </a:r>
                      <a:r>
                        <a:rPr lang="en-US" sz="1400" b="0" dirty="0">
                          <a:solidFill>
                            <a:schemeClr val="tx2"/>
                          </a:solidFill>
                        </a:rPr>
                        <a:t>V/2–T</a:t>
                      </a:r>
                      <a:r>
                        <a:rPr lang="en-US" sz="1400" b="0" dirty="0">
                          <a:solidFill>
                            <a:schemeClr val="tx1"/>
                          </a:solidFill>
                        </a:rPr>
                        <a:t>, </a:t>
                      </a:r>
                      <a:r>
                        <a:rPr lang="en-US" sz="1400" b="0" dirty="0">
                          <a:solidFill>
                            <a:srgbClr val="C00000"/>
                          </a:solidFill>
                        </a:rPr>
                        <a:t>V/2–T</a:t>
                      </a:r>
                      <a:r>
                        <a:rPr lang="en-US" sz="1400" b="0" dirty="0">
                          <a:solidFill>
                            <a:schemeClr val="tx1"/>
                          </a:solidFill>
                        </a:rPr>
                        <a:t> )</a:t>
                      </a:r>
                    </a:p>
                    <a:p>
                      <a:pPr marL="0" marR="0" indent="0" algn="ctr" defTabSz="914400" rtl="0" eaLnBrk="1" fontAlgn="auto" latinLnBrk="0" hangingPunct="1">
                        <a:lnSpc>
                          <a:spcPct val="100000"/>
                        </a:lnSpc>
                        <a:spcBef>
                          <a:spcPts val="0"/>
                        </a:spcBef>
                        <a:spcAft>
                          <a:spcPts val="0"/>
                        </a:spcAft>
                        <a:buClrTx/>
                        <a:buSzTx/>
                        <a:buFontTx/>
                        <a:buNone/>
                        <a:tabLst/>
                        <a:defRPr/>
                      </a:pPr>
                      <a:r>
                        <a:rPr lang="en-US" sz="1400" b="0" dirty="0">
                          <a:solidFill>
                            <a:schemeClr val="tx1"/>
                          </a:solidFill>
                        </a:rPr>
                        <a:t>= (</a:t>
                      </a:r>
                      <a:r>
                        <a:rPr lang="en-US" sz="1400" b="0" dirty="0">
                          <a:solidFill>
                            <a:schemeClr val="tx2"/>
                          </a:solidFill>
                        </a:rPr>
                        <a:t>2</a:t>
                      </a:r>
                      <a:r>
                        <a:rPr lang="en-US" sz="1400" b="0" dirty="0">
                          <a:solidFill>
                            <a:schemeClr val="tx1"/>
                          </a:solidFill>
                        </a:rPr>
                        <a:t>, </a:t>
                      </a:r>
                      <a:r>
                        <a:rPr lang="en-US" sz="1400" b="0" dirty="0">
                          <a:solidFill>
                            <a:srgbClr val="C00000"/>
                          </a:solidFill>
                        </a:rPr>
                        <a:t>2</a:t>
                      </a:r>
                      <a:r>
                        <a:rPr lang="en-US" sz="1400" b="0" dirty="0">
                          <a:solidFill>
                            <a:schemeClr val="tx1"/>
                          </a:solidFill>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2"/>
                  </a:ext>
                </a:extLst>
              </a:tr>
            </a:tbl>
          </a:graphicData>
        </a:graphic>
      </p:graphicFrame>
      <p:sp>
        <p:nvSpPr>
          <p:cNvPr id="9" name="Textfeld 8"/>
          <p:cNvSpPr txBox="1"/>
          <p:nvPr/>
        </p:nvSpPr>
        <p:spPr>
          <a:xfrm>
            <a:off x="4716016" y="3363838"/>
            <a:ext cx="4176464" cy="1656184"/>
          </a:xfrm>
          <a:prstGeom prst="rect">
            <a:avLst/>
          </a:prstGeom>
          <a:noFill/>
        </p:spPr>
        <p:txBody>
          <a:bodyPr wrap="square" rtlCol="0">
            <a:spAutoFit/>
          </a:bodyPr>
          <a:lstStyle/>
          <a:p>
            <a:pPr>
              <a:spcAft>
                <a:spcPts val="600"/>
              </a:spcAft>
            </a:pPr>
            <a:r>
              <a:rPr lang="en-US" sz="1400" dirty="0"/>
              <a:t>with</a:t>
            </a:r>
          </a:p>
          <a:p>
            <a:pPr algn="ctr">
              <a:spcAft>
                <a:spcPts val="600"/>
              </a:spcAft>
            </a:pPr>
            <a:r>
              <a:rPr lang="en-US" sz="1400" dirty="0"/>
              <a:t>V = 6,   D = 4,  and  T = 1</a:t>
            </a:r>
          </a:p>
          <a:p>
            <a:pPr>
              <a:spcAft>
                <a:spcPts val="600"/>
              </a:spcAft>
            </a:pPr>
            <a:endParaRPr lang="en-US" sz="1400" dirty="0"/>
          </a:p>
          <a:p>
            <a:pPr algn="just">
              <a:spcAft>
                <a:spcPts val="600"/>
              </a:spcAft>
            </a:pPr>
            <a:r>
              <a:rPr lang="en-US" sz="1400" dirty="0"/>
              <a:t>The reason why this is a Prisoner’s Dilemma situation and why the Prisoner’s Dilemma is very interesting is beyond the scope of today's lecture.</a:t>
            </a:r>
          </a:p>
        </p:txBody>
      </p:sp>
      <p:sp>
        <p:nvSpPr>
          <p:cNvPr id="10" name="Textfeld 9"/>
          <p:cNvSpPr txBox="1"/>
          <p:nvPr/>
        </p:nvSpPr>
        <p:spPr>
          <a:xfrm>
            <a:off x="251520" y="3363838"/>
            <a:ext cx="4176464" cy="1615827"/>
          </a:xfrm>
          <a:prstGeom prst="rect">
            <a:avLst/>
          </a:prstGeom>
          <a:noFill/>
        </p:spPr>
        <p:txBody>
          <a:bodyPr wrap="square" rtlCol="0">
            <a:spAutoFit/>
          </a:bodyPr>
          <a:lstStyle/>
          <a:p>
            <a:pPr>
              <a:spcAft>
                <a:spcPts val="600"/>
              </a:spcAft>
            </a:pPr>
            <a:r>
              <a:rPr lang="en-US" sz="1400" dirty="0"/>
              <a:t>with</a:t>
            </a:r>
          </a:p>
          <a:p>
            <a:pPr algn="ctr">
              <a:spcAft>
                <a:spcPts val="600"/>
              </a:spcAft>
            </a:pPr>
            <a:r>
              <a:rPr lang="en-US" sz="1400" dirty="0"/>
              <a:t>V = 6,   D = 8,  and  T = 1</a:t>
            </a:r>
          </a:p>
          <a:p>
            <a:pPr>
              <a:spcAft>
                <a:spcPts val="600"/>
              </a:spcAft>
            </a:pPr>
            <a:endParaRPr lang="en-US" sz="1400" dirty="0"/>
          </a:p>
          <a:p>
            <a:pPr algn="just">
              <a:spcAft>
                <a:spcPts val="600"/>
              </a:spcAft>
            </a:pPr>
            <a:r>
              <a:rPr lang="en-US" sz="1400" dirty="0"/>
              <a:t>For animals, even small injuries may lead to severe infections and death. This fate is certainly worse than backing down from the contest.</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en-US" dirty="0"/>
              <a:t>We already have seen, that the Prisoner’s Dilemma has one Nash-equilibrium in dominant strategies …</a:t>
            </a:r>
          </a:p>
        </p:txBody>
      </p:sp>
      <p:sp>
        <p:nvSpPr>
          <p:cNvPr id="9" name="Rechteck 8"/>
          <p:cNvSpPr/>
          <p:nvPr/>
        </p:nvSpPr>
        <p:spPr>
          <a:xfrm>
            <a:off x="3131840" y="1131590"/>
            <a:ext cx="5760640" cy="3888432"/>
          </a:xfrm>
          <a:prstGeom prst="rect">
            <a:avLst/>
          </a:prstGeom>
          <a:noFill/>
          <a:ln>
            <a:solidFill>
              <a:schemeClr val="tx2">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spcAft>
                <a:spcPts val="600"/>
              </a:spcAft>
            </a:pPr>
            <a:r>
              <a:rPr lang="en-US" sz="1400" dirty="0">
                <a:solidFill>
                  <a:schemeClr val="tx1"/>
                </a:solidFill>
              </a:rPr>
              <a:t>In the Prisoner’s Dilemma the outcome (hawk, hawk) is such that</a:t>
            </a:r>
            <a:endParaRPr lang="en-US" sz="1400" b="1" dirty="0">
              <a:solidFill>
                <a:schemeClr val="tx1"/>
              </a:solidFill>
            </a:endParaRPr>
          </a:p>
          <a:p>
            <a:pPr marL="182563" indent="-182563">
              <a:spcAft>
                <a:spcPts val="600"/>
              </a:spcAft>
              <a:buFont typeface="Arial" pitchFamily="34" charset="0"/>
              <a:buChar char="•"/>
            </a:pPr>
            <a:r>
              <a:rPr lang="en-US" sz="1400" dirty="0">
                <a:solidFill>
                  <a:schemeClr val="tx1"/>
                </a:solidFill>
              </a:rPr>
              <a:t>no player has an incentive to change their strategy,</a:t>
            </a:r>
          </a:p>
          <a:p>
            <a:pPr marL="182563" indent="-182563">
              <a:spcAft>
                <a:spcPts val="600"/>
              </a:spcAft>
              <a:buFont typeface="Arial" pitchFamily="34" charset="0"/>
              <a:buChar char="•"/>
            </a:pPr>
            <a:r>
              <a:rPr lang="en-US" sz="1400" dirty="0">
                <a:solidFill>
                  <a:schemeClr val="tx1"/>
                </a:solidFill>
              </a:rPr>
              <a:t>given the (equilibrium-)strategy “hawk” of the other player</a:t>
            </a:r>
          </a:p>
          <a:p>
            <a:pPr>
              <a:spcAft>
                <a:spcPts val="600"/>
              </a:spcAft>
            </a:pPr>
            <a:endParaRPr lang="en-US" sz="1400" dirty="0">
              <a:solidFill>
                <a:schemeClr val="tx1"/>
              </a:solidFill>
            </a:endParaRPr>
          </a:p>
          <a:p>
            <a:pPr>
              <a:spcAft>
                <a:spcPts val="600"/>
              </a:spcAft>
            </a:pPr>
            <a:r>
              <a:rPr lang="en-US" sz="1400" dirty="0">
                <a:solidFill>
                  <a:schemeClr val="tx1"/>
                </a:solidFill>
              </a:rPr>
              <a:t>On the other hand:</a:t>
            </a:r>
          </a:p>
          <a:p>
            <a:pPr marL="182563" indent="-182563">
              <a:spcAft>
                <a:spcPts val="600"/>
              </a:spcAft>
              <a:buFont typeface="Arial" pitchFamily="34" charset="0"/>
              <a:buChar char="•"/>
            </a:pPr>
            <a:r>
              <a:rPr lang="en-US" sz="1400" dirty="0">
                <a:solidFill>
                  <a:schemeClr val="tx1"/>
                </a:solidFill>
              </a:rPr>
              <a:t>at the outcome (hawk, dove), given player A chooses “hawk”, then player B is better of with “hawk” (payoff </a:t>
            </a:r>
            <a:r>
              <a:rPr lang="en-US" sz="1400" dirty="0">
                <a:solidFill>
                  <a:srgbClr val="C00000"/>
                </a:solidFill>
              </a:rPr>
              <a:t>1</a:t>
            </a:r>
            <a:r>
              <a:rPr lang="en-US" sz="1400" dirty="0">
                <a:solidFill>
                  <a:schemeClr val="tx1"/>
                </a:solidFill>
              </a:rPr>
              <a:t>) instead of “dove” (payoff </a:t>
            </a:r>
            <a:r>
              <a:rPr lang="en-US" sz="1400" dirty="0">
                <a:solidFill>
                  <a:srgbClr val="C00000"/>
                </a:solidFill>
              </a:rPr>
              <a:t>0</a:t>
            </a:r>
            <a:r>
              <a:rPr lang="en-US" sz="1400" dirty="0">
                <a:solidFill>
                  <a:schemeClr val="tx1"/>
                </a:solidFill>
              </a:rPr>
              <a:t>)</a:t>
            </a:r>
          </a:p>
          <a:p>
            <a:pPr marL="182563" indent="-182563">
              <a:spcAft>
                <a:spcPts val="600"/>
              </a:spcAft>
              <a:buFont typeface="Arial" pitchFamily="34" charset="0"/>
              <a:buChar char="•"/>
            </a:pPr>
            <a:r>
              <a:rPr lang="en-US" sz="1400" dirty="0">
                <a:solidFill>
                  <a:schemeClr val="tx1"/>
                </a:solidFill>
              </a:rPr>
              <a:t>at the outcome (dove, hawk), given player B chooses “hawk”, then player A is better of with “hawk” (payoff </a:t>
            </a:r>
            <a:r>
              <a:rPr lang="en-US" sz="1400" dirty="0">
                <a:solidFill>
                  <a:schemeClr val="tx2"/>
                </a:solidFill>
              </a:rPr>
              <a:t>1</a:t>
            </a:r>
            <a:r>
              <a:rPr lang="en-US" sz="1400" dirty="0">
                <a:solidFill>
                  <a:schemeClr val="tx1"/>
                </a:solidFill>
              </a:rPr>
              <a:t>) instead of “dove” (payoff </a:t>
            </a:r>
            <a:r>
              <a:rPr lang="en-US" sz="1400" dirty="0">
                <a:solidFill>
                  <a:schemeClr val="tx2"/>
                </a:solidFill>
              </a:rPr>
              <a:t>0</a:t>
            </a:r>
            <a:r>
              <a:rPr lang="en-US" sz="1400" dirty="0">
                <a:solidFill>
                  <a:schemeClr val="tx1"/>
                </a:solidFill>
              </a:rPr>
              <a:t>)</a:t>
            </a:r>
          </a:p>
          <a:p>
            <a:pPr marL="182563" indent="-182563">
              <a:spcAft>
                <a:spcPts val="600"/>
              </a:spcAft>
              <a:buFont typeface="Arial" pitchFamily="34" charset="0"/>
              <a:buChar char="•"/>
            </a:pPr>
            <a:r>
              <a:rPr lang="en-US" sz="1400" dirty="0">
                <a:solidFill>
                  <a:schemeClr val="tx1"/>
                </a:solidFill>
              </a:rPr>
              <a:t>at the outcome (dove, dove),</a:t>
            </a:r>
          </a:p>
          <a:p>
            <a:pPr marL="449263" indent="-266700">
              <a:spcAft>
                <a:spcPts val="600"/>
              </a:spcAft>
              <a:buFont typeface="Symbol" pitchFamily="18" charset="2"/>
              <a:buChar char="-"/>
            </a:pPr>
            <a:r>
              <a:rPr lang="en-US" sz="1400" dirty="0">
                <a:solidFill>
                  <a:schemeClr val="tx1"/>
                </a:solidFill>
              </a:rPr>
              <a:t>given player A chooses “dove”, then player B is better of with “hawk” (payoff </a:t>
            </a:r>
            <a:r>
              <a:rPr lang="en-US" sz="1400" dirty="0">
                <a:solidFill>
                  <a:srgbClr val="C00000"/>
                </a:solidFill>
              </a:rPr>
              <a:t>6</a:t>
            </a:r>
            <a:r>
              <a:rPr lang="en-US" sz="1400" dirty="0">
                <a:solidFill>
                  <a:schemeClr val="tx1"/>
                </a:solidFill>
              </a:rPr>
              <a:t>) instead of “dove” (payoff </a:t>
            </a:r>
            <a:r>
              <a:rPr lang="en-US" sz="1400" dirty="0">
                <a:solidFill>
                  <a:srgbClr val="C00000"/>
                </a:solidFill>
              </a:rPr>
              <a:t>2</a:t>
            </a:r>
            <a:r>
              <a:rPr lang="en-US" sz="1400" dirty="0">
                <a:solidFill>
                  <a:schemeClr val="tx1"/>
                </a:solidFill>
              </a:rPr>
              <a:t>)</a:t>
            </a:r>
          </a:p>
          <a:p>
            <a:pPr marL="449263" indent="-266700">
              <a:spcAft>
                <a:spcPts val="600"/>
              </a:spcAft>
              <a:buFont typeface="Symbol" pitchFamily="18" charset="2"/>
              <a:buChar char="-"/>
            </a:pPr>
            <a:r>
              <a:rPr lang="en-US" sz="1400" dirty="0">
                <a:solidFill>
                  <a:schemeClr val="tx1"/>
                </a:solidFill>
              </a:rPr>
              <a:t>given player B chooses “dove”, then player A is better of with “hawk” (payoff </a:t>
            </a:r>
            <a:r>
              <a:rPr lang="en-US" sz="1400" dirty="0">
                <a:solidFill>
                  <a:schemeClr val="tx2"/>
                </a:solidFill>
              </a:rPr>
              <a:t>6</a:t>
            </a:r>
            <a:r>
              <a:rPr lang="en-US" sz="1400" dirty="0">
                <a:solidFill>
                  <a:schemeClr val="tx1"/>
                </a:solidFill>
              </a:rPr>
              <a:t>) instead of “dove” (payoff </a:t>
            </a:r>
            <a:r>
              <a:rPr lang="en-US" sz="1400" dirty="0">
                <a:solidFill>
                  <a:schemeClr val="tx2"/>
                </a:solidFill>
              </a:rPr>
              <a:t>2</a:t>
            </a:r>
            <a:r>
              <a:rPr lang="en-US" sz="1400" dirty="0">
                <a:solidFill>
                  <a:schemeClr val="tx1"/>
                </a:solidFill>
              </a:rPr>
              <a:t>)</a:t>
            </a:r>
          </a:p>
          <a:p>
            <a:pPr marL="182563" indent="-182563">
              <a:spcAft>
                <a:spcPts val="600"/>
              </a:spcAft>
              <a:buFont typeface="Arial" pitchFamily="34" charset="0"/>
              <a:buChar char="•"/>
            </a:pPr>
            <a:endParaRPr lang="en-US" sz="1400" dirty="0">
              <a:solidFill>
                <a:schemeClr val="tx1"/>
              </a:solidFill>
            </a:endParaRPr>
          </a:p>
          <a:p>
            <a:pPr marL="182563" indent="-182563">
              <a:spcAft>
                <a:spcPts val="600"/>
              </a:spcAft>
              <a:buFont typeface="Arial" pitchFamily="34" charset="0"/>
              <a:buChar char="•"/>
            </a:pPr>
            <a:endParaRPr lang="en-US" sz="1400" dirty="0">
              <a:solidFill>
                <a:schemeClr val="tx1"/>
              </a:solidFill>
            </a:endParaRPr>
          </a:p>
          <a:p>
            <a:pPr marL="182563" indent="-182563">
              <a:spcAft>
                <a:spcPts val="600"/>
              </a:spcAft>
              <a:buFont typeface="Arial" pitchFamily="34" charset="0"/>
              <a:buChar char="•"/>
            </a:pPr>
            <a:endParaRPr lang="en-US" sz="1400" dirty="0">
              <a:solidFill>
                <a:schemeClr val="tx1"/>
              </a:solidFill>
            </a:endParaRPr>
          </a:p>
        </p:txBody>
      </p:sp>
      <p:graphicFrame>
        <p:nvGraphicFramePr>
          <p:cNvPr id="12" name="Tabelle 11"/>
          <p:cNvGraphicFramePr>
            <a:graphicFrameLocks noGrp="1"/>
          </p:cNvGraphicFramePr>
          <p:nvPr>
            <p:custDataLst>
              <p:tags r:id="rId1"/>
            </p:custDataLst>
          </p:nvPr>
        </p:nvGraphicFramePr>
        <p:xfrm>
          <a:off x="251521" y="1131590"/>
          <a:ext cx="2664297" cy="1656183"/>
        </p:xfrm>
        <a:graphic>
          <a:graphicData uri="http://schemas.openxmlformats.org/drawingml/2006/table">
            <a:tbl>
              <a:tblPr firstRow="1" bandRow="1">
                <a:tableStyleId>{5C22544A-7EE6-4342-B048-85BDC9FD1C3A}</a:tableStyleId>
              </a:tblPr>
              <a:tblGrid>
                <a:gridCol w="888099">
                  <a:extLst>
                    <a:ext uri="{9D8B030D-6E8A-4147-A177-3AD203B41FA5}">
                      <a16:colId xmlns:a16="http://schemas.microsoft.com/office/drawing/2014/main" val="20000"/>
                    </a:ext>
                  </a:extLst>
                </a:gridCol>
                <a:gridCol w="888099">
                  <a:extLst>
                    <a:ext uri="{9D8B030D-6E8A-4147-A177-3AD203B41FA5}">
                      <a16:colId xmlns:a16="http://schemas.microsoft.com/office/drawing/2014/main" val="20001"/>
                    </a:ext>
                  </a:extLst>
                </a:gridCol>
                <a:gridCol w="888099">
                  <a:extLst>
                    <a:ext uri="{9D8B030D-6E8A-4147-A177-3AD203B41FA5}">
                      <a16:colId xmlns:a16="http://schemas.microsoft.com/office/drawing/2014/main" val="20002"/>
                    </a:ext>
                  </a:extLst>
                </a:gridCol>
              </a:tblGrid>
              <a:tr h="552061">
                <a:tc>
                  <a:txBody>
                    <a:bodyPr/>
                    <a:lstStyle/>
                    <a:p>
                      <a:pPr algn="ctr"/>
                      <a:r>
                        <a:rPr lang="en-US" sz="1400" b="0" dirty="0">
                          <a:solidFill>
                            <a:schemeClr val="tx1"/>
                          </a:solidFill>
                        </a:rPr>
                        <a:t>player</a:t>
                      </a:r>
                      <a:br>
                        <a:rPr lang="en-US" sz="1400" b="0" dirty="0">
                          <a:solidFill>
                            <a:schemeClr val="tx1"/>
                          </a:solidFill>
                        </a:rPr>
                      </a:br>
                      <a:r>
                        <a:rPr lang="en-US" sz="1400" b="0" dirty="0">
                          <a:solidFill>
                            <a:schemeClr val="tx2"/>
                          </a:solidFill>
                        </a:rPr>
                        <a:t>A</a:t>
                      </a:r>
                      <a:r>
                        <a:rPr lang="en-US" sz="1400" b="0" dirty="0">
                          <a:solidFill>
                            <a:schemeClr val="tx1"/>
                          </a:solidFill>
                        </a:rPr>
                        <a:t>           </a:t>
                      </a:r>
                      <a:r>
                        <a:rPr lang="en-US" sz="1400" b="0" dirty="0">
                          <a:solidFill>
                            <a:srgbClr val="C00000"/>
                          </a:solidFill>
                        </a:rPr>
                        <a:t>B</a:t>
                      </a:r>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400" b="0" dirty="0">
                          <a:solidFill>
                            <a:srgbClr val="C00000"/>
                          </a:solidFill>
                        </a:rPr>
                        <a:t>Hawk</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400" b="0" dirty="0">
                          <a:solidFill>
                            <a:srgbClr val="C00000"/>
                          </a:solidFill>
                        </a:rPr>
                        <a:t>Dove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0"/>
                  </a:ext>
                </a:extLst>
              </a:tr>
              <a:tr h="552061">
                <a:tc>
                  <a:txBody>
                    <a:bodyPr/>
                    <a:lstStyle/>
                    <a:p>
                      <a:pPr algn="ctr"/>
                      <a:r>
                        <a:rPr lang="en-US" sz="1400" dirty="0">
                          <a:solidFill>
                            <a:schemeClr val="tx2"/>
                          </a:solidFill>
                        </a:rPr>
                        <a:t>Hawk</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400" b="0" dirty="0">
                          <a:solidFill>
                            <a:schemeClr val="tx1"/>
                          </a:solidFill>
                        </a:rPr>
                        <a:t>(</a:t>
                      </a:r>
                      <a:r>
                        <a:rPr lang="en-US" sz="1400" b="0" dirty="0">
                          <a:solidFill>
                            <a:schemeClr val="tx2"/>
                          </a:solidFill>
                        </a:rPr>
                        <a:t>1</a:t>
                      </a:r>
                      <a:r>
                        <a:rPr lang="en-US" sz="1400" b="0" dirty="0">
                          <a:solidFill>
                            <a:schemeClr val="tx1"/>
                          </a:solidFill>
                        </a:rPr>
                        <a:t>, </a:t>
                      </a:r>
                      <a:r>
                        <a:rPr lang="en-US" sz="1400" b="0" dirty="0">
                          <a:solidFill>
                            <a:srgbClr val="C00000"/>
                          </a:solidFill>
                        </a:rPr>
                        <a:t>1</a:t>
                      </a:r>
                      <a:r>
                        <a:rPr lang="en-US" sz="1400" b="0" dirty="0">
                          <a:solidFill>
                            <a:schemeClr val="tx1"/>
                          </a:solidFill>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400" b="0" dirty="0">
                          <a:solidFill>
                            <a:schemeClr val="tx1"/>
                          </a:solidFill>
                        </a:rPr>
                        <a:t>(</a:t>
                      </a:r>
                      <a:r>
                        <a:rPr lang="en-US" sz="1400" b="0" dirty="0">
                          <a:solidFill>
                            <a:schemeClr val="tx2"/>
                          </a:solidFill>
                        </a:rPr>
                        <a:t>6</a:t>
                      </a:r>
                      <a:r>
                        <a:rPr lang="en-US" sz="1400" b="0" dirty="0">
                          <a:solidFill>
                            <a:schemeClr val="tx1"/>
                          </a:solidFill>
                        </a:rPr>
                        <a:t>, </a:t>
                      </a:r>
                      <a:r>
                        <a:rPr lang="en-US" sz="1400" b="0" dirty="0">
                          <a:solidFill>
                            <a:srgbClr val="C00000"/>
                          </a:solidFill>
                        </a:rPr>
                        <a:t>0</a:t>
                      </a:r>
                      <a:r>
                        <a:rPr lang="en-US" sz="1400" b="0" dirty="0">
                          <a:solidFill>
                            <a:schemeClr val="tx1"/>
                          </a:solidFill>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1"/>
                  </a:ext>
                </a:extLst>
              </a:tr>
              <a:tr h="552061">
                <a:tc>
                  <a:txBody>
                    <a:bodyPr/>
                    <a:lstStyle/>
                    <a:p>
                      <a:pPr algn="ctr"/>
                      <a:r>
                        <a:rPr lang="en-US" sz="1400" dirty="0">
                          <a:solidFill>
                            <a:schemeClr val="tx2"/>
                          </a:solidFill>
                        </a:rPr>
                        <a:t>Dove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400" b="0" dirty="0">
                          <a:solidFill>
                            <a:schemeClr val="tx1"/>
                          </a:solidFill>
                        </a:rPr>
                        <a:t>(</a:t>
                      </a:r>
                      <a:r>
                        <a:rPr lang="en-US" sz="1400" b="0" dirty="0">
                          <a:solidFill>
                            <a:schemeClr val="tx2"/>
                          </a:solidFill>
                        </a:rPr>
                        <a:t>0</a:t>
                      </a:r>
                      <a:r>
                        <a:rPr lang="en-US" sz="1400" b="0" dirty="0">
                          <a:solidFill>
                            <a:schemeClr val="tx1"/>
                          </a:solidFill>
                        </a:rPr>
                        <a:t>, </a:t>
                      </a:r>
                      <a:r>
                        <a:rPr lang="en-US" sz="1400" b="0" dirty="0">
                          <a:solidFill>
                            <a:srgbClr val="C00000"/>
                          </a:solidFill>
                        </a:rPr>
                        <a:t>6</a:t>
                      </a:r>
                      <a:r>
                        <a:rPr lang="en-US" sz="1400" b="0" dirty="0">
                          <a:solidFill>
                            <a:schemeClr val="tx1"/>
                          </a:solidFill>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400" b="0" dirty="0">
                          <a:solidFill>
                            <a:schemeClr val="tx1"/>
                          </a:solidFill>
                        </a:rPr>
                        <a:t>(</a:t>
                      </a:r>
                      <a:r>
                        <a:rPr lang="en-US" sz="1400" b="0" dirty="0">
                          <a:solidFill>
                            <a:schemeClr val="tx2"/>
                          </a:solidFill>
                        </a:rPr>
                        <a:t>2</a:t>
                      </a:r>
                      <a:r>
                        <a:rPr lang="en-US" sz="1400" b="0" dirty="0">
                          <a:solidFill>
                            <a:schemeClr val="tx1"/>
                          </a:solidFill>
                        </a:rPr>
                        <a:t>, </a:t>
                      </a:r>
                      <a:r>
                        <a:rPr lang="en-US" sz="1400" b="0" dirty="0">
                          <a:solidFill>
                            <a:srgbClr val="C00000"/>
                          </a:solidFill>
                        </a:rPr>
                        <a:t>2</a:t>
                      </a:r>
                      <a:r>
                        <a:rPr lang="en-US" sz="1400" b="0" dirty="0">
                          <a:solidFill>
                            <a:schemeClr val="tx1"/>
                          </a:solidFill>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2"/>
                  </a:ext>
                </a:extLst>
              </a:tr>
            </a:tbl>
          </a:graphicData>
        </a:graphic>
      </p:graphicFrame>
      <p:sp>
        <p:nvSpPr>
          <p:cNvPr id="13" name="Rechteck 12"/>
          <p:cNvSpPr/>
          <p:nvPr/>
        </p:nvSpPr>
        <p:spPr>
          <a:xfrm>
            <a:off x="251520" y="3075806"/>
            <a:ext cx="216024" cy="144016"/>
          </a:xfrm>
          <a:prstGeom prst="rect">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Textfeld 13"/>
          <p:cNvSpPr txBox="1"/>
          <p:nvPr/>
        </p:nvSpPr>
        <p:spPr>
          <a:xfrm>
            <a:off x="467544" y="3003798"/>
            <a:ext cx="2373983" cy="276999"/>
          </a:xfrm>
          <a:prstGeom prst="rect">
            <a:avLst/>
          </a:prstGeom>
          <a:noFill/>
        </p:spPr>
        <p:txBody>
          <a:bodyPr wrap="none" rtlCol="0">
            <a:spAutoFit/>
          </a:bodyPr>
          <a:lstStyle/>
          <a:p>
            <a:r>
              <a:rPr lang="en-US" sz="1200" dirty="0"/>
              <a:t>Nash-equilibrium in pure strategies</a:t>
            </a:r>
          </a:p>
        </p:txBody>
      </p:sp>
      <p:sp>
        <p:nvSpPr>
          <p:cNvPr id="15" name="Rechteck 14"/>
          <p:cNvSpPr/>
          <p:nvPr/>
        </p:nvSpPr>
        <p:spPr>
          <a:xfrm>
            <a:off x="251520" y="4011910"/>
            <a:ext cx="1440160" cy="1008112"/>
          </a:xfrm>
          <a:prstGeom prst="rect">
            <a:avLst/>
          </a:prstGeom>
          <a:solidFill>
            <a:schemeClr val="tx2">
              <a:lumMod val="20000"/>
              <a:lumOff val="80000"/>
            </a:schemeClr>
          </a:solidFill>
          <a:ln>
            <a:solidFill>
              <a:schemeClr val="tx2">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dirty="0">
              <a:solidFill>
                <a:schemeClr val="tx1"/>
              </a:solidFill>
            </a:endParaRPr>
          </a:p>
          <a:p>
            <a:pPr algn="ctr"/>
            <a:endParaRPr lang="en-US" sz="1200" dirty="0">
              <a:solidFill>
                <a:schemeClr val="tx1"/>
              </a:solidFill>
            </a:endParaRPr>
          </a:p>
          <a:p>
            <a:pPr algn="ctr"/>
            <a:endParaRPr lang="en-US" sz="1200" dirty="0">
              <a:solidFill>
                <a:schemeClr val="tx1"/>
              </a:solidFill>
            </a:endParaRPr>
          </a:p>
          <a:p>
            <a:pPr algn="ctr"/>
            <a:r>
              <a:rPr lang="en-US" sz="1200" dirty="0">
                <a:solidFill>
                  <a:schemeClr val="tx1"/>
                </a:solidFill>
              </a:rPr>
              <a:t>Prisoner’s Dilemma payoff matrix</a:t>
            </a:r>
          </a:p>
        </p:txBody>
      </p:sp>
      <p:pic>
        <p:nvPicPr>
          <p:cNvPr id="16" name="Picture 4" descr="Prison cell - Free security icons"/>
          <p:cNvPicPr>
            <a:picLocks noChangeAspect="1" noChangeArrowheads="1"/>
          </p:cNvPicPr>
          <p:nvPr/>
        </p:nvPicPr>
        <p:blipFill>
          <a:blip r:embed="rId3" cstate="print">
            <a:clrChange>
              <a:clrFrom>
                <a:srgbClr val="FFFFFF"/>
              </a:clrFrom>
              <a:clrTo>
                <a:srgbClr val="FFFFFF">
                  <a:alpha val="0"/>
                </a:srgbClr>
              </a:clrTo>
            </a:clrChange>
          </a:blip>
          <a:srcRect/>
          <a:stretch>
            <a:fillRect/>
          </a:stretch>
        </p:blipFill>
        <p:spPr bwMode="auto">
          <a:xfrm>
            <a:off x="491547" y="4061058"/>
            <a:ext cx="960106" cy="504056"/>
          </a:xfrm>
          <a:prstGeom prst="rect">
            <a:avLst/>
          </a:prstGeom>
          <a:noFill/>
        </p:spPr>
      </p:pic>
      <p:cxnSp>
        <p:nvCxnSpPr>
          <p:cNvPr id="17" name="Gerade Verbindung mit Pfeil 16"/>
          <p:cNvCxnSpPr/>
          <p:nvPr/>
        </p:nvCxnSpPr>
        <p:spPr>
          <a:xfrm>
            <a:off x="1547664" y="2067694"/>
            <a:ext cx="0" cy="360040"/>
          </a:xfrm>
          <a:prstGeom prst="straightConnector1">
            <a:avLst/>
          </a:prstGeom>
          <a:noFill/>
          <a:ln>
            <a:solidFill>
              <a:schemeClr val="tx2"/>
            </a:solidFill>
            <a:headEnd type="triangle" w="med" len="med"/>
            <a:tailEnd type="none" w="med" len="med"/>
          </a:ln>
        </p:spPr>
        <p:style>
          <a:lnRef idx="2">
            <a:schemeClr val="accent1">
              <a:shade val="50000"/>
            </a:schemeClr>
          </a:lnRef>
          <a:fillRef idx="1">
            <a:schemeClr val="accent1"/>
          </a:fillRef>
          <a:effectRef idx="0">
            <a:schemeClr val="accent1"/>
          </a:effectRef>
          <a:fontRef idx="minor">
            <a:schemeClr val="lt1"/>
          </a:fontRef>
        </p:style>
      </p:cxnSp>
      <p:cxnSp>
        <p:nvCxnSpPr>
          <p:cNvPr id="18" name="Gerade Verbindung mit Pfeil 17"/>
          <p:cNvCxnSpPr/>
          <p:nvPr/>
        </p:nvCxnSpPr>
        <p:spPr>
          <a:xfrm>
            <a:off x="1854364" y="1972826"/>
            <a:ext cx="360040" cy="0"/>
          </a:xfrm>
          <a:prstGeom prst="straightConnector1">
            <a:avLst/>
          </a:prstGeom>
          <a:noFill/>
          <a:ln>
            <a:solidFill>
              <a:srgbClr val="C00000"/>
            </a:solidFill>
            <a:headEnd type="triangle" w="med" len="med"/>
            <a:tailEnd type="none" w="med" len="med"/>
          </a:ln>
        </p:spPr>
        <p:style>
          <a:lnRef idx="2">
            <a:schemeClr val="accent1">
              <a:shade val="50000"/>
            </a:schemeClr>
          </a:lnRef>
          <a:fillRef idx="1">
            <a:schemeClr val="accent1"/>
          </a:fillRef>
          <a:effectRef idx="0">
            <a:schemeClr val="accent1"/>
          </a:effectRef>
          <a:fontRef idx="minor">
            <a:schemeClr val="lt1"/>
          </a:fontRef>
        </p:style>
      </p:cxnSp>
      <p:cxnSp>
        <p:nvCxnSpPr>
          <p:cNvPr id="19" name="Gerade Verbindung mit Pfeil 18"/>
          <p:cNvCxnSpPr/>
          <p:nvPr/>
        </p:nvCxnSpPr>
        <p:spPr>
          <a:xfrm>
            <a:off x="1854364" y="2529458"/>
            <a:ext cx="360040" cy="0"/>
          </a:xfrm>
          <a:prstGeom prst="straightConnector1">
            <a:avLst/>
          </a:prstGeom>
          <a:noFill/>
          <a:ln>
            <a:solidFill>
              <a:srgbClr val="C00000"/>
            </a:solidFill>
            <a:headEnd type="triangle" w="med" len="med"/>
            <a:tailEnd type="none" w="med" len="med"/>
          </a:ln>
        </p:spPr>
        <p:style>
          <a:lnRef idx="2">
            <a:schemeClr val="accent1">
              <a:shade val="50000"/>
            </a:schemeClr>
          </a:lnRef>
          <a:fillRef idx="1">
            <a:schemeClr val="accent1"/>
          </a:fillRef>
          <a:effectRef idx="0">
            <a:schemeClr val="accent1"/>
          </a:effectRef>
          <a:fontRef idx="minor">
            <a:schemeClr val="lt1"/>
          </a:fontRef>
        </p:style>
      </p:cxnSp>
      <p:cxnSp>
        <p:nvCxnSpPr>
          <p:cNvPr id="20" name="Gerade Verbindung mit Pfeil 19"/>
          <p:cNvCxnSpPr/>
          <p:nvPr/>
        </p:nvCxnSpPr>
        <p:spPr>
          <a:xfrm>
            <a:off x="2476148" y="2067694"/>
            <a:ext cx="0" cy="360040"/>
          </a:xfrm>
          <a:prstGeom prst="straightConnector1">
            <a:avLst/>
          </a:prstGeom>
          <a:noFill/>
          <a:ln>
            <a:solidFill>
              <a:schemeClr val="tx2"/>
            </a:solidFill>
            <a:headEnd type="triangle" w="med" len="med"/>
            <a:tailEnd type="none" w="med" len="med"/>
          </a:ln>
        </p:spPr>
        <p:style>
          <a:lnRef idx="2">
            <a:schemeClr val="accent1">
              <a:shade val="50000"/>
            </a:schemeClr>
          </a:lnRef>
          <a:fillRef idx="1">
            <a:schemeClr val="accent1"/>
          </a:fillRef>
          <a:effectRef idx="0">
            <a:schemeClr val="accent1"/>
          </a:effectRef>
          <a:fontRef idx="minor">
            <a:schemeClr val="lt1"/>
          </a:fontRef>
        </p:style>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9"/>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2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en-US" dirty="0"/>
              <a:t>… and that the Hawk-Dove game has two Nash </a:t>
            </a:r>
            <a:r>
              <a:rPr lang="en-US" dirty="0" err="1"/>
              <a:t>equilibria</a:t>
            </a:r>
            <a:r>
              <a:rPr lang="en-US" dirty="0"/>
              <a:t> in pure strategies</a:t>
            </a:r>
          </a:p>
        </p:txBody>
      </p:sp>
      <p:graphicFrame>
        <p:nvGraphicFramePr>
          <p:cNvPr id="3" name="Tabelle 2"/>
          <p:cNvGraphicFramePr>
            <a:graphicFrameLocks noGrp="1"/>
          </p:cNvGraphicFramePr>
          <p:nvPr>
            <p:custDataLst>
              <p:tags r:id="rId1"/>
            </p:custDataLst>
          </p:nvPr>
        </p:nvGraphicFramePr>
        <p:xfrm>
          <a:off x="251521" y="1131590"/>
          <a:ext cx="2664297" cy="1656183"/>
        </p:xfrm>
        <a:graphic>
          <a:graphicData uri="http://schemas.openxmlformats.org/drawingml/2006/table">
            <a:tbl>
              <a:tblPr firstRow="1" bandRow="1">
                <a:tableStyleId>{5C22544A-7EE6-4342-B048-85BDC9FD1C3A}</a:tableStyleId>
              </a:tblPr>
              <a:tblGrid>
                <a:gridCol w="888099">
                  <a:extLst>
                    <a:ext uri="{9D8B030D-6E8A-4147-A177-3AD203B41FA5}">
                      <a16:colId xmlns:a16="http://schemas.microsoft.com/office/drawing/2014/main" val="20000"/>
                    </a:ext>
                  </a:extLst>
                </a:gridCol>
                <a:gridCol w="888099">
                  <a:extLst>
                    <a:ext uri="{9D8B030D-6E8A-4147-A177-3AD203B41FA5}">
                      <a16:colId xmlns:a16="http://schemas.microsoft.com/office/drawing/2014/main" val="20001"/>
                    </a:ext>
                  </a:extLst>
                </a:gridCol>
                <a:gridCol w="888099">
                  <a:extLst>
                    <a:ext uri="{9D8B030D-6E8A-4147-A177-3AD203B41FA5}">
                      <a16:colId xmlns:a16="http://schemas.microsoft.com/office/drawing/2014/main" val="20002"/>
                    </a:ext>
                  </a:extLst>
                </a:gridCol>
              </a:tblGrid>
              <a:tr h="552061">
                <a:tc>
                  <a:txBody>
                    <a:bodyPr/>
                    <a:lstStyle/>
                    <a:p>
                      <a:pPr algn="ctr"/>
                      <a:r>
                        <a:rPr lang="en-US" sz="1400" b="0" dirty="0">
                          <a:solidFill>
                            <a:schemeClr val="tx1"/>
                          </a:solidFill>
                        </a:rPr>
                        <a:t>player</a:t>
                      </a:r>
                      <a:br>
                        <a:rPr lang="en-US" sz="1400" b="0" dirty="0">
                          <a:solidFill>
                            <a:schemeClr val="tx1"/>
                          </a:solidFill>
                        </a:rPr>
                      </a:br>
                      <a:r>
                        <a:rPr lang="en-US" sz="1400" b="0" dirty="0">
                          <a:solidFill>
                            <a:schemeClr val="tx2"/>
                          </a:solidFill>
                        </a:rPr>
                        <a:t>A</a:t>
                      </a:r>
                      <a:r>
                        <a:rPr lang="en-US" sz="1400" b="0" dirty="0">
                          <a:solidFill>
                            <a:schemeClr val="tx1"/>
                          </a:solidFill>
                        </a:rPr>
                        <a:t>           </a:t>
                      </a:r>
                      <a:r>
                        <a:rPr lang="en-US" sz="1400" b="0" dirty="0">
                          <a:solidFill>
                            <a:srgbClr val="C00000"/>
                          </a:solidFill>
                        </a:rPr>
                        <a:t>B</a:t>
                      </a:r>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400" b="0" dirty="0">
                          <a:solidFill>
                            <a:srgbClr val="C00000"/>
                          </a:solidFill>
                        </a:rPr>
                        <a:t>Hawk</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400" b="0" dirty="0">
                          <a:solidFill>
                            <a:srgbClr val="C00000"/>
                          </a:solidFill>
                        </a:rPr>
                        <a:t>Dove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0"/>
                  </a:ext>
                </a:extLst>
              </a:tr>
              <a:tr h="552061">
                <a:tc>
                  <a:txBody>
                    <a:bodyPr/>
                    <a:lstStyle/>
                    <a:p>
                      <a:pPr algn="ctr"/>
                      <a:r>
                        <a:rPr lang="en-US" sz="1400" dirty="0">
                          <a:solidFill>
                            <a:schemeClr val="tx2"/>
                          </a:solidFill>
                        </a:rPr>
                        <a:t>Hawk</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400" b="0" dirty="0">
                          <a:solidFill>
                            <a:schemeClr val="tx1"/>
                          </a:solidFill>
                        </a:rPr>
                        <a:t>(-</a:t>
                      </a:r>
                      <a:r>
                        <a:rPr lang="en-US" sz="1400" b="0" dirty="0">
                          <a:solidFill>
                            <a:schemeClr val="tx2"/>
                          </a:solidFill>
                        </a:rPr>
                        <a:t>1</a:t>
                      </a:r>
                      <a:r>
                        <a:rPr lang="en-US" sz="1400" b="0" dirty="0">
                          <a:solidFill>
                            <a:schemeClr val="tx1"/>
                          </a:solidFill>
                        </a:rPr>
                        <a:t>, -</a:t>
                      </a:r>
                      <a:r>
                        <a:rPr lang="en-US" sz="1400" b="0" dirty="0">
                          <a:solidFill>
                            <a:srgbClr val="C00000"/>
                          </a:solidFill>
                        </a:rPr>
                        <a:t>1</a:t>
                      </a:r>
                      <a:r>
                        <a:rPr lang="en-US" sz="1400" b="0" dirty="0">
                          <a:solidFill>
                            <a:schemeClr val="tx1"/>
                          </a:solidFill>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400" b="0" dirty="0">
                          <a:solidFill>
                            <a:schemeClr val="tx1"/>
                          </a:solidFill>
                        </a:rPr>
                        <a:t>(</a:t>
                      </a:r>
                      <a:r>
                        <a:rPr lang="en-US" sz="1400" b="0" dirty="0">
                          <a:solidFill>
                            <a:schemeClr val="tx2"/>
                          </a:solidFill>
                        </a:rPr>
                        <a:t>6</a:t>
                      </a:r>
                      <a:r>
                        <a:rPr lang="en-US" sz="1400" b="0" dirty="0">
                          <a:solidFill>
                            <a:schemeClr val="tx1"/>
                          </a:solidFill>
                        </a:rPr>
                        <a:t>, </a:t>
                      </a:r>
                      <a:r>
                        <a:rPr lang="en-US" sz="1400" b="0" dirty="0">
                          <a:solidFill>
                            <a:srgbClr val="C00000"/>
                          </a:solidFill>
                        </a:rPr>
                        <a:t>0</a:t>
                      </a:r>
                      <a:r>
                        <a:rPr lang="en-US" sz="1400" b="0" dirty="0">
                          <a:solidFill>
                            <a:schemeClr val="tx1"/>
                          </a:solidFill>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extLst>
                  <a:ext uri="{0D108BD9-81ED-4DB2-BD59-A6C34878D82A}">
                    <a16:rowId xmlns:a16="http://schemas.microsoft.com/office/drawing/2014/main" val="10001"/>
                  </a:ext>
                </a:extLst>
              </a:tr>
              <a:tr h="552061">
                <a:tc>
                  <a:txBody>
                    <a:bodyPr/>
                    <a:lstStyle/>
                    <a:p>
                      <a:pPr algn="ctr"/>
                      <a:r>
                        <a:rPr lang="en-US" sz="1400" dirty="0">
                          <a:solidFill>
                            <a:schemeClr val="tx2"/>
                          </a:solidFill>
                        </a:rPr>
                        <a:t>Dove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400" b="0" dirty="0">
                          <a:solidFill>
                            <a:schemeClr val="tx1"/>
                          </a:solidFill>
                        </a:rPr>
                        <a:t>(</a:t>
                      </a:r>
                      <a:r>
                        <a:rPr lang="en-US" sz="1400" b="0" dirty="0">
                          <a:solidFill>
                            <a:schemeClr val="tx2"/>
                          </a:solidFill>
                        </a:rPr>
                        <a:t>0</a:t>
                      </a:r>
                      <a:r>
                        <a:rPr lang="en-US" sz="1400" b="0" dirty="0">
                          <a:solidFill>
                            <a:schemeClr val="tx1"/>
                          </a:solidFill>
                        </a:rPr>
                        <a:t>, </a:t>
                      </a:r>
                      <a:r>
                        <a:rPr lang="en-US" sz="1400" b="0" dirty="0">
                          <a:solidFill>
                            <a:srgbClr val="C00000"/>
                          </a:solidFill>
                        </a:rPr>
                        <a:t>6</a:t>
                      </a:r>
                      <a:r>
                        <a:rPr lang="en-US" sz="1400" b="0" dirty="0">
                          <a:solidFill>
                            <a:schemeClr val="tx1"/>
                          </a:solidFill>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400" b="0" dirty="0">
                          <a:solidFill>
                            <a:schemeClr val="tx1"/>
                          </a:solidFill>
                        </a:rPr>
                        <a:t>(</a:t>
                      </a:r>
                      <a:r>
                        <a:rPr lang="en-US" sz="1400" b="0" dirty="0">
                          <a:solidFill>
                            <a:schemeClr val="tx2"/>
                          </a:solidFill>
                        </a:rPr>
                        <a:t>2</a:t>
                      </a:r>
                      <a:r>
                        <a:rPr lang="en-US" sz="1400" b="0" dirty="0">
                          <a:solidFill>
                            <a:schemeClr val="tx1"/>
                          </a:solidFill>
                        </a:rPr>
                        <a:t>, </a:t>
                      </a:r>
                      <a:r>
                        <a:rPr lang="en-US" sz="1400" b="0" dirty="0">
                          <a:solidFill>
                            <a:srgbClr val="C00000"/>
                          </a:solidFill>
                        </a:rPr>
                        <a:t>2</a:t>
                      </a:r>
                      <a:r>
                        <a:rPr lang="en-US" sz="1400" b="0" dirty="0">
                          <a:solidFill>
                            <a:schemeClr val="tx1"/>
                          </a:solidFill>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2"/>
                  </a:ext>
                </a:extLst>
              </a:tr>
            </a:tbl>
          </a:graphicData>
        </a:graphic>
      </p:graphicFrame>
      <p:sp>
        <p:nvSpPr>
          <p:cNvPr id="4" name="Rechteck 3"/>
          <p:cNvSpPr/>
          <p:nvPr/>
        </p:nvSpPr>
        <p:spPr>
          <a:xfrm>
            <a:off x="3131840" y="1131590"/>
            <a:ext cx="5760640" cy="3888432"/>
          </a:xfrm>
          <a:prstGeom prst="rect">
            <a:avLst/>
          </a:prstGeom>
          <a:noFill/>
          <a:ln>
            <a:solidFill>
              <a:schemeClr val="tx2">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spcAft>
                <a:spcPts val="600"/>
              </a:spcAft>
            </a:pPr>
            <a:r>
              <a:rPr lang="en-US" sz="1400" dirty="0">
                <a:solidFill>
                  <a:schemeClr val="tx1"/>
                </a:solidFill>
              </a:rPr>
              <a:t>It is easy to see that the Hawk-Dove game</a:t>
            </a:r>
            <a:r>
              <a:rPr lang="en-US" sz="500" dirty="0">
                <a:solidFill>
                  <a:schemeClr val="tx1"/>
                </a:solidFill>
              </a:rPr>
              <a:t> </a:t>
            </a:r>
            <a:r>
              <a:rPr lang="en-US" sz="1400" dirty="0">
                <a:solidFill>
                  <a:schemeClr val="tx1"/>
                </a:solidFill>
              </a:rPr>
              <a:t>(on the left-hand side) has</a:t>
            </a:r>
          </a:p>
          <a:p>
            <a:pPr marL="182563" indent="-182563">
              <a:spcAft>
                <a:spcPts val="600"/>
              </a:spcAft>
              <a:buFont typeface="Arial" pitchFamily="34" charset="0"/>
              <a:buChar char="•"/>
            </a:pPr>
            <a:r>
              <a:rPr lang="en-US" sz="1400" dirty="0">
                <a:solidFill>
                  <a:schemeClr val="tx1"/>
                </a:solidFill>
              </a:rPr>
              <a:t>no equilibrium in strictly dominant strategies, and</a:t>
            </a:r>
          </a:p>
          <a:p>
            <a:pPr marL="182563" indent="-182563">
              <a:spcAft>
                <a:spcPts val="600"/>
              </a:spcAft>
              <a:buFont typeface="Arial" pitchFamily="34" charset="0"/>
              <a:buChar char="•"/>
            </a:pPr>
            <a:r>
              <a:rPr lang="en-US" sz="1400" dirty="0">
                <a:solidFill>
                  <a:schemeClr val="tx1"/>
                </a:solidFill>
              </a:rPr>
              <a:t>two Nash-</a:t>
            </a:r>
            <a:r>
              <a:rPr lang="en-US" sz="1400" dirty="0" err="1">
                <a:solidFill>
                  <a:schemeClr val="tx1"/>
                </a:solidFill>
              </a:rPr>
              <a:t>equilibria</a:t>
            </a:r>
            <a:r>
              <a:rPr lang="en-US" sz="1400" dirty="0">
                <a:solidFill>
                  <a:schemeClr val="tx1"/>
                </a:solidFill>
              </a:rPr>
              <a:t> in pure strategies (hawk, dove) and (dove, hawk)</a:t>
            </a:r>
          </a:p>
          <a:p>
            <a:pPr marL="182563" indent="-182563">
              <a:spcAft>
                <a:spcPts val="600"/>
              </a:spcAft>
            </a:pPr>
            <a:endParaRPr lang="en-US" sz="500" dirty="0">
              <a:solidFill>
                <a:schemeClr val="tx1"/>
              </a:solidFill>
            </a:endParaRPr>
          </a:p>
          <a:p>
            <a:pPr algn="just">
              <a:spcAft>
                <a:spcPts val="600"/>
              </a:spcAft>
            </a:pPr>
            <a:r>
              <a:rPr lang="en-US" sz="1400" dirty="0">
                <a:solidFill>
                  <a:schemeClr val="tx1"/>
                </a:solidFill>
              </a:rPr>
              <a:t>Moreover, one can show – and we will do so in a way in the next sections – that it has a third Nash-equilibrium in mixed strategies. I.e., when the players choose their strategies with a certain probability </a:t>
            </a:r>
            <a:r>
              <a:rPr lang="en-US" sz="1400" i="1" dirty="0">
                <a:solidFill>
                  <a:schemeClr val="tx1"/>
                </a:solidFill>
              </a:rPr>
              <a:t>p</a:t>
            </a:r>
            <a:r>
              <a:rPr lang="en-US" sz="1400" dirty="0">
                <a:solidFill>
                  <a:schemeClr val="tx1"/>
                </a:solidFill>
              </a:rPr>
              <a:t> for “hawk” and 1-</a:t>
            </a:r>
            <a:r>
              <a:rPr lang="en-US" sz="1400" i="1" dirty="0">
                <a:solidFill>
                  <a:schemeClr val="tx1"/>
                </a:solidFill>
              </a:rPr>
              <a:t>p</a:t>
            </a:r>
            <a:r>
              <a:rPr lang="en-US" sz="1400" dirty="0">
                <a:solidFill>
                  <a:schemeClr val="tx1"/>
                </a:solidFill>
              </a:rPr>
              <a:t> for “dove”.</a:t>
            </a:r>
          </a:p>
          <a:p>
            <a:pPr algn="just">
              <a:spcAft>
                <a:spcPts val="600"/>
              </a:spcAft>
            </a:pPr>
            <a:endParaRPr lang="en-US" sz="500" dirty="0">
              <a:solidFill>
                <a:schemeClr val="tx1"/>
              </a:solidFill>
            </a:endParaRPr>
          </a:p>
          <a:p>
            <a:pPr algn="just">
              <a:spcAft>
                <a:spcPts val="600"/>
              </a:spcAft>
            </a:pPr>
            <a:r>
              <a:rPr lang="en-US" sz="1400" dirty="0">
                <a:solidFill>
                  <a:schemeClr val="tx1"/>
                </a:solidFill>
              </a:rPr>
              <a:t>From this short piece of information, you already see that is a delicate issue of finding the “right” equilibrium concept when there is more than one equilibrium to choose from. </a:t>
            </a:r>
            <a:r>
              <a:rPr lang="en-US" sz="1400" b="1" dirty="0">
                <a:solidFill>
                  <a:schemeClr val="tx1"/>
                </a:solidFill>
              </a:rPr>
              <a:t>Therefore, we next introduce evolutionary fitness as the test an equilibrium must stand.</a:t>
            </a:r>
          </a:p>
          <a:p>
            <a:pPr algn="just">
              <a:spcAft>
                <a:spcPts val="600"/>
              </a:spcAft>
            </a:pPr>
            <a:endParaRPr lang="en-US" sz="500" dirty="0">
              <a:solidFill>
                <a:schemeClr val="tx1"/>
              </a:solidFill>
            </a:endParaRPr>
          </a:p>
          <a:p>
            <a:pPr algn="just">
              <a:spcAft>
                <a:spcPts val="600"/>
              </a:spcAft>
            </a:pPr>
            <a:r>
              <a:rPr lang="en-US" sz="1400" dirty="0">
                <a:solidFill>
                  <a:schemeClr val="tx1"/>
                </a:solidFill>
              </a:rPr>
              <a:t>One can also show that the Prisoner’s Dilemma has no Nash equilibrium in mixed strategies.</a:t>
            </a:r>
          </a:p>
        </p:txBody>
      </p:sp>
      <p:sp>
        <p:nvSpPr>
          <p:cNvPr id="5" name="Rechteck 4"/>
          <p:cNvSpPr/>
          <p:nvPr/>
        </p:nvSpPr>
        <p:spPr>
          <a:xfrm>
            <a:off x="251520" y="3075806"/>
            <a:ext cx="216024" cy="144016"/>
          </a:xfrm>
          <a:prstGeom prst="rect">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feld 5"/>
          <p:cNvSpPr txBox="1"/>
          <p:nvPr/>
        </p:nvSpPr>
        <p:spPr>
          <a:xfrm>
            <a:off x="467544" y="3003798"/>
            <a:ext cx="2373983" cy="276999"/>
          </a:xfrm>
          <a:prstGeom prst="rect">
            <a:avLst/>
          </a:prstGeom>
          <a:noFill/>
        </p:spPr>
        <p:txBody>
          <a:bodyPr wrap="none" rtlCol="0">
            <a:spAutoFit/>
          </a:bodyPr>
          <a:lstStyle/>
          <a:p>
            <a:r>
              <a:rPr lang="en-US" sz="1200" dirty="0"/>
              <a:t>Nash-equilibrium in pure strategies</a:t>
            </a:r>
          </a:p>
        </p:txBody>
      </p:sp>
      <p:sp>
        <p:nvSpPr>
          <p:cNvPr id="7" name="Rechteck 6"/>
          <p:cNvSpPr/>
          <p:nvPr/>
        </p:nvSpPr>
        <p:spPr>
          <a:xfrm>
            <a:off x="251520" y="4011910"/>
            <a:ext cx="1440160" cy="1008112"/>
          </a:xfrm>
          <a:prstGeom prst="rect">
            <a:avLst/>
          </a:prstGeom>
          <a:solidFill>
            <a:schemeClr val="tx2">
              <a:lumMod val="20000"/>
              <a:lumOff val="80000"/>
            </a:schemeClr>
          </a:solidFill>
          <a:ln>
            <a:solidFill>
              <a:schemeClr val="tx2">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dirty="0">
              <a:solidFill>
                <a:schemeClr val="tx1"/>
              </a:solidFill>
            </a:endParaRPr>
          </a:p>
          <a:p>
            <a:pPr algn="ctr"/>
            <a:endParaRPr lang="en-US" sz="1200" dirty="0">
              <a:solidFill>
                <a:schemeClr val="tx1"/>
              </a:solidFill>
            </a:endParaRPr>
          </a:p>
          <a:p>
            <a:pPr algn="ctr"/>
            <a:endParaRPr lang="en-US" sz="1200" dirty="0">
              <a:solidFill>
                <a:schemeClr val="tx1"/>
              </a:solidFill>
            </a:endParaRPr>
          </a:p>
          <a:p>
            <a:pPr algn="ctr"/>
            <a:r>
              <a:rPr lang="en-US" sz="1200" dirty="0">
                <a:solidFill>
                  <a:schemeClr val="tx1"/>
                </a:solidFill>
              </a:rPr>
              <a:t>Hawk-Dove</a:t>
            </a:r>
          </a:p>
          <a:p>
            <a:pPr algn="ctr"/>
            <a:r>
              <a:rPr lang="en-US" sz="1200" dirty="0">
                <a:solidFill>
                  <a:schemeClr val="tx1"/>
                </a:solidFill>
              </a:rPr>
              <a:t>payoff matrix</a:t>
            </a:r>
          </a:p>
        </p:txBody>
      </p:sp>
      <p:grpSp>
        <p:nvGrpSpPr>
          <p:cNvPr id="8" name="Gruppieren 38"/>
          <p:cNvGrpSpPr/>
          <p:nvPr/>
        </p:nvGrpSpPr>
        <p:grpSpPr>
          <a:xfrm>
            <a:off x="430659" y="4083918"/>
            <a:ext cx="468933" cy="429357"/>
            <a:chOff x="7452320" y="1131590"/>
            <a:chExt cx="1440160" cy="1318616"/>
          </a:xfrm>
        </p:grpSpPr>
        <p:sp>
          <p:nvSpPr>
            <p:cNvPr id="10" name="Rechteck 9"/>
            <p:cNvSpPr/>
            <p:nvPr/>
          </p:nvSpPr>
          <p:spPr>
            <a:xfrm>
              <a:off x="7452320" y="1131590"/>
              <a:ext cx="1440160" cy="1296144"/>
            </a:xfrm>
            <a:prstGeom prst="rect">
              <a:avLst/>
            </a:prstGeom>
            <a:solidFill>
              <a:schemeClr val="tx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1" name="Picture 4" descr="Falke vogel tierform | Kostenlose Icon"/>
            <p:cNvPicPr>
              <a:picLocks noChangeAspect="1" noChangeArrowheads="1"/>
            </p:cNvPicPr>
            <p:nvPr/>
          </p:nvPicPr>
          <p:blipFill>
            <a:blip r:embed="rId3" cstate="print"/>
            <a:srcRect/>
            <a:stretch>
              <a:fillRect/>
            </a:stretch>
          </p:blipFill>
          <p:spPr bwMode="auto">
            <a:xfrm rot="20243383" flipH="1">
              <a:off x="7503272" y="1182543"/>
              <a:ext cx="1267663" cy="1267663"/>
            </a:xfrm>
            <a:prstGeom prst="rect">
              <a:avLst/>
            </a:prstGeom>
            <a:noFill/>
          </p:spPr>
        </p:pic>
      </p:grpSp>
      <p:grpSp>
        <p:nvGrpSpPr>
          <p:cNvPr id="9" name="Gruppieren 18"/>
          <p:cNvGrpSpPr/>
          <p:nvPr/>
        </p:nvGrpSpPr>
        <p:grpSpPr>
          <a:xfrm>
            <a:off x="1035988" y="4055239"/>
            <a:ext cx="468934" cy="445487"/>
            <a:chOff x="251520" y="1059582"/>
            <a:chExt cx="1440160" cy="1368152"/>
          </a:xfrm>
        </p:grpSpPr>
        <p:sp>
          <p:nvSpPr>
            <p:cNvPr id="13" name="Rechteck 12"/>
            <p:cNvSpPr/>
            <p:nvPr/>
          </p:nvSpPr>
          <p:spPr>
            <a:xfrm>
              <a:off x="251520" y="1131590"/>
              <a:ext cx="1440160" cy="1296144"/>
            </a:xfrm>
            <a:prstGeom prst="rect">
              <a:avLst/>
            </a:prstGeom>
            <a:solidFill>
              <a:schemeClr val="tx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4" name="Picture 6" descr="Bird Silhouettes | Bird silhouette, Silhouette, Owl silhouette"/>
            <p:cNvPicPr>
              <a:picLocks noChangeAspect="1" noChangeArrowheads="1"/>
            </p:cNvPicPr>
            <p:nvPr/>
          </p:nvPicPr>
          <p:blipFill>
            <a:blip r:embed="rId4" cstate="print"/>
            <a:srcRect/>
            <a:stretch>
              <a:fillRect/>
            </a:stretch>
          </p:blipFill>
          <p:spPr bwMode="auto">
            <a:xfrm>
              <a:off x="395536" y="1059582"/>
              <a:ext cx="1080120" cy="1339939"/>
            </a:xfrm>
            <a:prstGeom prst="rect">
              <a:avLst/>
            </a:prstGeom>
            <a:noFill/>
          </p:spPr>
        </p:pic>
      </p:grpSp>
      <p:cxnSp>
        <p:nvCxnSpPr>
          <p:cNvPr id="15" name="Gerade Verbindung mit Pfeil 14"/>
          <p:cNvCxnSpPr/>
          <p:nvPr/>
        </p:nvCxnSpPr>
        <p:spPr>
          <a:xfrm>
            <a:off x="1578144" y="2090554"/>
            <a:ext cx="0" cy="360040"/>
          </a:xfrm>
          <a:prstGeom prst="straightConnector1">
            <a:avLst/>
          </a:prstGeom>
          <a:noFill/>
          <a:ln>
            <a:solidFill>
              <a:schemeClr val="tx2"/>
            </a:solidFill>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cxnSp>
      <p:cxnSp>
        <p:nvCxnSpPr>
          <p:cNvPr id="16" name="Gerade Verbindung mit Pfeil 15"/>
          <p:cNvCxnSpPr/>
          <p:nvPr/>
        </p:nvCxnSpPr>
        <p:spPr>
          <a:xfrm>
            <a:off x="1884844" y="1972826"/>
            <a:ext cx="360040" cy="0"/>
          </a:xfrm>
          <a:prstGeom prst="straightConnector1">
            <a:avLst/>
          </a:prstGeom>
          <a:noFill/>
          <a:ln>
            <a:solidFill>
              <a:srgbClr val="C00000"/>
            </a:solidFill>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cxnSp>
      <p:cxnSp>
        <p:nvCxnSpPr>
          <p:cNvPr id="17" name="Gerade Verbindung mit Pfeil 16"/>
          <p:cNvCxnSpPr/>
          <p:nvPr/>
        </p:nvCxnSpPr>
        <p:spPr>
          <a:xfrm>
            <a:off x="1835696" y="2526030"/>
            <a:ext cx="360040" cy="0"/>
          </a:xfrm>
          <a:prstGeom prst="straightConnector1">
            <a:avLst/>
          </a:prstGeom>
          <a:noFill/>
          <a:ln>
            <a:solidFill>
              <a:srgbClr val="C00000"/>
            </a:solidFill>
            <a:headEnd type="triangle" w="med" len="med"/>
            <a:tailEnd type="none" w="med" len="med"/>
          </a:ln>
        </p:spPr>
        <p:style>
          <a:lnRef idx="2">
            <a:schemeClr val="accent1">
              <a:shade val="50000"/>
            </a:schemeClr>
          </a:lnRef>
          <a:fillRef idx="1">
            <a:schemeClr val="accent1"/>
          </a:fillRef>
          <a:effectRef idx="0">
            <a:schemeClr val="accent1"/>
          </a:effectRef>
          <a:fontRef idx="minor">
            <a:schemeClr val="lt1"/>
          </a:fontRef>
        </p:style>
      </p:cxnSp>
      <p:cxnSp>
        <p:nvCxnSpPr>
          <p:cNvPr id="18" name="Gerade Verbindung mit Pfeil 17"/>
          <p:cNvCxnSpPr/>
          <p:nvPr/>
        </p:nvCxnSpPr>
        <p:spPr>
          <a:xfrm>
            <a:off x="2442240" y="2067694"/>
            <a:ext cx="0" cy="360040"/>
          </a:xfrm>
          <a:prstGeom prst="straightConnector1">
            <a:avLst/>
          </a:prstGeom>
          <a:noFill/>
          <a:ln>
            <a:solidFill>
              <a:schemeClr val="tx2"/>
            </a:solidFill>
            <a:headEnd type="triangle" w="med" len="med"/>
            <a:tailEnd type="none" w="med" len="med"/>
          </a:ln>
        </p:spPr>
        <p:style>
          <a:lnRef idx="2">
            <a:schemeClr val="accent1">
              <a:shade val="50000"/>
            </a:schemeClr>
          </a:lnRef>
          <a:fillRef idx="1">
            <a:schemeClr val="accent1"/>
          </a:fillRef>
          <a:effectRef idx="0">
            <a:schemeClr val="accent1"/>
          </a:effectRef>
          <a:fontRef idx="minor">
            <a:schemeClr val="lt1"/>
          </a:fontRef>
        </p:style>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6"/>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5"/>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7"/>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en-US" dirty="0"/>
              <a:t>Finally, we switch from payoffs to utilities. Utilities indicate the usefulness of the outcome on an ordinal basis</a:t>
            </a:r>
          </a:p>
        </p:txBody>
      </p:sp>
      <p:graphicFrame>
        <p:nvGraphicFramePr>
          <p:cNvPr id="8" name="Tabelle 7"/>
          <p:cNvGraphicFramePr>
            <a:graphicFrameLocks noGrp="1"/>
          </p:cNvGraphicFramePr>
          <p:nvPr>
            <p:custDataLst>
              <p:tags r:id="rId1"/>
            </p:custDataLst>
          </p:nvPr>
        </p:nvGraphicFramePr>
        <p:xfrm>
          <a:off x="251521" y="1851670"/>
          <a:ext cx="2664297" cy="1656183"/>
        </p:xfrm>
        <a:graphic>
          <a:graphicData uri="http://schemas.openxmlformats.org/drawingml/2006/table">
            <a:tbl>
              <a:tblPr firstRow="1" bandRow="1">
                <a:tableStyleId>{5C22544A-7EE6-4342-B048-85BDC9FD1C3A}</a:tableStyleId>
              </a:tblPr>
              <a:tblGrid>
                <a:gridCol w="888099">
                  <a:extLst>
                    <a:ext uri="{9D8B030D-6E8A-4147-A177-3AD203B41FA5}">
                      <a16:colId xmlns:a16="http://schemas.microsoft.com/office/drawing/2014/main" val="20000"/>
                    </a:ext>
                  </a:extLst>
                </a:gridCol>
                <a:gridCol w="888099">
                  <a:extLst>
                    <a:ext uri="{9D8B030D-6E8A-4147-A177-3AD203B41FA5}">
                      <a16:colId xmlns:a16="http://schemas.microsoft.com/office/drawing/2014/main" val="20001"/>
                    </a:ext>
                  </a:extLst>
                </a:gridCol>
                <a:gridCol w="888099">
                  <a:extLst>
                    <a:ext uri="{9D8B030D-6E8A-4147-A177-3AD203B41FA5}">
                      <a16:colId xmlns:a16="http://schemas.microsoft.com/office/drawing/2014/main" val="20002"/>
                    </a:ext>
                  </a:extLst>
                </a:gridCol>
              </a:tblGrid>
              <a:tr h="552061">
                <a:tc>
                  <a:txBody>
                    <a:bodyPr/>
                    <a:lstStyle/>
                    <a:p>
                      <a:pPr algn="ctr"/>
                      <a:r>
                        <a:rPr lang="en-US" sz="1400" b="0" dirty="0">
                          <a:solidFill>
                            <a:schemeClr val="tx1"/>
                          </a:solidFill>
                        </a:rPr>
                        <a:t>player</a:t>
                      </a:r>
                      <a:br>
                        <a:rPr lang="en-US" sz="1400" b="0" dirty="0">
                          <a:solidFill>
                            <a:schemeClr val="tx1"/>
                          </a:solidFill>
                        </a:rPr>
                      </a:br>
                      <a:r>
                        <a:rPr lang="en-US" sz="1400" b="0" dirty="0">
                          <a:solidFill>
                            <a:schemeClr val="tx2"/>
                          </a:solidFill>
                        </a:rPr>
                        <a:t>A</a:t>
                      </a:r>
                      <a:r>
                        <a:rPr lang="en-US" sz="1400" b="0" dirty="0">
                          <a:solidFill>
                            <a:schemeClr val="tx1"/>
                          </a:solidFill>
                        </a:rPr>
                        <a:t>           </a:t>
                      </a:r>
                      <a:r>
                        <a:rPr lang="en-US" sz="1400" b="0" dirty="0">
                          <a:solidFill>
                            <a:srgbClr val="C00000"/>
                          </a:solidFill>
                        </a:rPr>
                        <a:t>B</a:t>
                      </a:r>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400" b="0" dirty="0">
                          <a:solidFill>
                            <a:srgbClr val="C00000"/>
                          </a:solidFill>
                        </a:rPr>
                        <a:t>Hawk</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400" b="0" dirty="0">
                          <a:solidFill>
                            <a:srgbClr val="C00000"/>
                          </a:solidFill>
                        </a:rPr>
                        <a:t>Dove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0"/>
                  </a:ext>
                </a:extLst>
              </a:tr>
              <a:tr h="552061">
                <a:tc>
                  <a:txBody>
                    <a:bodyPr/>
                    <a:lstStyle/>
                    <a:p>
                      <a:pPr algn="ctr"/>
                      <a:r>
                        <a:rPr lang="en-US" sz="1400" dirty="0">
                          <a:solidFill>
                            <a:schemeClr val="tx2"/>
                          </a:solidFill>
                        </a:rPr>
                        <a:t>Hawk</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400" b="0" dirty="0">
                          <a:solidFill>
                            <a:schemeClr val="tx1"/>
                          </a:solidFill>
                        </a:rPr>
                        <a:t>(-</a:t>
                      </a:r>
                      <a:r>
                        <a:rPr lang="en-US" sz="1400" b="0" dirty="0">
                          <a:solidFill>
                            <a:schemeClr val="tx2"/>
                          </a:solidFill>
                        </a:rPr>
                        <a:t>1</a:t>
                      </a:r>
                      <a:r>
                        <a:rPr lang="en-US" sz="1400" b="0" dirty="0">
                          <a:solidFill>
                            <a:schemeClr val="tx1"/>
                          </a:solidFill>
                        </a:rPr>
                        <a:t>, -</a:t>
                      </a:r>
                      <a:r>
                        <a:rPr lang="en-US" sz="1400" b="0" dirty="0">
                          <a:solidFill>
                            <a:srgbClr val="C00000"/>
                          </a:solidFill>
                        </a:rPr>
                        <a:t>1</a:t>
                      </a:r>
                      <a:r>
                        <a:rPr lang="en-US" sz="1400" b="0" dirty="0">
                          <a:solidFill>
                            <a:schemeClr val="tx1"/>
                          </a:solidFill>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400" b="0" dirty="0">
                          <a:solidFill>
                            <a:schemeClr val="tx1"/>
                          </a:solidFill>
                        </a:rPr>
                        <a:t>(</a:t>
                      </a:r>
                      <a:r>
                        <a:rPr lang="en-US" sz="1400" b="0" dirty="0">
                          <a:solidFill>
                            <a:schemeClr val="tx2"/>
                          </a:solidFill>
                        </a:rPr>
                        <a:t>6</a:t>
                      </a:r>
                      <a:r>
                        <a:rPr lang="en-US" sz="1400" b="0" dirty="0">
                          <a:solidFill>
                            <a:schemeClr val="tx1"/>
                          </a:solidFill>
                        </a:rPr>
                        <a:t>, </a:t>
                      </a:r>
                      <a:r>
                        <a:rPr lang="en-US" sz="1400" b="0" dirty="0">
                          <a:solidFill>
                            <a:srgbClr val="C00000"/>
                          </a:solidFill>
                        </a:rPr>
                        <a:t>0</a:t>
                      </a:r>
                      <a:r>
                        <a:rPr lang="en-US" sz="1400" b="0" dirty="0">
                          <a:solidFill>
                            <a:schemeClr val="tx1"/>
                          </a:solidFill>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1"/>
                  </a:ext>
                </a:extLst>
              </a:tr>
              <a:tr h="552061">
                <a:tc>
                  <a:txBody>
                    <a:bodyPr/>
                    <a:lstStyle/>
                    <a:p>
                      <a:pPr algn="ctr"/>
                      <a:r>
                        <a:rPr lang="en-US" sz="1400" dirty="0">
                          <a:solidFill>
                            <a:schemeClr val="tx2"/>
                          </a:solidFill>
                        </a:rPr>
                        <a:t>Dove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400" b="0" dirty="0">
                          <a:solidFill>
                            <a:schemeClr val="tx1"/>
                          </a:solidFill>
                        </a:rPr>
                        <a:t>(</a:t>
                      </a:r>
                      <a:r>
                        <a:rPr lang="en-US" sz="1400" b="0" dirty="0">
                          <a:solidFill>
                            <a:schemeClr val="tx2"/>
                          </a:solidFill>
                        </a:rPr>
                        <a:t>0</a:t>
                      </a:r>
                      <a:r>
                        <a:rPr lang="en-US" sz="1400" b="0" dirty="0">
                          <a:solidFill>
                            <a:schemeClr val="tx1"/>
                          </a:solidFill>
                        </a:rPr>
                        <a:t>, </a:t>
                      </a:r>
                      <a:r>
                        <a:rPr lang="en-US" sz="1400" b="0" dirty="0">
                          <a:solidFill>
                            <a:srgbClr val="C00000"/>
                          </a:solidFill>
                        </a:rPr>
                        <a:t>6</a:t>
                      </a:r>
                      <a:r>
                        <a:rPr lang="en-US" sz="1400" b="0" dirty="0">
                          <a:solidFill>
                            <a:schemeClr val="tx1"/>
                          </a:solidFill>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400" b="0" dirty="0">
                          <a:solidFill>
                            <a:schemeClr val="tx1"/>
                          </a:solidFill>
                        </a:rPr>
                        <a:t>(</a:t>
                      </a:r>
                      <a:r>
                        <a:rPr lang="en-US" sz="1400" b="0" dirty="0">
                          <a:solidFill>
                            <a:schemeClr val="tx2"/>
                          </a:solidFill>
                        </a:rPr>
                        <a:t>2</a:t>
                      </a:r>
                      <a:r>
                        <a:rPr lang="en-US" sz="1400" b="0" dirty="0">
                          <a:solidFill>
                            <a:schemeClr val="tx1"/>
                          </a:solidFill>
                        </a:rPr>
                        <a:t>, </a:t>
                      </a:r>
                      <a:r>
                        <a:rPr lang="en-US" sz="1400" b="0" dirty="0">
                          <a:solidFill>
                            <a:srgbClr val="C00000"/>
                          </a:solidFill>
                        </a:rPr>
                        <a:t>2</a:t>
                      </a:r>
                      <a:r>
                        <a:rPr lang="en-US" sz="1400" b="0" dirty="0">
                          <a:solidFill>
                            <a:schemeClr val="tx1"/>
                          </a:solidFill>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2"/>
                  </a:ext>
                </a:extLst>
              </a:tr>
            </a:tbl>
          </a:graphicData>
        </a:graphic>
      </p:graphicFrame>
      <p:sp>
        <p:nvSpPr>
          <p:cNvPr id="9" name="Rechteck 8"/>
          <p:cNvSpPr/>
          <p:nvPr/>
        </p:nvSpPr>
        <p:spPr>
          <a:xfrm>
            <a:off x="251520" y="1131590"/>
            <a:ext cx="2664296" cy="576064"/>
          </a:xfrm>
          <a:prstGeom prst="rect">
            <a:avLst/>
          </a:prstGeom>
          <a:solidFill>
            <a:schemeClr val="tx2">
              <a:lumMod val="20000"/>
              <a:lumOff val="80000"/>
            </a:schemeClr>
          </a:solidFill>
          <a:ln>
            <a:solidFill>
              <a:schemeClr val="tx2">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dirty="0">
              <a:solidFill>
                <a:schemeClr val="tx1"/>
              </a:solidFill>
            </a:endParaRPr>
          </a:p>
          <a:p>
            <a:pPr algn="ctr"/>
            <a:endParaRPr lang="en-US" sz="1200" dirty="0">
              <a:solidFill>
                <a:schemeClr val="tx1"/>
              </a:solidFill>
            </a:endParaRPr>
          </a:p>
          <a:p>
            <a:pPr algn="ctr"/>
            <a:endParaRPr lang="en-US" sz="1200" dirty="0">
              <a:solidFill>
                <a:schemeClr val="tx1"/>
              </a:solidFill>
            </a:endParaRPr>
          </a:p>
        </p:txBody>
      </p:sp>
      <p:grpSp>
        <p:nvGrpSpPr>
          <p:cNvPr id="3" name="Gruppieren 38"/>
          <p:cNvGrpSpPr/>
          <p:nvPr/>
        </p:nvGrpSpPr>
        <p:grpSpPr>
          <a:xfrm>
            <a:off x="430659" y="1203598"/>
            <a:ext cx="468933" cy="429357"/>
            <a:chOff x="7452320" y="1131590"/>
            <a:chExt cx="1440160" cy="1318616"/>
          </a:xfrm>
        </p:grpSpPr>
        <p:sp>
          <p:nvSpPr>
            <p:cNvPr id="11" name="Rechteck 10"/>
            <p:cNvSpPr/>
            <p:nvPr/>
          </p:nvSpPr>
          <p:spPr>
            <a:xfrm>
              <a:off x="7452320" y="1131590"/>
              <a:ext cx="1440160" cy="1296144"/>
            </a:xfrm>
            <a:prstGeom prst="rect">
              <a:avLst/>
            </a:prstGeom>
            <a:solidFill>
              <a:schemeClr val="tx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2" name="Picture 4" descr="Falke vogel tierform | Kostenlose Icon"/>
            <p:cNvPicPr>
              <a:picLocks noChangeAspect="1" noChangeArrowheads="1"/>
            </p:cNvPicPr>
            <p:nvPr/>
          </p:nvPicPr>
          <p:blipFill>
            <a:blip r:embed="rId4" cstate="print"/>
            <a:srcRect/>
            <a:stretch>
              <a:fillRect/>
            </a:stretch>
          </p:blipFill>
          <p:spPr bwMode="auto">
            <a:xfrm rot="20243383" flipH="1">
              <a:off x="7503272" y="1182543"/>
              <a:ext cx="1267663" cy="1267663"/>
            </a:xfrm>
            <a:prstGeom prst="rect">
              <a:avLst/>
            </a:prstGeom>
            <a:noFill/>
          </p:spPr>
        </p:pic>
      </p:grpSp>
      <p:grpSp>
        <p:nvGrpSpPr>
          <p:cNvPr id="4" name="Gruppieren 18"/>
          <p:cNvGrpSpPr/>
          <p:nvPr/>
        </p:nvGrpSpPr>
        <p:grpSpPr>
          <a:xfrm>
            <a:off x="1035988" y="1174919"/>
            <a:ext cx="468934" cy="445487"/>
            <a:chOff x="251520" y="1059582"/>
            <a:chExt cx="1440160" cy="1368152"/>
          </a:xfrm>
        </p:grpSpPr>
        <p:sp>
          <p:nvSpPr>
            <p:cNvPr id="14" name="Rechteck 13"/>
            <p:cNvSpPr/>
            <p:nvPr/>
          </p:nvSpPr>
          <p:spPr>
            <a:xfrm>
              <a:off x="251520" y="1131590"/>
              <a:ext cx="1440160" cy="1296144"/>
            </a:xfrm>
            <a:prstGeom prst="rect">
              <a:avLst/>
            </a:prstGeom>
            <a:solidFill>
              <a:schemeClr val="tx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5" name="Picture 6" descr="Bird Silhouettes | Bird silhouette, Silhouette, Owl silhouette"/>
            <p:cNvPicPr>
              <a:picLocks noChangeAspect="1" noChangeArrowheads="1"/>
            </p:cNvPicPr>
            <p:nvPr/>
          </p:nvPicPr>
          <p:blipFill>
            <a:blip r:embed="rId5" cstate="print"/>
            <a:srcRect/>
            <a:stretch>
              <a:fillRect/>
            </a:stretch>
          </p:blipFill>
          <p:spPr bwMode="auto">
            <a:xfrm>
              <a:off x="395536" y="1059582"/>
              <a:ext cx="1080120" cy="1339939"/>
            </a:xfrm>
            <a:prstGeom prst="rect">
              <a:avLst/>
            </a:prstGeom>
            <a:noFill/>
          </p:spPr>
        </p:pic>
      </p:grpSp>
      <p:sp>
        <p:nvSpPr>
          <p:cNvPr id="16" name="Textfeld 15"/>
          <p:cNvSpPr txBox="1"/>
          <p:nvPr/>
        </p:nvSpPr>
        <p:spPr>
          <a:xfrm>
            <a:off x="1763688" y="1203598"/>
            <a:ext cx="1013867" cy="461665"/>
          </a:xfrm>
          <a:prstGeom prst="rect">
            <a:avLst/>
          </a:prstGeom>
          <a:noFill/>
        </p:spPr>
        <p:txBody>
          <a:bodyPr wrap="none" rtlCol="0">
            <a:spAutoFit/>
          </a:bodyPr>
          <a:lstStyle/>
          <a:p>
            <a:pPr algn="ctr"/>
            <a:r>
              <a:rPr lang="en-US" sz="1200" dirty="0"/>
              <a:t>Hawk-Dove</a:t>
            </a:r>
          </a:p>
          <a:p>
            <a:pPr algn="ctr"/>
            <a:r>
              <a:rPr lang="en-US" sz="1200" dirty="0"/>
              <a:t>payoff matrix</a:t>
            </a:r>
          </a:p>
        </p:txBody>
      </p:sp>
      <p:graphicFrame>
        <p:nvGraphicFramePr>
          <p:cNvPr id="17" name="Tabelle 16"/>
          <p:cNvGraphicFramePr>
            <a:graphicFrameLocks noGrp="1"/>
          </p:cNvGraphicFramePr>
          <p:nvPr>
            <p:custDataLst>
              <p:tags r:id="rId2"/>
            </p:custDataLst>
          </p:nvPr>
        </p:nvGraphicFramePr>
        <p:xfrm>
          <a:off x="6228184" y="1851670"/>
          <a:ext cx="2664297" cy="1656183"/>
        </p:xfrm>
        <a:graphic>
          <a:graphicData uri="http://schemas.openxmlformats.org/drawingml/2006/table">
            <a:tbl>
              <a:tblPr firstRow="1" bandRow="1">
                <a:tableStyleId>{5C22544A-7EE6-4342-B048-85BDC9FD1C3A}</a:tableStyleId>
              </a:tblPr>
              <a:tblGrid>
                <a:gridCol w="888099">
                  <a:extLst>
                    <a:ext uri="{9D8B030D-6E8A-4147-A177-3AD203B41FA5}">
                      <a16:colId xmlns:a16="http://schemas.microsoft.com/office/drawing/2014/main" val="20000"/>
                    </a:ext>
                  </a:extLst>
                </a:gridCol>
                <a:gridCol w="888099">
                  <a:extLst>
                    <a:ext uri="{9D8B030D-6E8A-4147-A177-3AD203B41FA5}">
                      <a16:colId xmlns:a16="http://schemas.microsoft.com/office/drawing/2014/main" val="20001"/>
                    </a:ext>
                  </a:extLst>
                </a:gridCol>
                <a:gridCol w="888099">
                  <a:extLst>
                    <a:ext uri="{9D8B030D-6E8A-4147-A177-3AD203B41FA5}">
                      <a16:colId xmlns:a16="http://schemas.microsoft.com/office/drawing/2014/main" val="20002"/>
                    </a:ext>
                  </a:extLst>
                </a:gridCol>
              </a:tblGrid>
              <a:tr h="552061">
                <a:tc>
                  <a:txBody>
                    <a:bodyPr/>
                    <a:lstStyle/>
                    <a:p>
                      <a:pPr algn="ctr"/>
                      <a:r>
                        <a:rPr lang="en-US" sz="1400" b="0" dirty="0">
                          <a:solidFill>
                            <a:schemeClr val="tx1"/>
                          </a:solidFill>
                        </a:rPr>
                        <a:t>player</a:t>
                      </a:r>
                      <a:br>
                        <a:rPr lang="en-US" sz="1400" b="0" dirty="0">
                          <a:solidFill>
                            <a:schemeClr val="tx1"/>
                          </a:solidFill>
                        </a:rPr>
                      </a:br>
                      <a:r>
                        <a:rPr lang="en-US" sz="1400" b="0" dirty="0">
                          <a:solidFill>
                            <a:schemeClr val="tx2"/>
                          </a:solidFill>
                        </a:rPr>
                        <a:t>A</a:t>
                      </a:r>
                      <a:r>
                        <a:rPr lang="en-US" sz="1400" b="0" dirty="0">
                          <a:solidFill>
                            <a:schemeClr val="tx1"/>
                          </a:solidFill>
                        </a:rPr>
                        <a:t>           </a:t>
                      </a:r>
                      <a:r>
                        <a:rPr lang="en-US" sz="1400" b="0" dirty="0">
                          <a:solidFill>
                            <a:srgbClr val="C00000"/>
                          </a:solidFill>
                        </a:rPr>
                        <a:t>B</a:t>
                      </a:r>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400" b="0" dirty="0">
                          <a:solidFill>
                            <a:srgbClr val="C00000"/>
                          </a:solidFill>
                        </a:rPr>
                        <a:t>Hawk</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400" b="0" dirty="0">
                          <a:solidFill>
                            <a:srgbClr val="C00000"/>
                          </a:solidFill>
                        </a:rPr>
                        <a:t>Dove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0"/>
                  </a:ext>
                </a:extLst>
              </a:tr>
              <a:tr h="552061">
                <a:tc>
                  <a:txBody>
                    <a:bodyPr/>
                    <a:lstStyle/>
                    <a:p>
                      <a:pPr algn="ctr"/>
                      <a:r>
                        <a:rPr lang="en-US" sz="1400" dirty="0">
                          <a:solidFill>
                            <a:schemeClr val="tx2"/>
                          </a:solidFill>
                        </a:rPr>
                        <a:t>Hawk</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400" b="0" dirty="0">
                          <a:solidFill>
                            <a:schemeClr val="tx1"/>
                          </a:solidFill>
                        </a:rPr>
                        <a:t>(</a:t>
                      </a:r>
                      <a:r>
                        <a:rPr lang="en-US" sz="1400" b="0" dirty="0">
                          <a:solidFill>
                            <a:schemeClr val="tx2"/>
                          </a:solidFill>
                        </a:rPr>
                        <a:t>0</a:t>
                      </a:r>
                      <a:r>
                        <a:rPr lang="en-US" sz="1400" b="0" dirty="0">
                          <a:solidFill>
                            <a:schemeClr val="tx1"/>
                          </a:solidFill>
                        </a:rPr>
                        <a:t>, </a:t>
                      </a:r>
                      <a:r>
                        <a:rPr lang="en-US" sz="1400" b="0" dirty="0">
                          <a:solidFill>
                            <a:srgbClr val="C00000"/>
                          </a:solidFill>
                        </a:rPr>
                        <a:t>0</a:t>
                      </a:r>
                      <a:r>
                        <a:rPr lang="en-US" sz="1400" b="0" dirty="0">
                          <a:solidFill>
                            <a:schemeClr val="tx1"/>
                          </a:solidFill>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400" b="0" dirty="0">
                          <a:solidFill>
                            <a:schemeClr val="tx1"/>
                          </a:solidFill>
                        </a:rPr>
                        <a:t>(</a:t>
                      </a:r>
                      <a:r>
                        <a:rPr lang="en-US" sz="1400" b="0" dirty="0">
                          <a:solidFill>
                            <a:schemeClr val="tx2"/>
                          </a:solidFill>
                        </a:rPr>
                        <a:t>3</a:t>
                      </a:r>
                      <a:r>
                        <a:rPr lang="en-US" sz="1400" b="0" dirty="0">
                          <a:solidFill>
                            <a:schemeClr val="tx1"/>
                          </a:solidFill>
                        </a:rPr>
                        <a:t>, </a:t>
                      </a:r>
                      <a:r>
                        <a:rPr lang="en-US" sz="1400" b="0" dirty="0">
                          <a:solidFill>
                            <a:srgbClr val="C00000"/>
                          </a:solidFill>
                        </a:rPr>
                        <a:t>1</a:t>
                      </a:r>
                      <a:r>
                        <a:rPr lang="en-US" sz="1400" b="0" dirty="0">
                          <a:solidFill>
                            <a:schemeClr val="tx1"/>
                          </a:solidFill>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1"/>
                  </a:ext>
                </a:extLst>
              </a:tr>
              <a:tr h="552061">
                <a:tc>
                  <a:txBody>
                    <a:bodyPr/>
                    <a:lstStyle/>
                    <a:p>
                      <a:pPr algn="ctr"/>
                      <a:r>
                        <a:rPr lang="en-US" sz="1400" dirty="0">
                          <a:solidFill>
                            <a:schemeClr val="tx2"/>
                          </a:solidFill>
                        </a:rPr>
                        <a:t>Dove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400" b="0" dirty="0">
                          <a:solidFill>
                            <a:schemeClr val="tx1"/>
                          </a:solidFill>
                        </a:rPr>
                        <a:t>(</a:t>
                      </a:r>
                      <a:r>
                        <a:rPr lang="en-US" sz="1400" b="0" dirty="0">
                          <a:solidFill>
                            <a:schemeClr val="tx2"/>
                          </a:solidFill>
                        </a:rPr>
                        <a:t>1</a:t>
                      </a:r>
                      <a:r>
                        <a:rPr lang="en-US" sz="1400" b="0" dirty="0">
                          <a:solidFill>
                            <a:schemeClr val="tx1"/>
                          </a:solidFill>
                        </a:rPr>
                        <a:t>, </a:t>
                      </a:r>
                      <a:r>
                        <a:rPr lang="en-US" sz="1400" b="0" dirty="0">
                          <a:solidFill>
                            <a:srgbClr val="C00000"/>
                          </a:solidFill>
                        </a:rPr>
                        <a:t>3</a:t>
                      </a:r>
                      <a:r>
                        <a:rPr lang="en-US" sz="1400" b="0" dirty="0">
                          <a:solidFill>
                            <a:schemeClr val="tx1"/>
                          </a:solidFill>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400" b="0" dirty="0">
                          <a:solidFill>
                            <a:schemeClr val="tx1"/>
                          </a:solidFill>
                        </a:rPr>
                        <a:t>(</a:t>
                      </a:r>
                      <a:r>
                        <a:rPr lang="en-US" sz="1400" b="0" dirty="0">
                          <a:solidFill>
                            <a:schemeClr val="tx2"/>
                          </a:solidFill>
                        </a:rPr>
                        <a:t>2</a:t>
                      </a:r>
                      <a:r>
                        <a:rPr lang="en-US" sz="1400" b="0" dirty="0">
                          <a:solidFill>
                            <a:schemeClr val="tx1"/>
                          </a:solidFill>
                        </a:rPr>
                        <a:t>, </a:t>
                      </a:r>
                      <a:r>
                        <a:rPr lang="en-US" sz="1400" b="0" dirty="0">
                          <a:solidFill>
                            <a:srgbClr val="C00000"/>
                          </a:solidFill>
                        </a:rPr>
                        <a:t>2</a:t>
                      </a:r>
                      <a:r>
                        <a:rPr lang="en-US" sz="1400" b="0" dirty="0">
                          <a:solidFill>
                            <a:schemeClr val="tx1"/>
                          </a:solidFill>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2"/>
                  </a:ext>
                </a:extLst>
              </a:tr>
            </a:tbl>
          </a:graphicData>
        </a:graphic>
      </p:graphicFrame>
      <p:sp>
        <p:nvSpPr>
          <p:cNvPr id="18" name="Rechteck 17"/>
          <p:cNvSpPr/>
          <p:nvPr/>
        </p:nvSpPr>
        <p:spPr>
          <a:xfrm>
            <a:off x="6228183" y="1131590"/>
            <a:ext cx="2664296" cy="576064"/>
          </a:xfrm>
          <a:prstGeom prst="rect">
            <a:avLst/>
          </a:prstGeom>
          <a:solidFill>
            <a:schemeClr val="tx2">
              <a:lumMod val="20000"/>
              <a:lumOff val="80000"/>
            </a:schemeClr>
          </a:solidFill>
          <a:ln>
            <a:solidFill>
              <a:schemeClr val="tx2">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dirty="0">
              <a:solidFill>
                <a:schemeClr val="tx1"/>
              </a:solidFill>
            </a:endParaRPr>
          </a:p>
          <a:p>
            <a:pPr algn="ctr"/>
            <a:endParaRPr lang="en-US" sz="1200" dirty="0">
              <a:solidFill>
                <a:schemeClr val="tx1"/>
              </a:solidFill>
            </a:endParaRPr>
          </a:p>
          <a:p>
            <a:pPr algn="ctr"/>
            <a:endParaRPr lang="en-US" sz="1200" dirty="0">
              <a:solidFill>
                <a:schemeClr val="tx1"/>
              </a:solidFill>
            </a:endParaRPr>
          </a:p>
        </p:txBody>
      </p:sp>
      <p:grpSp>
        <p:nvGrpSpPr>
          <p:cNvPr id="5" name="Gruppieren 38"/>
          <p:cNvGrpSpPr/>
          <p:nvPr/>
        </p:nvGrpSpPr>
        <p:grpSpPr>
          <a:xfrm>
            <a:off x="6407322" y="1203598"/>
            <a:ext cx="468933" cy="429357"/>
            <a:chOff x="7452320" y="1131590"/>
            <a:chExt cx="1440160" cy="1318616"/>
          </a:xfrm>
        </p:grpSpPr>
        <p:sp>
          <p:nvSpPr>
            <p:cNvPr id="20" name="Rechteck 19"/>
            <p:cNvSpPr/>
            <p:nvPr/>
          </p:nvSpPr>
          <p:spPr>
            <a:xfrm>
              <a:off x="7452320" y="1131590"/>
              <a:ext cx="1440160" cy="1296144"/>
            </a:xfrm>
            <a:prstGeom prst="rect">
              <a:avLst/>
            </a:prstGeom>
            <a:solidFill>
              <a:schemeClr val="tx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1" name="Picture 4" descr="Falke vogel tierform | Kostenlose Icon"/>
            <p:cNvPicPr>
              <a:picLocks noChangeAspect="1" noChangeArrowheads="1"/>
            </p:cNvPicPr>
            <p:nvPr/>
          </p:nvPicPr>
          <p:blipFill>
            <a:blip r:embed="rId4" cstate="print"/>
            <a:srcRect/>
            <a:stretch>
              <a:fillRect/>
            </a:stretch>
          </p:blipFill>
          <p:spPr bwMode="auto">
            <a:xfrm rot="20243383" flipH="1">
              <a:off x="7503272" y="1182543"/>
              <a:ext cx="1267663" cy="1267663"/>
            </a:xfrm>
            <a:prstGeom prst="rect">
              <a:avLst/>
            </a:prstGeom>
            <a:noFill/>
          </p:spPr>
        </p:pic>
      </p:grpSp>
      <p:grpSp>
        <p:nvGrpSpPr>
          <p:cNvPr id="6" name="Gruppieren 18"/>
          <p:cNvGrpSpPr/>
          <p:nvPr/>
        </p:nvGrpSpPr>
        <p:grpSpPr>
          <a:xfrm>
            <a:off x="7012651" y="1174919"/>
            <a:ext cx="468934" cy="445487"/>
            <a:chOff x="251520" y="1059582"/>
            <a:chExt cx="1440160" cy="1368152"/>
          </a:xfrm>
        </p:grpSpPr>
        <p:sp>
          <p:nvSpPr>
            <p:cNvPr id="23" name="Rechteck 22"/>
            <p:cNvSpPr/>
            <p:nvPr/>
          </p:nvSpPr>
          <p:spPr>
            <a:xfrm>
              <a:off x="251520" y="1131590"/>
              <a:ext cx="1440160" cy="1296144"/>
            </a:xfrm>
            <a:prstGeom prst="rect">
              <a:avLst/>
            </a:prstGeom>
            <a:solidFill>
              <a:schemeClr val="tx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4" name="Picture 6" descr="Bird Silhouettes | Bird silhouette, Silhouette, Owl silhouette"/>
            <p:cNvPicPr>
              <a:picLocks noChangeAspect="1" noChangeArrowheads="1"/>
            </p:cNvPicPr>
            <p:nvPr/>
          </p:nvPicPr>
          <p:blipFill>
            <a:blip r:embed="rId5" cstate="print"/>
            <a:srcRect/>
            <a:stretch>
              <a:fillRect/>
            </a:stretch>
          </p:blipFill>
          <p:spPr bwMode="auto">
            <a:xfrm>
              <a:off x="395536" y="1059582"/>
              <a:ext cx="1080120" cy="1339939"/>
            </a:xfrm>
            <a:prstGeom prst="rect">
              <a:avLst/>
            </a:prstGeom>
            <a:noFill/>
          </p:spPr>
        </p:pic>
      </p:grpSp>
      <p:sp>
        <p:nvSpPr>
          <p:cNvPr id="25" name="Textfeld 24"/>
          <p:cNvSpPr txBox="1"/>
          <p:nvPr/>
        </p:nvSpPr>
        <p:spPr>
          <a:xfrm>
            <a:off x="7757311" y="1203598"/>
            <a:ext cx="979948" cy="461665"/>
          </a:xfrm>
          <a:prstGeom prst="rect">
            <a:avLst/>
          </a:prstGeom>
          <a:noFill/>
        </p:spPr>
        <p:txBody>
          <a:bodyPr wrap="none" rtlCol="0">
            <a:spAutoFit/>
          </a:bodyPr>
          <a:lstStyle/>
          <a:p>
            <a:pPr algn="ctr"/>
            <a:r>
              <a:rPr lang="en-US" sz="1200" dirty="0"/>
              <a:t>Hawk-Dove</a:t>
            </a:r>
          </a:p>
          <a:p>
            <a:pPr algn="ctr"/>
            <a:r>
              <a:rPr lang="en-US" sz="1200" dirty="0"/>
              <a:t>utility matrix</a:t>
            </a:r>
          </a:p>
        </p:txBody>
      </p:sp>
      <p:sp>
        <p:nvSpPr>
          <p:cNvPr id="26" name="Pfeil nach rechts 25"/>
          <p:cNvSpPr/>
          <p:nvPr/>
        </p:nvSpPr>
        <p:spPr>
          <a:xfrm>
            <a:off x="3131840" y="1347614"/>
            <a:ext cx="2880320" cy="216024"/>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Rechteck 26"/>
          <p:cNvSpPr/>
          <p:nvPr/>
        </p:nvSpPr>
        <p:spPr>
          <a:xfrm>
            <a:off x="3131840" y="1851670"/>
            <a:ext cx="2880320" cy="3168352"/>
          </a:xfrm>
          <a:prstGeom prst="rect">
            <a:avLst/>
          </a:prstGeom>
          <a:noFill/>
          <a:ln>
            <a:solidFill>
              <a:schemeClr val="tx2">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sz="1400" dirty="0">
                <a:solidFill>
                  <a:schemeClr val="tx1"/>
                </a:solidFill>
              </a:rPr>
              <a:t>The numbers are the utilities each</a:t>
            </a:r>
          </a:p>
          <a:p>
            <a:pPr algn="ctr"/>
            <a:r>
              <a:rPr lang="en-US" sz="1400" dirty="0">
                <a:solidFill>
                  <a:schemeClr val="tx1"/>
                </a:solidFill>
              </a:rPr>
              <a:t>player assigns individually</a:t>
            </a:r>
          </a:p>
          <a:p>
            <a:pPr algn="ctr"/>
            <a:r>
              <a:rPr lang="en-US" sz="1400" dirty="0">
                <a:solidFill>
                  <a:schemeClr val="tx1"/>
                </a:solidFill>
              </a:rPr>
              <a:t>to the outcomes,</a:t>
            </a:r>
          </a:p>
          <a:p>
            <a:pPr algn="ctr"/>
            <a:r>
              <a:rPr lang="en-US" sz="1400" dirty="0">
                <a:solidFill>
                  <a:schemeClr val="tx1"/>
                </a:solidFill>
              </a:rPr>
              <a:t>i.e., the </a:t>
            </a:r>
            <a:r>
              <a:rPr lang="en-US" sz="1400" b="1" dirty="0">
                <a:solidFill>
                  <a:schemeClr val="tx1"/>
                </a:solidFill>
              </a:rPr>
              <a:t>numbers represent an</a:t>
            </a:r>
          </a:p>
          <a:p>
            <a:pPr algn="ctr"/>
            <a:r>
              <a:rPr lang="en-US" sz="1400" b="1" dirty="0">
                <a:solidFill>
                  <a:schemeClr val="tx1"/>
                </a:solidFill>
              </a:rPr>
              <a:t>ordinal preference structure</a:t>
            </a:r>
            <a:r>
              <a:rPr lang="en-US" sz="1400" dirty="0">
                <a:solidFill>
                  <a:schemeClr val="tx1"/>
                </a:solidFill>
              </a:rPr>
              <a:t>.</a:t>
            </a:r>
          </a:p>
          <a:p>
            <a:pPr algn="ctr"/>
            <a:endParaRPr lang="en-US" sz="1400" dirty="0">
              <a:solidFill>
                <a:schemeClr val="tx1"/>
              </a:solidFill>
            </a:endParaRPr>
          </a:p>
          <a:p>
            <a:pPr algn="ctr"/>
            <a:r>
              <a:rPr lang="en-US" sz="1400" b="1" dirty="0">
                <a:solidFill>
                  <a:schemeClr val="tx1"/>
                </a:solidFill>
              </a:rPr>
              <a:t>Only the ordinal structure counts, the exact numbers do not matter.</a:t>
            </a:r>
          </a:p>
        </p:txBody>
      </p:sp>
      <p:cxnSp>
        <p:nvCxnSpPr>
          <p:cNvPr id="29" name="Gerade Verbindung 28"/>
          <p:cNvCxnSpPr/>
          <p:nvPr/>
        </p:nvCxnSpPr>
        <p:spPr>
          <a:xfrm flipH="1">
            <a:off x="251520" y="3579862"/>
            <a:ext cx="504056" cy="288032"/>
          </a:xfrm>
          <a:prstGeom prst="line">
            <a:avLst/>
          </a:prstGeom>
          <a:noFill/>
          <a:ln>
            <a:solidFill>
              <a:schemeClr val="tx2"/>
            </a:solidFill>
            <a:headEnd type="triangle" w="med" len="med"/>
            <a:tailEnd type="none" w="med" len="med"/>
          </a:ln>
        </p:spPr>
        <p:style>
          <a:lnRef idx="2">
            <a:schemeClr val="accent1">
              <a:shade val="50000"/>
            </a:schemeClr>
          </a:lnRef>
          <a:fillRef idx="1">
            <a:schemeClr val="accent1"/>
          </a:fillRef>
          <a:effectRef idx="0">
            <a:schemeClr val="accent1"/>
          </a:effectRef>
          <a:fontRef idx="minor">
            <a:schemeClr val="lt1"/>
          </a:fontRef>
        </p:style>
      </p:cxnSp>
      <p:cxnSp>
        <p:nvCxnSpPr>
          <p:cNvPr id="31" name="Gerade Verbindung 30"/>
          <p:cNvCxnSpPr/>
          <p:nvPr/>
        </p:nvCxnSpPr>
        <p:spPr>
          <a:xfrm>
            <a:off x="251520" y="3867894"/>
            <a:ext cx="0" cy="864096"/>
          </a:xfrm>
          <a:prstGeom prst="line">
            <a:avLst/>
          </a:prstGeom>
          <a:no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cxnSp>
      <p:sp>
        <p:nvSpPr>
          <p:cNvPr id="33" name="Rechteck 32"/>
          <p:cNvSpPr/>
          <p:nvPr/>
        </p:nvSpPr>
        <p:spPr>
          <a:xfrm>
            <a:off x="323528" y="4011910"/>
            <a:ext cx="2088232" cy="72008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solidFill>
                  <a:schemeClr val="tx1"/>
                </a:solidFill>
              </a:rPr>
              <a:t>Here, ‘0’ means no gain</a:t>
            </a:r>
          </a:p>
          <a:p>
            <a:pPr algn="ctr"/>
            <a:r>
              <a:rPr lang="en-US" sz="1400" dirty="0">
                <a:solidFill>
                  <a:schemeClr val="tx1"/>
                </a:solidFill>
              </a:rPr>
              <a:t>(no payoff)</a:t>
            </a:r>
          </a:p>
        </p:txBody>
      </p:sp>
      <p:cxnSp>
        <p:nvCxnSpPr>
          <p:cNvPr id="34" name="Gerade Verbindung 33"/>
          <p:cNvCxnSpPr/>
          <p:nvPr/>
        </p:nvCxnSpPr>
        <p:spPr>
          <a:xfrm>
            <a:off x="8388424" y="3579862"/>
            <a:ext cx="504056" cy="288032"/>
          </a:xfrm>
          <a:prstGeom prst="line">
            <a:avLst/>
          </a:prstGeom>
          <a:noFill/>
          <a:ln>
            <a:solidFill>
              <a:schemeClr val="tx2"/>
            </a:solidFill>
            <a:headEnd type="triangle" w="med" len="med"/>
            <a:tailEnd type="none" w="med" len="med"/>
          </a:ln>
        </p:spPr>
        <p:style>
          <a:lnRef idx="2">
            <a:schemeClr val="accent1">
              <a:shade val="50000"/>
            </a:schemeClr>
          </a:lnRef>
          <a:fillRef idx="1">
            <a:schemeClr val="accent1"/>
          </a:fillRef>
          <a:effectRef idx="0">
            <a:schemeClr val="accent1"/>
          </a:effectRef>
          <a:fontRef idx="minor">
            <a:schemeClr val="lt1"/>
          </a:fontRef>
        </p:style>
      </p:cxnSp>
      <p:cxnSp>
        <p:nvCxnSpPr>
          <p:cNvPr id="35" name="Gerade Verbindung 34"/>
          <p:cNvCxnSpPr/>
          <p:nvPr/>
        </p:nvCxnSpPr>
        <p:spPr>
          <a:xfrm>
            <a:off x="8892480" y="3867894"/>
            <a:ext cx="0" cy="864096"/>
          </a:xfrm>
          <a:prstGeom prst="line">
            <a:avLst/>
          </a:prstGeom>
          <a:no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cxnSp>
      <p:sp>
        <p:nvSpPr>
          <p:cNvPr id="36" name="Rechteck 35"/>
          <p:cNvSpPr/>
          <p:nvPr/>
        </p:nvSpPr>
        <p:spPr>
          <a:xfrm>
            <a:off x="6732240" y="4011910"/>
            <a:ext cx="2088232" cy="72008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solidFill>
                  <a:schemeClr val="tx1"/>
                </a:solidFill>
              </a:rPr>
              <a:t>Here, ‘0’ means the least preferred outcome, as</a:t>
            </a:r>
          </a:p>
          <a:p>
            <a:pPr algn="ctr"/>
            <a:r>
              <a:rPr lang="en-US" sz="1400" dirty="0">
                <a:solidFill>
                  <a:schemeClr val="tx1"/>
                </a:solidFill>
              </a:rPr>
              <a:t>0 &lt; 1 &lt; 2 &lt; 3</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9"/>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1"/>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3"/>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4"/>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5"/>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3" grpId="0" animBg="1"/>
      <p:bldP spid="36"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bgerundetes Rechteck 1"/>
          <p:cNvSpPr/>
          <p:nvPr/>
        </p:nvSpPr>
        <p:spPr>
          <a:xfrm>
            <a:off x="971600" y="2124462"/>
            <a:ext cx="7200800" cy="360040"/>
          </a:xfrm>
          <a:prstGeom prst="roundRect">
            <a:avLst/>
          </a:prstGeom>
          <a:solidFill>
            <a:schemeClr val="tx2">
              <a:lumMod val="40000"/>
              <a:lumOff val="60000"/>
            </a:schemeClr>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feld 2"/>
          <p:cNvSpPr txBox="1"/>
          <p:nvPr/>
        </p:nvSpPr>
        <p:spPr>
          <a:xfrm>
            <a:off x="971600" y="1131590"/>
            <a:ext cx="5347682" cy="1908215"/>
          </a:xfrm>
          <a:prstGeom prst="rect">
            <a:avLst/>
          </a:prstGeom>
          <a:noFill/>
        </p:spPr>
        <p:txBody>
          <a:bodyPr wrap="none" rtlCol="0">
            <a:spAutoFit/>
          </a:bodyPr>
          <a:lstStyle/>
          <a:p>
            <a:r>
              <a:rPr lang="en-US" b="1" dirty="0"/>
              <a:t>Topics</a:t>
            </a:r>
          </a:p>
          <a:p>
            <a:endParaRPr lang="en-US" sz="1000" dirty="0"/>
          </a:p>
          <a:p>
            <a:pPr lvl="1"/>
            <a:r>
              <a:rPr lang="en-US" dirty="0"/>
              <a:t>Mathematical Formulation: The Hawk-Dove Game</a:t>
            </a:r>
          </a:p>
          <a:p>
            <a:pPr lvl="1"/>
            <a:endParaRPr lang="en-US" b="1" dirty="0"/>
          </a:p>
          <a:p>
            <a:pPr lvl="1"/>
            <a:r>
              <a:rPr lang="en-US" b="1" dirty="0"/>
              <a:t>Discrete Evolutionary Dynamics</a:t>
            </a:r>
          </a:p>
          <a:p>
            <a:pPr lvl="1"/>
            <a:endParaRPr lang="en-US" dirty="0"/>
          </a:p>
          <a:p>
            <a:pPr lvl="1"/>
            <a:r>
              <a:rPr lang="en-US" dirty="0"/>
              <a:t>The Hawk-Dove-Bourgeois Extension</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en-US" dirty="0"/>
              <a:t>Next, let us assume a large population of stag. Some of them play “hawk” and the others “dove” during a contest, …</a:t>
            </a:r>
          </a:p>
        </p:txBody>
      </p:sp>
      <p:grpSp>
        <p:nvGrpSpPr>
          <p:cNvPr id="3" name="Gruppieren 15"/>
          <p:cNvGrpSpPr/>
          <p:nvPr/>
        </p:nvGrpSpPr>
        <p:grpSpPr>
          <a:xfrm>
            <a:off x="395536" y="1491630"/>
            <a:ext cx="650290" cy="685668"/>
            <a:chOff x="2339752" y="1131590"/>
            <a:chExt cx="1229268" cy="1296144"/>
          </a:xfrm>
        </p:grpSpPr>
        <p:pic>
          <p:nvPicPr>
            <p:cNvPr id="4" name="Picture 2" descr="Geschichte: Hirschbrunft in der Südheide"/>
            <p:cNvPicPr>
              <a:picLocks noChangeAspect="1" noChangeArrowheads="1"/>
            </p:cNvPicPr>
            <p:nvPr/>
          </p:nvPicPr>
          <p:blipFill>
            <a:blip r:embed="rId2" cstate="print"/>
            <a:srcRect l="51135" t="27735" r="10499" b="12183"/>
            <a:stretch>
              <a:fillRect/>
            </a:stretch>
          </p:blipFill>
          <p:spPr bwMode="auto">
            <a:xfrm>
              <a:off x="2339752" y="1203598"/>
              <a:ext cx="1172500" cy="1224136"/>
            </a:xfrm>
            <a:prstGeom prst="rect">
              <a:avLst/>
            </a:prstGeom>
            <a:ln>
              <a:noFill/>
            </a:ln>
            <a:effectLst/>
          </p:spPr>
        </p:pic>
        <p:grpSp>
          <p:nvGrpSpPr>
            <p:cNvPr id="5" name="Gruppieren 38"/>
            <p:cNvGrpSpPr/>
            <p:nvPr/>
          </p:nvGrpSpPr>
          <p:grpSpPr>
            <a:xfrm>
              <a:off x="2987824" y="1131590"/>
              <a:ext cx="581196" cy="532145"/>
              <a:chOff x="7452320" y="1131590"/>
              <a:chExt cx="1440160" cy="1318616"/>
            </a:xfrm>
          </p:grpSpPr>
          <p:sp>
            <p:nvSpPr>
              <p:cNvPr id="10" name="Rechteck 9"/>
              <p:cNvSpPr/>
              <p:nvPr/>
            </p:nvSpPr>
            <p:spPr>
              <a:xfrm>
                <a:off x="7452320" y="1131590"/>
                <a:ext cx="1440160" cy="1296144"/>
              </a:xfrm>
              <a:prstGeom prst="rect">
                <a:avLst/>
              </a:prstGeom>
              <a:solidFill>
                <a:schemeClr val="accent2">
                  <a:lumMod val="40000"/>
                  <a:lumOff val="60000"/>
                </a:schemeClr>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1" name="Picture 4" descr="Falke vogel tierform | Kostenlose Icon"/>
              <p:cNvPicPr>
                <a:picLocks noChangeAspect="1" noChangeArrowheads="1"/>
              </p:cNvPicPr>
              <p:nvPr/>
            </p:nvPicPr>
            <p:blipFill>
              <a:blip r:embed="rId3" cstate="print"/>
              <a:srcRect/>
              <a:stretch>
                <a:fillRect/>
              </a:stretch>
            </p:blipFill>
            <p:spPr bwMode="auto">
              <a:xfrm rot="20243383" flipH="1">
                <a:off x="7503272" y="1182543"/>
                <a:ext cx="1267663" cy="1267663"/>
              </a:xfrm>
              <a:prstGeom prst="rect">
                <a:avLst/>
              </a:prstGeom>
              <a:noFill/>
            </p:spPr>
          </p:pic>
        </p:grpSp>
      </p:grpSp>
      <p:grpSp>
        <p:nvGrpSpPr>
          <p:cNvPr id="6" name="Gruppieren 16"/>
          <p:cNvGrpSpPr/>
          <p:nvPr/>
        </p:nvGrpSpPr>
        <p:grpSpPr>
          <a:xfrm>
            <a:off x="1331640" y="1131590"/>
            <a:ext cx="648072" cy="699009"/>
            <a:chOff x="2339752" y="2618538"/>
            <a:chExt cx="1225076" cy="1321364"/>
          </a:xfrm>
        </p:grpSpPr>
        <p:pic>
          <p:nvPicPr>
            <p:cNvPr id="12" name="Picture 2" descr="Geschichte: Hirschbrunft in der Südheide"/>
            <p:cNvPicPr>
              <a:picLocks noChangeAspect="1" noChangeArrowheads="1"/>
            </p:cNvPicPr>
            <p:nvPr/>
          </p:nvPicPr>
          <p:blipFill>
            <a:blip r:embed="rId2" cstate="print"/>
            <a:srcRect l="51135" t="27735" r="10499" b="12183"/>
            <a:stretch>
              <a:fillRect/>
            </a:stretch>
          </p:blipFill>
          <p:spPr bwMode="auto">
            <a:xfrm>
              <a:off x="2339752" y="2715766"/>
              <a:ext cx="1172500" cy="1224136"/>
            </a:xfrm>
            <a:prstGeom prst="rect">
              <a:avLst/>
            </a:prstGeom>
            <a:ln>
              <a:noFill/>
            </a:ln>
            <a:effectLst/>
          </p:spPr>
        </p:pic>
        <p:grpSp>
          <p:nvGrpSpPr>
            <p:cNvPr id="7" name="Gruppieren 18"/>
            <p:cNvGrpSpPr/>
            <p:nvPr/>
          </p:nvGrpSpPr>
          <p:grpSpPr>
            <a:xfrm>
              <a:off x="2983632" y="2618538"/>
              <a:ext cx="581196" cy="552136"/>
              <a:chOff x="251520" y="1059582"/>
              <a:chExt cx="1440160" cy="1368152"/>
            </a:xfrm>
          </p:grpSpPr>
          <p:sp>
            <p:nvSpPr>
              <p:cNvPr id="8" name="Rechteck 7"/>
              <p:cNvSpPr/>
              <p:nvPr/>
            </p:nvSpPr>
            <p:spPr>
              <a:xfrm>
                <a:off x="251520" y="1131590"/>
                <a:ext cx="1440160" cy="1296144"/>
              </a:xfrm>
              <a:prstGeom prst="rect">
                <a:avLst/>
              </a:prstGeom>
              <a:solidFill>
                <a:schemeClr val="tx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9" name="Picture 6" descr="Bird Silhouettes | Bird silhouette, Silhouette, Owl silhouette"/>
              <p:cNvPicPr>
                <a:picLocks noChangeAspect="1" noChangeArrowheads="1"/>
              </p:cNvPicPr>
              <p:nvPr/>
            </p:nvPicPr>
            <p:blipFill>
              <a:blip r:embed="rId4" cstate="print"/>
              <a:srcRect/>
              <a:stretch>
                <a:fillRect/>
              </a:stretch>
            </p:blipFill>
            <p:spPr bwMode="auto">
              <a:xfrm>
                <a:off x="395536" y="1059582"/>
                <a:ext cx="1080120" cy="1339939"/>
              </a:xfrm>
              <a:prstGeom prst="rect">
                <a:avLst/>
              </a:prstGeom>
              <a:noFill/>
            </p:spPr>
          </p:pic>
        </p:grpSp>
      </p:grpSp>
      <p:grpSp>
        <p:nvGrpSpPr>
          <p:cNvPr id="13" name="Gruppieren 17"/>
          <p:cNvGrpSpPr/>
          <p:nvPr/>
        </p:nvGrpSpPr>
        <p:grpSpPr>
          <a:xfrm>
            <a:off x="1331640" y="4227934"/>
            <a:ext cx="648072" cy="699009"/>
            <a:chOff x="2339752" y="2618538"/>
            <a:chExt cx="1225076" cy="1321364"/>
          </a:xfrm>
        </p:grpSpPr>
        <p:pic>
          <p:nvPicPr>
            <p:cNvPr id="19" name="Picture 2" descr="Geschichte: Hirschbrunft in der Südheide"/>
            <p:cNvPicPr>
              <a:picLocks noChangeAspect="1" noChangeArrowheads="1"/>
            </p:cNvPicPr>
            <p:nvPr/>
          </p:nvPicPr>
          <p:blipFill>
            <a:blip r:embed="rId2" cstate="print"/>
            <a:srcRect l="51135" t="27735" r="10499" b="12183"/>
            <a:stretch>
              <a:fillRect/>
            </a:stretch>
          </p:blipFill>
          <p:spPr bwMode="auto">
            <a:xfrm>
              <a:off x="2339752" y="2715766"/>
              <a:ext cx="1172500" cy="1224136"/>
            </a:xfrm>
            <a:prstGeom prst="rect">
              <a:avLst/>
            </a:prstGeom>
            <a:ln>
              <a:noFill/>
            </a:ln>
            <a:effectLst/>
          </p:spPr>
        </p:pic>
        <p:grpSp>
          <p:nvGrpSpPr>
            <p:cNvPr id="14" name="Gruppieren 18"/>
            <p:cNvGrpSpPr/>
            <p:nvPr/>
          </p:nvGrpSpPr>
          <p:grpSpPr>
            <a:xfrm>
              <a:off x="2983632" y="2618538"/>
              <a:ext cx="581196" cy="552136"/>
              <a:chOff x="251520" y="1059582"/>
              <a:chExt cx="1440160" cy="1368152"/>
            </a:xfrm>
          </p:grpSpPr>
          <p:sp>
            <p:nvSpPr>
              <p:cNvPr id="21" name="Rechteck 20"/>
              <p:cNvSpPr/>
              <p:nvPr/>
            </p:nvSpPr>
            <p:spPr>
              <a:xfrm>
                <a:off x="251520" y="1131590"/>
                <a:ext cx="1440160" cy="1296144"/>
              </a:xfrm>
              <a:prstGeom prst="rect">
                <a:avLst/>
              </a:prstGeom>
              <a:solidFill>
                <a:schemeClr val="tx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2" name="Picture 6" descr="Bird Silhouettes | Bird silhouette, Silhouette, Owl silhouette"/>
              <p:cNvPicPr>
                <a:picLocks noChangeAspect="1" noChangeArrowheads="1"/>
              </p:cNvPicPr>
              <p:nvPr/>
            </p:nvPicPr>
            <p:blipFill>
              <a:blip r:embed="rId4" cstate="print"/>
              <a:srcRect/>
              <a:stretch>
                <a:fillRect/>
              </a:stretch>
            </p:blipFill>
            <p:spPr bwMode="auto">
              <a:xfrm>
                <a:off x="395536" y="1059582"/>
                <a:ext cx="1080120" cy="1339939"/>
              </a:xfrm>
              <a:prstGeom prst="rect">
                <a:avLst/>
              </a:prstGeom>
              <a:noFill/>
            </p:spPr>
          </p:pic>
        </p:grpSp>
      </p:grpSp>
      <p:grpSp>
        <p:nvGrpSpPr>
          <p:cNvPr id="15" name="Gruppieren 22"/>
          <p:cNvGrpSpPr/>
          <p:nvPr/>
        </p:nvGrpSpPr>
        <p:grpSpPr>
          <a:xfrm>
            <a:off x="467544" y="3795886"/>
            <a:ext cx="648072" cy="699009"/>
            <a:chOff x="2339752" y="2618538"/>
            <a:chExt cx="1225076" cy="1321364"/>
          </a:xfrm>
        </p:grpSpPr>
        <p:pic>
          <p:nvPicPr>
            <p:cNvPr id="24" name="Picture 2" descr="Geschichte: Hirschbrunft in der Südheide"/>
            <p:cNvPicPr>
              <a:picLocks noChangeAspect="1" noChangeArrowheads="1"/>
            </p:cNvPicPr>
            <p:nvPr/>
          </p:nvPicPr>
          <p:blipFill>
            <a:blip r:embed="rId2" cstate="print"/>
            <a:srcRect l="51135" t="27735" r="10499" b="12183"/>
            <a:stretch>
              <a:fillRect/>
            </a:stretch>
          </p:blipFill>
          <p:spPr bwMode="auto">
            <a:xfrm>
              <a:off x="2339752" y="2715766"/>
              <a:ext cx="1172500" cy="1224136"/>
            </a:xfrm>
            <a:prstGeom prst="rect">
              <a:avLst/>
            </a:prstGeom>
            <a:ln>
              <a:noFill/>
            </a:ln>
            <a:effectLst/>
          </p:spPr>
        </p:pic>
        <p:grpSp>
          <p:nvGrpSpPr>
            <p:cNvPr id="16" name="Gruppieren 18"/>
            <p:cNvGrpSpPr/>
            <p:nvPr/>
          </p:nvGrpSpPr>
          <p:grpSpPr>
            <a:xfrm>
              <a:off x="2983632" y="2618538"/>
              <a:ext cx="581196" cy="552136"/>
              <a:chOff x="251520" y="1059582"/>
              <a:chExt cx="1440160" cy="1368152"/>
            </a:xfrm>
          </p:grpSpPr>
          <p:sp>
            <p:nvSpPr>
              <p:cNvPr id="26" name="Rechteck 25"/>
              <p:cNvSpPr/>
              <p:nvPr/>
            </p:nvSpPr>
            <p:spPr>
              <a:xfrm>
                <a:off x="251520" y="1131590"/>
                <a:ext cx="1440160" cy="1296144"/>
              </a:xfrm>
              <a:prstGeom prst="rect">
                <a:avLst/>
              </a:prstGeom>
              <a:solidFill>
                <a:schemeClr val="tx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7" name="Picture 6" descr="Bird Silhouettes | Bird silhouette, Silhouette, Owl silhouette"/>
              <p:cNvPicPr>
                <a:picLocks noChangeAspect="1" noChangeArrowheads="1"/>
              </p:cNvPicPr>
              <p:nvPr/>
            </p:nvPicPr>
            <p:blipFill>
              <a:blip r:embed="rId4" cstate="print"/>
              <a:srcRect/>
              <a:stretch>
                <a:fillRect/>
              </a:stretch>
            </p:blipFill>
            <p:spPr bwMode="auto">
              <a:xfrm>
                <a:off x="395536" y="1059582"/>
                <a:ext cx="1080120" cy="1339939"/>
              </a:xfrm>
              <a:prstGeom prst="rect">
                <a:avLst/>
              </a:prstGeom>
              <a:noFill/>
            </p:spPr>
          </p:pic>
        </p:grpSp>
      </p:grpSp>
      <p:grpSp>
        <p:nvGrpSpPr>
          <p:cNvPr id="17" name="Gruppieren 27"/>
          <p:cNvGrpSpPr/>
          <p:nvPr/>
        </p:nvGrpSpPr>
        <p:grpSpPr>
          <a:xfrm>
            <a:off x="1547664" y="3363838"/>
            <a:ext cx="650290" cy="685668"/>
            <a:chOff x="2339752" y="1131590"/>
            <a:chExt cx="1229268" cy="1296144"/>
          </a:xfrm>
        </p:grpSpPr>
        <p:pic>
          <p:nvPicPr>
            <p:cNvPr id="29" name="Picture 2" descr="Geschichte: Hirschbrunft in der Südheide"/>
            <p:cNvPicPr>
              <a:picLocks noChangeAspect="1" noChangeArrowheads="1"/>
            </p:cNvPicPr>
            <p:nvPr/>
          </p:nvPicPr>
          <p:blipFill>
            <a:blip r:embed="rId2" cstate="print"/>
            <a:srcRect l="51135" t="27735" r="10499" b="12183"/>
            <a:stretch>
              <a:fillRect/>
            </a:stretch>
          </p:blipFill>
          <p:spPr bwMode="auto">
            <a:xfrm>
              <a:off x="2339752" y="1203598"/>
              <a:ext cx="1172500" cy="1224136"/>
            </a:xfrm>
            <a:prstGeom prst="rect">
              <a:avLst/>
            </a:prstGeom>
            <a:ln>
              <a:noFill/>
            </a:ln>
            <a:effectLst/>
          </p:spPr>
        </p:pic>
        <p:grpSp>
          <p:nvGrpSpPr>
            <p:cNvPr id="18" name="Gruppieren 38"/>
            <p:cNvGrpSpPr/>
            <p:nvPr/>
          </p:nvGrpSpPr>
          <p:grpSpPr>
            <a:xfrm>
              <a:off x="2987824" y="1131590"/>
              <a:ext cx="581196" cy="532145"/>
              <a:chOff x="7452320" y="1131590"/>
              <a:chExt cx="1440160" cy="1318616"/>
            </a:xfrm>
          </p:grpSpPr>
          <p:sp>
            <p:nvSpPr>
              <p:cNvPr id="31" name="Rechteck 30"/>
              <p:cNvSpPr/>
              <p:nvPr/>
            </p:nvSpPr>
            <p:spPr>
              <a:xfrm>
                <a:off x="7452320" y="1131590"/>
                <a:ext cx="1440160" cy="1296144"/>
              </a:xfrm>
              <a:prstGeom prst="rect">
                <a:avLst/>
              </a:prstGeom>
              <a:solidFill>
                <a:schemeClr val="accent2">
                  <a:lumMod val="40000"/>
                  <a:lumOff val="60000"/>
                </a:schemeClr>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2" name="Picture 4" descr="Falke vogel tierform | Kostenlose Icon"/>
              <p:cNvPicPr>
                <a:picLocks noChangeAspect="1" noChangeArrowheads="1"/>
              </p:cNvPicPr>
              <p:nvPr/>
            </p:nvPicPr>
            <p:blipFill>
              <a:blip r:embed="rId3" cstate="print"/>
              <a:srcRect/>
              <a:stretch>
                <a:fillRect/>
              </a:stretch>
            </p:blipFill>
            <p:spPr bwMode="auto">
              <a:xfrm rot="20243383" flipH="1">
                <a:off x="7503272" y="1182543"/>
                <a:ext cx="1267663" cy="1267663"/>
              </a:xfrm>
              <a:prstGeom prst="rect">
                <a:avLst/>
              </a:prstGeom>
              <a:noFill/>
            </p:spPr>
          </p:pic>
        </p:grpSp>
      </p:grpSp>
      <p:grpSp>
        <p:nvGrpSpPr>
          <p:cNvPr id="20" name="Gruppieren 32"/>
          <p:cNvGrpSpPr/>
          <p:nvPr/>
        </p:nvGrpSpPr>
        <p:grpSpPr>
          <a:xfrm>
            <a:off x="2123728" y="1635646"/>
            <a:ext cx="648072" cy="699009"/>
            <a:chOff x="2339752" y="2618538"/>
            <a:chExt cx="1225076" cy="1321364"/>
          </a:xfrm>
        </p:grpSpPr>
        <p:pic>
          <p:nvPicPr>
            <p:cNvPr id="34" name="Picture 2" descr="Geschichte: Hirschbrunft in der Südheide"/>
            <p:cNvPicPr>
              <a:picLocks noChangeAspect="1" noChangeArrowheads="1"/>
            </p:cNvPicPr>
            <p:nvPr/>
          </p:nvPicPr>
          <p:blipFill>
            <a:blip r:embed="rId2" cstate="print"/>
            <a:srcRect l="51135" t="27735" r="10499" b="12183"/>
            <a:stretch>
              <a:fillRect/>
            </a:stretch>
          </p:blipFill>
          <p:spPr bwMode="auto">
            <a:xfrm>
              <a:off x="2339752" y="2715766"/>
              <a:ext cx="1172500" cy="1224136"/>
            </a:xfrm>
            <a:prstGeom prst="rect">
              <a:avLst/>
            </a:prstGeom>
            <a:ln>
              <a:noFill/>
            </a:ln>
            <a:effectLst/>
          </p:spPr>
        </p:pic>
        <p:grpSp>
          <p:nvGrpSpPr>
            <p:cNvPr id="23" name="Gruppieren 18"/>
            <p:cNvGrpSpPr/>
            <p:nvPr/>
          </p:nvGrpSpPr>
          <p:grpSpPr>
            <a:xfrm>
              <a:off x="2983632" y="2618538"/>
              <a:ext cx="581196" cy="552136"/>
              <a:chOff x="251520" y="1059582"/>
              <a:chExt cx="1440160" cy="1368152"/>
            </a:xfrm>
          </p:grpSpPr>
          <p:sp>
            <p:nvSpPr>
              <p:cNvPr id="36" name="Rechteck 35"/>
              <p:cNvSpPr/>
              <p:nvPr/>
            </p:nvSpPr>
            <p:spPr>
              <a:xfrm>
                <a:off x="251520" y="1131590"/>
                <a:ext cx="1440160" cy="1296144"/>
              </a:xfrm>
              <a:prstGeom prst="rect">
                <a:avLst/>
              </a:prstGeom>
              <a:solidFill>
                <a:schemeClr val="tx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7" name="Picture 6" descr="Bird Silhouettes | Bird silhouette, Silhouette, Owl silhouette"/>
              <p:cNvPicPr>
                <a:picLocks noChangeAspect="1" noChangeArrowheads="1"/>
              </p:cNvPicPr>
              <p:nvPr/>
            </p:nvPicPr>
            <p:blipFill>
              <a:blip r:embed="rId4" cstate="print"/>
              <a:srcRect/>
              <a:stretch>
                <a:fillRect/>
              </a:stretch>
            </p:blipFill>
            <p:spPr bwMode="auto">
              <a:xfrm>
                <a:off x="395536" y="1059582"/>
                <a:ext cx="1080120" cy="1339939"/>
              </a:xfrm>
              <a:prstGeom prst="rect">
                <a:avLst/>
              </a:prstGeom>
              <a:noFill/>
            </p:spPr>
          </p:pic>
        </p:grpSp>
      </p:grpSp>
      <p:grpSp>
        <p:nvGrpSpPr>
          <p:cNvPr id="25" name="Gruppieren 37"/>
          <p:cNvGrpSpPr/>
          <p:nvPr/>
        </p:nvGrpSpPr>
        <p:grpSpPr>
          <a:xfrm>
            <a:off x="2915816" y="1131590"/>
            <a:ext cx="650290" cy="685668"/>
            <a:chOff x="2339752" y="1131590"/>
            <a:chExt cx="1229268" cy="1296144"/>
          </a:xfrm>
        </p:grpSpPr>
        <p:pic>
          <p:nvPicPr>
            <p:cNvPr id="39" name="Picture 2" descr="Geschichte: Hirschbrunft in der Südheide"/>
            <p:cNvPicPr>
              <a:picLocks noChangeAspect="1" noChangeArrowheads="1"/>
            </p:cNvPicPr>
            <p:nvPr/>
          </p:nvPicPr>
          <p:blipFill>
            <a:blip r:embed="rId2" cstate="print"/>
            <a:srcRect l="51135" t="27735" r="10499" b="12183"/>
            <a:stretch>
              <a:fillRect/>
            </a:stretch>
          </p:blipFill>
          <p:spPr bwMode="auto">
            <a:xfrm>
              <a:off x="2339752" y="1203598"/>
              <a:ext cx="1172500" cy="1224136"/>
            </a:xfrm>
            <a:prstGeom prst="rect">
              <a:avLst/>
            </a:prstGeom>
            <a:ln>
              <a:noFill/>
            </a:ln>
            <a:effectLst/>
          </p:spPr>
        </p:pic>
        <p:grpSp>
          <p:nvGrpSpPr>
            <p:cNvPr id="28" name="Gruppieren 38"/>
            <p:cNvGrpSpPr/>
            <p:nvPr/>
          </p:nvGrpSpPr>
          <p:grpSpPr>
            <a:xfrm>
              <a:off x="2987824" y="1131590"/>
              <a:ext cx="581196" cy="532145"/>
              <a:chOff x="7452320" y="1131590"/>
              <a:chExt cx="1440160" cy="1318616"/>
            </a:xfrm>
          </p:grpSpPr>
          <p:sp>
            <p:nvSpPr>
              <p:cNvPr id="41" name="Rechteck 40"/>
              <p:cNvSpPr/>
              <p:nvPr/>
            </p:nvSpPr>
            <p:spPr>
              <a:xfrm>
                <a:off x="7452320" y="1131590"/>
                <a:ext cx="1440160" cy="1296144"/>
              </a:xfrm>
              <a:prstGeom prst="rect">
                <a:avLst/>
              </a:prstGeom>
              <a:solidFill>
                <a:schemeClr val="accent2">
                  <a:lumMod val="40000"/>
                  <a:lumOff val="60000"/>
                </a:schemeClr>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2" name="Picture 4" descr="Falke vogel tierform | Kostenlose Icon"/>
              <p:cNvPicPr>
                <a:picLocks noChangeAspect="1" noChangeArrowheads="1"/>
              </p:cNvPicPr>
              <p:nvPr/>
            </p:nvPicPr>
            <p:blipFill>
              <a:blip r:embed="rId3" cstate="print"/>
              <a:srcRect/>
              <a:stretch>
                <a:fillRect/>
              </a:stretch>
            </p:blipFill>
            <p:spPr bwMode="auto">
              <a:xfrm rot="20243383" flipH="1">
                <a:off x="7503272" y="1182543"/>
                <a:ext cx="1267663" cy="1267663"/>
              </a:xfrm>
              <a:prstGeom prst="rect">
                <a:avLst/>
              </a:prstGeom>
              <a:noFill/>
            </p:spPr>
          </p:pic>
        </p:grpSp>
      </p:grpSp>
      <p:sp>
        <p:nvSpPr>
          <p:cNvPr id="43" name="Rechteck 42"/>
          <p:cNvSpPr/>
          <p:nvPr/>
        </p:nvSpPr>
        <p:spPr>
          <a:xfrm>
            <a:off x="4572000" y="1131590"/>
            <a:ext cx="4320480" cy="3888432"/>
          </a:xfrm>
          <a:prstGeom prst="rect">
            <a:avLst/>
          </a:prstGeom>
          <a:noFill/>
          <a:ln>
            <a:solidFill>
              <a:schemeClr val="tx2">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spcAft>
                <a:spcPts val="600"/>
              </a:spcAft>
            </a:pPr>
            <a:r>
              <a:rPr lang="en-US" sz="1400" dirty="0">
                <a:solidFill>
                  <a:schemeClr val="tx1"/>
                </a:solidFill>
              </a:rPr>
              <a:t>Let</a:t>
            </a:r>
          </a:p>
          <a:p>
            <a:pPr marL="182563" indent="-182563">
              <a:spcAft>
                <a:spcPts val="600"/>
              </a:spcAft>
              <a:buFont typeface="Arial" pitchFamily="34" charset="0"/>
              <a:buChar char="•"/>
            </a:pPr>
            <a:r>
              <a:rPr lang="en-US" sz="1400" i="1" dirty="0">
                <a:solidFill>
                  <a:schemeClr val="tx1"/>
                </a:solidFill>
              </a:rPr>
              <a:t>N(t)</a:t>
            </a:r>
            <a:r>
              <a:rPr lang="en-US" sz="1400" dirty="0">
                <a:solidFill>
                  <a:schemeClr val="tx1"/>
                </a:solidFill>
              </a:rPr>
              <a:t> be the population, i.e., the total amount of stag, at generation or time </a:t>
            </a:r>
            <a:r>
              <a:rPr lang="en-US" sz="1400" i="1" dirty="0">
                <a:solidFill>
                  <a:schemeClr val="tx1"/>
                </a:solidFill>
              </a:rPr>
              <a:t>t</a:t>
            </a:r>
          </a:p>
          <a:p>
            <a:pPr marL="182563" indent="-182563">
              <a:spcAft>
                <a:spcPts val="600"/>
              </a:spcAft>
              <a:buFont typeface="Arial" pitchFamily="34" charset="0"/>
              <a:buChar char="•"/>
            </a:pPr>
            <a:r>
              <a:rPr lang="en-US" sz="1400" i="1" dirty="0">
                <a:solidFill>
                  <a:schemeClr val="tx1"/>
                </a:solidFill>
              </a:rPr>
              <a:t>p</a:t>
            </a:r>
            <a:r>
              <a:rPr lang="en-US" sz="1400" dirty="0">
                <a:solidFill>
                  <a:schemeClr val="tx1"/>
                </a:solidFill>
              </a:rPr>
              <a:t>(</a:t>
            </a:r>
            <a:r>
              <a:rPr lang="en-US" sz="1400" i="1" dirty="0">
                <a:solidFill>
                  <a:schemeClr val="tx1"/>
                </a:solidFill>
              </a:rPr>
              <a:t>t</a:t>
            </a:r>
            <a:r>
              <a:rPr lang="en-US" sz="1400" dirty="0">
                <a:solidFill>
                  <a:schemeClr val="tx1"/>
                </a:solidFill>
              </a:rPr>
              <a:t>)</a:t>
            </a:r>
            <a:r>
              <a:rPr lang="en-US" sz="1400" i="1" dirty="0">
                <a:solidFill>
                  <a:schemeClr val="tx1"/>
                </a:solidFill>
              </a:rPr>
              <a:t> </a:t>
            </a:r>
            <a:r>
              <a:rPr lang="en-US" sz="1400" dirty="0">
                <a:solidFill>
                  <a:schemeClr val="tx1"/>
                </a:solidFill>
                <a:sym typeface="Symbol"/>
              </a:rPr>
              <a:t> [0, 1]</a:t>
            </a:r>
            <a:r>
              <a:rPr lang="en-US" sz="1400" i="1" dirty="0">
                <a:solidFill>
                  <a:schemeClr val="tx1"/>
                </a:solidFill>
                <a:sym typeface="Symbol"/>
              </a:rPr>
              <a:t> </a:t>
            </a:r>
            <a:r>
              <a:rPr lang="en-US" sz="1400" dirty="0">
                <a:solidFill>
                  <a:schemeClr val="tx1"/>
                </a:solidFill>
              </a:rPr>
              <a:t> be the frequency of stag at generation </a:t>
            </a:r>
            <a:r>
              <a:rPr lang="en-US" sz="1400" i="1" dirty="0">
                <a:solidFill>
                  <a:schemeClr val="tx1"/>
                </a:solidFill>
              </a:rPr>
              <a:t>t</a:t>
            </a:r>
            <a:r>
              <a:rPr lang="en-US" sz="1400" dirty="0">
                <a:solidFill>
                  <a:schemeClr val="tx1"/>
                </a:solidFill>
              </a:rPr>
              <a:t> that play “hawk”, then these are </a:t>
            </a:r>
            <a:r>
              <a:rPr lang="en-US" sz="1400" i="1" dirty="0">
                <a:solidFill>
                  <a:schemeClr val="tx1"/>
                </a:solidFill>
              </a:rPr>
              <a:t>N</a:t>
            </a:r>
            <a:r>
              <a:rPr lang="en-US" sz="1400" i="1" baseline="-25000" dirty="0">
                <a:solidFill>
                  <a:schemeClr val="tx1"/>
                </a:solidFill>
              </a:rPr>
              <a:t>H</a:t>
            </a:r>
            <a:r>
              <a:rPr lang="en-US" sz="1400" dirty="0">
                <a:solidFill>
                  <a:schemeClr val="tx1"/>
                </a:solidFill>
              </a:rPr>
              <a:t>(t) = </a:t>
            </a:r>
            <a:r>
              <a:rPr lang="en-US" sz="1400" i="1" dirty="0">
                <a:solidFill>
                  <a:schemeClr val="tx1"/>
                </a:solidFill>
              </a:rPr>
              <a:t>p</a:t>
            </a:r>
            <a:r>
              <a:rPr lang="en-US" sz="1400" dirty="0">
                <a:solidFill>
                  <a:schemeClr val="tx1"/>
                </a:solidFill>
              </a:rPr>
              <a:t>(</a:t>
            </a:r>
            <a:r>
              <a:rPr lang="en-US" sz="1400" i="1" dirty="0">
                <a:solidFill>
                  <a:schemeClr val="tx1"/>
                </a:solidFill>
              </a:rPr>
              <a:t>t</a:t>
            </a:r>
            <a:r>
              <a:rPr lang="en-US" sz="1400" dirty="0">
                <a:solidFill>
                  <a:schemeClr val="tx1"/>
                </a:solidFill>
              </a:rPr>
              <a:t>)</a:t>
            </a:r>
            <a:r>
              <a:rPr lang="en-US" sz="1400" i="1" dirty="0">
                <a:solidFill>
                  <a:schemeClr val="tx1"/>
                </a:solidFill>
              </a:rPr>
              <a:t>·N</a:t>
            </a:r>
            <a:r>
              <a:rPr lang="en-US" sz="1400" dirty="0">
                <a:solidFill>
                  <a:schemeClr val="tx1"/>
                </a:solidFill>
              </a:rPr>
              <a:t>(t) individuals</a:t>
            </a:r>
          </a:p>
          <a:p>
            <a:pPr marL="182563" indent="-182563">
              <a:spcAft>
                <a:spcPts val="600"/>
              </a:spcAft>
              <a:buFont typeface="Arial" pitchFamily="34" charset="0"/>
              <a:buChar char="•"/>
            </a:pPr>
            <a:r>
              <a:rPr lang="en-US" sz="1400" dirty="0">
                <a:solidFill>
                  <a:schemeClr val="tx1"/>
                </a:solidFill>
              </a:rPr>
              <a:t>1 – </a:t>
            </a:r>
            <a:r>
              <a:rPr lang="en-US" sz="1400" i="1" dirty="0">
                <a:solidFill>
                  <a:schemeClr val="tx1"/>
                </a:solidFill>
              </a:rPr>
              <a:t>p</a:t>
            </a:r>
            <a:r>
              <a:rPr lang="en-US" sz="1400" dirty="0">
                <a:solidFill>
                  <a:schemeClr val="tx1"/>
                </a:solidFill>
              </a:rPr>
              <a:t>(</a:t>
            </a:r>
            <a:r>
              <a:rPr lang="en-US" sz="1400" i="1" dirty="0">
                <a:solidFill>
                  <a:schemeClr val="tx1"/>
                </a:solidFill>
              </a:rPr>
              <a:t>t</a:t>
            </a:r>
            <a:r>
              <a:rPr lang="en-US" sz="1400" dirty="0">
                <a:solidFill>
                  <a:schemeClr val="tx1"/>
                </a:solidFill>
              </a:rPr>
              <a:t>) is the frequency of stag at generation </a:t>
            </a:r>
            <a:r>
              <a:rPr lang="en-US" sz="1400" i="1" dirty="0">
                <a:solidFill>
                  <a:schemeClr val="tx1"/>
                </a:solidFill>
              </a:rPr>
              <a:t>t</a:t>
            </a:r>
            <a:r>
              <a:rPr lang="en-US" sz="1400" dirty="0">
                <a:solidFill>
                  <a:schemeClr val="tx1"/>
                </a:solidFill>
              </a:rPr>
              <a:t> that play “dove” and there are </a:t>
            </a:r>
            <a:r>
              <a:rPr lang="en-US" sz="1400" i="1" dirty="0">
                <a:solidFill>
                  <a:schemeClr val="tx1"/>
                </a:solidFill>
              </a:rPr>
              <a:t>N</a:t>
            </a:r>
            <a:r>
              <a:rPr lang="en-US" sz="1400" i="1" baseline="-25000" dirty="0">
                <a:solidFill>
                  <a:schemeClr val="tx1"/>
                </a:solidFill>
              </a:rPr>
              <a:t>D</a:t>
            </a:r>
            <a:r>
              <a:rPr lang="en-US" sz="1400" dirty="0">
                <a:solidFill>
                  <a:schemeClr val="tx1"/>
                </a:solidFill>
              </a:rPr>
              <a:t>(t) = (1-</a:t>
            </a:r>
            <a:r>
              <a:rPr lang="en-US" sz="1400" i="1" dirty="0">
                <a:solidFill>
                  <a:schemeClr val="tx1"/>
                </a:solidFill>
              </a:rPr>
              <a:t>p</a:t>
            </a:r>
            <a:r>
              <a:rPr lang="en-US" sz="1400" dirty="0">
                <a:solidFill>
                  <a:schemeClr val="tx1"/>
                </a:solidFill>
              </a:rPr>
              <a:t>(</a:t>
            </a:r>
            <a:r>
              <a:rPr lang="en-US" sz="1400" i="1" dirty="0">
                <a:solidFill>
                  <a:schemeClr val="tx1"/>
                </a:solidFill>
              </a:rPr>
              <a:t>t</a:t>
            </a:r>
            <a:r>
              <a:rPr lang="en-US" sz="1400" dirty="0">
                <a:solidFill>
                  <a:schemeClr val="tx1"/>
                </a:solidFill>
              </a:rPr>
              <a:t>))</a:t>
            </a:r>
            <a:r>
              <a:rPr lang="en-US" sz="1400" i="1" dirty="0">
                <a:solidFill>
                  <a:schemeClr val="tx1"/>
                </a:solidFill>
              </a:rPr>
              <a:t>·N</a:t>
            </a:r>
            <a:r>
              <a:rPr lang="en-US" sz="1400" dirty="0">
                <a:solidFill>
                  <a:schemeClr val="tx1"/>
                </a:solidFill>
              </a:rPr>
              <a:t>(t) of such individuals</a:t>
            </a:r>
          </a:p>
          <a:p>
            <a:pPr marL="182563" indent="-182563">
              <a:spcAft>
                <a:spcPts val="600"/>
              </a:spcAft>
            </a:pPr>
            <a:endParaRPr lang="en-US" sz="500" dirty="0">
              <a:solidFill>
                <a:schemeClr val="tx1"/>
              </a:solidFill>
            </a:endParaRPr>
          </a:p>
          <a:p>
            <a:pPr algn="just">
              <a:spcAft>
                <a:spcPts val="600"/>
              </a:spcAft>
            </a:pPr>
            <a:r>
              <a:rPr lang="en-US" sz="1400" dirty="0">
                <a:solidFill>
                  <a:schemeClr val="tx1"/>
                </a:solidFill>
              </a:rPr>
              <a:t>Now it’s time for quite a </a:t>
            </a:r>
            <a:r>
              <a:rPr lang="en-US" sz="1400" b="1" dirty="0">
                <a:solidFill>
                  <a:schemeClr val="tx1"/>
                </a:solidFill>
              </a:rPr>
              <a:t>simplification</a:t>
            </a:r>
            <a:r>
              <a:rPr lang="en-US" sz="1400" dirty="0">
                <a:solidFill>
                  <a:schemeClr val="tx1"/>
                </a:solidFill>
              </a:rPr>
              <a:t> to focus on the essential ideas:</a:t>
            </a:r>
          </a:p>
          <a:p>
            <a:pPr algn="just">
              <a:spcAft>
                <a:spcPts val="600"/>
              </a:spcAft>
            </a:pPr>
            <a:r>
              <a:rPr lang="en-US" sz="1400" dirty="0">
                <a:solidFill>
                  <a:schemeClr val="tx1"/>
                </a:solidFill>
              </a:rPr>
              <a:t>Suppose that the population has asexual reproduction and discrete generations that are non-overlapping (i.e. all adults die before the new generation, as happens in many insect species).</a:t>
            </a:r>
          </a:p>
        </p:txBody>
      </p:sp>
      <p:grpSp>
        <p:nvGrpSpPr>
          <p:cNvPr id="30" name="Gruppieren 43"/>
          <p:cNvGrpSpPr/>
          <p:nvPr/>
        </p:nvGrpSpPr>
        <p:grpSpPr>
          <a:xfrm>
            <a:off x="1115616" y="2283718"/>
            <a:ext cx="650290" cy="685668"/>
            <a:chOff x="2339752" y="1131590"/>
            <a:chExt cx="1229268" cy="1296144"/>
          </a:xfrm>
        </p:grpSpPr>
        <p:pic>
          <p:nvPicPr>
            <p:cNvPr id="45" name="Picture 2" descr="Geschichte: Hirschbrunft in der Südheide"/>
            <p:cNvPicPr>
              <a:picLocks noChangeAspect="1" noChangeArrowheads="1"/>
            </p:cNvPicPr>
            <p:nvPr/>
          </p:nvPicPr>
          <p:blipFill>
            <a:blip r:embed="rId2" cstate="print"/>
            <a:srcRect l="51135" t="27735" r="10499" b="12183"/>
            <a:stretch>
              <a:fillRect/>
            </a:stretch>
          </p:blipFill>
          <p:spPr bwMode="auto">
            <a:xfrm>
              <a:off x="2339752" y="1203598"/>
              <a:ext cx="1172500" cy="1224136"/>
            </a:xfrm>
            <a:prstGeom prst="rect">
              <a:avLst/>
            </a:prstGeom>
            <a:ln>
              <a:noFill/>
            </a:ln>
            <a:effectLst/>
          </p:spPr>
        </p:pic>
        <p:grpSp>
          <p:nvGrpSpPr>
            <p:cNvPr id="33" name="Gruppieren 38"/>
            <p:cNvGrpSpPr/>
            <p:nvPr/>
          </p:nvGrpSpPr>
          <p:grpSpPr>
            <a:xfrm>
              <a:off x="2987824" y="1131590"/>
              <a:ext cx="581196" cy="532145"/>
              <a:chOff x="7452320" y="1131590"/>
              <a:chExt cx="1440160" cy="1318616"/>
            </a:xfrm>
          </p:grpSpPr>
          <p:sp>
            <p:nvSpPr>
              <p:cNvPr id="47" name="Rechteck 46"/>
              <p:cNvSpPr/>
              <p:nvPr/>
            </p:nvSpPr>
            <p:spPr>
              <a:xfrm>
                <a:off x="7452320" y="1131590"/>
                <a:ext cx="1440160" cy="1296144"/>
              </a:xfrm>
              <a:prstGeom prst="rect">
                <a:avLst/>
              </a:prstGeom>
              <a:solidFill>
                <a:schemeClr val="accent2">
                  <a:lumMod val="40000"/>
                  <a:lumOff val="60000"/>
                </a:schemeClr>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8" name="Picture 4" descr="Falke vogel tierform | Kostenlose Icon"/>
              <p:cNvPicPr>
                <a:picLocks noChangeAspect="1" noChangeArrowheads="1"/>
              </p:cNvPicPr>
              <p:nvPr/>
            </p:nvPicPr>
            <p:blipFill>
              <a:blip r:embed="rId3" cstate="print"/>
              <a:srcRect/>
              <a:stretch>
                <a:fillRect/>
              </a:stretch>
            </p:blipFill>
            <p:spPr bwMode="auto">
              <a:xfrm rot="20243383" flipH="1">
                <a:off x="7503272" y="1182543"/>
                <a:ext cx="1267663" cy="1267663"/>
              </a:xfrm>
              <a:prstGeom prst="rect">
                <a:avLst/>
              </a:prstGeom>
              <a:noFill/>
            </p:spPr>
          </p:pic>
        </p:grpSp>
      </p:grpSp>
      <p:grpSp>
        <p:nvGrpSpPr>
          <p:cNvPr id="35" name="Gruppieren 48"/>
          <p:cNvGrpSpPr/>
          <p:nvPr/>
        </p:nvGrpSpPr>
        <p:grpSpPr>
          <a:xfrm>
            <a:off x="251520" y="2859782"/>
            <a:ext cx="648072" cy="699009"/>
            <a:chOff x="2339752" y="2618538"/>
            <a:chExt cx="1225076" cy="1321364"/>
          </a:xfrm>
        </p:grpSpPr>
        <p:pic>
          <p:nvPicPr>
            <p:cNvPr id="50" name="Picture 2" descr="Geschichte: Hirschbrunft in der Südheide"/>
            <p:cNvPicPr>
              <a:picLocks noChangeAspect="1" noChangeArrowheads="1"/>
            </p:cNvPicPr>
            <p:nvPr/>
          </p:nvPicPr>
          <p:blipFill>
            <a:blip r:embed="rId2" cstate="print"/>
            <a:srcRect l="51135" t="27735" r="10499" b="12183"/>
            <a:stretch>
              <a:fillRect/>
            </a:stretch>
          </p:blipFill>
          <p:spPr bwMode="auto">
            <a:xfrm>
              <a:off x="2339752" y="2715766"/>
              <a:ext cx="1172500" cy="1224136"/>
            </a:xfrm>
            <a:prstGeom prst="rect">
              <a:avLst/>
            </a:prstGeom>
            <a:ln>
              <a:noFill/>
            </a:ln>
            <a:effectLst/>
          </p:spPr>
        </p:pic>
        <p:grpSp>
          <p:nvGrpSpPr>
            <p:cNvPr id="38" name="Gruppieren 18"/>
            <p:cNvGrpSpPr/>
            <p:nvPr/>
          </p:nvGrpSpPr>
          <p:grpSpPr>
            <a:xfrm>
              <a:off x="2983632" y="2618538"/>
              <a:ext cx="581196" cy="552136"/>
              <a:chOff x="251520" y="1059582"/>
              <a:chExt cx="1440160" cy="1368152"/>
            </a:xfrm>
          </p:grpSpPr>
          <p:sp>
            <p:nvSpPr>
              <p:cNvPr id="52" name="Rechteck 51"/>
              <p:cNvSpPr/>
              <p:nvPr/>
            </p:nvSpPr>
            <p:spPr>
              <a:xfrm>
                <a:off x="251520" y="1131590"/>
                <a:ext cx="1440160" cy="1296144"/>
              </a:xfrm>
              <a:prstGeom prst="rect">
                <a:avLst/>
              </a:prstGeom>
              <a:solidFill>
                <a:schemeClr val="tx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3" name="Picture 6" descr="Bird Silhouettes | Bird silhouette, Silhouette, Owl silhouette"/>
              <p:cNvPicPr>
                <a:picLocks noChangeAspect="1" noChangeArrowheads="1"/>
              </p:cNvPicPr>
              <p:nvPr/>
            </p:nvPicPr>
            <p:blipFill>
              <a:blip r:embed="rId4" cstate="print"/>
              <a:srcRect/>
              <a:stretch>
                <a:fillRect/>
              </a:stretch>
            </p:blipFill>
            <p:spPr bwMode="auto">
              <a:xfrm>
                <a:off x="395536" y="1059582"/>
                <a:ext cx="1080120" cy="1339939"/>
              </a:xfrm>
              <a:prstGeom prst="rect">
                <a:avLst/>
              </a:prstGeom>
              <a:noFill/>
            </p:spPr>
          </p:pic>
        </p:grpSp>
      </p:grpSp>
      <p:grpSp>
        <p:nvGrpSpPr>
          <p:cNvPr id="40" name="Gruppieren 53"/>
          <p:cNvGrpSpPr/>
          <p:nvPr/>
        </p:nvGrpSpPr>
        <p:grpSpPr>
          <a:xfrm>
            <a:off x="2411760" y="3867894"/>
            <a:ext cx="648072" cy="699009"/>
            <a:chOff x="2339752" y="2618538"/>
            <a:chExt cx="1225076" cy="1321364"/>
          </a:xfrm>
        </p:grpSpPr>
        <p:pic>
          <p:nvPicPr>
            <p:cNvPr id="55" name="Picture 2" descr="Geschichte: Hirschbrunft in der Südheide"/>
            <p:cNvPicPr>
              <a:picLocks noChangeAspect="1" noChangeArrowheads="1"/>
            </p:cNvPicPr>
            <p:nvPr/>
          </p:nvPicPr>
          <p:blipFill>
            <a:blip r:embed="rId2" cstate="print"/>
            <a:srcRect l="51135" t="27735" r="10499" b="12183"/>
            <a:stretch>
              <a:fillRect/>
            </a:stretch>
          </p:blipFill>
          <p:spPr bwMode="auto">
            <a:xfrm>
              <a:off x="2339752" y="2715766"/>
              <a:ext cx="1172500" cy="1224136"/>
            </a:xfrm>
            <a:prstGeom prst="rect">
              <a:avLst/>
            </a:prstGeom>
            <a:ln>
              <a:noFill/>
            </a:ln>
            <a:effectLst/>
          </p:spPr>
        </p:pic>
        <p:grpSp>
          <p:nvGrpSpPr>
            <p:cNvPr id="44" name="Gruppieren 18"/>
            <p:cNvGrpSpPr/>
            <p:nvPr/>
          </p:nvGrpSpPr>
          <p:grpSpPr>
            <a:xfrm>
              <a:off x="2983632" y="2618538"/>
              <a:ext cx="581196" cy="552136"/>
              <a:chOff x="251520" y="1059582"/>
              <a:chExt cx="1440160" cy="1368152"/>
            </a:xfrm>
          </p:grpSpPr>
          <p:sp>
            <p:nvSpPr>
              <p:cNvPr id="57" name="Rechteck 56"/>
              <p:cNvSpPr/>
              <p:nvPr/>
            </p:nvSpPr>
            <p:spPr>
              <a:xfrm>
                <a:off x="251520" y="1131590"/>
                <a:ext cx="1440160" cy="1296144"/>
              </a:xfrm>
              <a:prstGeom prst="rect">
                <a:avLst/>
              </a:prstGeom>
              <a:solidFill>
                <a:schemeClr val="tx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8" name="Picture 6" descr="Bird Silhouettes | Bird silhouette, Silhouette, Owl silhouette"/>
              <p:cNvPicPr>
                <a:picLocks noChangeAspect="1" noChangeArrowheads="1"/>
              </p:cNvPicPr>
              <p:nvPr/>
            </p:nvPicPr>
            <p:blipFill>
              <a:blip r:embed="rId4" cstate="print"/>
              <a:srcRect/>
              <a:stretch>
                <a:fillRect/>
              </a:stretch>
            </p:blipFill>
            <p:spPr bwMode="auto">
              <a:xfrm>
                <a:off x="395536" y="1059582"/>
                <a:ext cx="1080120" cy="1339939"/>
              </a:xfrm>
              <a:prstGeom prst="rect">
                <a:avLst/>
              </a:prstGeom>
              <a:noFill/>
            </p:spPr>
          </p:pic>
        </p:grpSp>
      </p:grpSp>
      <p:grpSp>
        <p:nvGrpSpPr>
          <p:cNvPr id="46" name="Gruppieren 58"/>
          <p:cNvGrpSpPr/>
          <p:nvPr/>
        </p:nvGrpSpPr>
        <p:grpSpPr>
          <a:xfrm>
            <a:off x="3203848" y="4299942"/>
            <a:ext cx="648072" cy="699009"/>
            <a:chOff x="2339752" y="2618538"/>
            <a:chExt cx="1225076" cy="1321364"/>
          </a:xfrm>
        </p:grpSpPr>
        <p:pic>
          <p:nvPicPr>
            <p:cNvPr id="60" name="Picture 2" descr="Geschichte: Hirschbrunft in der Südheide"/>
            <p:cNvPicPr>
              <a:picLocks noChangeAspect="1" noChangeArrowheads="1"/>
            </p:cNvPicPr>
            <p:nvPr/>
          </p:nvPicPr>
          <p:blipFill>
            <a:blip r:embed="rId2" cstate="print"/>
            <a:srcRect l="51135" t="27735" r="10499" b="12183"/>
            <a:stretch>
              <a:fillRect/>
            </a:stretch>
          </p:blipFill>
          <p:spPr bwMode="auto">
            <a:xfrm>
              <a:off x="2339752" y="2715766"/>
              <a:ext cx="1172500" cy="1224136"/>
            </a:xfrm>
            <a:prstGeom prst="rect">
              <a:avLst/>
            </a:prstGeom>
            <a:ln>
              <a:noFill/>
            </a:ln>
            <a:effectLst/>
          </p:spPr>
        </p:pic>
        <p:grpSp>
          <p:nvGrpSpPr>
            <p:cNvPr id="49" name="Gruppieren 18"/>
            <p:cNvGrpSpPr/>
            <p:nvPr/>
          </p:nvGrpSpPr>
          <p:grpSpPr>
            <a:xfrm>
              <a:off x="2983632" y="2618538"/>
              <a:ext cx="581196" cy="552136"/>
              <a:chOff x="251520" y="1059582"/>
              <a:chExt cx="1440160" cy="1368152"/>
            </a:xfrm>
          </p:grpSpPr>
          <p:sp>
            <p:nvSpPr>
              <p:cNvPr id="62" name="Rechteck 61"/>
              <p:cNvSpPr/>
              <p:nvPr/>
            </p:nvSpPr>
            <p:spPr>
              <a:xfrm>
                <a:off x="251520" y="1131590"/>
                <a:ext cx="1440160" cy="1296144"/>
              </a:xfrm>
              <a:prstGeom prst="rect">
                <a:avLst/>
              </a:prstGeom>
              <a:solidFill>
                <a:schemeClr val="tx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3" name="Picture 6" descr="Bird Silhouettes | Bird silhouette, Silhouette, Owl silhouette"/>
              <p:cNvPicPr>
                <a:picLocks noChangeAspect="1" noChangeArrowheads="1"/>
              </p:cNvPicPr>
              <p:nvPr/>
            </p:nvPicPr>
            <p:blipFill>
              <a:blip r:embed="rId4" cstate="print"/>
              <a:srcRect/>
              <a:stretch>
                <a:fillRect/>
              </a:stretch>
            </p:blipFill>
            <p:spPr bwMode="auto">
              <a:xfrm>
                <a:off x="395536" y="1059582"/>
                <a:ext cx="1080120" cy="1339939"/>
              </a:xfrm>
              <a:prstGeom prst="rect">
                <a:avLst/>
              </a:prstGeom>
              <a:noFill/>
            </p:spPr>
          </p:pic>
        </p:grpSp>
      </p:grpSp>
      <p:grpSp>
        <p:nvGrpSpPr>
          <p:cNvPr id="51" name="Gruppieren 63"/>
          <p:cNvGrpSpPr/>
          <p:nvPr/>
        </p:nvGrpSpPr>
        <p:grpSpPr>
          <a:xfrm>
            <a:off x="2267744" y="2715766"/>
            <a:ext cx="648072" cy="699009"/>
            <a:chOff x="2339752" y="2618538"/>
            <a:chExt cx="1225076" cy="1321364"/>
          </a:xfrm>
        </p:grpSpPr>
        <p:pic>
          <p:nvPicPr>
            <p:cNvPr id="65" name="Picture 2" descr="Geschichte: Hirschbrunft in der Südheide"/>
            <p:cNvPicPr>
              <a:picLocks noChangeAspect="1" noChangeArrowheads="1"/>
            </p:cNvPicPr>
            <p:nvPr/>
          </p:nvPicPr>
          <p:blipFill>
            <a:blip r:embed="rId2" cstate="print"/>
            <a:srcRect l="51135" t="27735" r="10499" b="12183"/>
            <a:stretch>
              <a:fillRect/>
            </a:stretch>
          </p:blipFill>
          <p:spPr bwMode="auto">
            <a:xfrm>
              <a:off x="2339752" y="2715766"/>
              <a:ext cx="1172500" cy="1224136"/>
            </a:xfrm>
            <a:prstGeom prst="rect">
              <a:avLst/>
            </a:prstGeom>
            <a:ln>
              <a:noFill/>
            </a:ln>
            <a:effectLst/>
          </p:spPr>
        </p:pic>
        <p:grpSp>
          <p:nvGrpSpPr>
            <p:cNvPr id="54" name="Gruppieren 18"/>
            <p:cNvGrpSpPr/>
            <p:nvPr/>
          </p:nvGrpSpPr>
          <p:grpSpPr>
            <a:xfrm>
              <a:off x="2983632" y="2618538"/>
              <a:ext cx="581196" cy="552136"/>
              <a:chOff x="251520" y="1059582"/>
              <a:chExt cx="1440160" cy="1368152"/>
            </a:xfrm>
          </p:grpSpPr>
          <p:sp>
            <p:nvSpPr>
              <p:cNvPr id="67" name="Rechteck 66"/>
              <p:cNvSpPr/>
              <p:nvPr/>
            </p:nvSpPr>
            <p:spPr>
              <a:xfrm>
                <a:off x="251520" y="1131590"/>
                <a:ext cx="1440160" cy="1296144"/>
              </a:xfrm>
              <a:prstGeom prst="rect">
                <a:avLst/>
              </a:prstGeom>
              <a:solidFill>
                <a:schemeClr val="tx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8" name="Picture 6" descr="Bird Silhouettes | Bird silhouette, Silhouette, Owl silhouette"/>
              <p:cNvPicPr>
                <a:picLocks noChangeAspect="1" noChangeArrowheads="1"/>
              </p:cNvPicPr>
              <p:nvPr/>
            </p:nvPicPr>
            <p:blipFill>
              <a:blip r:embed="rId4" cstate="print"/>
              <a:srcRect/>
              <a:stretch>
                <a:fillRect/>
              </a:stretch>
            </p:blipFill>
            <p:spPr bwMode="auto">
              <a:xfrm>
                <a:off x="395536" y="1059582"/>
                <a:ext cx="1080120" cy="1339939"/>
              </a:xfrm>
              <a:prstGeom prst="rect">
                <a:avLst/>
              </a:prstGeom>
              <a:noFill/>
            </p:spPr>
          </p:pic>
        </p:grpSp>
      </p:grpSp>
      <p:grpSp>
        <p:nvGrpSpPr>
          <p:cNvPr id="56" name="Gruppieren 68"/>
          <p:cNvGrpSpPr/>
          <p:nvPr/>
        </p:nvGrpSpPr>
        <p:grpSpPr>
          <a:xfrm>
            <a:off x="3203848" y="2211710"/>
            <a:ext cx="650290" cy="685668"/>
            <a:chOff x="2339752" y="1131590"/>
            <a:chExt cx="1229268" cy="1296144"/>
          </a:xfrm>
        </p:grpSpPr>
        <p:pic>
          <p:nvPicPr>
            <p:cNvPr id="70" name="Picture 2" descr="Geschichte: Hirschbrunft in der Südheide"/>
            <p:cNvPicPr>
              <a:picLocks noChangeAspect="1" noChangeArrowheads="1"/>
            </p:cNvPicPr>
            <p:nvPr/>
          </p:nvPicPr>
          <p:blipFill>
            <a:blip r:embed="rId2" cstate="print"/>
            <a:srcRect l="51135" t="27735" r="10499" b="12183"/>
            <a:stretch>
              <a:fillRect/>
            </a:stretch>
          </p:blipFill>
          <p:spPr bwMode="auto">
            <a:xfrm>
              <a:off x="2339752" y="1203598"/>
              <a:ext cx="1172500" cy="1224136"/>
            </a:xfrm>
            <a:prstGeom prst="rect">
              <a:avLst/>
            </a:prstGeom>
            <a:ln>
              <a:noFill/>
            </a:ln>
            <a:effectLst/>
          </p:spPr>
        </p:pic>
        <p:grpSp>
          <p:nvGrpSpPr>
            <p:cNvPr id="59" name="Gruppieren 38"/>
            <p:cNvGrpSpPr/>
            <p:nvPr/>
          </p:nvGrpSpPr>
          <p:grpSpPr>
            <a:xfrm>
              <a:off x="2987824" y="1131590"/>
              <a:ext cx="581196" cy="532145"/>
              <a:chOff x="7452320" y="1131590"/>
              <a:chExt cx="1440160" cy="1318616"/>
            </a:xfrm>
          </p:grpSpPr>
          <p:sp>
            <p:nvSpPr>
              <p:cNvPr id="72" name="Rechteck 71"/>
              <p:cNvSpPr/>
              <p:nvPr/>
            </p:nvSpPr>
            <p:spPr>
              <a:xfrm>
                <a:off x="7452320" y="1131590"/>
                <a:ext cx="1440160" cy="1296144"/>
              </a:xfrm>
              <a:prstGeom prst="rect">
                <a:avLst/>
              </a:prstGeom>
              <a:solidFill>
                <a:schemeClr val="accent2">
                  <a:lumMod val="40000"/>
                  <a:lumOff val="60000"/>
                </a:schemeClr>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3" name="Picture 4" descr="Falke vogel tierform | Kostenlose Icon"/>
              <p:cNvPicPr>
                <a:picLocks noChangeAspect="1" noChangeArrowheads="1"/>
              </p:cNvPicPr>
              <p:nvPr/>
            </p:nvPicPr>
            <p:blipFill>
              <a:blip r:embed="rId3" cstate="print"/>
              <a:srcRect/>
              <a:stretch>
                <a:fillRect/>
              </a:stretch>
            </p:blipFill>
            <p:spPr bwMode="auto">
              <a:xfrm rot="20243383" flipH="1">
                <a:off x="7503272" y="1182543"/>
                <a:ext cx="1267663" cy="1267663"/>
              </a:xfrm>
              <a:prstGeom prst="rect">
                <a:avLst/>
              </a:prstGeom>
              <a:noFill/>
            </p:spPr>
          </p:pic>
        </p:grpSp>
      </p:grpSp>
      <p:sp>
        <p:nvSpPr>
          <p:cNvPr id="118" name="Textfeld 117"/>
          <p:cNvSpPr txBox="1"/>
          <p:nvPr/>
        </p:nvSpPr>
        <p:spPr>
          <a:xfrm>
            <a:off x="251520" y="4587974"/>
            <a:ext cx="928459" cy="461665"/>
          </a:xfrm>
          <a:prstGeom prst="rect">
            <a:avLst/>
          </a:prstGeom>
          <a:noFill/>
        </p:spPr>
        <p:txBody>
          <a:bodyPr wrap="none" rtlCol="0">
            <a:spAutoFit/>
          </a:bodyPr>
          <a:lstStyle/>
          <a:p>
            <a:r>
              <a:rPr lang="en-US" sz="1200" dirty="0"/>
              <a:t>stag</a:t>
            </a:r>
          </a:p>
          <a:p>
            <a:r>
              <a:rPr lang="en-US" sz="1200" dirty="0"/>
              <a:t>= male deer</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en-US" dirty="0"/>
              <a:t>… such that the populations in  the next generation are obtained with the aid of fitness functions</a:t>
            </a:r>
          </a:p>
        </p:txBody>
      </p:sp>
      <p:sp>
        <p:nvSpPr>
          <p:cNvPr id="3" name="Rechteck 2"/>
          <p:cNvSpPr/>
          <p:nvPr/>
        </p:nvSpPr>
        <p:spPr>
          <a:xfrm>
            <a:off x="1691680" y="1131590"/>
            <a:ext cx="7200800" cy="3888432"/>
          </a:xfrm>
          <a:prstGeom prst="rect">
            <a:avLst/>
          </a:prstGeom>
          <a:noFill/>
          <a:ln>
            <a:solidFill>
              <a:schemeClr val="tx2">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spcAft>
                <a:spcPts val="600"/>
              </a:spcAft>
            </a:pPr>
            <a:endParaRPr lang="en-US" sz="1400" dirty="0">
              <a:solidFill>
                <a:schemeClr val="tx1"/>
              </a:solidFill>
            </a:endParaRPr>
          </a:p>
        </p:txBody>
      </p:sp>
      <p:grpSp>
        <p:nvGrpSpPr>
          <p:cNvPr id="4" name="Gruppieren 38"/>
          <p:cNvGrpSpPr/>
          <p:nvPr/>
        </p:nvGrpSpPr>
        <p:grpSpPr>
          <a:xfrm>
            <a:off x="570032" y="1131590"/>
            <a:ext cx="581196" cy="532145"/>
            <a:chOff x="7452320" y="1131590"/>
            <a:chExt cx="1440160" cy="1318616"/>
          </a:xfrm>
        </p:grpSpPr>
        <p:sp>
          <p:nvSpPr>
            <p:cNvPr id="40" name="Rechteck 39"/>
            <p:cNvSpPr/>
            <p:nvPr/>
          </p:nvSpPr>
          <p:spPr>
            <a:xfrm>
              <a:off x="7452320" y="1131590"/>
              <a:ext cx="1440160" cy="1296144"/>
            </a:xfrm>
            <a:prstGeom prst="rect">
              <a:avLst/>
            </a:prstGeom>
            <a:solidFill>
              <a:schemeClr val="accent2">
                <a:lumMod val="40000"/>
                <a:lumOff val="60000"/>
              </a:schemeClr>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1" name="Picture 4 1" descr="Falke vogel tierform | Kostenlose Icon"/>
            <p:cNvPicPr>
              <a:picLocks noChangeAspect="1" noChangeArrowheads="1"/>
            </p:cNvPicPr>
            <p:nvPr/>
          </p:nvPicPr>
          <p:blipFill>
            <a:blip r:embed="rId3" cstate="print"/>
            <a:srcRect/>
            <a:stretch>
              <a:fillRect/>
            </a:stretch>
          </p:blipFill>
          <p:spPr bwMode="auto">
            <a:xfrm rot="20243383" flipH="1">
              <a:off x="7503272" y="1182543"/>
              <a:ext cx="1267663" cy="1267663"/>
            </a:xfrm>
            <a:prstGeom prst="rect">
              <a:avLst/>
            </a:prstGeom>
            <a:noFill/>
          </p:spPr>
        </p:pic>
      </p:grpSp>
      <p:grpSp>
        <p:nvGrpSpPr>
          <p:cNvPr id="5" name="Gruppieren 18"/>
          <p:cNvGrpSpPr/>
          <p:nvPr/>
        </p:nvGrpSpPr>
        <p:grpSpPr>
          <a:xfrm>
            <a:off x="570032" y="2980938"/>
            <a:ext cx="581196" cy="552136"/>
            <a:chOff x="251520" y="1059582"/>
            <a:chExt cx="1440160" cy="1368152"/>
          </a:xfrm>
        </p:grpSpPr>
        <p:sp>
          <p:nvSpPr>
            <p:cNvPr id="43" name="Rechteck 42"/>
            <p:cNvSpPr/>
            <p:nvPr/>
          </p:nvSpPr>
          <p:spPr>
            <a:xfrm>
              <a:off x="251520" y="1131590"/>
              <a:ext cx="1440160" cy="1296144"/>
            </a:xfrm>
            <a:prstGeom prst="rect">
              <a:avLst/>
            </a:prstGeom>
            <a:solidFill>
              <a:schemeClr val="tx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4" name="Picture 6 1" descr="Bird Silhouettes | Bird silhouette, Silhouette, Owl silhouette"/>
            <p:cNvPicPr>
              <a:picLocks noChangeAspect="1" noChangeArrowheads="1"/>
            </p:cNvPicPr>
            <p:nvPr/>
          </p:nvPicPr>
          <p:blipFill>
            <a:blip r:embed="rId4" cstate="print"/>
            <a:srcRect/>
            <a:stretch>
              <a:fillRect/>
            </a:stretch>
          </p:blipFill>
          <p:spPr bwMode="auto">
            <a:xfrm>
              <a:off x="395536" y="1059582"/>
              <a:ext cx="1080120" cy="1339939"/>
            </a:xfrm>
            <a:prstGeom prst="rect">
              <a:avLst/>
            </a:prstGeom>
            <a:noFill/>
          </p:spPr>
        </p:pic>
      </p:grpSp>
      <p:pic>
        <p:nvPicPr>
          <p:cNvPr id="45" name="Grafik 44" descr="IguanaTex_tmp.png"/>
          <p:cNvPicPr>
            <a:picLocks noChangeAspect="1"/>
          </p:cNvPicPr>
          <p:nvPr>
            <p:custDataLst>
              <p:tags r:id="rId1"/>
            </p:custDataLst>
          </p:nvPr>
        </p:nvPicPr>
        <p:blipFill>
          <a:blip r:embed="rId5" cstate="print"/>
          <a:stretch>
            <a:fillRect/>
          </a:stretch>
        </p:blipFill>
        <p:spPr>
          <a:xfrm>
            <a:off x="1763691" y="1203553"/>
            <a:ext cx="7043305" cy="3729091"/>
          </a:xfrm>
          <a:prstGeom prst="rect">
            <a:avLst/>
          </a:prstGeom>
          <a:noFill/>
          <a:ln/>
          <a:effectLst/>
        </p:spPr>
      </p:pic>
      <p:grpSp>
        <p:nvGrpSpPr>
          <p:cNvPr id="6" name="Gruppieren 46"/>
          <p:cNvGrpSpPr/>
          <p:nvPr/>
        </p:nvGrpSpPr>
        <p:grpSpPr>
          <a:xfrm>
            <a:off x="251520" y="1938918"/>
            <a:ext cx="351656" cy="321977"/>
            <a:chOff x="7452320" y="1131590"/>
            <a:chExt cx="1440160" cy="1318616"/>
          </a:xfrm>
        </p:grpSpPr>
        <p:sp>
          <p:nvSpPr>
            <p:cNvPr id="48" name="Rechteck 47"/>
            <p:cNvSpPr/>
            <p:nvPr/>
          </p:nvSpPr>
          <p:spPr>
            <a:xfrm>
              <a:off x="7452320" y="1131590"/>
              <a:ext cx="1440160" cy="1296144"/>
            </a:xfrm>
            <a:prstGeom prst="rect">
              <a:avLst/>
            </a:prstGeom>
            <a:solidFill>
              <a:schemeClr val="accent2">
                <a:lumMod val="40000"/>
                <a:lumOff val="60000"/>
              </a:schemeClr>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9" name="Picture 4 2" descr="Falke vogel tierform | Kostenlose Icon"/>
            <p:cNvPicPr>
              <a:picLocks noChangeAspect="1" noChangeArrowheads="1"/>
            </p:cNvPicPr>
            <p:nvPr/>
          </p:nvPicPr>
          <p:blipFill>
            <a:blip r:embed="rId6" cstate="print"/>
            <a:srcRect/>
            <a:stretch>
              <a:fillRect/>
            </a:stretch>
          </p:blipFill>
          <p:spPr bwMode="auto">
            <a:xfrm rot="20243383" flipH="1">
              <a:off x="7503272" y="1182543"/>
              <a:ext cx="1267663" cy="1267663"/>
            </a:xfrm>
            <a:prstGeom prst="rect">
              <a:avLst/>
            </a:prstGeom>
            <a:noFill/>
          </p:spPr>
        </p:pic>
      </p:grpSp>
      <p:grpSp>
        <p:nvGrpSpPr>
          <p:cNvPr id="7" name="Gruppieren 18"/>
          <p:cNvGrpSpPr/>
          <p:nvPr/>
        </p:nvGrpSpPr>
        <p:grpSpPr>
          <a:xfrm>
            <a:off x="899592" y="1923678"/>
            <a:ext cx="351656" cy="334073"/>
            <a:chOff x="251520" y="1059582"/>
            <a:chExt cx="1440160" cy="1368152"/>
          </a:xfrm>
        </p:grpSpPr>
        <p:sp>
          <p:nvSpPr>
            <p:cNvPr id="51" name="Rechteck 50"/>
            <p:cNvSpPr/>
            <p:nvPr/>
          </p:nvSpPr>
          <p:spPr>
            <a:xfrm>
              <a:off x="251520" y="1131590"/>
              <a:ext cx="1440160" cy="1296144"/>
            </a:xfrm>
            <a:prstGeom prst="rect">
              <a:avLst/>
            </a:prstGeom>
            <a:solidFill>
              <a:schemeClr val="tx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2" name="Picture 6 2" descr="Bird Silhouettes | Bird silhouette, Silhouette, Owl silhouette"/>
            <p:cNvPicPr>
              <a:picLocks noChangeAspect="1" noChangeArrowheads="1"/>
            </p:cNvPicPr>
            <p:nvPr/>
          </p:nvPicPr>
          <p:blipFill>
            <a:blip r:embed="rId7" cstate="print"/>
            <a:srcRect/>
            <a:stretch>
              <a:fillRect/>
            </a:stretch>
          </p:blipFill>
          <p:spPr bwMode="auto">
            <a:xfrm>
              <a:off x="395536" y="1059582"/>
              <a:ext cx="1080120" cy="1339939"/>
            </a:xfrm>
            <a:prstGeom prst="rect">
              <a:avLst/>
            </a:prstGeom>
            <a:noFill/>
          </p:spPr>
        </p:pic>
      </p:grpSp>
      <p:grpSp>
        <p:nvGrpSpPr>
          <p:cNvPr id="8" name="Gruppieren 52"/>
          <p:cNvGrpSpPr/>
          <p:nvPr/>
        </p:nvGrpSpPr>
        <p:grpSpPr>
          <a:xfrm>
            <a:off x="359532" y="2091318"/>
            <a:ext cx="351656" cy="321977"/>
            <a:chOff x="7452320" y="1131590"/>
            <a:chExt cx="1440160" cy="1318616"/>
          </a:xfrm>
        </p:grpSpPr>
        <p:sp>
          <p:nvSpPr>
            <p:cNvPr id="54" name="Rechteck 53"/>
            <p:cNvSpPr/>
            <p:nvPr/>
          </p:nvSpPr>
          <p:spPr>
            <a:xfrm>
              <a:off x="7452320" y="1131590"/>
              <a:ext cx="1440160" cy="1296144"/>
            </a:xfrm>
            <a:prstGeom prst="rect">
              <a:avLst/>
            </a:prstGeom>
            <a:solidFill>
              <a:schemeClr val="accent2">
                <a:lumMod val="40000"/>
                <a:lumOff val="60000"/>
              </a:schemeClr>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5" name="Picture 4 3" descr="Falke vogel tierform | Kostenlose Icon"/>
            <p:cNvPicPr>
              <a:picLocks noChangeAspect="1" noChangeArrowheads="1"/>
            </p:cNvPicPr>
            <p:nvPr/>
          </p:nvPicPr>
          <p:blipFill>
            <a:blip r:embed="rId6" cstate="print"/>
            <a:srcRect/>
            <a:stretch>
              <a:fillRect/>
            </a:stretch>
          </p:blipFill>
          <p:spPr bwMode="auto">
            <a:xfrm rot="20243383" flipH="1">
              <a:off x="7503272" y="1182543"/>
              <a:ext cx="1267663" cy="1267663"/>
            </a:xfrm>
            <a:prstGeom prst="rect">
              <a:avLst/>
            </a:prstGeom>
            <a:noFill/>
          </p:spPr>
        </p:pic>
      </p:grpSp>
      <p:grpSp>
        <p:nvGrpSpPr>
          <p:cNvPr id="9" name="Gruppieren 18"/>
          <p:cNvGrpSpPr/>
          <p:nvPr/>
        </p:nvGrpSpPr>
        <p:grpSpPr>
          <a:xfrm>
            <a:off x="1007604" y="2076078"/>
            <a:ext cx="351656" cy="334073"/>
            <a:chOff x="251520" y="1059582"/>
            <a:chExt cx="1440160" cy="1368152"/>
          </a:xfrm>
        </p:grpSpPr>
        <p:sp>
          <p:nvSpPr>
            <p:cNvPr id="57" name="Rechteck 56"/>
            <p:cNvSpPr/>
            <p:nvPr/>
          </p:nvSpPr>
          <p:spPr>
            <a:xfrm>
              <a:off x="251520" y="1131590"/>
              <a:ext cx="1440160" cy="1296144"/>
            </a:xfrm>
            <a:prstGeom prst="rect">
              <a:avLst/>
            </a:prstGeom>
            <a:solidFill>
              <a:schemeClr val="tx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8" name="Picture 6 3" descr="Bird Silhouettes | Bird silhouette, Silhouette, Owl silhouette"/>
            <p:cNvPicPr>
              <a:picLocks noChangeAspect="1" noChangeArrowheads="1"/>
            </p:cNvPicPr>
            <p:nvPr/>
          </p:nvPicPr>
          <p:blipFill>
            <a:blip r:embed="rId7" cstate="print"/>
            <a:srcRect/>
            <a:stretch>
              <a:fillRect/>
            </a:stretch>
          </p:blipFill>
          <p:spPr bwMode="auto">
            <a:xfrm>
              <a:off x="395536" y="1059582"/>
              <a:ext cx="1080120" cy="1339939"/>
            </a:xfrm>
            <a:prstGeom prst="rect">
              <a:avLst/>
            </a:prstGeom>
            <a:noFill/>
          </p:spPr>
        </p:pic>
      </p:grpSp>
      <p:grpSp>
        <p:nvGrpSpPr>
          <p:cNvPr id="10" name="Gruppieren 58"/>
          <p:cNvGrpSpPr/>
          <p:nvPr/>
        </p:nvGrpSpPr>
        <p:grpSpPr>
          <a:xfrm>
            <a:off x="467544" y="2243718"/>
            <a:ext cx="351656" cy="321977"/>
            <a:chOff x="7452320" y="1131590"/>
            <a:chExt cx="1440160" cy="1318616"/>
          </a:xfrm>
        </p:grpSpPr>
        <p:sp>
          <p:nvSpPr>
            <p:cNvPr id="60" name="Rechteck 59"/>
            <p:cNvSpPr/>
            <p:nvPr/>
          </p:nvSpPr>
          <p:spPr>
            <a:xfrm>
              <a:off x="7452320" y="1131590"/>
              <a:ext cx="1440160" cy="1296144"/>
            </a:xfrm>
            <a:prstGeom prst="rect">
              <a:avLst/>
            </a:prstGeom>
            <a:solidFill>
              <a:schemeClr val="accent2">
                <a:lumMod val="40000"/>
                <a:lumOff val="60000"/>
              </a:schemeClr>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1" name="Picture 4 4" descr="Falke vogel tierform | Kostenlose Icon"/>
            <p:cNvPicPr>
              <a:picLocks noChangeAspect="1" noChangeArrowheads="1"/>
            </p:cNvPicPr>
            <p:nvPr/>
          </p:nvPicPr>
          <p:blipFill>
            <a:blip r:embed="rId6" cstate="print"/>
            <a:srcRect/>
            <a:stretch>
              <a:fillRect/>
            </a:stretch>
          </p:blipFill>
          <p:spPr bwMode="auto">
            <a:xfrm rot="20243383" flipH="1">
              <a:off x="7503272" y="1182543"/>
              <a:ext cx="1267663" cy="1267663"/>
            </a:xfrm>
            <a:prstGeom prst="rect">
              <a:avLst/>
            </a:prstGeom>
            <a:noFill/>
          </p:spPr>
        </p:pic>
      </p:grpSp>
      <p:cxnSp>
        <p:nvCxnSpPr>
          <p:cNvPr id="66" name="Gerade Verbindung 65"/>
          <p:cNvCxnSpPr/>
          <p:nvPr/>
        </p:nvCxnSpPr>
        <p:spPr>
          <a:xfrm flipH="1">
            <a:off x="467544" y="1707654"/>
            <a:ext cx="360040" cy="144016"/>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8" name="Gerade Verbindung 67"/>
          <p:cNvCxnSpPr/>
          <p:nvPr/>
        </p:nvCxnSpPr>
        <p:spPr>
          <a:xfrm>
            <a:off x="827584" y="1707654"/>
            <a:ext cx="288032" cy="144016"/>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nvGrpSpPr>
          <p:cNvPr id="11" name="Gruppieren 71"/>
          <p:cNvGrpSpPr/>
          <p:nvPr/>
        </p:nvGrpSpPr>
        <p:grpSpPr>
          <a:xfrm>
            <a:off x="251520" y="3817181"/>
            <a:ext cx="351656" cy="321977"/>
            <a:chOff x="7452320" y="1131590"/>
            <a:chExt cx="1440160" cy="1318616"/>
          </a:xfrm>
        </p:grpSpPr>
        <p:sp>
          <p:nvSpPr>
            <p:cNvPr id="73" name="Rechteck 72"/>
            <p:cNvSpPr/>
            <p:nvPr/>
          </p:nvSpPr>
          <p:spPr>
            <a:xfrm>
              <a:off x="7452320" y="1131590"/>
              <a:ext cx="1440160" cy="1296144"/>
            </a:xfrm>
            <a:prstGeom prst="rect">
              <a:avLst/>
            </a:prstGeom>
            <a:solidFill>
              <a:schemeClr val="accent2">
                <a:lumMod val="40000"/>
                <a:lumOff val="60000"/>
              </a:schemeClr>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4" name="Picture 4 5" descr="Falke vogel tierform | Kostenlose Icon"/>
            <p:cNvPicPr>
              <a:picLocks noChangeAspect="1" noChangeArrowheads="1"/>
            </p:cNvPicPr>
            <p:nvPr/>
          </p:nvPicPr>
          <p:blipFill>
            <a:blip r:embed="rId6" cstate="print"/>
            <a:srcRect/>
            <a:stretch>
              <a:fillRect/>
            </a:stretch>
          </p:blipFill>
          <p:spPr bwMode="auto">
            <a:xfrm rot="20243383" flipH="1">
              <a:off x="7503272" y="1182543"/>
              <a:ext cx="1267663" cy="1267663"/>
            </a:xfrm>
            <a:prstGeom prst="rect">
              <a:avLst/>
            </a:prstGeom>
            <a:noFill/>
          </p:spPr>
        </p:pic>
      </p:grpSp>
      <p:grpSp>
        <p:nvGrpSpPr>
          <p:cNvPr id="12" name="Gruppieren 18"/>
          <p:cNvGrpSpPr/>
          <p:nvPr/>
        </p:nvGrpSpPr>
        <p:grpSpPr>
          <a:xfrm>
            <a:off x="899592" y="3801941"/>
            <a:ext cx="351656" cy="334073"/>
            <a:chOff x="251520" y="1059582"/>
            <a:chExt cx="1440160" cy="1368152"/>
          </a:xfrm>
        </p:grpSpPr>
        <p:sp>
          <p:nvSpPr>
            <p:cNvPr id="76" name="Rechteck 75"/>
            <p:cNvSpPr/>
            <p:nvPr/>
          </p:nvSpPr>
          <p:spPr>
            <a:xfrm>
              <a:off x="251520" y="1131590"/>
              <a:ext cx="1440160" cy="1296144"/>
            </a:xfrm>
            <a:prstGeom prst="rect">
              <a:avLst/>
            </a:prstGeom>
            <a:solidFill>
              <a:schemeClr val="tx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7" name="Picture 6 4" descr="Bird Silhouettes | Bird silhouette, Silhouette, Owl silhouette"/>
            <p:cNvPicPr>
              <a:picLocks noChangeAspect="1" noChangeArrowheads="1"/>
            </p:cNvPicPr>
            <p:nvPr/>
          </p:nvPicPr>
          <p:blipFill>
            <a:blip r:embed="rId7" cstate="print"/>
            <a:srcRect/>
            <a:stretch>
              <a:fillRect/>
            </a:stretch>
          </p:blipFill>
          <p:spPr bwMode="auto">
            <a:xfrm>
              <a:off x="395536" y="1059582"/>
              <a:ext cx="1080120" cy="1339939"/>
            </a:xfrm>
            <a:prstGeom prst="rect">
              <a:avLst/>
            </a:prstGeom>
            <a:noFill/>
          </p:spPr>
        </p:pic>
      </p:grpSp>
      <p:grpSp>
        <p:nvGrpSpPr>
          <p:cNvPr id="13" name="Gruppieren 18"/>
          <p:cNvGrpSpPr/>
          <p:nvPr/>
        </p:nvGrpSpPr>
        <p:grpSpPr>
          <a:xfrm>
            <a:off x="1007604" y="3954341"/>
            <a:ext cx="351656" cy="334073"/>
            <a:chOff x="251520" y="1059582"/>
            <a:chExt cx="1440160" cy="1368152"/>
          </a:xfrm>
        </p:grpSpPr>
        <p:sp>
          <p:nvSpPr>
            <p:cNvPr id="82" name="Rechteck 81"/>
            <p:cNvSpPr/>
            <p:nvPr/>
          </p:nvSpPr>
          <p:spPr>
            <a:xfrm>
              <a:off x="251520" y="1131590"/>
              <a:ext cx="1440160" cy="1296144"/>
            </a:xfrm>
            <a:prstGeom prst="rect">
              <a:avLst/>
            </a:prstGeom>
            <a:solidFill>
              <a:schemeClr val="tx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83" name="Picture 6 5" descr="Bird Silhouettes | Bird silhouette, Silhouette, Owl silhouette"/>
            <p:cNvPicPr>
              <a:picLocks noChangeAspect="1" noChangeArrowheads="1"/>
            </p:cNvPicPr>
            <p:nvPr/>
          </p:nvPicPr>
          <p:blipFill>
            <a:blip r:embed="rId7" cstate="print"/>
            <a:srcRect/>
            <a:stretch>
              <a:fillRect/>
            </a:stretch>
          </p:blipFill>
          <p:spPr bwMode="auto">
            <a:xfrm>
              <a:off x="395536" y="1059582"/>
              <a:ext cx="1080120" cy="1339939"/>
            </a:xfrm>
            <a:prstGeom prst="rect">
              <a:avLst/>
            </a:prstGeom>
            <a:noFill/>
          </p:spPr>
        </p:pic>
      </p:grpSp>
      <p:grpSp>
        <p:nvGrpSpPr>
          <p:cNvPr id="14" name="Gruppieren 18"/>
          <p:cNvGrpSpPr/>
          <p:nvPr/>
        </p:nvGrpSpPr>
        <p:grpSpPr>
          <a:xfrm>
            <a:off x="1115616" y="4106741"/>
            <a:ext cx="351656" cy="334073"/>
            <a:chOff x="251520" y="1059582"/>
            <a:chExt cx="1440160" cy="1368152"/>
          </a:xfrm>
        </p:grpSpPr>
        <p:sp>
          <p:nvSpPr>
            <p:cNvPr id="88" name="Rechteck 87"/>
            <p:cNvSpPr/>
            <p:nvPr/>
          </p:nvSpPr>
          <p:spPr>
            <a:xfrm>
              <a:off x="251520" y="1131590"/>
              <a:ext cx="1440160" cy="1296144"/>
            </a:xfrm>
            <a:prstGeom prst="rect">
              <a:avLst/>
            </a:prstGeom>
            <a:solidFill>
              <a:schemeClr val="tx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89" name="Picture 6 6" descr="Bird Silhouettes | Bird silhouette, Silhouette, Owl silhouette"/>
            <p:cNvPicPr>
              <a:picLocks noChangeAspect="1" noChangeArrowheads="1"/>
            </p:cNvPicPr>
            <p:nvPr/>
          </p:nvPicPr>
          <p:blipFill>
            <a:blip r:embed="rId7" cstate="print"/>
            <a:srcRect/>
            <a:stretch>
              <a:fillRect/>
            </a:stretch>
          </p:blipFill>
          <p:spPr bwMode="auto">
            <a:xfrm>
              <a:off x="395536" y="1059582"/>
              <a:ext cx="1080120" cy="1339939"/>
            </a:xfrm>
            <a:prstGeom prst="rect">
              <a:avLst/>
            </a:prstGeom>
            <a:noFill/>
          </p:spPr>
        </p:pic>
      </p:grpSp>
      <p:cxnSp>
        <p:nvCxnSpPr>
          <p:cNvPr id="90" name="Gerade Verbindung 89"/>
          <p:cNvCxnSpPr/>
          <p:nvPr/>
        </p:nvCxnSpPr>
        <p:spPr>
          <a:xfrm flipH="1">
            <a:off x="467544" y="3585917"/>
            <a:ext cx="360040" cy="144016"/>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1" name="Gerade Verbindung 90"/>
          <p:cNvCxnSpPr/>
          <p:nvPr/>
        </p:nvCxnSpPr>
        <p:spPr>
          <a:xfrm>
            <a:off x="827584" y="3585917"/>
            <a:ext cx="288032" cy="144016"/>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en-US" dirty="0"/>
              <a:t>The discrete replicator equation provides the update scheme from one generation to the next (1/ 2)</a:t>
            </a:r>
          </a:p>
        </p:txBody>
      </p:sp>
      <p:sp>
        <p:nvSpPr>
          <p:cNvPr id="3" name="Rechteck 2"/>
          <p:cNvSpPr/>
          <p:nvPr/>
        </p:nvSpPr>
        <p:spPr>
          <a:xfrm>
            <a:off x="1691680" y="1131590"/>
            <a:ext cx="7200800" cy="3888432"/>
          </a:xfrm>
          <a:prstGeom prst="rect">
            <a:avLst/>
          </a:prstGeom>
          <a:noFill/>
          <a:ln>
            <a:solidFill>
              <a:schemeClr val="tx2">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spcAft>
                <a:spcPts val="600"/>
              </a:spcAft>
            </a:pPr>
            <a:endParaRPr lang="en-US" sz="1400" dirty="0">
              <a:solidFill>
                <a:schemeClr val="tx1"/>
              </a:solidFill>
            </a:endParaRPr>
          </a:p>
        </p:txBody>
      </p:sp>
      <p:pic>
        <p:nvPicPr>
          <p:cNvPr id="22" name="Grafik 21" descr="IguanaTex_tmp.png"/>
          <p:cNvPicPr>
            <a:picLocks noChangeAspect="1"/>
          </p:cNvPicPr>
          <p:nvPr>
            <p:custDataLst>
              <p:tags r:id="rId1"/>
            </p:custDataLst>
          </p:nvPr>
        </p:nvPicPr>
        <p:blipFill>
          <a:blip r:embed="rId3" cstate="print"/>
          <a:stretch>
            <a:fillRect/>
          </a:stretch>
        </p:blipFill>
        <p:spPr>
          <a:xfrm>
            <a:off x="1763690" y="1203549"/>
            <a:ext cx="7036762" cy="3487419"/>
          </a:xfrm>
          <a:prstGeom prst="rect">
            <a:avLst/>
          </a:prstGeom>
          <a:noFill/>
          <a:ln/>
          <a:effectLst/>
        </p:spPr>
      </p:pic>
      <p:sp>
        <p:nvSpPr>
          <p:cNvPr id="5" name="Rechteck 4"/>
          <p:cNvSpPr/>
          <p:nvPr/>
        </p:nvSpPr>
        <p:spPr>
          <a:xfrm>
            <a:off x="251520" y="1131590"/>
            <a:ext cx="1008112" cy="1152128"/>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hteck 5"/>
          <p:cNvSpPr/>
          <p:nvPr/>
        </p:nvSpPr>
        <p:spPr>
          <a:xfrm>
            <a:off x="395536" y="1203598"/>
            <a:ext cx="288032" cy="288032"/>
          </a:xfrm>
          <a:prstGeom prst="rect">
            <a:avLst/>
          </a:prstGeom>
          <a:solidFill>
            <a:schemeClr val="accent2">
              <a:lumMod val="40000"/>
              <a:lumOff val="60000"/>
            </a:schemeClr>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hteck 6"/>
          <p:cNvSpPr/>
          <p:nvPr/>
        </p:nvSpPr>
        <p:spPr>
          <a:xfrm>
            <a:off x="827584" y="1203598"/>
            <a:ext cx="288032" cy="288032"/>
          </a:xfrm>
          <a:prstGeom prst="rect">
            <a:avLst/>
          </a:prstGeom>
          <a:solidFill>
            <a:schemeClr val="tx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hteck 7"/>
          <p:cNvSpPr/>
          <p:nvPr/>
        </p:nvSpPr>
        <p:spPr>
          <a:xfrm>
            <a:off x="395536" y="1563638"/>
            <a:ext cx="288032" cy="288032"/>
          </a:xfrm>
          <a:prstGeom prst="rect">
            <a:avLst/>
          </a:prstGeom>
          <a:solidFill>
            <a:schemeClr val="accent2">
              <a:lumMod val="40000"/>
              <a:lumOff val="60000"/>
            </a:schemeClr>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hteck 8"/>
          <p:cNvSpPr/>
          <p:nvPr/>
        </p:nvSpPr>
        <p:spPr>
          <a:xfrm>
            <a:off x="395536" y="1923678"/>
            <a:ext cx="288032" cy="288032"/>
          </a:xfrm>
          <a:prstGeom prst="rect">
            <a:avLst/>
          </a:prstGeom>
          <a:solidFill>
            <a:schemeClr val="accent2">
              <a:lumMod val="40000"/>
              <a:lumOff val="60000"/>
            </a:schemeClr>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hteck 9"/>
          <p:cNvSpPr/>
          <p:nvPr/>
        </p:nvSpPr>
        <p:spPr>
          <a:xfrm>
            <a:off x="827584" y="1563638"/>
            <a:ext cx="288032" cy="288032"/>
          </a:xfrm>
          <a:prstGeom prst="rect">
            <a:avLst/>
          </a:prstGeom>
          <a:solidFill>
            <a:schemeClr val="tx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hteck 10"/>
          <p:cNvSpPr/>
          <p:nvPr/>
        </p:nvSpPr>
        <p:spPr>
          <a:xfrm>
            <a:off x="827584" y="1923678"/>
            <a:ext cx="288032" cy="288032"/>
          </a:xfrm>
          <a:prstGeom prst="rect">
            <a:avLst/>
          </a:prstGeom>
          <a:solidFill>
            <a:schemeClr val="tx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hteck 11"/>
          <p:cNvSpPr/>
          <p:nvPr/>
        </p:nvSpPr>
        <p:spPr>
          <a:xfrm>
            <a:off x="539552" y="2859782"/>
            <a:ext cx="1008112" cy="1512168"/>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hteck 12"/>
          <p:cNvSpPr/>
          <p:nvPr/>
        </p:nvSpPr>
        <p:spPr>
          <a:xfrm>
            <a:off x="683568" y="2931790"/>
            <a:ext cx="288032" cy="288032"/>
          </a:xfrm>
          <a:prstGeom prst="rect">
            <a:avLst/>
          </a:prstGeom>
          <a:solidFill>
            <a:schemeClr val="accent2">
              <a:lumMod val="40000"/>
              <a:lumOff val="60000"/>
            </a:schemeClr>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hteck 13"/>
          <p:cNvSpPr/>
          <p:nvPr/>
        </p:nvSpPr>
        <p:spPr>
          <a:xfrm>
            <a:off x="1115616" y="2931790"/>
            <a:ext cx="288032" cy="288032"/>
          </a:xfrm>
          <a:prstGeom prst="rect">
            <a:avLst/>
          </a:prstGeom>
          <a:solidFill>
            <a:schemeClr val="tx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hteck 14"/>
          <p:cNvSpPr/>
          <p:nvPr/>
        </p:nvSpPr>
        <p:spPr>
          <a:xfrm>
            <a:off x="683568" y="3291830"/>
            <a:ext cx="288032" cy="288032"/>
          </a:xfrm>
          <a:prstGeom prst="rect">
            <a:avLst/>
          </a:prstGeom>
          <a:solidFill>
            <a:schemeClr val="accent2">
              <a:lumMod val="40000"/>
              <a:lumOff val="60000"/>
            </a:schemeClr>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hteck 15"/>
          <p:cNvSpPr/>
          <p:nvPr/>
        </p:nvSpPr>
        <p:spPr>
          <a:xfrm>
            <a:off x="683568" y="3651870"/>
            <a:ext cx="288032" cy="288032"/>
          </a:xfrm>
          <a:prstGeom prst="rect">
            <a:avLst/>
          </a:prstGeom>
          <a:solidFill>
            <a:schemeClr val="accent2">
              <a:lumMod val="40000"/>
              <a:lumOff val="60000"/>
            </a:schemeClr>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hteck 16"/>
          <p:cNvSpPr/>
          <p:nvPr/>
        </p:nvSpPr>
        <p:spPr>
          <a:xfrm>
            <a:off x="1115616" y="3291830"/>
            <a:ext cx="288032" cy="288032"/>
          </a:xfrm>
          <a:prstGeom prst="rect">
            <a:avLst/>
          </a:prstGeom>
          <a:solidFill>
            <a:schemeClr val="tx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hteck 17"/>
          <p:cNvSpPr/>
          <p:nvPr/>
        </p:nvSpPr>
        <p:spPr>
          <a:xfrm>
            <a:off x="1115616" y="3651870"/>
            <a:ext cx="288032" cy="288032"/>
          </a:xfrm>
          <a:prstGeom prst="rect">
            <a:avLst/>
          </a:prstGeom>
          <a:solidFill>
            <a:schemeClr val="tx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hteck 18"/>
          <p:cNvSpPr/>
          <p:nvPr/>
        </p:nvSpPr>
        <p:spPr>
          <a:xfrm>
            <a:off x="1115616" y="4011910"/>
            <a:ext cx="288032" cy="288032"/>
          </a:xfrm>
          <a:prstGeom prst="rect">
            <a:avLst/>
          </a:prstGeom>
          <a:solidFill>
            <a:schemeClr val="tx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Freeform 37"/>
          <p:cNvSpPr>
            <a:spLocks/>
          </p:cNvSpPr>
          <p:nvPr/>
        </p:nvSpPr>
        <p:spPr bwMode="auto">
          <a:xfrm rot="19966399" flipH="1">
            <a:off x="197619" y="2132002"/>
            <a:ext cx="512130" cy="953913"/>
          </a:xfrm>
          <a:custGeom>
            <a:avLst/>
            <a:gdLst/>
            <a:ahLst/>
            <a:cxnLst>
              <a:cxn ang="0">
                <a:pos x="75" y="36"/>
              </a:cxn>
              <a:cxn ang="0">
                <a:pos x="174" y="87"/>
              </a:cxn>
              <a:cxn ang="0">
                <a:pos x="285" y="162"/>
              </a:cxn>
              <a:cxn ang="0">
                <a:pos x="417" y="282"/>
              </a:cxn>
              <a:cxn ang="0">
                <a:pos x="513" y="405"/>
              </a:cxn>
              <a:cxn ang="0">
                <a:pos x="591" y="528"/>
              </a:cxn>
              <a:cxn ang="0">
                <a:pos x="657" y="666"/>
              </a:cxn>
              <a:cxn ang="0">
                <a:pos x="717" y="813"/>
              </a:cxn>
              <a:cxn ang="0">
                <a:pos x="762" y="969"/>
              </a:cxn>
              <a:cxn ang="0">
                <a:pos x="792" y="1149"/>
              </a:cxn>
              <a:cxn ang="0">
                <a:pos x="813" y="1332"/>
              </a:cxn>
              <a:cxn ang="0">
                <a:pos x="813" y="1479"/>
              </a:cxn>
              <a:cxn ang="0">
                <a:pos x="804" y="1635"/>
              </a:cxn>
              <a:cxn ang="0">
                <a:pos x="780" y="1785"/>
              </a:cxn>
              <a:cxn ang="0">
                <a:pos x="591" y="1830"/>
              </a:cxn>
              <a:cxn ang="0">
                <a:pos x="1149" y="1971"/>
              </a:cxn>
              <a:cxn ang="0">
                <a:pos x="1008" y="1869"/>
              </a:cxn>
              <a:cxn ang="0">
                <a:pos x="1038" y="1716"/>
              </a:cxn>
              <a:cxn ang="0">
                <a:pos x="1050" y="1566"/>
              </a:cxn>
              <a:cxn ang="0">
                <a:pos x="1053" y="1395"/>
              </a:cxn>
              <a:cxn ang="0">
                <a:pos x="1035" y="1206"/>
              </a:cxn>
              <a:cxn ang="0">
                <a:pos x="1005" y="1050"/>
              </a:cxn>
              <a:cxn ang="0">
                <a:pos x="963" y="900"/>
              </a:cxn>
              <a:cxn ang="0">
                <a:pos x="912" y="762"/>
              </a:cxn>
              <a:cxn ang="0">
                <a:pos x="837" y="603"/>
              </a:cxn>
              <a:cxn ang="0">
                <a:pos x="750" y="462"/>
              </a:cxn>
              <a:cxn ang="0">
                <a:pos x="669" y="363"/>
              </a:cxn>
              <a:cxn ang="0">
                <a:pos x="558" y="249"/>
              </a:cxn>
              <a:cxn ang="0">
                <a:pos x="433" y="157"/>
              </a:cxn>
              <a:cxn ang="0">
                <a:pos x="297" y="81"/>
              </a:cxn>
              <a:cxn ang="0">
                <a:pos x="153" y="24"/>
              </a:cxn>
              <a:cxn ang="0">
                <a:pos x="0" y="0"/>
              </a:cxn>
            </a:cxnLst>
            <a:rect l="0" t="0" r="r" b="b"/>
            <a:pathLst>
              <a:path w="1149" h="2226">
                <a:moveTo>
                  <a:pt x="6" y="6"/>
                </a:moveTo>
                <a:lnTo>
                  <a:pt x="75" y="36"/>
                </a:lnTo>
                <a:lnTo>
                  <a:pt x="129" y="60"/>
                </a:lnTo>
                <a:lnTo>
                  <a:pt x="174" y="87"/>
                </a:lnTo>
                <a:lnTo>
                  <a:pt x="228" y="120"/>
                </a:lnTo>
                <a:lnTo>
                  <a:pt x="285" y="162"/>
                </a:lnTo>
                <a:lnTo>
                  <a:pt x="342" y="210"/>
                </a:lnTo>
                <a:lnTo>
                  <a:pt x="417" y="282"/>
                </a:lnTo>
                <a:lnTo>
                  <a:pt x="465" y="345"/>
                </a:lnTo>
                <a:lnTo>
                  <a:pt x="513" y="405"/>
                </a:lnTo>
                <a:lnTo>
                  <a:pt x="549" y="462"/>
                </a:lnTo>
                <a:lnTo>
                  <a:pt x="591" y="528"/>
                </a:lnTo>
                <a:lnTo>
                  <a:pt x="627" y="603"/>
                </a:lnTo>
                <a:lnTo>
                  <a:pt x="657" y="666"/>
                </a:lnTo>
                <a:lnTo>
                  <a:pt x="684" y="723"/>
                </a:lnTo>
                <a:lnTo>
                  <a:pt x="717" y="813"/>
                </a:lnTo>
                <a:lnTo>
                  <a:pt x="738" y="894"/>
                </a:lnTo>
                <a:lnTo>
                  <a:pt x="762" y="969"/>
                </a:lnTo>
                <a:lnTo>
                  <a:pt x="777" y="1056"/>
                </a:lnTo>
                <a:lnTo>
                  <a:pt x="792" y="1149"/>
                </a:lnTo>
                <a:lnTo>
                  <a:pt x="807" y="1239"/>
                </a:lnTo>
                <a:lnTo>
                  <a:pt x="813" y="1332"/>
                </a:lnTo>
                <a:lnTo>
                  <a:pt x="813" y="1410"/>
                </a:lnTo>
                <a:lnTo>
                  <a:pt x="813" y="1479"/>
                </a:lnTo>
                <a:lnTo>
                  <a:pt x="810" y="1560"/>
                </a:lnTo>
                <a:lnTo>
                  <a:pt x="804" y="1635"/>
                </a:lnTo>
                <a:lnTo>
                  <a:pt x="792" y="1710"/>
                </a:lnTo>
                <a:lnTo>
                  <a:pt x="780" y="1785"/>
                </a:lnTo>
                <a:lnTo>
                  <a:pt x="762" y="1869"/>
                </a:lnTo>
                <a:lnTo>
                  <a:pt x="591" y="1830"/>
                </a:lnTo>
                <a:lnTo>
                  <a:pt x="786" y="2226"/>
                </a:lnTo>
                <a:lnTo>
                  <a:pt x="1149" y="1971"/>
                </a:lnTo>
                <a:lnTo>
                  <a:pt x="990" y="1932"/>
                </a:lnTo>
                <a:lnTo>
                  <a:pt x="1008" y="1869"/>
                </a:lnTo>
                <a:lnTo>
                  <a:pt x="1023" y="1797"/>
                </a:lnTo>
                <a:lnTo>
                  <a:pt x="1038" y="1716"/>
                </a:lnTo>
                <a:lnTo>
                  <a:pt x="1047" y="1644"/>
                </a:lnTo>
                <a:lnTo>
                  <a:pt x="1050" y="1566"/>
                </a:lnTo>
                <a:lnTo>
                  <a:pt x="1053" y="1482"/>
                </a:lnTo>
                <a:lnTo>
                  <a:pt x="1053" y="1395"/>
                </a:lnTo>
                <a:lnTo>
                  <a:pt x="1047" y="1299"/>
                </a:lnTo>
                <a:lnTo>
                  <a:pt x="1035" y="1206"/>
                </a:lnTo>
                <a:lnTo>
                  <a:pt x="1020" y="1113"/>
                </a:lnTo>
                <a:lnTo>
                  <a:pt x="1005" y="1050"/>
                </a:lnTo>
                <a:lnTo>
                  <a:pt x="987" y="975"/>
                </a:lnTo>
                <a:lnTo>
                  <a:pt x="963" y="900"/>
                </a:lnTo>
                <a:lnTo>
                  <a:pt x="942" y="831"/>
                </a:lnTo>
                <a:lnTo>
                  <a:pt x="912" y="762"/>
                </a:lnTo>
                <a:lnTo>
                  <a:pt x="879" y="684"/>
                </a:lnTo>
                <a:lnTo>
                  <a:pt x="837" y="603"/>
                </a:lnTo>
                <a:lnTo>
                  <a:pt x="798" y="534"/>
                </a:lnTo>
                <a:lnTo>
                  <a:pt x="750" y="462"/>
                </a:lnTo>
                <a:lnTo>
                  <a:pt x="711" y="408"/>
                </a:lnTo>
                <a:lnTo>
                  <a:pt x="669" y="363"/>
                </a:lnTo>
                <a:lnTo>
                  <a:pt x="615" y="309"/>
                </a:lnTo>
                <a:lnTo>
                  <a:pt x="558" y="249"/>
                </a:lnTo>
                <a:lnTo>
                  <a:pt x="501" y="201"/>
                </a:lnTo>
                <a:lnTo>
                  <a:pt x="433" y="157"/>
                </a:lnTo>
                <a:lnTo>
                  <a:pt x="366" y="114"/>
                </a:lnTo>
                <a:lnTo>
                  <a:pt x="297" y="81"/>
                </a:lnTo>
                <a:lnTo>
                  <a:pt x="225" y="51"/>
                </a:lnTo>
                <a:lnTo>
                  <a:pt x="153" y="24"/>
                </a:lnTo>
                <a:lnTo>
                  <a:pt x="81" y="9"/>
                </a:lnTo>
                <a:lnTo>
                  <a:pt x="0" y="0"/>
                </a:lnTo>
              </a:path>
            </a:pathLst>
          </a:custGeom>
          <a:solidFill>
            <a:schemeClr val="bg1">
              <a:lumMod val="85000"/>
            </a:schemeClr>
          </a:solidFill>
          <a:ln w="12700" cap="flat" cmpd="sng">
            <a:solidFill>
              <a:schemeClr val="tx1">
                <a:lumMod val="50000"/>
                <a:lumOff val="50000"/>
              </a:schemeClr>
            </a:solidFill>
            <a:prstDash val="solid"/>
            <a:round/>
            <a:headEnd type="none" w="med" len="med"/>
            <a:tailEnd type="none" w="med" len="med"/>
          </a:ln>
          <a:effectLst/>
        </p:spPr>
        <p:txBody>
          <a:bodyPr wrap="none" anchor="ctr"/>
          <a:lstStyle/>
          <a:p>
            <a:endParaRPr lang="en-US"/>
          </a:p>
        </p:txBody>
      </p:sp>
      <p:sp>
        <p:nvSpPr>
          <p:cNvPr id="21" name="Textfeld 20"/>
          <p:cNvSpPr txBox="1"/>
          <p:nvPr/>
        </p:nvSpPr>
        <p:spPr>
          <a:xfrm>
            <a:off x="395536" y="2427734"/>
            <a:ext cx="426720" cy="307777"/>
          </a:xfrm>
          <a:prstGeom prst="rect">
            <a:avLst/>
          </a:prstGeom>
          <a:noFill/>
        </p:spPr>
        <p:txBody>
          <a:bodyPr wrap="none" rtlCol="0">
            <a:spAutoFit/>
          </a:bodyPr>
          <a:lstStyle/>
          <a:p>
            <a:r>
              <a:rPr lang="en-US" sz="1400" i="1" dirty="0"/>
              <a:t>t</a:t>
            </a:r>
            <a:r>
              <a:rPr lang="en-US" sz="1400" dirty="0"/>
              <a:t>+1</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en-US" dirty="0"/>
              <a:t>The discrete replicator equation provides the update scheme from one generation to the next (2/ 2)</a:t>
            </a:r>
          </a:p>
        </p:txBody>
      </p:sp>
      <p:sp>
        <p:nvSpPr>
          <p:cNvPr id="3" name="Rechteck 2"/>
          <p:cNvSpPr/>
          <p:nvPr/>
        </p:nvSpPr>
        <p:spPr>
          <a:xfrm>
            <a:off x="1691680" y="1131590"/>
            <a:ext cx="7200800" cy="3888432"/>
          </a:xfrm>
          <a:prstGeom prst="rect">
            <a:avLst/>
          </a:prstGeom>
          <a:noFill/>
          <a:ln>
            <a:solidFill>
              <a:schemeClr val="tx2">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spcAft>
                <a:spcPts val="600"/>
              </a:spcAft>
            </a:pPr>
            <a:endParaRPr lang="en-US" sz="1400" dirty="0">
              <a:solidFill>
                <a:schemeClr val="tx1"/>
              </a:solidFill>
            </a:endParaRPr>
          </a:p>
        </p:txBody>
      </p:sp>
      <p:pic>
        <p:nvPicPr>
          <p:cNvPr id="33" name="Grafik 32" descr="IguanaTex_tmp.png"/>
          <p:cNvPicPr>
            <a:picLocks noChangeAspect="1"/>
          </p:cNvPicPr>
          <p:nvPr>
            <p:custDataLst>
              <p:tags r:id="rId1"/>
            </p:custDataLst>
          </p:nvPr>
        </p:nvPicPr>
        <p:blipFill>
          <a:blip r:embed="rId3" cstate="print"/>
          <a:stretch>
            <a:fillRect/>
          </a:stretch>
        </p:blipFill>
        <p:spPr>
          <a:xfrm>
            <a:off x="1763691" y="1203549"/>
            <a:ext cx="7056271" cy="3709904"/>
          </a:xfrm>
          <a:prstGeom prst="rect">
            <a:avLst/>
          </a:prstGeom>
          <a:noFill/>
          <a:ln/>
          <a:effectLst/>
        </p:spPr>
      </p:pic>
      <p:sp>
        <p:nvSpPr>
          <p:cNvPr id="5" name="Rechteck 4"/>
          <p:cNvSpPr/>
          <p:nvPr/>
        </p:nvSpPr>
        <p:spPr>
          <a:xfrm>
            <a:off x="251520" y="1131590"/>
            <a:ext cx="1008112" cy="1152128"/>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hteck 5"/>
          <p:cNvSpPr/>
          <p:nvPr/>
        </p:nvSpPr>
        <p:spPr>
          <a:xfrm>
            <a:off x="395536" y="1203598"/>
            <a:ext cx="288032" cy="288032"/>
          </a:xfrm>
          <a:prstGeom prst="rect">
            <a:avLst/>
          </a:prstGeom>
          <a:solidFill>
            <a:schemeClr val="accent2">
              <a:lumMod val="40000"/>
              <a:lumOff val="60000"/>
            </a:schemeClr>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hteck 6"/>
          <p:cNvSpPr/>
          <p:nvPr/>
        </p:nvSpPr>
        <p:spPr>
          <a:xfrm>
            <a:off x="827584" y="1203598"/>
            <a:ext cx="288032" cy="288032"/>
          </a:xfrm>
          <a:prstGeom prst="rect">
            <a:avLst/>
          </a:prstGeom>
          <a:solidFill>
            <a:schemeClr val="tx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hteck 7"/>
          <p:cNvSpPr/>
          <p:nvPr/>
        </p:nvSpPr>
        <p:spPr>
          <a:xfrm>
            <a:off x="395536" y="1563638"/>
            <a:ext cx="288032" cy="288032"/>
          </a:xfrm>
          <a:prstGeom prst="rect">
            <a:avLst/>
          </a:prstGeom>
          <a:solidFill>
            <a:schemeClr val="accent2">
              <a:lumMod val="40000"/>
              <a:lumOff val="60000"/>
            </a:schemeClr>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hteck 8"/>
          <p:cNvSpPr/>
          <p:nvPr/>
        </p:nvSpPr>
        <p:spPr>
          <a:xfrm>
            <a:off x="395536" y="1923678"/>
            <a:ext cx="288032" cy="288032"/>
          </a:xfrm>
          <a:prstGeom prst="rect">
            <a:avLst/>
          </a:prstGeom>
          <a:solidFill>
            <a:schemeClr val="accent2">
              <a:lumMod val="40000"/>
              <a:lumOff val="60000"/>
            </a:schemeClr>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hteck 9"/>
          <p:cNvSpPr/>
          <p:nvPr/>
        </p:nvSpPr>
        <p:spPr>
          <a:xfrm>
            <a:off x="827584" y="1563638"/>
            <a:ext cx="288032" cy="288032"/>
          </a:xfrm>
          <a:prstGeom prst="rect">
            <a:avLst/>
          </a:prstGeom>
          <a:solidFill>
            <a:schemeClr val="tx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hteck 10"/>
          <p:cNvSpPr/>
          <p:nvPr/>
        </p:nvSpPr>
        <p:spPr>
          <a:xfrm>
            <a:off x="827584" y="1923678"/>
            <a:ext cx="288032" cy="288032"/>
          </a:xfrm>
          <a:prstGeom prst="rect">
            <a:avLst/>
          </a:prstGeom>
          <a:solidFill>
            <a:schemeClr val="tx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hteck 11"/>
          <p:cNvSpPr/>
          <p:nvPr/>
        </p:nvSpPr>
        <p:spPr>
          <a:xfrm>
            <a:off x="539552" y="2859782"/>
            <a:ext cx="1008112" cy="1512168"/>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hteck 12"/>
          <p:cNvSpPr/>
          <p:nvPr/>
        </p:nvSpPr>
        <p:spPr>
          <a:xfrm>
            <a:off x="683568" y="2931790"/>
            <a:ext cx="288032" cy="288032"/>
          </a:xfrm>
          <a:prstGeom prst="rect">
            <a:avLst/>
          </a:prstGeom>
          <a:solidFill>
            <a:schemeClr val="accent2">
              <a:lumMod val="40000"/>
              <a:lumOff val="60000"/>
            </a:schemeClr>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hteck 13"/>
          <p:cNvSpPr/>
          <p:nvPr/>
        </p:nvSpPr>
        <p:spPr>
          <a:xfrm>
            <a:off x="1115616" y="2931790"/>
            <a:ext cx="288032" cy="288032"/>
          </a:xfrm>
          <a:prstGeom prst="rect">
            <a:avLst/>
          </a:prstGeom>
          <a:solidFill>
            <a:schemeClr val="tx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hteck 14"/>
          <p:cNvSpPr/>
          <p:nvPr/>
        </p:nvSpPr>
        <p:spPr>
          <a:xfrm>
            <a:off x="683568" y="3291830"/>
            <a:ext cx="288032" cy="288032"/>
          </a:xfrm>
          <a:prstGeom prst="rect">
            <a:avLst/>
          </a:prstGeom>
          <a:solidFill>
            <a:schemeClr val="accent2">
              <a:lumMod val="40000"/>
              <a:lumOff val="60000"/>
            </a:schemeClr>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hteck 15"/>
          <p:cNvSpPr/>
          <p:nvPr/>
        </p:nvSpPr>
        <p:spPr>
          <a:xfrm>
            <a:off x="683568" y="3651870"/>
            <a:ext cx="288032" cy="288032"/>
          </a:xfrm>
          <a:prstGeom prst="rect">
            <a:avLst/>
          </a:prstGeom>
          <a:solidFill>
            <a:schemeClr val="accent2">
              <a:lumMod val="40000"/>
              <a:lumOff val="60000"/>
            </a:schemeClr>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hteck 16"/>
          <p:cNvSpPr/>
          <p:nvPr/>
        </p:nvSpPr>
        <p:spPr>
          <a:xfrm>
            <a:off x="1115616" y="3291830"/>
            <a:ext cx="288032" cy="288032"/>
          </a:xfrm>
          <a:prstGeom prst="rect">
            <a:avLst/>
          </a:prstGeom>
          <a:solidFill>
            <a:schemeClr val="tx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hteck 17"/>
          <p:cNvSpPr/>
          <p:nvPr/>
        </p:nvSpPr>
        <p:spPr>
          <a:xfrm>
            <a:off x="1115616" y="3651870"/>
            <a:ext cx="288032" cy="288032"/>
          </a:xfrm>
          <a:prstGeom prst="rect">
            <a:avLst/>
          </a:prstGeom>
          <a:solidFill>
            <a:schemeClr val="tx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hteck 18"/>
          <p:cNvSpPr/>
          <p:nvPr/>
        </p:nvSpPr>
        <p:spPr>
          <a:xfrm>
            <a:off x="1115616" y="4011910"/>
            <a:ext cx="288032" cy="288032"/>
          </a:xfrm>
          <a:prstGeom prst="rect">
            <a:avLst/>
          </a:prstGeom>
          <a:solidFill>
            <a:schemeClr val="tx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Freeform 37"/>
          <p:cNvSpPr>
            <a:spLocks/>
          </p:cNvSpPr>
          <p:nvPr/>
        </p:nvSpPr>
        <p:spPr bwMode="auto">
          <a:xfrm rot="19966399" flipH="1">
            <a:off x="197619" y="2132002"/>
            <a:ext cx="512130" cy="953913"/>
          </a:xfrm>
          <a:custGeom>
            <a:avLst/>
            <a:gdLst/>
            <a:ahLst/>
            <a:cxnLst>
              <a:cxn ang="0">
                <a:pos x="75" y="36"/>
              </a:cxn>
              <a:cxn ang="0">
                <a:pos x="174" y="87"/>
              </a:cxn>
              <a:cxn ang="0">
                <a:pos x="285" y="162"/>
              </a:cxn>
              <a:cxn ang="0">
                <a:pos x="417" y="282"/>
              </a:cxn>
              <a:cxn ang="0">
                <a:pos x="513" y="405"/>
              </a:cxn>
              <a:cxn ang="0">
                <a:pos x="591" y="528"/>
              </a:cxn>
              <a:cxn ang="0">
                <a:pos x="657" y="666"/>
              </a:cxn>
              <a:cxn ang="0">
                <a:pos x="717" y="813"/>
              </a:cxn>
              <a:cxn ang="0">
                <a:pos x="762" y="969"/>
              </a:cxn>
              <a:cxn ang="0">
                <a:pos x="792" y="1149"/>
              </a:cxn>
              <a:cxn ang="0">
                <a:pos x="813" y="1332"/>
              </a:cxn>
              <a:cxn ang="0">
                <a:pos x="813" y="1479"/>
              </a:cxn>
              <a:cxn ang="0">
                <a:pos x="804" y="1635"/>
              </a:cxn>
              <a:cxn ang="0">
                <a:pos x="780" y="1785"/>
              </a:cxn>
              <a:cxn ang="0">
                <a:pos x="591" y="1830"/>
              </a:cxn>
              <a:cxn ang="0">
                <a:pos x="1149" y="1971"/>
              </a:cxn>
              <a:cxn ang="0">
                <a:pos x="1008" y="1869"/>
              </a:cxn>
              <a:cxn ang="0">
                <a:pos x="1038" y="1716"/>
              </a:cxn>
              <a:cxn ang="0">
                <a:pos x="1050" y="1566"/>
              </a:cxn>
              <a:cxn ang="0">
                <a:pos x="1053" y="1395"/>
              </a:cxn>
              <a:cxn ang="0">
                <a:pos x="1035" y="1206"/>
              </a:cxn>
              <a:cxn ang="0">
                <a:pos x="1005" y="1050"/>
              </a:cxn>
              <a:cxn ang="0">
                <a:pos x="963" y="900"/>
              </a:cxn>
              <a:cxn ang="0">
                <a:pos x="912" y="762"/>
              </a:cxn>
              <a:cxn ang="0">
                <a:pos x="837" y="603"/>
              </a:cxn>
              <a:cxn ang="0">
                <a:pos x="750" y="462"/>
              </a:cxn>
              <a:cxn ang="0">
                <a:pos x="669" y="363"/>
              </a:cxn>
              <a:cxn ang="0">
                <a:pos x="558" y="249"/>
              </a:cxn>
              <a:cxn ang="0">
                <a:pos x="433" y="157"/>
              </a:cxn>
              <a:cxn ang="0">
                <a:pos x="297" y="81"/>
              </a:cxn>
              <a:cxn ang="0">
                <a:pos x="153" y="24"/>
              </a:cxn>
              <a:cxn ang="0">
                <a:pos x="0" y="0"/>
              </a:cxn>
            </a:cxnLst>
            <a:rect l="0" t="0" r="r" b="b"/>
            <a:pathLst>
              <a:path w="1149" h="2226">
                <a:moveTo>
                  <a:pt x="6" y="6"/>
                </a:moveTo>
                <a:lnTo>
                  <a:pt x="75" y="36"/>
                </a:lnTo>
                <a:lnTo>
                  <a:pt x="129" y="60"/>
                </a:lnTo>
                <a:lnTo>
                  <a:pt x="174" y="87"/>
                </a:lnTo>
                <a:lnTo>
                  <a:pt x="228" y="120"/>
                </a:lnTo>
                <a:lnTo>
                  <a:pt x="285" y="162"/>
                </a:lnTo>
                <a:lnTo>
                  <a:pt x="342" y="210"/>
                </a:lnTo>
                <a:lnTo>
                  <a:pt x="417" y="282"/>
                </a:lnTo>
                <a:lnTo>
                  <a:pt x="465" y="345"/>
                </a:lnTo>
                <a:lnTo>
                  <a:pt x="513" y="405"/>
                </a:lnTo>
                <a:lnTo>
                  <a:pt x="549" y="462"/>
                </a:lnTo>
                <a:lnTo>
                  <a:pt x="591" y="528"/>
                </a:lnTo>
                <a:lnTo>
                  <a:pt x="627" y="603"/>
                </a:lnTo>
                <a:lnTo>
                  <a:pt x="657" y="666"/>
                </a:lnTo>
                <a:lnTo>
                  <a:pt x="684" y="723"/>
                </a:lnTo>
                <a:lnTo>
                  <a:pt x="717" y="813"/>
                </a:lnTo>
                <a:lnTo>
                  <a:pt x="738" y="894"/>
                </a:lnTo>
                <a:lnTo>
                  <a:pt x="762" y="969"/>
                </a:lnTo>
                <a:lnTo>
                  <a:pt x="777" y="1056"/>
                </a:lnTo>
                <a:lnTo>
                  <a:pt x="792" y="1149"/>
                </a:lnTo>
                <a:lnTo>
                  <a:pt x="807" y="1239"/>
                </a:lnTo>
                <a:lnTo>
                  <a:pt x="813" y="1332"/>
                </a:lnTo>
                <a:lnTo>
                  <a:pt x="813" y="1410"/>
                </a:lnTo>
                <a:lnTo>
                  <a:pt x="813" y="1479"/>
                </a:lnTo>
                <a:lnTo>
                  <a:pt x="810" y="1560"/>
                </a:lnTo>
                <a:lnTo>
                  <a:pt x="804" y="1635"/>
                </a:lnTo>
                <a:lnTo>
                  <a:pt x="792" y="1710"/>
                </a:lnTo>
                <a:lnTo>
                  <a:pt x="780" y="1785"/>
                </a:lnTo>
                <a:lnTo>
                  <a:pt x="762" y="1869"/>
                </a:lnTo>
                <a:lnTo>
                  <a:pt x="591" y="1830"/>
                </a:lnTo>
                <a:lnTo>
                  <a:pt x="786" y="2226"/>
                </a:lnTo>
                <a:lnTo>
                  <a:pt x="1149" y="1971"/>
                </a:lnTo>
                <a:lnTo>
                  <a:pt x="990" y="1932"/>
                </a:lnTo>
                <a:lnTo>
                  <a:pt x="1008" y="1869"/>
                </a:lnTo>
                <a:lnTo>
                  <a:pt x="1023" y="1797"/>
                </a:lnTo>
                <a:lnTo>
                  <a:pt x="1038" y="1716"/>
                </a:lnTo>
                <a:lnTo>
                  <a:pt x="1047" y="1644"/>
                </a:lnTo>
                <a:lnTo>
                  <a:pt x="1050" y="1566"/>
                </a:lnTo>
                <a:lnTo>
                  <a:pt x="1053" y="1482"/>
                </a:lnTo>
                <a:lnTo>
                  <a:pt x="1053" y="1395"/>
                </a:lnTo>
                <a:lnTo>
                  <a:pt x="1047" y="1299"/>
                </a:lnTo>
                <a:lnTo>
                  <a:pt x="1035" y="1206"/>
                </a:lnTo>
                <a:lnTo>
                  <a:pt x="1020" y="1113"/>
                </a:lnTo>
                <a:lnTo>
                  <a:pt x="1005" y="1050"/>
                </a:lnTo>
                <a:lnTo>
                  <a:pt x="987" y="975"/>
                </a:lnTo>
                <a:lnTo>
                  <a:pt x="963" y="900"/>
                </a:lnTo>
                <a:lnTo>
                  <a:pt x="942" y="831"/>
                </a:lnTo>
                <a:lnTo>
                  <a:pt x="912" y="762"/>
                </a:lnTo>
                <a:lnTo>
                  <a:pt x="879" y="684"/>
                </a:lnTo>
                <a:lnTo>
                  <a:pt x="837" y="603"/>
                </a:lnTo>
                <a:lnTo>
                  <a:pt x="798" y="534"/>
                </a:lnTo>
                <a:lnTo>
                  <a:pt x="750" y="462"/>
                </a:lnTo>
                <a:lnTo>
                  <a:pt x="711" y="408"/>
                </a:lnTo>
                <a:lnTo>
                  <a:pt x="669" y="363"/>
                </a:lnTo>
                <a:lnTo>
                  <a:pt x="615" y="309"/>
                </a:lnTo>
                <a:lnTo>
                  <a:pt x="558" y="249"/>
                </a:lnTo>
                <a:lnTo>
                  <a:pt x="501" y="201"/>
                </a:lnTo>
                <a:lnTo>
                  <a:pt x="433" y="157"/>
                </a:lnTo>
                <a:lnTo>
                  <a:pt x="366" y="114"/>
                </a:lnTo>
                <a:lnTo>
                  <a:pt x="297" y="81"/>
                </a:lnTo>
                <a:lnTo>
                  <a:pt x="225" y="51"/>
                </a:lnTo>
                <a:lnTo>
                  <a:pt x="153" y="24"/>
                </a:lnTo>
                <a:lnTo>
                  <a:pt x="81" y="9"/>
                </a:lnTo>
                <a:lnTo>
                  <a:pt x="0" y="0"/>
                </a:lnTo>
              </a:path>
            </a:pathLst>
          </a:custGeom>
          <a:solidFill>
            <a:schemeClr val="bg1">
              <a:lumMod val="85000"/>
            </a:schemeClr>
          </a:solidFill>
          <a:ln w="12700" cap="flat" cmpd="sng">
            <a:solidFill>
              <a:schemeClr val="tx1">
                <a:lumMod val="50000"/>
                <a:lumOff val="50000"/>
              </a:schemeClr>
            </a:solidFill>
            <a:prstDash val="solid"/>
            <a:round/>
            <a:headEnd type="none" w="med" len="med"/>
            <a:tailEnd type="none" w="med" len="med"/>
          </a:ln>
          <a:effectLst/>
        </p:spPr>
        <p:txBody>
          <a:bodyPr wrap="none" anchor="ctr"/>
          <a:lstStyle/>
          <a:p>
            <a:endParaRPr lang="en-US"/>
          </a:p>
        </p:txBody>
      </p:sp>
      <p:sp>
        <p:nvSpPr>
          <p:cNvPr id="21" name="Textfeld 20"/>
          <p:cNvSpPr txBox="1"/>
          <p:nvPr/>
        </p:nvSpPr>
        <p:spPr>
          <a:xfrm>
            <a:off x="395536" y="2427734"/>
            <a:ext cx="426720" cy="307777"/>
          </a:xfrm>
          <a:prstGeom prst="rect">
            <a:avLst/>
          </a:prstGeom>
          <a:noFill/>
        </p:spPr>
        <p:txBody>
          <a:bodyPr wrap="none" rtlCol="0">
            <a:spAutoFit/>
          </a:bodyPr>
          <a:lstStyle/>
          <a:p>
            <a:r>
              <a:rPr lang="en-US" sz="1400" i="1" dirty="0"/>
              <a:t>t</a:t>
            </a:r>
            <a:r>
              <a:rPr lang="en-US" sz="1400" dirty="0"/>
              <a:t>+1</a:t>
            </a:r>
          </a:p>
        </p:txBody>
      </p:sp>
      <p:sp>
        <p:nvSpPr>
          <p:cNvPr id="24" name="Rechteck 23"/>
          <p:cNvSpPr/>
          <p:nvPr/>
        </p:nvSpPr>
        <p:spPr>
          <a:xfrm>
            <a:off x="3131840" y="1491630"/>
            <a:ext cx="4320480" cy="792088"/>
          </a:xfrm>
          <a:prstGeom prst="rect">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en-US" dirty="0"/>
              <a:t>The discrete replicator equation is an example for a type of equations that are called difference equations</a:t>
            </a:r>
          </a:p>
        </p:txBody>
      </p:sp>
      <p:sp>
        <p:nvSpPr>
          <p:cNvPr id="3" name="Rechteck 2"/>
          <p:cNvSpPr/>
          <p:nvPr/>
        </p:nvSpPr>
        <p:spPr>
          <a:xfrm>
            <a:off x="0" y="843558"/>
            <a:ext cx="179512" cy="4299942"/>
          </a:xfrm>
          <a:prstGeom prst="rect">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feld 4"/>
          <p:cNvSpPr txBox="1"/>
          <p:nvPr/>
        </p:nvSpPr>
        <p:spPr>
          <a:xfrm rot="16200000">
            <a:off x="-2054569" y="2888877"/>
            <a:ext cx="4309194" cy="200055"/>
          </a:xfrm>
          <a:prstGeom prst="rect">
            <a:avLst/>
          </a:prstGeom>
          <a:noFill/>
        </p:spPr>
        <p:txBody>
          <a:bodyPr wrap="square" rtlCol="0">
            <a:spAutoFit/>
          </a:bodyPr>
          <a:lstStyle/>
          <a:p>
            <a:pPr algn="ctr"/>
            <a:r>
              <a:rPr lang="en-US" sz="700" dirty="0"/>
              <a:t>**   General Theory   ***   General Theory   ***   General Theory   ***   General Theory ***   General Theory   **</a:t>
            </a:r>
          </a:p>
        </p:txBody>
      </p:sp>
      <p:pic>
        <p:nvPicPr>
          <p:cNvPr id="9" name="Grafik 8" descr="IguanaTex_tmp.png"/>
          <p:cNvPicPr>
            <a:picLocks noChangeAspect="1"/>
          </p:cNvPicPr>
          <p:nvPr>
            <p:custDataLst>
              <p:tags r:id="rId1"/>
            </p:custDataLst>
          </p:nvPr>
        </p:nvPicPr>
        <p:blipFill>
          <a:blip r:embed="rId3" cstate="print"/>
          <a:stretch>
            <a:fillRect/>
          </a:stretch>
        </p:blipFill>
        <p:spPr>
          <a:xfrm>
            <a:off x="1763690" y="1203549"/>
            <a:ext cx="7060396" cy="3535483"/>
          </a:xfrm>
          <a:prstGeom prst="rect">
            <a:avLst/>
          </a:prstGeom>
          <a:noFill/>
          <a:ln/>
          <a:effectLst/>
        </p:spPr>
      </p:pic>
      <p:sp>
        <p:nvSpPr>
          <p:cNvPr id="7" name="Rechteck 6"/>
          <p:cNvSpPr/>
          <p:nvPr/>
        </p:nvSpPr>
        <p:spPr>
          <a:xfrm>
            <a:off x="1691680" y="1131590"/>
            <a:ext cx="7200800" cy="3888432"/>
          </a:xfrm>
          <a:prstGeom prst="rect">
            <a:avLst/>
          </a:prstGeom>
          <a:noFill/>
          <a:ln>
            <a:solidFill>
              <a:schemeClr val="tx2">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spcAft>
                <a:spcPts val="600"/>
              </a:spcAft>
            </a:pPr>
            <a:endParaRPr lang="en-US" sz="1400" dirty="0">
              <a:solidFill>
                <a:schemeClr val="tx1"/>
              </a:solidFill>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en-US" dirty="0"/>
              <a:t>Their stationary states are computed via the fixed point equation that geometrically is interpreted as an intersection of graphs </a:t>
            </a:r>
          </a:p>
        </p:txBody>
      </p:sp>
      <p:sp>
        <p:nvSpPr>
          <p:cNvPr id="3" name="Rechteck 2"/>
          <p:cNvSpPr/>
          <p:nvPr/>
        </p:nvSpPr>
        <p:spPr>
          <a:xfrm>
            <a:off x="0" y="843558"/>
            <a:ext cx="179512" cy="4299942"/>
          </a:xfrm>
          <a:prstGeom prst="rect">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feld 4"/>
          <p:cNvSpPr txBox="1"/>
          <p:nvPr/>
        </p:nvSpPr>
        <p:spPr>
          <a:xfrm rot="16200000">
            <a:off x="-2054569" y="2888877"/>
            <a:ext cx="4309194" cy="200055"/>
          </a:xfrm>
          <a:prstGeom prst="rect">
            <a:avLst/>
          </a:prstGeom>
          <a:noFill/>
        </p:spPr>
        <p:txBody>
          <a:bodyPr wrap="square" rtlCol="0">
            <a:spAutoFit/>
          </a:bodyPr>
          <a:lstStyle/>
          <a:p>
            <a:pPr algn="ctr"/>
            <a:r>
              <a:rPr lang="en-US" sz="700" dirty="0"/>
              <a:t>**   General Theory   ***   General Theory   ***   General Theory   ***   General Theory ***   General Theory   **</a:t>
            </a:r>
          </a:p>
        </p:txBody>
      </p:sp>
      <p:sp>
        <p:nvSpPr>
          <p:cNvPr id="9" name="Rechteck 8"/>
          <p:cNvSpPr/>
          <p:nvPr/>
        </p:nvSpPr>
        <p:spPr>
          <a:xfrm>
            <a:off x="3131840" y="1131590"/>
            <a:ext cx="5760640" cy="3888432"/>
          </a:xfrm>
          <a:prstGeom prst="rect">
            <a:avLst/>
          </a:prstGeom>
          <a:noFill/>
          <a:ln>
            <a:solidFill>
              <a:schemeClr val="tx2">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spcAft>
                <a:spcPts val="600"/>
              </a:spcAft>
            </a:pPr>
            <a:endParaRPr lang="en-US" sz="1400" dirty="0">
              <a:solidFill>
                <a:schemeClr val="tx1"/>
              </a:solidFill>
            </a:endParaRPr>
          </a:p>
        </p:txBody>
      </p:sp>
      <p:pic>
        <p:nvPicPr>
          <p:cNvPr id="16" name="Grafik 15" descr="IguanaTex_tmp.png"/>
          <p:cNvPicPr>
            <a:picLocks noChangeAspect="1"/>
          </p:cNvPicPr>
          <p:nvPr>
            <p:custDataLst>
              <p:tags r:id="rId1"/>
            </p:custDataLst>
          </p:nvPr>
        </p:nvPicPr>
        <p:blipFill>
          <a:blip r:embed="rId3" cstate="print"/>
          <a:stretch>
            <a:fillRect/>
          </a:stretch>
        </p:blipFill>
        <p:spPr>
          <a:xfrm>
            <a:off x="3203841" y="1203548"/>
            <a:ext cx="5644402" cy="3202563"/>
          </a:xfrm>
          <a:prstGeom prst="rect">
            <a:avLst/>
          </a:prstGeom>
          <a:noFill/>
          <a:ln/>
          <a:effectLst/>
        </p:spPr>
      </p:pic>
      <p:pic>
        <p:nvPicPr>
          <p:cNvPr id="2050" name="Picture 2" descr="C:\Users\Florian\Desktop\statst.png"/>
          <p:cNvPicPr>
            <a:picLocks noChangeAspect="1" noChangeArrowheads="1"/>
          </p:cNvPicPr>
          <p:nvPr/>
        </p:nvPicPr>
        <p:blipFill>
          <a:blip r:embed="rId4" cstate="print"/>
          <a:srcRect l="7939" r="5698"/>
          <a:stretch>
            <a:fillRect/>
          </a:stretch>
        </p:blipFill>
        <p:spPr bwMode="auto">
          <a:xfrm>
            <a:off x="251520" y="1020229"/>
            <a:ext cx="2736304" cy="2376264"/>
          </a:xfrm>
          <a:prstGeom prst="rect">
            <a:avLst/>
          </a:prstGeom>
          <a:noFill/>
        </p:spPr>
      </p:pic>
      <p:grpSp>
        <p:nvGrpSpPr>
          <p:cNvPr id="4" name="Gruppieren 19"/>
          <p:cNvGrpSpPr/>
          <p:nvPr/>
        </p:nvGrpSpPr>
        <p:grpSpPr>
          <a:xfrm>
            <a:off x="352774" y="3363838"/>
            <a:ext cx="618826" cy="276999"/>
            <a:chOff x="352774" y="3363838"/>
            <a:chExt cx="618826" cy="276999"/>
          </a:xfrm>
        </p:grpSpPr>
        <p:cxnSp>
          <p:nvCxnSpPr>
            <p:cNvPr id="14" name="Gerade Verbindung 13"/>
            <p:cNvCxnSpPr/>
            <p:nvPr/>
          </p:nvCxnSpPr>
          <p:spPr>
            <a:xfrm>
              <a:off x="352774" y="3507854"/>
              <a:ext cx="144016" cy="0"/>
            </a:xfrm>
            <a:prstGeom prst="line">
              <a:avLst/>
            </a:prstGeom>
            <a:ln w="19050">
              <a:solidFill>
                <a:schemeClr val="tx2"/>
              </a:solidFill>
              <a:prstDash val="solid"/>
            </a:ln>
          </p:spPr>
          <p:style>
            <a:lnRef idx="1">
              <a:schemeClr val="accent1"/>
            </a:lnRef>
            <a:fillRef idx="0">
              <a:schemeClr val="accent1"/>
            </a:fillRef>
            <a:effectRef idx="0">
              <a:schemeClr val="accent1"/>
            </a:effectRef>
            <a:fontRef idx="minor">
              <a:schemeClr val="tx1"/>
            </a:fontRef>
          </p:style>
        </p:cxnSp>
        <p:sp>
          <p:nvSpPr>
            <p:cNvPr id="15" name="Textfeld 14"/>
            <p:cNvSpPr txBox="1"/>
            <p:nvPr/>
          </p:nvSpPr>
          <p:spPr>
            <a:xfrm>
              <a:off x="496790" y="3363838"/>
              <a:ext cx="474810" cy="276999"/>
            </a:xfrm>
            <a:prstGeom prst="rect">
              <a:avLst/>
            </a:prstGeom>
            <a:noFill/>
          </p:spPr>
          <p:txBody>
            <a:bodyPr wrap="none" rtlCol="0">
              <a:spAutoFit/>
            </a:bodyPr>
            <a:lstStyle/>
            <a:p>
              <a:r>
                <a:rPr lang="en-US" sz="1200" i="1" dirty="0"/>
                <a:t>y</a:t>
              </a:r>
              <a:r>
                <a:rPr lang="en-US" sz="1200" dirty="0"/>
                <a:t> = </a:t>
              </a:r>
              <a:r>
                <a:rPr lang="en-US" sz="1200" i="1" dirty="0"/>
                <a:t>x</a:t>
              </a:r>
            </a:p>
          </p:txBody>
        </p:sp>
      </p:grpSp>
      <p:grpSp>
        <p:nvGrpSpPr>
          <p:cNvPr id="6" name="Gruppieren 18"/>
          <p:cNvGrpSpPr/>
          <p:nvPr/>
        </p:nvGrpSpPr>
        <p:grpSpPr>
          <a:xfrm>
            <a:off x="352774" y="3662903"/>
            <a:ext cx="1766576" cy="276999"/>
            <a:chOff x="323528" y="3662903"/>
            <a:chExt cx="1766576" cy="276999"/>
          </a:xfrm>
        </p:grpSpPr>
        <p:cxnSp>
          <p:nvCxnSpPr>
            <p:cNvPr id="17" name="Gerade Verbindung 16"/>
            <p:cNvCxnSpPr/>
            <p:nvPr/>
          </p:nvCxnSpPr>
          <p:spPr>
            <a:xfrm>
              <a:off x="323528" y="3806919"/>
              <a:ext cx="144016" cy="0"/>
            </a:xfrm>
            <a:prstGeom prst="line">
              <a:avLst/>
            </a:prstGeom>
            <a:ln w="19050">
              <a:solidFill>
                <a:srgbClr val="C00000"/>
              </a:solidFill>
              <a:prstDash val="solid"/>
            </a:ln>
          </p:spPr>
          <p:style>
            <a:lnRef idx="1">
              <a:schemeClr val="accent1"/>
            </a:lnRef>
            <a:fillRef idx="0">
              <a:schemeClr val="accent1"/>
            </a:fillRef>
            <a:effectRef idx="0">
              <a:schemeClr val="accent1"/>
            </a:effectRef>
            <a:fontRef idx="minor">
              <a:schemeClr val="tx1"/>
            </a:fontRef>
          </p:style>
        </p:cxnSp>
        <p:sp>
          <p:nvSpPr>
            <p:cNvPr id="18" name="Textfeld 17"/>
            <p:cNvSpPr txBox="1"/>
            <p:nvPr/>
          </p:nvSpPr>
          <p:spPr>
            <a:xfrm>
              <a:off x="467544" y="3662903"/>
              <a:ext cx="1622560" cy="276999"/>
            </a:xfrm>
            <a:prstGeom prst="rect">
              <a:avLst/>
            </a:prstGeom>
            <a:noFill/>
          </p:spPr>
          <p:txBody>
            <a:bodyPr wrap="none" rtlCol="0">
              <a:spAutoFit/>
            </a:bodyPr>
            <a:lstStyle/>
            <a:p>
              <a:r>
                <a:rPr lang="en-US" sz="1200" i="1" dirty="0"/>
                <a:t>y</a:t>
              </a:r>
              <a:r>
                <a:rPr lang="en-US" sz="1200" dirty="0"/>
                <a:t> = </a:t>
              </a:r>
              <a:r>
                <a:rPr lang="en-US" sz="1200" i="1" dirty="0"/>
                <a:t>f</a:t>
              </a:r>
              <a:r>
                <a:rPr lang="en-US" sz="1200" dirty="0"/>
                <a:t>(</a:t>
              </a:r>
              <a:r>
                <a:rPr lang="en-US" sz="1200" i="1" dirty="0"/>
                <a:t>x</a:t>
              </a:r>
              <a:r>
                <a:rPr lang="en-US" sz="1200" dirty="0"/>
                <a:t>) = -4 (</a:t>
              </a:r>
              <a:r>
                <a:rPr lang="en-US" sz="1200" i="1" dirty="0"/>
                <a:t>x</a:t>
              </a:r>
              <a:r>
                <a:rPr lang="en-US" sz="1200" dirty="0"/>
                <a:t>-0.5)</a:t>
              </a:r>
              <a:r>
                <a:rPr lang="en-US" sz="1200" baseline="30000" dirty="0"/>
                <a:t>2</a:t>
              </a:r>
              <a:r>
                <a:rPr lang="en-US" sz="1200" dirty="0"/>
                <a:t> + 1</a:t>
              </a:r>
            </a:p>
          </p:txBody>
        </p:sp>
      </p:gr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en-US" dirty="0"/>
              <a:t>(Asymptotic) stability of a system means that the system, after experiencing being perturbed, returns to the previous stationary state</a:t>
            </a:r>
          </a:p>
        </p:txBody>
      </p:sp>
      <p:sp>
        <p:nvSpPr>
          <p:cNvPr id="3" name="Rechteck 2"/>
          <p:cNvSpPr/>
          <p:nvPr/>
        </p:nvSpPr>
        <p:spPr>
          <a:xfrm>
            <a:off x="0" y="843558"/>
            <a:ext cx="179512" cy="4299942"/>
          </a:xfrm>
          <a:prstGeom prst="rect">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feld 4"/>
          <p:cNvSpPr txBox="1"/>
          <p:nvPr/>
        </p:nvSpPr>
        <p:spPr>
          <a:xfrm rot="16200000">
            <a:off x="-2054569" y="2888877"/>
            <a:ext cx="4309194" cy="200055"/>
          </a:xfrm>
          <a:prstGeom prst="rect">
            <a:avLst/>
          </a:prstGeom>
          <a:noFill/>
        </p:spPr>
        <p:txBody>
          <a:bodyPr wrap="square" rtlCol="0">
            <a:spAutoFit/>
          </a:bodyPr>
          <a:lstStyle/>
          <a:p>
            <a:pPr algn="ctr"/>
            <a:r>
              <a:rPr lang="en-US" sz="700" dirty="0"/>
              <a:t>**   General Theory   ***   General Theory   ***   General Theory   ***   General Theory ***   General Theory   **</a:t>
            </a:r>
          </a:p>
        </p:txBody>
      </p:sp>
      <p:sp>
        <p:nvSpPr>
          <p:cNvPr id="9" name="Rechteck 8"/>
          <p:cNvSpPr/>
          <p:nvPr/>
        </p:nvSpPr>
        <p:spPr>
          <a:xfrm>
            <a:off x="3131840" y="1131590"/>
            <a:ext cx="5760640" cy="3888432"/>
          </a:xfrm>
          <a:prstGeom prst="rect">
            <a:avLst/>
          </a:prstGeom>
          <a:noFill/>
          <a:ln>
            <a:solidFill>
              <a:schemeClr val="tx2">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spcAft>
                <a:spcPts val="600"/>
              </a:spcAft>
            </a:pPr>
            <a:endParaRPr lang="en-US" sz="1400" dirty="0">
              <a:solidFill>
                <a:schemeClr val="tx1"/>
              </a:solidFill>
            </a:endParaRPr>
          </a:p>
        </p:txBody>
      </p:sp>
      <p:pic>
        <p:nvPicPr>
          <p:cNvPr id="16" name="Grafik 15" descr="IguanaTex_tmp.png"/>
          <p:cNvPicPr>
            <a:picLocks noChangeAspect="1"/>
          </p:cNvPicPr>
          <p:nvPr>
            <p:custDataLst>
              <p:tags r:id="rId1"/>
            </p:custDataLst>
          </p:nvPr>
        </p:nvPicPr>
        <p:blipFill>
          <a:blip r:embed="rId3" cstate="print"/>
          <a:stretch>
            <a:fillRect/>
          </a:stretch>
        </p:blipFill>
        <p:spPr>
          <a:xfrm>
            <a:off x="3203841" y="1203548"/>
            <a:ext cx="5643183" cy="2278306"/>
          </a:xfrm>
          <a:prstGeom prst="rect">
            <a:avLst/>
          </a:prstGeom>
          <a:noFill/>
          <a:ln/>
          <a:effectLst/>
        </p:spPr>
      </p:pic>
      <p:grpSp>
        <p:nvGrpSpPr>
          <p:cNvPr id="4" name="Gruppieren 22"/>
          <p:cNvGrpSpPr/>
          <p:nvPr/>
        </p:nvGrpSpPr>
        <p:grpSpPr>
          <a:xfrm>
            <a:off x="514563" y="1203598"/>
            <a:ext cx="1443487" cy="1076874"/>
            <a:chOff x="971600" y="1133243"/>
            <a:chExt cx="1443487" cy="1436914"/>
          </a:xfrm>
        </p:grpSpPr>
        <p:sp>
          <p:nvSpPr>
            <p:cNvPr id="19" name="Freihandform 18"/>
            <p:cNvSpPr/>
            <p:nvPr/>
          </p:nvSpPr>
          <p:spPr>
            <a:xfrm>
              <a:off x="971600" y="1133243"/>
              <a:ext cx="718458" cy="1436914"/>
            </a:xfrm>
            <a:custGeom>
              <a:avLst/>
              <a:gdLst>
                <a:gd name="connsiteX0" fmla="*/ 0 w 801189"/>
                <a:gd name="connsiteY0" fmla="*/ 10886 h 1652451"/>
                <a:gd name="connsiteX1" fmla="*/ 228600 w 801189"/>
                <a:gd name="connsiteY1" fmla="*/ 239486 h 1652451"/>
                <a:gd name="connsiteX2" fmla="*/ 718458 w 801189"/>
                <a:gd name="connsiteY2" fmla="*/ 1447800 h 1652451"/>
                <a:gd name="connsiteX3" fmla="*/ 724989 w 801189"/>
                <a:gd name="connsiteY3" fmla="*/ 1467395 h 1652451"/>
                <a:gd name="connsiteX0" fmla="*/ 0 w 718458"/>
                <a:gd name="connsiteY0" fmla="*/ 10886 h 1447800"/>
                <a:gd name="connsiteX1" fmla="*/ 228600 w 718458"/>
                <a:gd name="connsiteY1" fmla="*/ 239486 h 1447800"/>
                <a:gd name="connsiteX2" fmla="*/ 718458 w 718458"/>
                <a:gd name="connsiteY2" fmla="*/ 1447800 h 1447800"/>
                <a:gd name="connsiteX0" fmla="*/ 0 w 718458"/>
                <a:gd name="connsiteY0" fmla="*/ 10886 h 1447800"/>
                <a:gd name="connsiteX1" fmla="*/ 228600 w 718458"/>
                <a:gd name="connsiteY1" fmla="*/ 239486 h 1447800"/>
                <a:gd name="connsiteX2" fmla="*/ 718458 w 718458"/>
                <a:gd name="connsiteY2" fmla="*/ 1447800 h 1447800"/>
                <a:gd name="connsiteX0" fmla="*/ 0 w 718458"/>
                <a:gd name="connsiteY0" fmla="*/ 10886 h 1447800"/>
                <a:gd name="connsiteX1" fmla="*/ 228600 w 718458"/>
                <a:gd name="connsiteY1" fmla="*/ 239486 h 1447800"/>
                <a:gd name="connsiteX2" fmla="*/ 718458 w 718458"/>
                <a:gd name="connsiteY2" fmla="*/ 1447800 h 1447800"/>
                <a:gd name="connsiteX0" fmla="*/ 0 w 718458"/>
                <a:gd name="connsiteY0" fmla="*/ 0 h 1436914"/>
                <a:gd name="connsiteX1" fmla="*/ 718458 w 718458"/>
                <a:gd name="connsiteY1" fmla="*/ 1436914 h 1436914"/>
                <a:gd name="connsiteX0" fmla="*/ 0 w 718458"/>
                <a:gd name="connsiteY0" fmla="*/ 612 h 1437526"/>
                <a:gd name="connsiteX1" fmla="*/ 718458 w 718458"/>
                <a:gd name="connsiteY1" fmla="*/ 1437526 h 1437526"/>
                <a:gd name="connsiteX0" fmla="*/ 0 w 718458"/>
                <a:gd name="connsiteY0" fmla="*/ 612 h 1438118"/>
                <a:gd name="connsiteX1" fmla="*/ 718458 w 718458"/>
                <a:gd name="connsiteY1" fmla="*/ 1437526 h 1438118"/>
                <a:gd name="connsiteX0" fmla="*/ 0 w 718458"/>
                <a:gd name="connsiteY0" fmla="*/ 0 h 1437506"/>
                <a:gd name="connsiteX1" fmla="*/ 718458 w 718458"/>
                <a:gd name="connsiteY1" fmla="*/ 1436914 h 1437506"/>
                <a:gd name="connsiteX0" fmla="*/ 0 w 718458"/>
                <a:gd name="connsiteY0" fmla="*/ 0 h 1436914"/>
                <a:gd name="connsiteX1" fmla="*/ 718458 w 718458"/>
                <a:gd name="connsiteY1" fmla="*/ 1436914 h 1436914"/>
                <a:gd name="connsiteX0" fmla="*/ 0 w 718458"/>
                <a:gd name="connsiteY0" fmla="*/ 0 h 1436914"/>
                <a:gd name="connsiteX1" fmla="*/ 718458 w 718458"/>
                <a:gd name="connsiteY1" fmla="*/ 1436914 h 1436914"/>
                <a:gd name="connsiteX0" fmla="*/ 0 w 718458"/>
                <a:gd name="connsiteY0" fmla="*/ 0 h 1436914"/>
                <a:gd name="connsiteX1" fmla="*/ 718458 w 718458"/>
                <a:gd name="connsiteY1" fmla="*/ 1436914 h 1436914"/>
                <a:gd name="connsiteX0" fmla="*/ 0 w 718458"/>
                <a:gd name="connsiteY0" fmla="*/ 0 h 1436914"/>
                <a:gd name="connsiteX1" fmla="*/ 718458 w 718458"/>
                <a:gd name="connsiteY1" fmla="*/ 1436914 h 1436914"/>
              </a:gdLst>
              <a:ahLst/>
              <a:cxnLst>
                <a:cxn ang="0">
                  <a:pos x="connsiteX0" y="connsiteY0"/>
                </a:cxn>
                <a:cxn ang="0">
                  <a:pos x="connsiteX1" y="connsiteY1"/>
                </a:cxn>
              </a:cxnLst>
              <a:rect l="l" t="t" r="r" b="b"/>
              <a:pathLst>
                <a:path w="718458" h="1436914">
                  <a:moveTo>
                    <a:pt x="0" y="0"/>
                  </a:moveTo>
                  <a:cubicBezTo>
                    <a:pt x="233808" y="59774"/>
                    <a:pt x="417717" y="1429666"/>
                    <a:pt x="718458" y="1436914"/>
                  </a:cubicBezTo>
                </a:path>
              </a:pathLst>
            </a:custGeom>
            <a:no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spcAft>
                  <a:spcPts val="600"/>
                </a:spcAft>
              </a:pPr>
              <a:endParaRPr lang="en-US" sz="1400" dirty="0"/>
            </a:p>
          </p:txBody>
        </p:sp>
        <p:sp>
          <p:nvSpPr>
            <p:cNvPr id="20" name="Freihandform 19"/>
            <p:cNvSpPr/>
            <p:nvPr/>
          </p:nvSpPr>
          <p:spPr>
            <a:xfrm flipH="1">
              <a:off x="1696629" y="1133243"/>
              <a:ext cx="718458" cy="1436914"/>
            </a:xfrm>
            <a:custGeom>
              <a:avLst/>
              <a:gdLst>
                <a:gd name="connsiteX0" fmla="*/ 0 w 801189"/>
                <a:gd name="connsiteY0" fmla="*/ 10886 h 1652451"/>
                <a:gd name="connsiteX1" fmla="*/ 228600 w 801189"/>
                <a:gd name="connsiteY1" fmla="*/ 239486 h 1652451"/>
                <a:gd name="connsiteX2" fmla="*/ 718458 w 801189"/>
                <a:gd name="connsiteY2" fmla="*/ 1447800 h 1652451"/>
                <a:gd name="connsiteX3" fmla="*/ 724989 w 801189"/>
                <a:gd name="connsiteY3" fmla="*/ 1467395 h 1652451"/>
                <a:gd name="connsiteX0" fmla="*/ 0 w 718458"/>
                <a:gd name="connsiteY0" fmla="*/ 10886 h 1447800"/>
                <a:gd name="connsiteX1" fmla="*/ 228600 w 718458"/>
                <a:gd name="connsiteY1" fmla="*/ 239486 h 1447800"/>
                <a:gd name="connsiteX2" fmla="*/ 718458 w 718458"/>
                <a:gd name="connsiteY2" fmla="*/ 1447800 h 1447800"/>
                <a:gd name="connsiteX0" fmla="*/ 0 w 718458"/>
                <a:gd name="connsiteY0" fmla="*/ 10886 h 1447800"/>
                <a:gd name="connsiteX1" fmla="*/ 228600 w 718458"/>
                <a:gd name="connsiteY1" fmla="*/ 239486 h 1447800"/>
                <a:gd name="connsiteX2" fmla="*/ 718458 w 718458"/>
                <a:gd name="connsiteY2" fmla="*/ 1447800 h 1447800"/>
                <a:gd name="connsiteX0" fmla="*/ 0 w 718458"/>
                <a:gd name="connsiteY0" fmla="*/ 10886 h 1447800"/>
                <a:gd name="connsiteX1" fmla="*/ 228600 w 718458"/>
                <a:gd name="connsiteY1" fmla="*/ 239486 h 1447800"/>
                <a:gd name="connsiteX2" fmla="*/ 718458 w 718458"/>
                <a:gd name="connsiteY2" fmla="*/ 1447800 h 1447800"/>
                <a:gd name="connsiteX0" fmla="*/ 0 w 718458"/>
                <a:gd name="connsiteY0" fmla="*/ 0 h 1436914"/>
                <a:gd name="connsiteX1" fmla="*/ 718458 w 718458"/>
                <a:gd name="connsiteY1" fmla="*/ 1436914 h 1436914"/>
                <a:gd name="connsiteX0" fmla="*/ 0 w 718458"/>
                <a:gd name="connsiteY0" fmla="*/ 612 h 1437526"/>
                <a:gd name="connsiteX1" fmla="*/ 718458 w 718458"/>
                <a:gd name="connsiteY1" fmla="*/ 1437526 h 1437526"/>
                <a:gd name="connsiteX0" fmla="*/ 0 w 718458"/>
                <a:gd name="connsiteY0" fmla="*/ 612 h 1438118"/>
                <a:gd name="connsiteX1" fmla="*/ 718458 w 718458"/>
                <a:gd name="connsiteY1" fmla="*/ 1437526 h 1438118"/>
                <a:gd name="connsiteX0" fmla="*/ 0 w 718458"/>
                <a:gd name="connsiteY0" fmla="*/ 0 h 1437506"/>
                <a:gd name="connsiteX1" fmla="*/ 718458 w 718458"/>
                <a:gd name="connsiteY1" fmla="*/ 1436914 h 1437506"/>
                <a:gd name="connsiteX0" fmla="*/ 0 w 718458"/>
                <a:gd name="connsiteY0" fmla="*/ 0 h 1436914"/>
                <a:gd name="connsiteX1" fmla="*/ 718458 w 718458"/>
                <a:gd name="connsiteY1" fmla="*/ 1436914 h 1436914"/>
                <a:gd name="connsiteX0" fmla="*/ 0 w 718458"/>
                <a:gd name="connsiteY0" fmla="*/ 0 h 1436914"/>
                <a:gd name="connsiteX1" fmla="*/ 718458 w 718458"/>
                <a:gd name="connsiteY1" fmla="*/ 1436914 h 1436914"/>
                <a:gd name="connsiteX0" fmla="*/ 0 w 718458"/>
                <a:gd name="connsiteY0" fmla="*/ 0 h 1436914"/>
                <a:gd name="connsiteX1" fmla="*/ 718458 w 718458"/>
                <a:gd name="connsiteY1" fmla="*/ 1436914 h 1436914"/>
                <a:gd name="connsiteX0" fmla="*/ 0 w 718458"/>
                <a:gd name="connsiteY0" fmla="*/ 0 h 1436914"/>
                <a:gd name="connsiteX1" fmla="*/ 718458 w 718458"/>
                <a:gd name="connsiteY1" fmla="*/ 1436914 h 1436914"/>
              </a:gdLst>
              <a:ahLst/>
              <a:cxnLst>
                <a:cxn ang="0">
                  <a:pos x="connsiteX0" y="connsiteY0"/>
                </a:cxn>
                <a:cxn ang="0">
                  <a:pos x="connsiteX1" y="connsiteY1"/>
                </a:cxn>
              </a:cxnLst>
              <a:rect l="l" t="t" r="r" b="b"/>
              <a:pathLst>
                <a:path w="718458" h="1436914">
                  <a:moveTo>
                    <a:pt x="0" y="0"/>
                  </a:moveTo>
                  <a:cubicBezTo>
                    <a:pt x="233808" y="59774"/>
                    <a:pt x="417717" y="1429666"/>
                    <a:pt x="718458" y="1436914"/>
                  </a:cubicBezTo>
                </a:path>
              </a:pathLst>
            </a:custGeom>
            <a:no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spcAft>
                  <a:spcPts val="600"/>
                </a:spcAft>
              </a:pPr>
              <a:endParaRPr lang="en-US" sz="1400" dirty="0">
                <a:solidFill>
                  <a:schemeClr val="lt1"/>
                </a:solidFill>
              </a:endParaRPr>
            </a:p>
          </p:txBody>
        </p:sp>
      </p:grpSp>
      <p:cxnSp>
        <p:nvCxnSpPr>
          <p:cNvPr id="25" name="Gerade Verbindung 24"/>
          <p:cNvCxnSpPr/>
          <p:nvPr/>
        </p:nvCxnSpPr>
        <p:spPr>
          <a:xfrm>
            <a:off x="370547" y="2427734"/>
            <a:ext cx="1728192" cy="0"/>
          </a:xfrm>
          <a:prstGeom prst="line">
            <a:avLst/>
          </a:prstGeom>
          <a:no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cxnSp>
      <p:cxnSp>
        <p:nvCxnSpPr>
          <p:cNvPr id="28" name="Gerade Verbindung 27"/>
          <p:cNvCxnSpPr/>
          <p:nvPr/>
        </p:nvCxnSpPr>
        <p:spPr>
          <a:xfrm>
            <a:off x="1234643" y="2355726"/>
            <a:ext cx="0" cy="216024"/>
          </a:xfrm>
          <a:prstGeom prst="line">
            <a:avLst/>
          </a:prstGeom>
          <a:no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cxnSp>
      <p:sp>
        <p:nvSpPr>
          <p:cNvPr id="29" name="Gleichschenkliges Dreieck 28"/>
          <p:cNvSpPr/>
          <p:nvPr/>
        </p:nvSpPr>
        <p:spPr>
          <a:xfrm rot="5400000">
            <a:off x="534156" y="2336134"/>
            <a:ext cx="180020" cy="180020"/>
          </a:xfrm>
          <a:prstGeom prst="triangle">
            <a:avLst/>
          </a:prstGeom>
          <a:solidFill>
            <a:schemeClr val="bg2">
              <a:lumMod val="9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Gleichschenkliges Dreieck 29"/>
          <p:cNvSpPr/>
          <p:nvPr/>
        </p:nvSpPr>
        <p:spPr>
          <a:xfrm rot="16200000">
            <a:off x="1794296" y="2336134"/>
            <a:ext cx="180020" cy="180020"/>
          </a:xfrm>
          <a:prstGeom prst="triangle">
            <a:avLst/>
          </a:prstGeom>
          <a:solidFill>
            <a:schemeClr val="bg2">
              <a:lumMod val="9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Gleichschenkliges Dreieck 30"/>
          <p:cNvSpPr/>
          <p:nvPr/>
        </p:nvSpPr>
        <p:spPr>
          <a:xfrm rot="5400000">
            <a:off x="822188" y="2336134"/>
            <a:ext cx="180020" cy="180020"/>
          </a:xfrm>
          <a:prstGeom prst="triangle">
            <a:avLst/>
          </a:prstGeom>
          <a:solidFill>
            <a:schemeClr val="bg2">
              <a:lumMod val="9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Gleichschenkliges Dreieck 31"/>
          <p:cNvSpPr/>
          <p:nvPr/>
        </p:nvSpPr>
        <p:spPr>
          <a:xfrm rot="16200000">
            <a:off x="1470260" y="2336134"/>
            <a:ext cx="180020" cy="180020"/>
          </a:xfrm>
          <a:prstGeom prst="triangle">
            <a:avLst/>
          </a:prstGeom>
          <a:solidFill>
            <a:schemeClr val="bg2">
              <a:lumMod val="9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36" name="Gerade Verbindung 35"/>
          <p:cNvCxnSpPr/>
          <p:nvPr/>
        </p:nvCxnSpPr>
        <p:spPr>
          <a:xfrm>
            <a:off x="370547" y="4511026"/>
            <a:ext cx="1728192" cy="0"/>
          </a:xfrm>
          <a:prstGeom prst="line">
            <a:avLst/>
          </a:prstGeom>
          <a:no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cxnSp>
      <p:cxnSp>
        <p:nvCxnSpPr>
          <p:cNvPr id="37" name="Gerade Verbindung 36"/>
          <p:cNvCxnSpPr/>
          <p:nvPr/>
        </p:nvCxnSpPr>
        <p:spPr>
          <a:xfrm>
            <a:off x="1234643" y="4439018"/>
            <a:ext cx="0" cy="216024"/>
          </a:xfrm>
          <a:prstGeom prst="line">
            <a:avLst/>
          </a:prstGeom>
          <a:no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cxnSp>
      <p:sp>
        <p:nvSpPr>
          <p:cNvPr id="38" name="Gleichschenkliges Dreieck 37"/>
          <p:cNvSpPr/>
          <p:nvPr/>
        </p:nvSpPr>
        <p:spPr>
          <a:xfrm rot="16200000">
            <a:off x="534156" y="4419426"/>
            <a:ext cx="180020" cy="180020"/>
          </a:xfrm>
          <a:prstGeom prst="triangle">
            <a:avLst/>
          </a:prstGeom>
          <a:solidFill>
            <a:schemeClr val="bg2">
              <a:lumMod val="9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 name="Gleichschenkliges Dreieck 38"/>
          <p:cNvSpPr/>
          <p:nvPr/>
        </p:nvSpPr>
        <p:spPr>
          <a:xfrm rot="5400000">
            <a:off x="1794296" y="4419426"/>
            <a:ext cx="180020" cy="180020"/>
          </a:xfrm>
          <a:prstGeom prst="triangle">
            <a:avLst/>
          </a:prstGeom>
          <a:solidFill>
            <a:schemeClr val="bg2">
              <a:lumMod val="9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 name="Gleichschenkliges Dreieck 39"/>
          <p:cNvSpPr/>
          <p:nvPr/>
        </p:nvSpPr>
        <p:spPr>
          <a:xfrm rot="16200000">
            <a:off x="822188" y="4419426"/>
            <a:ext cx="180020" cy="180020"/>
          </a:xfrm>
          <a:prstGeom prst="triangle">
            <a:avLst/>
          </a:prstGeom>
          <a:solidFill>
            <a:schemeClr val="bg2">
              <a:lumMod val="9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 name="Gleichschenkliges Dreieck 40"/>
          <p:cNvSpPr/>
          <p:nvPr/>
        </p:nvSpPr>
        <p:spPr>
          <a:xfrm rot="5400000">
            <a:off x="1470260" y="4419426"/>
            <a:ext cx="180020" cy="180020"/>
          </a:xfrm>
          <a:prstGeom prst="triangle">
            <a:avLst/>
          </a:prstGeom>
          <a:solidFill>
            <a:schemeClr val="bg2">
              <a:lumMod val="9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 name="Textfeld 41"/>
          <p:cNvSpPr txBox="1"/>
          <p:nvPr/>
        </p:nvSpPr>
        <p:spPr>
          <a:xfrm>
            <a:off x="1049099" y="2562458"/>
            <a:ext cx="378630" cy="369332"/>
          </a:xfrm>
          <a:prstGeom prst="rect">
            <a:avLst/>
          </a:prstGeom>
          <a:noFill/>
        </p:spPr>
        <p:txBody>
          <a:bodyPr wrap="none" rtlCol="0">
            <a:spAutoFit/>
          </a:bodyPr>
          <a:lstStyle/>
          <a:p>
            <a:r>
              <a:rPr lang="en-US" sz="1400" i="1" dirty="0"/>
              <a:t>x</a:t>
            </a:r>
            <a:r>
              <a:rPr lang="en-US" dirty="0"/>
              <a:t>*</a:t>
            </a:r>
          </a:p>
        </p:txBody>
      </p:sp>
      <p:sp>
        <p:nvSpPr>
          <p:cNvPr id="43" name="Textfeld 42"/>
          <p:cNvSpPr txBox="1"/>
          <p:nvPr/>
        </p:nvSpPr>
        <p:spPr>
          <a:xfrm>
            <a:off x="1049099" y="4650690"/>
            <a:ext cx="378630" cy="369332"/>
          </a:xfrm>
          <a:prstGeom prst="rect">
            <a:avLst/>
          </a:prstGeom>
          <a:noFill/>
        </p:spPr>
        <p:txBody>
          <a:bodyPr wrap="none" rtlCol="0">
            <a:spAutoFit/>
          </a:bodyPr>
          <a:lstStyle/>
          <a:p>
            <a:r>
              <a:rPr lang="en-US" sz="1400" i="1" dirty="0"/>
              <a:t>x</a:t>
            </a:r>
            <a:r>
              <a:rPr lang="en-US" dirty="0"/>
              <a:t>*</a:t>
            </a:r>
          </a:p>
        </p:txBody>
      </p:sp>
      <p:grpSp>
        <p:nvGrpSpPr>
          <p:cNvPr id="6" name="Gruppieren 43"/>
          <p:cNvGrpSpPr/>
          <p:nvPr/>
        </p:nvGrpSpPr>
        <p:grpSpPr>
          <a:xfrm flipV="1">
            <a:off x="514563" y="3291830"/>
            <a:ext cx="1443487" cy="1076874"/>
            <a:chOff x="971600" y="1133243"/>
            <a:chExt cx="1443487" cy="1436914"/>
          </a:xfrm>
        </p:grpSpPr>
        <p:sp>
          <p:nvSpPr>
            <p:cNvPr id="45" name="Freihandform 44"/>
            <p:cNvSpPr/>
            <p:nvPr/>
          </p:nvSpPr>
          <p:spPr>
            <a:xfrm>
              <a:off x="971600" y="1133243"/>
              <a:ext cx="718458" cy="1436914"/>
            </a:xfrm>
            <a:custGeom>
              <a:avLst/>
              <a:gdLst>
                <a:gd name="connsiteX0" fmla="*/ 0 w 801189"/>
                <a:gd name="connsiteY0" fmla="*/ 10886 h 1652451"/>
                <a:gd name="connsiteX1" fmla="*/ 228600 w 801189"/>
                <a:gd name="connsiteY1" fmla="*/ 239486 h 1652451"/>
                <a:gd name="connsiteX2" fmla="*/ 718458 w 801189"/>
                <a:gd name="connsiteY2" fmla="*/ 1447800 h 1652451"/>
                <a:gd name="connsiteX3" fmla="*/ 724989 w 801189"/>
                <a:gd name="connsiteY3" fmla="*/ 1467395 h 1652451"/>
                <a:gd name="connsiteX0" fmla="*/ 0 w 718458"/>
                <a:gd name="connsiteY0" fmla="*/ 10886 h 1447800"/>
                <a:gd name="connsiteX1" fmla="*/ 228600 w 718458"/>
                <a:gd name="connsiteY1" fmla="*/ 239486 h 1447800"/>
                <a:gd name="connsiteX2" fmla="*/ 718458 w 718458"/>
                <a:gd name="connsiteY2" fmla="*/ 1447800 h 1447800"/>
                <a:gd name="connsiteX0" fmla="*/ 0 w 718458"/>
                <a:gd name="connsiteY0" fmla="*/ 10886 h 1447800"/>
                <a:gd name="connsiteX1" fmla="*/ 228600 w 718458"/>
                <a:gd name="connsiteY1" fmla="*/ 239486 h 1447800"/>
                <a:gd name="connsiteX2" fmla="*/ 718458 w 718458"/>
                <a:gd name="connsiteY2" fmla="*/ 1447800 h 1447800"/>
                <a:gd name="connsiteX0" fmla="*/ 0 w 718458"/>
                <a:gd name="connsiteY0" fmla="*/ 10886 h 1447800"/>
                <a:gd name="connsiteX1" fmla="*/ 228600 w 718458"/>
                <a:gd name="connsiteY1" fmla="*/ 239486 h 1447800"/>
                <a:gd name="connsiteX2" fmla="*/ 718458 w 718458"/>
                <a:gd name="connsiteY2" fmla="*/ 1447800 h 1447800"/>
                <a:gd name="connsiteX0" fmla="*/ 0 w 718458"/>
                <a:gd name="connsiteY0" fmla="*/ 0 h 1436914"/>
                <a:gd name="connsiteX1" fmla="*/ 718458 w 718458"/>
                <a:gd name="connsiteY1" fmla="*/ 1436914 h 1436914"/>
                <a:gd name="connsiteX0" fmla="*/ 0 w 718458"/>
                <a:gd name="connsiteY0" fmla="*/ 612 h 1437526"/>
                <a:gd name="connsiteX1" fmla="*/ 718458 w 718458"/>
                <a:gd name="connsiteY1" fmla="*/ 1437526 h 1437526"/>
                <a:gd name="connsiteX0" fmla="*/ 0 w 718458"/>
                <a:gd name="connsiteY0" fmla="*/ 612 h 1438118"/>
                <a:gd name="connsiteX1" fmla="*/ 718458 w 718458"/>
                <a:gd name="connsiteY1" fmla="*/ 1437526 h 1438118"/>
                <a:gd name="connsiteX0" fmla="*/ 0 w 718458"/>
                <a:gd name="connsiteY0" fmla="*/ 0 h 1437506"/>
                <a:gd name="connsiteX1" fmla="*/ 718458 w 718458"/>
                <a:gd name="connsiteY1" fmla="*/ 1436914 h 1437506"/>
                <a:gd name="connsiteX0" fmla="*/ 0 w 718458"/>
                <a:gd name="connsiteY0" fmla="*/ 0 h 1436914"/>
                <a:gd name="connsiteX1" fmla="*/ 718458 w 718458"/>
                <a:gd name="connsiteY1" fmla="*/ 1436914 h 1436914"/>
                <a:gd name="connsiteX0" fmla="*/ 0 w 718458"/>
                <a:gd name="connsiteY0" fmla="*/ 0 h 1436914"/>
                <a:gd name="connsiteX1" fmla="*/ 718458 w 718458"/>
                <a:gd name="connsiteY1" fmla="*/ 1436914 h 1436914"/>
                <a:gd name="connsiteX0" fmla="*/ 0 w 718458"/>
                <a:gd name="connsiteY0" fmla="*/ 0 h 1436914"/>
                <a:gd name="connsiteX1" fmla="*/ 718458 w 718458"/>
                <a:gd name="connsiteY1" fmla="*/ 1436914 h 1436914"/>
                <a:gd name="connsiteX0" fmla="*/ 0 w 718458"/>
                <a:gd name="connsiteY0" fmla="*/ 0 h 1436914"/>
                <a:gd name="connsiteX1" fmla="*/ 718458 w 718458"/>
                <a:gd name="connsiteY1" fmla="*/ 1436914 h 1436914"/>
              </a:gdLst>
              <a:ahLst/>
              <a:cxnLst>
                <a:cxn ang="0">
                  <a:pos x="connsiteX0" y="connsiteY0"/>
                </a:cxn>
                <a:cxn ang="0">
                  <a:pos x="connsiteX1" y="connsiteY1"/>
                </a:cxn>
              </a:cxnLst>
              <a:rect l="l" t="t" r="r" b="b"/>
              <a:pathLst>
                <a:path w="718458" h="1436914">
                  <a:moveTo>
                    <a:pt x="0" y="0"/>
                  </a:moveTo>
                  <a:cubicBezTo>
                    <a:pt x="233808" y="59774"/>
                    <a:pt x="417717" y="1429666"/>
                    <a:pt x="718458" y="1436914"/>
                  </a:cubicBezTo>
                </a:path>
              </a:pathLst>
            </a:custGeom>
            <a:no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spcAft>
                  <a:spcPts val="600"/>
                </a:spcAft>
              </a:pPr>
              <a:endParaRPr lang="en-US" sz="1400" dirty="0"/>
            </a:p>
          </p:txBody>
        </p:sp>
        <p:sp>
          <p:nvSpPr>
            <p:cNvPr id="46" name="Freihandform 45"/>
            <p:cNvSpPr/>
            <p:nvPr/>
          </p:nvSpPr>
          <p:spPr>
            <a:xfrm flipH="1">
              <a:off x="1696629" y="1133243"/>
              <a:ext cx="718458" cy="1436914"/>
            </a:xfrm>
            <a:custGeom>
              <a:avLst/>
              <a:gdLst>
                <a:gd name="connsiteX0" fmla="*/ 0 w 801189"/>
                <a:gd name="connsiteY0" fmla="*/ 10886 h 1652451"/>
                <a:gd name="connsiteX1" fmla="*/ 228600 w 801189"/>
                <a:gd name="connsiteY1" fmla="*/ 239486 h 1652451"/>
                <a:gd name="connsiteX2" fmla="*/ 718458 w 801189"/>
                <a:gd name="connsiteY2" fmla="*/ 1447800 h 1652451"/>
                <a:gd name="connsiteX3" fmla="*/ 724989 w 801189"/>
                <a:gd name="connsiteY3" fmla="*/ 1467395 h 1652451"/>
                <a:gd name="connsiteX0" fmla="*/ 0 w 718458"/>
                <a:gd name="connsiteY0" fmla="*/ 10886 h 1447800"/>
                <a:gd name="connsiteX1" fmla="*/ 228600 w 718458"/>
                <a:gd name="connsiteY1" fmla="*/ 239486 h 1447800"/>
                <a:gd name="connsiteX2" fmla="*/ 718458 w 718458"/>
                <a:gd name="connsiteY2" fmla="*/ 1447800 h 1447800"/>
                <a:gd name="connsiteX0" fmla="*/ 0 w 718458"/>
                <a:gd name="connsiteY0" fmla="*/ 10886 h 1447800"/>
                <a:gd name="connsiteX1" fmla="*/ 228600 w 718458"/>
                <a:gd name="connsiteY1" fmla="*/ 239486 h 1447800"/>
                <a:gd name="connsiteX2" fmla="*/ 718458 w 718458"/>
                <a:gd name="connsiteY2" fmla="*/ 1447800 h 1447800"/>
                <a:gd name="connsiteX0" fmla="*/ 0 w 718458"/>
                <a:gd name="connsiteY0" fmla="*/ 10886 h 1447800"/>
                <a:gd name="connsiteX1" fmla="*/ 228600 w 718458"/>
                <a:gd name="connsiteY1" fmla="*/ 239486 h 1447800"/>
                <a:gd name="connsiteX2" fmla="*/ 718458 w 718458"/>
                <a:gd name="connsiteY2" fmla="*/ 1447800 h 1447800"/>
                <a:gd name="connsiteX0" fmla="*/ 0 w 718458"/>
                <a:gd name="connsiteY0" fmla="*/ 0 h 1436914"/>
                <a:gd name="connsiteX1" fmla="*/ 718458 w 718458"/>
                <a:gd name="connsiteY1" fmla="*/ 1436914 h 1436914"/>
                <a:gd name="connsiteX0" fmla="*/ 0 w 718458"/>
                <a:gd name="connsiteY0" fmla="*/ 612 h 1437526"/>
                <a:gd name="connsiteX1" fmla="*/ 718458 w 718458"/>
                <a:gd name="connsiteY1" fmla="*/ 1437526 h 1437526"/>
                <a:gd name="connsiteX0" fmla="*/ 0 w 718458"/>
                <a:gd name="connsiteY0" fmla="*/ 612 h 1438118"/>
                <a:gd name="connsiteX1" fmla="*/ 718458 w 718458"/>
                <a:gd name="connsiteY1" fmla="*/ 1437526 h 1438118"/>
                <a:gd name="connsiteX0" fmla="*/ 0 w 718458"/>
                <a:gd name="connsiteY0" fmla="*/ 0 h 1437506"/>
                <a:gd name="connsiteX1" fmla="*/ 718458 w 718458"/>
                <a:gd name="connsiteY1" fmla="*/ 1436914 h 1437506"/>
                <a:gd name="connsiteX0" fmla="*/ 0 w 718458"/>
                <a:gd name="connsiteY0" fmla="*/ 0 h 1436914"/>
                <a:gd name="connsiteX1" fmla="*/ 718458 w 718458"/>
                <a:gd name="connsiteY1" fmla="*/ 1436914 h 1436914"/>
                <a:gd name="connsiteX0" fmla="*/ 0 w 718458"/>
                <a:gd name="connsiteY0" fmla="*/ 0 h 1436914"/>
                <a:gd name="connsiteX1" fmla="*/ 718458 w 718458"/>
                <a:gd name="connsiteY1" fmla="*/ 1436914 h 1436914"/>
                <a:gd name="connsiteX0" fmla="*/ 0 w 718458"/>
                <a:gd name="connsiteY0" fmla="*/ 0 h 1436914"/>
                <a:gd name="connsiteX1" fmla="*/ 718458 w 718458"/>
                <a:gd name="connsiteY1" fmla="*/ 1436914 h 1436914"/>
                <a:gd name="connsiteX0" fmla="*/ 0 w 718458"/>
                <a:gd name="connsiteY0" fmla="*/ 0 h 1436914"/>
                <a:gd name="connsiteX1" fmla="*/ 718458 w 718458"/>
                <a:gd name="connsiteY1" fmla="*/ 1436914 h 1436914"/>
              </a:gdLst>
              <a:ahLst/>
              <a:cxnLst>
                <a:cxn ang="0">
                  <a:pos x="connsiteX0" y="connsiteY0"/>
                </a:cxn>
                <a:cxn ang="0">
                  <a:pos x="connsiteX1" y="connsiteY1"/>
                </a:cxn>
              </a:cxnLst>
              <a:rect l="l" t="t" r="r" b="b"/>
              <a:pathLst>
                <a:path w="718458" h="1436914">
                  <a:moveTo>
                    <a:pt x="0" y="0"/>
                  </a:moveTo>
                  <a:cubicBezTo>
                    <a:pt x="233808" y="59774"/>
                    <a:pt x="417717" y="1429666"/>
                    <a:pt x="718458" y="1436914"/>
                  </a:cubicBezTo>
                </a:path>
              </a:pathLst>
            </a:custGeom>
            <a:no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spcAft>
                  <a:spcPts val="600"/>
                </a:spcAft>
              </a:pPr>
              <a:endParaRPr lang="en-US" sz="1400" dirty="0">
                <a:solidFill>
                  <a:schemeClr val="lt1"/>
                </a:solidFill>
              </a:endParaRPr>
            </a:p>
          </p:txBody>
        </p:sp>
      </p:grpSp>
      <p:sp>
        <p:nvSpPr>
          <p:cNvPr id="47" name="Ellipse 46"/>
          <p:cNvSpPr/>
          <p:nvPr/>
        </p:nvSpPr>
        <p:spPr>
          <a:xfrm>
            <a:off x="1136347" y="2056646"/>
            <a:ext cx="216024" cy="216024"/>
          </a:xfrm>
          <a:prstGeom prst="ellipse">
            <a:avLst/>
          </a:prstGeom>
          <a:solidFill>
            <a:schemeClr val="accent2"/>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 name="Ellipse 47"/>
          <p:cNvSpPr/>
          <p:nvPr/>
        </p:nvSpPr>
        <p:spPr>
          <a:xfrm>
            <a:off x="1136347" y="3075806"/>
            <a:ext cx="216024" cy="216024"/>
          </a:xfrm>
          <a:prstGeom prst="ellipse">
            <a:avLst/>
          </a:prstGeom>
          <a:solidFill>
            <a:schemeClr val="accent2"/>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9" name="Textfeld 48"/>
          <p:cNvSpPr txBox="1"/>
          <p:nvPr/>
        </p:nvSpPr>
        <p:spPr>
          <a:xfrm>
            <a:off x="1738699" y="1491630"/>
            <a:ext cx="1177117" cy="461665"/>
          </a:xfrm>
          <a:prstGeom prst="rect">
            <a:avLst/>
          </a:prstGeom>
          <a:noFill/>
        </p:spPr>
        <p:txBody>
          <a:bodyPr wrap="none" rtlCol="0">
            <a:spAutoFit/>
          </a:bodyPr>
          <a:lstStyle/>
          <a:p>
            <a:pPr algn="ctr"/>
            <a:r>
              <a:rPr lang="en-US" sz="1200" dirty="0"/>
              <a:t>(asymptotically)</a:t>
            </a:r>
          </a:p>
          <a:p>
            <a:pPr algn="ctr"/>
            <a:r>
              <a:rPr lang="en-US" sz="1200" dirty="0"/>
              <a:t>stable</a:t>
            </a:r>
          </a:p>
        </p:txBody>
      </p:sp>
      <p:sp>
        <p:nvSpPr>
          <p:cNvPr id="50" name="Textfeld 49"/>
          <p:cNvSpPr txBox="1"/>
          <p:nvPr/>
        </p:nvSpPr>
        <p:spPr>
          <a:xfrm>
            <a:off x="1738699" y="3795886"/>
            <a:ext cx="719684" cy="276999"/>
          </a:xfrm>
          <a:prstGeom prst="rect">
            <a:avLst/>
          </a:prstGeom>
          <a:noFill/>
        </p:spPr>
        <p:txBody>
          <a:bodyPr wrap="none" rtlCol="0">
            <a:spAutoFit/>
          </a:bodyPr>
          <a:lstStyle/>
          <a:p>
            <a:r>
              <a:rPr lang="en-US" sz="1200" dirty="0"/>
              <a:t>unstable</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en-US" dirty="0"/>
              <a:t>For difference equations, there are quite straightforward criteria to test a stationary state for (asymptotic) stability (1/ 2)</a:t>
            </a:r>
          </a:p>
        </p:txBody>
      </p:sp>
      <p:sp>
        <p:nvSpPr>
          <p:cNvPr id="3" name="Rechteck 2"/>
          <p:cNvSpPr/>
          <p:nvPr/>
        </p:nvSpPr>
        <p:spPr>
          <a:xfrm>
            <a:off x="0" y="843558"/>
            <a:ext cx="179512" cy="4299942"/>
          </a:xfrm>
          <a:prstGeom prst="rect">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feld 4"/>
          <p:cNvSpPr txBox="1"/>
          <p:nvPr/>
        </p:nvSpPr>
        <p:spPr>
          <a:xfrm rot="16200000">
            <a:off x="-2054569" y="2888877"/>
            <a:ext cx="4309194" cy="200055"/>
          </a:xfrm>
          <a:prstGeom prst="rect">
            <a:avLst/>
          </a:prstGeom>
          <a:noFill/>
        </p:spPr>
        <p:txBody>
          <a:bodyPr wrap="square" rtlCol="0">
            <a:spAutoFit/>
          </a:bodyPr>
          <a:lstStyle/>
          <a:p>
            <a:pPr algn="ctr"/>
            <a:r>
              <a:rPr lang="en-US" sz="700" dirty="0"/>
              <a:t>**   General Theory   ***   General Theory   ***   General Theory   ***   General Theory ***   General Theory   **</a:t>
            </a:r>
          </a:p>
        </p:txBody>
      </p:sp>
      <p:pic>
        <p:nvPicPr>
          <p:cNvPr id="11" name="Grafik 10" descr="IguanaTex_tmp.png"/>
          <p:cNvPicPr>
            <a:picLocks noChangeAspect="1"/>
          </p:cNvPicPr>
          <p:nvPr>
            <p:custDataLst>
              <p:tags r:id="rId1"/>
            </p:custDataLst>
          </p:nvPr>
        </p:nvPicPr>
        <p:blipFill>
          <a:blip r:embed="rId3" cstate="print"/>
          <a:stretch>
            <a:fillRect/>
          </a:stretch>
        </p:blipFill>
        <p:spPr>
          <a:xfrm>
            <a:off x="1763691" y="1203549"/>
            <a:ext cx="7045481" cy="3758249"/>
          </a:xfrm>
          <a:prstGeom prst="rect">
            <a:avLst/>
          </a:prstGeom>
          <a:noFill/>
          <a:ln/>
          <a:effectLst/>
        </p:spPr>
      </p:pic>
      <p:sp>
        <p:nvSpPr>
          <p:cNvPr id="7" name="Rechteck 6"/>
          <p:cNvSpPr/>
          <p:nvPr/>
        </p:nvSpPr>
        <p:spPr>
          <a:xfrm>
            <a:off x="1691680" y="1131590"/>
            <a:ext cx="7200800" cy="3888432"/>
          </a:xfrm>
          <a:prstGeom prst="rect">
            <a:avLst/>
          </a:prstGeom>
          <a:noFill/>
          <a:ln>
            <a:solidFill>
              <a:schemeClr val="tx2">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spcAft>
                <a:spcPts val="600"/>
              </a:spcAft>
            </a:pPr>
            <a:endParaRPr lang="en-US" sz="1400" dirty="0">
              <a:solidFill>
                <a:schemeClr val="tx1"/>
              </a:solidFill>
            </a:endParaRPr>
          </a:p>
        </p:txBody>
      </p:sp>
      <p:cxnSp>
        <p:nvCxnSpPr>
          <p:cNvPr id="12" name="Gerade Verbindung 11"/>
          <p:cNvCxnSpPr/>
          <p:nvPr/>
        </p:nvCxnSpPr>
        <p:spPr>
          <a:xfrm>
            <a:off x="323528" y="1347614"/>
            <a:ext cx="1152128" cy="0"/>
          </a:xfrm>
          <a:prstGeom prst="line">
            <a:avLst/>
          </a:prstGeom>
          <a:no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cxnSp>
      <p:cxnSp>
        <p:nvCxnSpPr>
          <p:cNvPr id="13" name="Gerade Verbindung 12"/>
          <p:cNvCxnSpPr/>
          <p:nvPr/>
        </p:nvCxnSpPr>
        <p:spPr>
          <a:xfrm>
            <a:off x="874603" y="1275606"/>
            <a:ext cx="0" cy="216024"/>
          </a:xfrm>
          <a:prstGeom prst="line">
            <a:avLst/>
          </a:prstGeom>
          <a:no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cxnSp>
      <p:sp>
        <p:nvSpPr>
          <p:cNvPr id="16" name="Gleichschenkliges Dreieck 15"/>
          <p:cNvSpPr/>
          <p:nvPr/>
        </p:nvSpPr>
        <p:spPr>
          <a:xfrm rot="5400000">
            <a:off x="462148" y="1256014"/>
            <a:ext cx="180020" cy="180020"/>
          </a:xfrm>
          <a:prstGeom prst="triangle">
            <a:avLst/>
          </a:prstGeom>
          <a:solidFill>
            <a:schemeClr val="bg2">
              <a:lumMod val="9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Gleichschenkliges Dreieck 16"/>
          <p:cNvSpPr/>
          <p:nvPr/>
        </p:nvSpPr>
        <p:spPr>
          <a:xfrm rot="16200000">
            <a:off x="1110220" y="1256014"/>
            <a:ext cx="180020" cy="180020"/>
          </a:xfrm>
          <a:prstGeom prst="triangle">
            <a:avLst/>
          </a:prstGeom>
          <a:solidFill>
            <a:schemeClr val="bg2">
              <a:lumMod val="9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hteck 19"/>
          <p:cNvSpPr/>
          <p:nvPr/>
        </p:nvSpPr>
        <p:spPr>
          <a:xfrm>
            <a:off x="251520" y="1131590"/>
            <a:ext cx="1296144" cy="432048"/>
          </a:xfrm>
          <a:prstGeom prst="rect">
            <a:avLst/>
          </a:prstGeom>
          <a:no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9" name="Picture 5" descr="C:\Users\Florian\Desktop\03.png"/>
          <p:cNvPicPr>
            <a:picLocks noChangeAspect="1" noChangeArrowheads="1"/>
          </p:cNvPicPr>
          <p:nvPr/>
        </p:nvPicPr>
        <p:blipFill>
          <a:blip r:embed="rId6" cstate="print"/>
          <a:srcRect l="6384" r="6619" b="5234"/>
          <a:stretch>
            <a:fillRect/>
          </a:stretch>
        </p:blipFill>
        <p:spPr bwMode="auto">
          <a:xfrm>
            <a:off x="6156176" y="2784543"/>
            <a:ext cx="2736304" cy="2235479"/>
          </a:xfrm>
          <a:prstGeom prst="rect">
            <a:avLst/>
          </a:prstGeom>
          <a:noFill/>
        </p:spPr>
      </p:pic>
      <p:pic>
        <p:nvPicPr>
          <p:cNvPr id="1028" name="Picture 4" descr="C:\Users\Florian\Desktop\02.png"/>
          <p:cNvPicPr>
            <a:picLocks noChangeAspect="1" noChangeArrowheads="1"/>
          </p:cNvPicPr>
          <p:nvPr/>
        </p:nvPicPr>
        <p:blipFill>
          <a:blip r:embed="rId7" cstate="print"/>
          <a:srcRect l="6626" r="6377" b="5234"/>
          <a:stretch>
            <a:fillRect/>
          </a:stretch>
        </p:blipFill>
        <p:spPr bwMode="auto">
          <a:xfrm>
            <a:off x="3203848" y="2784543"/>
            <a:ext cx="2736304" cy="2235479"/>
          </a:xfrm>
          <a:prstGeom prst="rect">
            <a:avLst/>
          </a:prstGeom>
          <a:noFill/>
        </p:spPr>
      </p:pic>
      <p:pic>
        <p:nvPicPr>
          <p:cNvPr id="1027" name="Picture 3" descr="C:\Users\Florian\Desktop\01.png"/>
          <p:cNvPicPr>
            <a:picLocks noChangeAspect="1" noChangeArrowheads="1"/>
          </p:cNvPicPr>
          <p:nvPr/>
        </p:nvPicPr>
        <p:blipFill>
          <a:blip r:embed="rId8" cstate="print"/>
          <a:srcRect l="6384" r="6619" b="5234"/>
          <a:stretch>
            <a:fillRect/>
          </a:stretch>
        </p:blipFill>
        <p:spPr bwMode="auto">
          <a:xfrm>
            <a:off x="251520" y="2784543"/>
            <a:ext cx="2736304" cy="2235479"/>
          </a:xfrm>
          <a:prstGeom prst="rect">
            <a:avLst/>
          </a:prstGeom>
          <a:noFill/>
        </p:spPr>
      </p:pic>
      <p:sp>
        <p:nvSpPr>
          <p:cNvPr id="23" name="Textfeld 22"/>
          <p:cNvSpPr txBox="1"/>
          <p:nvPr/>
        </p:nvSpPr>
        <p:spPr>
          <a:xfrm>
            <a:off x="251520" y="2571750"/>
            <a:ext cx="2736304" cy="276999"/>
          </a:xfrm>
          <a:prstGeom prst="rect">
            <a:avLst/>
          </a:prstGeom>
          <a:solidFill>
            <a:schemeClr val="tx2">
              <a:lumMod val="20000"/>
              <a:lumOff val="80000"/>
            </a:schemeClr>
          </a:solidFill>
        </p:spPr>
        <p:txBody>
          <a:bodyPr wrap="square" rtlCol="0">
            <a:spAutoFit/>
          </a:bodyPr>
          <a:lstStyle/>
          <a:p>
            <a:r>
              <a:rPr lang="en-US" sz="1200" dirty="0"/>
              <a:t>One-sided approach towards </a:t>
            </a:r>
            <a:r>
              <a:rPr lang="en-US" sz="1200" i="1" dirty="0"/>
              <a:t>x</a:t>
            </a:r>
            <a:r>
              <a:rPr lang="en-US" sz="1200" dirty="0"/>
              <a:t>*:</a:t>
            </a:r>
          </a:p>
        </p:txBody>
      </p:sp>
      <p:sp>
        <p:nvSpPr>
          <p:cNvPr id="24" name="Textfeld 23"/>
          <p:cNvSpPr txBox="1"/>
          <p:nvPr/>
        </p:nvSpPr>
        <p:spPr>
          <a:xfrm>
            <a:off x="3203848" y="2571750"/>
            <a:ext cx="2736304" cy="276999"/>
          </a:xfrm>
          <a:prstGeom prst="rect">
            <a:avLst/>
          </a:prstGeom>
          <a:solidFill>
            <a:schemeClr val="tx2">
              <a:lumMod val="20000"/>
              <a:lumOff val="80000"/>
            </a:schemeClr>
          </a:solidFill>
        </p:spPr>
        <p:txBody>
          <a:bodyPr wrap="square" rtlCol="0">
            <a:spAutoFit/>
          </a:bodyPr>
          <a:lstStyle/>
          <a:p>
            <a:r>
              <a:rPr lang="en-US" sz="1200" dirty="0"/>
              <a:t>Alternating approach towards </a:t>
            </a:r>
            <a:r>
              <a:rPr lang="en-US" sz="1200" i="1" dirty="0"/>
              <a:t>x</a:t>
            </a:r>
            <a:r>
              <a:rPr lang="en-US" sz="1200" dirty="0"/>
              <a:t>*:</a:t>
            </a:r>
          </a:p>
        </p:txBody>
      </p:sp>
      <p:sp>
        <p:nvSpPr>
          <p:cNvPr id="25" name="Textfeld 24"/>
          <p:cNvSpPr txBox="1"/>
          <p:nvPr/>
        </p:nvSpPr>
        <p:spPr>
          <a:xfrm>
            <a:off x="6156176" y="2571750"/>
            <a:ext cx="2736304" cy="276999"/>
          </a:xfrm>
          <a:prstGeom prst="rect">
            <a:avLst/>
          </a:prstGeom>
          <a:solidFill>
            <a:schemeClr val="tx2">
              <a:lumMod val="20000"/>
              <a:lumOff val="80000"/>
            </a:schemeClr>
          </a:solidFill>
        </p:spPr>
        <p:txBody>
          <a:bodyPr wrap="square" rtlCol="0">
            <a:spAutoFit/>
          </a:bodyPr>
          <a:lstStyle/>
          <a:p>
            <a:r>
              <a:rPr lang="en-US" sz="1200" dirty="0"/>
              <a:t>Oscillations about </a:t>
            </a:r>
            <a:r>
              <a:rPr lang="en-US" sz="1200" i="1" dirty="0"/>
              <a:t>x</a:t>
            </a:r>
            <a:r>
              <a:rPr lang="en-US" sz="1200" dirty="0"/>
              <a:t>*:</a:t>
            </a:r>
          </a:p>
        </p:txBody>
      </p:sp>
      <p:sp>
        <p:nvSpPr>
          <p:cNvPr id="2" name="Titel 1"/>
          <p:cNvSpPr>
            <a:spLocks noGrp="1"/>
          </p:cNvSpPr>
          <p:nvPr>
            <p:ph type="title"/>
          </p:nvPr>
        </p:nvSpPr>
        <p:spPr/>
        <p:txBody>
          <a:bodyPr/>
          <a:lstStyle/>
          <a:p>
            <a:r>
              <a:rPr lang="en-US" dirty="0"/>
              <a:t>For difference equations, there are quite straightforward criteria to test a stationary state for (asymptotic) stability (2/ 2)</a:t>
            </a:r>
          </a:p>
        </p:txBody>
      </p:sp>
      <p:sp>
        <p:nvSpPr>
          <p:cNvPr id="3" name="Rechteck 2"/>
          <p:cNvSpPr/>
          <p:nvPr/>
        </p:nvSpPr>
        <p:spPr>
          <a:xfrm>
            <a:off x="0" y="843558"/>
            <a:ext cx="179512" cy="4299942"/>
          </a:xfrm>
          <a:prstGeom prst="rect">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feld 4"/>
          <p:cNvSpPr txBox="1"/>
          <p:nvPr/>
        </p:nvSpPr>
        <p:spPr>
          <a:xfrm rot="16200000">
            <a:off x="-2054569" y="2888877"/>
            <a:ext cx="4309194" cy="200055"/>
          </a:xfrm>
          <a:prstGeom prst="rect">
            <a:avLst/>
          </a:prstGeom>
          <a:noFill/>
        </p:spPr>
        <p:txBody>
          <a:bodyPr wrap="square" rtlCol="0">
            <a:spAutoFit/>
          </a:bodyPr>
          <a:lstStyle/>
          <a:p>
            <a:pPr algn="ctr"/>
            <a:r>
              <a:rPr lang="en-US" sz="700" dirty="0"/>
              <a:t>**   General Theory   ***   General Theory   ***   General Theory   ***   General Theory ***   General Theory   **</a:t>
            </a:r>
          </a:p>
        </p:txBody>
      </p:sp>
      <p:pic>
        <p:nvPicPr>
          <p:cNvPr id="15" name="Grafik 14" descr="IguanaTex_tmp.png"/>
          <p:cNvPicPr>
            <a:picLocks noChangeAspect="1"/>
          </p:cNvPicPr>
          <p:nvPr>
            <p:custDataLst>
              <p:tags r:id="rId1"/>
            </p:custDataLst>
          </p:nvPr>
        </p:nvPicPr>
        <p:blipFill>
          <a:blip r:embed="rId9" cstate="print"/>
          <a:stretch>
            <a:fillRect/>
          </a:stretch>
        </p:blipFill>
        <p:spPr>
          <a:xfrm>
            <a:off x="1763690" y="1203548"/>
            <a:ext cx="7056686" cy="1078844"/>
          </a:xfrm>
          <a:prstGeom prst="rect">
            <a:avLst/>
          </a:prstGeom>
          <a:noFill/>
          <a:ln/>
          <a:effectLst/>
        </p:spPr>
      </p:pic>
      <p:sp>
        <p:nvSpPr>
          <p:cNvPr id="7" name="Rechteck 6"/>
          <p:cNvSpPr/>
          <p:nvPr/>
        </p:nvSpPr>
        <p:spPr>
          <a:xfrm>
            <a:off x="1691680" y="1131590"/>
            <a:ext cx="7200800" cy="1224136"/>
          </a:xfrm>
          <a:prstGeom prst="rect">
            <a:avLst/>
          </a:prstGeom>
          <a:noFill/>
          <a:ln>
            <a:solidFill>
              <a:schemeClr val="tx2">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spcAft>
                <a:spcPts val="600"/>
              </a:spcAft>
            </a:pPr>
            <a:endParaRPr lang="en-US" sz="1400" dirty="0">
              <a:solidFill>
                <a:schemeClr val="tx1"/>
              </a:solidFill>
            </a:endParaRPr>
          </a:p>
        </p:txBody>
      </p:sp>
      <p:cxnSp>
        <p:nvCxnSpPr>
          <p:cNvPr id="12" name="Gerade Verbindung 11"/>
          <p:cNvCxnSpPr/>
          <p:nvPr/>
        </p:nvCxnSpPr>
        <p:spPr>
          <a:xfrm>
            <a:off x="323528" y="1347614"/>
            <a:ext cx="1152128" cy="0"/>
          </a:xfrm>
          <a:prstGeom prst="line">
            <a:avLst/>
          </a:prstGeom>
          <a:no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cxnSp>
      <p:cxnSp>
        <p:nvCxnSpPr>
          <p:cNvPr id="13" name="Gerade Verbindung 12"/>
          <p:cNvCxnSpPr/>
          <p:nvPr/>
        </p:nvCxnSpPr>
        <p:spPr>
          <a:xfrm>
            <a:off x="874603" y="1275606"/>
            <a:ext cx="0" cy="216024"/>
          </a:xfrm>
          <a:prstGeom prst="line">
            <a:avLst/>
          </a:prstGeom>
          <a:no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cxnSp>
      <p:sp>
        <p:nvSpPr>
          <p:cNvPr id="16" name="Gleichschenkliges Dreieck 15"/>
          <p:cNvSpPr/>
          <p:nvPr/>
        </p:nvSpPr>
        <p:spPr>
          <a:xfrm rot="5400000">
            <a:off x="462148" y="1256014"/>
            <a:ext cx="180020" cy="180020"/>
          </a:xfrm>
          <a:prstGeom prst="triangle">
            <a:avLst/>
          </a:prstGeom>
          <a:solidFill>
            <a:schemeClr val="bg2">
              <a:lumMod val="9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Gleichschenkliges Dreieck 16"/>
          <p:cNvSpPr/>
          <p:nvPr/>
        </p:nvSpPr>
        <p:spPr>
          <a:xfrm rot="16200000">
            <a:off x="1110220" y="1256014"/>
            <a:ext cx="180020" cy="180020"/>
          </a:xfrm>
          <a:prstGeom prst="triangle">
            <a:avLst/>
          </a:prstGeom>
          <a:solidFill>
            <a:schemeClr val="bg2">
              <a:lumMod val="9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hteck 19"/>
          <p:cNvSpPr/>
          <p:nvPr/>
        </p:nvSpPr>
        <p:spPr>
          <a:xfrm>
            <a:off x="251520" y="1131590"/>
            <a:ext cx="1296144" cy="432048"/>
          </a:xfrm>
          <a:prstGeom prst="rect">
            <a:avLst/>
          </a:prstGeom>
          <a:no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hteck 17"/>
          <p:cNvSpPr/>
          <p:nvPr/>
        </p:nvSpPr>
        <p:spPr>
          <a:xfrm>
            <a:off x="6156176" y="2571750"/>
            <a:ext cx="2736304" cy="244827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hteck 18"/>
          <p:cNvSpPr/>
          <p:nvPr/>
        </p:nvSpPr>
        <p:spPr>
          <a:xfrm>
            <a:off x="251520" y="2571750"/>
            <a:ext cx="2736304" cy="244827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hteck 20"/>
          <p:cNvSpPr/>
          <p:nvPr/>
        </p:nvSpPr>
        <p:spPr>
          <a:xfrm>
            <a:off x="3203848" y="2571750"/>
            <a:ext cx="2736304" cy="244827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7" name="Grafik 26" descr="IguanaTex_tmp.png"/>
          <p:cNvPicPr>
            <a:picLocks noChangeAspect="1"/>
          </p:cNvPicPr>
          <p:nvPr>
            <p:custDataLst>
              <p:tags r:id="rId2"/>
            </p:custDataLst>
          </p:nvPr>
        </p:nvPicPr>
        <p:blipFill>
          <a:blip r:embed="rId10" cstate="print"/>
          <a:stretch>
            <a:fillRect/>
          </a:stretch>
        </p:blipFill>
        <p:spPr>
          <a:xfrm>
            <a:off x="1691680" y="3091048"/>
            <a:ext cx="979679" cy="186522"/>
          </a:xfrm>
          <a:prstGeom prst="rect">
            <a:avLst/>
          </a:prstGeom>
          <a:noFill/>
          <a:ln/>
          <a:effectLst/>
        </p:spPr>
      </p:pic>
      <p:pic>
        <p:nvPicPr>
          <p:cNvPr id="29" name="Grafik 28" descr="IguanaTex_tmp.png"/>
          <p:cNvPicPr>
            <a:picLocks noChangeAspect="1"/>
          </p:cNvPicPr>
          <p:nvPr>
            <p:custDataLst>
              <p:tags r:id="rId3"/>
            </p:custDataLst>
          </p:nvPr>
        </p:nvPicPr>
        <p:blipFill>
          <a:blip r:embed="rId11" cstate="print"/>
          <a:stretch>
            <a:fillRect/>
          </a:stretch>
        </p:blipFill>
        <p:spPr>
          <a:xfrm>
            <a:off x="4644008" y="3091046"/>
            <a:ext cx="1089334" cy="187750"/>
          </a:xfrm>
          <a:prstGeom prst="rect">
            <a:avLst/>
          </a:prstGeom>
          <a:noFill/>
          <a:ln/>
          <a:effectLst/>
        </p:spPr>
      </p:pic>
      <p:pic>
        <p:nvPicPr>
          <p:cNvPr id="31" name="Grafik 30" descr="IguanaTex_tmp.png"/>
          <p:cNvPicPr>
            <a:picLocks noChangeAspect="1"/>
          </p:cNvPicPr>
          <p:nvPr>
            <p:custDataLst>
              <p:tags r:id="rId4"/>
            </p:custDataLst>
          </p:nvPr>
        </p:nvPicPr>
        <p:blipFill>
          <a:blip r:embed="rId12" cstate="print"/>
          <a:stretch>
            <a:fillRect/>
          </a:stretch>
        </p:blipFill>
        <p:spPr>
          <a:xfrm>
            <a:off x="7020272" y="4587974"/>
            <a:ext cx="1650692" cy="190876"/>
          </a:xfrm>
          <a:prstGeom prst="rect">
            <a:avLst/>
          </a:prstGeom>
          <a:noFill/>
          <a:ln/>
          <a:effectLst/>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en-US" dirty="0"/>
              <a:t>Our discrete replicator equation of the Hawk-Dove game always has the two pure strategies as stationary states …</a:t>
            </a:r>
          </a:p>
        </p:txBody>
      </p:sp>
      <p:sp>
        <p:nvSpPr>
          <p:cNvPr id="3" name="Rechteck 2"/>
          <p:cNvSpPr/>
          <p:nvPr/>
        </p:nvSpPr>
        <p:spPr>
          <a:xfrm>
            <a:off x="1691680" y="1131590"/>
            <a:ext cx="7200800" cy="3888432"/>
          </a:xfrm>
          <a:prstGeom prst="rect">
            <a:avLst/>
          </a:prstGeom>
          <a:noFill/>
          <a:ln>
            <a:solidFill>
              <a:schemeClr val="tx2">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spcAft>
                <a:spcPts val="600"/>
              </a:spcAft>
            </a:pPr>
            <a:endParaRPr lang="en-US" sz="1400" dirty="0">
              <a:solidFill>
                <a:schemeClr val="tx1"/>
              </a:solidFill>
            </a:endParaRPr>
          </a:p>
        </p:txBody>
      </p:sp>
      <p:pic>
        <p:nvPicPr>
          <p:cNvPr id="11" name="Grafik 10" descr="IguanaTex_tmp.png"/>
          <p:cNvPicPr>
            <a:picLocks noChangeAspect="1"/>
          </p:cNvPicPr>
          <p:nvPr>
            <p:custDataLst>
              <p:tags r:id="rId1"/>
            </p:custDataLst>
          </p:nvPr>
        </p:nvPicPr>
        <p:blipFill>
          <a:blip r:embed="rId3" cstate="print"/>
          <a:stretch>
            <a:fillRect/>
          </a:stretch>
        </p:blipFill>
        <p:spPr>
          <a:xfrm>
            <a:off x="1763690" y="1203549"/>
            <a:ext cx="7060395" cy="3429482"/>
          </a:xfrm>
          <a:prstGeom prst="rect">
            <a:avLst/>
          </a:prstGeom>
          <a:noFill/>
          <a:ln/>
          <a:effectLst/>
        </p:spPr>
      </p:pic>
      <p:sp>
        <p:nvSpPr>
          <p:cNvPr id="5" name="Rechteck 4"/>
          <p:cNvSpPr/>
          <p:nvPr/>
        </p:nvSpPr>
        <p:spPr>
          <a:xfrm>
            <a:off x="3131840" y="1491630"/>
            <a:ext cx="4320480" cy="792088"/>
          </a:xfrm>
          <a:prstGeom prst="rect">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en-US" dirty="0"/>
              <a:t>… as well as a third stationary state in mixed strategies provided a further condition on the fitness function is satisfied</a:t>
            </a:r>
          </a:p>
        </p:txBody>
      </p:sp>
      <p:sp>
        <p:nvSpPr>
          <p:cNvPr id="3" name="Rechteck 2"/>
          <p:cNvSpPr/>
          <p:nvPr/>
        </p:nvSpPr>
        <p:spPr>
          <a:xfrm>
            <a:off x="1691680" y="1131590"/>
            <a:ext cx="7200800" cy="3888432"/>
          </a:xfrm>
          <a:prstGeom prst="rect">
            <a:avLst/>
          </a:prstGeom>
          <a:noFill/>
          <a:ln>
            <a:solidFill>
              <a:schemeClr val="tx2">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spcAft>
                <a:spcPts val="600"/>
              </a:spcAft>
            </a:pPr>
            <a:endParaRPr lang="en-US" sz="1400" dirty="0">
              <a:solidFill>
                <a:schemeClr val="tx1"/>
              </a:solidFill>
            </a:endParaRPr>
          </a:p>
        </p:txBody>
      </p:sp>
      <p:pic>
        <p:nvPicPr>
          <p:cNvPr id="8" name="Grafik 7" descr="IguanaTex_tmp.png"/>
          <p:cNvPicPr>
            <a:picLocks noChangeAspect="1"/>
          </p:cNvPicPr>
          <p:nvPr>
            <p:custDataLst>
              <p:tags r:id="rId1"/>
            </p:custDataLst>
          </p:nvPr>
        </p:nvPicPr>
        <p:blipFill>
          <a:blip r:embed="rId3" cstate="print"/>
          <a:stretch>
            <a:fillRect/>
          </a:stretch>
        </p:blipFill>
        <p:spPr>
          <a:xfrm>
            <a:off x="1763691" y="1203549"/>
            <a:ext cx="7053431" cy="2058155"/>
          </a:xfrm>
          <a:prstGeom prst="rect">
            <a:avLst/>
          </a:prstGeom>
          <a:noFill/>
          <a:ln/>
          <a:effectLst/>
        </p:spPr>
      </p:pic>
      <p:sp>
        <p:nvSpPr>
          <p:cNvPr id="5" name="Rechteck 4"/>
          <p:cNvSpPr/>
          <p:nvPr/>
        </p:nvSpPr>
        <p:spPr>
          <a:xfrm>
            <a:off x="3851920" y="2268478"/>
            <a:ext cx="2880320" cy="432048"/>
          </a:xfrm>
          <a:prstGeom prst="rect">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en-US" dirty="0"/>
              <a:t>The fitness function of the ‘hawk’ strategy consist of the payoffs/ utilities at encounters weighted by the probability of the encounter …</a:t>
            </a:r>
          </a:p>
        </p:txBody>
      </p:sp>
      <p:graphicFrame>
        <p:nvGraphicFramePr>
          <p:cNvPr id="3" name="Tabelle 2"/>
          <p:cNvGraphicFramePr>
            <a:graphicFrameLocks noGrp="1"/>
          </p:cNvGraphicFramePr>
          <p:nvPr>
            <p:custDataLst>
              <p:tags r:id="rId1"/>
            </p:custDataLst>
          </p:nvPr>
        </p:nvGraphicFramePr>
        <p:xfrm>
          <a:off x="251521" y="1851670"/>
          <a:ext cx="2664297" cy="1656183"/>
        </p:xfrm>
        <a:graphic>
          <a:graphicData uri="http://schemas.openxmlformats.org/drawingml/2006/table">
            <a:tbl>
              <a:tblPr firstRow="1" bandRow="1">
                <a:tableStyleId>{5C22544A-7EE6-4342-B048-85BDC9FD1C3A}</a:tableStyleId>
              </a:tblPr>
              <a:tblGrid>
                <a:gridCol w="888099">
                  <a:extLst>
                    <a:ext uri="{9D8B030D-6E8A-4147-A177-3AD203B41FA5}">
                      <a16:colId xmlns:a16="http://schemas.microsoft.com/office/drawing/2014/main" val="20000"/>
                    </a:ext>
                  </a:extLst>
                </a:gridCol>
                <a:gridCol w="888099">
                  <a:extLst>
                    <a:ext uri="{9D8B030D-6E8A-4147-A177-3AD203B41FA5}">
                      <a16:colId xmlns:a16="http://schemas.microsoft.com/office/drawing/2014/main" val="20001"/>
                    </a:ext>
                  </a:extLst>
                </a:gridCol>
                <a:gridCol w="888099">
                  <a:extLst>
                    <a:ext uri="{9D8B030D-6E8A-4147-A177-3AD203B41FA5}">
                      <a16:colId xmlns:a16="http://schemas.microsoft.com/office/drawing/2014/main" val="20002"/>
                    </a:ext>
                  </a:extLst>
                </a:gridCol>
              </a:tblGrid>
              <a:tr h="552061">
                <a:tc>
                  <a:txBody>
                    <a:bodyPr/>
                    <a:lstStyle/>
                    <a:p>
                      <a:pPr algn="ctr"/>
                      <a:r>
                        <a:rPr lang="en-US" sz="1400" b="0" dirty="0">
                          <a:solidFill>
                            <a:schemeClr val="tx1"/>
                          </a:solidFill>
                        </a:rPr>
                        <a:t>player</a:t>
                      </a:r>
                      <a:br>
                        <a:rPr lang="en-US" sz="1400" b="0" dirty="0">
                          <a:solidFill>
                            <a:schemeClr val="tx1"/>
                          </a:solidFill>
                        </a:rPr>
                      </a:br>
                      <a:r>
                        <a:rPr lang="en-US" sz="1400" b="0" dirty="0">
                          <a:solidFill>
                            <a:schemeClr val="tx2"/>
                          </a:solidFill>
                        </a:rPr>
                        <a:t>A</a:t>
                      </a:r>
                      <a:r>
                        <a:rPr lang="en-US" sz="1400" b="0" dirty="0">
                          <a:solidFill>
                            <a:schemeClr val="tx1"/>
                          </a:solidFill>
                        </a:rPr>
                        <a:t>           </a:t>
                      </a:r>
                      <a:r>
                        <a:rPr lang="en-US" sz="1400" b="0" dirty="0">
                          <a:solidFill>
                            <a:srgbClr val="C00000"/>
                          </a:solidFill>
                        </a:rPr>
                        <a:t>B</a:t>
                      </a:r>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400" b="0" dirty="0">
                          <a:solidFill>
                            <a:srgbClr val="C00000"/>
                          </a:solidFill>
                        </a:rPr>
                        <a:t>Hawk</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400" b="0" dirty="0">
                          <a:solidFill>
                            <a:srgbClr val="C00000"/>
                          </a:solidFill>
                        </a:rPr>
                        <a:t>Dove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0"/>
                  </a:ext>
                </a:extLst>
              </a:tr>
              <a:tr h="552061">
                <a:tc>
                  <a:txBody>
                    <a:bodyPr/>
                    <a:lstStyle/>
                    <a:p>
                      <a:pPr algn="ctr"/>
                      <a:r>
                        <a:rPr lang="en-US" sz="1400" dirty="0">
                          <a:solidFill>
                            <a:schemeClr val="tx2"/>
                          </a:solidFill>
                        </a:rPr>
                        <a:t>Hawk</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400" b="0" dirty="0">
                          <a:solidFill>
                            <a:schemeClr val="tx1"/>
                          </a:solidFill>
                        </a:rPr>
                        <a:t>(</a:t>
                      </a:r>
                      <a:r>
                        <a:rPr lang="en-US" sz="1400" b="0" dirty="0">
                          <a:solidFill>
                            <a:schemeClr val="tx2"/>
                          </a:solidFill>
                        </a:rPr>
                        <a:t>0</a:t>
                      </a:r>
                      <a:r>
                        <a:rPr lang="en-US" sz="1400" b="0" dirty="0">
                          <a:solidFill>
                            <a:schemeClr val="tx1"/>
                          </a:solidFill>
                        </a:rPr>
                        <a:t>, </a:t>
                      </a:r>
                      <a:r>
                        <a:rPr lang="en-US" sz="1400" b="0" dirty="0">
                          <a:solidFill>
                            <a:srgbClr val="C00000"/>
                          </a:solidFill>
                        </a:rPr>
                        <a:t>0</a:t>
                      </a:r>
                      <a:r>
                        <a:rPr lang="en-US" sz="1400" b="0" dirty="0">
                          <a:solidFill>
                            <a:schemeClr val="tx1"/>
                          </a:solidFill>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400" b="0" dirty="0">
                          <a:solidFill>
                            <a:schemeClr val="tx1"/>
                          </a:solidFill>
                        </a:rPr>
                        <a:t>(</a:t>
                      </a:r>
                      <a:r>
                        <a:rPr lang="en-US" sz="1400" b="0" dirty="0">
                          <a:solidFill>
                            <a:schemeClr val="tx2"/>
                          </a:solidFill>
                        </a:rPr>
                        <a:t>3</a:t>
                      </a:r>
                      <a:r>
                        <a:rPr lang="en-US" sz="1400" b="0" dirty="0">
                          <a:solidFill>
                            <a:schemeClr val="tx1"/>
                          </a:solidFill>
                        </a:rPr>
                        <a:t>, </a:t>
                      </a:r>
                      <a:r>
                        <a:rPr lang="en-US" sz="1400" b="0" dirty="0">
                          <a:solidFill>
                            <a:srgbClr val="C00000"/>
                          </a:solidFill>
                        </a:rPr>
                        <a:t>1</a:t>
                      </a:r>
                      <a:r>
                        <a:rPr lang="en-US" sz="1400" b="0" dirty="0">
                          <a:solidFill>
                            <a:schemeClr val="tx1"/>
                          </a:solidFill>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extLst>
                  <a:ext uri="{0D108BD9-81ED-4DB2-BD59-A6C34878D82A}">
                    <a16:rowId xmlns:a16="http://schemas.microsoft.com/office/drawing/2014/main" val="10001"/>
                  </a:ext>
                </a:extLst>
              </a:tr>
              <a:tr h="552061">
                <a:tc>
                  <a:txBody>
                    <a:bodyPr/>
                    <a:lstStyle/>
                    <a:p>
                      <a:pPr algn="ctr"/>
                      <a:r>
                        <a:rPr lang="en-US" sz="1400" dirty="0">
                          <a:solidFill>
                            <a:schemeClr val="tx2"/>
                          </a:solidFill>
                        </a:rPr>
                        <a:t>Dove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400" b="0" dirty="0">
                          <a:solidFill>
                            <a:schemeClr val="tx1"/>
                          </a:solidFill>
                        </a:rPr>
                        <a:t>(</a:t>
                      </a:r>
                      <a:r>
                        <a:rPr lang="en-US" sz="1400" b="0" dirty="0">
                          <a:solidFill>
                            <a:schemeClr val="tx2"/>
                          </a:solidFill>
                        </a:rPr>
                        <a:t>1</a:t>
                      </a:r>
                      <a:r>
                        <a:rPr lang="en-US" sz="1400" b="0" dirty="0">
                          <a:solidFill>
                            <a:schemeClr val="tx1"/>
                          </a:solidFill>
                        </a:rPr>
                        <a:t>, </a:t>
                      </a:r>
                      <a:r>
                        <a:rPr lang="en-US" sz="1400" b="0" dirty="0">
                          <a:solidFill>
                            <a:srgbClr val="C00000"/>
                          </a:solidFill>
                        </a:rPr>
                        <a:t>3</a:t>
                      </a:r>
                      <a:r>
                        <a:rPr lang="en-US" sz="1400" b="0" dirty="0">
                          <a:solidFill>
                            <a:schemeClr val="tx1"/>
                          </a:solidFill>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400" b="0" dirty="0">
                          <a:solidFill>
                            <a:schemeClr val="tx1"/>
                          </a:solidFill>
                        </a:rPr>
                        <a:t>(</a:t>
                      </a:r>
                      <a:r>
                        <a:rPr lang="en-US" sz="1400" b="0" dirty="0">
                          <a:solidFill>
                            <a:schemeClr val="tx2"/>
                          </a:solidFill>
                        </a:rPr>
                        <a:t>2</a:t>
                      </a:r>
                      <a:r>
                        <a:rPr lang="en-US" sz="1400" b="0" dirty="0">
                          <a:solidFill>
                            <a:schemeClr val="tx1"/>
                          </a:solidFill>
                        </a:rPr>
                        <a:t>, </a:t>
                      </a:r>
                      <a:r>
                        <a:rPr lang="en-US" sz="1400" b="0" dirty="0">
                          <a:solidFill>
                            <a:srgbClr val="C00000"/>
                          </a:solidFill>
                        </a:rPr>
                        <a:t>2</a:t>
                      </a:r>
                      <a:r>
                        <a:rPr lang="en-US" sz="1400" b="0" dirty="0">
                          <a:solidFill>
                            <a:schemeClr val="tx1"/>
                          </a:solidFill>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2"/>
                  </a:ext>
                </a:extLst>
              </a:tr>
            </a:tbl>
          </a:graphicData>
        </a:graphic>
      </p:graphicFrame>
      <p:sp>
        <p:nvSpPr>
          <p:cNvPr id="8" name="Rechteck 7"/>
          <p:cNvSpPr/>
          <p:nvPr/>
        </p:nvSpPr>
        <p:spPr>
          <a:xfrm>
            <a:off x="251520" y="1131590"/>
            <a:ext cx="2664296" cy="576064"/>
          </a:xfrm>
          <a:prstGeom prst="rect">
            <a:avLst/>
          </a:prstGeom>
          <a:solidFill>
            <a:schemeClr val="tx2">
              <a:lumMod val="20000"/>
              <a:lumOff val="80000"/>
            </a:schemeClr>
          </a:solidFill>
          <a:ln>
            <a:solidFill>
              <a:schemeClr val="tx2">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dirty="0">
              <a:solidFill>
                <a:schemeClr val="tx1"/>
              </a:solidFill>
            </a:endParaRPr>
          </a:p>
          <a:p>
            <a:pPr algn="ctr"/>
            <a:endParaRPr lang="en-US" sz="1200" dirty="0">
              <a:solidFill>
                <a:schemeClr val="tx1"/>
              </a:solidFill>
            </a:endParaRPr>
          </a:p>
          <a:p>
            <a:pPr algn="ctr"/>
            <a:endParaRPr lang="en-US" sz="1200" dirty="0">
              <a:solidFill>
                <a:schemeClr val="tx1"/>
              </a:solidFill>
            </a:endParaRPr>
          </a:p>
        </p:txBody>
      </p:sp>
      <p:grpSp>
        <p:nvGrpSpPr>
          <p:cNvPr id="4" name="Gruppieren 38"/>
          <p:cNvGrpSpPr/>
          <p:nvPr/>
        </p:nvGrpSpPr>
        <p:grpSpPr>
          <a:xfrm>
            <a:off x="430659" y="1203598"/>
            <a:ext cx="468933" cy="429357"/>
            <a:chOff x="7452320" y="1131590"/>
            <a:chExt cx="1440160" cy="1318616"/>
          </a:xfrm>
        </p:grpSpPr>
        <p:sp>
          <p:nvSpPr>
            <p:cNvPr id="10" name="Rechteck 9"/>
            <p:cNvSpPr/>
            <p:nvPr/>
          </p:nvSpPr>
          <p:spPr>
            <a:xfrm>
              <a:off x="7452320" y="1131590"/>
              <a:ext cx="1440160" cy="1296144"/>
            </a:xfrm>
            <a:prstGeom prst="rect">
              <a:avLst/>
            </a:prstGeom>
            <a:solidFill>
              <a:schemeClr val="tx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1" name="Picture 4" descr="Falke vogel tierform | Kostenlose Icon"/>
            <p:cNvPicPr>
              <a:picLocks noChangeAspect="1" noChangeArrowheads="1"/>
            </p:cNvPicPr>
            <p:nvPr/>
          </p:nvPicPr>
          <p:blipFill>
            <a:blip r:embed="rId4" cstate="print"/>
            <a:srcRect/>
            <a:stretch>
              <a:fillRect/>
            </a:stretch>
          </p:blipFill>
          <p:spPr bwMode="auto">
            <a:xfrm rot="20243383" flipH="1">
              <a:off x="7503272" y="1182543"/>
              <a:ext cx="1267663" cy="1267663"/>
            </a:xfrm>
            <a:prstGeom prst="rect">
              <a:avLst/>
            </a:prstGeom>
            <a:noFill/>
          </p:spPr>
        </p:pic>
      </p:grpSp>
      <p:grpSp>
        <p:nvGrpSpPr>
          <p:cNvPr id="5" name="Gruppieren 18"/>
          <p:cNvGrpSpPr/>
          <p:nvPr/>
        </p:nvGrpSpPr>
        <p:grpSpPr>
          <a:xfrm>
            <a:off x="1035988" y="1174919"/>
            <a:ext cx="468934" cy="445487"/>
            <a:chOff x="251520" y="1059582"/>
            <a:chExt cx="1440160" cy="1368152"/>
          </a:xfrm>
        </p:grpSpPr>
        <p:sp>
          <p:nvSpPr>
            <p:cNvPr id="13" name="Rechteck 12"/>
            <p:cNvSpPr/>
            <p:nvPr/>
          </p:nvSpPr>
          <p:spPr>
            <a:xfrm>
              <a:off x="251520" y="1131590"/>
              <a:ext cx="1440160" cy="1296144"/>
            </a:xfrm>
            <a:prstGeom prst="rect">
              <a:avLst/>
            </a:prstGeom>
            <a:solidFill>
              <a:schemeClr val="tx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4" name="Picture 6" descr="Bird Silhouettes | Bird silhouette, Silhouette, Owl silhouette"/>
            <p:cNvPicPr>
              <a:picLocks noChangeAspect="1" noChangeArrowheads="1"/>
            </p:cNvPicPr>
            <p:nvPr/>
          </p:nvPicPr>
          <p:blipFill>
            <a:blip r:embed="rId5" cstate="print"/>
            <a:srcRect/>
            <a:stretch>
              <a:fillRect/>
            </a:stretch>
          </p:blipFill>
          <p:spPr bwMode="auto">
            <a:xfrm>
              <a:off x="395536" y="1059582"/>
              <a:ext cx="1080120" cy="1339939"/>
            </a:xfrm>
            <a:prstGeom prst="rect">
              <a:avLst/>
            </a:prstGeom>
            <a:noFill/>
          </p:spPr>
        </p:pic>
      </p:grpSp>
      <p:sp>
        <p:nvSpPr>
          <p:cNvPr id="15" name="Rechteck 14"/>
          <p:cNvSpPr/>
          <p:nvPr/>
        </p:nvSpPr>
        <p:spPr>
          <a:xfrm>
            <a:off x="3131840" y="1131590"/>
            <a:ext cx="5760640" cy="3888432"/>
          </a:xfrm>
          <a:prstGeom prst="rect">
            <a:avLst/>
          </a:prstGeom>
          <a:noFill/>
          <a:ln>
            <a:solidFill>
              <a:schemeClr val="tx2">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spcAft>
                <a:spcPts val="600"/>
              </a:spcAft>
            </a:pPr>
            <a:endParaRPr lang="en-US" sz="1400" dirty="0">
              <a:solidFill>
                <a:schemeClr val="tx1"/>
              </a:solidFill>
            </a:endParaRPr>
          </a:p>
        </p:txBody>
      </p:sp>
      <p:pic>
        <p:nvPicPr>
          <p:cNvPr id="7" name="Grafik 6">
            <a:extLst>
              <a:ext uri="{FF2B5EF4-FFF2-40B4-BE49-F238E27FC236}">
                <a16:creationId xmlns:a16="http://schemas.microsoft.com/office/drawing/2014/main" id="{1C180463-A338-70D4-7AF3-192983009ACC}"/>
              </a:ext>
            </a:extLst>
          </p:cNvPr>
          <p:cNvPicPr>
            <a:picLocks noChangeAspect="1"/>
          </p:cNvPicPr>
          <p:nvPr>
            <p:custDataLst>
              <p:tags r:id="rId2"/>
            </p:custDataLst>
          </p:nvPr>
        </p:nvPicPr>
        <p:blipFill>
          <a:blip r:embed="rId6" cstate="print">
            <a:extLst>
              <a:ext uri="{28A0092B-C50C-407E-A947-70E740481C1C}">
                <a14:useLocalDpi xmlns:a14="http://schemas.microsoft.com/office/drawing/2010/main" val="0"/>
              </a:ext>
            </a:extLst>
          </a:blip>
          <a:stretch>
            <a:fillRect/>
          </a:stretch>
        </p:blipFill>
        <p:spPr>
          <a:xfrm>
            <a:off x="3203842" y="1203549"/>
            <a:ext cx="5619319" cy="3309430"/>
          </a:xfrm>
          <a:prstGeom prst="rect">
            <a:avLst/>
          </a:prstGeom>
          <a:noFill/>
          <a:ln/>
          <a:effectLst/>
        </p:spPr>
      </p:pic>
      <p:sp>
        <p:nvSpPr>
          <p:cNvPr id="22" name="Textfeld 21"/>
          <p:cNvSpPr txBox="1"/>
          <p:nvPr/>
        </p:nvSpPr>
        <p:spPr>
          <a:xfrm>
            <a:off x="1780648" y="1203598"/>
            <a:ext cx="979948" cy="461665"/>
          </a:xfrm>
          <a:prstGeom prst="rect">
            <a:avLst/>
          </a:prstGeom>
          <a:noFill/>
        </p:spPr>
        <p:txBody>
          <a:bodyPr wrap="none" rtlCol="0">
            <a:spAutoFit/>
          </a:bodyPr>
          <a:lstStyle/>
          <a:p>
            <a:pPr algn="ctr"/>
            <a:r>
              <a:rPr lang="en-US" sz="1200" dirty="0"/>
              <a:t>Hawk-Dove</a:t>
            </a:r>
          </a:p>
          <a:p>
            <a:pPr algn="ctr"/>
            <a:r>
              <a:rPr lang="en-US" sz="1200" dirty="0"/>
              <a:t>utility matrix</a:t>
            </a:r>
          </a:p>
        </p:txBody>
      </p:sp>
      <p:cxnSp>
        <p:nvCxnSpPr>
          <p:cNvPr id="29" name="Gerade Verbindung 28"/>
          <p:cNvCxnSpPr/>
          <p:nvPr/>
        </p:nvCxnSpPr>
        <p:spPr>
          <a:xfrm>
            <a:off x="1259632" y="2715766"/>
            <a:ext cx="0" cy="1296144"/>
          </a:xfrm>
          <a:prstGeom prst="line">
            <a:avLst/>
          </a:prstGeom>
          <a:no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cxnSp>
      <p:sp>
        <p:nvSpPr>
          <p:cNvPr id="30" name="Textfeld 29"/>
          <p:cNvSpPr txBox="1"/>
          <p:nvPr/>
        </p:nvSpPr>
        <p:spPr>
          <a:xfrm>
            <a:off x="251520" y="4011910"/>
            <a:ext cx="2664296" cy="523220"/>
          </a:xfrm>
          <a:prstGeom prst="rect">
            <a:avLst/>
          </a:prstGeom>
          <a:noFill/>
        </p:spPr>
        <p:txBody>
          <a:bodyPr wrap="square" rtlCol="0">
            <a:spAutoFit/>
          </a:bodyPr>
          <a:lstStyle/>
          <a:p>
            <a:pPr algn="ctr"/>
            <a:r>
              <a:rPr lang="en-US" sz="1400" dirty="0"/>
              <a:t>utility </a:t>
            </a:r>
            <a:r>
              <a:rPr lang="en-US" sz="1400" i="1" dirty="0" err="1"/>
              <a:t>u</a:t>
            </a:r>
            <a:r>
              <a:rPr lang="en-US" sz="1400" i="1" baseline="-25000" dirty="0" err="1"/>
              <a:t>H</a:t>
            </a:r>
            <a:r>
              <a:rPr lang="en-US" sz="1400" dirty="0"/>
              <a:t>(</a:t>
            </a:r>
            <a:r>
              <a:rPr lang="en-US" sz="1400" i="1" dirty="0"/>
              <a:t>H</a:t>
            </a:r>
            <a:r>
              <a:rPr lang="en-US" sz="1400" dirty="0"/>
              <a:t>,</a:t>
            </a:r>
            <a:r>
              <a:rPr lang="en-US" sz="1400" i="1" dirty="0"/>
              <a:t>H</a:t>
            </a:r>
            <a:r>
              <a:rPr lang="en-US" sz="1400" dirty="0"/>
              <a:t>) = 0 for the hawk at an encounter with another hawk</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en-US" dirty="0"/>
              <a:t>… and the background fitness</a:t>
            </a:r>
          </a:p>
        </p:txBody>
      </p:sp>
      <p:graphicFrame>
        <p:nvGraphicFramePr>
          <p:cNvPr id="3" name="Tabelle 2"/>
          <p:cNvGraphicFramePr>
            <a:graphicFrameLocks noGrp="1"/>
          </p:cNvGraphicFramePr>
          <p:nvPr>
            <p:custDataLst>
              <p:tags r:id="rId1"/>
            </p:custDataLst>
          </p:nvPr>
        </p:nvGraphicFramePr>
        <p:xfrm>
          <a:off x="251521" y="1851670"/>
          <a:ext cx="2664297" cy="1656183"/>
        </p:xfrm>
        <a:graphic>
          <a:graphicData uri="http://schemas.openxmlformats.org/drawingml/2006/table">
            <a:tbl>
              <a:tblPr firstRow="1" bandRow="1">
                <a:tableStyleId>{5C22544A-7EE6-4342-B048-85BDC9FD1C3A}</a:tableStyleId>
              </a:tblPr>
              <a:tblGrid>
                <a:gridCol w="888099">
                  <a:extLst>
                    <a:ext uri="{9D8B030D-6E8A-4147-A177-3AD203B41FA5}">
                      <a16:colId xmlns:a16="http://schemas.microsoft.com/office/drawing/2014/main" val="20000"/>
                    </a:ext>
                  </a:extLst>
                </a:gridCol>
                <a:gridCol w="888099">
                  <a:extLst>
                    <a:ext uri="{9D8B030D-6E8A-4147-A177-3AD203B41FA5}">
                      <a16:colId xmlns:a16="http://schemas.microsoft.com/office/drawing/2014/main" val="20001"/>
                    </a:ext>
                  </a:extLst>
                </a:gridCol>
                <a:gridCol w="888099">
                  <a:extLst>
                    <a:ext uri="{9D8B030D-6E8A-4147-A177-3AD203B41FA5}">
                      <a16:colId xmlns:a16="http://schemas.microsoft.com/office/drawing/2014/main" val="20002"/>
                    </a:ext>
                  </a:extLst>
                </a:gridCol>
              </a:tblGrid>
              <a:tr h="552061">
                <a:tc>
                  <a:txBody>
                    <a:bodyPr/>
                    <a:lstStyle/>
                    <a:p>
                      <a:pPr algn="ctr"/>
                      <a:r>
                        <a:rPr lang="en-US" sz="1400" b="0" dirty="0">
                          <a:solidFill>
                            <a:schemeClr val="tx1"/>
                          </a:solidFill>
                        </a:rPr>
                        <a:t>player</a:t>
                      </a:r>
                      <a:br>
                        <a:rPr lang="en-US" sz="1400" b="0" dirty="0">
                          <a:solidFill>
                            <a:schemeClr val="tx1"/>
                          </a:solidFill>
                        </a:rPr>
                      </a:br>
                      <a:r>
                        <a:rPr lang="en-US" sz="1400" b="0" dirty="0">
                          <a:solidFill>
                            <a:schemeClr val="tx2"/>
                          </a:solidFill>
                        </a:rPr>
                        <a:t>A</a:t>
                      </a:r>
                      <a:r>
                        <a:rPr lang="en-US" sz="1400" b="0" dirty="0">
                          <a:solidFill>
                            <a:schemeClr val="tx1"/>
                          </a:solidFill>
                        </a:rPr>
                        <a:t>           </a:t>
                      </a:r>
                      <a:r>
                        <a:rPr lang="en-US" sz="1400" b="0" dirty="0">
                          <a:solidFill>
                            <a:srgbClr val="C00000"/>
                          </a:solidFill>
                        </a:rPr>
                        <a:t>B</a:t>
                      </a:r>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400" b="0" dirty="0">
                          <a:solidFill>
                            <a:srgbClr val="C00000"/>
                          </a:solidFill>
                        </a:rPr>
                        <a:t>Hawk</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400" b="0" dirty="0">
                          <a:solidFill>
                            <a:srgbClr val="C00000"/>
                          </a:solidFill>
                        </a:rPr>
                        <a:t>Dove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0"/>
                  </a:ext>
                </a:extLst>
              </a:tr>
              <a:tr h="552061">
                <a:tc>
                  <a:txBody>
                    <a:bodyPr/>
                    <a:lstStyle/>
                    <a:p>
                      <a:pPr algn="ctr"/>
                      <a:r>
                        <a:rPr lang="en-US" sz="1400" dirty="0">
                          <a:solidFill>
                            <a:schemeClr val="tx2"/>
                          </a:solidFill>
                        </a:rPr>
                        <a:t>Hawk</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400" b="0" dirty="0">
                          <a:solidFill>
                            <a:schemeClr val="tx1"/>
                          </a:solidFill>
                        </a:rPr>
                        <a:t>(</a:t>
                      </a:r>
                      <a:r>
                        <a:rPr lang="en-US" sz="1400" b="0" dirty="0">
                          <a:solidFill>
                            <a:schemeClr val="tx2"/>
                          </a:solidFill>
                        </a:rPr>
                        <a:t>0</a:t>
                      </a:r>
                      <a:r>
                        <a:rPr lang="en-US" sz="1400" b="0" dirty="0">
                          <a:solidFill>
                            <a:schemeClr val="tx1"/>
                          </a:solidFill>
                        </a:rPr>
                        <a:t>, </a:t>
                      </a:r>
                      <a:r>
                        <a:rPr lang="en-US" sz="1400" b="0" dirty="0">
                          <a:solidFill>
                            <a:srgbClr val="C00000"/>
                          </a:solidFill>
                        </a:rPr>
                        <a:t>0</a:t>
                      </a:r>
                      <a:r>
                        <a:rPr lang="en-US" sz="1400" b="0" dirty="0">
                          <a:solidFill>
                            <a:schemeClr val="tx1"/>
                          </a:solidFill>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400" b="0" dirty="0">
                          <a:solidFill>
                            <a:schemeClr val="tx1"/>
                          </a:solidFill>
                        </a:rPr>
                        <a:t>(</a:t>
                      </a:r>
                      <a:r>
                        <a:rPr lang="en-US" sz="1400" b="0" dirty="0">
                          <a:solidFill>
                            <a:schemeClr val="tx2"/>
                          </a:solidFill>
                        </a:rPr>
                        <a:t>3</a:t>
                      </a:r>
                      <a:r>
                        <a:rPr lang="en-US" sz="1400" b="0" dirty="0">
                          <a:solidFill>
                            <a:schemeClr val="tx1"/>
                          </a:solidFill>
                        </a:rPr>
                        <a:t>, </a:t>
                      </a:r>
                      <a:r>
                        <a:rPr lang="en-US" sz="1400" b="0" dirty="0">
                          <a:solidFill>
                            <a:srgbClr val="C00000"/>
                          </a:solidFill>
                        </a:rPr>
                        <a:t>1</a:t>
                      </a:r>
                      <a:r>
                        <a:rPr lang="en-US" sz="1400" b="0" dirty="0">
                          <a:solidFill>
                            <a:schemeClr val="tx1"/>
                          </a:solidFill>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extLst>
                  <a:ext uri="{0D108BD9-81ED-4DB2-BD59-A6C34878D82A}">
                    <a16:rowId xmlns:a16="http://schemas.microsoft.com/office/drawing/2014/main" val="10001"/>
                  </a:ext>
                </a:extLst>
              </a:tr>
              <a:tr h="552061">
                <a:tc>
                  <a:txBody>
                    <a:bodyPr/>
                    <a:lstStyle/>
                    <a:p>
                      <a:pPr algn="ctr"/>
                      <a:r>
                        <a:rPr lang="en-US" sz="1400" dirty="0">
                          <a:solidFill>
                            <a:schemeClr val="tx2"/>
                          </a:solidFill>
                        </a:rPr>
                        <a:t>Dove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400" b="0" dirty="0">
                          <a:solidFill>
                            <a:schemeClr val="tx1"/>
                          </a:solidFill>
                        </a:rPr>
                        <a:t>(</a:t>
                      </a:r>
                      <a:r>
                        <a:rPr lang="en-US" sz="1400" b="0" dirty="0">
                          <a:solidFill>
                            <a:schemeClr val="tx2"/>
                          </a:solidFill>
                        </a:rPr>
                        <a:t>1</a:t>
                      </a:r>
                      <a:r>
                        <a:rPr lang="en-US" sz="1400" b="0" dirty="0">
                          <a:solidFill>
                            <a:schemeClr val="tx1"/>
                          </a:solidFill>
                        </a:rPr>
                        <a:t>, </a:t>
                      </a:r>
                      <a:r>
                        <a:rPr lang="en-US" sz="1400" b="0" dirty="0">
                          <a:solidFill>
                            <a:srgbClr val="C00000"/>
                          </a:solidFill>
                        </a:rPr>
                        <a:t>3</a:t>
                      </a:r>
                      <a:r>
                        <a:rPr lang="en-US" sz="1400" b="0" dirty="0">
                          <a:solidFill>
                            <a:schemeClr val="tx1"/>
                          </a:solidFill>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400" b="0" dirty="0">
                          <a:solidFill>
                            <a:schemeClr val="tx1"/>
                          </a:solidFill>
                        </a:rPr>
                        <a:t>(</a:t>
                      </a:r>
                      <a:r>
                        <a:rPr lang="en-US" sz="1400" b="0" dirty="0">
                          <a:solidFill>
                            <a:schemeClr val="tx2"/>
                          </a:solidFill>
                        </a:rPr>
                        <a:t>2</a:t>
                      </a:r>
                      <a:r>
                        <a:rPr lang="en-US" sz="1400" b="0" dirty="0">
                          <a:solidFill>
                            <a:schemeClr val="tx1"/>
                          </a:solidFill>
                        </a:rPr>
                        <a:t>, </a:t>
                      </a:r>
                      <a:r>
                        <a:rPr lang="en-US" sz="1400" b="0" dirty="0">
                          <a:solidFill>
                            <a:srgbClr val="C00000"/>
                          </a:solidFill>
                        </a:rPr>
                        <a:t>2</a:t>
                      </a:r>
                      <a:r>
                        <a:rPr lang="en-US" sz="1400" b="0" dirty="0">
                          <a:solidFill>
                            <a:schemeClr val="tx1"/>
                          </a:solidFill>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2"/>
                  </a:ext>
                </a:extLst>
              </a:tr>
            </a:tbl>
          </a:graphicData>
        </a:graphic>
      </p:graphicFrame>
      <p:sp>
        <p:nvSpPr>
          <p:cNvPr id="8" name="Rechteck 7"/>
          <p:cNvSpPr/>
          <p:nvPr/>
        </p:nvSpPr>
        <p:spPr>
          <a:xfrm>
            <a:off x="251520" y="1131590"/>
            <a:ext cx="2664296" cy="576064"/>
          </a:xfrm>
          <a:prstGeom prst="rect">
            <a:avLst/>
          </a:prstGeom>
          <a:solidFill>
            <a:schemeClr val="tx2">
              <a:lumMod val="20000"/>
              <a:lumOff val="80000"/>
            </a:schemeClr>
          </a:solidFill>
          <a:ln>
            <a:solidFill>
              <a:schemeClr val="tx2">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dirty="0">
              <a:solidFill>
                <a:schemeClr val="tx1"/>
              </a:solidFill>
            </a:endParaRPr>
          </a:p>
          <a:p>
            <a:pPr algn="ctr"/>
            <a:endParaRPr lang="en-US" sz="1200" dirty="0">
              <a:solidFill>
                <a:schemeClr val="tx1"/>
              </a:solidFill>
            </a:endParaRPr>
          </a:p>
          <a:p>
            <a:pPr algn="ctr"/>
            <a:endParaRPr lang="en-US" sz="1200" dirty="0">
              <a:solidFill>
                <a:schemeClr val="tx1"/>
              </a:solidFill>
            </a:endParaRPr>
          </a:p>
        </p:txBody>
      </p:sp>
      <p:grpSp>
        <p:nvGrpSpPr>
          <p:cNvPr id="4" name="Gruppieren 38"/>
          <p:cNvGrpSpPr/>
          <p:nvPr/>
        </p:nvGrpSpPr>
        <p:grpSpPr>
          <a:xfrm>
            <a:off x="430659" y="1203598"/>
            <a:ext cx="468933" cy="429357"/>
            <a:chOff x="7452320" y="1131590"/>
            <a:chExt cx="1440160" cy="1318616"/>
          </a:xfrm>
        </p:grpSpPr>
        <p:sp>
          <p:nvSpPr>
            <p:cNvPr id="10" name="Rechteck 9"/>
            <p:cNvSpPr/>
            <p:nvPr/>
          </p:nvSpPr>
          <p:spPr>
            <a:xfrm>
              <a:off x="7452320" y="1131590"/>
              <a:ext cx="1440160" cy="1296144"/>
            </a:xfrm>
            <a:prstGeom prst="rect">
              <a:avLst/>
            </a:prstGeom>
            <a:solidFill>
              <a:schemeClr val="tx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1" name="Picture 4" descr="Falke vogel tierform | Kostenlose Icon"/>
            <p:cNvPicPr>
              <a:picLocks noChangeAspect="1" noChangeArrowheads="1"/>
            </p:cNvPicPr>
            <p:nvPr/>
          </p:nvPicPr>
          <p:blipFill>
            <a:blip r:embed="rId4" cstate="print"/>
            <a:srcRect/>
            <a:stretch>
              <a:fillRect/>
            </a:stretch>
          </p:blipFill>
          <p:spPr bwMode="auto">
            <a:xfrm rot="20243383" flipH="1">
              <a:off x="7503272" y="1182543"/>
              <a:ext cx="1267663" cy="1267663"/>
            </a:xfrm>
            <a:prstGeom prst="rect">
              <a:avLst/>
            </a:prstGeom>
            <a:noFill/>
          </p:spPr>
        </p:pic>
      </p:grpSp>
      <p:grpSp>
        <p:nvGrpSpPr>
          <p:cNvPr id="5" name="Gruppieren 18"/>
          <p:cNvGrpSpPr/>
          <p:nvPr/>
        </p:nvGrpSpPr>
        <p:grpSpPr>
          <a:xfrm>
            <a:off x="1035988" y="1174919"/>
            <a:ext cx="468934" cy="445487"/>
            <a:chOff x="251520" y="1059582"/>
            <a:chExt cx="1440160" cy="1368152"/>
          </a:xfrm>
        </p:grpSpPr>
        <p:sp>
          <p:nvSpPr>
            <p:cNvPr id="13" name="Rechteck 12"/>
            <p:cNvSpPr/>
            <p:nvPr/>
          </p:nvSpPr>
          <p:spPr>
            <a:xfrm>
              <a:off x="251520" y="1131590"/>
              <a:ext cx="1440160" cy="1296144"/>
            </a:xfrm>
            <a:prstGeom prst="rect">
              <a:avLst/>
            </a:prstGeom>
            <a:solidFill>
              <a:schemeClr val="tx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4" name="Picture 6" descr="Bird Silhouettes | Bird silhouette, Silhouette, Owl silhouette"/>
            <p:cNvPicPr>
              <a:picLocks noChangeAspect="1" noChangeArrowheads="1"/>
            </p:cNvPicPr>
            <p:nvPr/>
          </p:nvPicPr>
          <p:blipFill>
            <a:blip r:embed="rId5" cstate="print"/>
            <a:srcRect/>
            <a:stretch>
              <a:fillRect/>
            </a:stretch>
          </p:blipFill>
          <p:spPr bwMode="auto">
            <a:xfrm>
              <a:off x="395536" y="1059582"/>
              <a:ext cx="1080120" cy="1339939"/>
            </a:xfrm>
            <a:prstGeom prst="rect">
              <a:avLst/>
            </a:prstGeom>
            <a:noFill/>
          </p:spPr>
        </p:pic>
      </p:grpSp>
      <p:sp>
        <p:nvSpPr>
          <p:cNvPr id="15" name="Rechteck 14"/>
          <p:cNvSpPr/>
          <p:nvPr/>
        </p:nvSpPr>
        <p:spPr>
          <a:xfrm>
            <a:off x="3131840" y="1131590"/>
            <a:ext cx="5760640" cy="3888432"/>
          </a:xfrm>
          <a:prstGeom prst="rect">
            <a:avLst/>
          </a:prstGeom>
          <a:noFill/>
          <a:ln>
            <a:solidFill>
              <a:schemeClr val="tx2">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spcAft>
                <a:spcPts val="600"/>
              </a:spcAft>
            </a:pPr>
            <a:endParaRPr lang="en-US" sz="1400" dirty="0">
              <a:solidFill>
                <a:schemeClr val="tx1"/>
              </a:solidFill>
            </a:endParaRPr>
          </a:p>
        </p:txBody>
      </p:sp>
      <p:pic>
        <p:nvPicPr>
          <p:cNvPr id="17" name="Grafik 16" descr="IguanaTex_tmp.png"/>
          <p:cNvPicPr>
            <a:picLocks noChangeAspect="1"/>
          </p:cNvPicPr>
          <p:nvPr>
            <p:custDataLst>
              <p:tags r:id="rId2"/>
            </p:custDataLst>
          </p:nvPr>
        </p:nvPicPr>
        <p:blipFill>
          <a:blip r:embed="rId6" cstate="print"/>
          <a:stretch>
            <a:fillRect/>
          </a:stretch>
        </p:blipFill>
        <p:spPr>
          <a:xfrm>
            <a:off x="3203841" y="1203549"/>
            <a:ext cx="5626112" cy="3717524"/>
          </a:xfrm>
          <a:prstGeom prst="rect">
            <a:avLst/>
          </a:prstGeom>
          <a:noFill/>
          <a:ln/>
          <a:effectLst/>
        </p:spPr>
      </p:pic>
      <p:sp>
        <p:nvSpPr>
          <p:cNvPr id="22" name="Textfeld 21"/>
          <p:cNvSpPr txBox="1"/>
          <p:nvPr/>
        </p:nvSpPr>
        <p:spPr>
          <a:xfrm>
            <a:off x="1780648" y="1203598"/>
            <a:ext cx="979948" cy="461665"/>
          </a:xfrm>
          <a:prstGeom prst="rect">
            <a:avLst/>
          </a:prstGeom>
          <a:noFill/>
        </p:spPr>
        <p:txBody>
          <a:bodyPr wrap="none" rtlCol="0">
            <a:spAutoFit/>
          </a:bodyPr>
          <a:lstStyle/>
          <a:p>
            <a:pPr algn="ctr"/>
            <a:r>
              <a:rPr lang="en-US" sz="1200" dirty="0"/>
              <a:t>Hawk-Dove</a:t>
            </a:r>
          </a:p>
          <a:p>
            <a:pPr algn="ctr"/>
            <a:r>
              <a:rPr lang="en-US" sz="1200" dirty="0"/>
              <a:t>utility matrix</a:t>
            </a:r>
          </a:p>
        </p:txBody>
      </p:sp>
      <p:cxnSp>
        <p:nvCxnSpPr>
          <p:cNvPr id="29" name="Gerade Verbindung 28"/>
          <p:cNvCxnSpPr/>
          <p:nvPr/>
        </p:nvCxnSpPr>
        <p:spPr>
          <a:xfrm>
            <a:off x="1259632" y="2715766"/>
            <a:ext cx="0" cy="1296144"/>
          </a:xfrm>
          <a:prstGeom prst="line">
            <a:avLst/>
          </a:prstGeom>
          <a:no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cxnSp>
      <p:sp>
        <p:nvSpPr>
          <p:cNvPr id="30" name="Textfeld 29"/>
          <p:cNvSpPr txBox="1"/>
          <p:nvPr/>
        </p:nvSpPr>
        <p:spPr>
          <a:xfrm>
            <a:off x="251520" y="4011910"/>
            <a:ext cx="2664296" cy="523220"/>
          </a:xfrm>
          <a:prstGeom prst="rect">
            <a:avLst/>
          </a:prstGeom>
          <a:noFill/>
        </p:spPr>
        <p:txBody>
          <a:bodyPr wrap="square" rtlCol="0">
            <a:spAutoFit/>
          </a:bodyPr>
          <a:lstStyle/>
          <a:p>
            <a:pPr algn="ctr"/>
            <a:r>
              <a:rPr lang="en-US" sz="1400" dirty="0"/>
              <a:t>utility </a:t>
            </a:r>
            <a:r>
              <a:rPr lang="en-US" sz="1400" i="1" dirty="0" err="1"/>
              <a:t>u</a:t>
            </a:r>
            <a:r>
              <a:rPr lang="en-US" sz="1400" i="1" baseline="-25000" dirty="0" err="1"/>
              <a:t>H</a:t>
            </a:r>
            <a:r>
              <a:rPr lang="en-US" sz="1400" dirty="0"/>
              <a:t>(</a:t>
            </a:r>
            <a:r>
              <a:rPr lang="en-US" sz="1400" i="1" dirty="0"/>
              <a:t>H</a:t>
            </a:r>
            <a:r>
              <a:rPr lang="en-US" sz="1400" dirty="0"/>
              <a:t>,</a:t>
            </a:r>
            <a:r>
              <a:rPr lang="en-US" sz="1400" i="1" dirty="0"/>
              <a:t>H</a:t>
            </a:r>
            <a:r>
              <a:rPr lang="en-US" sz="1400" dirty="0"/>
              <a:t>) = 0 for the hawk at an encounter with another hawk</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en-US" dirty="0"/>
              <a:t>Analogously, the fitness function of the ‘dove’ strategy is obtained.</a:t>
            </a:r>
          </a:p>
        </p:txBody>
      </p:sp>
      <p:graphicFrame>
        <p:nvGraphicFramePr>
          <p:cNvPr id="3" name="Tabelle 2"/>
          <p:cNvGraphicFramePr>
            <a:graphicFrameLocks noGrp="1"/>
          </p:cNvGraphicFramePr>
          <p:nvPr>
            <p:custDataLst>
              <p:tags r:id="rId1"/>
            </p:custDataLst>
          </p:nvPr>
        </p:nvGraphicFramePr>
        <p:xfrm>
          <a:off x="251521" y="1851670"/>
          <a:ext cx="2664297" cy="1656183"/>
        </p:xfrm>
        <a:graphic>
          <a:graphicData uri="http://schemas.openxmlformats.org/drawingml/2006/table">
            <a:tbl>
              <a:tblPr firstRow="1" bandRow="1">
                <a:tableStyleId>{5C22544A-7EE6-4342-B048-85BDC9FD1C3A}</a:tableStyleId>
              </a:tblPr>
              <a:tblGrid>
                <a:gridCol w="888099">
                  <a:extLst>
                    <a:ext uri="{9D8B030D-6E8A-4147-A177-3AD203B41FA5}">
                      <a16:colId xmlns:a16="http://schemas.microsoft.com/office/drawing/2014/main" val="20000"/>
                    </a:ext>
                  </a:extLst>
                </a:gridCol>
                <a:gridCol w="888099">
                  <a:extLst>
                    <a:ext uri="{9D8B030D-6E8A-4147-A177-3AD203B41FA5}">
                      <a16:colId xmlns:a16="http://schemas.microsoft.com/office/drawing/2014/main" val="20001"/>
                    </a:ext>
                  </a:extLst>
                </a:gridCol>
                <a:gridCol w="888099">
                  <a:extLst>
                    <a:ext uri="{9D8B030D-6E8A-4147-A177-3AD203B41FA5}">
                      <a16:colId xmlns:a16="http://schemas.microsoft.com/office/drawing/2014/main" val="20002"/>
                    </a:ext>
                  </a:extLst>
                </a:gridCol>
              </a:tblGrid>
              <a:tr h="552061">
                <a:tc>
                  <a:txBody>
                    <a:bodyPr/>
                    <a:lstStyle/>
                    <a:p>
                      <a:pPr algn="ctr"/>
                      <a:r>
                        <a:rPr lang="en-US" sz="1400" b="0" dirty="0">
                          <a:solidFill>
                            <a:schemeClr val="tx1"/>
                          </a:solidFill>
                        </a:rPr>
                        <a:t>player</a:t>
                      </a:r>
                      <a:br>
                        <a:rPr lang="en-US" sz="1400" b="0" dirty="0">
                          <a:solidFill>
                            <a:schemeClr val="tx1"/>
                          </a:solidFill>
                        </a:rPr>
                      </a:br>
                      <a:r>
                        <a:rPr lang="en-US" sz="1400" b="0" dirty="0">
                          <a:solidFill>
                            <a:schemeClr val="tx2"/>
                          </a:solidFill>
                        </a:rPr>
                        <a:t>A</a:t>
                      </a:r>
                      <a:r>
                        <a:rPr lang="en-US" sz="1400" b="0" dirty="0">
                          <a:solidFill>
                            <a:schemeClr val="tx1"/>
                          </a:solidFill>
                        </a:rPr>
                        <a:t>           </a:t>
                      </a:r>
                      <a:r>
                        <a:rPr lang="en-US" sz="1400" b="0" dirty="0">
                          <a:solidFill>
                            <a:srgbClr val="C00000"/>
                          </a:solidFill>
                        </a:rPr>
                        <a:t>B</a:t>
                      </a:r>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400" b="0" dirty="0">
                          <a:solidFill>
                            <a:srgbClr val="C00000"/>
                          </a:solidFill>
                        </a:rPr>
                        <a:t>Hawk</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400" b="0" dirty="0">
                          <a:solidFill>
                            <a:srgbClr val="C00000"/>
                          </a:solidFill>
                        </a:rPr>
                        <a:t>Dove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0"/>
                  </a:ext>
                </a:extLst>
              </a:tr>
              <a:tr h="552061">
                <a:tc>
                  <a:txBody>
                    <a:bodyPr/>
                    <a:lstStyle/>
                    <a:p>
                      <a:pPr algn="ctr"/>
                      <a:r>
                        <a:rPr lang="en-US" sz="1400" dirty="0">
                          <a:solidFill>
                            <a:schemeClr val="tx2"/>
                          </a:solidFill>
                        </a:rPr>
                        <a:t>Hawk</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400" b="0" dirty="0">
                          <a:solidFill>
                            <a:schemeClr val="tx1"/>
                          </a:solidFill>
                        </a:rPr>
                        <a:t>(</a:t>
                      </a:r>
                      <a:r>
                        <a:rPr lang="en-US" sz="1400" b="0" dirty="0">
                          <a:solidFill>
                            <a:schemeClr val="tx2"/>
                          </a:solidFill>
                        </a:rPr>
                        <a:t>0</a:t>
                      </a:r>
                      <a:r>
                        <a:rPr lang="en-US" sz="1400" b="0" dirty="0">
                          <a:solidFill>
                            <a:schemeClr val="tx1"/>
                          </a:solidFill>
                        </a:rPr>
                        <a:t>, </a:t>
                      </a:r>
                      <a:r>
                        <a:rPr lang="en-US" sz="1400" b="0" dirty="0">
                          <a:solidFill>
                            <a:srgbClr val="C00000"/>
                          </a:solidFill>
                        </a:rPr>
                        <a:t>0</a:t>
                      </a:r>
                      <a:r>
                        <a:rPr lang="en-US" sz="1400" b="0" dirty="0">
                          <a:solidFill>
                            <a:schemeClr val="tx1"/>
                          </a:solidFill>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400" b="0" dirty="0">
                          <a:solidFill>
                            <a:schemeClr val="tx1"/>
                          </a:solidFill>
                        </a:rPr>
                        <a:t>(</a:t>
                      </a:r>
                      <a:r>
                        <a:rPr lang="en-US" sz="1400" b="0" dirty="0">
                          <a:solidFill>
                            <a:schemeClr val="tx2"/>
                          </a:solidFill>
                        </a:rPr>
                        <a:t>3</a:t>
                      </a:r>
                      <a:r>
                        <a:rPr lang="en-US" sz="1400" b="0" dirty="0">
                          <a:solidFill>
                            <a:schemeClr val="tx1"/>
                          </a:solidFill>
                        </a:rPr>
                        <a:t>, </a:t>
                      </a:r>
                      <a:r>
                        <a:rPr lang="en-US" sz="1400" b="0" dirty="0">
                          <a:solidFill>
                            <a:srgbClr val="C00000"/>
                          </a:solidFill>
                        </a:rPr>
                        <a:t>1</a:t>
                      </a:r>
                      <a:r>
                        <a:rPr lang="en-US" sz="1400" b="0" dirty="0">
                          <a:solidFill>
                            <a:schemeClr val="tx1"/>
                          </a:solidFill>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1"/>
                  </a:ext>
                </a:extLst>
              </a:tr>
              <a:tr h="552061">
                <a:tc>
                  <a:txBody>
                    <a:bodyPr/>
                    <a:lstStyle/>
                    <a:p>
                      <a:pPr algn="ctr"/>
                      <a:r>
                        <a:rPr lang="en-US" sz="1400" dirty="0">
                          <a:solidFill>
                            <a:schemeClr val="tx2"/>
                          </a:solidFill>
                        </a:rPr>
                        <a:t>Dove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400" b="0" dirty="0">
                          <a:solidFill>
                            <a:schemeClr val="tx1"/>
                          </a:solidFill>
                        </a:rPr>
                        <a:t>(</a:t>
                      </a:r>
                      <a:r>
                        <a:rPr lang="en-US" sz="1400" b="0" dirty="0">
                          <a:solidFill>
                            <a:schemeClr val="tx2"/>
                          </a:solidFill>
                        </a:rPr>
                        <a:t>1</a:t>
                      </a:r>
                      <a:r>
                        <a:rPr lang="en-US" sz="1400" b="0" dirty="0">
                          <a:solidFill>
                            <a:schemeClr val="tx1"/>
                          </a:solidFill>
                        </a:rPr>
                        <a:t>, </a:t>
                      </a:r>
                      <a:r>
                        <a:rPr lang="en-US" sz="1400" b="0" dirty="0">
                          <a:solidFill>
                            <a:srgbClr val="C00000"/>
                          </a:solidFill>
                        </a:rPr>
                        <a:t>3</a:t>
                      </a:r>
                      <a:r>
                        <a:rPr lang="en-US" sz="1400" b="0" dirty="0">
                          <a:solidFill>
                            <a:schemeClr val="tx1"/>
                          </a:solidFill>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400" b="0" dirty="0">
                          <a:solidFill>
                            <a:schemeClr val="tx1"/>
                          </a:solidFill>
                        </a:rPr>
                        <a:t>(</a:t>
                      </a:r>
                      <a:r>
                        <a:rPr lang="en-US" sz="1400" b="0" dirty="0">
                          <a:solidFill>
                            <a:schemeClr val="tx2"/>
                          </a:solidFill>
                        </a:rPr>
                        <a:t>2</a:t>
                      </a:r>
                      <a:r>
                        <a:rPr lang="en-US" sz="1400" b="0" dirty="0">
                          <a:solidFill>
                            <a:schemeClr val="tx1"/>
                          </a:solidFill>
                        </a:rPr>
                        <a:t>, </a:t>
                      </a:r>
                      <a:r>
                        <a:rPr lang="en-US" sz="1400" b="0" dirty="0">
                          <a:solidFill>
                            <a:srgbClr val="C00000"/>
                          </a:solidFill>
                        </a:rPr>
                        <a:t>2</a:t>
                      </a:r>
                      <a:r>
                        <a:rPr lang="en-US" sz="1400" b="0" dirty="0">
                          <a:solidFill>
                            <a:schemeClr val="tx1"/>
                          </a:solidFill>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extLst>
                  <a:ext uri="{0D108BD9-81ED-4DB2-BD59-A6C34878D82A}">
                    <a16:rowId xmlns:a16="http://schemas.microsoft.com/office/drawing/2014/main" val="10002"/>
                  </a:ext>
                </a:extLst>
              </a:tr>
            </a:tbl>
          </a:graphicData>
        </a:graphic>
      </p:graphicFrame>
      <p:sp>
        <p:nvSpPr>
          <p:cNvPr id="8" name="Rechteck 7"/>
          <p:cNvSpPr/>
          <p:nvPr/>
        </p:nvSpPr>
        <p:spPr>
          <a:xfrm>
            <a:off x="251520" y="1131590"/>
            <a:ext cx="2664296" cy="576064"/>
          </a:xfrm>
          <a:prstGeom prst="rect">
            <a:avLst/>
          </a:prstGeom>
          <a:solidFill>
            <a:schemeClr val="tx2">
              <a:lumMod val="20000"/>
              <a:lumOff val="80000"/>
            </a:schemeClr>
          </a:solidFill>
          <a:ln>
            <a:solidFill>
              <a:schemeClr val="tx2">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dirty="0">
              <a:solidFill>
                <a:schemeClr val="tx1"/>
              </a:solidFill>
            </a:endParaRPr>
          </a:p>
          <a:p>
            <a:pPr algn="ctr"/>
            <a:endParaRPr lang="en-US" sz="1200" dirty="0">
              <a:solidFill>
                <a:schemeClr val="tx1"/>
              </a:solidFill>
            </a:endParaRPr>
          </a:p>
          <a:p>
            <a:pPr algn="ctr"/>
            <a:endParaRPr lang="en-US" sz="1200" dirty="0">
              <a:solidFill>
                <a:schemeClr val="tx1"/>
              </a:solidFill>
            </a:endParaRPr>
          </a:p>
        </p:txBody>
      </p:sp>
      <p:grpSp>
        <p:nvGrpSpPr>
          <p:cNvPr id="4" name="Gruppieren 38"/>
          <p:cNvGrpSpPr/>
          <p:nvPr/>
        </p:nvGrpSpPr>
        <p:grpSpPr>
          <a:xfrm>
            <a:off x="430659" y="1203598"/>
            <a:ext cx="468933" cy="429357"/>
            <a:chOff x="7452320" y="1131590"/>
            <a:chExt cx="1440160" cy="1318616"/>
          </a:xfrm>
        </p:grpSpPr>
        <p:sp>
          <p:nvSpPr>
            <p:cNvPr id="10" name="Rechteck 9"/>
            <p:cNvSpPr/>
            <p:nvPr/>
          </p:nvSpPr>
          <p:spPr>
            <a:xfrm>
              <a:off x="7452320" y="1131590"/>
              <a:ext cx="1440160" cy="1296144"/>
            </a:xfrm>
            <a:prstGeom prst="rect">
              <a:avLst/>
            </a:prstGeom>
            <a:solidFill>
              <a:schemeClr val="tx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1" name="Picture 4" descr="Falke vogel tierform | Kostenlose Icon"/>
            <p:cNvPicPr>
              <a:picLocks noChangeAspect="1" noChangeArrowheads="1"/>
            </p:cNvPicPr>
            <p:nvPr/>
          </p:nvPicPr>
          <p:blipFill>
            <a:blip r:embed="rId4" cstate="print"/>
            <a:srcRect/>
            <a:stretch>
              <a:fillRect/>
            </a:stretch>
          </p:blipFill>
          <p:spPr bwMode="auto">
            <a:xfrm rot="20243383" flipH="1">
              <a:off x="7503272" y="1182543"/>
              <a:ext cx="1267663" cy="1267663"/>
            </a:xfrm>
            <a:prstGeom prst="rect">
              <a:avLst/>
            </a:prstGeom>
            <a:noFill/>
          </p:spPr>
        </p:pic>
      </p:grpSp>
      <p:grpSp>
        <p:nvGrpSpPr>
          <p:cNvPr id="5" name="Gruppieren 18"/>
          <p:cNvGrpSpPr/>
          <p:nvPr/>
        </p:nvGrpSpPr>
        <p:grpSpPr>
          <a:xfrm>
            <a:off x="1035988" y="1174919"/>
            <a:ext cx="468934" cy="445487"/>
            <a:chOff x="251520" y="1059582"/>
            <a:chExt cx="1440160" cy="1368152"/>
          </a:xfrm>
        </p:grpSpPr>
        <p:sp>
          <p:nvSpPr>
            <p:cNvPr id="13" name="Rechteck 12"/>
            <p:cNvSpPr/>
            <p:nvPr/>
          </p:nvSpPr>
          <p:spPr>
            <a:xfrm>
              <a:off x="251520" y="1131590"/>
              <a:ext cx="1440160" cy="1296144"/>
            </a:xfrm>
            <a:prstGeom prst="rect">
              <a:avLst/>
            </a:prstGeom>
            <a:solidFill>
              <a:schemeClr val="tx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4" name="Picture 6" descr="Bird Silhouettes | Bird silhouette, Silhouette, Owl silhouette"/>
            <p:cNvPicPr>
              <a:picLocks noChangeAspect="1" noChangeArrowheads="1"/>
            </p:cNvPicPr>
            <p:nvPr/>
          </p:nvPicPr>
          <p:blipFill>
            <a:blip r:embed="rId5" cstate="print"/>
            <a:srcRect/>
            <a:stretch>
              <a:fillRect/>
            </a:stretch>
          </p:blipFill>
          <p:spPr bwMode="auto">
            <a:xfrm>
              <a:off x="395536" y="1059582"/>
              <a:ext cx="1080120" cy="1339939"/>
            </a:xfrm>
            <a:prstGeom prst="rect">
              <a:avLst/>
            </a:prstGeom>
            <a:noFill/>
          </p:spPr>
        </p:pic>
      </p:grpSp>
      <p:sp>
        <p:nvSpPr>
          <p:cNvPr id="15" name="Rechteck 14"/>
          <p:cNvSpPr/>
          <p:nvPr/>
        </p:nvSpPr>
        <p:spPr>
          <a:xfrm>
            <a:off x="3131840" y="1131590"/>
            <a:ext cx="5760640" cy="3888432"/>
          </a:xfrm>
          <a:prstGeom prst="rect">
            <a:avLst/>
          </a:prstGeom>
          <a:noFill/>
          <a:ln>
            <a:solidFill>
              <a:schemeClr val="tx2">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spcAft>
                <a:spcPts val="600"/>
              </a:spcAft>
            </a:pPr>
            <a:endParaRPr lang="en-US" sz="1400" dirty="0">
              <a:solidFill>
                <a:schemeClr val="tx1"/>
              </a:solidFill>
            </a:endParaRPr>
          </a:p>
        </p:txBody>
      </p:sp>
      <p:pic>
        <p:nvPicPr>
          <p:cNvPr id="16" name="Grafik 15" descr="IguanaTex_tmp.png"/>
          <p:cNvPicPr>
            <a:picLocks noChangeAspect="1"/>
          </p:cNvPicPr>
          <p:nvPr>
            <p:custDataLst>
              <p:tags r:id="rId2"/>
            </p:custDataLst>
          </p:nvPr>
        </p:nvPicPr>
        <p:blipFill>
          <a:blip r:embed="rId6" cstate="print"/>
          <a:stretch>
            <a:fillRect/>
          </a:stretch>
        </p:blipFill>
        <p:spPr>
          <a:xfrm>
            <a:off x="3203849" y="1203548"/>
            <a:ext cx="5611160" cy="1751792"/>
          </a:xfrm>
          <a:prstGeom prst="rect">
            <a:avLst/>
          </a:prstGeom>
          <a:noFill/>
          <a:ln/>
          <a:effectLst/>
        </p:spPr>
      </p:pic>
      <p:sp>
        <p:nvSpPr>
          <p:cNvPr id="22" name="Textfeld 21"/>
          <p:cNvSpPr txBox="1"/>
          <p:nvPr/>
        </p:nvSpPr>
        <p:spPr>
          <a:xfrm>
            <a:off x="1780648" y="1203598"/>
            <a:ext cx="979948" cy="461665"/>
          </a:xfrm>
          <a:prstGeom prst="rect">
            <a:avLst/>
          </a:prstGeom>
          <a:noFill/>
        </p:spPr>
        <p:txBody>
          <a:bodyPr wrap="none" rtlCol="0">
            <a:spAutoFit/>
          </a:bodyPr>
          <a:lstStyle/>
          <a:p>
            <a:pPr algn="ctr"/>
            <a:r>
              <a:rPr lang="en-US" sz="1200" dirty="0"/>
              <a:t>Hawk-Dove</a:t>
            </a:r>
          </a:p>
          <a:p>
            <a:pPr algn="ctr"/>
            <a:r>
              <a:rPr lang="en-US" sz="1200" dirty="0"/>
              <a:t>utility matrix</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en-US" dirty="0"/>
              <a:t>The fitness functions of the ‘hawk’ and ‘dove’ strategies allow the computation of the stationary state in mixed strategies</a:t>
            </a:r>
          </a:p>
        </p:txBody>
      </p:sp>
      <p:sp>
        <p:nvSpPr>
          <p:cNvPr id="3" name="Rechteck 2"/>
          <p:cNvSpPr/>
          <p:nvPr/>
        </p:nvSpPr>
        <p:spPr>
          <a:xfrm>
            <a:off x="1691680" y="1131590"/>
            <a:ext cx="7200800" cy="3888432"/>
          </a:xfrm>
          <a:prstGeom prst="rect">
            <a:avLst/>
          </a:prstGeom>
          <a:noFill/>
          <a:ln>
            <a:solidFill>
              <a:schemeClr val="tx2">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spcAft>
                <a:spcPts val="600"/>
              </a:spcAft>
            </a:pPr>
            <a:endParaRPr lang="en-US" sz="1400" dirty="0">
              <a:solidFill>
                <a:schemeClr val="tx1"/>
              </a:solidFill>
            </a:endParaRPr>
          </a:p>
        </p:txBody>
      </p:sp>
      <p:pic>
        <p:nvPicPr>
          <p:cNvPr id="5" name="Grafik 4" descr="IguanaTex_tmp.png"/>
          <p:cNvPicPr>
            <a:picLocks noChangeAspect="1"/>
          </p:cNvPicPr>
          <p:nvPr>
            <p:custDataLst>
              <p:tags r:id="rId1"/>
            </p:custDataLst>
          </p:nvPr>
        </p:nvPicPr>
        <p:blipFill>
          <a:blip r:embed="rId3" cstate="print"/>
          <a:stretch>
            <a:fillRect/>
          </a:stretch>
        </p:blipFill>
        <p:spPr>
          <a:xfrm>
            <a:off x="1763691" y="1203548"/>
            <a:ext cx="6647437" cy="3385006"/>
          </a:xfrm>
          <a:prstGeom prst="rect">
            <a:avLst/>
          </a:prstGeom>
          <a:noFill/>
          <a:ln/>
          <a:effectLst/>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en-US" dirty="0"/>
              <a:t>Alternatively, the stationary state in mixed strategies is obtained with the intersection of the graphs of the fitness functions </a:t>
            </a:r>
            <a:r>
              <a:rPr lang="en-US" i="1" dirty="0" err="1"/>
              <a:t>f</a:t>
            </a:r>
            <a:r>
              <a:rPr lang="en-US" i="1" baseline="-25000" dirty="0" err="1"/>
              <a:t>H</a:t>
            </a:r>
            <a:r>
              <a:rPr lang="en-US" dirty="0"/>
              <a:t> and </a:t>
            </a:r>
            <a:r>
              <a:rPr lang="en-US" i="1" dirty="0" err="1"/>
              <a:t>f</a:t>
            </a:r>
            <a:r>
              <a:rPr lang="en-US" i="1" baseline="-25000" dirty="0" err="1"/>
              <a:t>D</a:t>
            </a:r>
            <a:endParaRPr lang="en-US" i="1" baseline="-25000" dirty="0"/>
          </a:p>
        </p:txBody>
      </p:sp>
      <p:sp>
        <p:nvSpPr>
          <p:cNvPr id="3" name="Rechteck 2"/>
          <p:cNvSpPr/>
          <p:nvPr/>
        </p:nvSpPr>
        <p:spPr>
          <a:xfrm>
            <a:off x="1691680" y="1131590"/>
            <a:ext cx="7200800" cy="3888432"/>
          </a:xfrm>
          <a:prstGeom prst="rect">
            <a:avLst/>
          </a:prstGeom>
          <a:noFill/>
          <a:ln>
            <a:solidFill>
              <a:schemeClr val="tx2">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spcAft>
                <a:spcPts val="600"/>
              </a:spcAft>
            </a:pPr>
            <a:endParaRPr lang="en-US" sz="1400" dirty="0">
              <a:solidFill>
                <a:schemeClr val="tx1"/>
              </a:solidFill>
            </a:endParaRPr>
          </a:p>
        </p:txBody>
      </p:sp>
      <p:pic>
        <p:nvPicPr>
          <p:cNvPr id="10" name="Grafik 9" descr="IguanaTex_tmp.png"/>
          <p:cNvPicPr>
            <a:picLocks noChangeAspect="1"/>
          </p:cNvPicPr>
          <p:nvPr>
            <p:custDataLst>
              <p:tags r:id="rId1"/>
            </p:custDataLst>
          </p:nvPr>
        </p:nvPicPr>
        <p:blipFill>
          <a:blip r:embed="rId3" cstate="print"/>
          <a:stretch>
            <a:fillRect/>
          </a:stretch>
        </p:blipFill>
        <p:spPr>
          <a:xfrm>
            <a:off x="1763690" y="1203549"/>
            <a:ext cx="7068706" cy="3339094"/>
          </a:xfrm>
          <a:prstGeom prst="rect">
            <a:avLst/>
          </a:prstGeom>
          <a:noFill/>
          <a:ln/>
          <a:effectLst/>
        </p:spPr>
      </p:pic>
      <p:sp>
        <p:nvSpPr>
          <p:cNvPr id="6" name="Rechteck 5"/>
          <p:cNvSpPr/>
          <p:nvPr/>
        </p:nvSpPr>
        <p:spPr>
          <a:xfrm>
            <a:off x="3851920" y="3422784"/>
            <a:ext cx="2880320" cy="432048"/>
          </a:xfrm>
          <a:prstGeom prst="rect">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 name="Freihandform 53"/>
          <p:cNvSpPr/>
          <p:nvPr/>
        </p:nvSpPr>
        <p:spPr>
          <a:xfrm>
            <a:off x="518160" y="2278380"/>
            <a:ext cx="2316480" cy="1158240"/>
          </a:xfrm>
          <a:custGeom>
            <a:avLst/>
            <a:gdLst>
              <a:gd name="connsiteX0" fmla="*/ 0 w 2316480"/>
              <a:gd name="connsiteY0" fmla="*/ 0 h 1158240"/>
              <a:gd name="connsiteX1" fmla="*/ 1181100 w 2316480"/>
              <a:gd name="connsiteY1" fmla="*/ 304800 h 1158240"/>
              <a:gd name="connsiteX2" fmla="*/ 2316480 w 2316480"/>
              <a:gd name="connsiteY2" fmla="*/ 1158240 h 1158240"/>
            </a:gdLst>
            <a:ahLst/>
            <a:cxnLst>
              <a:cxn ang="0">
                <a:pos x="connsiteX0" y="connsiteY0"/>
              </a:cxn>
              <a:cxn ang="0">
                <a:pos x="connsiteX1" y="connsiteY1"/>
              </a:cxn>
              <a:cxn ang="0">
                <a:pos x="connsiteX2" y="connsiteY2"/>
              </a:cxn>
            </a:cxnLst>
            <a:rect l="l" t="t" r="r" b="b"/>
            <a:pathLst>
              <a:path w="2316480" h="1158240">
                <a:moveTo>
                  <a:pt x="0" y="0"/>
                </a:moveTo>
                <a:cubicBezTo>
                  <a:pt x="397510" y="55880"/>
                  <a:pt x="795020" y="111760"/>
                  <a:pt x="1181100" y="304800"/>
                </a:cubicBezTo>
                <a:cubicBezTo>
                  <a:pt x="1567180" y="497840"/>
                  <a:pt x="1941830" y="828040"/>
                  <a:pt x="2316480" y="1158240"/>
                </a:cubicBezTo>
              </a:path>
            </a:pathLst>
          </a:custGeom>
          <a:ln w="57150">
            <a:solidFill>
              <a:srgbClr val="00B050"/>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2" name="Titel 1"/>
          <p:cNvSpPr>
            <a:spLocks noGrp="1"/>
          </p:cNvSpPr>
          <p:nvPr>
            <p:ph type="title"/>
          </p:nvPr>
        </p:nvSpPr>
        <p:spPr/>
        <p:txBody>
          <a:bodyPr/>
          <a:lstStyle/>
          <a:p>
            <a:r>
              <a:rPr lang="en-US" dirty="0"/>
              <a:t>Under the Darwinian assumption, strategies with higher fitness propagate at the cost of the other strategies (1/ 2)</a:t>
            </a:r>
          </a:p>
        </p:txBody>
      </p:sp>
      <p:cxnSp>
        <p:nvCxnSpPr>
          <p:cNvPr id="3" name="Gerade Verbindung 2"/>
          <p:cNvCxnSpPr/>
          <p:nvPr/>
        </p:nvCxnSpPr>
        <p:spPr>
          <a:xfrm>
            <a:off x="518160" y="2278380"/>
            <a:ext cx="2324100" cy="586740"/>
          </a:xfrm>
          <a:prstGeom prst="line">
            <a:avLst/>
          </a:prstGeom>
          <a:ln w="19050">
            <a:solidFill>
              <a:schemeClr val="tx2"/>
            </a:solidFill>
          </a:ln>
        </p:spPr>
        <p:style>
          <a:lnRef idx="1">
            <a:schemeClr val="accent1"/>
          </a:lnRef>
          <a:fillRef idx="0">
            <a:schemeClr val="accent1"/>
          </a:fillRef>
          <a:effectRef idx="0">
            <a:schemeClr val="accent1"/>
          </a:effectRef>
          <a:fontRef idx="minor">
            <a:schemeClr val="tx1"/>
          </a:fontRef>
        </p:style>
      </p:cxnSp>
      <p:cxnSp>
        <p:nvCxnSpPr>
          <p:cNvPr id="4" name="Gerade Verbindung 3"/>
          <p:cNvCxnSpPr/>
          <p:nvPr/>
        </p:nvCxnSpPr>
        <p:spPr>
          <a:xfrm flipV="1">
            <a:off x="514734" y="1131590"/>
            <a:ext cx="0" cy="2448272"/>
          </a:xfrm>
          <a:prstGeom prst="line">
            <a:avLst/>
          </a:prstGeom>
          <a:ln w="19050">
            <a:solidFill>
              <a:schemeClr val="tx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5" name="Gerade Verbindung 4"/>
          <p:cNvCxnSpPr/>
          <p:nvPr/>
        </p:nvCxnSpPr>
        <p:spPr>
          <a:xfrm>
            <a:off x="442726" y="3435846"/>
            <a:ext cx="2592288" cy="0"/>
          </a:xfrm>
          <a:prstGeom prst="line">
            <a:avLst/>
          </a:prstGeom>
          <a:ln w="19050">
            <a:solidFill>
              <a:schemeClr val="tx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6" name="Rechteck 5"/>
          <p:cNvSpPr/>
          <p:nvPr/>
        </p:nvSpPr>
        <p:spPr>
          <a:xfrm>
            <a:off x="3419872" y="1131590"/>
            <a:ext cx="5472608" cy="3888432"/>
          </a:xfrm>
          <a:prstGeom prst="rect">
            <a:avLst/>
          </a:prstGeom>
          <a:noFill/>
          <a:ln>
            <a:solidFill>
              <a:schemeClr val="tx2">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feld 7"/>
          <p:cNvSpPr txBox="1"/>
          <p:nvPr/>
        </p:nvSpPr>
        <p:spPr>
          <a:xfrm>
            <a:off x="298710" y="3435846"/>
            <a:ext cx="263214" cy="276999"/>
          </a:xfrm>
          <a:prstGeom prst="rect">
            <a:avLst/>
          </a:prstGeom>
          <a:noFill/>
        </p:spPr>
        <p:txBody>
          <a:bodyPr wrap="none" rtlCol="0">
            <a:spAutoFit/>
          </a:bodyPr>
          <a:lstStyle/>
          <a:p>
            <a:r>
              <a:rPr lang="en-US" sz="1200" dirty="0"/>
              <a:t>0</a:t>
            </a:r>
          </a:p>
        </p:txBody>
      </p:sp>
      <p:cxnSp>
        <p:nvCxnSpPr>
          <p:cNvPr id="9" name="Gerade Verbindung 8"/>
          <p:cNvCxnSpPr/>
          <p:nvPr/>
        </p:nvCxnSpPr>
        <p:spPr>
          <a:xfrm>
            <a:off x="442726" y="2854265"/>
            <a:ext cx="72008"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10" name="Textfeld 9"/>
          <p:cNvSpPr txBox="1"/>
          <p:nvPr/>
        </p:nvSpPr>
        <p:spPr>
          <a:xfrm>
            <a:off x="179512" y="2715766"/>
            <a:ext cx="263214" cy="276999"/>
          </a:xfrm>
          <a:prstGeom prst="rect">
            <a:avLst/>
          </a:prstGeom>
          <a:noFill/>
        </p:spPr>
        <p:txBody>
          <a:bodyPr wrap="none" rtlCol="0">
            <a:spAutoFit/>
          </a:bodyPr>
          <a:lstStyle/>
          <a:p>
            <a:pPr algn="r"/>
            <a:r>
              <a:rPr lang="en-US" sz="1200" dirty="0"/>
              <a:t>1</a:t>
            </a:r>
          </a:p>
        </p:txBody>
      </p:sp>
      <p:cxnSp>
        <p:nvCxnSpPr>
          <p:cNvPr id="11" name="Gerade Verbindung 10"/>
          <p:cNvCxnSpPr/>
          <p:nvPr/>
        </p:nvCxnSpPr>
        <p:spPr>
          <a:xfrm>
            <a:off x="442726" y="2278201"/>
            <a:ext cx="72008"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12" name="Textfeld 11"/>
          <p:cNvSpPr txBox="1"/>
          <p:nvPr/>
        </p:nvSpPr>
        <p:spPr>
          <a:xfrm>
            <a:off x="179512" y="2139702"/>
            <a:ext cx="263214" cy="276999"/>
          </a:xfrm>
          <a:prstGeom prst="rect">
            <a:avLst/>
          </a:prstGeom>
          <a:noFill/>
        </p:spPr>
        <p:txBody>
          <a:bodyPr wrap="none" rtlCol="0">
            <a:spAutoFit/>
          </a:bodyPr>
          <a:lstStyle/>
          <a:p>
            <a:pPr algn="r"/>
            <a:r>
              <a:rPr lang="en-US" sz="1200" dirty="0"/>
              <a:t>2</a:t>
            </a:r>
          </a:p>
        </p:txBody>
      </p:sp>
      <p:cxnSp>
        <p:nvCxnSpPr>
          <p:cNvPr id="13" name="Gerade Verbindung 12"/>
          <p:cNvCxnSpPr/>
          <p:nvPr/>
        </p:nvCxnSpPr>
        <p:spPr>
          <a:xfrm>
            <a:off x="442726" y="1702137"/>
            <a:ext cx="72008"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14" name="Textfeld 13"/>
          <p:cNvSpPr txBox="1"/>
          <p:nvPr/>
        </p:nvSpPr>
        <p:spPr>
          <a:xfrm>
            <a:off x="179512" y="1563638"/>
            <a:ext cx="263214" cy="276999"/>
          </a:xfrm>
          <a:prstGeom prst="rect">
            <a:avLst/>
          </a:prstGeom>
          <a:noFill/>
        </p:spPr>
        <p:txBody>
          <a:bodyPr wrap="none" rtlCol="0">
            <a:spAutoFit/>
          </a:bodyPr>
          <a:lstStyle/>
          <a:p>
            <a:pPr algn="r"/>
            <a:r>
              <a:rPr lang="en-US" sz="1200" dirty="0"/>
              <a:t>3</a:t>
            </a:r>
          </a:p>
        </p:txBody>
      </p:sp>
      <p:sp>
        <p:nvSpPr>
          <p:cNvPr id="15" name="Textfeld 14"/>
          <p:cNvSpPr txBox="1"/>
          <p:nvPr/>
        </p:nvSpPr>
        <p:spPr>
          <a:xfrm>
            <a:off x="539552" y="1203598"/>
            <a:ext cx="426720" cy="276999"/>
          </a:xfrm>
          <a:prstGeom prst="rect">
            <a:avLst/>
          </a:prstGeom>
          <a:noFill/>
        </p:spPr>
        <p:txBody>
          <a:bodyPr wrap="none" rtlCol="0">
            <a:spAutoFit/>
          </a:bodyPr>
          <a:lstStyle/>
          <a:p>
            <a:r>
              <a:rPr lang="en-US" sz="1200" i="1" dirty="0" err="1"/>
              <a:t>f</a:t>
            </a:r>
            <a:r>
              <a:rPr lang="en-US" sz="1200" i="1" baseline="-25000" dirty="0" err="1"/>
              <a:t>i</a:t>
            </a:r>
            <a:r>
              <a:rPr lang="en-US" sz="1200" dirty="0"/>
              <a:t>(</a:t>
            </a:r>
            <a:r>
              <a:rPr lang="en-US" sz="1200" i="1" dirty="0"/>
              <a:t>p</a:t>
            </a:r>
            <a:r>
              <a:rPr lang="en-US" sz="1200" dirty="0"/>
              <a:t>)</a:t>
            </a:r>
          </a:p>
        </p:txBody>
      </p:sp>
      <p:cxnSp>
        <p:nvCxnSpPr>
          <p:cNvPr id="16" name="Gerade Verbindung 15"/>
          <p:cNvCxnSpPr/>
          <p:nvPr/>
        </p:nvCxnSpPr>
        <p:spPr>
          <a:xfrm rot="16200000">
            <a:off x="2795395" y="3471850"/>
            <a:ext cx="72008"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17" name="Textfeld 16"/>
          <p:cNvSpPr txBox="1"/>
          <p:nvPr/>
        </p:nvSpPr>
        <p:spPr>
          <a:xfrm>
            <a:off x="2699792" y="3507854"/>
            <a:ext cx="263214" cy="276999"/>
          </a:xfrm>
          <a:prstGeom prst="rect">
            <a:avLst/>
          </a:prstGeom>
          <a:noFill/>
        </p:spPr>
        <p:txBody>
          <a:bodyPr wrap="none" rtlCol="0">
            <a:spAutoFit/>
          </a:bodyPr>
          <a:lstStyle/>
          <a:p>
            <a:pPr algn="r"/>
            <a:r>
              <a:rPr lang="en-US" sz="1200" dirty="0"/>
              <a:t>1</a:t>
            </a:r>
          </a:p>
        </p:txBody>
      </p:sp>
      <p:cxnSp>
        <p:nvCxnSpPr>
          <p:cNvPr id="18" name="Gerade Verbindung 17"/>
          <p:cNvCxnSpPr/>
          <p:nvPr/>
        </p:nvCxnSpPr>
        <p:spPr>
          <a:xfrm rot="16200000">
            <a:off x="1643267" y="3471850"/>
            <a:ext cx="72008"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19" name="Textfeld 18"/>
          <p:cNvSpPr txBox="1"/>
          <p:nvPr/>
        </p:nvSpPr>
        <p:spPr>
          <a:xfrm>
            <a:off x="1489155" y="3507854"/>
            <a:ext cx="380232" cy="276999"/>
          </a:xfrm>
          <a:prstGeom prst="rect">
            <a:avLst/>
          </a:prstGeom>
          <a:noFill/>
        </p:spPr>
        <p:txBody>
          <a:bodyPr wrap="none" rtlCol="0">
            <a:spAutoFit/>
          </a:bodyPr>
          <a:lstStyle/>
          <a:p>
            <a:pPr algn="ctr"/>
            <a:r>
              <a:rPr lang="en-US" sz="1200" dirty="0"/>
              <a:t>0.5</a:t>
            </a:r>
          </a:p>
        </p:txBody>
      </p:sp>
      <p:sp>
        <p:nvSpPr>
          <p:cNvPr id="20" name="Textfeld 19"/>
          <p:cNvSpPr txBox="1"/>
          <p:nvPr/>
        </p:nvSpPr>
        <p:spPr>
          <a:xfrm>
            <a:off x="2843808" y="3147814"/>
            <a:ext cx="263214" cy="276999"/>
          </a:xfrm>
          <a:prstGeom prst="rect">
            <a:avLst/>
          </a:prstGeom>
          <a:noFill/>
        </p:spPr>
        <p:txBody>
          <a:bodyPr wrap="none" rtlCol="0">
            <a:spAutoFit/>
          </a:bodyPr>
          <a:lstStyle/>
          <a:p>
            <a:r>
              <a:rPr lang="en-US" sz="1200" i="1" dirty="0"/>
              <a:t>p</a:t>
            </a:r>
          </a:p>
        </p:txBody>
      </p:sp>
      <p:cxnSp>
        <p:nvCxnSpPr>
          <p:cNvPr id="21" name="Gerade Verbindung 20"/>
          <p:cNvCxnSpPr/>
          <p:nvPr/>
        </p:nvCxnSpPr>
        <p:spPr>
          <a:xfrm flipV="1">
            <a:off x="1685330" y="2571750"/>
            <a:ext cx="0" cy="864096"/>
          </a:xfrm>
          <a:prstGeom prst="line">
            <a:avLst/>
          </a:prstGeom>
          <a:ln w="19050">
            <a:solidFill>
              <a:srgbClr val="C00000"/>
            </a:solidFill>
            <a:prstDash val="sysDot"/>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22" name="Ellipse 21"/>
          <p:cNvSpPr/>
          <p:nvPr/>
        </p:nvSpPr>
        <p:spPr>
          <a:xfrm>
            <a:off x="446212" y="2198752"/>
            <a:ext cx="144016" cy="144016"/>
          </a:xfrm>
          <a:prstGeom prst="ellipse">
            <a:avLst/>
          </a:prstGeom>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3" name="Gerade Verbindung 22"/>
          <p:cNvCxnSpPr/>
          <p:nvPr/>
        </p:nvCxnSpPr>
        <p:spPr>
          <a:xfrm flipH="1" flipV="1">
            <a:off x="539552" y="1707654"/>
            <a:ext cx="2304256" cy="1728192"/>
          </a:xfrm>
          <a:prstGeom prst="line">
            <a:avLst/>
          </a:prstGeom>
          <a:ln w="19050">
            <a:solidFill>
              <a:schemeClr val="tx2"/>
            </a:solidFill>
          </a:ln>
        </p:spPr>
        <p:style>
          <a:lnRef idx="1">
            <a:schemeClr val="accent1"/>
          </a:lnRef>
          <a:fillRef idx="0">
            <a:schemeClr val="accent1"/>
          </a:fillRef>
          <a:effectRef idx="0">
            <a:schemeClr val="accent1"/>
          </a:effectRef>
          <a:fontRef idx="minor">
            <a:schemeClr val="tx1"/>
          </a:fontRef>
        </p:style>
      </p:cxnSp>
      <p:sp>
        <p:nvSpPr>
          <p:cNvPr id="24" name="Ellipse 23"/>
          <p:cNvSpPr/>
          <p:nvPr/>
        </p:nvSpPr>
        <p:spPr>
          <a:xfrm>
            <a:off x="2751584" y="3356992"/>
            <a:ext cx="144016" cy="144016"/>
          </a:xfrm>
          <a:prstGeom prst="ellipse">
            <a:avLst/>
          </a:prstGeom>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Ellipse 24"/>
          <p:cNvSpPr/>
          <p:nvPr/>
        </p:nvSpPr>
        <p:spPr>
          <a:xfrm>
            <a:off x="446212" y="1627634"/>
            <a:ext cx="144016" cy="144016"/>
          </a:xfrm>
          <a:prstGeom prst="ellipse">
            <a:avLst/>
          </a:prstGeom>
          <a:solidFill>
            <a:schemeClr val="bg1"/>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Ellipse 25"/>
          <p:cNvSpPr/>
          <p:nvPr/>
        </p:nvSpPr>
        <p:spPr>
          <a:xfrm>
            <a:off x="2770252" y="2777872"/>
            <a:ext cx="144016" cy="144016"/>
          </a:xfrm>
          <a:prstGeom prst="ellipse">
            <a:avLst/>
          </a:prstGeom>
          <a:solidFill>
            <a:schemeClr val="bg1"/>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Ellipse 26"/>
          <p:cNvSpPr/>
          <p:nvPr/>
        </p:nvSpPr>
        <p:spPr>
          <a:xfrm>
            <a:off x="1619672" y="2499742"/>
            <a:ext cx="144016" cy="144016"/>
          </a:xfrm>
          <a:prstGeom prst="ellipse">
            <a:avLst/>
          </a:prstGeom>
          <a:solidFill>
            <a:srgbClr val="FFC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Textfeld 27"/>
          <p:cNvSpPr txBox="1"/>
          <p:nvPr/>
        </p:nvSpPr>
        <p:spPr>
          <a:xfrm>
            <a:off x="827584" y="1635646"/>
            <a:ext cx="466794" cy="276999"/>
          </a:xfrm>
          <a:prstGeom prst="rect">
            <a:avLst/>
          </a:prstGeom>
          <a:noFill/>
        </p:spPr>
        <p:txBody>
          <a:bodyPr wrap="none" rtlCol="0">
            <a:spAutoFit/>
          </a:bodyPr>
          <a:lstStyle/>
          <a:p>
            <a:r>
              <a:rPr lang="en-US" sz="1200" i="1" dirty="0" err="1"/>
              <a:t>f</a:t>
            </a:r>
            <a:r>
              <a:rPr lang="en-US" sz="1200" i="1" baseline="-25000" dirty="0" err="1"/>
              <a:t>H</a:t>
            </a:r>
            <a:r>
              <a:rPr lang="en-US" sz="1200" dirty="0"/>
              <a:t>(</a:t>
            </a:r>
            <a:r>
              <a:rPr lang="en-US" sz="1200" i="1" dirty="0"/>
              <a:t>p</a:t>
            </a:r>
            <a:r>
              <a:rPr lang="en-US" sz="1200" dirty="0"/>
              <a:t>)</a:t>
            </a:r>
          </a:p>
        </p:txBody>
      </p:sp>
      <p:sp>
        <p:nvSpPr>
          <p:cNvPr id="29" name="Textfeld 28"/>
          <p:cNvSpPr txBox="1"/>
          <p:nvPr/>
        </p:nvSpPr>
        <p:spPr>
          <a:xfrm>
            <a:off x="2411760" y="2427734"/>
            <a:ext cx="465192" cy="276999"/>
          </a:xfrm>
          <a:prstGeom prst="rect">
            <a:avLst/>
          </a:prstGeom>
          <a:noFill/>
        </p:spPr>
        <p:txBody>
          <a:bodyPr wrap="none" rtlCol="0">
            <a:spAutoFit/>
          </a:bodyPr>
          <a:lstStyle/>
          <a:p>
            <a:r>
              <a:rPr lang="en-US" sz="1200" i="1" dirty="0" err="1"/>
              <a:t>f</a:t>
            </a:r>
            <a:r>
              <a:rPr lang="en-US" sz="1200" i="1" baseline="-25000" dirty="0" err="1"/>
              <a:t>D</a:t>
            </a:r>
            <a:r>
              <a:rPr lang="en-US" sz="1200" dirty="0"/>
              <a:t>(</a:t>
            </a:r>
            <a:r>
              <a:rPr lang="en-US" sz="1200" i="1" dirty="0"/>
              <a:t>p</a:t>
            </a:r>
            <a:r>
              <a:rPr lang="en-US" sz="1200" dirty="0"/>
              <a:t>)</a:t>
            </a:r>
          </a:p>
        </p:txBody>
      </p:sp>
      <p:sp>
        <p:nvSpPr>
          <p:cNvPr id="30" name="Gleichschenkliges Dreieck 29"/>
          <p:cNvSpPr/>
          <p:nvPr/>
        </p:nvSpPr>
        <p:spPr>
          <a:xfrm rot="5400000">
            <a:off x="971600" y="3351138"/>
            <a:ext cx="180020" cy="180020"/>
          </a:xfrm>
          <a:prstGeom prst="triangle">
            <a:avLst/>
          </a:prstGeom>
          <a:solidFill>
            <a:schemeClr val="bg2">
              <a:lumMod val="9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Gleichschenkliges Dreieck 30"/>
          <p:cNvSpPr/>
          <p:nvPr/>
        </p:nvSpPr>
        <p:spPr>
          <a:xfrm rot="16200000">
            <a:off x="2231740" y="3351138"/>
            <a:ext cx="180020" cy="180020"/>
          </a:xfrm>
          <a:prstGeom prst="triangle">
            <a:avLst/>
          </a:prstGeom>
          <a:solidFill>
            <a:schemeClr val="bg2">
              <a:lumMod val="9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Gleichschenkliges Dreieck 31"/>
          <p:cNvSpPr/>
          <p:nvPr/>
        </p:nvSpPr>
        <p:spPr>
          <a:xfrm rot="5400000">
            <a:off x="1259632" y="3351138"/>
            <a:ext cx="180020" cy="180020"/>
          </a:xfrm>
          <a:prstGeom prst="triangle">
            <a:avLst/>
          </a:prstGeom>
          <a:solidFill>
            <a:schemeClr val="bg2">
              <a:lumMod val="9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Gleichschenkliges Dreieck 32"/>
          <p:cNvSpPr/>
          <p:nvPr/>
        </p:nvSpPr>
        <p:spPr>
          <a:xfrm rot="16200000">
            <a:off x="1907704" y="3351138"/>
            <a:ext cx="180020" cy="180020"/>
          </a:xfrm>
          <a:prstGeom prst="triangle">
            <a:avLst/>
          </a:prstGeom>
          <a:solidFill>
            <a:schemeClr val="bg2">
              <a:lumMod val="9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46" name="Gerade Verbindung 45"/>
          <p:cNvCxnSpPr/>
          <p:nvPr/>
        </p:nvCxnSpPr>
        <p:spPr>
          <a:xfrm>
            <a:off x="251520" y="4166959"/>
            <a:ext cx="288032" cy="0"/>
          </a:xfrm>
          <a:prstGeom prst="line">
            <a:avLst/>
          </a:prstGeom>
          <a:ln w="19050">
            <a:solidFill>
              <a:srgbClr val="00B050"/>
            </a:solidFill>
            <a:prstDash val="dash"/>
          </a:ln>
        </p:spPr>
        <p:style>
          <a:lnRef idx="1">
            <a:schemeClr val="accent1"/>
          </a:lnRef>
          <a:fillRef idx="0">
            <a:schemeClr val="accent1"/>
          </a:fillRef>
          <a:effectRef idx="0">
            <a:schemeClr val="accent1"/>
          </a:effectRef>
          <a:fontRef idx="minor">
            <a:schemeClr val="tx1"/>
          </a:fontRef>
        </p:style>
      </p:cxnSp>
      <p:sp>
        <p:nvSpPr>
          <p:cNvPr id="47" name="Textfeld 46"/>
          <p:cNvSpPr txBox="1"/>
          <p:nvPr/>
        </p:nvSpPr>
        <p:spPr>
          <a:xfrm>
            <a:off x="539552" y="4022943"/>
            <a:ext cx="1663789" cy="276999"/>
          </a:xfrm>
          <a:prstGeom prst="rect">
            <a:avLst/>
          </a:prstGeom>
          <a:noFill/>
        </p:spPr>
        <p:txBody>
          <a:bodyPr wrap="none" rtlCol="0">
            <a:spAutoFit/>
          </a:bodyPr>
          <a:lstStyle/>
          <a:p>
            <a:r>
              <a:rPr lang="en-US" sz="1200" dirty="0"/>
              <a:t>average fitness -2</a:t>
            </a:r>
            <a:r>
              <a:rPr lang="en-US" sz="1200" i="1" dirty="0"/>
              <a:t>p</a:t>
            </a:r>
            <a:r>
              <a:rPr lang="en-US" sz="1200" baseline="30000" dirty="0"/>
              <a:t>2</a:t>
            </a:r>
            <a:r>
              <a:rPr lang="en-US" sz="1200" dirty="0"/>
              <a:t> + 2</a:t>
            </a:r>
          </a:p>
        </p:txBody>
      </p:sp>
      <p:pic>
        <p:nvPicPr>
          <p:cNvPr id="41" name="Grafik 40" descr="IguanaTex_tmp.png"/>
          <p:cNvPicPr>
            <a:picLocks noChangeAspect="1"/>
          </p:cNvPicPr>
          <p:nvPr>
            <p:custDataLst>
              <p:tags r:id="rId1"/>
            </p:custDataLst>
          </p:nvPr>
        </p:nvPicPr>
        <p:blipFill>
          <a:blip r:embed="rId3" cstate="print"/>
          <a:stretch>
            <a:fillRect/>
          </a:stretch>
        </p:blipFill>
        <p:spPr>
          <a:xfrm>
            <a:off x="3491881" y="1203549"/>
            <a:ext cx="5341093" cy="3324818"/>
          </a:xfrm>
          <a:prstGeom prst="rect">
            <a:avLst/>
          </a:prstGeom>
          <a:noFill/>
          <a:ln/>
          <a:effectLst/>
        </p:spPr>
      </p:pic>
      <p:sp>
        <p:nvSpPr>
          <p:cNvPr id="37" name="Ellipse 36"/>
          <p:cNvSpPr/>
          <p:nvPr/>
        </p:nvSpPr>
        <p:spPr>
          <a:xfrm>
            <a:off x="251520" y="4443958"/>
            <a:ext cx="144016" cy="144016"/>
          </a:xfrm>
          <a:prstGeom prst="ellipse">
            <a:avLst/>
          </a:prstGeom>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Textfeld 37"/>
          <p:cNvSpPr txBox="1"/>
          <p:nvPr/>
        </p:nvSpPr>
        <p:spPr>
          <a:xfrm>
            <a:off x="539552" y="4371950"/>
            <a:ext cx="2232919" cy="276999"/>
          </a:xfrm>
          <a:prstGeom prst="rect">
            <a:avLst/>
          </a:prstGeom>
          <a:noFill/>
        </p:spPr>
        <p:txBody>
          <a:bodyPr wrap="none" rtlCol="0">
            <a:spAutoFit/>
          </a:bodyPr>
          <a:lstStyle/>
          <a:p>
            <a:r>
              <a:rPr lang="en-US" sz="1200" dirty="0"/>
              <a:t>pure strategy (100% of one type)</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 name="Freihandform 53"/>
          <p:cNvSpPr/>
          <p:nvPr/>
        </p:nvSpPr>
        <p:spPr>
          <a:xfrm>
            <a:off x="518160" y="2278380"/>
            <a:ext cx="2316480" cy="1158240"/>
          </a:xfrm>
          <a:custGeom>
            <a:avLst/>
            <a:gdLst>
              <a:gd name="connsiteX0" fmla="*/ 0 w 2316480"/>
              <a:gd name="connsiteY0" fmla="*/ 0 h 1158240"/>
              <a:gd name="connsiteX1" fmla="*/ 1181100 w 2316480"/>
              <a:gd name="connsiteY1" fmla="*/ 304800 h 1158240"/>
              <a:gd name="connsiteX2" fmla="*/ 2316480 w 2316480"/>
              <a:gd name="connsiteY2" fmla="*/ 1158240 h 1158240"/>
            </a:gdLst>
            <a:ahLst/>
            <a:cxnLst>
              <a:cxn ang="0">
                <a:pos x="connsiteX0" y="connsiteY0"/>
              </a:cxn>
              <a:cxn ang="0">
                <a:pos x="connsiteX1" y="connsiteY1"/>
              </a:cxn>
              <a:cxn ang="0">
                <a:pos x="connsiteX2" y="connsiteY2"/>
              </a:cxn>
            </a:cxnLst>
            <a:rect l="l" t="t" r="r" b="b"/>
            <a:pathLst>
              <a:path w="2316480" h="1158240">
                <a:moveTo>
                  <a:pt x="0" y="0"/>
                </a:moveTo>
                <a:cubicBezTo>
                  <a:pt x="397510" y="55880"/>
                  <a:pt x="795020" y="111760"/>
                  <a:pt x="1181100" y="304800"/>
                </a:cubicBezTo>
                <a:cubicBezTo>
                  <a:pt x="1567180" y="497840"/>
                  <a:pt x="1941830" y="828040"/>
                  <a:pt x="2316480" y="1158240"/>
                </a:cubicBezTo>
              </a:path>
            </a:pathLst>
          </a:custGeom>
          <a:ln w="57150">
            <a:solidFill>
              <a:srgbClr val="00B050"/>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2" name="Titel 1"/>
          <p:cNvSpPr>
            <a:spLocks noGrp="1"/>
          </p:cNvSpPr>
          <p:nvPr>
            <p:ph type="title"/>
          </p:nvPr>
        </p:nvSpPr>
        <p:spPr/>
        <p:txBody>
          <a:bodyPr/>
          <a:lstStyle/>
          <a:p>
            <a:r>
              <a:rPr lang="en-US" dirty="0"/>
              <a:t>Under the Darwinian assumption, strategies with higher fitness propagate at the cost of the other strategies (2/ 2)</a:t>
            </a:r>
          </a:p>
        </p:txBody>
      </p:sp>
      <p:cxnSp>
        <p:nvCxnSpPr>
          <p:cNvPr id="3" name="Gerade Verbindung 2"/>
          <p:cNvCxnSpPr/>
          <p:nvPr/>
        </p:nvCxnSpPr>
        <p:spPr>
          <a:xfrm>
            <a:off x="518160" y="2278380"/>
            <a:ext cx="2324100" cy="586740"/>
          </a:xfrm>
          <a:prstGeom prst="line">
            <a:avLst/>
          </a:prstGeom>
          <a:ln w="19050">
            <a:solidFill>
              <a:schemeClr val="tx2"/>
            </a:solidFill>
          </a:ln>
        </p:spPr>
        <p:style>
          <a:lnRef idx="1">
            <a:schemeClr val="accent1"/>
          </a:lnRef>
          <a:fillRef idx="0">
            <a:schemeClr val="accent1"/>
          </a:fillRef>
          <a:effectRef idx="0">
            <a:schemeClr val="accent1"/>
          </a:effectRef>
          <a:fontRef idx="minor">
            <a:schemeClr val="tx1"/>
          </a:fontRef>
        </p:style>
      </p:cxnSp>
      <p:cxnSp>
        <p:nvCxnSpPr>
          <p:cNvPr id="4" name="Gerade Verbindung 3"/>
          <p:cNvCxnSpPr/>
          <p:nvPr/>
        </p:nvCxnSpPr>
        <p:spPr>
          <a:xfrm flipV="1">
            <a:off x="514734" y="1131590"/>
            <a:ext cx="0" cy="2448272"/>
          </a:xfrm>
          <a:prstGeom prst="line">
            <a:avLst/>
          </a:prstGeom>
          <a:ln w="19050">
            <a:solidFill>
              <a:schemeClr val="tx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5" name="Gerade Verbindung 4"/>
          <p:cNvCxnSpPr/>
          <p:nvPr/>
        </p:nvCxnSpPr>
        <p:spPr>
          <a:xfrm>
            <a:off x="442726" y="3435846"/>
            <a:ext cx="2592288" cy="0"/>
          </a:xfrm>
          <a:prstGeom prst="line">
            <a:avLst/>
          </a:prstGeom>
          <a:ln w="19050">
            <a:solidFill>
              <a:schemeClr val="tx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8" name="Textfeld 7"/>
          <p:cNvSpPr txBox="1"/>
          <p:nvPr/>
        </p:nvSpPr>
        <p:spPr>
          <a:xfrm>
            <a:off x="298710" y="3435846"/>
            <a:ext cx="263214" cy="276999"/>
          </a:xfrm>
          <a:prstGeom prst="rect">
            <a:avLst/>
          </a:prstGeom>
          <a:noFill/>
        </p:spPr>
        <p:txBody>
          <a:bodyPr wrap="none" rtlCol="0">
            <a:spAutoFit/>
          </a:bodyPr>
          <a:lstStyle/>
          <a:p>
            <a:r>
              <a:rPr lang="en-US" sz="1200" dirty="0"/>
              <a:t>0</a:t>
            </a:r>
          </a:p>
        </p:txBody>
      </p:sp>
      <p:cxnSp>
        <p:nvCxnSpPr>
          <p:cNvPr id="9" name="Gerade Verbindung 8"/>
          <p:cNvCxnSpPr/>
          <p:nvPr/>
        </p:nvCxnSpPr>
        <p:spPr>
          <a:xfrm>
            <a:off x="442726" y="2854265"/>
            <a:ext cx="72008"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10" name="Textfeld 9"/>
          <p:cNvSpPr txBox="1"/>
          <p:nvPr/>
        </p:nvSpPr>
        <p:spPr>
          <a:xfrm>
            <a:off x="179512" y="2715766"/>
            <a:ext cx="263214" cy="276999"/>
          </a:xfrm>
          <a:prstGeom prst="rect">
            <a:avLst/>
          </a:prstGeom>
          <a:noFill/>
        </p:spPr>
        <p:txBody>
          <a:bodyPr wrap="none" rtlCol="0">
            <a:spAutoFit/>
          </a:bodyPr>
          <a:lstStyle/>
          <a:p>
            <a:pPr algn="r"/>
            <a:r>
              <a:rPr lang="en-US" sz="1200" dirty="0"/>
              <a:t>1</a:t>
            </a:r>
          </a:p>
        </p:txBody>
      </p:sp>
      <p:cxnSp>
        <p:nvCxnSpPr>
          <p:cNvPr id="11" name="Gerade Verbindung 10"/>
          <p:cNvCxnSpPr/>
          <p:nvPr/>
        </p:nvCxnSpPr>
        <p:spPr>
          <a:xfrm>
            <a:off x="442726" y="2278201"/>
            <a:ext cx="72008"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12" name="Textfeld 11"/>
          <p:cNvSpPr txBox="1"/>
          <p:nvPr/>
        </p:nvSpPr>
        <p:spPr>
          <a:xfrm>
            <a:off x="179512" y="2139702"/>
            <a:ext cx="263214" cy="276999"/>
          </a:xfrm>
          <a:prstGeom prst="rect">
            <a:avLst/>
          </a:prstGeom>
          <a:noFill/>
        </p:spPr>
        <p:txBody>
          <a:bodyPr wrap="none" rtlCol="0">
            <a:spAutoFit/>
          </a:bodyPr>
          <a:lstStyle/>
          <a:p>
            <a:pPr algn="r"/>
            <a:r>
              <a:rPr lang="en-US" sz="1200" dirty="0"/>
              <a:t>2</a:t>
            </a:r>
          </a:p>
        </p:txBody>
      </p:sp>
      <p:cxnSp>
        <p:nvCxnSpPr>
          <p:cNvPr id="13" name="Gerade Verbindung 12"/>
          <p:cNvCxnSpPr/>
          <p:nvPr/>
        </p:nvCxnSpPr>
        <p:spPr>
          <a:xfrm>
            <a:off x="442726" y="1702137"/>
            <a:ext cx="72008"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14" name="Textfeld 13"/>
          <p:cNvSpPr txBox="1"/>
          <p:nvPr/>
        </p:nvSpPr>
        <p:spPr>
          <a:xfrm>
            <a:off x="179512" y="1563638"/>
            <a:ext cx="263214" cy="276999"/>
          </a:xfrm>
          <a:prstGeom prst="rect">
            <a:avLst/>
          </a:prstGeom>
          <a:noFill/>
        </p:spPr>
        <p:txBody>
          <a:bodyPr wrap="none" rtlCol="0">
            <a:spAutoFit/>
          </a:bodyPr>
          <a:lstStyle/>
          <a:p>
            <a:pPr algn="r"/>
            <a:r>
              <a:rPr lang="en-US" sz="1200" dirty="0"/>
              <a:t>3</a:t>
            </a:r>
          </a:p>
        </p:txBody>
      </p:sp>
      <p:sp>
        <p:nvSpPr>
          <p:cNvPr id="15" name="Textfeld 14"/>
          <p:cNvSpPr txBox="1"/>
          <p:nvPr/>
        </p:nvSpPr>
        <p:spPr>
          <a:xfrm>
            <a:off x="539552" y="1203598"/>
            <a:ext cx="426720" cy="276999"/>
          </a:xfrm>
          <a:prstGeom prst="rect">
            <a:avLst/>
          </a:prstGeom>
          <a:noFill/>
        </p:spPr>
        <p:txBody>
          <a:bodyPr wrap="none" rtlCol="0">
            <a:spAutoFit/>
          </a:bodyPr>
          <a:lstStyle/>
          <a:p>
            <a:r>
              <a:rPr lang="en-US" sz="1200" i="1" dirty="0" err="1"/>
              <a:t>f</a:t>
            </a:r>
            <a:r>
              <a:rPr lang="en-US" sz="1200" i="1" baseline="-25000" dirty="0" err="1"/>
              <a:t>i</a:t>
            </a:r>
            <a:r>
              <a:rPr lang="en-US" sz="1200" dirty="0"/>
              <a:t>(</a:t>
            </a:r>
            <a:r>
              <a:rPr lang="en-US" sz="1200" i="1" dirty="0"/>
              <a:t>p</a:t>
            </a:r>
            <a:r>
              <a:rPr lang="en-US" sz="1200" dirty="0"/>
              <a:t>)</a:t>
            </a:r>
          </a:p>
        </p:txBody>
      </p:sp>
      <p:cxnSp>
        <p:nvCxnSpPr>
          <p:cNvPr id="16" name="Gerade Verbindung 15"/>
          <p:cNvCxnSpPr/>
          <p:nvPr/>
        </p:nvCxnSpPr>
        <p:spPr>
          <a:xfrm rot="16200000">
            <a:off x="2795395" y="3471850"/>
            <a:ext cx="72008"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17" name="Textfeld 16"/>
          <p:cNvSpPr txBox="1"/>
          <p:nvPr/>
        </p:nvSpPr>
        <p:spPr>
          <a:xfrm>
            <a:off x="2699792" y="3507854"/>
            <a:ext cx="263214" cy="276999"/>
          </a:xfrm>
          <a:prstGeom prst="rect">
            <a:avLst/>
          </a:prstGeom>
          <a:noFill/>
        </p:spPr>
        <p:txBody>
          <a:bodyPr wrap="none" rtlCol="0">
            <a:spAutoFit/>
          </a:bodyPr>
          <a:lstStyle/>
          <a:p>
            <a:pPr algn="r"/>
            <a:r>
              <a:rPr lang="en-US" sz="1200" dirty="0"/>
              <a:t>1</a:t>
            </a:r>
          </a:p>
        </p:txBody>
      </p:sp>
      <p:cxnSp>
        <p:nvCxnSpPr>
          <p:cNvPr id="18" name="Gerade Verbindung 17"/>
          <p:cNvCxnSpPr/>
          <p:nvPr/>
        </p:nvCxnSpPr>
        <p:spPr>
          <a:xfrm rot="16200000">
            <a:off x="1643267" y="3471850"/>
            <a:ext cx="72008"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19" name="Textfeld 18"/>
          <p:cNvSpPr txBox="1"/>
          <p:nvPr/>
        </p:nvSpPr>
        <p:spPr>
          <a:xfrm>
            <a:off x="1489155" y="3507854"/>
            <a:ext cx="380232" cy="276999"/>
          </a:xfrm>
          <a:prstGeom prst="rect">
            <a:avLst/>
          </a:prstGeom>
          <a:noFill/>
        </p:spPr>
        <p:txBody>
          <a:bodyPr wrap="none" rtlCol="0">
            <a:spAutoFit/>
          </a:bodyPr>
          <a:lstStyle/>
          <a:p>
            <a:pPr algn="ctr"/>
            <a:r>
              <a:rPr lang="en-US" sz="1200" dirty="0"/>
              <a:t>0.5</a:t>
            </a:r>
          </a:p>
        </p:txBody>
      </p:sp>
      <p:sp>
        <p:nvSpPr>
          <p:cNvPr id="20" name="Textfeld 19"/>
          <p:cNvSpPr txBox="1"/>
          <p:nvPr/>
        </p:nvSpPr>
        <p:spPr>
          <a:xfrm>
            <a:off x="2843808" y="3147814"/>
            <a:ext cx="263214" cy="276999"/>
          </a:xfrm>
          <a:prstGeom prst="rect">
            <a:avLst/>
          </a:prstGeom>
          <a:noFill/>
        </p:spPr>
        <p:txBody>
          <a:bodyPr wrap="none" rtlCol="0">
            <a:spAutoFit/>
          </a:bodyPr>
          <a:lstStyle/>
          <a:p>
            <a:r>
              <a:rPr lang="en-US" sz="1200" i="1" dirty="0"/>
              <a:t>p</a:t>
            </a:r>
          </a:p>
        </p:txBody>
      </p:sp>
      <p:cxnSp>
        <p:nvCxnSpPr>
          <p:cNvPr id="21" name="Gerade Verbindung 20"/>
          <p:cNvCxnSpPr/>
          <p:nvPr/>
        </p:nvCxnSpPr>
        <p:spPr>
          <a:xfrm flipV="1">
            <a:off x="1685330" y="2571750"/>
            <a:ext cx="0" cy="864096"/>
          </a:xfrm>
          <a:prstGeom prst="line">
            <a:avLst/>
          </a:prstGeom>
          <a:ln w="19050">
            <a:solidFill>
              <a:srgbClr val="C00000"/>
            </a:solidFill>
            <a:prstDash val="sysDot"/>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22" name="Ellipse 21"/>
          <p:cNvSpPr/>
          <p:nvPr/>
        </p:nvSpPr>
        <p:spPr>
          <a:xfrm>
            <a:off x="446212" y="2198752"/>
            <a:ext cx="144016" cy="144016"/>
          </a:xfrm>
          <a:prstGeom prst="ellipse">
            <a:avLst/>
          </a:prstGeom>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3" name="Gerade Verbindung 22"/>
          <p:cNvCxnSpPr/>
          <p:nvPr/>
        </p:nvCxnSpPr>
        <p:spPr>
          <a:xfrm flipH="1" flipV="1">
            <a:off x="539552" y="1707654"/>
            <a:ext cx="2304256" cy="1728192"/>
          </a:xfrm>
          <a:prstGeom prst="line">
            <a:avLst/>
          </a:prstGeom>
          <a:ln w="19050">
            <a:solidFill>
              <a:schemeClr val="tx2"/>
            </a:solidFill>
          </a:ln>
        </p:spPr>
        <p:style>
          <a:lnRef idx="1">
            <a:schemeClr val="accent1"/>
          </a:lnRef>
          <a:fillRef idx="0">
            <a:schemeClr val="accent1"/>
          </a:fillRef>
          <a:effectRef idx="0">
            <a:schemeClr val="accent1"/>
          </a:effectRef>
          <a:fontRef idx="minor">
            <a:schemeClr val="tx1"/>
          </a:fontRef>
        </p:style>
      </p:cxnSp>
      <p:sp>
        <p:nvSpPr>
          <p:cNvPr id="24" name="Ellipse 23"/>
          <p:cNvSpPr/>
          <p:nvPr/>
        </p:nvSpPr>
        <p:spPr>
          <a:xfrm>
            <a:off x="2751584" y="3356992"/>
            <a:ext cx="144016" cy="144016"/>
          </a:xfrm>
          <a:prstGeom prst="ellipse">
            <a:avLst/>
          </a:prstGeom>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Ellipse 24"/>
          <p:cNvSpPr/>
          <p:nvPr/>
        </p:nvSpPr>
        <p:spPr>
          <a:xfrm>
            <a:off x="446212" y="1627634"/>
            <a:ext cx="144016" cy="144016"/>
          </a:xfrm>
          <a:prstGeom prst="ellipse">
            <a:avLst/>
          </a:prstGeom>
          <a:solidFill>
            <a:schemeClr val="bg1"/>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Ellipse 25"/>
          <p:cNvSpPr/>
          <p:nvPr/>
        </p:nvSpPr>
        <p:spPr>
          <a:xfrm>
            <a:off x="2770252" y="2777872"/>
            <a:ext cx="144016" cy="144016"/>
          </a:xfrm>
          <a:prstGeom prst="ellipse">
            <a:avLst/>
          </a:prstGeom>
          <a:solidFill>
            <a:schemeClr val="bg1"/>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Ellipse 26"/>
          <p:cNvSpPr/>
          <p:nvPr/>
        </p:nvSpPr>
        <p:spPr>
          <a:xfrm>
            <a:off x="1619672" y="2499742"/>
            <a:ext cx="144016" cy="144016"/>
          </a:xfrm>
          <a:prstGeom prst="ellipse">
            <a:avLst/>
          </a:prstGeom>
          <a:solidFill>
            <a:srgbClr val="FFC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Textfeld 27"/>
          <p:cNvSpPr txBox="1"/>
          <p:nvPr/>
        </p:nvSpPr>
        <p:spPr>
          <a:xfrm>
            <a:off x="827584" y="1635646"/>
            <a:ext cx="466794" cy="276999"/>
          </a:xfrm>
          <a:prstGeom prst="rect">
            <a:avLst/>
          </a:prstGeom>
          <a:noFill/>
        </p:spPr>
        <p:txBody>
          <a:bodyPr wrap="none" rtlCol="0">
            <a:spAutoFit/>
          </a:bodyPr>
          <a:lstStyle/>
          <a:p>
            <a:r>
              <a:rPr lang="en-US" sz="1200" i="1" dirty="0" err="1"/>
              <a:t>f</a:t>
            </a:r>
            <a:r>
              <a:rPr lang="en-US" sz="1200" i="1" baseline="-25000" dirty="0" err="1"/>
              <a:t>H</a:t>
            </a:r>
            <a:r>
              <a:rPr lang="en-US" sz="1200" dirty="0"/>
              <a:t>(</a:t>
            </a:r>
            <a:r>
              <a:rPr lang="en-US" sz="1200" i="1" dirty="0"/>
              <a:t>p</a:t>
            </a:r>
            <a:r>
              <a:rPr lang="en-US" sz="1200" dirty="0"/>
              <a:t>)</a:t>
            </a:r>
          </a:p>
        </p:txBody>
      </p:sp>
      <p:sp>
        <p:nvSpPr>
          <p:cNvPr id="29" name="Textfeld 28"/>
          <p:cNvSpPr txBox="1"/>
          <p:nvPr/>
        </p:nvSpPr>
        <p:spPr>
          <a:xfrm>
            <a:off x="2411760" y="2427734"/>
            <a:ext cx="465192" cy="276999"/>
          </a:xfrm>
          <a:prstGeom prst="rect">
            <a:avLst/>
          </a:prstGeom>
          <a:noFill/>
        </p:spPr>
        <p:txBody>
          <a:bodyPr wrap="none" rtlCol="0">
            <a:spAutoFit/>
          </a:bodyPr>
          <a:lstStyle/>
          <a:p>
            <a:r>
              <a:rPr lang="en-US" sz="1200" i="1" dirty="0" err="1"/>
              <a:t>f</a:t>
            </a:r>
            <a:r>
              <a:rPr lang="en-US" sz="1200" i="1" baseline="-25000" dirty="0" err="1"/>
              <a:t>D</a:t>
            </a:r>
            <a:r>
              <a:rPr lang="en-US" sz="1200" dirty="0"/>
              <a:t>(</a:t>
            </a:r>
            <a:r>
              <a:rPr lang="en-US" sz="1200" i="1" dirty="0"/>
              <a:t>p</a:t>
            </a:r>
            <a:r>
              <a:rPr lang="en-US" sz="1200" dirty="0"/>
              <a:t>)</a:t>
            </a:r>
          </a:p>
        </p:txBody>
      </p:sp>
      <p:sp>
        <p:nvSpPr>
          <p:cNvPr id="30" name="Gleichschenkliges Dreieck 29"/>
          <p:cNvSpPr/>
          <p:nvPr/>
        </p:nvSpPr>
        <p:spPr>
          <a:xfrm rot="5400000">
            <a:off x="971600" y="3351138"/>
            <a:ext cx="180020" cy="180020"/>
          </a:xfrm>
          <a:prstGeom prst="triangle">
            <a:avLst/>
          </a:prstGeom>
          <a:solidFill>
            <a:schemeClr val="bg2">
              <a:lumMod val="9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Gleichschenkliges Dreieck 30"/>
          <p:cNvSpPr/>
          <p:nvPr/>
        </p:nvSpPr>
        <p:spPr>
          <a:xfrm rot="16200000">
            <a:off x="2231740" y="3351138"/>
            <a:ext cx="180020" cy="180020"/>
          </a:xfrm>
          <a:prstGeom prst="triangle">
            <a:avLst/>
          </a:prstGeom>
          <a:solidFill>
            <a:schemeClr val="bg2">
              <a:lumMod val="9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Gleichschenkliges Dreieck 31"/>
          <p:cNvSpPr/>
          <p:nvPr/>
        </p:nvSpPr>
        <p:spPr>
          <a:xfrm rot="5400000">
            <a:off x="1259632" y="3351138"/>
            <a:ext cx="180020" cy="180020"/>
          </a:xfrm>
          <a:prstGeom prst="triangle">
            <a:avLst/>
          </a:prstGeom>
          <a:solidFill>
            <a:schemeClr val="bg2">
              <a:lumMod val="9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Gleichschenkliges Dreieck 32"/>
          <p:cNvSpPr/>
          <p:nvPr/>
        </p:nvSpPr>
        <p:spPr>
          <a:xfrm rot="16200000">
            <a:off x="1907704" y="3351138"/>
            <a:ext cx="180020" cy="180020"/>
          </a:xfrm>
          <a:prstGeom prst="triangle">
            <a:avLst/>
          </a:prstGeom>
          <a:solidFill>
            <a:schemeClr val="bg2">
              <a:lumMod val="9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46" name="Gerade Verbindung 45"/>
          <p:cNvCxnSpPr/>
          <p:nvPr/>
        </p:nvCxnSpPr>
        <p:spPr>
          <a:xfrm>
            <a:off x="251520" y="4166959"/>
            <a:ext cx="288032" cy="0"/>
          </a:xfrm>
          <a:prstGeom prst="line">
            <a:avLst/>
          </a:prstGeom>
          <a:ln w="19050">
            <a:solidFill>
              <a:srgbClr val="00B050"/>
            </a:solidFill>
            <a:prstDash val="dash"/>
          </a:ln>
        </p:spPr>
        <p:style>
          <a:lnRef idx="1">
            <a:schemeClr val="accent1"/>
          </a:lnRef>
          <a:fillRef idx="0">
            <a:schemeClr val="accent1"/>
          </a:fillRef>
          <a:effectRef idx="0">
            <a:schemeClr val="accent1"/>
          </a:effectRef>
          <a:fontRef idx="minor">
            <a:schemeClr val="tx1"/>
          </a:fontRef>
        </p:style>
      </p:cxnSp>
      <p:sp>
        <p:nvSpPr>
          <p:cNvPr id="47" name="Textfeld 46"/>
          <p:cNvSpPr txBox="1"/>
          <p:nvPr/>
        </p:nvSpPr>
        <p:spPr>
          <a:xfrm>
            <a:off x="539552" y="4022943"/>
            <a:ext cx="1663789" cy="276999"/>
          </a:xfrm>
          <a:prstGeom prst="rect">
            <a:avLst/>
          </a:prstGeom>
          <a:noFill/>
        </p:spPr>
        <p:txBody>
          <a:bodyPr wrap="none" rtlCol="0">
            <a:spAutoFit/>
          </a:bodyPr>
          <a:lstStyle/>
          <a:p>
            <a:r>
              <a:rPr lang="en-US" sz="1200" dirty="0"/>
              <a:t>average fitness -2</a:t>
            </a:r>
            <a:r>
              <a:rPr lang="en-US" sz="1200" i="1" dirty="0"/>
              <a:t>p</a:t>
            </a:r>
            <a:r>
              <a:rPr lang="en-US" sz="1200" baseline="30000" dirty="0"/>
              <a:t>2</a:t>
            </a:r>
            <a:r>
              <a:rPr lang="en-US" sz="1200" dirty="0"/>
              <a:t> + 2</a:t>
            </a:r>
          </a:p>
        </p:txBody>
      </p:sp>
      <p:pic>
        <p:nvPicPr>
          <p:cNvPr id="43" name="Grafik 42" descr="IguanaTex_tmp.png"/>
          <p:cNvPicPr>
            <a:picLocks noChangeAspect="1"/>
          </p:cNvPicPr>
          <p:nvPr>
            <p:custDataLst>
              <p:tags r:id="rId1"/>
            </p:custDataLst>
          </p:nvPr>
        </p:nvPicPr>
        <p:blipFill>
          <a:blip r:embed="rId3" cstate="print"/>
          <a:stretch>
            <a:fillRect/>
          </a:stretch>
        </p:blipFill>
        <p:spPr>
          <a:xfrm>
            <a:off x="3491881" y="1203548"/>
            <a:ext cx="5336781" cy="3377374"/>
          </a:xfrm>
          <a:prstGeom prst="rect">
            <a:avLst/>
          </a:prstGeom>
          <a:noFill/>
          <a:ln/>
          <a:effectLst/>
        </p:spPr>
      </p:pic>
      <p:sp>
        <p:nvSpPr>
          <p:cNvPr id="37" name="Ellipse 36"/>
          <p:cNvSpPr/>
          <p:nvPr/>
        </p:nvSpPr>
        <p:spPr>
          <a:xfrm>
            <a:off x="251520" y="4443958"/>
            <a:ext cx="144016" cy="144016"/>
          </a:xfrm>
          <a:prstGeom prst="ellipse">
            <a:avLst/>
          </a:prstGeom>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Textfeld 37"/>
          <p:cNvSpPr txBox="1"/>
          <p:nvPr/>
        </p:nvSpPr>
        <p:spPr>
          <a:xfrm>
            <a:off x="539552" y="4371950"/>
            <a:ext cx="2232919" cy="276999"/>
          </a:xfrm>
          <a:prstGeom prst="rect">
            <a:avLst/>
          </a:prstGeom>
          <a:noFill/>
        </p:spPr>
        <p:txBody>
          <a:bodyPr wrap="none" rtlCol="0">
            <a:spAutoFit/>
          </a:bodyPr>
          <a:lstStyle/>
          <a:p>
            <a:r>
              <a:rPr lang="en-US" sz="1200" dirty="0"/>
              <a:t>pure strategy (100% of one type)</a:t>
            </a:r>
          </a:p>
        </p:txBody>
      </p:sp>
      <p:sp>
        <p:nvSpPr>
          <p:cNvPr id="44" name="Rechteck 43"/>
          <p:cNvSpPr/>
          <p:nvPr/>
        </p:nvSpPr>
        <p:spPr>
          <a:xfrm>
            <a:off x="3419872" y="3424812"/>
            <a:ext cx="5472608" cy="1595209"/>
          </a:xfrm>
          <a:prstGeom prst="rect">
            <a:avLst/>
          </a:prstGeom>
          <a:no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hteck 5">
            <a:extLst>
              <a:ext uri="{FF2B5EF4-FFF2-40B4-BE49-F238E27FC236}">
                <a16:creationId xmlns:a16="http://schemas.microsoft.com/office/drawing/2014/main" id="{F05E9354-75E4-55A6-F8BB-0E6857E9DA51}"/>
              </a:ext>
            </a:extLst>
          </p:cNvPr>
          <p:cNvSpPr/>
          <p:nvPr/>
        </p:nvSpPr>
        <p:spPr>
          <a:xfrm>
            <a:off x="3417600" y="1131590"/>
            <a:ext cx="5472608" cy="1861175"/>
          </a:xfrm>
          <a:prstGeom prst="rect">
            <a:avLst/>
          </a:prstGeom>
          <a:noFill/>
          <a:ln>
            <a:solidFill>
              <a:schemeClr val="tx2">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en-US" dirty="0"/>
              <a:t>Summary:</a:t>
            </a:r>
            <a:br>
              <a:rPr lang="en-US" dirty="0"/>
            </a:br>
            <a:r>
              <a:rPr lang="en-US" dirty="0"/>
              <a:t>Discrete replicator equation of the Hawk-Dove game (1/ 2)</a:t>
            </a:r>
          </a:p>
        </p:txBody>
      </p:sp>
      <p:sp>
        <p:nvSpPr>
          <p:cNvPr id="4" name="Rechteck 3"/>
          <p:cNvSpPr/>
          <p:nvPr/>
        </p:nvSpPr>
        <p:spPr>
          <a:xfrm>
            <a:off x="1691680" y="1131590"/>
            <a:ext cx="7200800" cy="3888432"/>
          </a:xfrm>
          <a:prstGeom prst="rect">
            <a:avLst/>
          </a:prstGeom>
          <a:noFill/>
          <a:ln>
            <a:solidFill>
              <a:schemeClr val="tx2">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spcAft>
                <a:spcPts val="600"/>
              </a:spcAft>
            </a:pPr>
            <a:endParaRPr lang="en-US" sz="1400" dirty="0">
              <a:solidFill>
                <a:schemeClr val="tx1"/>
              </a:solidFill>
            </a:endParaRPr>
          </a:p>
        </p:txBody>
      </p:sp>
      <p:pic>
        <p:nvPicPr>
          <p:cNvPr id="6" name="Grafik 5" descr="IguanaTex_tmp.png"/>
          <p:cNvPicPr>
            <a:picLocks noChangeAspect="1"/>
          </p:cNvPicPr>
          <p:nvPr>
            <p:custDataLst>
              <p:tags r:id="rId1"/>
            </p:custDataLst>
          </p:nvPr>
        </p:nvPicPr>
        <p:blipFill>
          <a:blip r:embed="rId3" cstate="print"/>
          <a:stretch>
            <a:fillRect/>
          </a:stretch>
        </p:blipFill>
        <p:spPr>
          <a:xfrm>
            <a:off x="1763690" y="1203548"/>
            <a:ext cx="7061090" cy="3719418"/>
          </a:xfrm>
          <a:prstGeom prst="rect">
            <a:avLst/>
          </a:prstGeom>
          <a:noFill/>
          <a:ln/>
          <a:effectLst/>
        </p:spPr>
      </p:pic>
      <p:sp>
        <p:nvSpPr>
          <p:cNvPr id="9" name="Rechteck 8"/>
          <p:cNvSpPr/>
          <p:nvPr/>
        </p:nvSpPr>
        <p:spPr>
          <a:xfrm>
            <a:off x="3131840" y="1491630"/>
            <a:ext cx="4320480" cy="792088"/>
          </a:xfrm>
          <a:prstGeom prst="rect">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C:\Users\Florian\Desktop\HD_2.png"/>
          <p:cNvPicPr>
            <a:picLocks noChangeAspect="1" noChangeArrowheads="1"/>
          </p:cNvPicPr>
          <p:nvPr/>
        </p:nvPicPr>
        <p:blipFill>
          <a:blip r:embed="rId2" cstate="print"/>
          <a:srcRect l="6626" r="6377"/>
          <a:stretch>
            <a:fillRect/>
          </a:stretch>
        </p:blipFill>
        <p:spPr bwMode="auto">
          <a:xfrm>
            <a:off x="3203848" y="1542845"/>
            <a:ext cx="2736304" cy="2358957"/>
          </a:xfrm>
          <a:prstGeom prst="rect">
            <a:avLst/>
          </a:prstGeom>
          <a:noFill/>
        </p:spPr>
      </p:pic>
      <p:pic>
        <p:nvPicPr>
          <p:cNvPr id="1027" name="Picture 3" descr="C:\Users\Florian\Desktop\HD_10.png"/>
          <p:cNvPicPr>
            <a:picLocks noChangeAspect="1" noChangeArrowheads="1"/>
          </p:cNvPicPr>
          <p:nvPr/>
        </p:nvPicPr>
        <p:blipFill>
          <a:blip r:embed="rId3" cstate="print"/>
          <a:srcRect l="6460" r="6543"/>
          <a:stretch>
            <a:fillRect/>
          </a:stretch>
        </p:blipFill>
        <p:spPr bwMode="auto">
          <a:xfrm>
            <a:off x="6156176" y="1542845"/>
            <a:ext cx="2736304" cy="2358957"/>
          </a:xfrm>
          <a:prstGeom prst="rect">
            <a:avLst/>
          </a:prstGeom>
          <a:noFill/>
        </p:spPr>
      </p:pic>
      <p:sp>
        <p:nvSpPr>
          <p:cNvPr id="9" name="Textfeld 8"/>
          <p:cNvSpPr txBox="1"/>
          <p:nvPr/>
        </p:nvSpPr>
        <p:spPr>
          <a:xfrm>
            <a:off x="6156176" y="1131590"/>
            <a:ext cx="2736304" cy="461665"/>
          </a:xfrm>
          <a:prstGeom prst="rect">
            <a:avLst/>
          </a:prstGeom>
          <a:solidFill>
            <a:schemeClr val="tx2">
              <a:lumMod val="20000"/>
              <a:lumOff val="80000"/>
            </a:schemeClr>
          </a:solidFill>
        </p:spPr>
        <p:txBody>
          <a:bodyPr wrap="square" rtlCol="0">
            <a:spAutoFit/>
          </a:bodyPr>
          <a:lstStyle/>
          <a:p>
            <a:pPr algn="ctr"/>
            <a:r>
              <a:rPr lang="en-US" sz="1200" dirty="0"/>
              <a:t>Discrete Hawk-Dove dynamics</a:t>
            </a:r>
          </a:p>
          <a:p>
            <a:pPr algn="ctr"/>
            <a:r>
              <a:rPr lang="en-US" sz="1200" dirty="0"/>
              <a:t>with </a:t>
            </a:r>
            <a:r>
              <a:rPr lang="en-US" sz="1200" dirty="0">
                <a:sym typeface="Symbol"/>
              </a:rPr>
              <a:t> = 10</a:t>
            </a:r>
            <a:endParaRPr lang="en-US" sz="1200" dirty="0"/>
          </a:p>
        </p:txBody>
      </p:sp>
      <p:sp>
        <p:nvSpPr>
          <p:cNvPr id="8" name="Textfeld 7"/>
          <p:cNvSpPr txBox="1"/>
          <p:nvPr/>
        </p:nvSpPr>
        <p:spPr>
          <a:xfrm>
            <a:off x="251520" y="1131590"/>
            <a:ext cx="2736304" cy="461665"/>
          </a:xfrm>
          <a:prstGeom prst="rect">
            <a:avLst/>
          </a:prstGeom>
          <a:solidFill>
            <a:schemeClr val="tx2">
              <a:lumMod val="20000"/>
              <a:lumOff val="80000"/>
            </a:schemeClr>
          </a:solidFill>
        </p:spPr>
        <p:txBody>
          <a:bodyPr wrap="square" rtlCol="0">
            <a:spAutoFit/>
          </a:bodyPr>
          <a:lstStyle/>
          <a:p>
            <a:pPr algn="ctr"/>
            <a:r>
              <a:rPr lang="en-US" sz="1200" dirty="0"/>
              <a:t>Discrete Hawk-Dove dynamics</a:t>
            </a:r>
          </a:p>
          <a:p>
            <a:pPr algn="ctr"/>
            <a:r>
              <a:rPr lang="en-US" sz="1200" dirty="0"/>
              <a:t>with </a:t>
            </a:r>
            <a:r>
              <a:rPr lang="en-US" sz="1200" dirty="0">
                <a:sym typeface="Symbol"/>
              </a:rPr>
              <a:t> = 0</a:t>
            </a:r>
            <a:endParaRPr lang="en-US" sz="1200" dirty="0"/>
          </a:p>
        </p:txBody>
      </p:sp>
      <p:pic>
        <p:nvPicPr>
          <p:cNvPr id="1026" name="Picture 2" descr="C:\Users\Florian\Desktop\HD_0p1.png"/>
          <p:cNvPicPr>
            <a:picLocks noChangeAspect="1" noChangeArrowheads="1"/>
          </p:cNvPicPr>
          <p:nvPr/>
        </p:nvPicPr>
        <p:blipFill>
          <a:blip r:embed="rId4" cstate="print"/>
          <a:srcRect l="6818" t="4633" r="6818"/>
          <a:stretch>
            <a:fillRect/>
          </a:stretch>
        </p:blipFill>
        <p:spPr bwMode="auto">
          <a:xfrm>
            <a:off x="251520" y="1635646"/>
            <a:ext cx="2736304" cy="2266156"/>
          </a:xfrm>
          <a:prstGeom prst="rect">
            <a:avLst/>
          </a:prstGeom>
          <a:noFill/>
        </p:spPr>
      </p:pic>
      <p:sp>
        <p:nvSpPr>
          <p:cNvPr id="2" name="Titel 1"/>
          <p:cNvSpPr>
            <a:spLocks noGrp="1"/>
          </p:cNvSpPr>
          <p:nvPr>
            <p:ph type="title"/>
          </p:nvPr>
        </p:nvSpPr>
        <p:spPr/>
        <p:txBody>
          <a:bodyPr/>
          <a:lstStyle/>
          <a:p>
            <a:r>
              <a:rPr lang="en-US" dirty="0"/>
              <a:t>Summary:</a:t>
            </a:r>
            <a:br>
              <a:rPr lang="en-US" dirty="0"/>
            </a:br>
            <a:r>
              <a:rPr lang="en-US" dirty="0"/>
              <a:t>Discrete replicator equation of the Hawk-Dove game (2/ 2)</a:t>
            </a:r>
          </a:p>
        </p:txBody>
      </p:sp>
      <p:sp>
        <p:nvSpPr>
          <p:cNvPr id="4" name="Rechteck 3"/>
          <p:cNvSpPr/>
          <p:nvPr/>
        </p:nvSpPr>
        <p:spPr>
          <a:xfrm>
            <a:off x="6156176" y="1131590"/>
            <a:ext cx="2736304" cy="2736304"/>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hteck 5"/>
          <p:cNvSpPr/>
          <p:nvPr/>
        </p:nvSpPr>
        <p:spPr>
          <a:xfrm>
            <a:off x="251520" y="1131590"/>
            <a:ext cx="2736304" cy="2736304"/>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feld 10"/>
          <p:cNvSpPr txBox="1"/>
          <p:nvPr/>
        </p:nvSpPr>
        <p:spPr>
          <a:xfrm>
            <a:off x="3203848" y="1131590"/>
            <a:ext cx="2736304" cy="461665"/>
          </a:xfrm>
          <a:prstGeom prst="rect">
            <a:avLst/>
          </a:prstGeom>
          <a:solidFill>
            <a:schemeClr val="tx2">
              <a:lumMod val="20000"/>
              <a:lumOff val="80000"/>
            </a:schemeClr>
          </a:solidFill>
        </p:spPr>
        <p:txBody>
          <a:bodyPr wrap="square" rtlCol="0">
            <a:spAutoFit/>
          </a:bodyPr>
          <a:lstStyle/>
          <a:p>
            <a:pPr algn="ctr"/>
            <a:r>
              <a:rPr lang="en-US" sz="1200" dirty="0"/>
              <a:t>Discrete Hawk-Dove dynamics</a:t>
            </a:r>
          </a:p>
          <a:p>
            <a:pPr algn="ctr"/>
            <a:r>
              <a:rPr lang="en-US" sz="1200" dirty="0"/>
              <a:t>with </a:t>
            </a:r>
            <a:r>
              <a:rPr lang="en-US" sz="1200" dirty="0">
                <a:sym typeface="Symbol"/>
              </a:rPr>
              <a:t> = 2</a:t>
            </a:r>
            <a:endParaRPr lang="en-US" sz="1200" dirty="0"/>
          </a:p>
        </p:txBody>
      </p:sp>
      <p:sp>
        <p:nvSpPr>
          <p:cNvPr id="13" name="Rechteck 12"/>
          <p:cNvSpPr/>
          <p:nvPr/>
        </p:nvSpPr>
        <p:spPr>
          <a:xfrm>
            <a:off x="3203848" y="1131590"/>
            <a:ext cx="2736304" cy="2736304"/>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Pfeil nach rechts 14"/>
          <p:cNvSpPr/>
          <p:nvPr/>
        </p:nvSpPr>
        <p:spPr>
          <a:xfrm>
            <a:off x="971600" y="4155926"/>
            <a:ext cx="7200800" cy="216024"/>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Textfeld 15"/>
          <p:cNvSpPr txBox="1"/>
          <p:nvPr/>
        </p:nvSpPr>
        <p:spPr>
          <a:xfrm>
            <a:off x="971601" y="4443958"/>
            <a:ext cx="7200800" cy="307777"/>
          </a:xfrm>
          <a:prstGeom prst="rect">
            <a:avLst/>
          </a:prstGeom>
          <a:noFill/>
        </p:spPr>
        <p:txBody>
          <a:bodyPr wrap="square" rtlCol="0">
            <a:spAutoFit/>
          </a:bodyPr>
          <a:lstStyle/>
          <a:p>
            <a:pPr algn="ctr"/>
            <a:r>
              <a:rPr lang="en-US" sz="1400" dirty="0"/>
              <a:t>The larger the influence of the background fitness the longer it takes to reach the ESS  </a:t>
            </a:r>
          </a:p>
        </p:txBody>
      </p:sp>
      <p:cxnSp>
        <p:nvCxnSpPr>
          <p:cNvPr id="18" name="Gerade Verbindung 17"/>
          <p:cNvCxnSpPr/>
          <p:nvPr/>
        </p:nvCxnSpPr>
        <p:spPr>
          <a:xfrm>
            <a:off x="2032172" y="3158847"/>
            <a:ext cx="216024" cy="0"/>
          </a:xfrm>
          <a:prstGeom prst="line">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sp>
        <p:nvSpPr>
          <p:cNvPr id="19" name="Textfeld 18"/>
          <p:cNvSpPr txBox="1"/>
          <p:nvPr/>
        </p:nvSpPr>
        <p:spPr>
          <a:xfrm>
            <a:off x="2248196" y="3030071"/>
            <a:ext cx="595612" cy="276999"/>
          </a:xfrm>
          <a:prstGeom prst="rect">
            <a:avLst/>
          </a:prstGeom>
          <a:noFill/>
        </p:spPr>
        <p:txBody>
          <a:bodyPr wrap="none" rtlCol="0">
            <a:spAutoFit/>
          </a:bodyPr>
          <a:lstStyle/>
          <a:p>
            <a:r>
              <a:rPr lang="en-US" sz="1200" dirty="0"/>
              <a:t>‘hawk’</a:t>
            </a:r>
          </a:p>
        </p:txBody>
      </p:sp>
      <p:cxnSp>
        <p:nvCxnSpPr>
          <p:cNvPr id="20" name="Gerade Verbindung 19"/>
          <p:cNvCxnSpPr/>
          <p:nvPr/>
        </p:nvCxnSpPr>
        <p:spPr>
          <a:xfrm>
            <a:off x="2032172" y="3431639"/>
            <a:ext cx="216024" cy="0"/>
          </a:xfrm>
          <a:prstGeom prst="line">
            <a:avLst/>
          </a:prstGeom>
          <a:noFill/>
          <a:ln>
            <a:solidFill>
              <a:srgbClr val="C00000"/>
            </a:solidFill>
            <a:prstDash val="sysDot"/>
          </a:ln>
        </p:spPr>
        <p:style>
          <a:lnRef idx="2">
            <a:schemeClr val="accent1">
              <a:shade val="50000"/>
            </a:schemeClr>
          </a:lnRef>
          <a:fillRef idx="1">
            <a:schemeClr val="accent1"/>
          </a:fillRef>
          <a:effectRef idx="0">
            <a:schemeClr val="accent1"/>
          </a:effectRef>
          <a:fontRef idx="minor">
            <a:schemeClr val="lt1"/>
          </a:fontRef>
        </p:style>
      </p:cxnSp>
      <p:sp>
        <p:nvSpPr>
          <p:cNvPr id="21" name="Textfeld 20"/>
          <p:cNvSpPr txBox="1"/>
          <p:nvPr/>
        </p:nvSpPr>
        <p:spPr>
          <a:xfrm>
            <a:off x="2248196" y="3302863"/>
            <a:ext cx="560218" cy="276999"/>
          </a:xfrm>
          <a:prstGeom prst="rect">
            <a:avLst/>
          </a:prstGeom>
          <a:noFill/>
        </p:spPr>
        <p:txBody>
          <a:bodyPr wrap="none" rtlCol="0">
            <a:spAutoFit/>
          </a:bodyPr>
          <a:lstStyle/>
          <a:p>
            <a:r>
              <a:rPr lang="en-US" sz="1200" dirty="0"/>
              <a:t>‘dove’</a:t>
            </a:r>
          </a:p>
        </p:txBody>
      </p:sp>
      <p:cxnSp>
        <p:nvCxnSpPr>
          <p:cNvPr id="22" name="Gerade Verbindung 21"/>
          <p:cNvCxnSpPr/>
          <p:nvPr/>
        </p:nvCxnSpPr>
        <p:spPr>
          <a:xfrm>
            <a:off x="4984500" y="3158847"/>
            <a:ext cx="216024" cy="0"/>
          </a:xfrm>
          <a:prstGeom prst="line">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sp>
        <p:nvSpPr>
          <p:cNvPr id="23" name="Textfeld 22"/>
          <p:cNvSpPr txBox="1"/>
          <p:nvPr/>
        </p:nvSpPr>
        <p:spPr>
          <a:xfrm>
            <a:off x="5200524" y="3030071"/>
            <a:ext cx="595612" cy="276999"/>
          </a:xfrm>
          <a:prstGeom prst="rect">
            <a:avLst/>
          </a:prstGeom>
          <a:noFill/>
        </p:spPr>
        <p:txBody>
          <a:bodyPr wrap="none" rtlCol="0">
            <a:spAutoFit/>
          </a:bodyPr>
          <a:lstStyle/>
          <a:p>
            <a:r>
              <a:rPr lang="en-US" sz="1200" dirty="0"/>
              <a:t>‘hawk’</a:t>
            </a:r>
          </a:p>
        </p:txBody>
      </p:sp>
      <p:cxnSp>
        <p:nvCxnSpPr>
          <p:cNvPr id="24" name="Gerade Verbindung 23"/>
          <p:cNvCxnSpPr/>
          <p:nvPr/>
        </p:nvCxnSpPr>
        <p:spPr>
          <a:xfrm>
            <a:off x="4984500" y="3431639"/>
            <a:ext cx="216024" cy="0"/>
          </a:xfrm>
          <a:prstGeom prst="line">
            <a:avLst/>
          </a:prstGeom>
          <a:noFill/>
          <a:ln>
            <a:solidFill>
              <a:srgbClr val="C00000"/>
            </a:solidFill>
            <a:prstDash val="sysDot"/>
          </a:ln>
        </p:spPr>
        <p:style>
          <a:lnRef idx="2">
            <a:schemeClr val="accent1">
              <a:shade val="50000"/>
            </a:schemeClr>
          </a:lnRef>
          <a:fillRef idx="1">
            <a:schemeClr val="accent1"/>
          </a:fillRef>
          <a:effectRef idx="0">
            <a:schemeClr val="accent1"/>
          </a:effectRef>
          <a:fontRef idx="minor">
            <a:schemeClr val="lt1"/>
          </a:fontRef>
        </p:style>
      </p:cxnSp>
      <p:sp>
        <p:nvSpPr>
          <p:cNvPr id="25" name="Textfeld 24"/>
          <p:cNvSpPr txBox="1"/>
          <p:nvPr/>
        </p:nvSpPr>
        <p:spPr>
          <a:xfrm>
            <a:off x="5200524" y="3302863"/>
            <a:ext cx="560218" cy="276999"/>
          </a:xfrm>
          <a:prstGeom prst="rect">
            <a:avLst/>
          </a:prstGeom>
          <a:noFill/>
        </p:spPr>
        <p:txBody>
          <a:bodyPr wrap="none" rtlCol="0">
            <a:spAutoFit/>
          </a:bodyPr>
          <a:lstStyle/>
          <a:p>
            <a:r>
              <a:rPr lang="en-US" sz="1200" dirty="0"/>
              <a:t>‘dove’</a:t>
            </a:r>
          </a:p>
        </p:txBody>
      </p:sp>
      <p:cxnSp>
        <p:nvCxnSpPr>
          <p:cNvPr id="26" name="Gerade Verbindung 25"/>
          <p:cNvCxnSpPr/>
          <p:nvPr/>
        </p:nvCxnSpPr>
        <p:spPr>
          <a:xfrm>
            <a:off x="7936828" y="3158847"/>
            <a:ext cx="216024" cy="0"/>
          </a:xfrm>
          <a:prstGeom prst="line">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sp>
        <p:nvSpPr>
          <p:cNvPr id="27" name="Textfeld 26"/>
          <p:cNvSpPr txBox="1"/>
          <p:nvPr/>
        </p:nvSpPr>
        <p:spPr>
          <a:xfrm>
            <a:off x="8152852" y="3030071"/>
            <a:ext cx="595612" cy="276999"/>
          </a:xfrm>
          <a:prstGeom prst="rect">
            <a:avLst/>
          </a:prstGeom>
          <a:noFill/>
        </p:spPr>
        <p:txBody>
          <a:bodyPr wrap="none" rtlCol="0">
            <a:spAutoFit/>
          </a:bodyPr>
          <a:lstStyle/>
          <a:p>
            <a:r>
              <a:rPr lang="en-US" sz="1200" dirty="0"/>
              <a:t>‘hawk’</a:t>
            </a:r>
          </a:p>
        </p:txBody>
      </p:sp>
      <p:cxnSp>
        <p:nvCxnSpPr>
          <p:cNvPr id="28" name="Gerade Verbindung 27"/>
          <p:cNvCxnSpPr/>
          <p:nvPr/>
        </p:nvCxnSpPr>
        <p:spPr>
          <a:xfrm>
            <a:off x="7936828" y="3431639"/>
            <a:ext cx="216024" cy="0"/>
          </a:xfrm>
          <a:prstGeom prst="line">
            <a:avLst/>
          </a:prstGeom>
          <a:noFill/>
          <a:ln>
            <a:solidFill>
              <a:srgbClr val="C00000"/>
            </a:solidFill>
            <a:prstDash val="sysDot"/>
          </a:ln>
        </p:spPr>
        <p:style>
          <a:lnRef idx="2">
            <a:schemeClr val="accent1">
              <a:shade val="50000"/>
            </a:schemeClr>
          </a:lnRef>
          <a:fillRef idx="1">
            <a:schemeClr val="accent1"/>
          </a:fillRef>
          <a:effectRef idx="0">
            <a:schemeClr val="accent1"/>
          </a:effectRef>
          <a:fontRef idx="minor">
            <a:schemeClr val="lt1"/>
          </a:fontRef>
        </p:style>
      </p:cxnSp>
      <p:sp>
        <p:nvSpPr>
          <p:cNvPr id="29" name="Textfeld 28"/>
          <p:cNvSpPr txBox="1"/>
          <p:nvPr/>
        </p:nvSpPr>
        <p:spPr>
          <a:xfrm>
            <a:off x="8152852" y="3302863"/>
            <a:ext cx="560218" cy="276999"/>
          </a:xfrm>
          <a:prstGeom prst="rect">
            <a:avLst/>
          </a:prstGeom>
          <a:noFill/>
        </p:spPr>
        <p:txBody>
          <a:bodyPr wrap="none" rtlCol="0">
            <a:spAutoFit/>
          </a:bodyPr>
          <a:lstStyle/>
          <a:p>
            <a:r>
              <a:rPr lang="en-US" sz="1200" dirty="0"/>
              <a:t>‘dove’</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en-US" dirty="0"/>
              <a:t>Note, the actual values of the payoffs/ utilities determine the location of the ESS</a:t>
            </a:r>
          </a:p>
        </p:txBody>
      </p:sp>
      <p:graphicFrame>
        <p:nvGraphicFramePr>
          <p:cNvPr id="3" name="Tabelle 2"/>
          <p:cNvGraphicFramePr>
            <a:graphicFrameLocks noGrp="1"/>
          </p:cNvGraphicFramePr>
          <p:nvPr>
            <p:custDataLst>
              <p:tags r:id="rId1"/>
            </p:custDataLst>
          </p:nvPr>
        </p:nvGraphicFramePr>
        <p:xfrm>
          <a:off x="251521" y="1131590"/>
          <a:ext cx="2664297" cy="1656183"/>
        </p:xfrm>
        <a:graphic>
          <a:graphicData uri="http://schemas.openxmlformats.org/drawingml/2006/table">
            <a:tbl>
              <a:tblPr firstRow="1" bandRow="1">
                <a:tableStyleId>{5C22544A-7EE6-4342-B048-85BDC9FD1C3A}</a:tableStyleId>
              </a:tblPr>
              <a:tblGrid>
                <a:gridCol w="888099">
                  <a:extLst>
                    <a:ext uri="{9D8B030D-6E8A-4147-A177-3AD203B41FA5}">
                      <a16:colId xmlns:a16="http://schemas.microsoft.com/office/drawing/2014/main" val="20000"/>
                    </a:ext>
                  </a:extLst>
                </a:gridCol>
                <a:gridCol w="888099">
                  <a:extLst>
                    <a:ext uri="{9D8B030D-6E8A-4147-A177-3AD203B41FA5}">
                      <a16:colId xmlns:a16="http://schemas.microsoft.com/office/drawing/2014/main" val="20001"/>
                    </a:ext>
                  </a:extLst>
                </a:gridCol>
                <a:gridCol w="888099">
                  <a:extLst>
                    <a:ext uri="{9D8B030D-6E8A-4147-A177-3AD203B41FA5}">
                      <a16:colId xmlns:a16="http://schemas.microsoft.com/office/drawing/2014/main" val="20002"/>
                    </a:ext>
                  </a:extLst>
                </a:gridCol>
              </a:tblGrid>
              <a:tr h="552061">
                <a:tc>
                  <a:txBody>
                    <a:bodyPr/>
                    <a:lstStyle/>
                    <a:p>
                      <a:pPr algn="ctr"/>
                      <a:r>
                        <a:rPr lang="en-US" sz="1400" b="0" dirty="0">
                          <a:solidFill>
                            <a:schemeClr val="tx1"/>
                          </a:solidFill>
                        </a:rPr>
                        <a:t>player</a:t>
                      </a:r>
                      <a:br>
                        <a:rPr lang="en-US" sz="1400" b="0" dirty="0">
                          <a:solidFill>
                            <a:schemeClr val="tx1"/>
                          </a:solidFill>
                        </a:rPr>
                      </a:br>
                      <a:r>
                        <a:rPr lang="en-US" sz="1400" b="0" dirty="0">
                          <a:solidFill>
                            <a:schemeClr val="tx2"/>
                          </a:solidFill>
                        </a:rPr>
                        <a:t>A</a:t>
                      </a:r>
                      <a:r>
                        <a:rPr lang="en-US" sz="1400" b="0" dirty="0">
                          <a:solidFill>
                            <a:schemeClr val="tx1"/>
                          </a:solidFill>
                        </a:rPr>
                        <a:t>           </a:t>
                      </a:r>
                      <a:r>
                        <a:rPr lang="en-US" sz="1400" b="0" dirty="0">
                          <a:solidFill>
                            <a:srgbClr val="C00000"/>
                          </a:solidFill>
                        </a:rPr>
                        <a:t>B</a:t>
                      </a:r>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400" b="0" dirty="0">
                          <a:solidFill>
                            <a:srgbClr val="C00000"/>
                          </a:solidFill>
                        </a:rPr>
                        <a:t>Hawk</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400" b="0" dirty="0">
                          <a:solidFill>
                            <a:srgbClr val="C00000"/>
                          </a:solidFill>
                        </a:rPr>
                        <a:t>Dove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0"/>
                  </a:ext>
                </a:extLst>
              </a:tr>
              <a:tr h="552061">
                <a:tc>
                  <a:txBody>
                    <a:bodyPr/>
                    <a:lstStyle/>
                    <a:p>
                      <a:pPr algn="ctr"/>
                      <a:r>
                        <a:rPr lang="en-US" sz="1400" dirty="0">
                          <a:solidFill>
                            <a:schemeClr val="tx2"/>
                          </a:solidFill>
                        </a:rPr>
                        <a:t>Hawk</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400" b="0" dirty="0">
                          <a:solidFill>
                            <a:schemeClr val="tx1"/>
                          </a:solidFill>
                        </a:rPr>
                        <a:t>(-</a:t>
                      </a:r>
                      <a:r>
                        <a:rPr lang="en-US" sz="1400" b="0" dirty="0">
                          <a:solidFill>
                            <a:schemeClr val="tx2"/>
                          </a:solidFill>
                        </a:rPr>
                        <a:t>1</a:t>
                      </a:r>
                      <a:r>
                        <a:rPr lang="en-US" sz="1400" b="0" dirty="0">
                          <a:solidFill>
                            <a:schemeClr val="tx1"/>
                          </a:solidFill>
                        </a:rPr>
                        <a:t>, -</a:t>
                      </a:r>
                      <a:r>
                        <a:rPr lang="en-US" sz="1400" b="0" dirty="0">
                          <a:solidFill>
                            <a:srgbClr val="C00000"/>
                          </a:solidFill>
                        </a:rPr>
                        <a:t>1</a:t>
                      </a:r>
                      <a:r>
                        <a:rPr lang="en-US" sz="1400" b="0" dirty="0">
                          <a:solidFill>
                            <a:schemeClr val="tx1"/>
                          </a:solidFill>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400" b="0" dirty="0">
                          <a:solidFill>
                            <a:schemeClr val="tx1"/>
                          </a:solidFill>
                        </a:rPr>
                        <a:t>(</a:t>
                      </a:r>
                      <a:r>
                        <a:rPr lang="en-US" sz="1400" b="0" dirty="0">
                          <a:solidFill>
                            <a:schemeClr val="tx2"/>
                          </a:solidFill>
                        </a:rPr>
                        <a:t>6</a:t>
                      </a:r>
                      <a:r>
                        <a:rPr lang="en-US" sz="1400" b="0" dirty="0">
                          <a:solidFill>
                            <a:schemeClr val="tx1"/>
                          </a:solidFill>
                        </a:rPr>
                        <a:t>, </a:t>
                      </a:r>
                      <a:r>
                        <a:rPr lang="en-US" sz="1400" b="0" dirty="0">
                          <a:solidFill>
                            <a:srgbClr val="C00000"/>
                          </a:solidFill>
                        </a:rPr>
                        <a:t>0</a:t>
                      </a:r>
                      <a:r>
                        <a:rPr lang="en-US" sz="1400" b="0" dirty="0">
                          <a:solidFill>
                            <a:schemeClr val="tx1"/>
                          </a:solidFill>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1"/>
                  </a:ext>
                </a:extLst>
              </a:tr>
              <a:tr h="552061">
                <a:tc>
                  <a:txBody>
                    <a:bodyPr/>
                    <a:lstStyle/>
                    <a:p>
                      <a:pPr algn="ctr"/>
                      <a:r>
                        <a:rPr lang="en-US" sz="1400" dirty="0">
                          <a:solidFill>
                            <a:schemeClr val="tx2"/>
                          </a:solidFill>
                        </a:rPr>
                        <a:t>Dove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400" b="0" dirty="0">
                          <a:solidFill>
                            <a:schemeClr val="tx1"/>
                          </a:solidFill>
                        </a:rPr>
                        <a:t>(</a:t>
                      </a:r>
                      <a:r>
                        <a:rPr lang="en-US" sz="1400" b="0" dirty="0">
                          <a:solidFill>
                            <a:schemeClr val="tx2"/>
                          </a:solidFill>
                        </a:rPr>
                        <a:t>0</a:t>
                      </a:r>
                      <a:r>
                        <a:rPr lang="en-US" sz="1400" b="0" dirty="0">
                          <a:solidFill>
                            <a:schemeClr val="tx1"/>
                          </a:solidFill>
                        </a:rPr>
                        <a:t>, </a:t>
                      </a:r>
                      <a:r>
                        <a:rPr lang="en-US" sz="1400" b="0" dirty="0">
                          <a:solidFill>
                            <a:srgbClr val="C00000"/>
                          </a:solidFill>
                        </a:rPr>
                        <a:t>6</a:t>
                      </a:r>
                      <a:r>
                        <a:rPr lang="en-US" sz="1400" b="0" dirty="0">
                          <a:solidFill>
                            <a:schemeClr val="tx1"/>
                          </a:solidFill>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400" b="0" dirty="0">
                          <a:solidFill>
                            <a:schemeClr val="tx1"/>
                          </a:solidFill>
                        </a:rPr>
                        <a:t>(</a:t>
                      </a:r>
                      <a:r>
                        <a:rPr lang="en-US" sz="1400" b="0" dirty="0">
                          <a:solidFill>
                            <a:schemeClr val="tx2"/>
                          </a:solidFill>
                        </a:rPr>
                        <a:t>2</a:t>
                      </a:r>
                      <a:r>
                        <a:rPr lang="en-US" sz="1400" b="0" dirty="0">
                          <a:solidFill>
                            <a:schemeClr val="tx1"/>
                          </a:solidFill>
                        </a:rPr>
                        <a:t>, </a:t>
                      </a:r>
                      <a:r>
                        <a:rPr lang="en-US" sz="1400" b="0" dirty="0">
                          <a:solidFill>
                            <a:srgbClr val="C00000"/>
                          </a:solidFill>
                        </a:rPr>
                        <a:t>2</a:t>
                      </a:r>
                      <a:r>
                        <a:rPr lang="en-US" sz="1400" b="0" dirty="0">
                          <a:solidFill>
                            <a:schemeClr val="tx1"/>
                          </a:solidFill>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2"/>
                  </a:ext>
                </a:extLst>
              </a:tr>
            </a:tbl>
          </a:graphicData>
        </a:graphic>
      </p:graphicFrame>
      <p:sp>
        <p:nvSpPr>
          <p:cNvPr id="8" name="Gleichschenkliges Dreieck 7"/>
          <p:cNvSpPr/>
          <p:nvPr/>
        </p:nvSpPr>
        <p:spPr>
          <a:xfrm rot="5400000">
            <a:off x="2519772" y="1887674"/>
            <a:ext cx="1368152" cy="144016"/>
          </a:xfrm>
          <a:prstGeom prst="triangle">
            <a:avLst/>
          </a:prstGeom>
          <a:solidFill>
            <a:schemeClr val="bg1">
              <a:lumMod val="85000"/>
            </a:schemeClr>
          </a:solid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13" name="Tabelle 12"/>
          <p:cNvGraphicFramePr>
            <a:graphicFrameLocks noGrp="1"/>
          </p:cNvGraphicFramePr>
          <p:nvPr>
            <p:custDataLst>
              <p:tags r:id="rId2"/>
            </p:custDataLst>
          </p:nvPr>
        </p:nvGraphicFramePr>
        <p:xfrm>
          <a:off x="251520" y="3075806"/>
          <a:ext cx="2664297" cy="1656183"/>
        </p:xfrm>
        <a:graphic>
          <a:graphicData uri="http://schemas.openxmlformats.org/drawingml/2006/table">
            <a:tbl>
              <a:tblPr firstRow="1" bandRow="1">
                <a:tableStyleId>{5C22544A-7EE6-4342-B048-85BDC9FD1C3A}</a:tableStyleId>
              </a:tblPr>
              <a:tblGrid>
                <a:gridCol w="888099">
                  <a:extLst>
                    <a:ext uri="{9D8B030D-6E8A-4147-A177-3AD203B41FA5}">
                      <a16:colId xmlns:a16="http://schemas.microsoft.com/office/drawing/2014/main" val="20000"/>
                    </a:ext>
                  </a:extLst>
                </a:gridCol>
                <a:gridCol w="888099">
                  <a:extLst>
                    <a:ext uri="{9D8B030D-6E8A-4147-A177-3AD203B41FA5}">
                      <a16:colId xmlns:a16="http://schemas.microsoft.com/office/drawing/2014/main" val="20001"/>
                    </a:ext>
                  </a:extLst>
                </a:gridCol>
                <a:gridCol w="888099">
                  <a:extLst>
                    <a:ext uri="{9D8B030D-6E8A-4147-A177-3AD203B41FA5}">
                      <a16:colId xmlns:a16="http://schemas.microsoft.com/office/drawing/2014/main" val="20002"/>
                    </a:ext>
                  </a:extLst>
                </a:gridCol>
              </a:tblGrid>
              <a:tr h="552061">
                <a:tc>
                  <a:txBody>
                    <a:bodyPr/>
                    <a:lstStyle/>
                    <a:p>
                      <a:pPr algn="ctr"/>
                      <a:r>
                        <a:rPr lang="en-US" sz="1400" b="0" dirty="0">
                          <a:solidFill>
                            <a:schemeClr val="tx1"/>
                          </a:solidFill>
                        </a:rPr>
                        <a:t>player</a:t>
                      </a:r>
                      <a:br>
                        <a:rPr lang="en-US" sz="1400" b="0" dirty="0">
                          <a:solidFill>
                            <a:schemeClr val="tx1"/>
                          </a:solidFill>
                        </a:rPr>
                      </a:br>
                      <a:r>
                        <a:rPr lang="en-US" sz="1400" b="0" dirty="0">
                          <a:solidFill>
                            <a:schemeClr val="tx2"/>
                          </a:solidFill>
                        </a:rPr>
                        <a:t>A</a:t>
                      </a:r>
                      <a:r>
                        <a:rPr lang="en-US" sz="1400" b="0" dirty="0">
                          <a:solidFill>
                            <a:schemeClr val="tx1"/>
                          </a:solidFill>
                        </a:rPr>
                        <a:t>           </a:t>
                      </a:r>
                      <a:r>
                        <a:rPr lang="en-US" sz="1400" b="0" dirty="0">
                          <a:solidFill>
                            <a:srgbClr val="C00000"/>
                          </a:solidFill>
                        </a:rPr>
                        <a:t>B</a:t>
                      </a:r>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400" b="0" dirty="0">
                          <a:solidFill>
                            <a:srgbClr val="C00000"/>
                          </a:solidFill>
                        </a:rPr>
                        <a:t>Hawk</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400" b="0" dirty="0">
                          <a:solidFill>
                            <a:srgbClr val="C00000"/>
                          </a:solidFill>
                        </a:rPr>
                        <a:t>Dove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0"/>
                  </a:ext>
                </a:extLst>
              </a:tr>
              <a:tr h="552061">
                <a:tc>
                  <a:txBody>
                    <a:bodyPr/>
                    <a:lstStyle/>
                    <a:p>
                      <a:pPr algn="ctr"/>
                      <a:r>
                        <a:rPr lang="en-US" sz="1400" dirty="0">
                          <a:solidFill>
                            <a:schemeClr val="tx2"/>
                          </a:solidFill>
                        </a:rPr>
                        <a:t>Hawk</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400" b="0" dirty="0">
                          <a:solidFill>
                            <a:schemeClr val="tx1"/>
                          </a:solidFill>
                        </a:rPr>
                        <a:t>(-</a:t>
                      </a:r>
                      <a:r>
                        <a:rPr lang="en-US" sz="1400" b="0" dirty="0">
                          <a:solidFill>
                            <a:schemeClr val="tx2"/>
                          </a:solidFill>
                        </a:rPr>
                        <a:t>2</a:t>
                      </a:r>
                      <a:r>
                        <a:rPr lang="en-US" sz="1400" b="0" dirty="0">
                          <a:solidFill>
                            <a:schemeClr val="tx1"/>
                          </a:solidFill>
                        </a:rPr>
                        <a:t>, -</a:t>
                      </a:r>
                      <a:r>
                        <a:rPr lang="en-US" sz="1400" b="0" dirty="0">
                          <a:solidFill>
                            <a:srgbClr val="C00000"/>
                          </a:solidFill>
                        </a:rPr>
                        <a:t>2</a:t>
                      </a:r>
                      <a:r>
                        <a:rPr lang="en-US" sz="1400" b="0" dirty="0">
                          <a:solidFill>
                            <a:schemeClr val="tx1"/>
                          </a:solidFill>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400" b="0" dirty="0">
                          <a:solidFill>
                            <a:schemeClr val="tx1"/>
                          </a:solidFill>
                        </a:rPr>
                        <a:t>(</a:t>
                      </a:r>
                      <a:r>
                        <a:rPr lang="en-US" sz="1400" b="0" dirty="0">
                          <a:solidFill>
                            <a:schemeClr val="tx2"/>
                          </a:solidFill>
                        </a:rPr>
                        <a:t>4</a:t>
                      </a:r>
                      <a:r>
                        <a:rPr lang="en-US" sz="1400" b="0" dirty="0">
                          <a:solidFill>
                            <a:schemeClr val="tx1"/>
                          </a:solidFill>
                        </a:rPr>
                        <a:t>, </a:t>
                      </a:r>
                      <a:r>
                        <a:rPr lang="en-US" sz="1400" b="0" dirty="0">
                          <a:solidFill>
                            <a:srgbClr val="C00000"/>
                          </a:solidFill>
                        </a:rPr>
                        <a:t>0</a:t>
                      </a:r>
                      <a:r>
                        <a:rPr lang="en-US" sz="1400" b="0" dirty="0">
                          <a:solidFill>
                            <a:schemeClr val="tx1"/>
                          </a:solidFill>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1"/>
                  </a:ext>
                </a:extLst>
              </a:tr>
              <a:tr h="552061">
                <a:tc>
                  <a:txBody>
                    <a:bodyPr/>
                    <a:lstStyle/>
                    <a:p>
                      <a:pPr algn="ctr"/>
                      <a:r>
                        <a:rPr lang="en-US" sz="1400" dirty="0">
                          <a:solidFill>
                            <a:schemeClr val="tx2"/>
                          </a:solidFill>
                        </a:rPr>
                        <a:t>Dove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400" b="0" dirty="0">
                          <a:solidFill>
                            <a:schemeClr val="tx1"/>
                          </a:solidFill>
                        </a:rPr>
                        <a:t>(</a:t>
                      </a:r>
                      <a:r>
                        <a:rPr lang="en-US" sz="1400" b="0" dirty="0">
                          <a:solidFill>
                            <a:schemeClr val="tx2"/>
                          </a:solidFill>
                        </a:rPr>
                        <a:t>0</a:t>
                      </a:r>
                      <a:r>
                        <a:rPr lang="en-US" sz="1400" b="0" dirty="0">
                          <a:solidFill>
                            <a:schemeClr val="tx1"/>
                          </a:solidFill>
                        </a:rPr>
                        <a:t>, </a:t>
                      </a:r>
                      <a:r>
                        <a:rPr lang="en-US" sz="1400" b="0" dirty="0">
                          <a:solidFill>
                            <a:srgbClr val="C00000"/>
                          </a:solidFill>
                        </a:rPr>
                        <a:t>4</a:t>
                      </a:r>
                      <a:r>
                        <a:rPr lang="en-US" sz="1400" b="0" dirty="0">
                          <a:solidFill>
                            <a:schemeClr val="tx1"/>
                          </a:solidFill>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400" b="0" dirty="0">
                          <a:solidFill>
                            <a:schemeClr val="tx1"/>
                          </a:solidFill>
                        </a:rPr>
                        <a:t>(</a:t>
                      </a:r>
                      <a:r>
                        <a:rPr lang="en-US" sz="1400" b="0" dirty="0">
                          <a:solidFill>
                            <a:schemeClr val="tx2"/>
                          </a:solidFill>
                        </a:rPr>
                        <a:t>2</a:t>
                      </a:r>
                      <a:r>
                        <a:rPr lang="en-US" sz="1400" b="0" dirty="0">
                          <a:solidFill>
                            <a:schemeClr val="tx1"/>
                          </a:solidFill>
                        </a:rPr>
                        <a:t>, </a:t>
                      </a:r>
                      <a:r>
                        <a:rPr lang="en-US" sz="1400" b="0" dirty="0">
                          <a:solidFill>
                            <a:srgbClr val="C00000"/>
                          </a:solidFill>
                        </a:rPr>
                        <a:t>2</a:t>
                      </a:r>
                      <a:r>
                        <a:rPr lang="en-US" sz="1400" b="0" dirty="0">
                          <a:solidFill>
                            <a:schemeClr val="tx1"/>
                          </a:solidFill>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2"/>
                  </a:ext>
                </a:extLst>
              </a:tr>
            </a:tbl>
          </a:graphicData>
        </a:graphic>
      </p:graphicFrame>
      <p:sp>
        <p:nvSpPr>
          <p:cNvPr id="14" name="Gleichschenkliges Dreieck 13"/>
          <p:cNvSpPr/>
          <p:nvPr/>
        </p:nvSpPr>
        <p:spPr>
          <a:xfrm rot="5400000">
            <a:off x="2519771" y="3831890"/>
            <a:ext cx="1368152" cy="144016"/>
          </a:xfrm>
          <a:prstGeom prst="triangle">
            <a:avLst/>
          </a:prstGeom>
          <a:solidFill>
            <a:schemeClr val="bg1">
              <a:lumMod val="85000"/>
            </a:schemeClr>
          </a:solid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hteck 14"/>
          <p:cNvSpPr/>
          <p:nvPr/>
        </p:nvSpPr>
        <p:spPr>
          <a:xfrm>
            <a:off x="3851920" y="1131590"/>
            <a:ext cx="5040560" cy="1656184"/>
          </a:xfrm>
          <a:prstGeom prst="rect">
            <a:avLst/>
          </a:prstGeom>
          <a:noFill/>
          <a:ln>
            <a:solidFill>
              <a:schemeClr val="tx2">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spcAft>
                <a:spcPts val="600"/>
              </a:spcAft>
            </a:pPr>
            <a:endParaRPr lang="en-US" sz="1400" dirty="0">
              <a:solidFill>
                <a:schemeClr val="tx1"/>
              </a:solidFill>
            </a:endParaRPr>
          </a:p>
        </p:txBody>
      </p:sp>
      <p:sp>
        <p:nvSpPr>
          <p:cNvPr id="16" name="Rechteck 15"/>
          <p:cNvSpPr/>
          <p:nvPr/>
        </p:nvSpPr>
        <p:spPr>
          <a:xfrm>
            <a:off x="3851920" y="3075806"/>
            <a:ext cx="5040560" cy="1944216"/>
          </a:xfrm>
          <a:prstGeom prst="rect">
            <a:avLst/>
          </a:prstGeom>
          <a:noFill/>
          <a:ln>
            <a:solidFill>
              <a:schemeClr val="tx2">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spcAft>
                <a:spcPts val="600"/>
              </a:spcAft>
            </a:pPr>
            <a:endParaRPr lang="en-US" sz="1400" dirty="0">
              <a:solidFill>
                <a:schemeClr val="tx1"/>
              </a:solidFill>
            </a:endParaRPr>
          </a:p>
        </p:txBody>
      </p:sp>
      <p:pic>
        <p:nvPicPr>
          <p:cNvPr id="32" name="Grafik 31" descr="IguanaTex_tmp.png"/>
          <p:cNvPicPr>
            <a:picLocks noChangeAspect="1"/>
          </p:cNvPicPr>
          <p:nvPr>
            <p:custDataLst>
              <p:tags r:id="rId3"/>
            </p:custDataLst>
          </p:nvPr>
        </p:nvPicPr>
        <p:blipFill>
          <a:blip r:embed="rId6" cstate="print"/>
          <a:stretch>
            <a:fillRect/>
          </a:stretch>
        </p:blipFill>
        <p:spPr>
          <a:xfrm>
            <a:off x="3929391" y="1203543"/>
            <a:ext cx="4177314" cy="1483995"/>
          </a:xfrm>
          <a:prstGeom prst="rect">
            <a:avLst/>
          </a:prstGeom>
          <a:noFill/>
          <a:ln/>
          <a:effectLst/>
        </p:spPr>
      </p:pic>
      <p:pic>
        <p:nvPicPr>
          <p:cNvPr id="22" name="Grafik 21" descr="IguanaTex_tmp.png"/>
          <p:cNvPicPr>
            <a:picLocks noChangeAspect="1"/>
          </p:cNvPicPr>
          <p:nvPr>
            <p:custDataLst>
              <p:tags r:id="rId4"/>
            </p:custDataLst>
          </p:nvPr>
        </p:nvPicPr>
        <p:blipFill>
          <a:blip r:embed="rId7" cstate="print"/>
          <a:stretch>
            <a:fillRect/>
          </a:stretch>
        </p:blipFill>
        <p:spPr>
          <a:xfrm>
            <a:off x="3929391" y="3147752"/>
            <a:ext cx="4693818" cy="1828728"/>
          </a:xfrm>
          <a:prstGeom prst="rect">
            <a:avLst/>
          </a:prstGeom>
          <a:noFill/>
          <a:ln/>
          <a:effectLst/>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bgerundetes Rechteck 1"/>
          <p:cNvSpPr/>
          <p:nvPr/>
        </p:nvSpPr>
        <p:spPr>
          <a:xfrm>
            <a:off x="971600" y="2674238"/>
            <a:ext cx="7200800" cy="360040"/>
          </a:xfrm>
          <a:prstGeom prst="roundRect">
            <a:avLst/>
          </a:prstGeom>
          <a:solidFill>
            <a:schemeClr val="tx2">
              <a:lumMod val="40000"/>
              <a:lumOff val="60000"/>
            </a:schemeClr>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feld 2"/>
          <p:cNvSpPr txBox="1"/>
          <p:nvPr/>
        </p:nvSpPr>
        <p:spPr>
          <a:xfrm>
            <a:off x="971600" y="1131590"/>
            <a:ext cx="5347682" cy="1908215"/>
          </a:xfrm>
          <a:prstGeom prst="rect">
            <a:avLst/>
          </a:prstGeom>
          <a:noFill/>
        </p:spPr>
        <p:txBody>
          <a:bodyPr wrap="none" rtlCol="0">
            <a:spAutoFit/>
          </a:bodyPr>
          <a:lstStyle/>
          <a:p>
            <a:r>
              <a:rPr lang="en-US" b="1" dirty="0"/>
              <a:t>Topics</a:t>
            </a:r>
          </a:p>
          <a:p>
            <a:endParaRPr lang="en-US" sz="1000" dirty="0"/>
          </a:p>
          <a:p>
            <a:pPr lvl="1"/>
            <a:r>
              <a:rPr lang="en-US" dirty="0"/>
              <a:t>Mathematical Formulation: The Hawk-Dove Game</a:t>
            </a:r>
          </a:p>
          <a:p>
            <a:pPr lvl="1"/>
            <a:endParaRPr lang="en-US" b="1" dirty="0"/>
          </a:p>
          <a:p>
            <a:pPr lvl="1"/>
            <a:r>
              <a:rPr lang="en-US" dirty="0"/>
              <a:t>Discrete Evolutionary Dynamics</a:t>
            </a:r>
          </a:p>
          <a:p>
            <a:pPr lvl="1"/>
            <a:endParaRPr lang="en-US" dirty="0"/>
          </a:p>
          <a:p>
            <a:pPr lvl="1"/>
            <a:r>
              <a:rPr lang="en-US" b="1" dirty="0"/>
              <a:t>The Hawk-Dove-Bourgeois Extension</a:t>
            </a:r>
          </a:p>
        </p:txBody>
      </p:sp>
      <p:sp>
        <p:nvSpPr>
          <p:cNvPr id="4" name="Rechteck 3"/>
          <p:cNvSpPr/>
          <p:nvPr/>
        </p:nvSpPr>
        <p:spPr>
          <a:xfrm>
            <a:off x="7452320" y="1131590"/>
            <a:ext cx="1440160" cy="360040"/>
          </a:xfrm>
          <a:prstGeom prst="rect">
            <a:avLst/>
          </a:prstGeom>
          <a:solidFill>
            <a:schemeClr val="bg1">
              <a:lumMod val="85000"/>
            </a:schemeClr>
          </a:solid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solidFill>
                  <a:schemeClr val="tx1"/>
                </a:solidFill>
              </a:rPr>
              <a:t>if time permits</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en-US" dirty="0"/>
              <a:t>We extend the Hawk-Dove game by introducing a third strategy that models territorial ownership </a:t>
            </a:r>
          </a:p>
        </p:txBody>
      </p:sp>
      <p:sp>
        <p:nvSpPr>
          <p:cNvPr id="6" name="Rechteck 5"/>
          <p:cNvSpPr/>
          <p:nvPr/>
        </p:nvSpPr>
        <p:spPr>
          <a:xfrm>
            <a:off x="251520" y="1131590"/>
            <a:ext cx="1440160" cy="1296144"/>
          </a:xfrm>
          <a:prstGeom prst="rect">
            <a:avLst/>
          </a:prstGeom>
          <a:solidFill>
            <a:schemeClr val="tx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Picture 6" descr="Bird Silhouettes | Bird silhouette, Silhouette, Owl silhouette"/>
          <p:cNvPicPr>
            <a:picLocks noChangeAspect="1" noChangeArrowheads="1"/>
          </p:cNvPicPr>
          <p:nvPr/>
        </p:nvPicPr>
        <p:blipFill>
          <a:blip r:embed="rId2" cstate="print"/>
          <a:srcRect/>
          <a:stretch>
            <a:fillRect/>
          </a:stretch>
        </p:blipFill>
        <p:spPr bwMode="auto">
          <a:xfrm>
            <a:off x="395536" y="1059582"/>
            <a:ext cx="1080120" cy="1339939"/>
          </a:xfrm>
          <a:prstGeom prst="rect">
            <a:avLst/>
          </a:prstGeom>
          <a:noFill/>
        </p:spPr>
      </p:pic>
      <p:sp>
        <p:nvSpPr>
          <p:cNvPr id="8" name="Rechteck 7"/>
          <p:cNvSpPr/>
          <p:nvPr/>
        </p:nvSpPr>
        <p:spPr>
          <a:xfrm>
            <a:off x="7452320" y="1131590"/>
            <a:ext cx="1440160" cy="1296144"/>
          </a:xfrm>
          <a:prstGeom prst="rect">
            <a:avLst/>
          </a:prstGeom>
          <a:solidFill>
            <a:schemeClr val="tx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9" name="Picture 4" descr="Falke vogel tierform | Kostenlose Icon"/>
          <p:cNvPicPr>
            <a:picLocks noChangeAspect="1" noChangeArrowheads="1"/>
          </p:cNvPicPr>
          <p:nvPr/>
        </p:nvPicPr>
        <p:blipFill>
          <a:blip r:embed="rId3" cstate="print"/>
          <a:srcRect/>
          <a:stretch>
            <a:fillRect/>
          </a:stretch>
        </p:blipFill>
        <p:spPr bwMode="auto">
          <a:xfrm rot="20243383" flipH="1">
            <a:off x="7503272" y="1182543"/>
            <a:ext cx="1267663" cy="1267663"/>
          </a:xfrm>
          <a:prstGeom prst="rect">
            <a:avLst/>
          </a:prstGeom>
          <a:noFill/>
        </p:spPr>
      </p:pic>
      <p:pic>
        <p:nvPicPr>
          <p:cNvPr id="10" name="Picture 6" descr="Bird Silhouettes | Bird silhouette, Silhouette, Owl silhouette"/>
          <p:cNvPicPr>
            <a:picLocks noChangeAspect="1" noChangeArrowheads="1"/>
          </p:cNvPicPr>
          <p:nvPr/>
        </p:nvPicPr>
        <p:blipFill>
          <a:blip r:embed="rId4" cstate="print">
            <a:duotone>
              <a:schemeClr val="accent6">
                <a:shade val="45000"/>
                <a:satMod val="135000"/>
              </a:schemeClr>
              <a:prstClr val="white"/>
            </a:duotone>
          </a:blip>
          <a:srcRect/>
          <a:stretch>
            <a:fillRect/>
          </a:stretch>
        </p:blipFill>
        <p:spPr bwMode="auto">
          <a:xfrm>
            <a:off x="657104" y="1396762"/>
            <a:ext cx="648424" cy="803048"/>
          </a:xfrm>
          <a:prstGeom prst="rect">
            <a:avLst/>
          </a:prstGeom>
          <a:noFill/>
        </p:spPr>
      </p:pic>
      <p:sp>
        <p:nvSpPr>
          <p:cNvPr id="11" name="Rechteck 10"/>
          <p:cNvSpPr/>
          <p:nvPr/>
        </p:nvSpPr>
        <p:spPr>
          <a:xfrm>
            <a:off x="3851920" y="1131590"/>
            <a:ext cx="1440160" cy="1296144"/>
          </a:xfrm>
          <a:prstGeom prst="rect">
            <a:avLst/>
          </a:prstGeom>
          <a:solidFill>
            <a:schemeClr val="tx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2" name="Picture 4" descr="Falke vogel tierform | Kostenlose Icon"/>
          <p:cNvPicPr>
            <a:picLocks noChangeAspect="1" noChangeArrowheads="1"/>
          </p:cNvPicPr>
          <p:nvPr/>
        </p:nvPicPr>
        <p:blipFill>
          <a:blip r:embed="rId3" cstate="print"/>
          <a:srcRect/>
          <a:stretch>
            <a:fillRect/>
          </a:stretch>
        </p:blipFill>
        <p:spPr bwMode="auto">
          <a:xfrm rot="20243383" flipH="1">
            <a:off x="3902872" y="1182543"/>
            <a:ext cx="1267663" cy="1267663"/>
          </a:xfrm>
          <a:prstGeom prst="rect">
            <a:avLst/>
          </a:prstGeom>
          <a:noFill/>
        </p:spPr>
      </p:pic>
      <p:pic>
        <p:nvPicPr>
          <p:cNvPr id="13" name="Picture 6" descr="Bird Silhouettes | Bird silhouette, Silhouette, Owl silhouette"/>
          <p:cNvPicPr>
            <a:picLocks noChangeAspect="1" noChangeArrowheads="1"/>
          </p:cNvPicPr>
          <p:nvPr/>
        </p:nvPicPr>
        <p:blipFill>
          <a:blip r:embed="rId4" cstate="print">
            <a:duotone>
              <a:schemeClr val="accent6">
                <a:shade val="45000"/>
                <a:satMod val="135000"/>
              </a:schemeClr>
              <a:prstClr val="white"/>
            </a:duotone>
          </a:blip>
          <a:srcRect/>
          <a:stretch>
            <a:fillRect/>
          </a:stretch>
        </p:blipFill>
        <p:spPr bwMode="auto">
          <a:xfrm>
            <a:off x="4242088" y="1396762"/>
            <a:ext cx="648424" cy="803048"/>
          </a:xfrm>
          <a:prstGeom prst="rect">
            <a:avLst/>
          </a:prstGeom>
          <a:noFill/>
        </p:spPr>
      </p:pic>
      <p:pic>
        <p:nvPicPr>
          <p:cNvPr id="14" name="Picture 4" descr="Falke vogel tierform | Kostenlose Icon"/>
          <p:cNvPicPr>
            <a:picLocks noChangeAspect="1" noChangeArrowheads="1"/>
          </p:cNvPicPr>
          <p:nvPr/>
        </p:nvPicPr>
        <p:blipFill>
          <a:blip r:embed="rId5" cstate="print">
            <a:duotone>
              <a:schemeClr val="accent6">
                <a:shade val="45000"/>
                <a:satMod val="135000"/>
              </a:schemeClr>
              <a:prstClr val="white"/>
            </a:duotone>
          </a:blip>
          <a:srcRect/>
          <a:stretch>
            <a:fillRect/>
          </a:stretch>
        </p:blipFill>
        <p:spPr bwMode="auto">
          <a:xfrm rot="20243383" flipH="1">
            <a:off x="7719768" y="1471046"/>
            <a:ext cx="802542" cy="802542"/>
          </a:xfrm>
          <a:prstGeom prst="rect">
            <a:avLst/>
          </a:prstGeom>
          <a:noFill/>
        </p:spPr>
      </p:pic>
      <p:sp>
        <p:nvSpPr>
          <p:cNvPr id="16" name="Rechteck 15"/>
          <p:cNvSpPr/>
          <p:nvPr/>
        </p:nvSpPr>
        <p:spPr>
          <a:xfrm>
            <a:off x="2411760" y="2499742"/>
            <a:ext cx="4320480" cy="2520280"/>
          </a:xfrm>
          <a:prstGeom prst="rect">
            <a:avLst/>
          </a:prstGeom>
          <a:noFill/>
          <a:ln>
            <a:solidFill>
              <a:schemeClr val="tx2">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spcAft>
                <a:spcPts val="600"/>
              </a:spcAft>
            </a:pPr>
            <a:r>
              <a:rPr lang="en-US" sz="1400" b="1" dirty="0">
                <a:solidFill>
                  <a:schemeClr val="tx1"/>
                </a:solidFill>
              </a:rPr>
              <a:t>Bourgeois Strategy:</a:t>
            </a:r>
          </a:p>
          <a:p>
            <a:pPr marL="182563" indent="-182563">
              <a:spcAft>
                <a:spcPts val="600"/>
              </a:spcAft>
              <a:buFont typeface="Arial" pitchFamily="34" charset="0"/>
              <a:buChar char="•"/>
            </a:pPr>
            <a:r>
              <a:rPr lang="en-US" sz="1400" dirty="0">
                <a:solidFill>
                  <a:schemeClr val="tx1"/>
                </a:solidFill>
              </a:rPr>
              <a:t>We assume that there are two essential roles: 'territory owner' and 'intruder'. The individuals know in which role they are. (The role does not affect the probability to win a fight nor the payoff of a victory.)</a:t>
            </a:r>
          </a:p>
          <a:p>
            <a:pPr marL="182563" indent="-182563">
              <a:spcAft>
                <a:spcPts val="600"/>
              </a:spcAft>
              <a:buFont typeface="Arial" pitchFamily="34" charset="0"/>
              <a:buChar char="•"/>
            </a:pPr>
            <a:r>
              <a:rPr lang="en-US" sz="1400" dirty="0">
                <a:solidFill>
                  <a:schemeClr val="tx1"/>
                </a:solidFill>
              </a:rPr>
              <a:t>This asymmetry allows the introduction of the 'bourgeois‘ strategy with the following behavior:</a:t>
            </a:r>
          </a:p>
          <a:p>
            <a:pPr marL="449263" indent="-266700">
              <a:spcAft>
                <a:spcPts val="600"/>
              </a:spcAft>
              <a:buFont typeface="Symbol" pitchFamily="18" charset="2"/>
              <a:buChar char="-"/>
            </a:pPr>
            <a:r>
              <a:rPr lang="en-US" sz="1400" dirty="0">
                <a:solidFill>
                  <a:schemeClr val="tx1"/>
                </a:solidFill>
              </a:rPr>
              <a:t>'as a territory owner, play hawk' an</a:t>
            </a:r>
          </a:p>
          <a:p>
            <a:pPr marL="449263" indent="-266700">
              <a:spcAft>
                <a:spcPts val="600"/>
              </a:spcAft>
              <a:buFont typeface="Symbol" pitchFamily="18" charset="2"/>
              <a:buChar char="-"/>
            </a:pPr>
            <a:r>
              <a:rPr lang="en-US" sz="1400" dirty="0">
                <a:solidFill>
                  <a:schemeClr val="tx1"/>
                </a:solidFill>
              </a:rPr>
              <a:t> 'as an intruder, play dove'.</a:t>
            </a:r>
          </a:p>
        </p:txBody>
      </p:sp>
      <p:sp>
        <p:nvSpPr>
          <p:cNvPr id="17" name="Textfeld 16"/>
          <p:cNvSpPr txBox="1"/>
          <p:nvPr/>
        </p:nvSpPr>
        <p:spPr>
          <a:xfrm>
            <a:off x="251520" y="2571750"/>
            <a:ext cx="1440160" cy="307777"/>
          </a:xfrm>
          <a:prstGeom prst="rect">
            <a:avLst/>
          </a:prstGeom>
          <a:noFill/>
        </p:spPr>
        <p:txBody>
          <a:bodyPr wrap="square" rtlCol="0">
            <a:spAutoFit/>
          </a:bodyPr>
          <a:lstStyle/>
          <a:p>
            <a:pPr algn="ctr"/>
            <a:r>
              <a:rPr lang="en-US" sz="1400" b="1" dirty="0"/>
              <a:t>Dove Strategy</a:t>
            </a:r>
          </a:p>
        </p:txBody>
      </p:sp>
      <p:sp>
        <p:nvSpPr>
          <p:cNvPr id="18" name="Textfeld 17"/>
          <p:cNvSpPr txBox="1"/>
          <p:nvPr/>
        </p:nvSpPr>
        <p:spPr>
          <a:xfrm>
            <a:off x="7452320" y="2571750"/>
            <a:ext cx="1440160" cy="307777"/>
          </a:xfrm>
          <a:prstGeom prst="rect">
            <a:avLst/>
          </a:prstGeom>
          <a:noFill/>
        </p:spPr>
        <p:txBody>
          <a:bodyPr wrap="square" rtlCol="0">
            <a:spAutoFit/>
          </a:bodyPr>
          <a:lstStyle/>
          <a:p>
            <a:pPr algn="ctr"/>
            <a:r>
              <a:rPr lang="en-US" sz="1400" b="1" dirty="0"/>
              <a:t>Hawk Strategy</a:t>
            </a:r>
          </a:p>
        </p:txBody>
      </p:sp>
      <p:cxnSp>
        <p:nvCxnSpPr>
          <p:cNvPr id="21" name="Gerade Verbindung 20"/>
          <p:cNvCxnSpPr/>
          <p:nvPr/>
        </p:nvCxnSpPr>
        <p:spPr>
          <a:xfrm>
            <a:off x="1835696" y="1275606"/>
            <a:ext cx="216024" cy="0"/>
          </a:xfrm>
          <a:prstGeom prst="lin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cxnSp>
      <p:sp>
        <p:nvSpPr>
          <p:cNvPr id="22" name="Textfeld 21"/>
          <p:cNvSpPr txBox="1"/>
          <p:nvPr/>
        </p:nvSpPr>
        <p:spPr>
          <a:xfrm>
            <a:off x="2051720" y="1123970"/>
            <a:ext cx="1308115" cy="307777"/>
          </a:xfrm>
          <a:prstGeom prst="rect">
            <a:avLst/>
          </a:prstGeom>
          <a:noFill/>
        </p:spPr>
        <p:txBody>
          <a:bodyPr wrap="none" rtlCol="0">
            <a:spAutoFit/>
          </a:bodyPr>
          <a:lstStyle/>
          <a:p>
            <a:r>
              <a:rPr lang="en-US" sz="1400" dirty="0"/>
              <a:t>territory owner</a:t>
            </a:r>
          </a:p>
        </p:txBody>
      </p:sp>
      <p:cxnSp>
        <p:nvCxnSpPr>
          <p:cNvPr id="23" name="Gerade Verbindung 22"/>
          <p:cNvCxnSpPr/>
          <p:nvPr/>
        </p:nvCxnSpPr>
        <p:spPr>
          <a:xfrm>
            <a:off x="1835696" y="1563638"/>
            <a:ext cx="216024" cy="0"/>
          </a:xfrm>
          <a:prstGeom prst="line">
            <a:avLst/>
          </a:prstGeom>
          <a:noFill/>
          <a:ln>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cxnSp>
      <p:sp>
        <p:nvSpPr>
          <p:cNvPr id="24" name="Textfeld 23"/>
          <p:cNvSpPr txBox="1"/>
          <p:nvPr/>
        </p:nvSpPr>
        <p:spPr>
          <a:xfrm>
            <a:off x="2051720" y="1412002"/>
            <a:ext cx="784125" cy="307777"/>
          </a:xfrm>
          <a:prstGeom prst="rect">
            <a:avLst/>
          </a:prstGeom>
          <a:noFill/>
        </p:spPr>
        <p:txBody>
          <a:bodyPr wrap="none" rtlCol="0">
            <a:spAutoFit/>
          </a:bodyPr>
          <a:lstStyle/>
          <a:p>
            <a:r>
              <a:rPr lang="en-US" sz="1400" dirty="0"/>
              <a:t>intruder</a:t>
            </a:r>
          </a:p>
        </p:txBody>
      </p:sp>
      <p:sp>
        <p:nvSpPr>
          <p:cNvPr id="19" name="Textfeld 18"/>
          <p:cNvSpPr txBox="1"/>
          <p:nvPr/>
        </p:nvSpPr>
        <p:spPr>
          <a:xfrm>
            <a:off x="251520" y="1131590"/>
            <a:ext cx="295274" cy="307777"/>
          </a:xfrm>
          <a:prstGeom prst="rect">
            <a:avLst/>
          </a:prstGeom>
          <a:noFill/>
        </p:spPr>
        <p:txBody>
          <a:bodyPr wrap="none" rtlCol="0">
            <a:spAutoFit/>
          </a:bodyPr>
          <a:lstStyle/>
          <a:p>
            <a:r>
              <a:rPr lang="en-US" sz="1400" dirty="0"/>
              <a:t>D</a:t>
            </a:r>
          </a:p>
        </p:txBody>
      </p:sp>
      <p:sp>
        <p:nvSpPr>
          <p:cNvPr id="20" name="Textfeld 19"/>
          <p:cNvSpPr txBox="1"/>
          <p:nvPr/>
        </p:nvSpPr>
        <p:spPr>
          <a:xfrm>
            <a:off x="3851920" y="1131590"/>
            <a:ext cx="282450" cy="307777"/>
          </a:xfrm>
          <a:prstGeom prst="rect">
            <a:avLst/>
          </a:prstGeom>
          <a:noFill/>
        </p:spPr>
        <p:txBody>
          <a:bodyPr wrap="none" rtlCol="0">
            <a:spAutoFit/>
          </a:bodyPr>
          <a:lstStyle/>
          <a:p>
            <a:r>
              <a:rPr lang="en-US" sz="1400" dirty="0"/>
              <a:t>B</a:t>
            </a:r>
          </a:p>
        </p:txBody>
      </p:sp>
      <p:sp>
        <p:nvSpPr>
          <p:cNvPr id="25" name="Textfeld 24"/>
          <p:cNvSpPr txBox="1"/>
          <p:nvPr/>
        </p:nvSpPr>
        <p:spPr>
          <a:xfrm>
            <a:off x="7452320" y="1131590"/>
            <a:ext cx="296876" cy="307777"/>
          </a:xfrm>
          <a:prstGeom prst="rect">
            <a:avLst/>
          </a:prstGeom>
          <a:noFill/>
        </p:spPr>
        <p:txBody>
          <a:bodyPr wrap="none" rtlCol="0">
            <a:spAutoFit/>
          </a:bodyPr>
          <a:lstStyle/>
          <a:p>
            <a:r>
              <a:rPr lang="en-US" sz="1400" dirty="0"/>
              <a:t>H</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en-US" dirty="0"/>
              <a:t>The Hawk-Dove-Bourgeois game has (bourgeois, bourgeois) as a Nash-equilibrium in pure strategies which turns out to be an ESS as well</a:t>
            </a:r>
          </a:p>
        </p:txBody>
      </p:sp>
      <p:graphicFrame>
        <p:nvGraphicFramePr>
          <p:cNvPr id="3" name="Tabelle 2"/>
          <p:cNvGraphicFramePr>
            <a:graphicFrameLocks noGrp="1"/>
          </p:cNvGraphicFramePr>
          <p:nvPr>
            <p:custDataLst>
              <p:tags r:id="rId1"/>
            </p:custDataLst>
          </p:nvPr>
        </p:nvGraphicFramePr>
        <p:xfrm>
          <a:off x="251520" y="1131590"/>
          <a:ext cx="3816424" cy="2208244"/>
        </p:xfrm>
        <a:graphic>
          <a:graphicData uri="http://schemas.openxmlformats.org/drawingml/2006/table">
            <a:tbl>
              <a:tblPr firstRow="1" bandRow="1">
                <a:tableStyleId>{5C22544A-7EE6-4342-B048-85BDC9FD1C3A}</a:tableStyleId>
              </a:tblPr>
              <a:tblGrid>
                <a:gridCol w="954106">
                  <a:extLst>
                    <a:ext uri="{9D8B030D-6E8A-4147-A177-3AD203B41FA5}">
                      <a16:colId xmlns:a16="http://schemas.microsoft.com/office/drawing/2014/main" val="20000"/>
                    </a:ext>
                  </a:extLst>
                </a:gridCol>
                <a:gridCol w="954106">
                  <a:extLst>
                    <a:ext uri="{9D8B030D-6E8A-4147-A177-3AD203B41FA5}">
                      <a16:colId xmlns:a16="http://schemas.microsoft.com/office/drawing/2014/main" val="20001"/>
                    </a:ext>
                  </a:extLst>
                </a:gridCol>
                <a:gridCol w="954106">
                  <a:extLst>
                    <a:ext uri="{9D8B030D-6E8A-4147-A177-3AD203B41FA5}">
                      <a16:colId xmlns:a16="http://schemas.microsoft.com/office/drawing/2014/main" val="20002"/>
                    </a:ext>
                  </a:extLst>
                </a:gridCol>
                <a:gridCol w="954106">
                  <a:extLst>
                    <a:ext uri="{9D8B030D-6E8A-4147-A177-3AD203B41FA5}">
                      <a16:colId xmlns:a16="http://schemas.microsoft.com/office/drawing/2014/main" val="20003"/>
                    </a:ext>
                  </a:extLst>
                </a:gridCol>
              </a:tblGrid>
              <a:tr h="552061">
                <a:tc>
                  <a:txBody>
                    <a:bodyPr/>
                    <a:lstStyle/>
                    <a:p>
                      <a:pPr algn="ctr"/>
                      <a:r>
                        <a:rPr lang="en-US" sz="1400" b="0" dirty="0">
                          <a:solidFill>
                            <a:schemeClr val="tx1"/>
                          </a:solidFill>
                        </a:rPr>
                        <a:t>player</a:t>
                      </a:r>
                      <a:br>
                        <a:rPr lang="en-US" sz="1400" b="0" dirty="0">
                          <a:solidFill>
                            <a:schemeClr val="tx1"/>
                          </a:solidFill>
                        </a:rPr>
                      </a:br>
                      <a:r>
                        <a:rPr lang="en-US" sz="1400" b="0" dirty="0">
                          <a:solidFill>
                            <a:schemeClr val="tx2"/>
                          </a:solidFill>
                        </a:rPr>
                        <a:t>1</a:t>
                      </a:r>
                      <a:r>
                        <a:rPr lang="en-US" sz="1400" b="0" dirty="0">
                          <a:solidFill>
                            <a:schemeClr val="tx1"/>
                          </a:solidFill>
                        </a:rPr>
                        <a:t>             </a:t>
                      </a:r>
                      <a:r>
                        <a:rPr lang="en-US" sz="1400" b="0" dirty="0">
                          <a:solidFill>
                            <a:srgbClr val="C00000"/>
                          </a:solidFill>
                        </a:rPr>
                        <a:t>2</a:t>
                      </a:r>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400" b="0" dirty="0">
                          <a:solidFill>
                            <a:srgbClr val="C00000"/>
                          </a:solidFill>
                        </a:rPr>
                        <a:t>Hawk</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400" b="0" dirty="0">
                          <a:solidFill>
                            <a:srgbClr val="C00000"/>
                          </a:solidFill>
                        </a:rPr>
                        <a:t>Dove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defTabSz="914400" rtl="0" eaLnBrk="1" latinLnBrk="0" hangingPunct="1"/>
                      <a:r>
                        <a:rPr lang="en-US" sz="1400" b="0" kern="1200" dirty="0">
                          <a:solidFill>
                            <a:srgbClr val="C00000"/>
                          </a:solidFill>
                          <a:latin typeface="+mn-lt"/>
                          <a:ea typeface="+mn-ea"/>
                          <a:cs typeface="+mn-cs"/>
                        </a:rPr>
                        <a:t>Bourgeois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0"/>
                  </a:ext>
                </a:extLst>
              </a:tr>
              <a:tr h="552061">
                <a:tc>
                  <a:txBody>
                    <a:bodyPr/>
                    <a:lstStyle/>
                    <a:p>
                      <a:pPr algn="ctr"/>
                      <a:r>
                        <a:rPr lang="en-US" sz="1400" dirty="0">
                          <a:solidFill>
                            <a:schemeClr val="tx2"/>
                          </a:solidFill>
                        </a:rPr>
                        <a:t>Hawk</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400" dirty="0"/>
                        <a:t>(</a:t>
                      </a:r>
                      <a:r>
                        <a:rPr lang="en-US" sz="1400" dirty="0">
                          <a:solidFill>
                            <a:schemeClr val="tx2"/>
                          </a:solidFill>
                        </a:rPr>
                        <a:t>-2</a:t>
                      </a:r>
                      <a:r>
                        <a:rPr lang="en-US" sz="1400" dirty="0"/>
                        <a:t>, </a:t>
                      </a:r>
                      <a:r>
                        <a:rPr lang="en-US" sz="1400" dirty="0">
                          <a:solidFill>
                            <a:srgbClr val="C00000"/>
                          </a:solidFill>
                        </a:rPr>
                        <a:t>-2</a:t>
                      </a:r>
                      <a:r>
                        <a:rPr lang="en-US" sz="1400" dirty="0"/>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400" dirty="0"/>
                        <a:t>(</a:t>
                      </a:r>
                      <a:r>
                        <a:rPr lang="en-US" sz="1400" dirty="0">
                          <a:solidFill>
                            <a:schemeClr val="tx2"/>
                          </a:solidFill>
                        </a:rPr>
                        <a:t>4</a:t>
                      </a:r>
                      <a:r>
                        <a:rPr lang="en-US" sz="1400" dirty="0"/>
                        <a:t>, </a:t>
                      </a:r>
                      <a:r>
                        <a:rPr lang="en-US" sz="1400" dirty="0">
                          <a:solidFill>
                            <a:srgbClr val="C00000"/>
                          </a:solidFill>
                        </a:rPr>
                        <a:t>0</a:t>
                      </a:r>
                      <a:r>
                        <a:rPr lang="en-US" sz="1400" dirty="0"/>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400" dirty="0"/>
                        <a:t>(</a:t>
                      </a:r>
                      <a:r>
                        <a:rPr lang="en-US" sz="1400" dirty="0">
                          <a:solidFill>
                            <a:schemeClr val="tx2"/>
                          </a:solidFill>
                        </a:rPr>
                        <a:t>1</a:t>
                      </a:r>
                      <a:r>
                        <a:rPr lang="en-US" sz="1400" dirty="0"/>
                        <a:t>, </a:t>
                      </a:r>
                      <a:r>
                        <a:rPr lang="en-US" sz="1400" dirty="0">
                          <a:solidFill>
                            <a:srgbClr val="C00000"/>
                          </a:solidFill>
                        </a:rPr>
                        <a:t>-1</a:t>
                      </a:r>
                      <a:r>
                        <a:rPr lang="en-US" sz="1400" dirty="0"/>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1"/>
                  </a:ext>
                </a:extLst>
              </a:tr>
              <a:tr h="552061">
                <a:tc>
                  <a:txBody>
                    <a:bodyPr/>
                    <a:lstStyle/>
                    <a:p>
                      <a:pPr algn="ctr"/>
                      <a:r>
                        <a:rPr lang="en-US" sz="1400" dirty="0">
                          <a:solidFill>
                            <a:schemeClr val="tx2"/>
                          </a:solidFill>
                        </a:rPr>
                        <a:t>Dove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400" dirty="0"/>
                        <a:t>(</a:t>
                      </a:r>
                      <a:r>
                        <a:rPr lang="en-US" sz="1400" dirty="0">
                          <a:solidFill>
                            <a:schemeClr val="tx2"/>
                          </a:solidFill>
                        </a:rPr>
                        <a:t>0</a:t>
                      </a:r>
                      <a:r>
                        <a:rPr lang="en-US" sz="1400" dirty="0"/>
                        <a:t>, </a:t>
                      </a:r>
                      <a:r>
                        <a:rPr lang="en-US" sz="1400" dirty="0">
                          <a:solidFill>
                            <a:srgbClr val="C00000"/>
                          </a:solidFill>
                        </a:rPr>
                        <a:t>4</a:t>
                      </a:r>
                      <a:r>
                        <a:rPr lang="en-US" sz="1400" dirty="0"/>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US" sz="1400" dirty="0"/>
                        <a:t>(</a:t>
                      </a:r>
                      <a:r>
                        <a:rPr lang="en-US" sz="1400" dirty="0">
                          <a:solidFill>
                            <a:schemeClr val="tx2"/>
                          </a:solidFill>
                        </a:rPr>
                        <a:t>2</a:t>
                      </a:r>
                      <a:r>
                        <a:rPr lang="en-US" sz="1400" dirty="0"/>
                        <a:t>,</a:t>
                      </a:r>
                      <a:r>
                        <a:rPr lang="en-US" sz="1400" baseline="0" dirty="0"/>
                        <a:t> </a:t>
                      </a:r>
                      <a:r>
                        <a:rPr lang="en-US" sz="1400" baseline="0" dirty="0">
                          <a:solidFill>
                            <a:srgbClr val="C00000"/>
                          </a:solidFill>
                        </a:rPr>
                        <a:t>2</a:t>
                      </a:r>
                      <a:r>
                        <a:rPr lang="en-US" sz="1400" baseline="0" dirty="0"/>
                        <a:t>)</a:t>
                      </a:r>
                      <a:endParaRPr lang="en-US" sz="14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400" dirty="0"/>
                        <a:t>(</a:t>
                      </a:r>
                      <a:r>
                        <a:rPr lang="en-US" sz="1400" dirty="0">
                          <a:solidFill>
                            <a:schemeClr val="tx2"/>
                          </a:solidFill>
                        </a:rPr>
                        <a:t>1</a:t>
                      </a:r>
                      <a:r>
                        <a:rPr lang="en-US" sz="1400" dirty="0"/>
                        <a:t>, </a:t>
                      </a:r>
                      <a:r>
                        <a:rPr lang="en-US" sz="1400" dirty="0">
                          <a:solidFill>
                            <a:srgbClr val="C00000"/>
                          </a:solidFill>
                        </a:rPr>
                        <a:t>3</a:t>
                      </a:r>
                      <a:r>
                        <a:rPr lang="en-US" sz="1400" dirty="0"/>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2"/>
                  </a:ext>
                </a:extLst>
              </a:tr>
              <a:tr h="552061">
                <a:tc>
                  <a:txBody>
                    <a:bodyPr/>
                    <a:lstStyle/>
                    <a:p>
                      <a:pPr marL="0" algn="ctr" defTabSz="914400" rtl="0" eaLnBrk="1" latinLnBrk="0" hangingPunct="1"/>
                      <a:r>
                        <a:rPr lang="en-US" sz="1400" kern="1200" dirty="0">
                          <a:solidFill>
                            <a:schemeClr val="tx2"/>
                          </a:solidFill>
                          <a:latin typeface="+mn-lt"/>
                          <a:ea typeface="+mn-ea"/>
                          <a:cs typeface="+mn-cs"/>
                        </a:rPr>
                        <a:t>Bourgeois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400" dirty="0"/>
                        <a:t>(</a:t>
                      </a:r>
                      <a:r>
                        <a:rPr lang="en-US" sz="1400" dirty="0">
                          <a:solidFill>
                            <a:schemeClr val="tx2"/>
                          </a:solidFill>
                        </a:rPr>
                        <a:t>-1</a:t>
                      </a:r>
                      <a:r>
                        <a:rPr lang="en-US" sz="1400" dirty="0"/>
                        <a:t>, </a:t>
                      </a:r>
                      <a:r>
                        <a:rPr lang="en-US" sz="1400" dirty="0">
                          <a:solidFill>
                            <a:srgbClr val="C00000"/>
                          </a:solidFill>
                        </a:rPr>
                        <a:t>1</a:t>
                      </a:r>
                      <a:r>
                        <a:rPr lang="en-US" sz="1400" dirty="0"/>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400" dirty="0"/>
                        <a:t>(</a:t>
                      </a:r>
                      <a:r>
                        <a:rPr lang="en-US" sz="1400" dirty="0">
                          <a:solidFill>
                            <a:schemeClr val="tx2"/>
                          </a:solidFill>
                        </a:rPr>
                        <a:t>3</a:t>
                      </a:r>
                      <a:r>
                        <a:rPr lang="en-US" sz="1400" dirty="0"/>
                        <a:t>, </a:t>
                      </a:r>
                      <a:r>
                        <a:rPr lang="en-US" sz="1400" dirty="0">
                          <a:solidFill>
                            <a:srgbClr val="C00000"/>
                          </a:solidFill>
                        </a:rPr>
                        <a:t>1</a:t>
                      </a:r>
                      <a:r>
                        <a:rPr lang="en-US" sz="1400" dirty="0"/>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400" dirty="0"/>
                        <a:t>(</a:t>
                      </a:r>
                      <a:r>
                        <a:rPr lang="en-US" sz="1400" dirty="0">
                          <a:solidFill>
                            <a:schemeClr val="tx2"/>
                          </a:solidFill>
                        </a:rPr>
                        <a:t>2</a:t>
                      </a:r>
                      <a:r>
                        <a:rPr lang="en-US" sz="1400" dirty="0"/>
                        <a:t>, </a:t>
                      </a:r>
                      <a:r>
                        <a:rPr lang="en-US" sz="1400" dirty="0">
                          <a:solidFill>
                            <a:srgbClr val="C00000"/>
                          </a:solidFill>
                        </a:rPr>
                        <a:t>2</a:t>
                      </a:r>
                      <a:r>
                        <a:rPr lang="en-US" sz="1400" dirty="0"/>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extLst>
                  <a:ext uri="{0D108BD9-81ED-4DB2-BD59-A6C34878D82A}">
                    <a16:rowId xmlns:a16="http://schemas.microsoft.com/office/drawing/2014/main" val="10003"/>
                  </a:ext>
                </a:extLst>
              </a:tr>
            </a:tbl>
          </a:graphicData>
        </a:graphic>
      </p:graphicFrame>
      <p:sp>
        <p:nvSpPr>
          <p:cNvPr id="4" name="Textfeld 3"/>
          <p:cNvSpPr txBox="1"/>
          <p:nvPr/>
        </p:nvSpPr>
        <p:spPr>
          <a:xfrm>
            <a:off x="3119140" y="2788934"/>
            <a:ext cx="218577" cy="195814"/>
          </a:xfrm>
          <a:prstGeom prst="rect">
            <a:avLst/>
          </a:prstGeom>
          <a:noFill/>
        </p:spPr>
        <p:txBody>
          <a:bodyPr wrap="none" lIns="36000" tIns="36000" rIns="36000" bIns="36000" rtlCol="0">
            <a:spAutoFit/>
          </a:bodyPr>
          <a:lstStyle/>
          <a:p>
            <a:r>
              <a:rPr lang="en-US" sz="800" b="1" dirty="0">
                <a:solidFill>
                  <a:srgbClr val="00B050"/>
                </a:solidFill>
              </a:rPr>
              <a:t>ESS</a:t>
            </a:r>
          </a:p>
        </p:txBody>
      </p:sp>
      <p:sp>
        <p:nvSpPr>
          <p:cNvPr id="7" name="Rechteck 6"/>
          <p:cNvSpPr/>
          <p:nvPr/>
        </p:nvSpPr>
        <p:spPr>
          <a:xfrm>
            <a:off x="4572000" y="1131590"/>
            <a:ext cx="4320480" cy="3888432"/>
          </a:xfrm>
          <a:prstGeom prst="rect">
            <a:avLst/>
          </a:prstGeom>
          <a:noFill/>
          <a:ln>
            <a:solidFill>
              <a:schemeClr val="tx2">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spcAft>
                <a:spcPts val="600"/>
              </a:spcAft>
            </a:pPr>
            <a:r>
              <a:rPr lang="en-US" sz="1400" b="1" dirty="0">
                <a:solidFill>
                  <a:schemeClr val="tx1"/>
                </a:solidFill>
              </a:rPr>
              <a:t>Theorem:</a:t>
            </a:r>
          </a:p>
          <a:p>
            <a:pPr algn="just">
              <a:spcAft>
                <a:spcPts val="600"/>
              </a:spcAft>
            </a:pPr>
            <a:r>
              <a:rPr lang="en-US" sz="1400" dirty="0">
                <a:solidFill>
                  <a:schemeClr val="tx1"/>
                </a:solidFill>
              </a:rPr>
              <a:t>The Hawk-Dove-Bourgeois game has exactly four Nash-</a:t>
            </a:r>
            <a:r>
              <a:rPr lang="en-US" sz="1400" dirty="0" err="1">
                <a:solidFill>
                  <a:schemeClr val="tx1"/>
                </a:solidFill>
              </a:rPr>
              <a:t>equilibria</a:t>
            </a:r>
            <a:r>
              <a:rPr lang="en-US" sz="1400" dirty="0">
                <a:solidFill>
                  <a:schemeClr val="tx1"/>
                </a:solidFill>
              </a:rPr>
              <a:t>:</a:t>
            </a:r>
          </a:p>
          <a:p>
            <a:pPr marL="182563" indent="-182563" algn="just">
              <a:spcAft>
                <a:spcPts val="600"/>
              </a:spcAft>
              <a:buFont typeface="Arial" pitchFamily="34" charset="0"/>
              <a:buChar char="•"/>
            </a:pPr>
            <a:r>
              <a:rPr lang="en-US" sz="1400" dirty="0">
                <a:solidFill>
                  <a:schemeClr val="tx1"/>
                </a:solidFill>
              </a:rPr>
              <a:t>The strategy pairs (H, D), (D, H), and (B, B) are Nash-</a:t>
            </a:r>
            <a:r>
              <a:rPr lang="en-US" sz="1400" dirty="0" err="1">
                <a:solidFill>
                  <a:schemeClr val="tx1"/>
                </a:solidFill>
              </a:rPr>
              <a:t>equilibria</a:t>
            </a:r>
            <a:r>
              <a:rPr lang="en-US" sz="1400" dirty="0">
                <a:solidFill>
                  <a:schemeClr val="tx1"/>
                </a:solidFill>
              </a:rPr>
              <a:t> in pure strategies.</a:t>
            </a:r>
          </a:p>
          <a:p>
            <a:pPr marL="182563" indent="-182563" algn="just">
              <a:spcAft>
                <a:spcPts val="600"/>
              </a:spcAft>
              <a:buFont typeface="Arial" pitchFamily="34" charset="0"/>
              <a:buChar char="•"/>
            </a:pPr>
            <a:r>
              <a:rPr lang="en-US" sz="1400" dirty="0">
                <a:solidFill>
                  <a:schemeClr val="tx1"/>
                </a:solidFill>
              </a:rPr>
              <a:t>There is also an equilibrium in mixed strategies in which the players choose, independently of each other, the strategies ‘hawk’ and ‘dove’, each with frequency 0.5, and the strategy ‘bourgeois’ with zero frequency.</a:t>
            </a:r>
          </a:p>
          <a:p>
            <a:pPr>
              <a:spcAft>
                <a:spcPts val="600"/>
              </a:spcAft>
            </a:pPr>
            <a:endParaRPr lang="en-US" sz="500" dirty="0">
              <a:solidFill>
                <a:schemeClr val="tx1"/>
              </a:solidFill>
            </a:endParaRPr>
          </a:p>
          <a:p>
            <a:pPr>
              <a:spcAft>
                <a:spcPts val="600"/>
              </a:spcAft>
            </a:pPr>
            <a:r>
              <a:rPr lang="en-US" sz="1400" b="1" dirty="0">
                <a:solidFill>
                  <a:schemeClr val="tx1"/>
                </a:solidFill>
              </a:rPr>
              <a:t>Proof (with some omissions):</a:t>
            </a:r>
          </a:p>
          <a:p>
            <a:pPr algn="just">
              <a:spcAft>
                <a:spcPts val="600"/>
              </a:spcAft>
            </a:pPr>
            <a:r>
              <a:rPr lang="en-US" sz="1400" dirty="0">
                <a:solidFill>
                  <a:schemeClr val="tx1"/>
                </a:solidFill>
              </a:rPr>
              <a:t>We will use the dynamics induced by the replicator equation to verify the equilibrium in mixed strategies, that this is unstable, and that (B, B) is an evolutionary stable strategy (ESS).</a:t>
            </a:r>
          </a:p>
        </p:txBody>
      </p:sp>
      <p:sp>
        <p:nvSpPr>
          <p:cNvPr id="6" name="Rechteck 5"/>
          <p:cNvSpPr/>
          <p:nvPr/>
        </p:nvSpPr>
        <p:spPr>
          <a:xfrm>
            <a:off x="251520" y="3662903"/>
            <a:ext cx="216024" cy="144016"/>
          </a:xfrm>
          <a:prstGeom prst="rect">
            <a:avLst/>
          </a:prstGeom>
          <a:no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feld 7"/>
          <p:cNvSpPr txBox="1"/>
          <p:nvPr/>
        </p:nvSpPr>
        <p:spPr>
          <a:xfrm>
            <a:off x="467544" y="3590895"/>
            <a:ext cx="1849289" cy="276999"/>
          </a:xfrm>
          <a:prstGeom prst="rect">
            <a:avLst/>
          </a:prstGeom>
          <a:noFill/>
        </p:spPr>
        <p:txBody>
          <a:bodyPr wrap="none" rtlCol="0">
            <a:spAutoFit/>
          </a:bodyPr>
          <a:lstStyle/>
          <a:p>
            <a:r>
              <a:rPr lang="en-US" sz="1200" dirty="0"/>
              <a:t>Previous Hawk-Dove game</a:t>
            </a:r>
          </a:p>
        </p:txBody>
      </p:sp>
      <p:sp>
        <p:nvSpPr>
          <p:cNvPr id="9" name="Rechteck 8"/>
          <p:cNvSpPr/>
          <p:nvPr/>
        </p:nvSpPr>
        <p:spPr>
          <a:xfrm>
            <a:off x="1259632" y="1733945"/>
            <a:ext cx="1800200" cy="1008112"/>
          </a:xfrm>
          <a:prstGeom prst="rect">
            <a:avLst/>
          </a:prstGeom>
          <a:no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hteck 9"/>
          <p:cNvSpPr/>
          <p:nvPr/>
        </p:nvSpPr>
        <p:spPr>
          <a:xfrm>
            <a:off x="251520" y="3939902"/>
            <a:ext cx="216024" cy="144016"/>
          </a:xfrm>
          <a:prstGeom prst="rect">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feld 10"/>
          <p:cNvSpPr txBox="1"/>
          <p:nvPr/>
        </p:nvSpPr>
        <p:spPr>
          <a:xfrm>
            <a:off x="467544" y="3867894"/>
            <a:ext cx="2373983" cy="276999"/>
          </a:xfrm>
          <a:prstGeom prst="rect">
            <a:avLst/>
          </a:prstGeom>
          <a:noFill/>
        </p:spPr>
        <p:txBody>
          <a:bodyPr wrap="none" rtlCol="0">
            <a:spAutoFit/>
          </a:bodyPr>
          <a:lstStyle/>
          <a:p>
            <a:r>
              <a:rPr lang="en-US" sz="1200" dirty="0"/>
              <a:t>Nash-equilibrium in pure strategies</a:t>
            </a:r>
          </a:p>
        </p:txBody>
      </p:sp>
      <p:sp>
        <p:nvSpPr>
          <p:cNvPr id="13" name="Textfeld 12"/>
          <p:cNvSpPr txBox="1"/>
          <p:nvPr/>
        </p:nvSpPr>
        <p:spPr>
          <a:xfrm>
            <a:off x="467544" y="4155926"/>
            <a:ext cx="1911357" cy="276999"/>
          </a:xfrm>
          <a:prstGeom prst="rect">
            <a:avLst/>
          </a:prstGeom>
          <a:noFill/>
        </p:spPr>
        <p:txBody>
          <a:bodyPr wrap="none" rtlCol="0">
            <a:spAutoFit/>
          </a:bodyPr>
          <a:lstStyle/>
          <a:p>
            <a:r>
              <a:rPr lang="en-US" sz="1200" dirty="0"/>
              <a:t>Evolutionary stable strategy</a:t>
            </a:r>
          </a:p>
        </p:txBody>
      </p:sp>
      <p:sp>
        <p:nvSpPr>
          <p:cNvPr id="15" name="Textfeld 14"/>
          <p:cNvSpPr txBox="1"/>
          <p:nvPr/>
        </p:nvSpPr>
        <p:spPr>
          <a:xfrm>
            <a:off x="251520" y="4196518"/>
            <a:ext cx="218577" cy="195814"/>
          </a:xfrm>
          <a:prstGeom prst="rect">
            <a:avLst/>
          </a:prstGeom>
          <a:noFill/>
        </p:spPr>
        <p:txBody>
          <a:bodyPr wrap="none" lIns="36000" tIns="36000" rIns="36000" bIns="36000" rtlCol="0">
            <a:spAutoFit/>
          </a:bodyPr>
          <a:lstStyle/>
          <a:p>
            <a:r>
              <a:rPr lang="en-US" sz="800" b="1" dirty="0">
                <a:solidFill>
                  <a:srgbClr val="00B050"/>
                </a:solidFill>
              </a:rPr>
              <a:t>ESS</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en-US" dirty="0"/>
              <a:t>Proof:</a:t>
            </a:r>
            <a:br>
              <a:rPr lang="en-US" dirty="0"/>
            </a:br>
            <a:r>
              <a:rPr lang="en-US" dirty="0"/>
              <a:t>1) fitness functions of the ‘hawk’, ‘dove’, and ‘bourgeois’ strategies</a:t>
            </a:r>
          </a:p>
        </p:txBody>
      </p:sp>
      <p:sp>
        <p:nvSpPr>
          <p:cNvPr id="3" name="Rechteck 2"/>
          <p:cNvSpPr/>
          <p:nvPr/>
        </p:nvSpPr>
        <p:spPr>
          <a:xfrm>
            <a:off x="251520" y="1131590"/>
            <a:ext cx="2376264" cy="1440160"/>
          </a:xfrm>
          <a:prstGeom prst="rect">
            <a:avLst/>
          </a:prstGeom>
          <a:solidFill>
            <a:schemeClr val="bg1"/>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4" name="Tabelle 3"/>
          <p:cNvGraphicFramePr>
            <a:graphicFrameLocks noGrp="1"/>
          </p:cNvGraphicFramePr>
          <p:nvPr>
            <p:custDataLst>
              <p:tags r:id="rId1"/>
            </p:custDataLst>
          </p:nvPr>
        </p:nvGraphicFramePr>
        <p:xfrm>
          <a:off x="323528" y="1208126"/>
          <a:ext cx="2232248" cy="1291616"/>
        </p:xfrm>
        <a:graphic>
          <a:graphicData uri="http://schemas.openxmlformats.org/drawingml/2006/table">
            <a:tbl>
              <a:tblPr firstRow="1" bandRow="1">
                <a:tableStyleId>{5C22544A-7EE6-4342-B048-85BDC9FD1C3A}</a:tableStyleId>
              </a:tblPr>
              <a:tblGrid>
                <a:gridCol w="558062">
                  <a:extLst>
                    <a:ext uri="{9D8B030D-6E8A-4147-A177-3AD203B41FA5}">
                      <a16:colId xmlns:a16="http://schemas.microsoft.com/office/drawing/2014/main" val="20000"/>
                    </a:ext>
                  </a:extLst>
                </a:gridCol>
                <a:gridCol w="558062">
                  <a:extLst>
                    <a:ext uri="{9D8B030D-6E8A-4147-A177-3AD203B41FA5}">
                      <a16:colId xmlns:a16="http://schemas.microsoft.com/office/drawing/2014/main" val="20001"/>
                    </a:ext>
                  </a:extLst>
                </a:gridCol>
                <a:gridCol w="558062">
                  <a:extLst>
                    <a:ext uri="{9D8B030D-6E8A-4147-A177-3AD203B41FA5}">
                      <a16:colId xmlns:a16="http://schemas.microsoft.com/office/drawing/2014/main" val="20002"/>
                    </a:ext>
                  </a:extLst>
                </a:gridCol>
                <a:gridCol w="558062">
                  <a:extLst>
                    <a:ext uri="{9D8B030D-6E8A-4147-A177-3AD203B41FA5}">
                      <a16:colId xmlns:a16="http://schemas.microsoft.com/office/drawing/2014/main" val="20003"/>
                    </a:ext>
                  </a:extLst>
                </a:gridCol>
              </a:tblGrid>
              <a:tr h="322904">
                <a:tc>
                  <a:txBody>
                    <a:bodyPr/>
                    <a:lstStyle/>
                    <a:p>
                      <a:pPr algn="ctr"/>
                      <a:r>
                        <a:rPr lang="en-US" sz="800" b="0" dirty="0">
                          <a:solidFill>
                            <a:schemeClr val="tx1"/>
                          </a:solidFill>
                        </a:rPr>
                        <a:t>player</a:t>
                      </a:r>
                      <a:br>
                        <a:rPr lang="en-US" sz="800" b="0" dirty="0">
                          <a:solidFill>
                            <a:schemeClr val="tx1"/>
                          </a:solidFill>
                        </a:rPr>
                      </a:br>
                      <a:r>
                        <a:rPr lang="en-US" sz="800" b="0" dirty="0">
                          <a:solidFill>
                            <a:schemeClr val="tx2"/>
                          </a:solidFill>
                        </a:rPr>
                        <a:t>1</a:t>
                      </a:r>
                      <a:r>
                        <a:rPr lang="en-US" sz="800" b="0" dirty="0">
                          <a:solidFill>
                            <a:schemeClr val="tx1"/>
                          </a:solidFill>
                        </a:rPr>
                        <a:t>             </a:t>
                      </a:r>
                      <a:r>
                        <a:rPr lang="en-US" sz="800" b="0" dirty="0">
                          <a:solidFill>
                            <a:srgbClr val="C00000"/>
                          </a:solidFill>
                        </a:rPr>
                        <a:t>2</a:t>
                      </a:r>
                    </a:p>
                  </a:txBody>
                  <a:tcPr marL="53484" marR="53484" marT="26742" marB="26742" anchor="ctr">
                    <a:lnL w="12700" cap="flat" cmpd="sng" algn="ctr">
                      <a:noFill/>
                      <a:prstDash val="solid"/>
                      <a:round/>
                      <a:headEnd type="none" w="med" len="med"/>
                      <a:tailEnd type="none" w="med" len="med"/>
                    </a:lnL>
                    <a:lnR w="635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ctr"/>
                      <a:r>
                        <a:rPr lang="en-US" sz="800" b="0" dirty="0">
                          <a:solidFill>
                            <a:srgbClr val="C00000"/>
                          </a:solidFill>
                        </a:rPr>
                        <a:t>Hawk</a:t>
                      </a:r>
                    </a:p>
                  </a:txBody>
                  <a:tcPr marL="53484" marR="53484" marT="26742" marB="26742"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ctr"/>
                      <a:r>
                        <a:rPr lang="en-US" sz="800" b="0" dirty="0">
                          <a:solidFill>
                            <a:srgbClr val="C00000"/>
                          </a:solidFill>
                        </a:rPr>
                        <a:t>Dove</a:t>
                      </a:r>
                    </a:p>
                  </a:txBody>
                  <a:tcPr marL="53484" marR="53484" marT="26742" marB="26742"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marL="0" algn="ctr" defTabSz="914400" rtl="0" eaLnBrk="1" latinLnBrk="0" hangingPunct="1"/>
                      <a:r>
                        <a:rPr lang="en-US" sz="800" b="0" kern="1200" dirty="0">
                          <a:solidFill>
                            <a:srgbClr val="C00000"/>
                          </a:solidFill>
                          <a:latin typeface="+mn-lt"/>
                          <a:ea typeface="+mn-ea"/>
                          <a:cs typeface="+mn-cs"/>
                        </a:rPr>
                        <a:t>Bourgeois</a:t>
                      </a:r>
                    </a:p>
                  </a:txBody>
                  <a:tcPr marL="53484" marR="53484" marT="26742" marB="26742"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0"/>
                  </a:ext>
                </a:extLst>
              </a:tr>
              <a:tr h="322904">
                <a:tc>
                  <a:txBody>
                    <a:bodyPr/>
                    <a:lstStyle/>
                    <a:p>
                      <a:pPr algn="ctr"/>
                      <a:r>
                        <a:rPr lang="en-US" sz="800" dirty="0">
                          <a:solidFill>
                            <a:schemeClr val="tx2"/>
                          </a:solidFill>
                        </a:rPr>
                        <a:t>Hawk</a:t>
                      </a:r>
                    </a:p>
                  </a:txBody>
                  <a:tcPr marL="53484" marR="53484" marT="26742" marB="26742"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FFFF00"/>
                    </a:solidFill>
                  </a:tcPr>
                </a:tc>
                <a:tc>
                  <a:txBody>
                    <a:bodyPr/>
                    <a:lstStyle/>
                    <a:p>
                      <a:pPr algn="ctr"/>
                      <a:r>
                        <a:rPr lang="en-US" sz="800" dirty="0"/>
                        <a:t>(</a:t>
                      </a:r>
                      <a:r>
                        <a:rPr lang="en-US" sz="800" dirty="0">
                          <a:solidFill>
                            <a:schemeClr val="tx2"/>
                          </a:solidFill>
                        </a:rPr>
                        <a:t>-2</a:t>
                      </a:r>
                      <a:r>
                        <a:rPr lang="en-US" sz="800" dirty="0"/>
                        <a:t>, </a:t>
                      </a:r>
                      <a:r>
                        <a:rPr lang="en-US" sz="800" dirty="0">
                          <a:solidFill>
                            <a:srgbClr val="C00000"/>
                          </a:solidFill>
                        </a:rPr>
                        <a:t>-2</a:t>
                      </a:r>
                      <a:r>
                        <a:rPr lang="en-US" sz="800" dirty="0"/>
                        <a:t>)</a:t>
                      </a:r>
                    </a:p>
                  </a:txBody>
                  <a:tcPr marL="53484" marR="53484" marT="26742" marB="26742"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FFFF00"/>
                    </a:solidFill>
                  </a:tcPr>
                </a:tc>
                <a:tc>
                  <a:txBody>
                    <a:bodyPr/>
                    <a:lstStyle/>
                    <a:p>
                      <a:pPr algn="ctr"/>
                      <a:r>
                        <a:rPr lang="en-US" sz="800" dirty="0"/>
                        <a:t>(</a:t>
                      </a:r>
                      <a:r>
                        <a:rPr lang="en-US" sz="800" dirty="0">
                          <a:solidFill>
                            <a:schemeClr val="tx2"/>
                          </a:solidFill>
                        </a:rPr>
                        <a:t>4</a:t>
                      </a:r>
                      <a:r>
                        <a:rPr lang="en-US" sz="800" dirty="0"/>
                        <a:t>, </a:t>
                      </a:r>
                      <a:r>
                        <a:rPr lang="en-US" sz="800" dirty="0">
                          <a:solidFill>
                            <a:srgbClr val="C00000"/>
                          </a:solidFill>
                        </a:rPr>
                        <a:t>0</a:t>
                      </a:r>
                      <a:r>
                        <a:rPr lang="en-US" sz="800" dirty="0"/>
                        <a:t>)</a:t>
                      </a:r>
                    </a:p>
                  </a:txBody>
                  <a:tcPr marL="53484" marR="53484" marT="26742" marB="26742"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FFFF00"/>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800" dirty="0"/>
                        <a:t>(</a:t>
                      </a:r>
                      <a:r>
                        <a:rPr lang="en-US" sz="800" dirty="0">
                          <a:solidFill>
                            <a:schemeClr val="tx2"/>
                          </a:solidFill>
                        </a:rPr>
                        <a:t>1</a:t>
                      </a:r>
                      <a:r>
                        <a:rPr lang="en-US" sz="800" dirty="0"/>
                        <a:t>, </a:t>
                      </a:r>
                      <a:r>
                        <a:rPr lang="en-US" sz="800" dirty="0">
                          <a:solidFill>
                            <a:srgbClr val="C00000"/>
                          </a:solidFill>
                        </a:rPr>
                        <a:t>-1</a:t>
                      </a:r>
                      <a:r>
                        <a:rPr lang="en-US" sz="800" dirty="0"/>
                        <a:t>)</a:t>
                      </a:r>
                    </a:p>
                  </a:txBody>
                  <a:tcPr marL="53484" marR="53484" marT="26742" marB="26742"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FFFF00"/>
                    </a:solidFill>
                  </a:tcPr>
                </a:tc>
                <a:extLst>
                  <a:ext uri="{0D108BD9-81ED-4DB2-BD59-A6C34878D82A}">
                    <a16:rowId xmlns:a16="http://schemas.microsoft.com/office/drawing/2014/main" val="10001"/>
                  </a:ext>
                </a:extLst>
              </a:tr>
              <a:tr h="322904">
                <a:tc>
                  <a:txBody>
                    <a:bodyPr/>
                    <a:lstStyle/>
                    <a:p>
                      <a:pPr algn="ctr"/>
                      <a:r>
                        <a:rPr lang="en-US" sz="800" dirty="0">
                          <a:solidFill>
                            <a:schemeClr val="tx2"/>
                          </a:solidFill>
                        </a:rPr>
                        <a:t>Dove</a:t>
                      </a:r>
                    </a:p>
                  </a:txBody>
                  <a:tcPr marL="53484" marR="53484" marT="26742" marB="26742"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ctr"/>
                      <a:r>
                        <a:rPr lang="en-US" sz="800" dirty="0"/>
                        <a:t>(</a:t>
                      </a:r>
                      <a:r>
                        <a:rPr lang="en-US" sz="800" dirty="0">
                          <a:solidFill>
                            <a:schemeClr val="tx2"/>
                          </a:solidFill>
                        </a:rPr>
                        <a:t>0</a:t>
                      </a:r>
                      <a:r>
                        <a:rPr lang="en-US" sz="800" dirty="0"/>
                        <a:t>,</a:t>
                      </a:r>
                      <a:r>
                        <a:rPr lang="en-US" sz="800" baseline="0" dirty="0"/>
                        <a:t> </a:t>
                      </a:r>
                      <a:r>
                        <a:rPr lang="en-US" sz="800" baseline="0" dirty="0">
                          <a:solidFill>
                            <a:srgbClr val="C00000"/>
                          </a:solidFill>
                        </a:rPr>
                        <a:t>4</a:t>
                      </a:r>
                      <a:r>
                        <a:rPr lang="en-US" sz="800" baseline="0" dirty="0"/>
                        <a:t>)</a:t>
                      </a:r>
                      <a:endParaRPr lang="en-US" sz="800" dirty="0"/>
                    </a:p>
                  </a:txBody>
                  <a:tcPr marL="53484" marR="53484" marT="26742" marB="26742"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ctr"/>
                      <a:r>
                        <a:rPr lang="en-US" sz="800" dirty="0"/>
                        <a:t>(</a:t>
                      </a:r>
                      <a:r>
                        <a:rPr lang="en-US" sz="800" dirty="0">
                          <a:solidFill>
                            <a:schemeClr val="tx2"/>
                          </a:solidFill>
                        </a:rPr>
                        <a:t>2</a:t>
                      </a:r>
                      <a:r>
                        <a:rPr lang="en-US" sz="800" dirty="0"/>
                        <a:t>, </a:t>
                      </a:r>
                      <a:r>
                        <a:rPr lang="en-US" sz="800" dirty="0">
                          <a:solidFill>
                            <a:srgbClr val="C00000"/>
                          </a:solidFill>
                        </a:rPr>
                        <a:t>2</a:t>
                      </a:r>
                      <a:r>
                        <a:rPr lang="en-US" sz="800" dirty="0"/>
                        <a:t>)</a:t>
                      </a:r>
                    </a:p>
                  </a:txBody>
                  <a:tcPr marL="53484" marR="53484" marT="26742" marB="26742"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800" dirty="0"/>
                        <a:t>(</a:t>
                      </a:r>
                      <a:r>
                        <a:rPr lang="en-US" sz="800" dirty="0">
                          <a:solidFill>
                            <a:schemeClr val="tx2"/>
                          </a:solidFill>
                        </a:rPr>
                        <a:t>1</a:t>
                      </a:r>
                      <a:r>
                        <a:rPr lang="en-US" sz="800" dirty="0"/>
                        <a:t>, </a:t>
                      </a:r>
                      <a:r>
                        <a:rPr lang="en-US" sz="800" dirty="0">
                          <a:solidFill>
                            <a:srgbClr val="C00000"/>
                          </a:solidFill>
                        </a:rPr>
                        <a:t>3</a:t>
                      </a:r>
                      <a:r>
                        <a:rPr lang="en-US" sz="800" dirty="0"/>
                        <a:t>)</a:t>
                      </a:r>
                    </a:p>
                  </a:txBody>
                  <a:tcPr marL="53484" marR="53484" marT="26742" marB="26742"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2"/>
                  </a:ext>
                </a:extLst>
              </a:tr>
              <a:tr h="322904">
                <a:tc>
                  <a:txBody>
                    <a:bodyPr/>
                    <a:lstStyle/>
                    <a:p>
                      <a:pPr marL="0" algn="ctr" defTabSz="914400" rtl="0" eaLnBrk="1" latinLnBrk="0" hangingPunct="1"/>
                      <a:r>
                        <a:rPr lang="en-US" sz="800" kern="1200" dirty="0">
                          <a:solidFill>
                            <a:schemeClr val="tx2"/>
                          </a:solidFill>
                          <a:latin typeface="+mn-lt"/>
                          <a:ea typeface="+mn-ea"/>
                          <a:cs typeface="+mn-cs"/>
                        </a:rPr>
                        <a:t>Bourgeois</a:t>
                      </a:r>
                    </a:p>
                  </a:txBody>
                  <a:tcPr marL="53484" marR="53484" marT="26742" marB="26742"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800" dirty="0"/>
                        <a:t>(</a:t>
                      </a:r>
                      <a:r>
                        <a:rPr lang="en-US" sz="800" dirty="0">
                          <a:solidFill>
                            <a:schemeClr val="tx2"/>
                          </a:solidFill>
                        </a:rPr>
                        <a:t>-1</a:t>
                      </a:r>
                      <a:r>
                        <a:rPr lang="en-US" sz="800" dirty="0"/>
                        <a:t>, </a:t>
                      </a:r>
                      <a:r>
                        <a:rPr lang="en-US" sz="800" dirty="0">
                          <a:solidFill>
                            <a:srgbClr val="C00000"/>
                          </a:solidFill>
                        </a:rPr>
                        <a:t>1</a:t>
                      </a:r>
                      <a:r>
                        <a:rPr lang="en-US" sz="800" dirty="0"/>
                        <a:t>)</a:t>
                      </a:r>
                    </a:p>
                  </a:txBody>
                  <a:tcPr marL="53484" marR="53484" marT="26742" marB="26742"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800" dirty="0"/>
                        <a:t>(</a:t>
                      </a:r>
                      <a:r>
                        <a:rPr lang="en-US" sz="800" dirty="0">
                          <a:solidFill>
                            <a:schemeClr val="tx2"/>
                          </a:solidFill>
                        </a:rPr>
                        <a:t>3</a:t>
                      </a:r>
                      <a:r>
                        <a:rPr lang="en-US" sz="800" dirty="0"/>
                        <a:t>, </a:t>
                      </a:r>
                      <a:r>
                        <a:rPr lang="en-US" sz="800" dirty="0">
                          <a:solidFill>
                            <a:srgbClr val="C00000"/>
                          </a:solidFill>
                        </a:rPr>
                        <a:t>1</a:t>
                      </a:r>
                      <a:r>
                        <a:rPr lang="en-US" sz="800" dirty="0"/>
                        <a:t>)</a:t>
                      </a:r>
                    </a:p>
                  </a:txBody>
                  <a:tcPr marL="53484" marR="53484" marT="26742" marB="26742"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800" dirty="0"/>
                        <a:t>(</a:t>
                      </a:r>
                      <a:r>
                        <a:rPr lang="en-US" sz="800" dirty="0">
                          <a:solidFill>
                            <a:schemeClr val="tx2"/>
                          </a:solidFill>
                        </a:rPr>
                        <a:t>2</a:t>
                      </a:r>
                      <a:r>
                        <a:rPr lang="en-US" sz="800" dirty="0"/>
                        <a:t>, </a:t>
                      </a:r>
                      <a:r>
                        <a:rPr lang="en-US" sz="800" dirty="0">
                          <a:solidFill>
                            <a:srgbClr val="C00000"/>
                          </a:solidFill>
                        </a:rPr>
                        <a:t>2</a:t>
                      </a:r>
                      <a:r>
                        <a:rPr lang="en-US" sz="800" dirty="0"/>
                        <a:t>)</a:t>
                      </a:r>
                    </a:p>
                  </a:txBody>
                  <a:tcPr marL="53484" marR="53484" marT="26742" marB="26742"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3"/>
                  </a:ext>
                </a:extLst>
              </a:tr>
            </a:tbl>
          </a:graphicData>
        </a:graphic>
      </p:graphicFrame>
      <p:sp>
        <p:nvSpPr>
          <p:cNvPr id="5" name="Rechteck 4"/>
          <p:cNvSpPr/>
          <p:nvPr/>
        </p:nvSpPr>
        <p:spPr>
          <a:xfrm>
            <a:off x="3131840" y="1131590"/>
            <a:ext cx="5760640" cy="3888432"/>
          </a:xfrm>
          <a:prstGeom prst="rect">
            <a:avLst/>
          </a:prstGeom>
          <a:noFill/>
          <a:ln>
            <a:solidFill>
              <a:schemeClr val="tx2">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spcAft>
                <a:spcPts val="600"/>
              </a:spcAft>
            </a:pPr>
            <a:endParaRPr lang="en-US" sz="1400" dirty="0">
              <a:solidFill>
                <a:schemeClr val="tx1"/>
              </a:solidFill>
            </a:endParaRPr>
          </a:p>
        </p:txBody>
      </p:sp>
      <p:pic>
        <p:nvPicPr>
          <p:cNvPr id="17" name="Grafik 16" descr="IguanaTex_tmp.png"/>
          <p:cNvPicPr>
            <a:picLocks noChangeAspect="1"/>
          </p:cNvPicPr>
          <p:nvPr>
            <p:custDataLst>
              <p:tags r:id="rId2"/>
            </p:custDataLst>
          </p:nvPr>
        </p:nvPicPr>
        <p:blipFill>
          <a:blip r:embed="rId4" cstate="print"/>
          <a:stretch>
            <a:fillRect/>
          </a:stretch>
        </p:blipFill>
        <p:spPr>
          <a:xfrm>
            <a:off x="3203841" y="1203549"/>
            <a:ext cx="5629496" cy="3465511"/>
          </a:xfrm>
          <a:prstGeom prst="rect">
            <a:avLst/>
          </a:prstGeom>
          <a:noFill/>
          <a:ln/>
          <a:effectLst/>
        </p:spPr>
      </p:pic>
      <p:sp>
        <p:nvSpPr>
          <p:cNvPr id="10" name="Textfeld 9"/>
          <p:cNvSpPr txBox="1"/>
          <p:nvPr/>
        </p:nvSpPr>
        <p:spPr>
          <a:xfrm>
            <a:off x="251520" y="2715766"/>
            <a:ext cx="2187778" cy="800219"/>
          </a:xfrm>
          <a:prstGeom prst="rect">
            <a:avLst/>
          </a:prstGeom>
          <a:noFill/>
        </p:spPr>
        <p:txBody>
          <a:bodyPr wrap="none" rtlCol="0">
            <a:spAutoFit/>
          </a:bodyPr>
          <a:lstStyle/>
          <a:p>
            <a:pPr>
              <a:spcAft>
                <a:spcPts val="600"/>
              </a:spcAft>
              <a:tabLst>
                <a:tab pos="1162050" algn="l"/>
              </a:tabLst>
            </a:pPr>
            <a:r>
              <a:rPr lang="en-US" sz="1200" dirty="0"/>
              <a:t>‘hawk’ frequency:	p</a:t>
            </a:r>
          </a:p>
          <a:p>
            <a:pPr>
              <a:spcAft>
                <a:spcPts val="600"/>
              </a:spcAft>
              <a:tabLst>
                <a:tab pos="1162050" algn="l"/>
              </a:tabLst>
            </a:pPr>
            <a:r>
              <a:rPr lang="en-US" sz="1200" dirty="0"/>
              <a:t>‘dove’ frequency:	q</a:t>
            </a:r>
          </a:p>
          <a:p>
            <a:pPr>
              <a:spcAft>
                <a:spcPts val="600"/>
              </a:spcAft>
            </a:pPr>
            <a:r>
              <a:rPr lang="en-US" sz="1200" dirty="0"/>
              <a:t>‘bourgeois’ frequency: 1 – p – q </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en-US" dirty="0"/>
              <a:t>Proof:</a:t>
            </a:r>
            <a:br>
              <a:rPr lang="en-US" dirty="0"/>
            </a:br>
            <a:r>
              <a:rPr lang="en-US" dirty="0"/>
              <a:t>2) average fitness and discrete replicator equations</a:t>
            </a:r>
          </a:p>
        </p:txBody>
      </p:sp>
      <p:sp>
        <p:nvSpPr>
          <p:cNvPr id="3" name="Rechteck 2"/>
          <p:cNvSpPr/>
          <p:nvPr/>
        </p:nvSpPr>
        <p:spPr>
          <a:xfrm>
            <a:off x="1691680" y="1131590"/>
            <a:ext cx="7200800" cy="3888432"/>
          </a:xfrm>
          <a:prstGeom prst="rect">
            <a:avLst/>
          </a:prstGeom>
          <a:noFill/>
          <a:ln>
            <a:solidFill>
              <a:schemeClr val="tx2">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spcAft>
                <a:spcPts val="600"/>
              </a:spcAft>
            </a:pPr>
            <a:endParaRPr lang="en-US" sz="1400" dirty="0">
              <a:solidFill>
                <a:schemeClr val="tx1"/>
              </a:solidFill>
            </a:endParaRPr>
          </a:p>
        </p:txBody>
      </p:sp>
      <p:pic>
        <p:nvPicPr>
          <p:cNvPr id="5" name="Grafik 4" descr="IguanaTex_tmp.png"/>
          <p:cNvPicPr>
            <a:picLocks noChangeAspect="1"/>
          </p:cNvPicPr>
          <p:nvPr>
            <p:custDataLst>
              <p:tags r:id="rId1"/>
            </p:custDataLst>
          </p:nvPr>
        </p:nvPicPr>
        <p:blipFill>
          <a:blip r:embed="rId3" cstate="print"/>
          <a:stretch>
            <a:fillRect/>
          </a:stretch>
        </p:blipFill>
        <p:spPr>
          <a:xfrm>
            <a:off x="1763690" y="1203548"/>
            <a:ext cx="6593946" cy="3152466"/>
          </a:xfrm>
          <a:prstGeom prst="rect">
            <a:avLst/>
          </a:prstGeom>
          <a:noFill/>
          <a:ln/>
          <a:effectLst/>
        </p:spPr>
      </p:pic>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en-US" dirty="0"/>
              <a:t>Proof:</a:t>
            </a:r>
            <a:br>
              <a:rPr lang="en-US" dirty="0"/>
            </a:br>
            <a:r>
              <a:rPr lang="en-US" dirty="0"/>
              <a:t>3) stationary states and their conditions (1/ 2)</a:t>
            </a:r>
          </a:p>
        </p:txBody>
      </p:sp>
      <p:sp>
        <p:nvSpPr>
          <p:cNvPr id="3" name="Rechteck 2"/>
          <p:cNvSpPr/>
          <p:nvPr/>
        </p:nvSpPr>
        <p:spPr>
          <a:xfrm>
            <a:off x="1691680" y="1131590"/>
            <a:ext cx="7200800" cy="3888432"/>
          </a:xfrm>
          <a:prstGeom prst="rect">
            <a:avLst/>
          </a:prstGeom>
          <a:noFill/>
          <a:ln>
            <a:solidFill>
              <a:schemeClr val="tx2">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spcAft>
                <a:spcPts val="600"/>
              </a:spcAft>
            </a:pPr>
            <a:endParaRPr lang="en-US" sz="1400" dirty="0">
              <a:solidFill>
                <a:schemeClr val="tx1"/>
              </a:solidFill>
            </a:endParaRPr>
          </a:p>
        </p:txBody>
      </p:sp>
      <p:pic>
        <p:nvPicPr>
          <p:cNvPr id="6" name="Grafik 5" descr="IguanaTex_tmp.png"/>
          <p:cNvPicPr>
            <a:picLocks noChangeAspect="1"/>
          </p:cNvPicPr>
          <p:nvPr>
            <p:custDataLst>
              <p:tags r:id="rId1"/>
            </p:custDataLst>
          </p:nvPr>
        </p:nvPicPr>
        <p:blipFill>
          <a:blip r:embed="rId3" cstate="print"/>
          <a:stretch>
            <a:fillRect/>
          </a:stretch>
        </p:blipFill>
        <p:spPr>
          <a:xfrm>
            <a:off x="1763691" y="1203548"/>
            <a:ext cx="7083905" cy="3623137"/>
          </a:xfrm>
          <a:prstGeom prst="rect">
            <a:avLst/>
          </a:prstGeom>
          <a:noFill/>
          <a:ln/>
          <a:effectLst/>
        </p:spPr>
      </p:pic>
      <p:sp>
        <p:nvSpPr>
          <p:cNvPr id="10" name="Rechteck 9"/>
          <p:cNvSpPr/>
          <p:nvPr/>
        </p:nvSpPr>
        <p:spPr>
          <a:xfrm>
            <a:off x="2411760" y="2715766"/>
            <a:ext cx="5760640" cy="504056"/>
          </a:xfrm>
          <a:prstGeom prst="rect">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en-US" dirty="0"/>
              <a:t>Proof:</a:t>
            </a:r>
            <a:br>
              <a:rPr lang="en-US" dirty="0"/>
            </a:br>
            <a:r>
              <a:rPr lang="en-US" dirty="0"/>
              <a:t>3) stationary states and their conditions (2/ 2)</a:t>
            </a:r>
          </a:p>
        </p:txBody>
      </p:sp>
      <p:sp>
        <p:nvSpPr>
          <p:cNvPr id="3" name="Rechteck 2"/>
          <p:cNvSpPr/>
          <p:nvPr/>
        </p:nvSpPr>
        <p:spPr>
          <a:xfrm>
            <a:off x="1691680" y="1131590"/>
            <a:ext cx="7200800" cy="3888432"/>
          </a:xfrm>
          <a:prstGeom prst="rect">
            <a:avLst/>
          </a:prstGeom>
          <a:noFill/>
          <a:ln>
            <a:solidFill>
              <a:schemeClr val="tx2">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spcAft>
                <a:spcPts val="600"/>
              </a:spcAft>
            </a:pPr>
            <a:endParaRPr lang="en-US" sz="1400" dirty="0">
              <a:solidFill>
                <a:schemeClr val="tx1"/>
              </a:solidFill>
            </a:endParaRPr>
          </a:p>
        </p:txBody>
      </p:sp>
      <p:pic>
        <p:nvPicPr>
          <p:cNvPr id="49" name="Grafik 48" descr="IguanaTex_tmp.png"/>
          <p:cNvPicPr>
            <a:picLocks noChangeAspect="1"/>
          </p:cNvPicPr>
          <p:nvPr>
            <p:custDataLst>
              <p:tags r:id="rId1"/>
            </p:custDataLst>
          </p:nvPr>
        </p:nvPicPr>
        <p:blipFill>
          <a:blip r:embed="rId3" cstate="print"/>
          <a:stretch>
            <a:fillRect/>
          </a:stretch>
        </p:blipFill>
        <p:spPr>
          <a:xfrm>
            <a:off x="1763690" y="1203548"/>
            <a:ext cx="7071864" cy="3381897"/>
          </a:xfrm>
          <a:prstGeom prst="rect">
            <a:avLst/>
          </a:prstGeom>
          <a:noFill/>
          <a:ln/>
          <a:effectLst/>
        </p:spPr>
      </p:pic>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en-US" dirty="0"/>
              <a:t>Proof:</a:t>
            </a:r>
            <a:br>
              <a:rPr lang="en-US" dirty="0"/>
            </a:br>
            <a:r>
              <a:rPr lang="en-US" dirty="0"/>
              <a:t>4) geometric illustration of the dynamics within the strategy simplex</a:t>
            </a:r>
          </a:p>
        </p:txBody>
      </p:sp>
      <p:sp>
        <p:nvSpPr>
          <p:cNvPr id="3" name="Rechteck 2"/>
          <p:cNvSpPr/>
          <p:nvPr/>
        </p:nvSpPr>
        <p:spPr>
          <a:xfrm>
            <a:off x="3419872" y="1131590"/>
            <a:ext cx="5472608" cy="3888432"/>
          </a:xfrm>
          <a:prstGeom prst="rect">
            <a:avLst/>
          </a:prstGeom>
          <a:noFill/>
          <a:ln>
            <a:solidFill>
              <a:schemeClr val="tx2">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3" name="Grafik 32" descr="IguanaTex_tmp.png"/>
          <p:cNvPicPr>
            <a:picLocks noChangeAspect="1"/>
          </p:cNvPicPr>
          <p:nvPr>
            <p:custDataLst>
              <p:tags r:id="rId1"/>
            </p:custDataLst>
          </p:nvPr>
        </p:nvPicPr>
        <p:blipFill>
          <a:blip r:embed="rId3" cstate="print"/>
          <a:stretch>
            <a:fillRect/>
          </a:stretch>
        </p:blipFill>
        <p:spPr>
          <a:xfrm>
            <a:off x="3491872" y="1203578"/>
            <a:ext cx="5298607" cy="3259455"/>
          </a:xfrm>
          <a:prstGeom prst="rect">
            <a:avLst/>
          </a:prstGeom>
          <a:noFill/>
          <a:ln/>
          <a:effectLst/>
        </p:spPr>
      </p:pic>
      <p:cxnSp>
        <p:nvCxnSpPr>
          <p:cNvPr id="5" name="Gerade Verbindung mit Pfeil 4"/>
          <p:cNvCxnSpPr/>
          <p:nvPr/>
        </p:nvCxnSpPr>
        <p:spPr>
          <a:xfrm flipV="1">
            <a:off x="539552" y="1131590"/>
            <a:ext cx="0" cy="1440160"/>
          </a:xfrm>
          <a:prstGeom prst="straightConnector1">
            <a:avLst/>
          </a:prstGeom>
          <a:noFill/>
          <a:ln>
            <a:solidFill>
              <a:schemeClr val="tx1"/>
            </a:solidFill>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cxnSp>
      <p:cxnSp>
        <p:nvCxnSpPr>
          <p:cNvPr id="6" name="Gerade Verbindung mit Pfeil 5"/>
          <p:cNvCxnSpPr/>
          <p:nvPr/>
        </p:nvCxnSpPr>
        <p:spPr>
          <a:xfrm>
            <a:off x="467544" y="2355726"/>
            <a:ext cx="936104" cy="576064"/>
          </a:xfrm>
          <a:prstGeom prst="straightConnector1">
            <a:avLst/>
          </a:prstGeom>
          <a:noFill/>
          <a:ln>
            <a:solidFill>
              <a:schemeClr val="tx1"/>
            </a:solidFill>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cxnSp>
      <p:cxnSp>
        <p:nvCxnSpPr>
          <p:cNvPr id="7" name="Gerade Verbindung mit Pfeil 6"/>
          <p:cNvCxnSpPr/>
          <p:nvPr/>
        </p:nvCxnSpPr>
        <p:spPr>
          <a:xfrm rot="16200000">
            <a:off x="539552" y="1635646"/>
            <a:ext cx="792088" cy="936104"/>
          </a:xfrm>
          <a:prstGeom prst="straightConnector1">
            <a:avLst/>
          </a:prstGeom>
          <a:noFill/>
          <a:ln>
            <a:solidFill>
              <a:schemeClr val="tx1"/>
            </a:solidFill>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cxnSp>
      <p:sp>
        <p:nvSpPr>
          <p:cNvPr id="8" name="Freihandform 7"/>
          <p:cNvSpPr/>
          <p:nvPr/>
        </p:nvSpPr>
        <p:spPr>
          <a:xfrm>
            <a:off x="539552" y="1491630"/>
            <a:ext cx="628620" cy="1224136"/>
          </a:xfrm>
          <a:custGeom>
            <a:avLst/>
            <a:gdLst>
              <a:gd name="connsiteX0" fmla="*/ 624840 w 624840"/>
              <a:gd name="connsiteY0" fmla="*/ 175260 h 914400"/>
              <a:gd name="connsiteX1" fmla="*/ 419100 w 624840"/>
              <a:gd name="connsiteY1" fmla="*/ 914400 h 914400"/>
              <a:gd name="connsiteX2" fmla="*/ 0 w 624840"/>
              <a:gd name="connsiteY2" fmla="*/ 0 h 914400"/>
              <a:gd name="connsiteX3" fmla="*/ 624840 w 624840"/>
              <a:gd name="connsiteY3" fmla="*/ 175260 h 914400"/>
              <a:gd name="connsiteX0" fmla="*/ 628620 w 628620"/>
              <a:gd name="connsiteY0" fmla="*/ 421010 h 1160150"/>
              <a:gd name="connsiteX1" fmla="*/ 422880 w 628620"/>
              <a:gd name="connsiteY1" fmla="*/ 1160150 h 1160150"/>
              <a:gd name="connsiteX2" fmla="*/ 0 w 628620"/>
              <a:gd name="connsiteY2" fmla="*/ 0 h 1160150"/>
              <a:gd name="connsiteX3" fmla="*/ 628620 w 628620"/>
              <a:gd name="connsiteY3" fmla="*/ 421010 h 1160150"/>
              <a:gd name="connsiteX0" fmla="*/ 628620 w 628620"/>
              <a:gd name="connsiteY0" fmla="*/ 421010 h 1224136"/>
              <a:gd name="connsiteX1" fmla="*/ 432048 w 628620"/>
              <a:gd name="connsiteY1" fmla="*/ 1224136 h 1224136"/>
              <a:gd name="connsiteX2" fmla="*/ 0 w 628620"/>
              <a:gd name="connsiteY2" fmla="*/ 0 h 1224136"/>
              <a:gd name="connsiteX3" fmla="*/ 628620 w 628620"/>
              <a:gd name="connsiteY3" fmla="*/ 421010 h 1224136"/>
              <a:gd name="connsiteX0" fmla="*/ 628620 w 628620"/>
              <a:gd name="connsiteY0" fmla="*/ 421010 h 1224136"/>
              <a:gd name="connsiteX1" fmla="*/ 504056 w 628620"/>
              <a:gd name="connsiteY1" fmla="*/ 1224136 h 1224136"/>
              <a:gd name="connsiteX2" fmla="*/ 0 w 628620"/>
              <a:gd name="connsiteY2" fmla="*/ 0 h 1224136"/>
              <a:gd name="connsiteX3" fmla="*/ 628620 w 628620"/>
              <a:gd name="connsiteY3" fmla="*/ 421010 h 1224136"/>
            </a:gdLst>
            <a:ahLst/>
            <a:cxnLst>
              <a:cxn ang="0">
                <a:pos x="connsiteX0" y="connsiteY0"/>
              </a:cxn>
              <a:cxn ang="0">
                <a:pos x="connsiteX1" y="connsiteY1"/>
              </a:cxn>
              <a:cxn ang="0">
                <a:pos x="connsiteX2" y="connsiteY2"/>
              </a:cxn>
              <a:cxn ang="0">
                <a:pos x="connsiteX3" y="connsiteY3"/>
              </a:cxn>
            </a:cxnLst>
            <a:rect l="l" t="t" r="r" b="b"/>
            <a:pathLst>
              <a:path w="628620" h="1224136">
                <a:moveTo>
                  <a:pt x="628620" y="421010"/>
                </a:moveTo>
                <a:lnTo>
                  <a:pt x="504056" y="1224136"/>
                </a:lnTo>
                <a:lnTo>
                  <a:pt x="0" y="0"/>
                </a:lnTo>
                <a:lnTo>
                  <a:pt x="628620" y="421010"/>
                </a:lnTo>
                <a:close/>
              </a:path>
            </a:pathLst>
          </a:custGeom>
          <a:solidFill>
            <a:schemeClr val="bg1">
              <a:lumMod val="85000"/>
            </a:schemeClr>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feld 9"/>
          <p:cNvSpPr txBox="1"/>
          <p:nvPr/>
        </p:nvSpPr>
        <p:spPr>
          <a:xfrm>
            <a:off x="251520" y="1131590"/>
            <a:ext cx="245580" cy="307777"/>
          </a:xfrm>
          <a:prstGeom prst="rect">
            <a:avLst/>
          </a:prstGeom>
          <a:noFill/>
        </p:spPr>
        <p:txBody>
          <a:bodyPr wrap="square" rtlCol="0">
            <a:spAutoFit/>
          </a:bodyPr>
          <a:lstStyle/>
          <a:p>
            <a:r>
              <a:rPr lang="en-US" sz="1400" i="1" dirty="0"/>
              <a:t>r</a:t>
            </a:r>
          </a:p>
        </p:txBody>
      </p:sp>
      <p:sp>
        <p:nvSpPr>
          <p:cNvPr id="11" name="Textfeld 10"/>
          <p:cNvSpPr txBox="1"/>
          <p:nvPr/>
        </p:nvSpPr>
        <p:spPr>
          <a:xfrm>
            <a:off x="1043608" y="2859782"/>
            <a:ext cx="277640" cy="307777"/>
          </a:xfrm>
          <a:prstGeom prst="rect">
            <a:avLst/>
          </a:prstGeom>
          <a:noFill/>
        </p:spPr>
        <p:txBody>
          <a:bodyPr wrap="none" rtlCol="0">
            <a:spAutoFit/>
          </a:bodyPr>
          <a:lstStyle/>
          <a:p>
            <a:r>
              <a:rPr lang="en-US" sz="1400" i="1" dirty="0"/>
              <a:t>q</a:t>
            </a:r>
          </a:p>
        </p:txBody>
      </p:sp>
      <p:sp>
        <p:nvSpPr>
          <p:cNvPr id="12" name="Textfeld 11"/>
          <p:cNvSpPr txBox="1"/>
          <p:nvPr/>
        </p:nvSpPr>
        <p:spPr>
          <a:xfrm>
            <a:off x="1331640" y="1707654"/>
            <a:ext cx="277640" cy="307777"/>
          </a:xfrm>
          <a:prstGeom prst="rect">
            <a:avLst/>
          </a:prstGeom>
          <a:noFill/>
        </p:spPr>
        <p:txBody>
          <a:bodyPr wrap="none" rtlCol="0">
            <a:spAutoFit/>
          </a:bodyPr>
          <a:lstStyle/>
          <a:p>
            <a:r>
              <a:rPr lang="en-US" sz="1400" i="1" dirty="0"/>
              <a:t>p</a:t>
            </a:r>
          </a:p>
        </p:txBody>
      </p:sp>
      <p:sp>
        <p:nvSpPr>
          <p:cNvPr id="13" name="Textfeld 12"/>
          <p:cNvSpPr txBox="1"/>
          <p:nvPr/>
        </p:nvSpPr>
        <p:spPr>
          <a:xfrm>
            <a:off x="539552" y="1203598"/>
            <a:ext cx="282450" cy="307777"/>
          </a:xfrm>
          <a:prstGeom prst="rect">
            <a:avLst/>
          </a:prstGeom>
          <a:noFill/>
        </p:spPr>
        <p:txBody>
          <a:bodyPr wrap="none" rtlCol="0">
            <a:spAutoFit/>
          </a:bodyPr>
          <a:lstStyle/>
          <a:p>
            <a:r>
              <a:rPr lang="en-US" sz="1400" dirty="0"/>
              <a:t>B</a:t>
            </a:r>
          </a:p>
        </p:txBody>
      </p:sp>
      <p:sp>
        <p:nvSpPr>
          <p:cNvPr id="14" name="Textfeld 13"/>
          <p:cNvSpPr txBox="1"/>
          <p:nvPr/>
        </p:nvSpPr>
        <p:spPr>
          <a:xfrm>
            <a:off x="971600" y="1491630"/>
            <a:ext cx="296876" cy="307777"/>
          </a:xfrm>
          <a:prstGeom prst="rect">
            <a:avLst/>
          </a:prstGeom>
          <a:noFill/>
        </p:spPr>
        <p:txBody>
          <a:bodyPr wrap="none" rtlCol="0">
            <a:spAutoFit/>
          </a:bodyPr>
          <a:lstStyle/>
          <a:p>
            <a:r>
              <a:rPr lang="en-US" sz="1400" dirty="0"/>
              <a:t>H</a:t>
            </a:r>
          </a:p>
        </p:txBody>
      </p:sp>
      <p:sp>
        <p:nvSpPr>
          <p:cNvPr id="15" name="Textfeld 14"/>
          <p:cNvSpPr txBox="1"/>
          <p:nvPr/>
        </p:nvSpPr>
        <p:spPr>
          <a:xfrm>
            <a:off x="755576" y="2643758"/>
            <a:ext cx="296876" cy="307777"/>
          </a:xfrm>
          <a:prstGeom prst="rect">
            <a:avLst/>
          </a:prstGeom>
          <a:noFill/>
        </p:spPr>
        <p:txBody>
          <a:bodyPr wrap="none" rtlCol="0">
            <a:spAutoFit/>
          </a:bodyPr>
          <a:lstStyle/>
          <a:p>
            <a:r>
              <a:rPr lang="en-US" sz="1400" dirty="0"/>
              <a:t>D</a:t>
            </a:r>
          </a:p>
        </p:txBody>
      </p:sp>
      <p:sp>
        <p:nvSpPr>
          <p:cNvPr id="16" name="Ellipse 15"/>
          <p:cNvSpPr/>
          <p:nvPr/>
        </p:nvSpPr>
        <p:spPr>
          <a:xfrm>
            <a:off x="1138334" y="1862785"/>
            <a:ext cx="72008" cy="72008"/>
          </a:xfrm>
          <a:prstGeom prst="ellipse">
            <a:avLst/>
          </a:prstGeom>
          <a:solidFill>
            <a:schemeClr val="bg1"/>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Ellipse 16"/>
          <p:cNvSpPr/>
          <p:nvPr/>
        </p:nvSpPr>
        <p:spPr>
          <a:xfrm>
            <a:off x="1082961" y="2244365"/>
            <a:ext cx="72008" cy="72008"/>
          </a:xfrm>
          <a:prstGeom prst="ellipse">
            <a:avLst/>
          </a:prstGeom>
          <a:solidFill>
            <a:srgbClr val="C0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Ellipse 17"/>
          <p:cNvSpPr/>
          <p:nvPr/>
        </p:nvSpPr>
        <p:spPr>
          <a:xfrm>
            <a:off x="1005163" y="2671651"/>
            <a:ext cx="72008" cy="72008"/>
          </a:xfrm>
          <a:prstGeom prst="ellipse">
            <a:avLst/>
          </a:prstGeom>
          <a:solidFill>
            <a:schemeClr val="bg1"/>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Ellipse 18"/>
          <p:cNvSpPr/>
          <p:nvPr/>
        </p:nvSpPr>
        <p:spPr>
          <a:xfrm>
            <a:off x="504096" y="1458658"/>
            <a:ext cx="72008" cy="72008"/>
          </a:xfrm>
          <a:prstGeom prst="ellipse">
            <a:avLst/>
          </a:prstGeom>
          <a:solidFill>
            <a:srgbClr val="C0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Gleichschenkliges Dreieck 19"/>
          <p:cNvSpPr/>
          <p:nvPr/>
        </p:nvSpPr>
        <p:spPr>
          <a:xfrm>
            <a:off x="1395279" y="3435846"/>
            <a:ext cx="1440160" cy="1241517"/>
          </a:xfrm>
          <a:prstGeom prst="triangle">
            <a:avLst/>
          </a:prstGeom>
          <a:solidFill>
            <a:schemeClr val="bg1">
              <a:lumMod val="85000"/>
            </a:schemeClr>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Ellipse 21"/>
          <p:cNvSpPr/>
          <p:nvPr/>
        </p:nvSpPr>
        <p:spPr>
          <a:xfrm>
            <a:off x="2784363" y="4630610"/>
            <a:ext cx="72008" cy="72008"/>
          </a:xfrm>
          <a:prstGeom prst="ellipse">
            <a:avLst/>
          </a:prstGeom>
          <a:solidFill>
            <a:schemeClr val="bg1"/>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Ellipse 22"/>
          <p:cNvSpPr/>
          <p:nvPr/>
        </p:nvSpPr>
        <p:spPr>
          <a:xfrm>
            <a:off x="2080511" y="4637142"/>
            <a:ext cx="72008" cy="72008"/>
          </a:xfrm>
          <a:prstGeom prst="ellipse">
            <a:avLst/>
          </a:prstGeom>
          <a:solidFill>
            <a:srgbClr val="C0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Ellipse 23"/>
          <p:cNvSpPr/>
          <p:nvPr/>
        </p:nvSpPr>
        <p:spPr>
          <a:xfrm>
            <a:off x="1368991" y="4630611"/>
            <a:ext cx="72008" cy="72008"/>
          </a:xfrm>
          <a:prstGeom prst="ellipse">
            <a:avLst/>
          </a:prstGeom>
          <a:solidFill>
            <a:schemeClr val="bg1"/>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Ellipse 24"/>
          <p:cNvSpPr/>
          <p:nvPr/>
        </p:nvSpPr>
        <p:spPr>
          <a:xfrm>
            <a:off x="2080511" y="3416262"/>
            <a:ext cx="72008" cy="72008"/>
          </a:xfrm>
          <a:prstGeom prst="ellipse">
            <a:avLst/>
          </a:prstGeom>
          <a:solidFill>
            <a:srgbClr val="C0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Textfeld 25"/>
          <p:cNvSpPr txBox="1"/>
          <p:nvPr/>
        </p:nvSpPr>
        <p:spPr>
          <a:xfrm>
            <a:off x="1654809" y="3147814"/>
            <a:ext cx="925253" cy="307777"/>
          </a:xfrm>
          <a:prstGeom prst="rect">
            <a:avLst/>
          </a:prstGeom>
          <a:noFill/>
        </p:spPr>
        <p:txBody>
          <a:bodyPr wrap="none" rtlCol="0">
            <a:spAutoFit/>
          </a:bodyPr>
          <a:lstStyle/>
          <a:p>
            <a:r>
              <a:rPr lang="en-US" sz="1400" dirty="0"/>
              <a:t>B = (0,0,1)</a:t>
            </a:r>
          </a:p>
        </p:txBody>
      </p:sp>
      <p:sp>
        <p:nvSpPr>
          <p:cNvPr id="27" name="Textfeld 26"/>
          <p:cNvSpPr txBox="1"/>
          <p:nvPr/>
        </p:nvSpPr>
        <p:spPr>
          <a:xfrm>
            <a:off x="2344445" y="4515966"/>
            <a:ext cx="787395" cy="523220"/>
          </a:xfrm>
          <a:prstGeom prst="rect">
            <a:avLst/>
          </a:prstGeom>
          <a:noFill/>
        </p:spPr>
        <p:txBody>
          <a:bodyPr wrap="none" rtlCol="0">
            <a:spAutoFit/>
          </a:bodyPr>
          <a:lstStyle/>
          <a:p>
            <a:pPr algn="r"/>
            <a:r>
              <a:rPr lang="en-US" sz="1400" dirty="0"/>
              <a:t>H</a:t>
            </a:r>
          </a:p>
          <a:p>
            <a:pPr algn="r"/>
            <a:r>
              <a:rPr lang="en-US" sz="1400" dirty="0"/>
              <a:t>= (1,0,0)</a:t>
            </a:r>
          </a:p>
        </p:txBody>
      </p:sp>
      <p:sp>
        <p:nvSpPr>
          <p:cNvPr id="28" name="Textfeld 27"/>
          <p:cNvSpPr txBox="1"/>
          <p:nvPr/>
        </p:nvSpPr>
        <p:spPr>
          <a:xfrm>
            <a:off x="1107247" y="4515966"/>
            <a:ext cx="787395" cy="523220"/>
          </a:xfrm>
          <a:prstGeom prst="rect">
            <a:avLst/>
          </a:prstGeom>
          <a:noFill/>
        </p:spPr>
        <p:txBody>
          <a:bodyPr wrap="none" rtlCol="0">
            <a:spAutoFit/>
          </a:bodyPr>
          <a:lstStyle/>
          <a:p>
            <a:r>
              <a:rPr lang="en-US" sz="1400" dirty="0"/>
              <a:t>D</a:t>
            </a:r>
          </a:p>
          <a:p>
            <a:r>
              <a:rPr lang="en-US" sz="1400" dirty="0"/>
              <a:t>= (0,1,0)</a:t>
            </a:r>
          </a:p>
        </p:txBody>
      </p:sp>
      <p:sp>
        <p:nvSpPr>
          <p:cNvPr id="30" name="Freeform 37"/>
          <p:cNvSpPr>
            <a:spLocks/>
          </p:cNvSpPr>
          <p:nvPr/>
        </p:nvSpPr>
        <p:spPr bwMode="auto">
          <a:xfrm rot="19622357">
            <a:off x="1477912" y="2202248"/>
            <a:ext cx="512130" cy="953913"/>
          </a:xfrm>
          <a:custGeom>
            <a:avLst/>
            <a:gdLst/>
            <a:ahLst/>
            <a:cxnLst>
              <a:cxn ang="0">
                <a:pos x="75" y="36"/>
              </a:cxn>
              <a:cxn ang="0">
                <a:pos x="174" y="87"/>
              </a:cxn>
              <a:cxn ang="0">
                <a:pos x="285" y="162"/>
              </a:cxn>
              <a:cxn ang="0">
                <a:pos x="417" y="282"/>
              </a:cxn>
              <a:cxn ang="0">
                <a:pos x="513" y="405"/>
              </a:cxn>
              <a:cxn ang="0">
                <a:pos x="591" y="528"/>
              </a:cxn>
              <a:cxn ang="0">
                <a:pos x="657" y="666"/>
              </a:cxn>
              <a:cxn ang="0">
                <a:pos x="717" y="813"/>
              </a:cxn>
              <a:cxn ang="0">
                <a:pos x="762" y="969"/>
              </a:cxn>
              <a:cxn ang="0">
                <a:pos x="792" y="1149"/>
              </a:cxn>
              <a:cxn ang="0">
                <a:pos x="813" y="1332"/>
              </a:cxn>
              <a:cxn ang="0">
                <a:pos x="813" y="1479"/>
              </a:cxn>
              <a:cxn ang="0">
                <a:pos x="804" y="1635"/>
              </a:cxn>
              <a:cxn ang="0">
                <a:pos x="780" y="1785"/>
              </a:cxn>
              <a:cxn ang="0">
                <a:pos x="591" y="1830"/>
              </a:cxn>
              <a:cxn ang="0">
                <a:pos x="1149" y="1971"/>
              </a:cxn>
              <a:cxn ang="0">
                <a:pos x="1008" y="1869"/>
              </a:cxn>
              <a:cxn ang="0">
                <a:pos x="1038" y="1716"/>
              </a:cxn>
              <a:cxn ang="0">
                <a:pos x="1050" y="1566"/>
              </a:cxn>
              <a:cxn ang="0">
                <a:pos x="1053" y="1395"/>
              </a:cxn>
              <a:cxn ang="0">
                <a:pos x="1035" y="1206"/>
              </a:cxn>
              <a:cxn ang="0">
                <a:pos x="1005" y="1050"/>
              </a:cxn>
              <a:cxn ang="0">
                <a:pos x="963" y="900"/>
              </a:cxn>
              <a:cxn ang="0">
                <a:pos x="912" y="762"/>
              </a:cxn>
              <a:cxn ang="0">
                <a:pos x="837" y="603"/>
              </a:cxn>
              <a:cxn ang="0">
                <a:pos x="750" y="462"/>
              </a:cxn>
              <a:cxn ang="0">
                <a:pos x="669" y="363"/>
              </a:cxn>
              <a:cxn ang="0">
                <a:pos x="558" y="249"/>
              </a:cxn>
              <a:cxn ang="0">
                <a:pos x="433" y="157"/>
              </a:cxn>
              <a:cxn ang="0">
                <a:pos x="297" y="81"/>
              </a:cxn>
              <a:cxn ang="0">
                <a:pos x="153" y="24"/>
              </a:cxn>
              <a:cxn ang="0">
                <a:pos x="0" y="0"/>
              </a:cxn>
            </a:cxnLst>
            <a:rect l="0" t="0" r="r" b="b"/>
            <a:pathLst>
              <a:path w="1149" h="2226">
                <a:moveTo>
                  <a:pt x="6" y="6"/>
                </a:moveTo>
                <a:lnTo>
                  <a:pt x="75" y="36"/>
                </a:lnTo>
                <a:lnTo>
                  <a:pt x="129" y="60"/>
                </a:lnTo>
                <a:lnTo>
                  <a:pt x="174" y="87"/>
                </a:lnTo>
                <a:lnTo>
                  <a:pt x="228" y="120"/>
                </a:lnTo>
                <a:lnTo>
                  <a:pt x="285" y="162"/>
                </a:lnTo>
                <a:lnTo>
                  <a:pt x="342" y="210"/>
                </a:lnTo>
                <a:lnTo>
                  <a:pt x="417" y="282"/>
                </a:lnTo>
                <a:lnTo>
                  <a:pt x="465" y="345"/>
                </a:lnTo>
                <a:lnTo>
                  <a:pt x="513" y="405"/>
                </a:lnTo>
                <a:lnTo>
                  <a:pt x="549" y="462"/>
                </a:lnTo>
                <a:lnTo>
                  <a:pt x="591" y="528"/>
                </a:lnTo>
                <a:lnTo>
                  <a:pt x="627" y="603"/>
                </a:lnTo>
                <a:lnTo>
                  <a:pt x="657" y="666"/>
                </a:lnTo>
                <a:lnTo>
                  <a:pt x="684" y="723"/>
                </a:lnTo>
                <a:lnTo>
                  <a:pt x="717" y="813"/>
                </a:lnTo>
                <a:lnTo>
                  <a:pt x="738" y="894"/>
                </a:lnTo>
                <a:lnTo>
                  <a:pt x="762" y="969"/>
                </a:lnTo>
                <a:lnTo>
                  <a:pt x="777" y="1056"/>
                </a:lnTo>
                <a:lnTo>
                  <a:pt x="792" y="1149"/>
                </a:lnTo>
                <a:lnTo>
                  <a:pt x="807" y="1239"/>
                </a:lnTo>
                <a:lnTo>
                  <a:pt x="813" y="1332"/>
                </a:lnTo>
                <a:lnTo>
                  <a:pt x="813" y="1410"/>
                </a:lnTo>
                <a:lnTo>
                  <a:pt x="813" y="1479"/>
                </a:lnTo>
                <a:lnTo>
                  <a:pt x="810" y="1560"/>
                </a:lnTo>
                <a:lnTo>
                  <a:pt x="804" y="1635"/>
                </a:lnTo>
                <a:lnTo>
                  <a:pt x="792" y="1710"/>
                </a:lnTo>
                <a:lnTo>
                  <a:pt x="780" y="1785"/>
                </a:lnTo>
                <a:lnTo>
                  <a:pt x="762" y="1869"/>
                </a:lnTo>
                <a:lnTo>
                  <a:pt x="591" y="1830"/>
                </a:lnTo>
                <a:lnTo>
                  <a:pt x="786" y="2226"/>
                </a:lnTo>
                <a:lnTo>
                  <a:pt x="1149" y="1971"/>
                </a:lnTo>
                <a:lnTo>
                  <a:pt x="990" y="1932"/>
                </a:lnTo>
                <a:lnTo>
                  <a:pt x="1008" y="1869"/>
                </a:lnTo>
                <a:lnTo>
                  <a:pt x="1023" y="1797"/>
                </a:lnTo>
                <a:lnTo>
                  <a:pt x="1038" y="1716"/>
                </a:lnTo>
                <a:lnTo>
                  <a:pt x="1047" y="1644"/>
                </a:lnTo>
                <a:lnTo>
                  <a:pt x="1050" y="1566"/>
                </a:lnTo>
                <a:lnTo>
                  <a:pt x="1053" y="1482"/>
                </a:lnTo>
                <a:lnTo>
                  <a:pt x="1053" y="1395"/>
                </a:lnTo>
                <a:lnTo>
                  <a:pt x="1047" y="1299"/>
                </a:lnTo>
                <a:lnTo>
                  <a:pt x="1035" y="1206"/>
                </a:lnTo>
                <a:lnTo>
                  <a:pt x="1020" y="1113"/>
                </a:lnTo>
                <a:lnTo>
                  <a:pt x="1005" y="1050"/>
                </a:lnTo>
                <a:lnTo>
                  <a:pt x="987" y="975"/>
                </a:lnTo>
                <a:lnTo>
                  <a:pt x="963" y="900"/>
                </a:lnTo>
                <a:lnTo>
                  <a:pt x="942" y="831"/>
                </a:lnTo>
                <a:lnTo>
                  <a:pt x="912" y="762"/>
                </a:lnTo>
                <a:lnTo>
                  <a:pt x="879" y="684"/>
                </a:lnTo>
                <a:lnTo>
                  <a:pt x="837" y="603"/>
                </a:lnTo>
                <a:lnTo>
                  <a:pt x="798" y="534"/>
                </a:lnTo>
                <a:lnTo>
                  <a:pt x="750" y="462"/>
                </a:lnTo>
                <a:lnTo>
                  <a:pt x="711" y="408"/>
                </a:lnTo>
                <a:lnTo>
                  <a:pt x="669" y="363"/>
                </a:lnTo>
                <a:lnTo>
                  <a:pt x="615" y="309"/>
                </a:lnTo>
                <a:lnTo>
                  <a:pt x="558" y="249"/>
                </a:lnTo>
                <a:lnTo>
                  <a:pt x="501" y="201"/>
                </a:lnTo>
                <a:lnTo>
                  <a:pt x="433" y="157"/>
                </a:lnTo>
                <a:lnTo>
                  <a:pt x="366" y="114"/>
                </a:lnTo>
                <a:lnTo>
                  <a:pt x="297" y="81"/>
                </a:lnTo>
                <a:lnTo>
                  <a:pt x="225" y="51"/>
                </a:lnTo>
                <a:lnTo>
                  <a:pt x="153" y="24"/>
                </a:lnTo>
                <a:lnTo>
                  <a:pt x="81" y="9"/>
                </a:lnTo>
                <a:lnTo>
                  <a:pt x="0" y="0"/>
                </a:lnTo>
              </a:path>
            </a:pathLst>
          </a:custGeom>
          <a:solidFill>
            <a:schemeClr val="bg1">
              <a:lumMod val="85000"/>
            </a:schemeClr>
          </a:solidFill>
          <a:ln w="12700" cap="flat" cmpd="sng">
            <a:solidFill>
              <a:schemeClr val="tx1">
                <a:lumMod val="50000"/>
                <a:lumOff val="50000"/>
              </a:schemeClr>
            </a:solidFill>
            <a:prstDash val="solid"/>
            <a:round/>
            <a:headEnd type="none" w="med" len="med"/>
            <a:tailEnd type="none" w="med" len="med"/>
          </a:ln>
          <a:effectLst/>
        </p:spPr>
        <p:txBody>
          <a:bodyPr wrap="none" anchor="ctr"/>
          <a:lstStyle/>
          <a:p>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4" name="Gerade Verbindung 33"/>
          <p:cNvCxnSpPr/>
          <p:nvPr/>
        </p:nvCxnSpPr>
        <p:spPr>
          <a:xfrm flipH="1">
            <a:off x="2051720" y="2067694"/>
            <a:ext cx="495687" cy="961635"/>
          </a:xfrm>
          <a:prstGeom prst="line">
            <a:avLst/>
          </a:prstGeom>
          <a:solidFill>
            <a:schemeClr val="bg1">
              <a:lumMod val="8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cxnSp>
      <p:cxnSp>
        <p:nvCxnSpPr>
          <p:cNvPr id="33" name="Gerade Verbindung 32"/>
          <p:cNvCxnSpPr/>
          <p:nvPr/>
        </p:nvCxnSpPr>
        <p:spPr>
          <a:xfrm>
            <a:off x="827584" y="2067694"/>
            <a:ext cx="495687" cy="961635"/>
          </a:xfrm>
          <a:prstGeom prst="line">
            <a:avLst/>
          </a:prstGeom>
          <a:solidFill>
            <a:schemeClr val="bg1">
              <a:lumMod val="8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cxnSp>
      <p:sp>
        <p:nvSpPr>
          <p:cNvPr id="2" name="Titel 1"/>
          <p:cNvSpPr>
            <a:spLocks noGrp="1"/>
          </p:cNvSpPr>
          <p:nvPr>
            <p:ph type="title"/>
          </p:nvPr>
        </p:nvSpPr>
        <p:spPr/>
        <p:txBody>
          <a:bodyPr/>
          <a:lstStyle/>
          <a:p>
            <a:r>
              <a:rPr lang="en-US" dirty="0"/>
              <a:t>Proof:</a:t>
            </a:r>
            <a:br>
              <a:rPr lang="en-US" dirty="0"/>
            </a:br>
            <a:r>
              <a:rPr lang="en-US" dirty="0"/>
              <a:t>5) dynamics on the edges of the simplex</a:t>
            </a:r>
          </a:p>
        </p:txBody>
      </p:sp>
      <p:sp>
        <p:nvSpPr>
          <p:cNvPr id="3" name="Gleichschenkliges Dreieck 2"/>
          <p:cNvSpPr/>
          <p:nvPr/>
        </p:nvSpPr>
        <p:spPr>
          <a:xfrm>
            <a:off x="963231" y="2408570"/>
            <a:ext cx="1440160" cy="1241517"/>
          </a:xfrm>
          <a:prstGeom prst="triangle">
            <a:avLst/>
          </a:prstGeom>
          <a:solidFill>
            <a:schemeClr val="bg1">
              <a:lumMod val="85000"/>
            </a:schemeClr>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Ellipse 4"/>
          <p:cNvSpPr/>
          <p:nvPr/>
        </p:nvSpPr>
        <p:spPr>
          <a:xfrm>
            <a:off x="2352315" y="3603334"/>
            <a:ext cx="72008" cy="72008"/>
          </a:xfrm>
          <a:prstGeom prst="ellipse">
            <a:avLst/>
          </a:prstGeom>
          <a:solidFill>
            <a:schemeClr val="bg1"/>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Ellipse 5"/>
          <p:cNvSpPr/>
          <p:nvPr/>
        </p:nvSpPr>
        <p:spPr>
          <a:xfrm>
            <a:off x="1648463" y="3609866"/>
            <a:ext cx="72008" cy="72008"/>
          </a:xfrm>
          <a:prstGeom prst="ellipse">
            <a:avLst/>
          </a:prstGeom>
          <a:solidFill>
            <a:srgbClr val="C0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Ellipse 6"/>
          <p:cNvSpPr/>
          <p:nvPr/>
        </p:nvSpPr>
        <p:spPr>
          <a:xfrm>
            <a:off x="936943" y="3603335"/>
            <a:ext cx="72008" cy="72008"/>
          </a:xfrm>
          <a:prstGeom prst="ellipse">
            <a:avLst/>
          </a:prstGeom>
          <a:solidFill>
            <a:schemeClr val="bg1"/>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Ellipse 7"/>
          <p:cNvSpPr/>
          <p:nvPr/>
        </p:nvSpPr>
        <p:spPr>
          <a:xfrm>
            <a:off x="1648463" y="2388986"/>
            <a:ext cx="72008" cy="72008"/>
          </a:xfrm>
          <a:prstGeom prst="ellipse">
            <a:avLst/>
          </a:prstGeom>
          <a:solidFill>
            <a:srgbClr val="C0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feld 8"/>
          <p:cNvSpPr txBox="1"/>
          <p:nvPr/>
        </p:nvSpPr>
        <p:spPr>
          <a:xfrm>
            <a:off x="1222761" y="2120538"/>
            <a:ext cx="925253" cy="307777"/>
          </a:xfrm>
          <a:prstGeom prst="rect">
            <a:avLst/>
          </a:prstGeom>
          <a:noFill/>
        </p:spPr>
        <p:txBody>
          <a:bodyPr wrap="none" rtlCol="0">
            <a:spAutoFit/>
          </a:bodyPr>
          <a:lstStyle/>
          <a:p>
            <a:r>
              <a:rPr lang="en-US" sz="1400" dirty="0"/>
              <a:t>B = (0,0,1)</a:t>
            </a:r>
          </a:p>
        </p:txBody>
      </p:sp>
      <p:sp>
        <p:nvSpPr>
          <p:cNvPr id="10" name="Textfeld 9"/>
          <p:cNvSpPr txBox="1"/>
          <p:nvPr/>
        </p:nvSpPr>
        <p:spPr>
          <a:xfrm>
            <a:off x="1912397" y="3488690"/>
            <a:ext cx="787395" cy="523220"/>
          </a:xfrm>
          <a:prstGeom prst="rect">
            <a:avLst/>
          </a:prstGeom>
          <a:noFill/>
        </p:spPr>
        <p:txBody>
          <a:bodyPr wrap="none" rtlCol="0">
            <a:spAutoFit/>
          </a:bodyPr>
          <a:lstStyle/>
          <a:p>
            <a:pPr algn="r"/>
            <a:r>
              <a:rPr lang="en-US" sz="1400" dirty="0"/>
              <a:t>H</a:t>
            </a:r>
          </a:p>
          <a:p>
            <a:pPr algn="r"/>
            <a:r>
              <a:rPr lang="en-US" sz="1400" dirty="0"/>
              <a:t>= (1,0,0)</a:t>
            </a:r>
          </a:p>
        </p:txBody>
      </p:sp>
      <p:sp>
        <p:nvSpPr>
          <p:cNvPr id="11" name="Textfeld 10"/>
          <p:cNvSpPr txBox="1"/>
          <p:nvPr/>
        </p:nvSpPr>
        <p:spPr>
          <a:xfrm>
            <a:off x="675199" y="3488690"/>
            <a:ext cx="787395" cy="523220"/>
          </a:xfrm>
          <a:prstGeom prst="rect">
            <a:avLst/>
          </a:prstGeom>
          <a:noFill/>
        </p:spPr>
        <p:txBody>
          <a:bodyPr wrap="none" rtlCol="0">
            <a:spAutoFit/>
          </a:bodyPr>
          <a:lstStyle/>
          <a:p>
            <a:r>
              <a:rPr lang="en-US" sz="1400" dirty="0"/>
              <a:t>D</a:t>
            </a:r>
          </a:p>
          <a:p>
            <a:r>
              <a:rPr lang="en-US" sz="1400" dirty="0"/>
              <a:t>= (0,1,0)</a:t>
            </a:r>
          </a:p>
        </p:txBody>
      </p:sp>
      <p:sp>
        <p:nvSpPr>
          <p:cNvPr id="12" name="Gleichschenkliges Dreieck 11"/>
          <p:cNvSpPr/>
          <p:nvPr/>
        </p:nvSpPr>
        <p:spPr>
          <a:xfrm rot="1653046">
            <a:off x="1066644" y="3304258"/>
            <a:ext cx="144016" cy="124152"/>
          </a:xfrm>
          <a:prstGeom prst="triangle">
            <a:avLst/>
          </a:prstGeom>
          <a:solidFill>
            <a:schemeClr val="bg2">
              <a:lumMod val="9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Gleichschenkliges Dreieck 12"/>
          <p:cNvSpPr/>
          <p:nvPr/>
        </p:nvSpPr>
        <p:spPr>
          <a:xfrm rot="5400000">
            <a:off x="1364575" y="3584919"/>
            <a:ext cx="144016" cy="124152"/>
          </a:xfrm>
          <a:prstGeom prst="triangle">
            <a:avLst/>
          </a:prstGeom>
          <a:solidFill>
            <a:schemeClr val="bg2">
              <a:lumMod val="9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Gleichschenkliges Dreieck 15"/>
          <p:cNvSpPr/>
          <p:nvPr/>
        </p:nvSpPr>
        <p:spPr>
          <a:xfrm rot="1653046">
            <a:off x="1352187" y="2794877"/>
            <a:ext cx="144016" cy="124152"/>
          </a:xfrm>
          <a:prstGeom prst="triangle">
            <a:avLst/>
          </a:prstGeom>
          <a:solidFill>
            <a:schemeClr val="bg2">
              <a:lumMod val="9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Gleichschenkliges Dreieck 16"/>
          <p:cNvSpPr/>
          <p:nvPr/>
        </p:nvSpPr>
        <p:spPr>
          <a:xfrm rot="19946954" flipH="1">
            <a:off x="1865289" y="2794541"/>
            <a:ext cx="144016" cy="124508"/>
          </a:xfrm>
          <a:prstGeom prst="triangle">
            <a:avLst/>
          </a:prstGeom>
          <a:solidFill>
            <a:schemeClr val="bg2">
              <a:lumMod val="9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Gleichschenkliges Dreieck 17"/>
          <p:cNvSpPr/>
          <p:nvPr/>
        </p:nvSpPr>
        <p:spPr>
          <a:xfrm rot="19946954" flipH="1">
            <a:off x="2160817" y="3303922"/>
            <a:ext cx="144016" cy="124508"/>
          </a:xfrm>
          <a:prstGeom prst="triangle">
            <a:avLst/>
          </a:prstGeom>
          <a:solidFill>
            <a:schemeClr val="bg2">
              <a:lumMod val="9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Gleichschenkliges Dreieck 18"/>
          <p:cNvSpPr/>
          <p:nvPr/>
        </p:nvSpPr>
        <p:spPr>
          <a:xfrm rot="16200000" flipH="1">
            <a:off x="1864432" y="3584919"/>
            <a:ext cx="144016" cy="124152"/>
          </a:xfrm>
          <a:prstGeom prst="triangle">
            <a:avLst/>
          </a:prstGeom>
          <a:solidFill>
            <a:schemeClr val="bg2">
              <a:lumMod val="9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hteck 22"/>
          <p:cNvSpPr/>
          <p:nvPr/>
        </p:nvSpPr>
        <p:spPr>
          <a:xfrm>
            <a:off x="3419872" y="1131590"/>
            <a:ext cx="5472608" cy="3888432"/>
          </a:xfrm>
          <a:prstGeom prst="rect">
            <a:avLst/>
          </a:prstGeom>
          <a:noFill/>
          <a:ln>
            <a:solidFill>
              <a:schemeClr val="tx2">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5" name="Grafik 44" descr="IguanaTex_tmp.png"/>
          <p:cNvPicPr>
            <a:picLocks noChangeAspect="1"/>
          </p:cNvPicPr>
          <p:nvPr>
            <p:custDataLst>
              <p:tags r:id="rId1"/>
            </p:custDataLst>
          </p:nvPr>
        </p:nvPicPr>
        <p:blipFill>
          <a:blip r:embed="rId6" cstate="print"/>
          <a:stretch>
            <a:fillRect/>
          </a:stretch>
        </p:blipFill>
        <p:spPr>
          <a:xfrm>
            <a:off x="3491871" y="1203574"/>
            <a:ext cx="5301390" cy="3620076"/>
          </a:xfrm>
          <a:prstGeom prst="rect">
            <a:avLst/>
          </a:prstGeom>
          <a:noFill/>
          <a:ln/>
          <a:effectLst/>
        </p:spPr>
      </p:pic>
      <p:graphicFrame>
        <p:nvGraphicFramePr>
          <p:cNvPr id="28" name="Tabelle 27"/>
          <p:cNvGraphicFramePr>
            <a:graphicFrameLocks noGrp="1"/>
          </p:cNvGraphicFramePr>
          <p:nvPr>
            <p:custDataLst>
              <p:tags r:id="rId2"/>
            </p:custDataLst>
          </p:nvPr>
        </p:nvGraphicFramePr>
        <p:xfrm>
          <a:off x="251520" y="1131590"/>
          <a:ext cx="1296144" cy="843717"/>
        </p:xfrm>
        <a:graphic>
          <a:graphicData uri="http://schemas.openxmlformats.org/drawingml/2006/table">
            <a:tbl>
              <a:tblPr firstRow="1" bandRow="1">
                <a:tableStyleId>{5C22544A-7EE6-4342-B048-85BDC9FD1C3A}</a:tableStyleId>
              </a:tblPr>
              <a:tblGrid>
                <a:gridCol w="432048">
                  <a:extLst>
                    <a:ext uri="{9D8B030D-6E8A-4147-A177-3AD203B41FA5}">
                      <a16:colId xmlns:a16="http://schemas.microsoft.com/office/drawing/2014/main" val="20000"/>
                    </a:ext>
                  </a:extLst>
                </a:gridCol>
                <a:gridCol w="432048">
                  <a:extLst>
                    <a:ext uri="{9D8B030D-6E8A-4147-A177-3AD203B41FA5}">
                      <a16:colId xmlns:a16="http://schemas.microsoft.com/office/drawing/2014/main" val="20001"/>
                    </a:ext>
                  </a:extLst>
                </a:gridCol>
                <a:gridCol w="432048">
                  <a:extLst>
                    <a:ext uri="{9D8B030D-6E8A-4147-A177-3AD203B41FA5}">
                      <a16:colId xmlns:a16="http://schemas.microsoft.com/office/drawing/2014/main" val="20002"/>
                    </a:ext>
                  </a:extLst>
                </a:gridCol>
              </a:tblGrid>
              <a:tr h="281239">
                <a:tc>
                  <a:txBody>
                    <a:bodyPr/>
                    <a:lstStyle/>
                    <a:p>
                      <a:pPr algn="ctr"/>
                      <a:r>
                        <a:rPr lang="en-US" sz="700" b="0" dirty="0">
                          <a:solidFill>
                            <a:schemeClr val="tx1"/>
                          </a:solidFill>
                        </a:rPr>
                        <a:t>player</a:t>
                      </a:r>
                      <a:br>
                        <a:rPr lang="en-US" sz="700" b="0" dirty="0">
                          <a:solidFill>
                            <a:schemeClr val="tx1"/>
                          </a:solidFill>
                        </a:rPr>
                      </a:br>
                      <a:r>
                        <a:rPr lang="en-US" sz="700" b="0" dirty="0">
                          <a:solidFill>
                            <a:schemeClr val="tx2"/>
                          </a:solidFill>
                        </a:rPr>
                        <a:t>1</a:t>
                      </a:r>
                      <a:r>
                        <a:rPr lang="en-US" sz="700" b="0" dirty="0">
                          <a:solidFill>
                            <a:schemeClr val="tx1"/>
                          </a:solidFill>
                        </a:rPr>
                        <a:t>            </a:t>
                      </a:r>
                      <a:r>
                        <a:rPr lang="en-US" sz="700" b="0" dirty="0">
                          <a:solidFill>
                            <a:srgbClr val="C00000"/>
                          </a:solidFill>
                        </a:rPr>
                        <a:t>2</a:t>
                      </a:r>
                    </a:p>
                  </a:txBody>
                  <a:tcPr marL="46583" marR="46583" marT="23291" marB="23291" anchor="ctr">
                    <a:lnL w="12700" cap="flat" cmpd="sng" algn="ctr">
                      <a:noFill/>
                      <a:prstDash val="solid"/>
                      <a:round/>
                      <a:headEnd type="none" w="med" len="med"/>
                      <a:tailEnd type="none" w="med" len="med"/>
                    </a:lnL>
                    <a:lnR w="635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ctr"/>
                      <a:r>
                        <a:rPr lang="en-US" sz="700" b="0" dirty="0">
                          <a:solidFill>
                            <a:srgbClr val="C00000"/>
                          </a:solidFill>
                        </a:rPr>
                        <a:t>Dove</a:t>
                      </a:r>
                    </a:p>
                  </a:txBody>
                  <a:tcPr marL="46583" marR="46583" marT="23291" marB="23291"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marL="0" algn="ctr" defTabSz="914400" rtl="0" eaLnBrk="1" latinLnBrk="0" hangingPunct="1"/>
                      <a:r>
                        <a:rPr lang="en-US" sz="700" b="0" kern="1200" dirty="0">
                          <a:solidFill>
                            <a:srgbClr val="C00000"/>
                          </a:solidFill>
                          <a:latin typeface="+mn-lt"/>
                          <a:ea typeface="+mn-ea"/>
                          <a:cs typeface="+mn-cs"/>
                        </a:rPr>
                        <a:t>Bourgeois</a:t>
                      </a:r>
                    </a:p>
                  </a:txBody>
                  <a:tcPr marL="0" marR="0" marT="23291" marB="23291"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0"/>
                  </a:ext>
                </a:extLst>
              </a:tr>
              <a:tr h="281239">
                <a:tc>
                  <a:txBody>
                    <a:bodyPr/>
                    <a:lstStyle/>
                    <a:p>
                      <a:pPr algn="ctr"/>
                      <a:r>
                        <a:rPr lang="en-US" sz="700" dirty="0">
                          <a:solidFill>
                            <a:schemeClr val="tx2"/>
                          </a:solidFill>
                        </a:rPr>
                        <a:t>Dove</a:t>
                      </a:r>
                    </a:p>
                  </a:txBody>
                  <a:tcPr marL="46583" marR="46583" marT="23291" marB="23291"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ctr"/>
                      <a:r>
                        <a:rPr lang="en-US" sz="700" dirty="0"/>
                        <a:t>(</a:t>
                      </a:r>
                      <a:r>
                        <a:rPr lang="en-US" sz="700" dirty="0">
                          <a:solidFill>
                            <a:schemeClr val="tx2"/>
                          </a:solidFill>
                        </a:rPr>
                        <a:t>2</a:t>
                      </a:r>
                      <a:r>
                        <a:rPr lang="en-US" sz="700" dirty="0"/>
                        <a:t>, </a:t>
                      </a:r>
                      <a:r>
                        <a:rPr lang="en-US" sz="700" dirty="0">
                          <a:solidFill>
                            <a:srgbClr val="C00000"/>
                          </a:solidFill>
                        </a:rPr>
                        <a:t>2</a:t>
                      </a:r>
                      <a:r>
                        <a:rPr lang="en-US" sz="700" dirty="0"/>
                        <a:t>)</a:t>
                      </a:r>
                    </a:p>
                  </a:txBody>
                  <a:tcPr marL="46583" marR="46583" marT="23291" marB="23291"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700" dirty="0"/>
                        <a:t>(</a:t>
                      </a:r>
                      <a:r>
                        <a:rPr lang="en-US" sz="700" dirty="0">
                          <a:solidFill>
                            <a:schemeClr val="tx2"/>
                          </a:solidFill>
                        </a:rPr>
                        <a:t>1</a:t>
                      </a:r>
                      <a:r>
                        <a:rPr lang="en-US" sz="700" dirty="0"/>
                        <a:t>, </a:t>
                      </a:r>
                      <a:r>
                        <a:rPr lang="en-US" sz="700" dirty="0">
                          <a:solidFill>
                            <a:srgbClr val="C00000"/>
                          </a:solidFill>
                        </a:rPr>
                        <a:t>3</a:t>
                      </a:r>
                      <a:r>
                        <a:rPr lang="en-US" sz="700" dirty="0"/>
                        <a:t>)</a:t>
                      </a:r>
                    </a:p>
                  </a:txBody>
                  <a:tcPr marL="46583" marR="46583" marT="23291" marB="23291"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1"/>
                  </a:ext>
                </a:extLst>
              </a:tr>
              <a:tr h="281239">
                <a:tc>
                  <a:txBody>
                    <a:bodyPr/>
                    <a:lstStyle/>
                    <a:p>
                      <a:pPr marL="0" algn="ctr" defTabSz="914400" rtl="0" eaLnBrk="1" latinLnBrk="0" hangingPunct="1"/>
                      <a:r>
                        <a:rPr lang="en-US" sz="700" kern="1200" dirty="0">
                          <a:solidFill>
                            <a:schemeClr val="tx2"/>
                          </a:solidFill>
                          <a:latin typeface="+mn-lt"/>
                          <a:ea typeface="+mn-ea"/>
                          <a:cs typeface="+mn-cs"/>
                        </a:rPr>
                        <a:t>Bourgeois</a:t>
                      </a:r>
                    </a:p>
                  </a:txBody>
                  <a:tcPr marL="0" marR="0" marT="23291" marB="23291"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700" dirty="0"/>
                        <a:t>(</a:t>
                      </a:r>
                      <a:r>
                        <a:rPr lang="en-US" sz="700" dirty="0">
                          <a:solidFill>
                            <a:schemeClr val="tx2"/>
                          </a:solidFill>
                        </a:rPr>
                        <a:t>3</a:t>
                      </a:r>
                      <a:r>
                        <a:rPr lang="en-US" sz="700" dirty="0"/>
                        <a:t>, </a:t>
                      </a:r>
                      <a:r>
                        <a:rPr lang="en-US" sz="700" dirty="0">
                          <a:solidFill>
                            <a:srgbClr val="C00000"/>
                          </a:solidFill>
                        </a:rPr>
                        <a:t>1</a:t>
                      </a:r>
                      <a:r>
                        <a:rPr lang="en-US" sz="700" dirty="0"/>
                        <a:t>)</a:t>
                      </a:r>
                    </a:p>
                  </a:txBody>
                  <a:tcPr marL="46583" marR="46583" marT="23291" marB="23291"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700" dirty="0"/>
                        <a:t>(</a:t>
                      </a:r>
                      <a:r>
                        <a:rPr lang="en-US" sz="700" dirty="0">
                          <a:solidFill>
                            <a:schemeClr val="tx2"/>
                          </a:solidFill>
                        </a:rPr>
                        <a:t>2</a:t>
                      </a:r>
                      <a:r>
                        <a:rPr lang="en-US" sz="700" dirty="0"/>
                        <a:t>, </a:t>
                      </a:r>
                      <a:r>
                        <a:rPr lang="en-US" sz="700" dirty="0">
                          <a:solidFill>
                            <a:srgbClr val="C00000"/>
                          </a:solidFill>
                        </a:rPr>
                        <a:t>2</a:t>
                      </a:r>
                      <a:r>
                        <a:rPr lang="en-US" sz="700" dirty="0"/>
                        <a:t>)</a:t>
                      </a:r>
                    </a:p>
                  </a:txBody>
                  <a:tcPr marL="46583" marR="46583" marT="23291" marB="23291"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FFFF00"/>
                    </a:solidFill>
                  </a:tcPr>
                </a:tc>
                <a:extLst>
                  <a:ext uri="{0D108BD9-81ED-4DB2-BD59-A6C34878D82A}">
                    <a16:rowId xmlns:a16="http://schemas.microsoft.com/office/drawing/2014/main" val="10002"/>
                  </a:ext>
                </a:extLst>
              </a:tr>
            </a:tbl>
          </a:graphicData>
        </a:graphic>
      </p:graphicFrame>
      <p:graphicFrame>
        <p:nvGraphicFramePr>
          <p:cNvPr id="30" name="Tabelle 29"/>
          <p:cNvGraphicFramePr>
            <a:graphicFrameLocks noGrp="1"/>
          </p:cNvGraphicFramePr>
          <p:nvPr>
            <p:custDataLst>
              <p:tags r:id="rId3"/>
            </p:custDataLst>
          </p:nvPr>
        </p:nvGraphicFramePr>
        <p:xfrm>
          <a:off x="1043608" y="4155926"/>
          <a:ext cx="1296144" cy="843717"/>
        </p:xfrm>
        <a:graphic>
          <a:graphicData uri="http://schemas.openxmlformats.org/drawingml/2006/table">
            <a:tbl>
              <a:tblPr firstRow="1" bandRow="1">
                <a:tableStyleId>{5C22544A-7EE6-4342-B048-85BDC9FD1C3A}</a:tableStyleId>
              </a:tblPr>
              <a:tblGrid>
                <a:gridCol w="432048">
                  <a:extLst>
                    <a:ext uri="{9D8B030D-6E8A-4147-A177-3AD203B41FA5}">
                      <a16:colId xmlns:a16="http://schemas.microsoft.com/office/drawing/2014/main" val="20000"/>
                    </a:ext>
                  </a:extLst>
                </a:gridCol>
                <a:gridCol w="432048">
                  <a:extLst>
                    <a:ext uri="{9D8B030D-6E8A-4147-A177-3AD203B41FA5}">
                      <a16:colId xmlns:a16="http://schemas.microsoft.com/office/drawing/2014/main" val="20001"/>
                    </a:ext>
                  </a:extLst>
                </a:gridCol>
                <a:gridCol w="432048">
                  <a:extLst>
                    <a:ext uri="{9D8B030D-6E8A-4147-A177-3AD203B41FA5}">
                      <a16:colId xmlns:a16="http://schemas.microsoft.com/office/drawing/2014/main" val="20002"/>
                    </a:ext>
                  </a:extLst>
                </a:gridCol>
              </a:tblGrid>
              <a:tr h="281239">
                <a:tc>
                  <a:txBody>
                    <a:bodyPr/>
                    <a:lstStyle/>
                    <a:p>
                      <a:pPr algn="ctr"/>
                      <a:r>
                        <a:rPr lang="en-US" sz="700" b="0" dirty="0">
                          <a:solidFill>
                            <a:schemeClr val="tx1"/>
                          </a:solidFill>
                        </a:rPr>
                        <a:t>player</a:t>
                      </a:r>
                      <a:br>
                        <a:rPr lang="en-US" sz="700" b="0" dirty="0">
                          <a:solidFill>
                            <a:schemeClr val="tx1"/>
                          </a:solidFill>
                        </a:rPr>
                      </a:br>
                      <a:r>
                        <a:rPr lang="en-US" sz="700" b="0" dirty="0">
                          <a:solidFill>
                            <a:schemeClr val="tx2"/>
                          </a:solidFill>
                        </a:rPr>
                        <a:t>1</a:t>
                      </a:r>
                      <a:r>
                        <a:rPr lang="en-US" sz="700" b="0" dirty="0">
                          <a:solidFill>
                            <a:schemeClr val="tx1"/>
                          </a:solidFill>
                        </a:rPr>
                        <a:t>            </a:t>
                      </a:r>
                      <a:r>
                        <a:rPr lang="en-US" sz="700" b="0" dirty="0">
                          <a:solidFill>
                            <a:srgbClr val="C00000"/>
                          </a:solidFill>
                        </a:rPr>
                        <a:t>2</a:t>
                      </a:r>
                    </a:p>
                  </a:txBody>
                  <a:tcPr marL="46583" marR="46583" marT="23291" marB="23291" anchor="ctr">
                    <a:lnL w="12700" cap="flat" cmpd="sng" algn="ctr">
                      <a:noFill/>
                      <a:prstDash val="solid"/>
                      <a:round/>
                      <a:headEnd type="none" w="med" len="med"/>
                      <a:tailEnd type="none" w="med" len="med"/>
                    </a:lnL>
                    <a:lnR w="635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ctr"/>
                      <a:r>
                        <a:rPr lang="en-US" sz="700" b="0" dirty="0">
                          <a:solidFill>
                            <a:srgbClr val="C00000"/>
                          </a:solidFill>
                        </a:rPr>
                        <a:t>Hawk</a:t>
                      </a:r>
                    </a:p>
                  </a:txBody>
                  <a:tcPr marL="46583" marR="46583" marT="23291" marB="23291"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ctr"/>
                      <a:r>
                        <a:rPr lang="en-US" sz="700" b="0" dirty="0">
                          <a:solidFill>
                            <a:srgbClr val="C00000"/>
                          </a:solidFill>
                        </a:rPr>
                        <a:t>Dove</a:t>
                      </a:r>
                    </a:p>
                  </a:txBody>
                  <a:tcPr marL="46583" marR="46583" marT="23291" marB="23291"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0"/>
                  </a:ext>
                </a:extLst>
              </a:tr>
              <a:tr h="281239">
                <a:tc>
                  <a:txBody>
                    <a:bodyPr/>
                    <a:lstStyle/>
                    <a:p>
                      <a:pPr algn="ctr"/>
                      <a:r>
                        <a:rPr lang="en-US" sz="700" dirty="0">
                          <a:solidFill>
                            <a:schemeClr val="tx2"/>
                          </a:solidFill>
                        </a:rPr>
                        <a:t>Hawk</a:t>
                      </a:r>
                    </a:p>
                  </a:txBody>
                  <a:tcPr marL="46583" marR="46583" marT="23291" marB="23291"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ctr"/>
                      <a:r>
                        <a:rPr lang="en-US" sz="700" dirty="0"/>
                        <a:t>(</a:t>
                      </a:r>
                      <a:r>
                        <a:rPr lang="en-US" sz="700" dirty="0">
                          <a:solidFill>
                            <a:schemeClr val="tx2"/>
                          </a:solidFill>
                        </a:rPr>
                        <a:t>-2</a:t>
                      </a:r>
                      <a:r>
                        <a:rPr lang="en-US" sz="700" dirty="0"/>
                        <a:t>, </a:t>
                      </a:r>
                      <a:r>
                        <a:rPr lang="en-US" sz="700" dirty="0">
                          <a:solidFill>
                            <a:srgbClr val="C00000"/>
                          </a:solidFill>
                        </a:rPr>
                        <a:t>-2</a:t>
                      </a:r>
                      <a:r>
                        <a:rPr lang="en-US" sz="700" dirty="0"/>
                        <a:t>)</a:t>
                      </a:r>
                    </a:p>
                  </a:txBody>
                  <a:tcPr marL="46583" marR="46583" marT="23291" marB="23291"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ctr"/>
                      <a:r>
                        <a:rPr lang="en-US" sz="700" dirty="0"/>
                        <a:t>(</a:t>
                      </a:r>
                      <a:r>
                        <a:rPr lang="en-US" sz="700" dirty="0">
                          <a:solidFill>
                            <a:schemeClr val="tx2"/>
                          </a:solidFill>
                        </a:rPr>
                        <a:t>4</a:t>
                      </a:r>
                      <a:r>
                        <a:rPr lang="en-US" sz="700" dirty="0"/>
                        <a:t>, </a:t>
                      </a:r>
                      <a:r>
                        <a:rPr lang="en-US" sz="700" dirty="0">
                          <a:solidFill>
                            <a:srgbClr val="C00000"/>
                          </a:solidFill>
                        </a:rPr>
                        <a:t>0</a:t>
                      </a:r>
                      <a:r>
                        <a:rPr lang="en-US" sz="700" dirty="0"/>
                        <a:t>)</a:t>
                      </a:r>
                    </a:p>
                  </a:txBody>
                  <a:tcPr marL="46583" marR="46583" marT="23291" marB="23291"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FFFF00"/>
                    </a:solidFill>
                  </a:tcPr>
                </a:tc>
                <a:extLst>
                  <a:ext uri="{0D108BD9-81ED-4DB2-BD59-A6C34878D82A}">
                    <a16:rowId xmlns:a16="http://schemas.microsoft.com/office/drawing/2014/main" val="10001"/>
                  </a:ext>
                </a:extLst>
              </a:tr>
              <a:tr h="281239">
                <a:tc>
                  <a:txBody>
                    <a:bodyPr/>
                    <a:lstStyle/>
                    <a:p>
                      <a:pPr algn="ctr"/>
                      <a:r>
                        <a:rPr lang="en-US" sz="700" dirty="0">
                          <a:solidFill>
                            <a:schemeClr val="tx2"/>
                          </a:solidFill>
                        </a:rPr>
                        <a:t>Dove</a:t>
                      </a:r>
                    </a:p>
                  </a:txBody>
                  <a:tcPr marL="46583" marR="46583" marT="23291" marB="23291"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ctr"/>
                      <a:r>
                        <a:rPr lang="en-US" sz="700" dirty="0"/>
                        <a:t>(</a:t>
                      </a:r>
                      <a:r>
                        <a:rPr lang="en-US" sz="700" dirty="0">
                          <a:solidFill>
                            <a:schemeClr val="tx2"/>
                          </a:solidFill>
                        </a:rPr>
                        <a:t>0</a:t>
                      </a:r>
                      <a:r>
                        <a:rPr lang="en-US" sz="700" dirty="0"/>
                        <a:t>,</a:t>
                      </a:r>
                      <a:r>
                        <a:rPr lang="en-US" sz="700" baseline="0" dirty="0"/>
                        <a:t> </a:t>
                      </a:r>
                      <a:r>
                        <a:rPr lang="en-US" sz="700" baseline="0" dirty="0">
                          <a:solidFill>
                            <a:srgbClr val="C00000"/>
                          </a:solidFill>
                        </a:rPr>
                        <a:t>4</a:t>
                      </a:r>
                      <a:r>
                        <a:rPr lang="en-US" sz="700" baseline="0" dirty="0"/>
                        <a:t>)</a:t>
                      </a:r>
                      <a:endParaRPr lang="en-US" sz="700" dirty="0"/>
                    </a:p>
                  </a:txBody>
                  <a:tcPr marL="46583" marR="46583" marT="23291" marB="23291"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FFFF00"/>
                    </a:solidFill>
                  </a:tcPr>
                </a:tc>
                <a:tc>
                  <a:txBody>
                    <a:bodyPr/>
                    <a:lstStyle/>
                    <a:p>
                      <a:pPr algn="ctr"/>
                      <a:r>
                        <a:rPr lang="en-US" sz="700" dirty="0"/>
                        <a:t>(</a:t>
                      </a:r>
                      <a:r>
                        <a:rPr lang="en-US" sz="700" dirty="0">
                          <a:solidFill>
                            <a:schemeClr val="tx2"/>
                          </a:solidFill>
                        </a:rPr>
                        <a:t>2</a:t>
                      </a:r>
                      <a:r>
                        <a:rPr lang="en-US" sz="700" dirty="0"/>
                        <a:t>, </a:t>
                      </a:r>
                      <a:r>
                        <a:rPr lang="en-US" sz="700" dirty="0">
                          <a:solidFill>
                            <a:srgbClr val="C00000"/>
                          </a:solidFill>
                        </a:rPr>
                        <a:t>2</a:t>
                      </a:r>
                      <a:r>
                        <a:rPr lang="en-US" sz="700" dirty="0"/>
                        <a:t>)</a:t>
                      </a:r>
                    </a:p>
                  </a:txBody>
                  <a:tcPr marL="46583" marR="46583" marT="23291" marB="23291"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2"/>
                  </a:ext>
                </a:extLst>
              </a:tr>
            </a:tbl>
          </a:graphicData>
        </a:graphic>
      </p:graphicFrame>
      <p:graphicFrame>
        <p:nvGraphicFramePr>
          <p:cNvPr id="31" name="Tabelle 30"/>
          <p:cNvGraphicFramePr>
            <a:graphicFrameLocks noGrp="1"/>
          </p:cNvGraphicFramePr>
          <p:nvPr>
            <p:custDataLst>
              <p:tags r:id="rId4"/>
            </p:custDataLst>
          </p:nvPr>
        </p:nvGraphicFramePr>
        <p:xfrm>
          <a:off x="1835696" y="1131590"/>
          <a:ext cx="1296144" cy="843717"/>
        </p:xfrm>
        <a:graphic>
          <a:graphicData uri="http://schemas.openxmlformats.org/drawingml/2006/table">
            <a:tbl>
              <a:tblPr firstRow="1" bandRow="1">
                <a:tableStyleId>{5C22544A-7EE6-4342-B048-85BDC9FD1C3A}</a:tableStyleId>
              </a:tblPr>
              <a:tblGrid>
                <a:gridCol w="432048">
                  <a:extLst>
                    <a:ext uri="{9D8B030D-6E8A-4147-A177-3AD203B41FA5}">
                      <a16:colId xmlns:a16="http://schemas.microsoft.com/office/drawing/2014/main" val="20000"/>
                    </a:ext>
                  </a:extLst>
                </a:gridCol>
                <a:gridCol w="432048">
                  <a:extLst>
                    <a:ext uri="{9D8B030D-6E8A-4147-A177-3AD203B41FA5}">
                      <a16:colId xmlns:a16="http://schemas.microsoft.com/office/drawing/2014/main" val="20001"/>
                    </a:ext>
                  </a:extLst>
                </a:gridCol>
                <a:gridCol w="432048">
                  <a:extLst>
                    <a:ext uri="{9D8B030D-6E8A-4147-A177-3AD203B41FA5}">
                      <a16:colId xmlns:a16="http://schemas.microsoft.com/office/drawing/2014/main" val="20002"/>
                    </a:ext>
                  </a:extLst>
                </a:gridCol>
              </a:tblGrid>
              <a:tr h="281239">
                <a:tc>
                  <a:txBody>
                    <a:bodyPr/>
                    <a:lstStyle/>
                    <a:p>
                      <a:pPr algn="ctr"/>
                      <a:r>
                        <a:rPr lang="en-US" sz="700" b="0" dirty="0">
                          <a:solidFill>
                            <a:schemeClr val="tx1"/>
                          </a:solidFill>
                        </a:rPr>
                        <a:t>player</a:t>
                      </a:r>
                      <a:br>
                        <a:rPr lang="en-US" sz="700" b="0" dirty="0">
                          <a:solidFill>
                            <a:schemeClr val="tx1"/>
                          </a:solidFill>
                        </a:rPr>
                      </a:br>
                      <a:r>
                        <a:rPr lang="en-US" sz="700" b="0" dirty="0">
                          <a:solidFill>
                            <a:schemeClr val="tx2"/>
                          </a:solidFill>
                        </a:rPr>
                        <a:t>1</a:t>
                      </a:r>
                      <a:r>
                        <a:rPr lang="en-US" sz="700" b="0" dirty="0">
                          <a:solidFill>
                            <a:schemeClr val="tx1"/>
                          </a:solidFill>
                        </a:rPr>
                        <a:t>            </a:t>
                      </a:r>
                      <a:r>
                        <a:rPr lang="en-US" sz="700" b="0" dirty="0">
                          <a:solidFill>
                            <a:srgbClr val="C00000"/>
                          </a:solidFill>
                        </a:rPr>
                        <a:t>2</a:t>
                      </a:r>
                    </a:p>
                  </a:txBody>
                  <a:tcPr marL="46583" marR="46583" marT="23291" marB="23291" anchor="ctr">
                    <a:lnL w="12700" cap="flat" cmpd="sng" algn="ctr">
                      <a:noFill/>
                      <a:prstDash val="solid"/>
                      <a:round/>
                      <a:headEnd type="none" w="med" len="med"/>
                      <a:tailEnd type="none" w="med" len="med"/>
                    </a:lnL>
                    <a:lnR w="635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ctr"/>
                      <a:r>
                        <a:rPr lang="en-US" sz="700" b="0" dirty="0">
                          <a:solidFill>
                            <a:srgbClr val="C00000"/>
                          </a:solidFill>
                        </a:rPr>
                        <a:t>Hawk</a:t>
                      </a:r>
                    </a:p>
                  </a:txBody>
                  <a:tcPr marL="46583" marR="46583" marT="23291" marB="23291"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marL="0" algn="ctr" defTabSz="914400" rtl="0" eaLnBrk="1" latinLnBrk="0" hangingPunct="1"/>
                      <a:r>
                        <a:rPr lang="en-US" sz="700" b="0" kern="1200" dirty="0">
                          <a:solidFill>
                            <a:srgbClr val="C00000"/>
                          </a:solidFill>
                          <a:latin typeface="+mn-lt"/>
                          <a:ea typeface="+mn-ea"/>
                          <a:cs typeface="+mn-cs"/>
                        </a:rPr>
                        <a:t>Bourgeois</a:t>
                      </a:r>
                    </a:p>
                  </a:txBody>
                  <a:tcPr marL="0" marR="0" marT="23291" marB="23291"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0"/>
                  </a:ext>
                </a:extLst>
              </a:tr>
              <a:tr h="281239">
                <a:tc>
                  <a:txBody>
                    <a:bodyPr/>
                    <a:lstStyle/>
                    <a:p>
                      <a:pPr algn="ctr"/>
                      <a:r>
                        <a:rPr lang="en-US" sz="700" dirty="0">
                          <a:solidFill>
                            <a:schemeClr val="tx2"/>
                          </a:solidFill>
                        </a:rPr>
                        <a:t>Hawk</a:t>
                      </a:r>
                    </a:p>
                  </a:txBody>
                  <a:tcPr marL="46583" marR="46583" marT="23291" marB="23291"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ctr"/>
                      <a:r>
                        <a:rPr lang="en-US" sz="700" dirty="0"/>
                        <a:t>(</a:t>
                      </a:r>
                      <a:r>
                        <a:rPr lang="en-US" sz="700" dirty="0">
                          <a:solidFill>
                            <a:schemeClr val="tx2"/>
                          </a:solidFill>
                        </a:rPr>
                        <a:t>-2</a:t>
                      </a:r>
                      <a:r>
                        <a:rPr lang="en-US" sz="700" dirty="0"/>
                        <a:t>, </a:t>
                      </a:r>
                      <a:r>
                        <a:rPr lang="en-US" sz="700" dirty="0">
                          <a:solidFill>
                            <a:srgbClr val="C00000"/>
                          </a:solidFill>
                        </a:rPr>
                        <a:t>-2</a:t>
                      </a:r>
                      <a:r>
                        <a:rPr lang="en-US" sz="700" dirty="0"/>
                        <a:t>)</a:t>
                      </a:r>
                    </a:p>
                  </a:txBody>
                  <a:tcPr marL="46583" marR="46583" marT="23291" marB="23291"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700" dirty="0"/>
                        <a:t>(</a:t>
                      </a:r>
                      <a:r>
                        <a:rPr lang="en-US" sz="700" dirty="0">
                          <a:solidFill>
                            <a:schemeClr val="tx2"/>
                          </a:solidFill>
                        </a:rPr>
                        <a:t>1</a:t>
                      </a:r>
                      <a:r>
                        <a:rPr lang="en-US" sz="700" dirty="0"/>
                        <a:t>, </a:t>
                      </a:r>
                      <a:r>
                        <a:rPr lang="en-US" sz="700" dirty="0">
                          <a:solidFill>
                            <a:srgbClr val="C00000"/>
                          </a:solidFill>
                        </a:rPr>
                        <a:t>-1</a:t>
                      </a:r>
                      <a:r>
                        <a:rPr lang="en-US" sz="700" dirty="0"/>
                        <a:t>)</a:t>
                      </a:r>
                    </a:p>
                  </a:txBody>
                  <a:tcPr marL="46583" marR="46583" marT="23291" marB="23291"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1"/>
                  </a:ext>
                </a:extLst>
              </a:tr>
              <a:tr h="281239">
                <a:tc>
                  <a:txBody>
                    <a:bodyPr/>
                    <a:lstStyle/>
                    <a:p>
                      <a:pPr marL="0" algn="ctr" defTabSz="914400" rtl="0" eaLnBrk="1" latinLnBrk="0" hangingPunct="1"/>
                      <a:r>
                        <a:rPr lang="en-US" sz="700" kern="1200" dirty="0">
                          <a:solidFill>
                            <a:schemeClr val="tx2"/>
                          </a:solidFill>
                          <a:latin typeface="+mn-lt"/>
                          <a:ea typeface="+mn-ea"/>
                          <a:cs typeface="+mn-cs"/>
                        </a:rPr>
                        <a:t>Bourgeois</a:t>
                      </a:r>
                    </a:p>
                  </a:txBody>
                  <a:tcPr marL="0" marR="0" marT="23291" marB="23291"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700" dirty="0"/>
                        <a:t>(</a:t>
                      </a:r>
                      <a:r>
                        <a:rPr lang="en-US" sz="700" dirty="0">
                          <a:solidFill>
                            <a:schemeClr val="tx2"/>
                          </a:solidFill>
                        </a:rPr>
                        <a:t>-1</a:t>
                      </a:r>
                      <a:r>
                        <a:rPr lang="en-US" sz="700" dirty="0"/>
                        <a:t>, </a:t>
                      </a:r>
                      <a:r>
                        <a:rPr lang="en-US" sz="700" dirty="0">
                          <a:solidFill>
                            <a:srgbClr val="C00000"/>
                          </a:solidFill>
                        </a:rPr>
                        <a:t>1</a:t>
                      </a:r>
                      <a:r>
                        <a:rPr lang="en-US" sz="700" dirty="0"/>
                        <a:t>)</a:t>
                      </a:r>
                    </a:p>
                  </a:txBody>
                  <a:tcPr marL="46583" marR="46583" marT="23291" marB="23291"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700" dirty="0"/>
                        <a:t>(</a:t>
                      </a:r>
                      <a:r>
                        <a:rPr lang="en-US" sz="700" dirty="0">
                          <a:solidFill>
                            <a:schemeClr val="tx2"/>
                          </a:solidFill>
                        </a:rPr>
                        <a:t>2</a:t>
                      </a:r>
                      <a:r>
                        <a:rPr lang="en-US" sz="700" dirty="0"/>
                        <a:t>, </a:t>
                      </a:r>
                      <a:r>
                        <a:rPr lang="en-US" sz="700" dirty="0">
                          <a:solidFill>
                            <a:srgbClr val="C00000"/>
                          </a:solidFill>
                        </a:rPr>
                        <a:t>2</a:t>
                      </a:r>
                      <a:r>
                        <a:rPr lang="en-US" sz="700" dirty="0"/>
                        <a:t>)</a:t>
                      </a:r>
                    </a:p>
                  </a:txBody>
                  <a:tcPr marL="46583" marR="46583" marT="23291" marB="23291"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FFFF00"/>
                    </a:solidFill>
                  </a:tcPr>
                </a:tc>
                <a:extLst>
                  <a:ext uri="{0D108BD9-81ED-4DB2-BD59-A6C34878D82A}">
                    <a16:rowId xmlns:a16="http://schemas.microsoft.com/office/drawing/2014/main" val="10002"/>
                  </a:ext>
                </a:extLst>
              </a:tr>
            </a:tbl>
          </a:graphicData>
        </a:graphic>
      </p:graphicFrame>
      <p:cxnSp>
        <p:nvCxnSpPr>
          <p:cNvPr id="35" name="Gerade Verbindung 34"/>
          <p:cNvCxnSpPr/>
          <p:nvPr/>
        </p:nvCxnSpPr>
        <p:spPr>
          <a:xfrm flipH="1">
            <a:off x="1691680" y="3795886"/>
            <a:ext cx="1" cy="288032"/>
          </a:xfrm>
          <a:prstGeom prst="line">
            <a:avLst/>
          </a:prstGeom>
          <a:solidFill>
            <a:schemeClr val="bg1">
              <a:lumMod val="8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8"/>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3"/>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6"/>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2"/>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34"/>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7"/>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8"/>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3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16" grpId="0" animBg="1"/>
      <p:bldP spid="17" grpId="0" animBg="1"/>
      <p:bldP spid="18" grpId="0" animBg="1"/>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en-US" dirty="0"/>
              <a:t>Proof:</a:t>
            </a:r>
            <a:br>
              <a:rPr lang="en-US" dirty="0"/>
            </a:br>
            <a:r>
              <a:rPr lang="en-US" dirty="0"/>
              <a:t>6) dynamics on the connecting segment between </a:t>
            </a:r>
            <a:r>
              <a:rPr lang="en-US" i="1" dirty="0"/>
              <a:t>B</a:t>
            </a:r>
            <a:r>
              <a:rPr lang="en-US" dirty="0"/>
              <a:t> and </a:t>
            </a:r>
            <a:r>
              <a:rPr lang="en-US" i="1" dirty="0"/>
              <a:t>M</a:t>
            </a:r>
          </a:p>
        </p:txBody>
      </p:sp>
      <p:sp>
        <p:nvSpPr>
          <p:cNvPr id="23" name="Rechteck 22"/>
          <p:cNvSpPr/>
          <p:nvPr/>
        </p:nvSpPr>
        <p:spPr>
          <a:xfrm>
            <a:off x="3419872" y="1131590"/>
            <a:ext cx="5472608" cy="3888432"/>
          </a:xfrm>
          <a:prstGeom prst="rect">
            <a:avLst/>
          </a:prstGeom>
          <a:noFill/>
          <a:ln>
            <a:solidFill>
              <a:schemeClr val="tx2">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83" name="Grafik 82" descr="IguanaTex_tmp.png"/>
          <p:cNvPicPr>
            <a:picLocks noChangeAspect="1"/>
          </p:cNvPicPr>
          <p:nvPr>
            <p:custDataLst>
              <p:tags r:id="rId1"/>
            </p:custDataLst>
          </p:nvPr>
        </p:nvPicPr>
        <p:blipFill>
          <a:blip r:embed="rId5" cstate="print"/>
          <a:stretch>
            <a:fillRect/>
          </a:stretch>
        </p:blipFill>
        <p:spPr>
          <a:xfrm>
            <a:off x="3491872" y="1203572"/>
            <a:ext cx="5319393" cy="3727651"/>
          </a:xfrm>
          <a:prstGeom prst="rect">
            <a:avLst/>
          </a:prstGeom>
          <a:noFill/>
          <a:ln/>
          <a:effectLst/>
        </p:spPr>
      </p:pic>
      <p:sp>
        <p:nvSpPr>
          <p:cNvPr id="29" name="Gleichschenkliges Dreieck 28"/>
          <p:cNvSpPr/>
          <p:nvPr/>
        </p:nvSpPr>
        <p:spPr>
          <a:xfrm>
            <a:off x="1395279" y="3363838"/>
            <a:ext cx="1440160" cy="1241517"/>
          </a:xfrm>
          <a:prstGeom prst="triangle">
            <a:avLst/>
          </a:prstGeom>
          <a:solidFill>
            <a:schemeClr val="bg1">
              <a:lumMod val="85000"/>
            </a:schemeClr>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32" name="Gerade Verbindung 31"/>
          <p:cNvCxnSpPr/>
          <p:nvPr/>
        </p:nvCxnSpPr>
        <p:spPr>
          <a:xfrm>
            <a:off x="2116515" y="3363838"/>
            <a:ext cx="0" cy="1241517"/>
          </a:xfrm>
          <a:prstGeom prst="line">
            <a:avLst/>
          </a:prstGeom>
          <a:ln>
            <a:solidFill>
              <a:srgbClr val="C00000"/>
            </a:solidFill>
          </a:ln>
        </p:spPr>
        <p:style>
          <a:lnRef idx="1">
            <a:schemeClr val="accent1"/>
          </a:lnRef>
          <a:fillRef idx="0">
            <a:schemeClr val="accent1"/>
          </a:fillRef>
          <a:effectRef idx="0">
            <a:schemeClr val="accent1"/>
          </a:effectRef>
          <a:fontRef idx="minor">
            <a:schemeClr val="tx1"/>
          </a:fontRef>
        </p:style>
      </p:cxnSp>
      <p:sp>
        <p:nvSpPr>
          <p:cNvPr id="36" name="Ellipse 35"/>
          <p:cNvSpPr/>
          <p:nvPr/>
        </p:nvSpPr>
        <p:spPr>
          <a:xfrm>
            <a:off x="2784363" y="4558602"/>
            <a:ext cx="72008" cy="72008"/>
          </a:xfrm>
          <a:prstGeom prst="ellipse">
            <a:avLst/>
          </a:prstGeom>
          <a:solidFill>
            <a:schemeClr val="bg1"/>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Ellipse 36"/>
          <p:cNvSpPr/>
          <p:nvPr/>
        </p:nvSpPr>
        <p:spPr>
          <a:xfrm>
            <a:off x="2080511" y="4565134"/>
            <a:ext cx="72008" cy="72008"/>
          </a:xfrm>
          <a:prstGeom prst="ellipse">
            <a:avLst/>
          </a:prstGeom>
          <a:solidFill>
            <a:srgbClr val="C0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Ellipse 37"/>
          <p:cNvSpPr/>
          <p:nvPr/>
        </p:nvSpPr>
        <p:spPr>
          <a:xfrm>
            <a:off x="1368991" y="4558603"/>
            <a:ext cx="72008" cy="72008"/>
          </a:xfrm>
          <a:prstGeom prst="ellipse">
            <a:avLst/>
          </a:prstGeom>
          <a:solidFill>
            <a:schemeClr val="bg1"/>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 name="Ellipse 38"/>
          <p:cNvSpPr/>
          <p:nvPr/>
        </p:nvSpPr>
        <p:spPr>
          <a:xfrm>
            <a:off x="2080511" y="3344254"/>
            <a:ext cx="72008" cy="72008"/>
          </a:xfrm>
          <a:prstGeom prst="ellipse">
            <a:avLst/>
          </a:prstGeom>
          <a:solidFill>
            <a:srgbClr val="C0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 name="Textfeld 39"/>
          <p:cNvSpPr txBox="1"/>
          <p:nvPr/>
        </p:nvSpPr>
        <p:spPr>
          <a:xfrm>
            <a:off x="1654809" y="3075806"/>
            <a:ext cx="925253" cy="307777"/>
          </a:xfrm>
          <a:prstGeom prst="rect">
            <a:avLst/>
          </a:prstGeom>
          <a:noFill/>
        </p:spPr>
        <p:txBody>
          <a:bodyPr wrap="none" rtlCol="0">
            <a:spAutoFit/>
          </a:bodyPr>
          <a:lstStyle/>
          <a:p>
            <a:r>
              <a:rPr lang="en-US" sz="1400" dirty="0"/>
              <a:t>B = (0,0,1)</a:t>
            </a:r>
          </a:p>
        </p:txBody>
      </p:sp>
      <p:sp>
        <p:nvSpPr>
          <p:cNvPr id="41" name="Textfeld 40"/>
          <p:cNvSpPr txBox="1"/>
          <p:nvPr/>
        </p:nvSpPr>
        <p:spPr>
          <a:xfrm>
            <a:off x="2344445" y="4443958"/>
            <a:ext cx="787395" cy="523220"/>
          </a:xfrm>
          <a:prstGeom prst="rect">
            <a:avLst/>
          </a:prstGeom>
          <a:noFill/>
        </p:spPr>
        <p:txBody>
          <a:bodyPr wrap="none" rtlCol="0">
            <a:spAutoFit/>
          </a:bodyPr>
          <a:lstStyle/>
          <a:p>
            <a:pPr algn="r"/>
            <a:r>
              <a:rPr lang="en-US" sz="1400" dirty="0"/>
              <a:t>H</a:t>
            </a:r>
          </a:p>
          <a:p>
            <a:pPr algn="r"/>
            <a:r>
              <a:rPr lang="en-US" sz="1400" dirty="0"/>
              <a:t>= (1,0,0)</a:t>
            </a:r>
          </a:p>
        </p:txBody>
      </p:sp>
      <p:sp>
        <p:nvSpPr>
          <p:cNvPr id="42" name="Textfeld 41"/>
          <p:cNvSpPr txBox="1"/>
          <p:nvPr/>
        </p:nvSpPr>
        <p:spPr>
          <a:xfrm>
            <a:off x="1107247" y="4443958"/>
            <a:ext cx="787395" cy="523220"/>
          </a:xfrm>
          <a:prstGeom prst="rect">
            <a:avLst/>
          </a:prstGeom>
          <a:noFill/>
        </p:spPr>
        <p:txBody>
          <a:bodyPr wrap="none" rtlCol="0">
            <a:spAutoFit/>
          </a:bodyPr>
          <a:lstStyle/>
          <a:p>
            <a:r>
              <a:rPr lang="en-US" sz="1400" dirty="0"/>
              <a:t>D</a:t>
            </a:r>
          </a:p>
          <a:p>
            <a:r>
              <a:rPr lang="en-US" sz="1400" dirty="0"/>
              <a:t>= (0,1,0)</a:t>
            </a:r>
          </a:p>
        </p:txBody>
      </p:sp>
      <p:sp>
        <p:nvSpPr>
          <p:cNvPr id="51" name="Gleichschenkliges Dreieck 50"/>
          <p:cNvSpPr/>
          <p:nvPr/>
        </p:nvSpPr>
        <p:spPr>
          <a:xfrm>
            <a:off x="2044740" y="3636567"/>
            <a:ext cx="144016" cy="124152"/>
          </a:xfrm>
          <a:prstGeom prst="triangle">
            <a:avLst/>
          </a:prstGeom>
          <a:solidFill>
            <a:schemeClr val="bg2">
              <a:lumMod val="9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2" name="Gleichschenkliges Dreieck 51"/>
          <p:cNvSpPr/>
          <p:nvPr/>
        </p:nvSpPr>
        <p:spPr>
          <a:xfrm>
            <a:off x="2044740" y="4175090"/>
            <a:ext cx="144016" cy="124152"/>
          </a:xfrm>
          <a:prstGeom prst="triangle">
            <a:avLst/>
          </a:prstGeom>
          <a:solidFill>
            <a:schemeClr val="bg2">
              <a:lumMod val="9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53" name="Tabelle 52"/>
          <p:cNvGraphicFramePr>
            <a:graphicFrameLocks noGrp="1"/>
          </p:cNvGraphicFramePr>
          <p:nvPr>
            <p:custDataLst>
              <p:tags r:id="rId2"/>
            </p:custDataLst>
          </p:nvPr>
        </p:nvGraphicFramePr>
        <p:xfrm>
          <a:off x="251520" y="1131590"/>
          <a:ext cx="1728192" cy="1124956"/>
        </p:xfrm>
        <a:graphic>
          <a:graphicData uri="http://schemas.openxmlformats.org/drawingml/2006/table">
            <a:tbl>
              <a:tblPr firstRow="1" bandRow="1">
                <a:tableStyleId>{5C22544A-7EE6-4342-B048-85BDC9FD1C3A}</a:tableStyleId>
              </a:tblPr>
              <a:tblGrid>
                <a:gridCol w="432048">
                  <a:extLst>
                    <a:ext uri="{9D8B030D-6E8A-4147-A177-3AD203B41FA5}">
                      <a16:colId xmlns:a16="http://schemas.microsoft.com/office/drawing/2014/main" val="20000"/>
                    </a:ext>
                  </a:extLst>
                </a:gridCol>
                <a:gridCol w="432048">
                  <a:extLst>
                    <a:ext uri="{9D8B030D-6E8A-4147-A177-3AD203B41FA5}">
                      <a16:colId xmlns:a16="http://schemas.microsoft.com/office/drawing/2014/main" val="20001"/>
                    </a:ext>
                  </a:extLst>
                </a:gridCol>
                <a:gridCol w="432048">
                  <a:extLst>
                    <a:ext uri="{9D8B030D-6E8A-4147-A177-3AD203B41FA5}">
                      <a16:colId xmlns:a16="http://schemas.microsoft.com/office/drawing/2014/main" val="20002"/>
                    </a:ext>
                  </a:extLst>
                </a:gridCol>
                <a:gridCol w="432048">
                  <a:extLst>
                    <a:ext uri="{9D8B030D-6E8A-4147-A177-3AD203B41FA5}">
                      <a16:colId xmlns:a16="http://schemas.microsoft.com/office/drawing/2014/main" val="20003"/>
                    </a:ext>
                  </a:extLst>
                </a:gridCol>
              </a:tblGrid>
              <a:tr h="281239">
                <a:tc>
                  <a:txBody>
                    <a:bodyPr/>
                    <a:lstStyle/>
                    <a:p>
                      <a:pPr algn="ctr"/>
                      <a:r>
                        <a:rPr lang="en-US" sz="700" b="0" dirty="0">
                          <a:solidFill>
                            <a:schemeClr val="tx1"/>
                          </a:solidFill>
                        </a:rPr>
                        <a:t>player</a:t>
                      </a:r>
                      <a:br>
                        <a:rPr lang="en-US" sz="700" b="0" dirty="0">
                          <a:solidFill>
                            <a:schemeClr val="tx1"/>
                          </a:solidFill>
                        </a:rPr>
                      </a:br>
                      <a:r>
                        <a:rPr lang="en-US" sz="700" b="0" dirty="0">
                          <a:solidFill>
                            <a:schemeClr val="tx2"/>
                          </a:solidFill>
                        </a:rPr>
                        <a:t>1</a:t>
                      </a:r>
                      <a:r>
                        <a:rPr lang="en-US" sz="700" b="0" dirty="0">
                          <a:solidFill>
                            <a:schemeClr val="tx1"/>
                          </a:solidFill>
                        </a:rPr>
                        <a:t>            </a:t>
                      </a:r>
                      <a:r>
                        <a:rPr lang="en-US" sz="700" b="0" dirty="0">
                          <a:solidFill>
                            <a:srgbClr val="C00000"/>
                          </a:solidFill>
                        </a:rPr>
                        <a:t>2</a:t>
                      </a:r>
                    </a:p>
                  </a:txBody>
                  <a:tcPr marL="46583" marR="46583" marT="23291" marB="23291" anchor="ctr">
                    <a:lnL w="12700" cap="flat" cmpd="sng" algn="ctr">
                      <a:noFill/>
                      <a:prstDash val="solid"/>
                      <a:round/>
                      <a:headEnd type="none" w="med" len="med"/>
                      <a:tailEnd type="none" w="med" len="med"/>
                    </a:lnL>
                    <a:lnR w="635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ctr"/>
                      <a:r>
                        <a:rPr lang="en-US" sz="700" b="0" dirty="0">
                          <a:solidFill>
                            <a:srgbClr val="C00000"/>
                          </a:solidFill>
                        </a:rPr>
                        <a:t>Hawk</a:t>
                      </a:r>
                    </a:p>
                  </a:txBody>
                  <a:tcPr marL="46583" marR="46583" marT="23291" marB="23291"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ctr"/>
                      <a:r>
                        <a:rPr lang="en-US" sz="700" b="0" dirty="0">
                          <a:solidFill>
                            <a:srgbClr val="C00000"/>
                          </a:solidFill>
                        </a:rPr>
                        <a:t>Dove</a:t>
                      </a:r>
                    </a:p>
                  </a:txBody>
                  <a:tcPr marL="46583" marR="46583" marT="23291" marB="23291"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marL="0" algn="ctr" defTabSz="914400" rtl="0" eaLnBrk="1" latinLnBrk="0" hangingPunct="1"/>
                      <a:r>
                        <a:rPr lang="en-US" sz="700" b="0" kern="1200" dirty="0">
                          <a:solidFill>
                            <a:srgbClr val="C00000"/>
                          </a:solidFill>
                          <a:latin typeface="+mn-lt"/>
                          <a:ea typeface="+mn-ea"/>
                          <a:cs typeface="+mn-cs"/>
                        </a:rPr>
                        <a:t>Bourgeois</a:t>
                      </a:r>
                    </a:p>
                  </a:txBody>
                  <a:tcPr marL="0" marR="0" marT="23291" marB="23291"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0"/>
                  </a:ext>
                </a:extLst>
              </a:tr>
              <a:tr h="281239">
                <a:tc>
                  <a:txBody>
                    <a:bodyPr/>
                    <a:lstStyle/>
                    <a:p>
                      <a:pPr algn="ctr"/>
                      <a:r>
                        <a:rPr lang="en-US" sz="700" dirty="0">
                          <a:solidFill>
                            <a:schemeClr val="tx2"/>
                          </a:solidFill>
                        </a:rPr>
                        <a:t>Hawk</a:t>
                      </a:r>
                    </a:p>
                  </a:txBody>
                  <a:tcPr marL="46583" marR="46583" marT="23291" marB="23291"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ctr"/>
                      <a:r>
                        <a:rPr lang="en-US" sz="700" dirty="0"/>
                        <a:t>(</a:t>
                      </a:r>
                      <a:r>
                        <a:rPr lang="en-US" sz="700" dirty="0">
                          <a:solidFill>
                            <a:schemeClr val="tx2"/>
                          </a:solidFill>
                        </a:rPr>
                        <a:t>-2</a:t>
                      </a:r>
                      <a:r>
                        <a:rPr lang="en-US" sz="700" dirty="0"/>
                        <a:t>, </a:t>
                      </a:r>
                      <a:r>
                        <a:rPr lang="en-US" sz="700" dirty="0">
                          <a:solidFill>
                            <a:srgbClr val="C00000"/>
                          </a:solidFill>
                        </a:rPr>
                        <a:t>-2</a:t>
                      </a:r>
                      <a:r>
                        <a:rPr lang="en-US" sz="700" dirty="0"/>
                        <a:t>)</a:t>
                      </a:r>
                    </a:p>
                  </a:txBody>
                  <a:tcPr marL="46583" marR="46583" marT="23291" marB="23291"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accent3">
                        <a:lumMod val="40000"/>
                        <a:lumOff val="60000"/>
                      </a:schemeClr>
                    </a:solidFill>
                  </a:tcPr>
                </a:tc>
                <a:tc>
                  <a:txBody>
                    <a:bodyPr/>
                    <a:lstStyle/>
                    <a:p>
                      <a:pPr algn="ctr"/>
                      <a:r>
                        <a:rPr lang="en-US" sz="700" dirty="0"/>
                        <a:t>(</a:t>
                      </a:r>
                      <a:r>
                        <a:rPr lang="en-US" sz="700" dirty="0">
                          <a:solidFill>
                            <a:schemeClr val="tx2"/>
                          </a:solidFill>
                        </a:rPr>
                        <a:t>4</a:t>
                      </a:r>
                      <a:r>
                        <a:rPr lang="en-US" sz="700" dirty="0"/>
                        <a:t>, </a:t>
                      </a:r>
                      <a:r>
                        <a:rPr lang="en-US" sz="700" dirty="0">
                          <a:solidFill>
                            <a:srgbClr val="C00000"/>
                          </a:solidFill>
                        </a:rPr>
                        <a:t>0</a:t>
                      </a:r>
                      <a:r>
                        <a:rPr lang="en-US" sz="700" dirty="0"/>
                        <a:t>)</a:t>
                      </a:r>
                    </a:p>
                  </a:txBody>
                  <a:tcPr marL="46583" marR="46583" marT="23291" marB="23291"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accent3">
                        <a:lumMod val="40000"/>
                        <a:lumOff val="60000"/>
                      </a:schemeClr>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700" dirty="0"/>
                        <a:t>(</a:t>
                      </a:r>
                      <a:r>
                        <a:rPr lang="en-US" sz="700" dirty="0">
                          <a:solidFill>
                            <a:schemeClr val="tx2"/>
                          </a:solidFill>
                        </a:rPr>
                        <a:t>1</a:t>
                      </a:r>
                      <a:r>
                        <a:rPr lang="en-US" sz="700" dirty="0"/>
                        <a:t>, </a:t>
                      </a:r>
                      <a:r>
                        <a:rPr lang="en-US" sz="700" dirty="0">
                          <a:solidFill>
                            <a:srgbClr val="C00000"/>
                          </a:solidFill>
                        </a:rPr>
                        <a:t>-1</a:t>
                      </a:r>
                      <a:r>
                        <a:rPr lang="en-US" sz="700" dirty="0"/>
                        <a:t>)</a:t>
                      </a:r>
                    </a:p>
                  </a:txBody>
                  <a:tcPr marL="46583" marR="46583" marT="23291" marB="23291"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accent6">
                        <a:lumMod val="40000"/>
                        <a:lumOff val="60000"/>
                      </a:schemeClr>
                    </a:solidFill>
                  </a:tcPr>
                </a:tc>
                <a:extLst>
                  <a:ext uri="{0D108BD9-81ED-4DB2-BD59-A6C34878D82A}">
                    <a16:rowId xmlns:a16="http://schemas.microsoft.com/office/drawing/2014/main" val="10001"/>
                  </a:ext>
                </a:extLst>
              </a:tr>
              <a:tr h="281239">
                <a:tc>
                  <a:txBody>
                    <a:bodyPr/>
                    <a:lstStyle/>
                    <a:p>
                      <a:pPr algn="ctr"/>
                      <a:r>
                        <a:rPr lang="en-US" sz="700" dirty="0">
                          <a:solidFill>
                            <a:schemeClr val="tx2"/>
                          </a:solidFill>
                        </a:rPr>
                        <a:t>Dove</a:t>
                      </a:r>
                    </a:p>
                  </a:txBody>
                  <a:tcPr marL="46583" marR="46583" marT="23291" marB="23291"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ctr"/>
                      <a:r>
                        <a:rPr lang="en-US" sz="700" dirty="0"/>
                        <a:t>(</a:t>
                      </a:r>
                      <a:r>
                        <a:rPr lang="en-US" sz="700" dirty="0">
                          <a:solidFill>
                            <a:schemeClr val="tx2"/>
                          </a:solidFill>
                        </a:rPr>
                        <a:t>0</a:t>
                      </a:r>
                      <a:r>
                        <a:rPr lang="en-US" sz="700" dirty="0"/>
                        <a:t>,</a:t>
                      </a:r>
                      <a:r>
                        <a:rPr lang="en-US" sz="700" baseline="0" dirty="0"/>
                        <a:t> </a:t>
                      </a:r>
                      <a:r>
                        <a:rPr lang="en-US" sz="700" baseline="0" dirty="0">
                          <a:solidFill>
                            <a:srgbClr val="C00000"/>
                          </a:solidFill>
                        </a:rPr>
                        <a:t>4</a:t>
                      </a:r>
                      <a:r>
                        <a:rPr lang="en-US" sz="700" baseline="0" dirty="0"/>
                        <a:t>)</a:t>
                      </a:r>
                      <a:endParaRPr lang="en-US" sz="700" dirty="0"/>
                    </a:p>
                  </a:txBody>
                  <a:tcPr marL="46583" marR="46583" marT="23291" marB="23291"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accent3">
                        <a:lumMod val="40000"/>
                        <a:lumOff val="60000"/>
                      </a:schemeClr>
                    </a:solidFill>
                  </a:tcPr>
                </a:tc>
                <a:tc>
                  <a:txBody>
                    <a:bodyPr/>
                    <a:lstStyle/>
                    <a:p>
                      <a:pPr algn="ctr"/>
                      <a:r>
                        <a:rPr lang="en-US" sz="700" dirty="0"/>
                        <a:t>(</a:t>
                      </a:r>
                      <a:r>
                        <a:rPr lang="en-US" sz="700" dirty="0">
                          <a:solidFill>
                            <a:schemeClr val="tx2"/>
                          </a:solidFill>
                        </a:rPr>
                        <a:t>2</a:t>
                      </a:r>
                      <a:r>
                        <a:rPr lang="en-US" sz="700" dirty="0"/>
                        <a:t>, </a:t>
                      </a:r>
                      <a:r>
                        <a:rPr lang="en-US" sz="700" dirty="0">
                          <a:solidFill>
                            <a:srgbClr val="C00000"/>
                          </a:solidFill>
                        </a:rPr>
                        <a:t>2</a:t>
                      </a:r>
                      <a:r>
                        <a:rPr lang="en-US" sz="700" dirty="0"/>
                        <a:t>)</a:t>
                      </a:r>
                    </a:p>
                  </a:txBody>
                  <a:tcPr marL="46583" marR="46583" marT="23291" marB="23291"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accent3">
                        <a:lumMod val="40000"/>
                        <a:lumOff val="60000"/>
                      </a:schemeClr>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700" dirty="0"/>
                        <a:t>(</a:t>
                      </a:r>
                      <a:r>
                        <a:rPr lang="en-US" sz="700" dirty="0">
                          <a:solidFill>
                            <a:schemeClr val="tx2"/>
                          </a:solidFill>
                        </a:rPr>
                        <a:t>1</a:t>
                      </a:r>
                      <a:r>
                        <a:rPr lang="en-US" sz="700" dirty="0"/>
                        <a:t>, </a:t>
                      </a:r>
                      <a:r>
                        <a:rPr lang="en-US" sz="700" dirty="0">
                          <a:solidFill>
                            <a:srgbClr val="C00000"/>
                          </a:solidFill>
                        </a:rPr>
                        <a:t>3</a:t>
                      </a:r>
                      <a:r>
                        <a:rPr lang="en-US" sz="700" dirty="0"/>
                        <a:t>)</a:t>
                      </a:r>
                    </a:p>
                  </a:txBody>
                  <a:tcPr marL="46583" marR="46583" marT="23291" marB="23291"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accent6">
                        <a:lumMod val="40000"/>
                        <a:lumOff val="60000"/>
                      </a:schemeClr>
                    </a:solidFill>
                  </a:tcPr>
                </a:tc>
                <a:extLst>
                  <a:ext uri="{0D108BD9-81ED-4DB2-BD59-A6C34878D82A}">
                    <a16:rowId xmlns:a16="http://schemas.microsoft.com/office/drawing/2014/main" val="10002"/>
                  </a:ext>
                </a:extLst>
              </a:tr>
              <a:tr h="281239">
                <a:tc>
                  <a:txBody>
                    <a:bodyPr/>
                    <a:lstStyle/>
                    <a:p>
                      <a:pPr marL="0" algn="ctr" defTabSz="914400" rtl="0" eaLnBrk="1" latinLnBrk="0" hangingPunct="1"/>
                      <a:r>
                        <a:rPr lang="en-US" sz="700" kern="1200" dirty="0">
                          <a:solidFill>
                            <a:schemeClr val="tx2"/>
                          </a:solidFill>
                          <a:latin typeface="+mn-lt"/>
                          <a:ea typeface="+mn-ea"/>
                          <a:cs typeface="+mn-cs"/>
                        </a:rPr>
                        <a:t>Bourgeois</a:t>
                      </a:r>
                    </a:p>
                  </a:txBody>
                  <a:tcPr marL="0" marR="0" marT="23291" marB="23291"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700" dirty="0"/>
                        <a:t>(</a:t>
                      </a:r>
                      <a:r>
                        <a:rPr lang="en-US" sz="700" dirty="0">
                          <a:solidFill>
                            <a:schemeClr val="tx2"/>
                          </a:solidFill>
                        </a:rPr>
                        <a:t>-1</a:t>
                      </a:r>
                      <a:r>
                        <a:rPr lang="en-US" sz="700" dirty="0"/>
                        <a:t>, </a:t>
                      </a:r>
                      <a:r>
                        <a:rPr lang="en-US" sz="700" dirty="0">
                          <a:solidFill>
                            <a:srgbClr val="C00000"/>
                          </a:solidFill>
                        </a:rPr>
                        <a:t>1</a:t>
                      </a:r>
                      <a:r>
                        <a:rPr lang="en-US" sz="700" dirty="0"/>
                        <a:t>)</a:t>
                      </a:r>
                    </a:p>
                  </a:txBody>
                  <a:tcPr marL="46583" marR="46583" marT="23291" marB="23291"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accent6">
                        <a:lumMod val="40000"/>
                        <a:lumOff val="60000"/>
                      </a:schemeClr>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700" dirty="0"/>
                        <a:t>(</a:t>
                      </a:r>
                      <a:r>
                        <a:rPr lang="en-US" sz="700" dirty="0">
                          <a:solidFill>
                            <a:schemeClr val="tx2"/>
                          </a:solidFill>
                        </a:rPr>
                        <a:t>3</a:t>
                      </a:r>
                      <a:r>
                        <a:rPr lang="en-US" sz="700" dirty="0"/>
                        <a:t>, </a:t>
                      </a:r>
                      <a:r>
                        <a:rPr lang="en-US" sz="700" dirty="0">
                          <a:solidFill>
                            <a:srgbClr val="C00000"/>
                          </a:solidFill>
                        </a:rPr>
                        <a:t>1</a:t>
                      </a:r>
                      <a:r>
                        <a:rPr lang="en-US" sz="700" dirty="0"/>
                        <a:t>)</a:t>
                      </a:r>
                    </a:p>
                  </a:txBody>
                  <a:tcPr marL="46583" marR="46583" marT="23291" marB="23291"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accent6">
                        <a:lumMod val="40000"/>
                        <a:lumOff val="60000"/>
                      </a:schemeClr>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700" dirty="0"/>
                        <a:t>(</a:t>
                      </a:r>
                      <a:r>
                        <a:rPr lang="en-US" sz="700" dirty="0">
                          <a:solidFill>
                            <a:schemeClr val="tx2"/>
                          </a:solidFill>
                        </a:rPr>
                        <a:t>2</a:t>
                      </a:r>
                      <a:r>
                        <a:rPr lang="en-US" sz="700" dirty="0"/>
                        <a:t>, </a:t>
                      </a:r>
                      <a:r>
                        <a:rPr lang="en-US" sz="700" dirty="0">
                          <a:solidFill>
                            <a:srgbClr val="C00000"/>
                          </a:solidFill>
                        </a:rPr>
                        <a:t>2</a:t>
                      </a:r>
                      <a:r>
                        <a:rPr lang="en-US" sz="700" dirty="0"/>
                        <a:t>)</a:t>
                      </a:r>
                    </a:p>
                  </a:txBody>
                  <a:tcPr marL="46583" marR="46583" marT="23291" marB="23291"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FFFF00"/>
                    </a:solidFill>
                  </a:tcPr>
                </a:tc>
                <a:extLst>
                  <a:ext uri="{0D108BD9-81ED-4DB2-BD59-A6C34878D82A}">
                    <a16:rowId xmlns:a16="http://schemas.microsoft.com/office/drawing/2014/main" val="10003"/>
                  </a:ext>
                </a:extLst>
              </a:tr>
            </a:tbl>
          </a:graphicData>
        </a:graphic>
      </p:graphicFrame>
      <p:graphicFrame>
        <p:nvGraphicFramePr>
          <p:cNvPr id="54" name="Tabelle 53"/>
          <p:cNvGraphicFramePr>
            <a:graphicFrameLocks noGrp="1"/>
          </p:cNvGraphicFramePr>
          <p:nvPr>
            <p:custDataLst>
              <p:tags r:id="rId3"/>
            </p:custDataLst>
          </p:nvPr>
        </p:nvGraphicFramePr>
        <p:xfrm>
          <a:off x="251520" y="2787774"/>
          <a:ext cx="1296144" cy="843717"/>
        </p:xfrm>
        <a:graphic>
          <a:graphicData uri="http://schemas.openxmlformats.org/drawingml/2006/table">
            <a:tbl>
              <a:tblPr firstRow="1" bandRow="1">
                <a:tableStyleId>{5C22544A-7EE6-4342-B048-85BDC9FD1C3A}</a:tableStyleId>
              </a:tblPr>
              <a:tblGrid>
                <a:gridCol w="432048">
                  <a:extLst>
                    <a:ext uri="{9D8B030D-6E8A-4147-A177-3AD203B41FA5}">
                      <a16:colId xmlns:a16="http://schemas.microsoft.com/office/drawing/2014/main" val="20000"/>
                    </a:ext>
                  </a:extLst>
                </a:gridCol>
                <a:gridCol w="432048">
                  <a:extLst>
                    <a:ext uri="{9D8B030D-6E8A-4147-A177-3AD203B41FA5}">
                      <a16:colId xmlns:a16="http://schemas.microsoft.com/office/drawing/2014/main" val="20001"/>
                    </a:ext>
                  </a:extLst>
                </a:gridCol>
                <a:gridCol w="432048">
                  <a:extLst>
                    <a:ext uri="{9D8B030D-6E8A-4147-A177-3AD203B41FA5}">
                      <a16:colId xmlns:a16="http://schemas.microsoft.com/office/drawing/2014/main" val="20002"/>
                    </a:ext>
                  </a:extLst>
                </a:gridCol>
              </a:tblGrid>
              <a:tr h="281239">
                <a:tc>
                  <a:txBody>
                    <a:bodyPr/>
                    <a:lstStyle/>
                    <a:p>
                      <a:pPr algn="ctr"/>
                      <a:r>
                        <a:rPr lang="en-US" sz="700" b="0" dirty="0">
                          <a:solidFill>
                            <a:schemeClr val="tx1"/>
                          </a:solidFill>
                        </a:rPr>
                        <a:t>player</a:t>
                      </a:r>
                      <a:br>
                        <a:rPr lang="en-US" sz="700" b="0" dirty="0">
                          <a:solidFill>
                            <a:schemeClr val="tx1"/>
                          </a:solidFill>
                        </a:rPr>
                      </a:br>
                      <a:r>
                        <a:rPr lang="en-US" sz="700" b="0" dirty="0">
                          <a:solidFill>
                            <a:schemeClr val="tx2"/>
                          </a:solidFill>
                        </a:rPr>
                        <a:t>1</a:t>
                      </a:r>
                      <a:r>
                        <a:rPr lang="en-US" sz="700" b="0" dirty="0">
                          <a:solidFill>
                            <a:schemeClr val="tx1"/>
                          </a:solidFill>
                        </a:rPr>
                        <a:t>            </a:t>
                      </a:r>
                      <a:r>
                        <a:rPr lang="en-US" sz="700" b="0" dirty="0">
                          <a:solidFill>
                            <a:srgbClr val="C00000"/>
                          </a:solidFill>
                        </a:rPr>
                        <a:t>2</a:t>
                      </a:r>
                    </a:p>
                  </a:txBody>
                  <a:tcPr marL="46583" marR="46583" marT="23291" marB="23291" anchor="ctr">
                    <a:lnL w="12700" cap="flat" cmpd="sng" algn="ctr">
                      <a:noFill/>
                      <a:prstDash val="solid"/>
                      <a:round/>
                      <a:headEnd type="none" w="med" len="med"/>
                      <a:tailEnd type="none" w="med" len="med"/>
                    </a:lnL>
                    <a:lnR w="635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ctr"/>
                      <a:r>
                        <a:rPr lang="en-US" sz="700" b="0">
                          <a:solidFill>
                            <a:srgbClr val="C00000"/>
                          </a:solidFill>
                        </a:rPr>
                        <a:t>A</a:t>
                      </a:r>
                      <a:endParaRPr lang="en-US" sz="700" b="0" dirty="0">
                        <a:solidFill>
                          <a:srgbClr val="C00000"/>
                        </a:solidFill>
                      </a:endParaRPr>
                    </a:p>
                  </a:txBody>
                  <a:tcPr marL="46583" marR="46583" marT="23291" marB="23291"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marL="0" algn="ctr" defTabSz="914400" rtl="0" eaLnBrk="1" latinLnBrk="0" hangingPunct="1"/>
                      <a:r>
                        <a:rPr lang="en-US" sz="700" b="0" kern="1200" dirty="0">
                          <a:solidFill>
                            <a:srgbClr val="C00000"/>
                          </a:solidFill>
                          <a:latin typeface="+mn-lt"/>
                          <a:ea typeface="+mn-ea"/>
                          <a:cs typeface="+mn-cs"/>
                        </a:rPr>
                        <a:t>Bourgeois</a:t>
                      </a:r>
                    </a:p>
                  </a:txBody>
                  <a:tcPr marL="0" marR="0" marT="23291" marB="23291"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0"/>
                  </a:ext>
                </a:extLst>
              </a:tr>
              <a:tr h="281239">
                <a:tc>
                  <a:txBody>
                    <a:bodyPr/>
                    <a:lstStyle/>
                    <a:p>
                      <a:pPr algn="ctr"/>
                      <a:r>
                        <a:rPr lang="en-US" sz="700" dirty="0">
                          <a:solidFill>
                            <a:schemeClr val="tx2"/>
                          </a:solidFill>
                        </a:rPr>
                        <a:t>A</a:t>
                      </a:r>
                    </a:p>
                  </a:txBody>
                  <a:tcPr marL="46583" marR="46583" marT="23291" marB="23291"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ctr"/>
                      <a:r>
                        <a:rPr lang="en-US" sz="700" dirty="0"/>
                        <a:t>(</a:t>
                      </a:r>
                      <a:r>
                        <a:rPr lang="en-US" sz="700" dirty="0">
                          <a:solidFill>
                            <a:schemeClr val="tx2"/>
                          </a:solidFill>
                        </a:rPr>
                        <a:t>1</a:t>
                      </a:r>
                      <a:r>
                        <a:rPr lang="en-US" sz="700" dirty="0"/>
                        <a:t>, </a:t>
                      </a:r>
                      <a:r>
                        <a:rPr lang="en-US" sz="700" dirty="0">
                          <a:solidFill>
                            <a:srgbClr val="C00000"/>
                          </a:solidFill>
                        </a:rPr>
                        <a:t>1</a:t>
                      </a:r>
                      <a:r>
                        <a:rPr lang="en-US" sz="700" dirty="0"/>
                        <a:t>)</a:t>
                      </a:r>
                    </a:p>
                  </a:txBody>
                  <a:tcPr marL="46583" marR="46583" marT="23291" marB="23291"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accent3">
                        <a:lumMod val="40000"/>
                        <a:lumOff val="60000"/>
                      </a:schemeClr>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700" dirty="0"/>
                        <a:t>(</a:t>
                      </a:r>
                      <a:r>
                        <a:rPr lang="en-US" sz="700" dirty="0">
                          <a:solidFill>
                            <a:schemeClr val="tx2"/>
                          </a:solidFill>
                        </a:rPr>
                        <a:t>1</a:t>
                      </a:r>
                      <a:r>
                        <a:rPr lang="en-US" sz="700" dirty="0"/>
                        <a:t>, </a:t>
                      </a:r>
                      <a:r>
                        <a:rPr lang="en-US" sz="700" dirty="0">
                          <a:solidFill>
                            <a:srgbClr val="C00000"/>
                          </a:solidFill>
                        </a:rPr>
                        <a:t>1</a:t>
                      </a:r>
                      <a:r>
                        <a:rPr lang="en-US" sz="700" dirty="0"/>
                        <a:t>)</a:t>
                      </a:r>
                    </a:p>
                  </a:txBody>
                  <a:tcPr marL="46583" marR="46583" marT="23291" marB="23291"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accent6">
                        <a:lumMod val="40000"/>
                        <a:lumOff val="60000"/>
                      </a:schemeClr>
                    </a:solidFill>
                  </a:tcPr>
                </a:tc>
                <a:extLst>
                  <a:ext uri="{0D108BD9-81ED-4DB2-BD59-A6C34878D82A}">
                    <a16:rowId xmlns:a16="http://schemas.microsoft.com/office/drawing/2014/main" val="10001"/>
                  </a:ext>
                </a:extLst>
              </a:tr>
              <a:tr h="281239">
                <a:tc>
                  <a:txBody>
                    <a:bodyPr/>
                    <a:lstStyle/>
                    <a:p>
                      <a:pPr marL="0" algn="ctr" defTabSz="914400" rtl="0" eaLnBrk="1" latinLnBrk="0" hangingPunct="1"/>
                      <a:r>
                        <a:rPr lang="en-US" sz="700" kern="1200" dirty="0">
                          <a:solidFill>
                            <a:schemeClr val="tx2"/>
                          </a:solidFill>
                          <a:latin typeface="+mn-lt"/>
                          <a:ea typeface="+mn-ea"/>
                          <a:cs typeface="+mn-cs"/>
                        </a:rPr>
                        <a:t>Bourgeois</a:t>
                      </a:r>
                    </a:p>
                  </a:txBody>
                  <a:tcPr marL="0" marR="0" marT="23291" marB="23291"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700" dirty="0"/>
                        <a:t>(</a:t>
                      </a:r>
                      <a:r>
                        <a:rPr lang="en-US" sz="700" dirty="0">
                          <a:solidFill>
                            <a:schemeClr val="tx2"/>
                          </a:solidFill>
                        </a:rPr>
                        <a:t>1</a:t>
                      </a:r>
                      <a:r>
                        <a:rPr lang="en-US" sz="700" dirty="0"/>
                        <a:t>, </a:t>
                      </a:r>
                      <a:r>
                        <a:rPr lang="en-US" sz="700" dirty="0">
                          <a:solidFill>
                            <a:srgbClr val="C00000"/>
                          </a:solidFill>
                        </a:rPr>
                        <a:t>1</a:t>
                      </a:r>
                      <a:r>
                        <a:rPr lang="en-US" sz="700" dirty="0"/>
                        <a:t>)</a:t>
                      </a:r>
                    </a:p>
                  </a:txBody>
                  <a:tcPr marL="46583" marR="46583" marT="23291" marB="23291"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accent6">
                        <a:lumMod val="40000"/>
                        <a:lumOff val="60000"/>
                      </a:schemeClr>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700" dirty="0"/>
                        <a:t>(</a:t>
                      </a:r>
                      <a:r>
                        <a:rPr lang="en-US" sz="700" dirty="0">
                          <a:solidFill>
                            <a:schemeClr val="tx2"/>
                          </a:solidFill>
                        </a:rPr>
                        <a:t>2</a:t>
                      </a:r>
                      <a:r>
                        <a:rPr lang="en-US" sz="700" dirty="0"/>
                        <a:t>, </a:t>
                      </a:r>
                      <a:r>
                        <a:rPr lang="en-US" sz="700" dirty="0">
                          <a:solidFill>
                            <a:srgbClr val="C00000"/>
                          </a:solidFill>
                        </a:rPr>
                        <a:t>2</a:t>
                      </a:r>
                      <a:r>
                        <a:rPr lang="en-US" sz="700" dirty="0"/>
                        <a:t>)</a:t>
                      </a:r>
                    </a:p>
                  </a:txBody>
                  <a:tcPr marL="46583" marR="46583" marT="23291" marB="23291"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FFFF00"/>
                    </a:solidFill>
                  </a:tcPr>
                </a:tc>
                <a:extLst>
                  <a:ext uri="{0D108BD9-81ED-4DB2-BD59-A6C34878D82A}">
                    <a16:rowId xmlns:a16="http://schemas.microsoft.com/office/drawing/2014/main" val="10002"/>
                  </a:ext>
                </a:extLst>
              </a:tr>
            </a:tbl>
          </a:graphicData>
        </a:graphic>
      </p:graphicFrame>
      <p:cxnSp>
        <p:nvCxnSpPr>
          <p:cNvPr id="58" name="Gerade Verbindung 57"/>
          <p:cNvCxnSpPr/>
          <p:nvPr/>
        </p:nvCxnSpPr>
        <p:spPr>
          <a:xfrm>
            <a:off x="899592" y="3723878"/>
            <a:ext cx="288032" cy="288032"/>
          </a:xfrm>
          <a:prstGeom prst="line">
            <a:avLst/>
          </a:prstGeom>
          <a:solidFill>
            <a:schemeClr val="bg1">
              <a:lumMod val="8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cxnSp>
      <p:cxnSp>
        <p:nvCxnSpPr>
          <p:cNvPr id="60" name="Gerade Verbindung 59"/>
          <p:cNvCxnSpPr/>
          <p:nvPr/>
        </p:nvCxnSpPr>
        <p:spPr>
          <a:xfrm>
            <a:off x="1187624" y="4011910"/>
            <a:ext cx="864096" cy="0"/>
          </a:xfrm>
          <a:prstGeom prst="line">
            <a:avLst/>
          </a:prstGeom>
          <a:solidFill>
            <a:schemeClr val="bg1">
              <a:lumMod val="8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cxnSp>
      <p:sp>
        <p:nvSpPr>
          <p:cNvPr id="62" name="Gleichschenkliges Dreieck 61"/>
          <p:cNvSpPr/>
          <p:nvPr/>
        </p:nvSpPr>
        <p:spPr>
          <a:xfrm rot="10800000">
            <a:off x="581432" y="2427734"/>
            <a:ext cx="1080120" cy="144016"/>
          </a:xfrm>
          <a:prstGeom prst="triangle">
            <a:avLst/>
          </a:prstGeom>
          <a:solidFill>
            <a:schemeClr val="bg1">
              <a:lumMod val="85000"/>
            </a:schemeClr>
          </a:solid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6" name="Textfeld 65"/>
          <p:cNvSpPr txBox="1"/>
          <p:nvPr/>
        </p:nvSpPr>
        <p:spPr>
          <a:xfrm>
            <a:off x="1951792" y="4680922"/>
            <a:ext cx="338554" cy="307777"/>
          </a:xfrm>
          <a:prstGeom prst="rect">
            <a:avLst/>
          </a:prstGeom>
          <a:noFill/>
        </p:spPr>
        <p:txBody>
          <a:bodyPr wrap="none" rtlCol="0">
            <a:spAutoFit/>
          </a:bodyPr>
          <a:lstStyle/>
          <a:p>
            <a:r>
              <a:rPr lang="en-US" sz="1400" dirty="0"/>
              <a:t>M</a:t>
            </a:r>
          </a:p>
        </p:txBody>
      </p:sp>
      <p:sp>
        <p:nvSpPr>
          <p:cNvPr id="67" name="Textfeld 66"/>
          <p:cNvSpPr txBox="1"/>
          <p:nvPr/>
        </p:nvSpPr>
        <p:spPr>
          <a:xfrm>
            <a:off x="611560" y="3017758"/>
            <a:ext cx="261610" cy="276999"/>
          </a:xfrm>
          <a:prstGeom prst="rect">
            <a:avLst/>
          </a:prstGeom>
          <a:noFill/>
        </p:spPr>
        <p:txBody>
          <a:bodyPr wrap="none" rtlCol="0">
            <a:spAutoFit/>
          </a:bodyPr>
          <a:lstStyle/>
          <a:p>
            <a:r>
              <a:rPr lang="en-US" sz="1200" dirty="0"/>
              <a:t>*</a:t>
            </a:r>
          </a:p>
        </p:txBody>
      </p:sp>
      <p:sp>
        <p:nvSpPr>
          <p:cNvPr id="68" name="Textfeld 67"/>
          <p:cNvSpPr txBox="1"/>
          <p:nvPr/>
        </p:nvSpPr>
        <p:spPr>
          <a:xfrm>
            <a:off x="1043608" y="3302863"/>
            <a:ext cx="261610" cy="276999"/>
          </a:xfrm>
          <a:prstGeom prst="rect">
            <a:avLst/>
          </a:prstGeom>
          <a:noFill/>
        </p:spPr>
        <p:txBody>
          <a:bodyPr wrap="none" rtlCol="0">
            <a:spAutoFit/>
          </a:bodyPr>
          <a:lstStyle/>
          <a:p>
            <a:r>
              <a:rPr lang="en-US" sz="1200" dirty="0"/>
              <a:t>*</a:t>
            </a:r>
          </a:p>
        </p:txBody>
      </p:sp>
      <p:sp>
        <p:nvSpPr>
          <p:cNvPr id="69" name="Textfeld 68"/>
          <p:cNvSpPr txBox="1"/>
          <p:nvPr/>
        </p:nvSpPr>
        <p:spPr>
          <a:xfrm>
            <a:off x="1486620" y="1930658"/>
            <a:ext cx="261610" cy="276999"/>
          </a:xfrm>
          <a:prstGeom prst="rect">
            <a:avLst/>
          </a:prstGeom>
          <a:noFill/>
        </p:spPr>
        <p:txBody>
          <a:bodyPr wrap="none" rtlCol="0">
            <a:spAutoFit/>
          </a:bodyPr>
          <a:lstStyle/>
          <a:p>
            <a:r>
              <a:rPr lang="en-US" sz="1200" dirty="0"/>
              <a:t>*</a:t>
            </a:r>
          </a:p>
        </p:txBody>
      </p:sp>
      <p:sp>
        <p:nvSpPr>
          <p:cNvPr id="70" name="Textfeld 69"/>
          <p:cNvSpPr txBox="1"/>
          <p:nvPr/>
        </p:nvSpPr>
        <p:spPr>
          <a:xfrm>
            <a:off x="1043608" y="1358647"/>
            <a:ext cx="261610" cy="276999"/>
          </a:xfrm>
          <a:prstGeom prst="rect">
            <a:avLst/>
          </a:prstGeom>
          <a:noFill/>
        </p:spPr>
        <p:txBody>
          <a:bodyPr wrap="none" rtlCol="0">
            <a:spAutoFit/>
          </a:bodyPr>
          <a:lstStyle/>
          <a:p>
            <a:r>
              <a:rPr lang="en-US" sz="1200" dirty="0"/>
              <a:t>*</a:t>
            </a:r>
          </a:p>
        </p:txBody>
      </p:sp>
      <p:sp>
        <p:nvSpPr>
          <p:cNvPr id="71" name="Textfeld 70"/>
          <p:cNvSpPr txBox="1"/>
          <p:nvPr/>
        </p:nvSpPr>
        <p:spPr>
          <a:xfrm>
            <a:off x="611560" y="1646679"/>
            <a:ext cx="261610" cy="276999"/>
          </a:xfrm>
          <a:prstGeom prst="rect">
            <a:avLst/>
          </a:prstGeom>
          <a:noFill/>
        </p:spPr>
        <p:txBody>
          <a:bodyPr wrap="none" rtlCol="0">
            <a:spAutoFit/>
          </a:bodyPr>
          <a:lstStyle/>
          <a:p>
            <a:r>
              <a:rPr lang="en-US" sz="1200" dirty="0"/>
              <a:t>*</a:t>
            </a:r>
          </a:p>
        </p:txBody>
      </p:sp>
      <p:sp>
        <p:nvSpPr>
          <p:cNvPr id="72" name="Textfeld 71"/>
          <p:cNvSpPr txBox="1"/>
          <p:nvPr/>
        </p:nvSpPr>
        <p:spPr>
          <a:xfrm>
            <a:off x="2123728" y="1131590"/>
            <a:ext cx="982961" cy="215444"/>
          </a:xfrm>
          <a:prstGeom prst="rect">
            <a:avLst/>
          </a:prstGeom>
          <a:noFill/>
        </p:spPr>
        <p:txBody>
          <a:bodyPr wrap="none" rtlCol="0">
            <a:spAutoFit/>
          </a:bodyPr>
          <a:lstStyle/>
          <a:p>
            <a:r>
              <a:rPr lang="en-US" sz="800" dirty="0"/>
              <a:t>* Nash-equilibrium</a:t>
            </a: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en-US" dirty="0"/>
              <a:t>Proof:</a:t>
            </a:r>
            <a:br>
              <a:rPr lang="en-US" dirty="0"/>
            </a:br>
            <a:r>
              <a:rPr lang="en-US" dirty="0"/>
              <a:t>7) dynamics near </a:t>
            </a:r>
            <a:r>
              <a:rPr lang="en-US" i="1" dirty="0"/>
              <a:t>B</a:t>
            </a:r>
            <a:r>
              <a:rPr lang="en-US" dirty="0"/>
              <a:t> justify that </a:t>
            </a:r>
            <a:r>
              <a:rPr lang="en-US" i="1" dirty="0"/>
              <a:t>B</a:t>
            </a:r>
            <a:r>
              <a:rPr lang="en-US" dirty="0"/>
              <a:t> is an ESS</a:t>
            </a:r>
          </a:p>
        </p:txBody>
      </p:sp>
      <p:sp>
        <p:nvSpPr>
          <p:cNvPr id="3" name="Rechteck 2"/>
          <p:cNvSpPr/>
          <p:nvPr/>
        </p:nvSpPr>
        <p:spPr>
          <a:xfrm>
            <a:off x="3419872" y="1131590"/>
            <a:ext cx="5472608" cy="3888432"/>
          </a:xfrm>
          <a:prstGeom prst="rect">
            <a:avLst/>
          </a:prstGeom>
          <a:noFill/>
          <a:ln>
            <a:solidFill>
              <a:schemeClr val="tx2">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4" name="Grafik 53" descr="IguanaTex_tmp.png"/>
          <p:cNvPicPr>
            <a:picLocks noChangeAspect="1"/>
          </p:cNvPicPr>
          <p:nvPr>
            <p:custDataLst>
              <p:tags r:id="rId1"/>
            </p:custDataLst>
          </p:nvPr>
        </p:nvPicPr>
        <p:blipFill>
          <a:blip r:embed="rId3" cstate="print"/>
          <a:stretch>
            <a:fillRect/>
          </a:stretch>
        </p:blipFill>
        <p:spPr>
          <a:xfrm>
            <a:off x="3491872" y="1203574"/>
            <a:ext cx="5301064" cy="3668060"/>
          </a:xfrm>
          <a:prstGeom prst="rect">
            <a:avLst/>
          </a:prstGeom>
          <a:noFill/>
          <a:ln/>
          <a:effectLst/>
        </p:spPr>
      </p:pic>
      <p:cxnSp>
        <p:nvCxnSpPr>
          <p:cNvPr id="5" name="Gerade Verbindung mit Pfeil 4"/>
          <p:cNvCxnSpPr/>
          <p:nvPr/>
        </p:nvCxnSpPr>
        <p:spPr>
          <a:xfrm flipV="1">
            <a:off x="539552" y="1131590"/>
            <a:ext cx="0" cy="1440160"/>
          </a:xfrm>
          <a:prstGeom prst="straightConnector1">
            <a:avLst/>
          </a:prstGeom>
          <a:noFill/>
          <a:ln>
            <a:solidFill>
              <a:schemeClr val="tx1"/>
            </a:solidFill>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cxnSp>
      <p:cxnSp>
        <p:nvCxnSpPr>
          <p:cNvPr id="6" name="Gerade Verbindung mit Pfeil 5"/>
          <p:cNvCxnSpPr/>
          <p:nvPr/>
        </p:nvCxnSpPr>
        <p:spPr>
          <a:xfrm>
            <a:off x="467544" y="2355726"/>
            <a:ext cx="936104" cy="576064"/>
          </a:xfrm>
          <a:prstGeom prst="straightConnector1">
            <a:avLst/>
          </a:prstGeom>
          <a:noFill/>
          <a:ln>
            <a:solidFill>
              <a:schemeClr val="tx1"/>
            </a:solidFill>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cxnSp>
      <p:cxnSp>
        <p:nvCxnSpPr>
          <p:cNvPr id="7" name="Gerade Verbindung mit Pfeil 6"/>
          <p:cNvCxnSpPr/>
          <p:nvPr/>
        </p:nvCxnSpPr>
        <p:spPr>
          <a:xfrm rot="16200000">
            <a:off x="539552" y="1635646"/>
            <a:ext cx="792088" cy="936104"/>
          </a:xfrm>
          <a:prstGeom prst="straightConnector1">
            <a:avLst/>
          </a:prstGeom>
          <a:noFill/>
          <a:ln>
            <a:solidFill>
              <a:schemeClr val="tx1"/>
            </a:solidFill>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cxnSp>
      <p:sp>
        <p:nvSpPr>
          <p:cNvPr id="8" name="Freihandform 7"/>
          <p:cNvSpPr/>
          <p:nvPr/>
        </p:nvSpPr>
        <p:spPr>
          <a:xfrm>
            <a:off x="539552" y="1491630"/>
            <a:ext cx="628620" cy="1224136"/>
          </a:xfrm>
          <a:custGeom>
            <a:avLst/>
            <a:gdLst>
              <a:gd name="connsiteX0" fmla="*/ 624840 w 624840"/>
              <a:gd name="connsiteY0" fmla="*/ 175260 h 914400"/>
              <a:gd name="connsiteX1" fmla="*/ 419100 w 624840"/>
              <a:gd name="connsiteY1" fmla="*/ 914400 h 914400"/>
              <a:gd name="connsiteX2" fmla="*/ 0 w 624840"/>
              <a:gd name="connsiteY2" fmla="*/ 0 h 914400"/>
              <a:gd name="connsiteX3" fmla="*/ 624840 w 624840"/>
              <a:gd name="connsiteY3" fmla="*/ 175260 h 914400"/>
              <a:gd name="connsiteX0" fmla="*/ 628620 w 628620"/>
              <a:gd name="connsiteY0" fmla="*/ 421010 h 1160150"/>
              <a:gd name="connsiteX1" fmla="*/ 422880 w 628620"/>
              <a:gd name="connsiteY1" fmla="*/ 1160150 h 1160150"/>
              <a:gd name="connsiteX2" fmla="*/ 0 w 628620"/>
              <a:gd name="connsiteY2" fmla="*/ 0 h 1160150"/>
              <a:gd name="connsiteX3" fmla="*/ 628620 w 628620"/>
              <a:gd name="connsiteY3" fmla="*/ 421010 h 1160150"/>
              <a:gd name="connsiteX0" fmla="*/ 628620 w 628620"/>
              <a:gd name="connsiteY0" fmla="*/ 421010 h 1224136"/>
              <a:gd name="connsiteX1" fmla="*/ 432048 w 628620"/>
              <a:gd name="connsiteY1" fmla="*/ 1224136 h 1224136"/>
              <a:gd name="connsiteX2" fmla="*/ 0 w 628620"/>
              <a:gd name="connsiteY2" fmla="*/ 0 h 1224136"/>
              <a:gd name="connsiteX3" fmla="*/ 628620 w 628620"/>
              <a:gd name="connsiteY3" fmla="*/ 421010 h 1224136"/>
              <a:gd name="connsiteX0" fmla="*/ 628620 w 628620"/>
              <a:gd name="connsiteY0" fmla="*/ 421010 h 1224136"/>
              <a:gd name="connsiteX1" fmla="*/ 504056 w 628620"/>
              <a:gd name="connsiteY1" fmla="*/ 1224136 h 1224136"/>
              <a:gd name="connsiteX2" fmla="*/ 0 w 628620"/>
              <a:gd name="connsiteY2" fmla="*/ 0 h 1224136"/>
              <a:gd name="connsiteX3" fmla="*/ 628620 w 628620"/>
              <a:gd name="connsiteY3" fmla="*/ 421010 h 1224136"/>
            </a:gdLst>
            <a:ahLst/>
            <a:cxnLst>
              <a:cxn ang="0">
                <a:pos x="connsiteX0" y="connsiteY0"/>
              </a:cxn>
              <a:cxn ang="0">
                <a:pos x="connsiteX1" y="connsiteY1"/>
              </a:cxn>
              <a:cxn ang="0">
                <a:pos x="connsiteX2" y="connsiteY2"/>
              </a:cxn>
              <a:cxn ang="0">
                <a:pos x="connsiteX3" y="connsiteY3"/>
              </a:cxn>
            </a:cxnLst>
            <a:rect l="l" t="t" r="r" b="b"/>
            <a:pathLst>
              <a:path w="628620" h="1224136">
                <a:moveTo>
                  <a:pt x="628620" y="421010"/>
                </a:moveTo>
                <a:lnTo>
                  <a:pt x="504056" y="1224136"/>
                </a:lnTo>
                <a:lnTo>
                  <a:pt x="0" y="0"/>
                </a:lnTo>
                <a:lnTo>
                  <a:pt x="628620" y="421010"/>
                </a:lnTo>
                <a:close/>
              </a:path>
            </a:pathLst>
          </a:custGeom>
          <a:solidFill>
            <a:schemeClr val="bg1">
              <a:lumMod val="85000"/>
            </a:schemeClr>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9" name="Gerade Verbindung 8"/>
          <p:cNvCxnSpPr>
            <a:stCxn id="8" idx="2"/>
          </p:cNvCxnSpPr>
          <p:nvPr/>
        </p:nvCxnSpPr>
        <p:spPr>
          <a:xfrm>
            <a:off x="539552" y="1491630"/>
            <a:ext cx="576064" cy="792088"/>
          </a:xfrm>
          <a:prstGeom prst="line">
            <a:avLst/>
          </a:prstGeom>
          <a:ln>
            <a:solidFill>
              <a:srgbClr val="C00000"/>
            </a:solidFill>
          </a:ln>
        </p:spPr>
        <p:style>
          <a:lnRef idx="1">
            <a:schemeClr val="accent1"/>
          </a:lnRef>
          <a:fillRef idx="0">
            <a:schemeClr val="accent1"/>
          </a:fillRef>
          <a:effectRef idx="0">
            <a:schemeClr val="accent1"/>
          </a:effectRef>
          <a:fontRef idx="minor">
            <a:schemeClr val="tx1"/>
          </a:fontRef>
        </p:style>
      </p:cxnSp>
      <p:sp>
        <p:nvSpPr>
          <p:cNvPr id="10" name="Textfeld 9"/>
          <p:cNvSpPr txBox="1"/>
          <p:nvPr/>
        </p:nvSpPr>
        <p:spPr>
          <a:xfrm>
            <a:off x="251520" y="1131590"/>
            <a:ext cx="245580" cy="307777"/>
          </a:xfrm>
          <a:prstGeom prst="rect">
            <a:avLst/>
          </a:prstGeom>
          <a:noFill/>
        </p:spPr>
        <p:txBody>
          <a:bodyPr wrap="square" rtlCol="0">
            <a:spAutoFit/>
          </a:bodyPr>
          <a:lstStyle/>
          <a:p>
            <a:r>
              <a:rPr lang="en-US" sz="1400" i="1" dirty="0"/>
              <a:t>r</a:t>
            </a:r>
          </a:p>
        </p:txBody>
      </p:sp>
      <p:sp>
        <p:nvSpPr>
          <p:cNvPr id="11" name="Textfeld 10"/>
          <p:cNvSpPr txBox="1"/>
          <p:nvPr/>
        </p:nvSpPr>
        <p:spPr>
          <a:xfrm>
            <a:off x="1043608" y="2859782"/>
            <a:ext cx="277640" cy="307777"/>
          </a:xfrm>
          <a:prstGeom prst="rect">
            <a:avLst/>
          </a:prstGeom>
          <a:noFill/>
        </p:spPr>
        <p:txBody>
          <a:bodyPr wrap="none" rtlCol="0">
            <a:spAutoFit/>
          </a:bodyPr>
          <a:lstStyle/>
          <a:p>
            <a:r>
              <a:rPr lang="en-US" sz="1400" i="1" dirty="0"/>
              <a:t>q</a:t>
            </a:r>
          </a:p>
        </p:txBody>
      </p:sp>
      <p:sp>
        <p:nvSpPr>
          <p:cNvPr id="12" name="Textfeld 11"/>
          <p:cNvSpPr txBox="1"/>
          <p:nvPr/>
        </p:nvSpPr>
        <p:spPr>
          <a:xfrm>
            <a:off x="1331640" y="1707654"/>
            <a:ext cx="277640" cy="307777"/>
          </a:xfrm>
          <a:prstGeom prst="rect">
            <a:avLst/>
          </a:prstGeom>
          <a:noFill/>
        </p:spPr>
        <p:txBody>
          <a:bodyPr wrap="none" rtlCol="0">
            <a:spAutoFit/>
          </a:bodyPr>
          <a:lstStyle/>
          <a:p>
            <a:r>
              <a:rPr lang="en-US" sz="1400" i="1" dirty="0"/>
              <a:t>p</a:t>
            </a:r>
          </a:p>
        </p:txBody>
      </p:sp>
      <p:sp>
        <p:nvSpPr>
          <p:cNvPr id="13" name="Textfeld 12"/>
          <p:cNvSpPr txBox="1"/>
          <p:nvPr/>
        </p:nvSpPr>
        <p:spPr>
          <a:xfrm>
            <a:off x="539552" y="1203598"/>
            <a:ext cx="282450" cy="307777"/>
          </a:xfrm>
          <a:prstGeom prst="rect">
            <a:avLst/>
          </a:prstGeom>
          <a:noFill/>
        </p:spPr>
        <p:txBody>
          <a:bodyPr wrap="none" rtlCol="0">
            <a:spAutoFit/>
          </a:bodyPr>
          <a:lstStyle/>
          <a:p>
            <a:r>
              <a:rPr lang="en-US" sz="1400" dirty="0"/>
              <a:t>B</a:t>
            </a:r>
          </a:p>
        </p:txBody>
      </p:sp>
      <p:sp>
        <p:nvSpPr>
          <p:cNvPr id="14" name="Textfeld 13"/>
          <p:cNvSpPr txBox="1"/>
          <p:nvPr/>
        </p:nvSpPr>
        <p:spPr>
          <a:xfrm>
            <a:off x="971600" y="1491630"/>
            <a:ext cx="296876" cy="307777"/>
          </a:xfrm>
          <a:prstGeom prst="rect">
            <a:avLst/>
          </a:prstGeom>
          <a:noFill/>
        </p:spPr>
        <p:txBody>
          <a:bodyPr wrap="none" rtlCol="0">
            <a:spAutoFit/>
          </a:bodyPr>
          <a:lstStyle/>
          <a:p>
            <a:r>
              <a:rPr lang="en-US" sz="1400" dirty="0"/>
              <a:t>H</a:t>
            </a:r>
          </a:p>
        </p:txBody>
      </p:sp>
      <p:sp>
        <p:nvSpPr>
          <p:cNvPr id="15" name="Textfeld 14"/>
          <p:cNvSpPr txBox="1"/>
          <p:nvPr/>
        </p:nvSpPr>
        <p:spPr>
          <a:xfrm>
            <a:off x="755576" y="2643758"/>
            <a:ext cx="296876" cy="307777"/>
          </a:xfrm>
          <a:prstGeom prst="rect">
            <a:avLst/>
          </a:prstGeom>
          <a:noFill/>
        </p:spPr>
        <p:txBody>
          <a:bodyPr wrap="none" rtlCol="0">
            <a:spAutoFit/>
          </a:bodyPr>
          <a:lstStyle/>
          <a:p>
            <a:r>
              <a:rPr lang="en-US" sz="1400" dirty="0"/>
              <a:t>D</a:t>
            </a:r>
          </a:p>
        </p:txBody>
      </p:sp>
      <p:sp>
        <p:nvSpPr>
          <p:cNvPr id="16" name="Ellipse 15"/>
          <p:cNvSpPr/>
          <p:nvPr/>
        </p:nvSpPr>
        <p:spPr>
          <a:xfrm>
            <a:off x="1138334" y="1862785"/>
            <a:ext cx="72008" cy="72008"/>
          </a:xfrm>
          <a:prstGeom prst="ellipse">
            <a:avLst/>
          </a:prstGeom>
          <a:solidFill>
            <a:schemeClr val="bg1"/>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Ellipse 16"/>
          <p:cNvSpPr/>
          <p:nvPr/>
        </p:nvSpPr>
        <p:spPr>
          <a:xfrm>
            <a:off x="1082961" y="2244365"/>
            <a:ext cx="72008" cy="72008"/>
          </a:xfrm>
          <a:prstGeom prst="ellipse">
            <a:avLst/>
          </a:prstGeom>
          <a:solidFill>
            <a:srgbClr val="C0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Ellipse 17"/>
          <p:cNvSpPr/>
          <p:nvPr/>
        </p:nvSpPr>
        <p:spPr>
          <a:xfrm>
            <a:off x="1005163" y="2671651"/>
            <a:ext cx="72008" cy="72008"/>
          </a:xfrm>
          <a:prstGeom prst="ellipse">
            <a:avLst/>
          </a:prstGeom>
          <a:solidFill>
            <a:schemeClr val="bg1"/>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Ellipse 18"/>
          <p:cNvSpPr/>
          <p:nvPr/>
        </p:nvSpPr>
        <p:spPr>
          <a:xfrm>
            <a:off x="504096" y="1458658"/>
            <a:ext cx="72008" cy="72008"/>
          </a:xfrm>
          <a:prstGeom prst="ellipse">
            <a:avLst/>
          </a:prstGeom>
          <a:solidFill>
            <a:srgbClr val="C0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Gleichschenkliges Dreieck 19"/>
          <p:cNvSpPr/>
          <p:nvPr/>
        </p:nvSpPr>
        <p:spPr>
          <a:xfrm>
            <a:off x="1395279" y="3435846"/>
            <a:ext cx="1440160" cy="1241517"/>
          </a:xfrm>
          <a:prstGeom prst="triangle">
            <a:avLst/>
          </a:prstGeom>
          <a:solidFill>
            <a:schemeClr val="bg1">
              <a:lumMod val="85000"/>
            </a:schemeClr>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1" name="Gerade Verbindung 20"/>
          <p:cNvCxnSpPr/>
          <p:nvPr/>
        </p:nvCxnSpPr>
        <p:spPr>
          <a:xfrm>
            <a:off x="2116515" y="3435846"/>
            <a:ext cx="0" cy="1241517"/>
          </a:xfrm>
          <a:prstGeom prst="line">
            <a:avLst/>
          </a:prstGeom>
          <a:ln>
            <a:solidFill>
              <a:srgbClr val="C00000"/>
            </a:solidFill>
          </a:ln>
        </p:spPr>
        <p:style>
          <a:lnRef idx="1">
            <a:schemeClr val="accent1"/>
          </a:lnRef>
          <a:fillRef idx="0">
            <a:schemeClr val="accent1"/>
          </a:fillRef>
          <a:effectRef idx="0">
            <a:schemeClr val="accent1"/>
          </a:effectRef>
          <a:fontRef idx="minor">
            <a:schemeClr val="tx1"/>
          </a:fontRef>
        </p:style>
      </p:cxnSp>
      <p:sp>
        <p:nvSpPr>
          <p:cNvPr id="22" name="Ellipse 21"/>
          <p:cNvSpPr/>
          <p:nvPr/>
        </p:nvSpPr>
        <p:spPr>
          <a:xfrm>
            <a:off x="2784363" y="4630610"/>
            <a:ext cx="72008" cy="72008"/>
          </a:xfrm>
          <a:prstGeom prst="ellipse">
            <a:avLst/>
          </a:prstGeom>
          <a:solidFill>
            <a:schemeClr val="bg1"/>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Ellipse 22"/>
          <p:cNvSpPr/>
          <p:nvPr/>
        </p:nvSpPr>
        <p:spPr>
          <a:xfrm>
            <a:off x="2080511" y="4637142"/>
            <a:ext cx="72008" cy="72008"/>
          </a:xfrm>
          <a:prstGeom prst="ellipse">
            <a:avLst/>
          </a:prstGeom>
          <a:solidFill>
            <a:srgbClr val="C0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Ellipse 23"/>
          <p:cNvSpPr/>
          <p:nvPr/>
        </p:nvSpPr>
        <p:spPr>
          <a:xfrm>
            <a:off x="1368991" y="4630611"/>
            <a:ext cx="72008" cy="72008"/>
          </a:xfrm>
          <a:prstGeom prst="ellipse">
            <a:avLst/>
          </a:prstGeom>
          <a:solidFill>
            <a:schemeClr val="bg1"/>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Ellipse 24"/>
          <p:cNvSpPr/>
          <p:nvPr/>
        </p:nvSpPr>
        <p:spPr>
          <a:xfrm>
            <a:off x="2080511" y="3416262"/>
            <a:ext cx="72008" cy="72008"/>
          </a:xfrm>
          <a:prstGeom prst="ellipse">
            <a:avLst/>
          </a:prstGeom>
          <a:solidFill>
            <a:srgbClr val="C0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Textfeld 25"/>
          <p:cNvSpPr txBox="1"/>
          <p:nvPr/>
        </p:nvSpPr>
        <p:spPr>
          <a:xfrm>
            <a:off x="1654809" y="3147814"/>
            <a:ext cx="925253" cy="307777"/>
          </a:xfrm>
          <a:prstGeom prst="rect">
            <a:avLst/>
          </a:prstGeom>
          <a:noFill/>
        </p:spPr>
        <p:txBody>
          <a:bodyPr wrap="none" rtlCol="0">
            <a:spAutoFit/>
          </a:bodyPr>
          <a:lstStyle/>
          <a:p>
            <a:r>
              <a:rPr lang="en-US" sz="1400" dirty="0"/>
              <a:t>B = (0,0,1)</a:t>
            </a:r>
          </a:p>
        </p:txBody>
      </p:sp>
      <p:sp>
        <p:nvSpPr>
          <p:cNvPr id="27" name="Textfeld 26"/>
          <p:cNvSpPr txBox="1"/>
          <p:nvPr/>
        </p:nvSpPr>
        <p:spPr>
          <a:xfrm>
            <a:off x="2344445" y="4515966"/>
            <a:ext cx="787395" cy="523220"/>
          </a:xfrm>
          <a:prstGeom prst="rect">
            <a:avLst/>
          </a:prstGeom>
          <a:noFill/>
        </p:spPr>
        <p:txBody>
          <a:bodyPr wrap="none" rtlCol="0">
            <a:spAutoFit/>
          </a:bodyPr>
          <a:lstStyle/>
          <a:p>
            <a:pPr algn="r"/>
            <a:r>
              <a:rPr lang="en-US" sz="1400" dirty="0"/>
              <a:t>H</a:t>
            </a:r>
          </a:p>
          <a:p>
            <a:pPr algn="r"/>
            <a:r>
              <a:rPr lang="en-US" sz="1400" dirty="0"/>
              <a:t>= (1,0,0)</a:t>
            </a:r>
          </a:p>
        </p:txBody>
      </p:sp>
      <p:sp>
        <p:nvSpPr>
          <p:cNvPr id="28" name="Textfeld 27"/>
          <p:cNvSpPr txBox="1"/>
          <p:nvPr/>
        </p:nvSpPr>
        <p:spPr>
          <a:xfrm>
            <a:off x="1107247" y="4515966"/>
            <a:ext cx="787395" cy="523220"/>
          </a:xfrm>
          <a:prstGeom prst="rect">
            <a:avLst/>
          </a:prstGeom>
          <a:noFill/>
        </p:spPr>
        <p:txBody>
          <a:bodyPr wrap="none" rtlCol="0">
            <a:spAutoFit/>
          </a:bodyPr>
          <a:lstStyle/>
          <a:p>
            <a:r>
              <a:rPr lang="en-US" sz="1400" dirty="0"/>
              <a:t>D</a:t>
            </a:r>
          </a:p>
          <a:p>
            <a:r>
              <a:rPr lang="en-US" sz="1400" dirty="0"/>
              <a:t>= (0,1,0)</a:t>
            </a:r>
          </a:p>
        </p:txBody>
      </p:sp>
      <p:sp>
        <p:nvSpPr>
          <p:cNvPr id="30" name="Freeform 37"/>
          <p:cNvSpPr>
            <a:spLocks/>
          </p:cNvSpPr>
          <p:nvPr/>
        </p:nvSpPr>
        <p:spPr bwMode="auto">
          <a:xfrm rot="19622357">
            <a:off x="1477912" y="2202248"/>
            <a:ext cx="512130" cy="953913"/>
          </a:xfrm>
          <a:custGeom>
            <a:avLst/>
            <a:gdLst/>
            <a:ahLst/>
            <a:cxnLst>
              <a:cxn ang="0">
                <a:pos x="75" y="36"/>
              </a:cxn>
              <a:cxn ang="0">
                <a:pos x="174" y="87"/>
              </a:cxn>
              <a:cxn ang="0">
                <a:pos x="285" y="162"/>
              </a:cxn>
              <a:cxn ang="0">
                <a:pos x="417" y="282"/>
              </a:cxn>
              <a:cxn ang="0">
                <a:pos x="513" y="405"/>
              </a:cxn>
              <a:cxn ang="0">
                <a:pos x="591" y="528"/>
              </a:cxn>
              <a:cxn ang="0">
                <a:pos x="657" y="666"/>
              </a:cxn>
              <a:cxn ang="0">
                <a:pos x="717" y="813"/>
              </a:cxn>
              <a:cxn ang="0">
                <a:pos x="762" y="969"/>
              </a:cxn>
              <a:cxn ang="0">
                <a:pos x="792" y="1149"/>
              </a:cxn>
              <a:cxn ang="0">
                <a:pos x="813" y="1332"/>
              </a:cxn>
              <a:cxn ang="0">
                <a:pos x="813" y="1479"/>
              </a:cxn>
              <a:cxn ang="0">
                <a:pos x="804" y="1635"/>
              </a:cxn>
              <a:cxn ang="0">
                <a:pos x="780" y="1785"/>
              </a:cxn>
              <a:cxn ang="0">
                <a:pos x="591" y="1830"/>
              </a:cxn>
              <a:cxn ang="0">
                <a:pos x="1149" y="1971"/>
              </a:cxn>
              <a:cxn ang="0">
                <a:pos x="1008" y="1869"/>
              </a:cxn>
              <a:cxn ang="0">
                <a:pos x="1038" y="1716"/>
              </a:cxn>
              <a:cxn ang="0">
                <a:pos x="1050" y="1566"/>
              </a:cxn>
              <a:cxn ang="0">
                <a:pos x="1053" y="1395"/>
              </a:cxn>
              <a:cxn ang="0">
                <a:pos x="1035" y="1206"/>
              </a:cxn>
              <a:cxn ang="0">
                <a:pos x="1005" y="1050"/>
              </a:cxn>
              <a:cxn ang="0">
                <a:pos x="963" y="900"/>
              </a:cxn>
              <a:cxn ang="0">
                <a:pos x="912" y="762"/>
              </a:cxn>
              <a:cxn ang="0">
                <a:pos x="837" y="603"/>
              </a:cxn>
              <a:cxn ang="0">
                <a:pos x="750" y="462"/>
              </a:cxn>
              <a:cxn ang="0">
                <a:pos x="669" y="363"/>
              </a:cxn>
              <a:cxn ang="0">
                <a:pos x="558" y="249"/>
              </a:cxn>
              <a:cxn ang="0">
                <a:pos x="433" y="157"/>
              </a:cxn>
              <a:cxn ang="0">
                <a:pos x="297" y="81"/>
              </a:cxn>
              <a:cxn ang="0">
                <a:pos x="153" y="24"/>
              </a:cxn>
              <a:cxn ang="0">
                <a:pos x="0" y="0"/>
              </a:cxn>
            </a:cxnLst>
            <a:rect l="0" t="0" r="r" b="b"/>
            <a:pathLst>
              <a:path w="1149" h="2226">
                <a:moveTo>
                  <a:pt x="6" y="6"/>
                </a:moveTo>
                <a:lnTo>
                  <a:pt x="75" y="36"/>
                </a:lnTo>
                <a:lnTo>
                  <a:pt x="129" y="60"/>
                </a:lnTo>
                <a:lnTo>
                  <a:pt x="174" y="87"/>
                </a:lnTo>
                <a:lnTo>
                  <a:pt x="228" y="120"/>
                </a:lnTo>
                <a:lnTo>
                  <a:pt x="285" y="162"/>
                </a:lnTo>
                <a:lnTo>
                  <a:pt x="342" y="210"/>
                </a:lnTo>
                <a:lnTo>
                  <a:pt x="417" y="282"/>
                </a:lnTo>
                <a:lnTo>
                  <a:pt x="465" y="345"/>
                </a:lnTo>
                <a:lnTo>
                  <a:pt x="513" y="405"/>
                </a:lnTo>
                <a:lnTo>
                  <a:pt x="549" y="462"/>
                </a:lnTo>
                <a:lnTo>
                  <a:pt x="591" y="528"/>
                </a:lnTo>
                <a:lnTo>
                  <a:pt x="627" y="603"/>
                </a:lnTo>
                <a:lnTo>
                  <a:pt x="657" y="666"/>
                </a:lnTo>
                <a:lnTo>
                  <a:pt x="684" y="723"/>
                </a:lnTo>
                <a:lnTo>
                  <a:pt x="717" y="813"/>
                </a:lnTo>
                <a:lnTo>
                  <a:pt x="738" y="894"/>
                </a:lnTo>
                <a:lnTo>
                  <a:pt x="762" y="969"/>
                </a:lnTo>
                <a:lnTo>
                  <a:pt x="777" y="1056"/>
                </a:lnTo>
                <a:lnTo>
                  <a:pt x="792" y="1149"/>
                </a:lnTo>
                <a:lnTo>
                  <a:pt x="807" y="1239"/>
                </a:lnTo>
                <a:lnTo>
                  <a:pt x="813" y="1332"/>
                </a:lnTo>
                <a:lnTo>
                  <a:pt x="813" y="1410"/>
                </a:lnTo>
                <a:lnTo>
                  <a:pt x="813" y="1479"/>
                </a:lnTo>
                <a:lnTo>
                  <a:pt x="810" y="1560"/>
                </a:lnTo>
                <a:lnTo>
                  <a:pt x="804" y="1635"/>
                </a:lnTo>
                <a:lnTo>
                  <a:pt x="792" y="1710"/>
                </a:lnTo>
                <a:lnTo>
                  <a:pt x="780" y="1785"/>
                </a:lnTo>
                <a:lnTo>
                  <a:pt x="762" y="1869"/>
                </a:lnTo>
                <a:lnTo>
                  <a:pt x="591" y="1830"/>
                </a:lnTo>
                <a:lnTo>
                  <a:pt x="786" y="2226"/>
                </a:lnTo>
                <a:lnTo>
                  <a:pt x="1149" y="1971"/>
                </a:lnTo>
                <a:lnTo>
                  <a:pt x="990" y="1932"/>
                </a:lnTo>
                <a:lnTo>
                  <a:pt x="1008" y="1869"/>
                </a:lnTo>
                <a:lnTo>
                  <a:pt x="1023" y="1797"/>
                </a:lnTo>
                <a:lnTo>
                  <a:pt x="1038" y="1716"/>
                </a:lnTo>
                <a:lnTo>
                  <a:pt x="1047" y="1644"/>
                </a:lnTo>
                <a:lnTo>
                  <a:pt x="1050" y="1566"/>
                </a:lnTo>
                <a:lnTo>
                  <a:pt x="1053" y="1482"/>
                </a:lnTo>
                <a:lnTo>
                  <a:pt x="1053" y="1395"/>
                </a:lnTo>
                <a:lnTo>
                  <a:pt x="1047" y="1299"/>
                </a:lnTo>
                <a:lnTo>
                  <a:pt x="1035" y="1206"/>
                </a:lnTo>
                <a:lnTo>
                  <a:pt x="1020" y="1113"/>
                </a:lnTo>
                <a:lnTo>
                  <a:pt x="1005" y="1050"/>
                </a:lnTo>
                <a:lnTo>
                  <a:pt x="987" y="975"/>
                </a:lnTo>
                <a:lnTo>
                  <a:pt x="963" y="900"/>
                </a:lnTo>
                <a:lnTo>
                  <a:pt x="942" y="831"/>
                </a:lnTo>
                <a:lnTo>
                  <a:pt x="912" y="762"/>
                </a:lnTo>
                <a:lnTo>
                  <a:pt x="879" y="684"/>
                </a:lnTo>
                <a:lnTo>
                  <a:pt x="837" y="603"/>
                </a:lnTo>
                <a:lnTo>
                  <a:pt x="798" y="534"/>
                </a:lnTo>
                <a:lnTo>
                  <a:pt x="750" y="462"/>
                </a:lnTo>
                <a:lnTo>
                  <a:pt x="711" y="408"/>
                </a:lnTo>
                <a:lnTo>
                  <a:pt x="669" y="363"/>
                </a:lnTo>
                <a:lnTo>
                  <a:pt x="615" y="309"/>
                </a:lnTo>
                <a:lnTo>
                  <a:pt x="558" y="249"/>
                </a:lnTo>
                <a:lnTo>
                  <a:pt x="501" y="201"/>
                </a:lnTo>
                <a:lnTo>
                  <a:pt x="433" y="157"/>
                </a:lnTo>
                <a:lnTo>
                  <a:pt x="366" y="114"/>
                </a:lnTo>
                <a:lnTo>
                  <a:pt x="297" y="81"/>
                </a:lnTo>
                <a:lnTo>
                  <a:pt x="225" y="51"/>
                </a:lnTo>
                <a:lnTo>
                  <a:pt x="153" y="24"/>
                </a:lnTo>
                <a:lnTo>
                  <a:pt x="81" y="9"/>
                </a:lnTo>
                <a:lnTo>
                  <a:pt x="0" y="0"/>
                </a:lnTo>
              </a:path>
            </a:pathLst>
          </a:custGeom>
          <a:solidFill>
            <a:schemeClr val="bg1">
              <a:lumMod val="85000"/>
            </a:schemeClr>
          </a:solidFill>
          <a:ln w="12700" cap="flat" cmpd="sng">
            <a:solidFill>
              <a:schemeClr val="tx1">
                <a:lumMod val="50000"/>
                <a:lumOff val="50000"/>
              </a:schemeClr>
            </a:solidFill>
            <a:prstDash val="solid"/>
            <a:round/>
            <a:headEnd type="none" w="med" len="med"/>
            <a:tailEnd type="none" w="med" len="med"/>
          </a:ln>
          <a:effectLst/>
        </p:spPr>
        <p:txBody>
          <a:bodyPr wrap="none" anchor="ctr"/>
          <a:lstStyle/>
          <a:p>
            <a:endParaRPr lang="en-US"/>
          </a:p>
        </p:txBody>
      </p:sp>
      <p:sp>
        <p:nvSpPr>
          <p:cNvPr id="33" name="Gleichschenkliges Dreieck 32"/>
          <p:cNvSpPr/>
          <p:nvPr/>
        </p:nvSpPr>
        <p:spPr>
          <a:xfrm rot="1653046">
            <a:off x="1498692" y="4331534"/>
            <a:ext cx="144016" cy="124152"/>
          </a:xfrm>
          <a:prstGeom prst="triangle">
            <a:avLst/>
          </a:prstGeom>
          <a:solidFill>
            <a:schemeClr val="bg2">
              <a:lumMod val="9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Gleichschenkliges Dreieck 36"/>
          <p:cNvSpPr/>
          <p:nvPr/>
        </p:nvSpPr>
        <p:spPr>
          <a:xfrm rot="5400000">
            <a:off x="1796623" y="4612195"/>
            <a:ext cx="144016" cy="124152"/>
          </a:xfrm>
          <a:prstGeom prst="triangle">
            <a:avLst/>
          </a:prstGeom>
          <a:solidFill>
            <a:schemeClr val="bg2">
              <a:lumMod val="9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Gleichschenkliges Dreieck 37"/>
          <p:cNvSpPr/>
          <p:nvPr/>
        </p:nvSpPr>
        <p:spPr>
          <a:xfrm>
            <a:off x="2049174" y="3689411"/>
            <a:ext cx="144016" cy="124152"/>
          </a:xfrm>
          <a:prstGeom prst="triangle">
            <a:avLst/>
          </a:prstGeom>
          <a:solidFill>
            <a:schemeClr val="bg2">
              <a:lumMod val="9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 name="Gleichschenkliges Dreieck 38"/>
          <p:cNvSpPr/>
          <p:nvPr/>
        </p:nvSpPr>
        <p:spPr>
          <a:xfrm>
            <a:off x="2049174" y="4227934"/>
            <a:ext cx="144016" cy="124152"/>
          </a:xfrm>
          <a:prstGeom prst="triangle">
            <a:avLst/>
          </a:prstGeom>
          <a:solidFill>
            <a:schemeClr val="bg2">
              <a:lumMod val="9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 name="Gleichschenkliges Dreieck 39"/>
          <p:cNvSpPr/>
          <p:nvPr/>
        </p:nvSpPr>
        <p:spPr>
          <a:xfrm rot="1653046">
            <a:off x="1784235" y="3822153"/>
            <a:ext cx="144016" cy="124152"/>
          </a:xfrm>
          <a:prstGeom prst="triangle">
            <a:avLst/>
          </a:prstGeom>
          <a:solidFill>
            <a:schemeClr val="bg2">
              <a:lumMod val="9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 name="Gleichschenkliges Dreieck 40"/>
          <p:cNvSpPr/>
          <p:nvPr/>
        </p:nvSpPr>
        <p:spPr>
          <a:xfrm rot="19946954" flipH="1">
            <a:off x="2297337" y="3821817"/>
            <a:ext cx="144016" cy="124508"/>
          </a:xfrm>
          <a:prstGeom prst="triangle">
            <a:avLst/>
          </a:prstGeom>
          <a:solidFill>
            <a:schemeClr val="bg2">
              <a:lumMod val="9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 name="Gleichschenkliges Dreieck 41"/>
          <p:cNvSpPr/>
          <p:nvPr/>
        </p:nvSpPr>
        <p:spPr>
          <a:xfrm rot="19946954" flipH="1">
            <a:off x="2592865" y="4331198"/>
            <a:ext cx="144016" cy="124508"/>
          </a:xfrm>
          <a:prstGeom prst="triangle">
            <a:avLst/>
          </a:prstGeom>
          <a:solidFill>
            <a:schemeClr val="bg2">
              <a:lumMod val="9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 name="Gleichschenkliges Dreieck 42"/>
          <p:cNvSpPr/>
          <p:nvPr/>
        </p:nvSpPr>
        <p:spPr>
          <a:xfrm rot="16200000" flipH="1">
            <a:off x="2296480" y="4612195"/>
            <a:ext cx="144016" cy="124152"/>
          </a:xfrm>
          <a:prstGeom prst="triangle">
            <a:avLst/>
          </a:prstGeom>
          <a:solidFill>
            <a:schemeClr val="bg2">
              <a:lumMod val="9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 name="Freihandform 43"/>
          <p:cNvSpPr/>
          <p:nvPr/>
        </p:nvSpPr>
        <p:spPr>
          <a:xfrm>
            <a:off x="1628775" y="3924300"/>
            <a:ext cx="409575" cy="657225"/>
          </a:xfrm>
          <a:custGeom>
            <a:avLst/>
            <a:gdLst>
              <a:gd name="connsiteX0" fmla="*/ 0 w 409575"/>
              <a:gd name="connsiteY0" fmla="*/ 657225 h 695325"/>
              <a:gd name="connsiteX1" fmla="*/ 238125 w 409575"/>
              <a:gd name="connsiteY1" fmla="*/ 585788 h 695325"/>
              <a:gd name="connsiteX2" fmla="*/ 409575 w 409575"/>
              <a:gd name="connsiteY2" fmla="*/ 0 h 695325"/>
              <a:gd name="connsiteX0" fmla="*/ 0 w 409575"/>
              <a:gd name="connsiteY0" fmla="*/ 657225 h 657225"/>
              <a:gd name="connsiteX1" fmla="*/ 409575 w 409575"/>
              <a:gd name="connsiteY1" fmla="*/ 0 h 657225"/>
              <a:gd name="connsiteX0" fmla="*/ 0 w 409575"/>
              <a:gd name="connsiteY0" fmla="*/ 657225 h 657225"/>
              <a:gd name="connsiteX1" fmla="*/ 409575 w 409575"/>
              <a:gd name="connsiteY1" fmla="*/ 0 h 657225"/>
              <a:gd name="connsiteX0" fmla="*/ 0 w 409575"/>
              <a:gd name="connsiteY0" fmla="*/ 657225 h 657225"/>
              <a:gd name="connsiteX1" fmla="*/ 409575 w 409575"/>
              <a:gd name="connsiteY1" fmla="*/ 0 h 657225"/>
            </a:gdLst>
            <a:ahLst/>
            <a:cxnLst>
              <a:cxn ang="0">
                <a:pos x="connsiteX0" y="connsiteY0"/>
              </a:cxn>
              <a:cxn ang="0">
                <a:pos x="connsiteX1" y="connsiteY1"/>
              </a:cxn>
            </a:cxnLst>
            <a:rect l="l" t="t" r="r" b="b"/>
            <a:pathLst>
              <a:path w="409575" h="657225">
                <a:moveTo>
                  <a:pt x="0" y="657225"/>
                </a:moveTo>
                <a:cubicBezTo>
                  <a:pt x="277837" y="576288"/>
                  <a:pt x="370359" y="230337"/>
                  <a:pt x="409575" y="0"/>
                </a:cubicBezTo>
              </a:path>
            </a:pathLst>
          </a:custGeom>
          <a:ln>
            <a:solidFill>
              <a:schemeClr val="tx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45" name="Freihandform 44"/>
          <p:cNvSpPr/>
          <p:nvPr/>
        </p:nvSpPr>
        <p:spPr>
          <a:xfrm flipH="1">
            <a:off x="2189631" y="3924300"/>
            <a:ext cx="409575" cy="657225"/>
          </a:xfrm>
          <a:custGeom>
            <a:avLst/>
            <a:gdLst>
              <a:gd name="connsiteX0" fmla="*/ 0 w 409575"/>
              <a:gd name="connsiteY0" fmla="*/ 657225 h 695325"/>
              <a:gd name="connsiteX1" fmla="*/ 238125 w 409575"/>
              <a:gd name="connsiteY1" fmla="*/ 585788 h 695325"/>
              <a:gd name="connsiteX2" fmla="*/ 409575 w 409575"/>
              <a:gd name="connsiteY2" fmla="*/ 0 h 695325"/>
              <a:gd name="connsiteX0" fmla="*/ 0 w 409575"/>
              <a:gd name="connsiteY0" fmla="*/ 657225 h 657225"/>
              <a:gd name="connsiteX1" fmla="*/ 409575 w 409575"/>
              <a:gd name="connsiteY1" fmla="*/ 0 h 657225"/>
              <a:gd name="connsiteX0" fmla="*/ 0 w 409575"/>
              <a:gd name="connsiteY0" fmla="*/ 657225 h 657225"/>
              <a:gd name="connsiteX1" fmla="*/ 409575 w 409575"/>
              <a:gd name="connsiteY1" fmla="*/ 0 h 657225"/>
              <a:gd name="connsiteX0" fmla="*/ 0 w 409575"/>
              <a:gd name="connsiteY0" fmla="*/ 657225 h 657225"/>
              <a:gd name="connsiteX1" fmla="*/ 409575 w 409575"/>
              <a:gd name="connsiteY1" fmla="*/ 0 h 657225"/>
            </a:gdLst>
            <a:ahLst/>
            <a:cxnLst>
              <a:cxn ang="0">
                <a:pos x="connsiteX0" y="connsiteY0"/>
              </a:cxn>
              <a:cxn ang="0">
                <a:pos x="connsiteX1" y="connsiteY1"/>
              </a:cxn>
            </a:cxnLst>
            <a:rect l="l" t="t" r="r" b="b"/>
            <a:pathLst>
              <a:path w="409575" h="657225">
                <a:moveTo>
                  <a:pt x="0" y="657225"/>
                </a:moveTo>
                <a:cubicBezTo>
                  <a:pt x="277837" y="576288"/>
                  <a:pt x="370359" y="230337"/>
                  <a:pt x="409575" y="0"/>
                </a:cubicBezTo>
              </a:path>
            </a:pathLst>
          </a:custGeom>
          <a:ln>
            <a:solidFill>
              <a:schemeClr val="tx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46" name="Rechteck 45"/>
          <p:cNvSpPr/>
          <p:nvPr/>
        </p:nvSpPr>
        <p:spPr>
          <a:xfrm>
            <a:off x="8676456" y="4803998"/>
            <a:ext cx="144016" cy="144016"/>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el 2"/>
          <p:cNvSpPr>
            <a:spLocks noGrp="1"/>
          </p:cNvSpPr>
          <p:nvPr>
            <p:ph type="ctrTitle"/>
          </p:nvPr>
        </p:nvSpPr>
        <p:spPr>
          <a:xfrm>
            <a:off x="3851920" y="1275606"/>
            <a:ext cx="5040560" cy="864095"/>
          </a:xfrm>
        </p:spPr>
        <p:txBody>
          <a:bodyPr/>
          <a:lstStyle/>
          <a:p>
            <a:r>
              <a:rPr lang="en-US" noProof="0" dirty="0"/>
              <a:t>Computational Biomathematics</a:t>
            </a:r>
          </a:p>
        </p:txBody>
      </p:sp>
      <p:sp>
        <p:nvSpPr>
          <p:cNvPr id="4" name="Textfeld 3"/>
          <p:cNvSpPr txBox="1"/>
          <p:nvPr/>
        </p:nvSpPr>
        <p:spPr>
          <a:xfrm>
            <a:off x="6917350" y="4712245"/>
            <a:ext cx="1974066" cy="307777"/>
          </a:xfrm>
          <a:prstGeom prst="rect">
            <a:avLst/>
          </a:prstGeom>
          <a:noFill/>
        </p:spPr>
        <p:txBody>
          <a:bodyPr wrap="none" rtlCol="0">
            <a:spAutoFit/>
          </a:bodyPr>
          <a:lstStyle/>
          <a:p>
            <a:pPr algn="r"/>
            <a:r>
              <a:rPr lang="en-US" sz="1400" noProof="0" dirty="0"/>
              <a:t>florian.rupp@kiu.edu.ge</a:t>
            </a:r>
          </a:p>
        </p:txBody>
      </p:sp>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HINKCELLSHAPEDONOTDELETE" val="pv4sBCPrLdUOGmmGtjuAVnA"/>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pP5ULgxRsCUC2aETaaLLMLg"/>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pZwayLLHUoUaSByAvs2zANw"/>
</p:tagLst>
</file>

<file path=ppt/tags/tag4.xml><?xml version="1.0" encoding="utf-8"?>
<p:tagLst xmlns:a="http://schemas.openxmlformats.org/drawingml/2006/main" xmlns:r="http://schemas.openxmlformats.org/officeDocument/2006/relationships" xmlns:p="http://schemas.openxmlformats.org/presentationml/2006/main">
  <p:tag name="THINKCELLSHAPEDONOTDELETE" val="p6wS88IkDwk2u2UXfeYk5sQ"/>
</p:tagLst>
</file>

<file path=ppt/tags/tag5.xml><?xml version="1.0" encoding="utf-8"?>
<p:tagLst xmlns:a="http://schemas.openxmlformats.org/drawingml/2006/main" xmlns:r="http://schemas.openxmlformats.org/officeDocument/2006/relationships" xmlns:p="http://schemas.openxmlformats.org/presentationml/2006/main">
  <p:tag name="THINKCELLSHAPEDONOTDELETE" val="pdQrG_PT1jUaZ5G6vt.PRtg"/>
</p:tagLst>
</file>

<file path=ppt/tags/tag6.xml><?xml version="1.0" encoding="utf-8"?>
<p:tagLst xmlns:a="http://schemas.openxmlformats.org/drawingml/2006/main" xmlns:r="http://schemas.openxmlformats.org/officeDocument/2006/relationships" xmlns:p="http://schemas.openxmlformats.org/presentationml/2006/main">
  <p:tag name="THINKCELLSHAPEDONOTDELETE" val="pcIYaHeW61US7GVC_CvTlVA"/>
</p:tagLst>
</file>

<file path=ppt/tags/tag7.xml><?xml version="1.0" encoding="utf-8"?>
<p:tagLst xmlns:a="http://schemas.openxmlformats.org/drawingml/2006/main" xmlns:r="http://schemas.openxmlformats.org/officeDocument/2006/relationships" xmlns:p="http://schemas.openxmlformats.org/presentationml/2006/main">
  <p:tag name="THINKCELLSHAPEDONOTDELETE" val="pKY06EWmBMUKiWbxTgKZHjQ"/>
</p:tagLst>
</file>

<file path=ppt/tags/tag8.xml><?xml version="1.0" encoding="utf-8"?>
<p:tagLst xmlns:a="http://schemas.openxmlformats.org/drawingml/2006/main" xmlns:r="http://schemas.openxmlformats.org/officeDocument/2006/relationships" xmlns:p="http://schemas.openxmlformats.org/presentationml/2006/main">
  <p:tag name="THINKCELLSHAPEDONOTDELETE" val="plAlQONa1hU24NWfOu_k0Xw"/>
</p:tagLst>
</file>

<file path=ppt/tags/tag9.xml><?xml version="1.0" encoding="utf-8"?>
<p:tagLst xmlns:a="http://schemas.openxmlformats.org/drawingml/2006/main" xmlns:r="http://schemas.openxmlformats.org/officeDocument/2006/relationships" xmlns:p="http://schemas.openxmlformats.org/presentationml/2006/main">
  <p:tag name="THINKCELLSHAPEDONOTDELETE" val="pn9gNzT53jU6HzP9VqlC8Bw"/>
</p:tagLst>
</file>

<file path=ppt/tags/tag10.xml><?xml version="1.0" encoding="utf-8"?>
<p:tagLst xmlns:a="http://schemas.openxmlformats.org/drawingml/2006/main" xmlns:r="http://schemas.openxmlformats.org/officeDocument/2006/relationships" xmlns:p="http://schemas.openxmlformats.org/presentationml/2006/main">
  <p:tag name="THINKCELLSHAPEDONOTDELETE" val="pn9gNzT53jU6HzP9VqlC8Bw"/>
</p:tagLst>
</file>

<file path=ppt/tags/tag11.xml><?xml version="1.0" encoding="utf-8"?>
<p:tagLst xmlns:a="http://schemas.openxmlformats.org/drawingml/2006/main" xmlns:r="http://schemas.openxmlformats.org/officeDocument/2006/relationships" xmlns:p="http://schemas.openxmlformats.org/presentationml/2006/main">
  <p:tag name="THINKCELLSHAPEDONOTDELETE" val="pP5ULgxRsCUC2aETaaLLMLg"/>
</p:tagLst>
</file>

<file path=ppt/tags/tag12.xml><?xml version="1.0" encoding="utf-8"?>
<p:tagLst xmlns:a="http://schemas.openxmlformats.org/drawingml/2006/main" xmlns:r="http://schemas.openxmlformats.org/officeDocument/2006/relationships" xmlns:p="http://schemas.openxmlformats.org/presentationml/2006/main">
  <p:tag name="THINKCELLSHAPEDONOTDELETE" val="pZwayLLHUoUaSByAvs2zANw"/>
</p:tagLst>
</file>

<file path=ppt/tags/tag13.xml><?xml version="1.0" encoding="utf-8"?>
<p:tagLst xmlns:a="http://schemas.openxmlformats.org/drawingml/2006/main" xmlns:r="http://schemas.openxmlformats.org/officeDocument/2006/relationships" xmlns:p="http://schemas.openxmlformats.org/presentationml/2006/main">
  <p:tag name="THINKCELLSHAPEDONOTDELETE" val="p6wS88IkDwk2u2UXfeYk5sQ"/>
</p:tagLst>
</file>

<file path=ppt/tags/tag14.xml><?xml version="1.0" encoding="utf-8"?>
<p:tagLst xmlns:a="http://schemas.openxmlformats.org/drawingml/2006/main" xmlns:r="http://schemas.openxmlformats.org/officeDocument/2006/relationships" xmlns:p="http://schemas.openxmlformats.org/presentationml/2006/main">
  <p:tag name="THINKCELLSHAPEDONOTDELETE" val="pdQrG_PT1jUaZ5G6vt.PRtg"/>
</p:tagLst>
</file>

<file path=ppt/tags/tag15.xml><?xml version="1.0" encoding="utf-8"?>
<p:tagLst xmlns:a="http://schemas.openxmlformats.org/drawingml/2006/main" xmlns:r="http://schemas.openxmlformats.org/officeDocument/2006/relationships" xmlns:p="http://schemas.openxmlformats.org/presentationml/2006/main">
  <p:tag name="THINKCELLSHAPEDONOTDELETE" val="pcIYaHeW61US7GVC_CvTlVA"/>
</p:tagLst>
</file>

<file path=ppt/tags/tag16.xml><?xml version="1.0" encoding="utf-8"?>
<p:tagLst xmlns:a="http://schemas.openxmlformats.org/drawingml/2006/main" xmlns:r="http://schemas.openxmlformats.org/officeDocument/2006/relationships" xmlns:p="http://schemas.openxmlformats.org/presentationml/2006/main">
  <p:tag name="THINKCELLSHAPEDONOTDELETE" val="pKY06EWmBMUKiWbxTgKZHjQ"/>
</p:tagLst>
</file>

<file path=ppt/tags/tag17.xml><?xml version="1.0" encoding="utf-8"?>
<p:tagLst xmlns:a="http://schemas.openxmlformats.org/drawingml/2006/main" xmlns:r="http://schemas.openxmlformats.org/officeDocument/2006/relationships" xmlns:p="http://schemas.openxmlformats.org/presentationml/2006/main">
  <p:tag name="THINKCELLSHAPEDONOTDELETE" val="plAlQONa1hU24NWfOu_k0Xw"/>
</p:tagLst>
</file>

<file path=ppt/tags/tag18.xml><?xml version="1.0" encoding="utf-8"?>
<p:tagLst xmlns:a="http://schemas.openxmlformats.org/drawingml/2006/main" xmlns:r="http://schemas.openxmlformats.org/officeDocument/2006/relationships" xmlns:p="http://schemas.openxmlformats.org/presentationml/2006/main">
  <p:tag name="THINKCELLSHAPEDONOTDELETE" val="pn9gNzT53jU6HzP9VqlC8Bw"/>
</p:tagLst>
</file>

<file path=ppt/tags/tag19.xml><?xml version="1.0" encoding="utf-8"?>
<p:tagLst xmlns:a="http://schemas.openxmlformats.org/drawingml/2006/main" xmlns:r="http://schemas.openxmlformats.org/officeDocument/2006/relationships" xmlns:p="http://schemas.openxmlformats.org/presentationml/2006/main">
  <p:tag name="THINKCELLSHAPEDONOTDELETE" val="pv4sBCPrLdUOGmmGtjuAVnA"/>
</p:tagLst>
</file>

<file path=ppt/tags/tag20.xml><?xml version="1.0" encoding="utf-8"?>
<p:tagLst xmlns:a="http://schemas.openxmlformats.org/drawingml/2006/main" xmlns:r="http://schemas.openxmlformats.org/officeDocument/2006/relationships" xmlns:p="http://schemas.openxmlformats.org/presentationml/2006/main">
  <p:tag name="THINKCELLSHAPEDONOTDELETE" val="pP5ULgxRsCUC2aETaaLLMLg"/>
</p:tagLst>
</file>

<file path=ppt/tags/tag21.xml><?xml version="1.0" encoding="utf-8"?>
<p:tagLst xmlns:a="http://schemas.openxmlformats.org/drawingml/2006/main" xmlns:r="http://schemas.openxmlformats.org/officeDocument/2006/relationships" xmlns:p="http://schemas.openxmlformats.org/presentationml/2006/main">
  <p:tag name="THINKCELLSHAPEDONOTDELETE" val="pZwayLLHUoUaSByAvs2zANw"/>
</p:tagLst>
</file>

<file path=ppt/tags/tag22.xml><?xml version="1.0" encoding="utf-8"?>
<p:tagLst xmlns:a="http://schemas.openxmlformats.org/drawingml/2006/main" xmlns:r="http://schemas.openxmlformats.org/officeDocument/2006/relationships" xmlns:p="http://schemas.openxmlformats.org/presentationml/2006/main">
  <p:tag name="THINKCELLSHAPEDONOTDELETE" val="p6wS88IkDwk2u2UXfeYk5sQ"/>
</p:tagLst>
</file>

<file path=ppt/tags/tag23.xml><?xml version="1.0" encoding="utf-8"?>
<p:tagLst xmlns:a="http://schemas.openxmlformats.org/drawingml/2006/main" xmlns:r="http://schemas.openxmlformats.org/officeDocument/2006/relationships" xmlns:p="http://schemas.openxmlformats.org/presentationml/2006/main">
  <p:tag name="THINKCELLSHAPEDONOTDELETE" val="pdQrG_PT1jUaZ5G6vt.PRtg"/>
</p:tagLst>
</file>

<file path=ppt/tags/tag24.xml><?xml version="1.0" encoding="utf-8"?>
<p:tagLst xmlns:a="http://schemas.openxmlformats.org/drawingml/2006/main" xmlns:r="http://schemas.openxmlformats.org/officeDocument/2006/relationships" xmlns:p="http://schemas.openxmlformats.org/presentationml/2006/main">
  <p:tag name="THINKCELLSHAPEDONOTDELETE" val="pcIYaHeW61US7GVC_CvTlVA"/>
</p:tagLst>
</file>

<file path=ppt/tags/tag25.xml><?xml version="1.0" encoding="utf-8"?>
<p:tagLst xmlns:a="http://schemas.openxmlformats.org/drawingml/2006/main" xmlns:r="http://schemas.openxmlformats.org/officeDocument/2006/relationships" xmlns:p="http://schemas.openxmlformats.org/presentationml/2006/main">
  <p:tag name="THINKCELLSHAPEDONOTDELETE" val="pKY06EWmBMUKiWbxTgKZHjQ"/>
</p:tagLst>
</file>

<file path=ppt/tags/tag26.xml><?xml version="1.0" encoding="utf-8"?>
<p:tagLst xmlns:a="http://schemas.openxmlformats.org/drawingml/2006/main" xmlns:r="http://schemas.openxmlformats.org/officeDocument/2006/relationships" xmlns:p="http://schemas.openxmlformats.org/presentationml/2006/main">
  <p:tag name="THINKCELLSHAPEDONOTDELETE" val="plAlQONa1hU24NWfOu_k0Xw"/>
</p:tagLst>
</file>

<file path=ppt/tags/tag27.xml><?xml version="1.0" encoding="utf-8"?>
<p:tagLst xmlns:a="http://schemas.openxmlformats.org/drawingml/2006/main" xmlns:r="http://schemas.openxmlformats.org/officeDocument/2006/relationships" xmlns:p="http://schemas.openxmlformats.org/presentationml/2006/main">
  <p:tag name="THINKCELLSHAPEDONOTDELETE" val="pn9gNzT53jU6HzP9VqlC8Bw"/>
</p:tagLst>
</file>

<file path=ppt/tags/tag28.xml><?xml version="1.0" encoding="utf-8"?>
<p:tagLst xmlns:a="http://schemas.openxmlformats.org/drawingml/2006/main" xmlns:r="http://schemas.openxmlformats.org/officeDocument/2006/relationships" xmlns:p="http://schemas.openxmlformats.org/presentationml/2006/main">
  <p:tag name="THINKCELLSHAPEDONOTDELETE" val="pAV12iISWwkOOVDsSNsZR1w"/>
</p:tagLst>
</file>

<file path=ppt/tags/tag29.xml><?xml version="1.0" encoding="utf-8"?>
<p:tagLst xmlns:a="http://schemas.openxmlformats.org/drawingml/2006/main" xmlns:r="http://schemas.openxmlformats.org/officeDocument/2006/relationships" xmlns:p="http://schemas.openxmlformats.org/presentationml/2006/main">
  <p:tag name="THINKCELLSHAPEDONOTDELETE" val="pRUi0UWp300S1uMJsj5lu_Q"/>
</p:tagLst>
</file>

<file path=ppt/tags/tag30.xml><?xml version="1.0" encoding="utf-8"?>
<p:tagLst xmlns:a="http://schemas.openxmlformats.org/drawingml/2006/main" xmlns:r="http://schemas.openxmlformats.org/officeDocument/2006/relationships" xmlns:p="http://schemas.openxmlformats.org/presentationml/2006/main">
  <p:tag name="THINKCELLSHAPEDONOTDELETE" val="pRUi0UWp300S1uMJsj5lu_Q"/>
</p:tagLst>
</file>

<file path=ppt/tags/tag31.xml><?xml version="1.0" encoding="utf-8"?>
<p:tagLst xmlns:a="http://schemas.openxmlformats.org/drawingml/2006/main" xmlns:r="http://schemas.openxmlformats.org/officeDocument/2006/relationships" xmlns:p="http://schemas.openxmlformats.org/presentationml/2006/main">
  <p:tag name="THINKCELLSHAPEDONOTDELETE" val="pRUi0UWp300S1uMJsj5lu_Q"/>
</p:tagLst>
</file>

<file path=ppt/tags/tag32.xml><?xml version="1.0" encoding="utf-8"?>
<p:tagLst xmlns:a="http://schemas.openxmlformats.org/drawingml/2006/main" xmlns:r="http://schemas.openxmlformats.org/officeDocument/2006/relationships" xmlns:p="http://schemas.openxmlformats.org/presentationml/2006/main">
  <p:tag name="THINKCELLSHAPEDONOTDELETE" val="pRUi0UWp300S1uMJsj5lu_Q"/>
</p:tagLst>
</file>

<file path=ppt/tags/tag33.xml><?xml version="1.0" encoding="utf-8"?>
<p:tagLst xmlns:a="http://schemas.openxmlformats.org/drawingml/2006/main" xmlns:r="http://schemas.openxmlformats.org/officeDocument/2006/relationships" xmlns:p="http://schemas.openxmlformats.org/presentationml/2006/main">
  <p:tag name="THINKCELLSHAPEDONOTDELETE" val="pRUi0UWp300S1uMJsj5lu_Q"/>
</p:tagLst>
</file>

<file path=ppt/tags/tag34.xml><?xml version="1.0" encoding="utf-8"?>
<p:tagLst xmlns:a="http://schemas.openxmlformats.org/drawingml/2006/main" xmlns:r="http://schemas.openxmlformats.org/officeDocument/2006/relationships" xmlns:p="http://schemas.openxmlformats.org/presentationml/2006/main">
  <p:tag name="THINKCELLSHAPEDONOTDELETE" val="pRUi0UWp300S1uMJsj5lu_Q"/>
</p:tagLst>
</file>

<file path=ppt/tags/tag35.xml><?xml version="1.0" encoding="utf-8"?>
<p:tagLst xmlns:a="http://schemas.openxmlformats.org/drawingml/2006/main" xmlns:r="http://schemas.openxmlformats.org/officeDocument/2006/relationships" xmlns:p="http://schemas.openxmlformats.org/presentationml/2006/main">
  <p:tag name="OUTPUTDPI" val="1200"/>
  <p:tag name="ORIGINALHEIGHT" val="2109,487"/>
  <p:tag name="ORIGINALWIDTH" val="4353,206"/>
  <p:tag name="LATEXADDIN" val="\documentclass{article}\pagestyle{empty}&#10;\usepackage{amsmath}&#10;\usepackage{amsfonts}&#10;\usepackage{amssymb}&#10;\begin{document}&#10;\begin{minipage}{12.3 cm}&#10;{\sffamily{&#10;We assume that each individual playing 'hawk' generates $f_H(p)$ copies of itself in the next generation such that&#10;$$&#10;N_H(t+1) \, \, = \, \, N_H(t) \cdot f_H(p(t)) \, .&#10;$$&#10;Analogously, we obtain&#10;$$&#10;N_D(t+1) \, \, = \, \, N_D(t) \cdot f_D(p(t)) \, .&#10;$$&#10;&#10;\vspace{0.2cm}&#10;The functions $f_H$ and $f_D$ are called {\bf{fitness functions}} of the strategy 'hawk' and 'dove', respectively.&#10;&#10;\vspace{0.2cm}&#10;We will soon relate the fitness of a strategy to the payoffs. This follows the idea that the fitter (better adapted to an environment)&#10;a strategy is then the more ressoures (higher payoffs) it can achieve.&#10;&#10;}}&#10;\end{minipage}&#10;\end{document}"/>
  <p:tag name="IGUANATEXSIZE" val="20"/>
  <p:tag name="IGUANATEXCURSOR" val="482"/>
  <p:tag name="TRANSPARENCY" val="Wahr"/>
  <p:tag name="FILENAME" val=""/>
  <p:tag name="LATEXENGINEID" val="0"/>
  <p:tag name="TEMPFOLDER" val="D:\iguana_temp\"/>
  <p:tag name="LATEXFORMHEIGHT" val="482,25"/>
  <p:tag name="LATEXFORMWIDTH" val="1030,5"/>
  <p:tag name="LATEXFORMWRAP" val="Wahr"/>
  <p:tag name="BITMAPVECTOR" val="0"/>
</p:tagLst>
</file>

<file path=ppt/tags/tag36.xml><?xml version="1.0" encoding="utf-8"?>
<p:tagLst xmlns:a="http://schemas.openxmlformats.org/drawingml/2006/main" xmlns:r="http://schemas.openxmlformats.org/officeDocument/2006/relationships" xmlns:p="http://schemas.openxmlformats.org/presentationml/2006/main">
  <p:tag name="OUTPUTDPI" val="1200"/>
  <p:tag name="ORIGINALHEIGHT" val="1961,755"/>
  <p:tag name="ORIGINALWIDTH" val="4345,707"/>
  <p:tag name="LATEXADDIN" val="\documentclass{article}\pagestyle{empty}&#10;\usepackage{amsmath}&#10;\usepackage{amsfonts}&#10;\usepackage{amssymb}&#10;\begin{document}&#10;\begin{minipage}{12.3 cm}&#10;{\sffamily{&#10;This allows us to give an update scheme for the frequencies $p(t)$ to $p(t+1)$ which is called the {\bf{discrete replicator equation}}&#10;\begin{eqnarray*}&#10;p(t+1) &amp; = &amp; \frac{N_H(t+1)}{N(t+1)} \, \, = \, \, \frac{N_H(t) \cdot f_H(p(t))}{N_H(t) \cdot f_H(p(t)) + N_D(t) \cdot f_D(p(t))} \\[2mm]&#10;&amp; = &amp;&#10;\frac{N_H(t) \cdot f_H(p(t))}{N(t) \cdot p(t) \cdot f_H(p(t)) + N(t) \cdot (1-p(t)) \cdot f_D(p(t))} \\[2mm]&#10;&amp; = &amp;&#10;p(t) \cdot \frac{f_H(p)}{\overline{f}(p(t))} \, ,&#10;\end{eqnarray*}&#10;where $\overline{f}(p(t)) = p(t) \cdot f_H(p(t)) + (1-p(t)) \cdot f_D(p(t))$ is the {\bf{average fitness}} in the population.&#10;}}&#10;\end{minipage}&#10;\end{document}"/>
  <p:tag name="IGUANATEXSIZE" val="20"/>
  <p:tag name="IGUANATEXCURSOR" val="210"/>
  <p:tag name="TRANSPARENCY" val="Wahr"/>
  <p:tag name="FILENAME" val=""/>
  <p:tag name="LATEXENGINEID" val="0"/>
  <p:tag name="TEMPFOLDER" val="D:\iguana_temp\"/>
  <p:tag name="LATEXFORMHEIGHT" val="482,25"/>
  <p:tag name="LATEXFORMWIDTH" val="1030,5"/>
  <p:tag name="LATEXFORMWRAP" val="Wahr"/>
  <p:tag name="BITMAPVECTOR" val="0"/>
</p:tagLst>
</file>

<file path=ppt/tags/tag37.xml><?xml version="1.0" encoding="utf-8"?>
<p:tagLst xmlns:a="http://schemas.openxmlformats.org/drawingml/2006/main" xmlns:r="http://schemas.openxmlformats.org/officeDocument/2006/relationships" xmlns:p="http://schemas.openxmlformats.org/presentationml/2006/main">
  <p:tag name="OUTPUTDPI" val="1200"/>
  <p:tag name="ORIGINALHEIGHT" val="2074,241"/>
  <p:tag name="ORIGINALWIDTH" val="4352,456"/>
  <p:tag name="LATEXADDIN" val="\documentclass{article}\pagestyle{empty}&#10;\usepackage{amsmath}&#10;\usepackage{amsfonts}&#10;\usepackage{amssymb}&#10;\begin{document}&#10;\begin{minipage}{12.3 cm}&#10;{\sffamily{&#10;From the {\bf{discrete replicator equation}}&#10;$$&#10;p(t+1) \, \, = \, p(t) \cdot \frac{f_H(p(t))}{\overline{f}(p(t))} \, ,&#10;$$&#10;&#10;\vspace{0.2cm}&#10;we immediatelly have&#10;\begin{itemize}&#10;\item that $p$ {\bf{increases}} from generation to generation if $f_H$ is larger than the average fitness $\overline{f}$,&#10;\item that $p$ {\bf{decreases}} from generation to generation if $f_H$ is less than the average fitness $\overline{f}$, and&#10;\item that $p$ stays the same from generation to generation (i.e. {\bf{stationary state}}) if $p(t+1) = p(t)$. &#10;\end{itemize}&#10;}}&#10;\end{minipage}&#10;\end{document}"/>
  <p:tag name="IGUANATEXSIZE" val="20"/>
  <p:tag name="IGUANATEXCURSOR" val="456"/>
  <p:tag name="TRANSPARENCY" val="Wahr"/>
  <p:tag name="FILENAME" val=""/>
  <p:tag name="LATEXENGINEID" val="0"/>
  <p:tag name="TEMPFOLDER" val="D:\iguana_temp\"/>
  <p:tag name="LATEXFORMHEIGHT" val="482,25"/>
  <p:tag name="LATEXFORMWIDTH" val="1030,5"/>
  <p:tag name="LATEXFORMWRAP" val="Wahr"/>
  <p:tag name="BITMAPVECTOR" val="0"/>
</p:tagLst>
</file>

<file path=ppt/tags/tag38.xml><?xml version="1.0" encoding="utf-8"?>
<p:tagLst xmlns:a="http://schemas.openxmlformats.org/drawingml/2006/main" xmlns:r="http://schemas.openxmlformats.org/officeDocument/2006/relationships" xmlns:p="http://schemas.openxmlformats.org/presentationml/2006/main">
  <p:tag name="OUTPUTDPI" val="1200"/>
  <p:tag name="ORIGINALHEIGHT" val="1979,753"/>
  <p:tag name="ORIGINALWIDTH" val="4354,706"/>
  <p:tag name="LATEXADDIN" val="\documentclass{article}\pagestyle{empty}&#10;\usepackage{amsmath}&#10;\usepackage{amsfonts}&#10;\usepackage{amssymb}&#10;\begin{document}&#10;\begin{minipage}{12.3 cm}&#10;{\sffamily{&#10;The discrete replicator equations are an example for {\bf{difference equations}}&#10;$$&#10;x(t+1) \, \, = \, \, f(x(t)) \, , \qquad x \, \in \, \mathbb{R} \, ,&#10;$$&#10;where the next generation $x(t+1)$ depends only in the previous one $x(t)$ according to the continuous function $f(x)$ defined on a close interval $[a,b]$.\\[1mm]&#10;Important solutions of difference equations are those for which the value does not change from generation to generration, i.e.\\[-2mm]&#10;$$&#10;x(t+1) \, \, = \, \, x(t) \, .&#10;$$&#10;Such solutions are called {\bf{stationary states}} or {\bf{fixed points}}. For them the {\bf{fixed point equation}} has to hold, i.e.\\[-2mm]&#10;$$&#10;x(t) \, \, = \, \, f(x(t)) \qquad \text{or simply} \qquad x \, \, = \, \, f(x) \, .&#10;$$&#10;}}&#10;\end{minipage}&#10;\end{document}"/>
  <p:tag name="IGUANATEXSIZE" val="20"/>
  <p:tag name="IGUANATEXCURSOR" val="613"/>
  <p:tag name="TRANSPARENCY" val="Wahr"/>
  <p:tag name="FILENAME" val=""/>
  <p:tag name="LATEXENGINEID" val="0"/>
  <p:tag name="TEMPFOLDER" val="D:\iguana_temp\"/>
  <p:tag name="LATEXFORMHEIGHT" val="482,25"/>
  <p:tag name="LATEXFORMWIDTH" val="1030,5"/>
  <p:tag name="LATEXFORMWRAP" val="Wahr"/>
  <p:tag name="BITMAPVECTOR" val="0"/>
</p:tagLst>
</file>

<file path=ppt/tags/tag39.xml><?xml version="1.0" encoding="utf-8"?>
<p:tagLst xmlns:a="http://schemas.openxmlformats.org/drawingml/2006/main" xmlns:r="http://schemas.openxmlformats.org/officeDocument/2006/relationships" xmlns:p="http://schemas.openxmlformats.org/presentationml/2006/main">
  <p:tag name="OUTPUTDPI" val="1200"/>
  <p:tag name="ORIGINALHEIGHT" val="1782,527"/>
  <p:tag name="ORIGINALWIDTH" val="3474,316"/>
  <p:tag name="LATEXADDIN" val="\documentclass{article}\pagestyle{empty}&#10;\usepackage{amsmath}&#10;\usepackage{amsfonts}&#10;\usepackage{amssymb}&#10;\begin{document}&#10;\begin{minipage}{9.8 cm}&#10;{\sffamily{&#10;Geometrically, $x = f(x)$ means that we are interested in the intersection between the graphs of&#10;$$&#10;y \, \, = \, \, x \qquad \text{and} \qquad y \, \, = \, \, f(x) \, .&#10;$$&#10;The $x$-coordinate of such an intersection os a stationary state of the underlying difference equation.\\[1mm]&#10;Depending on the shape of the graph of $f(x)$ there may be none, one, or more than one interesection.\\[1mm]&#10;Like for Nash-equilibria, if there is more than one stationary state, the question aries of which of these states is favoured in a real world application. &#10;}}&#10;\end{minipage}&#10;\end{document}"/>
  <p:tag name="IGUANATEXSIZE" val="20"/>
  <p:tag name="IGUANATEXCURSOR" val="664"/>
  <p:tag name="TRANSPARENCY" val="Wahr"/>
  <p:tag name="FILENAME" val=""/>
  <p:tag name="LATEXENGINEID" val="0"/>
  <p:tag name="TEMPFOLDER" val="D:\iguana_temp\"/>
  <p:tag name="LATEXFORMHEIGHT" val="482,25"/>
  <p:tag name="LATEXFORMWIDTH" val="1030,5"/>
  <p:tag name="LATEXFORMWRAP" val="Wahr"/>
  <p:tag name="BITMAPVECTOR" val="0"/>
</p:tagLst>
</file>

<file path=ppt/tags/tag40.xml><?xml version="1.0" encoding="utf-8"?>
<p:tagLst xmlns:a="http://schemas.openxmlformats.org/drawingml/2006/main" xmlns:r="http://schemas.openxmlformats.org/officeDocument/2006/relationships" xmlns:p="http://schemas.openxmlformats.org/presentationml/2006/main">
  <p:tag name="OUTPUTDPI" val="1200"/>
  <p:tag name="ORIGINALHEIGHT" val="1268,092"/>
  <p:tag name="ORIGINALWIDTH" val="3473,566"/>
  <p:tag name="LATEXADDIN" val="\documentclass{article}\pagestyle{empty}&#10;\usepackage{amsmath}&#10;\usepackage{amsfonts}&#10;\usepackage{amssymb}&#10;\begin{document}&#10;\begin{minipage}{9.8 cm}&#10;{\sffamily{&#10;A fundamental concept in nature is ({\bf{asymptotic}}) {\bf{stability}}.&#10;\begin{itemize}&#10;\item A stationary state $x^*$ is called ({\bf{asymptotically}}) {\bf{stabile}} if, after small perturbations $\varepsilon &gt; 0$, the governing dynamics&#10;of the difference equation drive the perturbed state $x^* \pm \varepsilon$ back to $x^*$, i.e.&#10;$$&#10;x^* \pm \varepsilon \, \, \stackrel{f}{\longrightarrow} \, \, x^* \, .&#10;$$&#10;\item Otherwise, the stationary state $x^*$ is called {\bf{unstable}}.&#10;\end{itemize}&#10;}}&#10;\end{minipage}&#10;\end{document}"/>
  <p:tag name="IGUANATEXSIZE" val="20"/>
  <p:tag name="IGUANATEXCURSOR" val="642"/>
  <p:tag name="TRANSPARENCY" val="Wahr"/>
  <p:tag name="FILENAME" val=""/>
  <p:tag name="LATEXENGINEID" val="0"/>
  <p:tag name="TEMPFOLDER" val="D:\iguana_temp\"/>
  <p:tag name="LATEXFORMHEIGHT" val="482,25"/>
  <p:tag name="LATEXFORMWIDTH" val="1030,5"/>
  <p:tag name="LATEXFORMWRAP" val="Wahr"/>
  <p:tag name="BITMAPVECTOR" val="0"/>
</p:tagLst>
</file>

<file path=ppt/tags/tag41.xml><?xml version="1.0" encoding="utf-8"?>
<p:tagLst xmlns:a="http://schemas.openxmlformats.org/drawingml/2006/main" xmlns:r="http://schemas.openxmlformats.org/officeDocument/2006/relationships" xmlns:p="http://schemas.openxmlformats.org/presentationml/2006/main">
  <p:tag name="OUTPUTDPI" val="1200"/>
  <p:tag name="ORIGINALHEIGHT" val="2104,237"/>
  <p:tag name="ORIGINALWIDTH" val="4346,457"/>
  <p:tag name="LATEXADDIN" val="\documentclass{article}\pagestyle{empty}&#10;\usepackage{amsmath}&#10;\usepackage{amsfonts}&#10;\usepackage{amssymb}&#10;\begin{document}&#10;\begin{minipage}{12.3 cm}&#10;{\sffamily{&#10;Let $\varepsilon^* &gt; 0$ sufficiently small and $x^* \in (a,b)$ be a stationary state of the one-dimensional difference equation $x(t+1) = f(x(t))$, i.e. $x^* = f(x^*)$.\\[1mm]&#10;Then $x^*$ is (asymptotically) stable if&#10;\begin{itemize}&#10;\item growth towards $x^*$ from the left-hand side of $x^*$, i.e.\\[-2mm]&#10;$$&#10;x^* - \varepsilon_1 \, \, &lt; \, \, f(x^* - \varepsilon_1) \qquad \text{for all $0 &lt; \varepsilon_1 &lt; \varepsilon^*$} &#10;$$&#10;such that $|x^* - f(x^* - \varepsilon_1)| =: \delta_1 &lt; \varepsilon_1$.&#10;\item decay towards $x^*$ from the right-hand side of $x^*$, i.e.\\[-2mm]&#10;$$&#10;x^* + \varepsilon_2 \, \, &gt; \, \, f(x^* + \varepsilon_2) \qquad \text{for all $0 &lt; \varepsilon_2 &lt; \varepsilon^*$} &#10;$$&#10;such that $|x^* - f(x^* + \varepsilon_2)| =: \delta_2 &lt; \varepsilon_2$.&#10;\item $\delta_1, \delta_2 \to 0$ with increasing number of generations.&#10;\end{itemize}&#10;}}&#10;\end{minipage}&#10;\end{document}"/>
  <p:tag name="IGUANATEXSIZE" val="20"/>
  <p:tag name="IGUANATEXCURSOR" val="743"/>
  <p:tag name="TRANSPARENCY" val="Wahr"/>
  <p:tag name="FILENAME" val=""/>
  <p:tag name="LATEXENGINEID" val="0"/>
  <p:tag name="TEMPFOLDER" val="D:\iguana_temp\"/>
  <p:tag name="LATEXFORMHEIGHT" val="482,25"/>
  <p:tag name="LATEXFORMWIDTH" val="1030,5"/>
  <p:tag name="LATEXFORMWRAP" val="Wahr"/>
  <p:tag name="BITMAPVECTOR" val="0"/>
</p:tagLst>
</file>

<file path=ppt/tags/tag42.xml><?xml version="1.0" encoding="utf-8"?>
<p:tagLst xmlns:a="http://schemas.openxmlformats.org/drawingml/2006/main" xmlns:r="http://schemas.openxmlformats.org/officeDocument/2006/relationships" xmlns:p="http://schemas.openxmlformats.org/presentationml/2006/main">
  <p:tag name="OUTPUTDPI" val="1200"/>
  <p:tag name="ORIGINALHEIGHT" val="602,9246"/>
  <p:tag name="ORIGINALWIDTH" val="4352,456"/>
  <p:tag name="LATEXADDIN" val="\documentclass{article}\pagestyle{empty}&#10;\usepackage{amsmath}&#10;\usepackage{amsfonts}&#10;\usepackage{amssymb}&#10;\begin{document}&#10;\begin{minipage}{12.3 cm}&#10;{\sffamily{&#10;The conditions of the types $|x^* - f(x^* \pm \varepsilon)| =: \delta &lt; \varepsilon$ and '$\delta \to 0$ with increasing number of generations' are required to rule out oscillatory cases.\\[1mm]&#10;Moreover, analogous conditions hold for stationary states at the boundaries $a$ and $b$, respectively.&#10;}}&#10;\end{minipage}&#10;\end{document}"/>
  <p:tag name="IGUANATEXSIZE" val="20"/>
  <p:tag name="IGUANATEXCURSOR" val="457"/>
  <p:tag name="TRANSPARENCY" val="Wahr"/>
  <p:tag name="FILENAME" val=""/>
  <p:tag name="LATEXENGINEID" val="0"/>
  <p:tag name="TEMPFOLDER" val="D:\iguana_temp\"/>
  <p:tag name="LATEXFORMHEIGHT" val="482,25"/>
  <p:tag name="LATEXFORMWIDTH" val="1030,5"/>
  <p:tag name="LATEXFORMWRAP" val="Wahr"/>
  <p:tag name="BITMAPVECTOR" val="0"/>
</p:tagLst>
</file>

<file path=ppt/tags/tag43.xml><?xml version="1.0" encoding="utf-8"?>
<p:tagLst xmlns:a="http://schemas.openxmlformats.org/drawingml/2006/main" xmlns:r="http://schemas.openxmlformats.org/officeDocument/2006/relationships" xmlns:p="http://schemas.openxmlformats.org/presentationml/2006/main">
  <p:tag name="OUTPUTDPI" val="1200"/>
  <p:tag name="ORIGINALHEIGHT" val="149,9813"/>
  <p:tag name="ORIGINALWIDTH" val="870,6412"/>
  <p:tag name="LATEXADDIN" val="\documentclass{article}\pagestyle{empty}&#10;\usepackage{amsmath}&#10;\usepackage{amsfonts}&#10;\usepackage{amssymb}&#10;\begin{document}&#10;\begin{minipage}{12.3 cm}&#10;{\sffamily{&#10;$x(t+1) = \tfrac{1}{2} x(t)$&#10;}}&#10;\end{minipage}&#10;\end{document}"/>
  <p:tag name="IGUANATEXSIZE" val="20"/>
  <p:tag name="IGUANATEXCURSOR" val="183"/>
  <p:tag name="TRANSPARENCY" val="Wahr"/>
  <p:tag name="FILENAME" val=""/>
  <p:tag name="LATEXENGINEID" val="0"/>
  <p:tag name="TEMPFOLDER" val="D:\iguana_temp\"/>
  <p:tag name="LATEXFORMHEIGHT" val="482,25"/>
  <p:tag name="LATEXFORMWIDTH" val="1030,5"/>
  <p:tag name="LATEXFORMWRAP" val="Wahr"/>
  <p:tag name="BITMAPVECTOR" val="0"/>
</p:tagLst>
</file>

<file path=ppt/tags/tag44.xml><?xml version="1.0" encoding="utf-8"?>
<p:tagLst xmlns:a="http://schemas.openxmlformats.org/drawingml/2006/main" xmlns:r="http://schemas.openxmlformats.org/officeDocument/2006/relationships" xmlns:p="http://schemas.openxmlformats.org/presentationml/2006/main">
  <p:tag name="OUTPUTDPI" val="1200"/>
  <p:tag name="ORIGINALHEIGHT" val="149,9813"/>
  <p:tag name="ORIGINALWIDTH" val="967,3792"/>
  <p:tag name="LATEXADDIN" val="\documentclass{article}\pagestyle{empty}&#10;\usepackage{amsmath}&#10;\usepackage{amsfonts}&#10;\usepackage{amssymb}&#10;\begin{document}&#10;\begin{minipage}{12.3 cm}&#10;{\sffamily{&#10;$x(t+1) = -\tfrac{1}{2} x(t)$&#10;}}&#10;\end{minipage}&#10;\end{document}"/>
  <p:tag name="IGUANATEXSIZE" val="20"/>
  <p:tag name="IGUANATEXCURSOR" val="171"/>
  <p:tag name="TRANSPARENCY" val="Wahr"/>
  <p:tag name="FILENAME" val=""/>
  <p:tag name="LATEXENGINEID" val="0"/>
  <p:tag name="TEMPFOLDER" val="D:\iguana_temp\"/>
  <p:tag name="LATEXFORMHEIGHT" val="482,25"/>
  <p:tag name="LATEXFORMWIDTH" val="1030,5"/>
  <p:tag name="LATEXFORMWRAP" val="Wahr"/>
  <p:tag name="BITMAPVECTOR" val="0"/>
</p:tagLst>
</file>

<file path=ppt/tags/tag45.xml><?xml version="1.0" encoding="utf-8"?>
<p:tagLst xmlns:a="http://schemas.openxmlformats.org/drawingml/2006/main" xmlns:r="http://schemas.openxmlformats.org/officeDocument/2006/relationships" xmlns:p="http://schemas.openxmlformats.org/presentationml/2006/main">
  <p:tag name="OUTPUTDPI" val="1200"/>
  <p:tag name="ORIGINALHEIGHT" val="151,4811"/>
  <p:tag name="ORIGINALWIDTH" val="1465,317"/>
  <p:tag name="LATEXADDIN" val="\documentclass{article}\pagestyle{empty}&#10;\usepackage{amsmath}&#10;\usepackage{amsfonts}&#10;\usepackage{amssymb}&#10;\begin{document}&#10;\begin{minipage}{12.3 cm}&#10;{\sffamily{&#10;$x(t+1) = \tfrac{10}{3} x(t) \left( 1 + x(t) \right)$&#10;}}&#10;\end{minipage}&#10;\end{document}"/>
  <p:tag name="IGUANATEXSIZE" val="20"/>
  <p:tag name="IGUANATEXCURSOR" val="212"/>
  <p:tag name="TRANSPARENCY" val="Wahr"/>
  <p:tag name="FILENAME" val=""/>
  <p:tag name="LATEXENGINEID" val="0"/>
  <p:tag name="TEMPFOLDER" val="D:\iguana_temp\"/>
  <p:tag name="LATEXFORMHEIGHT" val="482,25"/>
  <p:tag name="LATEXFORMWIDTH" val="1030,5"/>
  <p:tag name="LATEXFORMWRAP" val="Wahr"/>
  <p:tag name="BITMAPVECTOR" val="0"/>
</p:tagLst>
</file>

<file path=ppt/tags/tag46.xml><?xml version="1.0" encoding="utf-8"?>
<p:tagLst xmlns:a="http://schemas.openxmlformats.org/drawingml/2006/main" xmlns:r="http://schemas.openxmlformats.org/officeDocument/2006/relationships" xmlns:p="http://schemas.openxmlformats.org/presentationml/2006/main">
  <p:tag name="OUTPUTDPI" val="1200"/>
  <p:tag name="ORIGINALHEIGHT" val="1914,511"/>
  <p:tag name="ORIGINALWIDTH" val="4351,707"/>
  <p:tag name="LATEXADDIN" val="\documentclass{article}\pagestyle{empty}&#10;\usepackage{amsmath}&#10;\usepackage{amsfonts}&#10;\usepackage{amssymb}&#10;\begin{document}&#10;\begin{minipage}{12.3 cm}&#10;{\sffamily{&#10;The discrete replicator equation&#10;$$&#10;p(t+1) \, \, = \, p(t) \cdot \frac{f_H(p(t))}{\overline{f}(p(t))}&#10;$$&#10;gives always rise to the following stationary states (in pure strategies):&#10;\begin{itemize}&#10;\item the pure 'dove' population: $p(t) = 0$ such that $p(t+1) = 0$ for all generations $t \in \mathbb{N}_0$.&#10;\item the pure 'hawk' population: $p(t) = 1$ and\\[-2mm]&#10;$$&#10;\overline{f}(p) \, \, = \, \, p f_H(p) + (1-p) f_D(p) \, \, = \, \, f_H(p)&#10;$$&#10;such that $p(t+1) = 1$ for all generations $t \in \mathbb{N}_0$.&#10;\end{itemize}&#10;}}&#10;\end{minipage}&#10;\end{document}"/>
  <p:tag name="IGUANATEXSIZE" val="20"/>
  <p:tag name="IGUANATEXCURSOR" val="669"/>
  <p:tag name="TRANSPARENCY" val="Wahr"/>
  <p:tag name="FILENAME" val=""/>
  <p:tag name="LATEXENGINEID" val="0"/>
  <p:tag name="TEMPFOLDER" val="D:\iguana_temp\"/>
  <p:tag name="LATEXFORMHEIGHT" val="482,25"/>
  <p:tag name="LATEXFORMWIDTH" val="1030,5"/>
  <p:tag name="LATEXFORMWRAP" val="Wahr"/>
  <p:tag name="BITMAPVECTOR" val="0"/>
</p:tagLst>
</file>

<file path=ppt/tags/tag47.xml><?xml version="1.0" encoding="utf-8"?>
<p:tagLst xmlns:a="http://schemas.openxmlformats.org/drawingml/2006/main" xmlns:r="http://schemas.openxmlformats.org/officeDocument/2006/relationships" xmlns:p="http://schemas.openxmlformats.org/presentationml/2006/main">
  <p:tag name="OUTPUTDPI" val="1200"/>
  <p:tag name="ORIGINALHEIGHT" val="1148,856"/>
  <p:tag name="ORIGINALWIDTH" val="4347,207"/>
  <p:tag name="LATEXADDIN" val="\documentclass{article}\pagestyle{empty}&#10;\usepackage{amsmath}&#10;\usepackage{amsfonts}&#10;\usepackage{amssymb}&#10;\begin{document}&#10;\begin{minipage}{12.3 cm}&#10;{\sffamily{&#10;Moreover,&#10;$$&#10;p(t+1) \, \, = \, p(t) \cdot \frac{f_H(p(t))}{\overline{f}(p(t))}&#10;$$&#10;leads to the condition&#10;$$&#10;f_H(p) \, \, = \, \, \overline{f}(p)&#10;$$&#10;for stationary states in mixed 'hawk'-'dove' populations $p \in (0,1)$. Under this condition, we obtain&#10;$p(t+1) = p(t)$ for all generations $t \in \mathbb{N}_0$. &#10;}}&#10;\end{minipage}&#10;\end{document}"/>
  <p:tag name="IGUANATEXSIZE" val="20"/>
  <p:tag name="IGUANATEXCURSOR" val="169"/>
  <p:tag name="TRANSPARENCY" val="Wahr"/>
  <p:tag name="FILENAME" val=""/>
  <p:tag name="LATEXENGINEID" val="0"/>
  <p:tag name="TEMPFOLDER" val="D:\iguana_temp\"/>
  <p:tag name="LATEXFORMHEIGHT" val="482,25"/>
  <p:tag name="LATEXFORMWIDTH" val="1030,5"/>
  <p:tag name="LATEXFORMWRAP" val="Wahr"/>
  <p:tag name="BITMAPVECTOR" val="0"/>
</p:tagLst>
</file>

<file path=ppt/tags/tag48.xml><?xml version="1.0" encoding="utf-8"?>
<p:tagLst xmlns:a="http://schemas.openxmlformats.org/drawingml/2006/main" xmlns:r="http://schemas.openxmlformats.org/officeDocument/2006/relationships" xmlns:p="http://schemas.openxmlformats.org/presentationml/2006/main">
  <p:tag name="THINKCELLSHAPEDONOTDELETE" val="pRUi0UWp300S1uMJsj5lu_Q"/>
</p:tagLst>
</file>

<file path=ppt/tags/tag49.xml><?xml version="1.0" encoding="utf-8"?>
<p:tagLst xmlns:a="http://schemas.openxmlformats.org/drawingml/2006/main" xmlns:r="http://schemas.openxmlformats.org/officeDocument/2006/relationships" xmlns:p="http://schemas.openxmlformats.org/presentationml/2006/main">
  <p:tag name="OUTPUTDPI" val="1200"/>
  <p:tag name="ORIGINALHEIGHT" val="1844,769"/>
  <p:tag name="ORIGINALWIDTH" val="3460,067"/>
  <p:tag name="LATEXADDIN" val="\documentclass{article}\pagestyle{empty}&#10;\usepackage{amsmath}&#10;\usepackage{amsfonts}&#10;\usepackage{amssymb}&#10;\begin{document}&#10;\begin{minipage}{9.8 cm}&#10;{\sffamily{&#10;In the case of discrete generations, the fitness function $f_H$ of 'hawk' is calculated as the sum of three components&#10;\begin{itemize}&#10;\item the corresponding fitness (payoff/ utility) $u_H(H,H)$ at an encounter with another 'hawk' weighted by the probability for this encounter&#10;(i.e. the frequency $p$ of 'hawks'):\\[-2mm]&#10;$$&#10;p \cdot u_H(H,H) \, \, = \, \, p \cdot 0 \, \, = \, \, 0 &#10;$$&#10;\item the corresponding fitness (payoff/ utility) $u_H(H,D)$ at an encounter with a 'dove' weighted by the probability for this encounter&#10;(i.e. the frequency $1-p$ of 'doves'):\\[-2mm]&#10;$$&#10;(1-p) \cdot u_H(H,D) \, \, = \, \, (1-p) \cdot 3 \, \, = \, \, 3-3p&#10;$$&#10;\end{itemize}&#10;}}&#10;\end{minipage}&#10;\end{document}"/>
  <p:tag name="IGUANATEXSIZE" val="20"/>
  <p:tag name="IGUANATEXCURSOR" val="775"/>
  <p:tag name="TRANSPARENCY" val="Wahr"/>
  <p:tag name="LATEXENGINEID" val="0"/>
  <p:tag name="TEMPFOLDER" val="c:\temp\"/>
  <p:tag name="LATEXFORMHEIGHT" val="482,25"/>
  <p:tag name="LATEXFORMWIDTH" val="1030,5"/>
  <p:tag name="LATEXFORMWRAP" val="Wahr"/>
  <p:tag name="BITMAPVECTOR" val="0"/>
</p:tagLst>
</file>

<file path=ppt/tags/tag50.xml><?xml version="1.0" encoding="utf-8"?>
<p:tagLst xmlns:a="http://schemas.openxmlformats.org/drawingml/2006/main" xmlns:r="http://schemas.openxmlformats.org/officeDocument/2006/relationships" xmlns:p="http://schemas.openxmlformats.org/presentationml/2006/main">
  <p:tag name="THINKCELLSHAPEDONOTDELETE" val="pRUi0UWp300S1uMJsj5lu_Q"/>
</p:tagLst>
</file>

<file path=ppt/tags/tag51.xml><?xml version="1.0" encoding="utf-8"?>
<p:tagLst xmlns:a="http://schemas.openxmlformats.org/drawingml/2006/main" xmlns:r="http://schemas.openxmlformats.org/officeDocument/2006/relationships" xmlns:p="http://schemas.openxmlformats.org/presentationml/2006/main">
  <p:tag name="OUTPUTDPI" val="1200"/>
  <p:tag name="ORIGINALHEIGHT" val="2073,491"/>
  <p:tag name="ORIGINALWIDTH" val="3463,817"/>
  <p:tag name="LATEXADDIN" val="\documentclass{article}\pagestyle{empty}&#10;\usepackage{amsmath}&#10;\usepackage{amsfonts}&#10;\usepackage{amssymb}&#10;\begin{document}&#10;\begin{minipage}{9.8 cm}&#10;{\sffamily{&#10;as well as&#10;\begin{itemize}&#10;\item the 'background fitnes' $\beta$ that represents the contribution to an individual's fitness that does not come from direct conflicts with others. (This&#10;is a special component for discrete generations and is not present when discussing continuous generations.)&#10;\end{itemize}&#10;Hence, $f_H$ depends on the share $p$ of the 'hawks' in the total population and the share $1-p$ of the 'doves':&#10;\begin{eqnarray*}&#10;f_H(p) &amp; = &amp; p \cdot u_H(H,H) + (1-p) \cdot u_H(H,D) + \beta \\[1mm]   &#10;&amp; = &amp;&#10;p \cdot 0 + (1-p) \cdot 3 + \beta \\[1mm]&#10;&amp; = &amp; 3 - 3 p + \beta \, .&#10;\end{eqnarray*}&#10;}}&#10;\end{minipage}&#10;\end{document}"/>
  <p:tag name="IGUANATEXSIZE" val="20"/>
  <p:tag name="IGUANATEXCURSOR" val="472"/>
  <p:tag name="TRANSPARENCY" val="Wahr"/>
  <p:tag name="FILENAME" val=""/>
  <p:tag name="LATEXENGINEID" val="0"/>
  <p:tag name="TEMPFOLDER" val="D:\iguana_temp\"/>
  <p:tag name="LATEXFORMHEIGHT" val="482,25"/>
  <p:tag name="LATEXFORMWIDTH" val="1030,5"/>
  <p:tag name="LATEXFORMWRAP" val="Wahr"/>
  <p:tag name="BITMAPVECTOR" val="0"/>
</p:tagLst>
</file>

<file path=ppt/tags/tag52.xml><?xml version="1.0" encoding="utf-8"?>
<p:tagLst xmlns:a="http://schemas.openxmlformats.org/drawingml/2006/main" xmlns:r="http://schemas.openxmlformats.org/officeDocument/2006/relationships" xmlns:p="http://schemas.openxmlformats.org/presentationml/2006/main">
  <p:tag name="THINKCELLSHAPEDONOTDELETE" val="pRUi0UWp300S1uMJsj5lu_Q"/>
</p:tagLst>
</file>

<file path=ppt/tags/tag53.xml><?xml version="1.0" encoding="utf-8"?>
<p:tagLst xmlns:a="http://schemas.openxmlformats.org/drawingml/2006/main" xmlns:r="http://schemas.openxmlformats.org/officeDocument/2006/relationships" xmlns:p="http://schemas.openxmlformats.org/presentationml/2006/main">
  <p:tag name="OUTPUTDPI" val="1200"/>
  <p:tag name="ORIGINALHEIGHT" val="979,3776"/>
  <p:tag name="ORIGINALWIDTH" val="3459,318"/>
  <p:tag name="LATEXADDIN" val="\documentclass{article}\pagestyle{empty}&#10;\usepackage{amsmath}&#10;\usepackage{amsfonts}&#10;\usepackage{amssymb}&#10;\begin{document}&#10;\begin{minipage}{9.8 cm}&#10;{\sffamily{&#10;Analogously we obtain the fitness $f_D$ of the 'doves' as a function of $p$ as well:&#10;\begin{eqnarray*}&#10;f_D(p) &amp; = &amp; p \cdot u_D(D,H) + (1-p) \cdot u_D(D,D) + \beta \\[1mm]&#10;&amp; = &amp;&#10;p \cdot 1 + (1-p) \cdot 2 + \beta \\[1mm]&#10;&amp; = &amp;&#10;2 - p  + \beta \, .&#10;\end{eqnarray*}&#10;}}&#10;\end{minipage}&#10;\end{document}"/>
  <p:tag name="IGUANATEXSIZE" val="20"/>
  <p:tag name="IGUANATEXCURSOR" val="400"/>
  <p:tag name="TRANSPARENCY" val="Wahr"/>
  <p:tag name="FILENAME" val=""/>
  <p:tag name="LATEXENGINEID" val="0"/>
  <p:tag name="TEMPFOLDER" val="D:\iguana_temp\"/>
  <p:tag name="LATEXFORMHEIGHT" val="482,25"/>
  <p:tag name="LATEXFORMWIDTH" val="1030,5"/>
  <p:tag name="LATEXFORMWRAP" val="Wahr"/>
  <p:tag name="BITMAPVECTOR" val="0"/>
</p:tagLst>
</file>

<file path=ppt/tags/tag54.xml><?xml version="1.0" encoding="utf-8"?>
<p:tagLst xmlns:a="http://schemas.openxmlformats.org/drawingml/2006/main" xmlns:r="http://schemas.openxmlformats.org/officeDocument/2006/relationships" xmlns:p="http://schemas.openxmlformats.org/presentationml/2006/main">
  <p:tag name="OUTPUTDPI" val="1200"/>
  <p:tag name="ORIGINALHEIGHT" val="1889,014"/>
  <p:tag name="ORIGINALWIDTH" val="4094,489"/>
  <p:tag name="LATEXADDIN" val="\documentclass{article}\pagestyle{empty}&#10;\usepackage{amsmath}&#10;\usepackage{amsfonts}&#10;\usepackage{amssymb}&#10;\begin{document}&#10;\begin{minipage}{12.3 cm}&#10;{\sffamily{&#10;Finally, the stationary state condition $f_H(p) = \overline{f}(p)$ now reads&#10;\begin{eqnarray*}&#10;3 - 3 p + \beta &amp; = &amp; p (3-3p + \beta) + (1-p) (2-p + \beta) \\[1mm]&#10;&amp; = &amp; 3p - 3p^2 + p \beta + 2 - p - 2p + p^2 \beta - p \beta\\[1mm]&#10;&amp; = &amp;&#10;-2p^2 + 2 + \beta \, ,&#10;\end{eqnarray*}&#10;such that for the mixed strategy $p \in (0,1)$ it has to hold that&#10;$$&#10;0 \, \, = \, \, 2p^2 - 3p + 1 \qquad \Longrightarrow \qquad &#10;p_{1,2} \, \, = \, \, \frac{3 \pm \sqrt{9-8}}{4} \, \, = \, \, \frac{3 \pm 1}{4} &#10;\, \, = \, \left\{ \begin{array}{c}&#10;0.5 \\[1mm] 1&#10;\end{array} \right.&#10;$$&#10;Thus, the mixed strategy with $p = 0.5$ is a stationary state.&#10;}}&#10;\end{minipage}&#10;\end{document}"/>
  <p:tag name="IGUANATEXSIZE" val="20"/>
  <p:tag name="IGUANATEXCURSOR" val="199"/>
  <p:tag name="TRANSPARENCY" val="Wahr"/>
  <p:tag name="FILENAME" val=""/>
  <p:tag name="LATEXENGINEID" val="0"/>
  <p:tag name="TEMPFOLDER" val="D:\iguana_temp\"/>
  <p:tag name="LATEXFORMHEIGHT" val="482,25"/>
  <p:tag name="LATEXFORMWIDTH" val="1030,5"/>
  <p:tag name="LATEXFORMWRAP" val="Wahr"/>
  <p:tag name="BITMAPVECTOR" val="0"/>
</p:tagLst>
</file>

<file path=ppt/tags/tag55.xml><?xml version="1.0" encoding="utf-8"?>
<p:tagLst xmlns:a="http://schemas.openxmlformats.org/drawingml/2006/main" xmlns:r="http://schemas.openxmlformats.org/officeDocument/2006/relationships" xmlns:p="http://schemas.openxmlformats.org/presentationml/2006/main">
  <p:tag name="OUTPUTDPI" val="1200"/>
  <p:tag name="ORIGINALHEIGHT" val="1860,518"/>
  <p:tag name="ORIGINALWIDTH" val="4350,957"/>
  <p:tag name="LATEXADDIN" val="\documentclass{article}\pagestyle{empty}&#10;\usepackage{amsmath}&#10;\usepackage{amsfonts}&#10;\usepackage{amssymb}&#10;\begin{document}&#10;\begin{minipage}{12.3 cm}&#10;{\sffamily{&#10;The evolutionary stationary state equation &#10;$$&#10;f_H(p) \, \, = \, \, \overline{f}(p) \, \, = \, \, p \cdot f_H(p) + (1-p) \cdot f_D(p)&#10;$$&#10;is equivalent to&#10;$$&#10;(1-p) \cdot f_H(p) \, \, = \, \, (1-p) \cdot f_D(p)&#10;$$&#10;such that, for $p \neq 1$, we obtain the following condition as an equivalent condition for the evolutionary stationary state\\[-2mm]&#10;$$&#10;f_H(p) \, \, = \, \, f_D(p) \, .&#10;$$&#10;&#10;\vspace{0.2cm}&#10;Thus, geometrically, the evolutionary stationary state is attained at the $p$-coordinate of the intersection of&#10;the fitness curves $f = f_H(p)$ and $f = f_D(p)$.&#10;}}&#10;\end{minipage}&#10;\end{document}"/>
  <p:tag name="IGUANATEXSIZE" val="20"/>
  <p:tag name="IGUANATEXCURSOR" val="505"/>
  <p:tag name="TRANSPARENCY" val="Wahr"/>
  <p:tag name="FILENAME" val=""/>
  <p:tag name="LATEXENGINEID" val="0"/>
  <p:tag name="TEMPFOLDER" val="D:\iguana_temp\"/>
  <p:tag name="LATEXFORMHEIGHT" val="482,25"/>
  <p:tag name="LATEXFORMWIDTH" val="1030,5"/>
  <p:tag name="LATEXFORMWRAP" val="Wahr"/>
  <p:tag name="BITMAPVECTOR" val="0"/>
</p:tagLst>
</file>

<file path=ppt/tags/tag56.xml><?xml version="1.0" encoding="utf-8"?>
<p:tagLst xmlns:a="http://schemas.openxmlformats.org/drawingml/2006/main" xmlns:r="http://schemas.openxmlformats.org/officeDocument/2006/relationships" xmlns:p="http://schemas.openxmlformats.org/presentationml/2006/main">
  <p:tag name="OUTPUTDPI" val="1200"/>
  <p:tag name="ORIGINALHEIGHT" val="1859,768"/>
  <p:tag name="ORIGINALWIDTH" val="3292,089"/>
  <p:tag name="LATEXADDIN" val="\documentclass{article}\pagestyle{empty}&#10;\usepackage{amsmath}&#10;\usepackage{amsfonts}&#10;\usepackage{amssymb}&#10;\begin{document}&#10;\begin{minipage}{9.3 cm}&#10;{\sffamily{&#10;Under the {\bf{Darwinian assumption}} that strategies with higher fitness propagate at the cost of the other strategies, the 'hawks' grow as long as their&#10;share is less than $p = 0.5$.\\[1mm]&#10;If the population consisted of 'hawks' to more than $50 \%$, the fitness of the 'doves' would be larger&#10;than that of the 'hawks', and so these would spread.\\[1mm]&#10;Consequently, a mixed population, consisting of an equal number of 'hawks' and 'doves', would&#10;evolve without changing this specific fraction of 'hawks' to 'doves'.\\[1mm]&#10;This dynamic is illustrated by the arrows on the $p$-axis in the figure (without $\beta$). The pure startegies (populations) are unstable w.r.t. the invasion of the other species.&#10;}}&#10;\end{minipage}&#10;\end{document}"/>
  <p:tag name="IGUANATEXSIZE" val="20"/>
  <p:tag name="IGUANATEXCURSOR" val="278"/>
  <p:tag name="TRANSPARENCY" val="Wahr"/>
  <p:tag name="FILENAME" val=""/>
  <p:tag name="LATEXENGINEID" val="0"/>
  <p:tag name="TEMPFOLDER" val="D:\iguana_temp\"/>
  <p:tag name="LATEXFORMHEIGHT" val="482,25"/>
  <p:tag name="LATEXFORMWIDTH" val="1030,5"/>
  <p:tag name="LATEXFORMWRAP" val="Wahr"/>
  <p:tag name="BITMAPVECTOR" val="0"/>
</p:tagLst>
</file>

<file path=ppt/tags/tag57.xml><?xml version="1.0" encoding="utf-8"?>
<p:tagLst xmlns:a="http://schemas.openxmlformats.org/drawingml/2006/main" xmlns:r="http://schemas.openxmlformats.org/officeDocument/2006/relationships" xmlns:p="http://schemas.openxmlformats.org/presentationml/2006/main">
  <p:tag name="OUTPUTDPI" val="1200"/>
  <p:tag name="ORIGINALHEIGHT" val="1889,014"/>
  <p:tag name="ORIGINALWIDTH" val="3288,339"/>
  <p:tag name="LATEXADDIN" val="\documentclass{article}\pagestyle{empty}&#10;\usepackage{amsmath}&#10;\usepackage{amsfonts}&#10;\usepackage{amssymb}&#10;\begin{document}&#10;\begin{minipage}{9.3 cm}&#10;{\sffamily{&#10;From these considerations, we have&#10;\begin{itemize}&#10;\item that both stationary states in pure strategies are unstable, and&#10;\item that the unique stationary state in mixed startegies with $p = 0.5$ is (assymptotically) stable.&#10;\end{itemize}&#10;&#10;\vspace{0.7cm}&#10;{\bf{Definition: (Evolutionary Stable Strategies)}}\\[1mm]&#10;The (assymptotically) stable stationary states of replicator equations called {\bf{evolutionary stable strategies}} (ESS)&#10;and are considered as the evolutionary preferred equilibria of the game. &#10;}}&#10;\end{minipage}&#10;\end{document}"/>
  <p:tag name="IGUANATEXSIZE" val="20"/>
  <p:tag name="IGUANATEXCURSOR" val="410"/>
  <p:tag name="TRANSPARENCY" val="Wahr"/>
  <p:tag name="FILENAME" val=""/>
  <p:tag name="LATEXENGINEID" val="0"/>
  <p:tag name="TEMPFOLDER" val="D:\iguana_temp\"/>
  <p:tag name="LATEXFORMHEIGHT" val="482,25"/>
  <p:tag name="LATEXFORMWIDTH" val="1030,5"/>
  <p:tag name="LATEXFORMWRAP" val="Wahr"/>
  <p:tag name="BITMAPVECTOR" val="0"/>
</p:tagLst>
</file>

<file path=ppt/tags/tag58.xml><?xml version="1.0" encoding="utf-8"?>
<p:tagLst xmlns:a="http://schemas.openxmlformats.org/drawingml/2006/main" xmlns:r="http://schemas.openxmlformats.org/officeDocument/2006/relationships" xmlns:p="http://schemas.openxmlformats.org/presentationml/2006/main">
  <p:tag name="OUTPUTDPI" val="1200"/>
  <p:tag name="ORIGINALHEIGHT" val="2071,991"/>
  <p:tag name="ORIGINALWIDTH" val="4350,957"/>
  <p:tag name="LATEXADDIN" val="\documentclass{article}\pagestyle{empty}&#10;\usepackage{amsmath}&#10;\usepackage{amsfonts}&#10;\usepackage{amssymb}&#10;\begin{document}&#10;\begin{minipage}{12.3 cm}&#10;{\sffamily{&#10;Altogether, the discrete replicator equation of the Hawk-Dove game reads as&#10;$$&#10;p(t+1) \, \, = \, p(t) \cdot \frac{3 - 3 p(t) + \beta}{-2p^2(t) + 2 + \beta} \, ,&#10;$$&#10;&#10;\vspace{0.7cm}&#10;Note:&#10;\begin{itemize}&#10;\item If $\beta \approx 0$, then the dynamics are completely governed by the utilities gained from encounters. (This happens in the&#10;case of continuous generations where there is a gap-less sequence of encounters.) \\[-6mm]&#10;\item If $\beta$ is very large, then the fraction is almost one. I.e., $p(t+1) \approx p(t)$ in the case of dominant&#10;background fitness and we do not expect considerable changes in the population frequencies.&#10;\end{itemize}&#10;}}&#10;\end{minipage}&#10;\end{document}"/>
  <p:tag name="IGUANATEXSIZE" val="20"/>
  <p:tag name="IGUANATEXCURSOR" val="207"/>
  <p:tag name="TRANSPARENCY" val="Wahr"/>
  <p:tag name="FILENAME" val=""/>
  <p:tag name="LATEXENGINEID" val="0"/>
  <p:tag name="TEMPFOLDER" val="D:\iguana_temp\"/>
  <p:tag name="LATEXFORMHEIGHT" val="482,25"/>
  <p:tag name="LATEXFORMWIDTH" val="1030,5"/>
  <p:tag name="LATEXFORMWRAP" val="Wahr"/>
  <p:tag name="BITMAPVECTOR" val="0"/>
</p:tagLst>
</file>

<file path=ppt/tags/tag59.xml><?xml version="1.0" encoding="utf-8"?>
<p:tagLst xmlns:a="http://schemas.openxmlformats.org/drawingml/2006/main" xmlns:r="http://schemas.openxmlformats.org/officeDocument/2006/relationships" xmlns:p="http://schemas.openxmlformats.org/presentationml/2006/main">
  <p:tag name="THINKCELLSHAPEDONOTDELETE" val="pRUi0UWp300S1uMJsj5lu_Q"/>
</p:tagLst>
</file>

<file path=ppt/tags/tag60.xml><?xml version="1.0" encoding="utf-8"?>
<p:tagLst xmlns:a="http://schemas.openxmlformats.org/drawingml/2006/main" xmlns:r="http://schemas.openxmlformats.org/officeDocument/2006/relationships" xmlns:p="http://schemas.openxmlformats.org/presentationml/2006/main">
  <p:tag name="THINKCELLSHAPEDONOTDELETE" val="pRUi0UWp300S1uMJsj5lu_Q"/>
</p:tagLst>
</file>

<file path=ppt/tags/tag61.xml><?xml version="1.0" encoding="utf-8"?>
<p:tagLst xmlns:a="http://schemas.openxmlformats.org/drawingml/2006/main" xmlns:r="http://schemas.openxmlformats.org/officeDocument/2006/relationships" xmlns:p="http://schemas.openxmlformats.org/presentationml/2006/main">
  <p:tag name="OUTPUTDPI" val="1200"/>
  <p:tag name="ORIGINALHEIGHT" val="824,8969"/>
  <p:tag name="ORIGINALWIDTH" val="2572,179"/>
  <p:tag name="LATEXADDIN" val="\documentclass{article}\pagestyle{empty}&#10;\usepackage{amsmath}&#10;\usepackage{amsfonts}&#10;\usepackage{amssymb}&#10;\begin{document}&#10;\begin{minipage}{8.5 cm}&#10;{\sffamily{&#10;In this case ($V = 6$, $D = 8$,  and $T = 1$), we have\\[-6mm]&#10;\begin{eqnarray*}&#10;f_H(p) &amp; = &amp; 6 - 7p + \beta \qquad \text{and} \\[1mm]&#10;f_D(p) &amp; = &amp; 2 - 2p + \beta \, ,&#10;\end{eqnarray*}&#10;and the ESS is attained at $p = 0.8$.&#10;&#10;}}&#10;\end{minipage}&#10;\end{document}"/>
  <p:tag name="IGUANATEXSIZE" val="20"/>
  <p:tag name="IGUANATEXCURSOR" val="218"/>
  <p:tag name="TRANSPARENCY" val="Wahr"/>
  <p:tag name="FILENAME" val=""/>
  <p:tag name="LATEXENGINEID" val="0"/>
  <p:tag name="TEMPFOLDER" val="D:\iguana_temp\"/>
  <p:tag name="LATEXFORMHEIGHT" val="482,25"/>
  <p:tag name="LATEXFORMWIDTH" val="1030,5"/>
  <p:tag name="LATEXFORMWRAP" val="Wahr"/>
  <p:tag name="BITMAPVECTOR" val="0"/>
</p:tagLst>
</file>

<file path=ppt/tags/tag62.xml><?xml version="1.0" encoding="utf-8"?>
<p:tagLst xmlns:a="http://schemas.openxmlformats.org/drawingml/2006/main" xmlns:r="http://schemas.openxmlformats.org/officeDocument/2006/relationships" xmlns:p="http://schemas.openxmlformats.org/presentationml/2006/main">
  <p:tag name="OUTPUTDPI" val="1200"/>
  <p:tag name="ORIGINALHEIGHT" val="1012,374"/>
  <p:tag name="ORIGINALWIDTH" val="2886,389"/>
  <p:tag name="LATEXADDIN" val="\documentclass{article}\pagestyle{empty}&#10;\usepackage{amsmath}&#10;\usepackage{amsfonts}&#10;\usepackage{amssymb}&#10;\usepackage{fourier}&#10;\begin{document}&#10;\begin{minipage}{8.5 cm}&#10;{\sffamily{&#10;In this case ($V = 4$, $D = 8$,  and $T = 0$), we have\\[-6mm]&#10;\begin{eqnarray*}&#10;f_H(p) &amp; = &amp; 4 - 6p + \beta \qquad \text{and} \\[1mm]&#10;f_D(p) &amp; = &amp; 2 - 2p + \beta \, ,&#10;\end{eqnarray*}&#10;and the ESS is attained at $p = 0.5$.\\[1mm]&#10;\danger \, We will use this in the Hawk-Dove-Bourgeois game.&#10;}}&#10;\end{minipage}&#10;\end{document}"/>
  <p:tag name="IGUANATEXSIZE" val="20"/>
  <p:tag name="IGUANATEXCURSOR" val="420"/>
  <p:tag name="TRANSPARENCY" val="Wahr"/>
  <p:tag name="FILENAME" val=""/>
  <p:tag name="LATEXENGINEID" val="0"/>
  <p:tag name="TEMPFOLDER" val="D:\iguana_temp\"/>
  <p:tag name="LATEXFORMHEIGHT" val="482,25"/>
  <p:tag name="LATEXFORMWIDTH" val="1030,5"/>
  <p:tag name="LATEXFORMWRAP" val="Wahr"/>
  <p:tag name="BITMAPVECTOR" val="0"/>
</p:tagLst>
</file>

<file path=ppt/tags/tag63.xml><?xml version="1.0" encoding="utf-8"?>
<p:tagLst xmlns:a="http://schemas.openxmlformats.org/drawingml/2006/main" xmlns:r="http://schemas.openxmlformats.org/officeDocument/2006/relationships" xmlns:p="http://schemas.openxmlformats.org/presentationml/2006/main">
  <p:tag name="THINKCELLSHAPEDONOTDELETE" val="pRUi0UWp300S1uMJsj5lu_Q"/>
</p:tagLst>
</file>

<file path=ppt/tags/tag64.xml><?xml version="1.0" encoding="utf-8"?>
<p:tagLst xmlns:a="http://schemas.openxmlformats.org/drawingml/2006/main" xmlns:r="http://schemas.openxmlformats.org/officeDocument/2006/relationships" xmlns:p="http://schemas.openxmlformats.org/presentationml/2006/main">
  <p:tag name="THINKCELLSHAPEDONOTDELETE" val="pRUi0UWp300S1uMJsj5lu_Q"/>
</p:tagLst>
</file>

<file path=ppt/tags/tag65.xml><?xml version="1.0" encoding="utf-8"?>
<p:tagLst xmlns:a="http://schemas.openxmlformats.org/drawingml/2006/main" xmlns:r="http://schemas.openxmlformats.org/officeDocument/2006/relationships" xmlns:p="http://schemas.openxmlformats.org/presentationml/2006/main">
  <p:tag name="OUTPUTDPI" val="1200"/>
  <p:tag name="ORIGINALHEIGHT" val="1928,759"/>
  <p:tag name="ORIGINALWIDTH" val="3466,067"/>
  <p:tag name="LATEXADDIN" val="\documentclass{article}\pagestyle{empty}&#10;\usepackage{amsmath}&#10;\usepackage{amsfonts}&#10;\usepackage{amssymb}&#10;\begin{document}&#10;\begin{minipage}{9.8 cm}&#10;{\sffamily{&#10;Analogous to the Hawk-Dove game, we obtain the fitness-functions $f_H(p,q)$, $f_D(p,q)$, and $f_B(p,q)$ as follows:&#10;\begin{eqnarray*}&#10;f_H(p,q) &amp; = &amp; -2p + 4q + (1 - p - q) + \beta \\[1mm]&#10;&amp; = &amp;&#10;-3p + 3q + 1 + \beta \\[5mm]&#10;f_D(p,q) &amp; = &amp; 2q + (1-p-q) + \beta \\[1mm]&#10;&amp; = &amp;&#10;-p + q + 1 + \beta \\[5mm]&#10;f_B(p,q) &amp; = &amp; -p + 3q + 2(1-p-q) + \beta \\[1mm]&#10;&amp; = &amp;&#10;-3p + q + 2 + \beta&#10;\end{eqnarray*}&#10;}}&#10;\end{minipage}&#10;\end{document}"/>
  <p:tag name="IGUANATEXSIZE" val="20"/>
  <p:tag name="IGUANATEXCURSOR" val="455"/>
  <p:tag name="TRANSPARENCY" val="Wahr"/>
  <p:tag name="FILENAME" val=""/>
  <p:tag name="LATEXENGINEID" val="0"/>
  <p:tag name="TEMPFOLDER" val="D:\iguana_temp\"/>
  <p:tag name="LATEXFORMHEIGHT" val="482,25"/>
  <p:tag name="LATEXFORMWIDTH" val="1030,5"/>
  <p:tag name="LATEXFORMWRAP" val="Wahr"/>
  <p:tag name="BITMAPVECTOR" val="0"/>
</p:tagLst>
</file>

<file path=ppt/tags/tag66.xml><?xml version="1.0" encoding="utf-8"?>
<p:tagLst xmlns:a="http://schemas.openxmlformats.org/drawingml/2006/main" xmlns:r="http://schemas.openxmlformats.org/officeDocument/2006/relationships" xmlns:p="http://schemas.openxmlformats.org/presentationml/2006/main">
  <p:tag name="OUTPUTDPI" val="1200"/>
  <p:tag name="ORIGINALHEIGHT" val="1752,531"/>
  <p:tag name="ORIGINALWIDTH" val="4061,493"/>
  <p:tag name="LATEXADDIN" val="\documentclass{article}\pagestyle{empty}&#10;\usepackage{amsmath}&#10;\usepackage{amsfonts}&#10;\usepackage{amssymb}&#10;\begin{document}&#10;\begin{minipage}{12.3 cm}&#10;{\sffamily{&#10;The average fitness thus is&#10;\begin{eqnarray*}&#10;\overline{f}(p,q) &amp; = &amp; p \cdot f_H(p,q) + q \cdot f_D(p,q) + (1-p-q) \cdot f_B(p,q) \\[1mm]&#10;&amp; = &amp;&#10;-4p + 4pq + 2 + \beta&#10;\end{eqnarray*}&#10;and thus, we obtain the two-dimensional discrete replicator equations as&#10;\begin{eqnarray*}&#10;p(t+1) &amp; = &amp; p(t) \cdot \frac{f_H(p(t),q(t))}{\overline{f}(p(t),q(t))}&#10;\, \, = \, \, p(t) \cdot \frac{-3p(t) + 3q(t) + 1 + \beta}{-4p(t) + 4p(t)q(t) + 2 + \beta} \\[2mm]&#10;q(t+1) &amp; = &amp; q(t) \cdot \frac{f_D(p(t),q(t))}{\overline{f}(p(t),q(t))}&#10;\, \, = \, \, q(t) \cdot \frac{-p(t) + q(t) + 1 + \beta}{-4p(t) + 4p(t)q(t) + 2 + \beta}&#10;\end{eqnarray*}&#10;}}&#10;\end{minipage}&#10;\end{document}"/>
  <p:tag name="IGUANATEXSIZE" val="20"/>
  <p:tag name="IGUANATEXCURSOR" val="750"/>
  <p:tag name="TRANSPARENCY" val="Wahr"/>
  <p:tag name="FILENAME" val=""/>
  <p:tag name="LATEXENGINEID" val="0"/>
  <p:tag name="TEMPFOLDER" val="D:\iguana_temp\"/>
  <p:tag name="LATEXFORMHEIGHT" val="482,25"/>
  <p:tag name="LATEXFORMWIDTH" val="1030,5"/>
  <p:tag name="LATEXFORMWRAP" val="Wahr"/>
  <p:tag name="BITMAPVECTOR" val="0"/>
</p:tagLst>
</file>

<file path=ppt/tags/tag67.xml><?xml version="1.0" encoding="utf-8"?>
<p:tagLst xmlns:a="http://schemas.openxmlformats.org/drawingml/2006/main" xmlns:r="http://schemas.openxmlformats.org/officeDocument/2006/relationships" xmlns:p="http://schemas.openxmlformats.org/presentationml/2006/main">
  <p:tag name="OUTPUTDPI" val="1200"/>
  <p:tag name="ORIGINALHEIGHT" val="2003"/>
  <p:tag name="ORIGINALWIDTH" val="4353,956"/>
  <p:tag name="LATEXADDIN" val="\documentclass{article}\pagestyle{empty}&#10;\usepackage{amsmath}&#10;\usepackage{amsfonts}&#10;\usepackage{amssymb}&#10;\begin{document}&#10;\begin{minipage}{12.3 cm}&#10;{\sffamily{&#10;From the replicator equations, we again have that the pure strategies $(H, H)$, $(D, D)$, and $(B, B)$ are stationary states. Note, that only $(B,B)$ is&#10;a Nash-equilibrium, so the other two must be unstable.\\[1mm]&#10;Moreover, we obtain the following conditions for stationary states in mixed strategies (by suppressing the arguments $p$ and $q$ of the fitness functions)&#10;$$&#10;f_H \, \, = \, \, f_D \qquad \text{and} \qquad (1-p-q) f_H \, \, = \, \, (1-p-q) f_B&#10;$$&#10;From $f_H = f_D$ we obtain&#10;$$&#10;-3p + 3q + 1 + \beta \, \, = \, \, -p + q + 1 + \beta \qquad \Longrightarrow \qquad p \, \, = \, \, q&#10;$$&#10;If $p = q = 0.5$, then we have the 'classical' Hawk-Dove game with a vanishing frequency of bourgeois players: $(p,q,1-p-q)=(0.5, 0.5, 0)$.&#10;}}&#10;\end{minipage}&#10;\end{document}"/>
  <p:tag name="IGUANATEXSIZE" val="20"/>
  <p:tag name="IGUANATEXCURSOR" val="508"/>
  <p:tag name="TRANSPARENCY" val="Wahr"/>
  <p:tag name="FILENAME" val=""/>
  <p:tag name="LATEXENGINEID" val="0"/>
  <p:tag name="TEMPFOLDER" val="D:\iguana_temp\"/>
  <p:tag name="LATEXFORMHEIGHT" val="482,25"/>
  <p:tag name="LATEXFORMWIDTH" val="1030,5"/>
  <p:tag name="LATEXFORMWRAP" val="Wahr"/>
  <p:tag name="BITMAPVECTOR" val="0"/>
</p:tagLst>
</file>

<file path=ppt/tags/tag68.xml><?xml version="1.0" encoding="utf-8"?>
<p:tagLst xmlns:a="http://schemas.openxmlformats.org/drawingml/2006/main" xmlns:r="http://schemas.openxmlformats.org/officeDocument/2006/relationships" xmlns:p="http://schemas.openxmlformats.org/presentationml/2006/main">
  <p:tag name="OUTPUTDPI" val="1200"/>
  <p:tag name="ORIGINALHEIGHT" val="1862,767"/>
  <p:tag name="ORIGINALWIDTH" val="4345,707"/>
  <p:tag name="LATEXADDIN" val="\documentclass{article}\pagestyle{empty}&#10;\usepackage{amsmath}&#10;\usepackage{amsfonts}&#10;\usepackage{amssymb}&#10;\begin{document}&#10;\begin{minipage}{12.3 cm}&#10;{\sffamily{&#10;Next, $p = q$ with $p,q \neq 0.5$ leads to&#10;$$&#10;f_H \, \, = \, \, f_B \quad \Longrightarrow \quad 1 + \beta \, \, = \, \, -2p + 2 + \beta \quad \Longrightarrow \quad p \, \, = \, \, 0.5 \, .&#10;$$&#10;This is a contradiction to $p,q \neq 0.5$ such that only the previous case remains.&#10;&#10;\vspace{0.7cm}&#10;Next, we geometrically visualize the dynamics to illustrate (asymptotic) stability and instability of the two stationary sates of interest:&#10;\begin{itemize}&#10;\item the stationary state with mixed strategies $p = q = 0.5$, i.e. $(p,q,1-p-q) = (0.5,0.5,0)$, and&#10;\item the stationary state in pure strategies $(p,q,1-p-q) = (0,0,1)$.&#10;\end{itemize}&#10;}}&#10;\end{minipage}&#10;\end{document}"/>
  <p:tag name="IGUANATEXSIZE" val="20"/>
  <p:tag name="IGUANATEXCURSOR" val="448"/>
  <p:tag name="TRANSPARENCY" val="Wahr"/>
  <p:tag name="FILENAME" val=""/>
  <p:tag name="LATEXENGINEID" val="0"/>
  <p:tag name="TEMPFOLDER" val="D:\iguana_temp\"/>
  <p:tag name="LATEXFORMHEIGHT" val="482,25"/>
  <p:tag name="LATEXFORMWIDTH" val="1030,5"/>
  <p:tag name="LATEXFORMWRAP" val="Wahr"/>
  <p:tag name="BITMAPVECTOR" val="0"/>
</p:tagLst>
</file>

<file path=ppt/tags/tag69.xml><?xml version="1.0" encoding="utf-8"?>
<p:tagLst xmlns:a="http://schemas.openxmlformats.org/drawingml/2006/main" xmlns:r="http://schemas.openxmlformats.org/officeDocument/2006/relationships" xmlns:p="http://schemas.openxmlformats.org/presentationml/2006/main">
  <p:tag name="OUTPUTDPI" val="1200"/>
  <p:tag name="ORIGINALHEIGHT" val="1754,781"/>
  <p:tag name="ORIGINALWIDTH" val="3290,589"/>
  <p:tag name="LATEXADDIN" val="\documentclass{article}\pagestyle{empty}&#10;\usepackage{amsmath}&#10;\usepackage{amsfonts}&#10;\usepackage{amssymb}&#10;\begin{document}&#10;\begin{minipage}{9.3 cm}&#10;{\sffamily{&#10;In order to gain a geometric intuition of the dynamics, let us note that, because $p$, $q$, and $r$ add up to $1$, two dimensions are sufficient to display all 'mixtures' $(p,q,r) = (p,q,1 – p – q)$.\\[1mm]&#10;Hence, the strategy space can be illustrated as an equilateral triangle ({\bf{simplex}}).\\[1mm]&#10;Its vertices $(1,0,0)$, $(0,1,0)$ and $(0,0,1)$ correspond to populations where only one behavior strategy is present (stationary state in pure strategies).\\[1mm] These are marked as $D$, $H$ and $B$ in the figure.\\[1mm]&#10;With this notation, the two Nash equilibria correspond to the points $(0.5,0.5,0)$ and $(0,0,1)$.}}&#10;\end{minipage}&#10;\end{document}"/>
  <p:tag name="IGUANATEXSIZE" val="20"/>
  <p:tag name="IGUANATEXCURSOR" val="142"/>
  <p:tag name="TRANSPARENCY" val="Wahr"/>
  <p:tag name="FILENAME" val=""/>
  <p:tag name="LATEXENGINEID" val="0"/>
  <p:tag name="TEMPFOLDER" val="D:\iguana_temp\"/>
  <p:tag name="LATEXFORMHEIGHT" val="482,25"/>
  <p:tag name="LATEXFORMWIDTH" val="1030,5"/>
  <p:tag name="LATEXFORMWRAP" val="Wahr"/>
  <p:tag name="BITMAPVECTOR" val="0"/>
</p:tagLst>
</file>

<file path=ppt/tags/tag70.xml><?xml version="1.0" encoding="utf-8"?>
<p:tagLst xmlns:a="http://schemas.openxmlformats.org/drawingml/2006/main" xmlns:r="http://schemas.openxmlformats.org/officeDocument/2006/relationships" xmlns:p="http://schemas.openxmlformats.org/presentationml/2006/main">
  <p:tag name="OUTPUTDPI" val="1200"/>
  <p:tag name="ORIGINALHEIGHT" val="1941,507"/>
  <p:tag name="ORIGINALWIDTH" val="3288,339"/>
  <p:tag name="LATEXADDIN" val="\documentclass{article}\pagestyle{empty}&#10;\usepackage{amsmath}&#10;\usepackage{amsfonts}&#10;\usepackage{amssymb}&#10;\begin{document}&#10;\begin{minipage}{9.3 cm}&#10;{\sffamily{&#10;Let us next study the dynamics on the edges of the simplex, i.e. the evolution given only two behavioural strategies:&#10;\begin{itemize}&#10;\item On $[DH]$, we have our previous Hawk-Dove game with $p = 0.5$ and $q = 0.5$ as an ESS in this subgame.&#10;\item On $[DB]$ and $[HB]$, we have games for each of which 'bourgeois' is a strictly dominant strategy such that $(B,B)$&#10;is a Nash-equilibrium.\\[1mm]&#10;Moreover, a short calculation shows, that there are no further Nash-equilirbia in mixed strategies and&#10;that indeed $(B,B)$ is an ESS in these subgames.&#10;\item Thus, we alredy know that $H$ and $D$ are unstable.&#10;\end{itemize}&#10;}}&#10;\end{minipage}&#10;\end{document}"/>
  <p:tag name="IGUANATEXSIZE" val="20"/>
  <p:tag name="IGUANATEXCURSOR" val="142"/>
  <p:tag name="TRANSPARENCY" val="Wahr"/>
  <p:tag name="FILENAME" val=""/>
  <p:tag name="LATEXENGINEID" val="0"/>
  <p:tag name="TEMPFOLDER" val="D:\iguana_temp\"/>
  <p:tag name="LATEXFORMHEIGHT" val="482,25"/>
  <p:tag name="LATEXFORMWIDTH" val="1030,5"/>
  <p:tag name="LATEXFORMWRAP" val="Wahr"/>
  <p:tag name="BITMAPVECTOR" val="0"/>
</p:tagLst>
</file>

<file path=ppt/tags/tag71.xml><?xml version="1.0" encoding="utf-8"?>
<p:tagLst xmlns:a="http://schemas.openxmlformats.org/drawingml/2006/main" xmlns:r="http://schemas.openxmlformats.org/officeDocument/2006/relationships" xmlns:p="http://schemas.openxmlformats.org/presentationml/2006/main">
  <p:tag name="THINKCELLSHAPEDONOTDELETE" val="pRUi0UWp300S1uMJsj5lu_Q"/>
</p:tagLst>
</file>

<file path=ppt/tags/tag72.xml><?xml version="1.0" encoding="utf-8"?>
<p:tagLst xmlns:a="http://schemas.openxmlformats.org/drawingml/2006/main" xmlns:r="http://schemas.openxmlformats.org/officeDocument/2006/relationships" xmlns:p="http://schemas.openxmlformats.org/presentationml/2006/main">
  <p:tag name="THINKCELLSHAPEDONOTDELETE" val="pRUi0UWp300S1uMJsj5lu_Q"/>
</p:tagLst>
</file>

<file path=ppt/tags/tag73.xml><?xml version="1.0" encoding="utf-8"?>
<p:tagLst xmlns:a="http://schemas.openxmlformats.org/drawingml/2006/main" xmlns:r="http://schemas.openxmlformats.org/officeDocument/2006/relationships" xmlns:p="http://schemas.openxmlformats.org/presentationml/2006/main">
  <p:tag name="THINKCELLSHAPEDONOTDELETE" val="pRUi0UWp300S1uMJsj5lu_Q"/>
</p:tagLst>
</file>

<file path=ppt/tags/tag74.xml><?xml version="1.0" encoding="utf-8"?>
<p:tagLst xmlns:a="http://schemas.openxmlformats.org/drawingml/2006/main" xmlns:r="http://schemas.openxmlformats.org/officeDocument/2006/relationships" xmlns:p="http://schemas.openxmlformats.org/presentationml/2006/main">
  <p:tag name="OUTPUTDPI" val="1200"/>
  <p:tag name="ORIGINALHEIGHT" val="1985,002"/>
  <p:tag name="ORIGINALWIDTH" val="3289,839"/>
  <p:tag name="LATEXADDIN" val="\documentclass{article}\pagestyle{empty}&#10;\usepackage{amsmath}&#10;\usepackage{amsfonts}&#10;\usepackage{amssymb}&#10;\begin{document}&#10;\begin{minipage}{9.3 cm}&#10;{\sffamily{&#10;The stability of $B = (0,0,1)$ and $M = (0.5,0.5,0)$ depend on the dynamics of the complete game.\\[1mm]&#10;As a first indication, we restrict ourselves to the segment $[M,B]$, where we have a combined strategy $A$&#10;that consits half of 'hawk' and half of 'dove'. I.e., on this segment, we reduce the complete game to a game&#10;between $A$ and $B$ with payoffs/ utilities&#10;{\small{&#10;\begin{eqnarray*}&#10;u_A(A,A) &amp; = &amp; \tfrac{1}{2} \left( \tfrac{1}{2} \cdot (-2) + \tfrac{1}{2} \cdot 4 \right) +&#10;\tfrac{1}{2} \left( \tfrac{1}{2} \cdot 0 + \tfrac{1}{2} \cdot 2 \right) \, \, = \, \, 1 \\[1mm]&#10;u_A(A,B) &amp; = &amp; \tfrac{1}{2} \cdot 1 + \tfrac{1}{2} \cdot 1 \, \, = \, \, 1 \\[1mm]&#10;u_B(A,B) &amp; = &amp; \tfrac{1}{2} \cdot (-1) + \tfrac{1}{2} \cdot 3 \, \, = \, \, 1&#10;\end{eqnarray*}&#10;}}&#10;&#10;\vspace{-2mm}&#10;Again, one can show that there are no equilibria in mixed strategies, that $M$ is unstable, and that $B$ is an ESS in this subgame.&#10;}}&#10;\end{minipage}&#10;\end{document}"/>
  <p:tag name="IGUANATEXSIZE" val="20"/>
  <p:tag name="IGUANATEXCURSOR" val="930"/>
  <p:tag name="TRANSPARENCY" val="Wahr"/>
  <p:tag name="FILENAME" val=""/>
  <p:tag name="LATEXENGINEID" val="0"/>
  <p:tag name="TEMPFOLDER" val="D:\iguana_temp\"/>
  <p:tag name="LATEXFORMHEIGHT" val="482,25"/>
  <p:tag name="LATEXFORMWIDTH" val="1030,5"/>
  <p:tag name="LATEXFORMWRAP" val="Wahr"/>
  <p:tag name="BITMAPVECTOR" val="0"/>
</p:tagLst>
</file>

<file path=ppt/tags/tag75.xml><?xml version="1.0" encoding="utf-8"?>
<p:tagLst xmlns:a="http://schemas.openxmlformats.org/drawingml/2006/main" xmlns:r="http://schemas.openxmlformats.org/officeDocument/2006/relationships" xmlns:p="http://schemas.openxmlformats.org/presentationml/2006/main">
  <p:tag name="THINKCELLSHAPEDONOTDELETE" val="pRUi0UWp300S1uMJsj5lu_Q"/>
</p:tagLst>
</file>

<file path=ppt/tags/tag76.xml><?xml version="1.0" encoding="utf-8"?>
<p:tagLst xmlns:a="http://schemas.openxmlformats.org/drawingml/2006/main" xmlns:r="http://schemas.openxmlformats.org/officeDocument/2006/relationships" xmlns:p="http://schemas.openxmlformats.org/presentationml/2006/main">
  <p:tag name="THINKCELLSHAPEDONOTDELETE" val="pRUi0UWp300S1uMJsj5lu_Q"/>
</p:tagLst>
</file>

<file path=ppt/tags/tag77.xml><?xml version="1.0" encoding="utf-8"?>
<p:tagLst xmlns:a="http://schemas.openxmlformats.org/drawingml/2006/main" xmlns:r="http://schemas.openxmlformats.org/officeDocument/2006/relationships" xmlns:p="http://schemas.openxmlformats.org/presentationml/2006/main">
  <p:tag name="OUTPUTDPI" val="1200"/>
  <p:tag name="ORIGINALHEIGHT" val="1962,505"/>
  <p:tag name="ORIGINALWIDTH" val="3289,089"/>
  <p:tag name="LATEXADDIN" val="\documentclass{article}\pagestyle{empty}&#10;\usepackage{amsmath}&#10;\usepackage{amsfonts}&#10;\usepackage{amssymb}&#10;\begin{document}&#10;\begin{minipage}{9.3 cm}&#10;{\sffamily{&#10;To finally establish that $B$ is an ESS in the complete game, we study the discrete replicator equations&#10;{\small{&#10;\begin{eqnarray*}&#10;p(t+1) &amp; = &amp; p(t) \cdot \underbrace{\frac{-3p(t) + 3q(t) + 1 + \beta}{-4p(t) + 4p(t)q(t) + 2 + \beta}}_{=: \, g_1(p(t),q(t))} \\[1mm]&#10;q(t+1) &amp; = &amp; q(t) \cdot \underbrace{\frac{-p(t) + q(t) + 1 + \beta}{-4p(t) + 4p(t)q(t) + 2 + \beta}}_{=: \, g_2(p(t),q(t))}&#10;\end{eqnarray*}&#10;}}&#10;&#10;If $p(t)$ and $q(t)$ are small enough, then $g_1((p(t),q(t)) &lt; 1$ and $g_2((p(t),q(t)) &lt; 1$ such that $p(t+1) &lt; p(t)$ and $q(t+1) &lt; q(t)$.&#10;Hence, the generations tend towards $B = (0,0,1)$.&#10;}}&#10;\end{minipage}&#10;\end{document}"/>
  <p:tag name="IGUANATEXSIZE" val="20"/>
  <p:tag name="IGUANATEXCURSOR" val="758"/>
  <p:tag name="TRANSPARENCY" val="Wahr"/>
  <p:tag name="FILENAME" val=""/>
  <p:tag name="LATEXENGINEID" val="0"/>
  <p:tag name="TEMPFOLDER" val="D:\iguana_temp\"/>
  <p:tag name="LATEXFORMHEIGHT" val="482,25"/>
  <p:tag name="LATEXFORMWIDTH" val="1030,5"/>
  <p:tag name="LATEXFORMWRAP" val="Wahr"/>
  <p:tag name="BITMAPVECTOR" val="0"/>
</p:tagLst>
</file>

<file path=ppt/theme/theme1.xml><?xml version="1.0" encoding="utf-8"?>
<a:theme xmlns:a="http://schemas.openxmlformats.org/drawingml/2006/main" name="Larissa-Design">
  <a:themeElements>
    <a:clrScheme name="Larissa">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Larissa">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Larissa">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rnd" cmpd="sng" algn="ctr">
          <a:solidFill>
            <a:schemeClr val="phClr">
              <a:shade val="95000"/>
              <a:satMod val="105000"/>
            </a:schemeClr>
          </a:solidFill>
          <a:prstDash val="solid"/>
        </a:ln>
        <a:ln w="25400" cap="rnd" cmpd="sng" algn="ctr">
          <a:solidFill>
            <a:schemeClr val="phClr"/>
          </a:solidFill>
          <a:prstDash val="solid"/>
        </a:ln>
        <a:ln w="38100" cap="rnd" cmpd="sng" algn="ctr">
          <a:solidFill>
            <a:schemeClr val="phClr"/>
          </a:solidFill>
          <a:prstDash val="solid"/>
        </a:ln>
      </a:lnStyleLst>
      <a:effectStyleLst>
        <a:effectStyle>
          <a:effectLst>
            <a:outerShdw blurRad="40000" dist="20000" dir="5400000">
              <a:srgbClr val="000000">
                <a:alpha val="38000"/>
              </a:srgbClr>
            </a:outerShdw>
          </a:effectLst>
        </a:effectStyle>
        <a:effectStyle>
          <a:effectLst>
            <a:outerShdw blurRad="40000" dist="23000" dir="5400000">
              <a:srgbClr val="000000">
                <a:alpha val="35000"/>
              </a:srgbClr>
            </a:outerShdw>
          </a:effectLst>
        </a:effectStyle>
        <a:effectStyle>
          <a:effectLst>
            <a:outerShdw blurRad="40000" dist="23000" dir="540000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100000" t="-60000" r="100000" b="200000"/>
          </a:path>
        </a:gradFill>
        <a:gradFill rotWithShape="1">
          <a:gsLst>
            <a:gs pos="0">
              <a:schemeClr val="phClr">
                <a:tint val="80000"/>
                <a:satMod val="300000"/>
              </a:schemeClr>
            </a:gs>
            <a:gs pos="100000">
              <a:schemeClr val="phClr">
                <a:shade val="30000"/>
                <a:satMod val="200000"/>
              </a:schemeClr>
            </a:gs>
          </a:gsLst>
          <a:path path="circle">
            <a:fillToRect l="100000" t="100000" r="100000" b="100000"/>
          </a:path>
        </a:gradFill>
      </a:bgFillStyleLst>
    </a:fmtScheme>
  </a:themeElements>
  <a:objectDefaults/>
  <a:extraClrSchemeLst/>
</a:theme>
</file>

<file path=ppt/theme/theme2.xml><?xml version="1.0" encoding="utf-8"?>
<a:theme xmlns:a="http://schemas.openxmlformats.org/drawingml/2006/main" name="Larissa-Design">
  <a:themeElements>
    <a:clrScheme name="Larissa">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Larissa">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Larissa">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0</TotalTime>
  <Words>3179</Words>
  <Application>Microsoft Office PowerPoint</Application>
  <PresentationFormat>Bildschirmpräsentation (16:9)</PresentationFormat>
  <Paragraphs>552</Paragraphs>
  <Slides>44</Slides>
  <Notes>0</Notes>
  <HiddenSlides>0</HiddenSlides>
  <MMClips>0</MMClips>
  <ScaleCrop>false</ScaleCrop>
  <HeadingPairs>
    <vt:vector size="6" baseType="variant">
      <vt:variant>
        <vt:lpstr>Verwendete Schriftarten</vt:lpstr>
      </vt:variant>
      <vt:variant>
        <vt:i4>3</vt:i4>
      </vt:variant>
      <vt:variant>
        <vt:lpstr>Design</vt:lpstr>
      </vt:variant>
      <vt:variant>
        <vt:i4>1</vt:i4>
      </vt:variant>
      <vt:variant>
        <vt:lpstr>Folientitel</vt:lpstr>
      </vt:variant>
      <vt:variant>
        <vt:i4>44</vt:i4>
      </vt:variant>
    </vt:vector>
  </HeadingPairs>
  <TitlesOfParts>
    <vt:vector size="48" baseType="lpstr">
      <vt:lpstr>Symbol</vt:lpstr>
      <vt:lpstr>Calibri</vt:lpstr>
      <vt:lpstr>Arial</vt:lpstr>
      <vt:lpstr>Larissa-Design</vt:lpstr>
      <vt:lpstr>Computational Biomathematics</vt:lpstr>
      <vt:lpstr>PowerPoint-Präsentation</vt:lpstr>
      <vt:lpstr>We have two identical players with the same strategies and who choose their strategy simultaneously and without cooperation</vt:lpstr>
      <vt:lpstr>This leads to four different strategy pairs or outcomes …</vt:lpstr>
      <vt:lpstr>… that can be ordered in a 2x2-matrix (the strategy matrix of the game)</vt:lpstr>
      <vt:lpstr>Finally, each player evaluates what the outcome means to them individually and assigns a payoff to the outcome </vt:lpstr>
      <vt:lpstr>Depending on the cost of injury, we obtain two different payoff sets with rather different game settings</vt:lpstr>
      <vt:lpstr>We already have seen, that the Prisoner’s Dilemma has one Nash-equilibrium in dominant strategies …</vt:lpstr>
      <vt:lpstr>… and that the Hawk-Dove game has two Nash equilibria in pure strategies</vt:lpstr>
      <vt:lpstr>Finally, we switch from payoffs to utilities. Utilities indicate the usefulness of the outcome on an ordinal basis</vt:lpstr>
      <vt:lpstr>PowerPoint-Präsentation</vt:lpstr>
      <vt:lpstr>Next, let us assume a large population of stag. Some of them play “hawk” and the others “dove” during a contest, …</vt:lpstr>
      <vt:lpstr>… such that the populations in  the next generation are obtained with the aid of fitness functions</vt:lpstr>
      <vt:lpstr>The discrete replicator equation provides the update scheme from one generation to the next (1/ 2)</vt:lpstr>
      <vt:lpstr>The discrete replicator equation provides the update scheme from one generation to the next (2/ 2)</vt:lpstr>
      <vt:lpstr>The discrete replicator equation is an example for a type of equations that are called difference equations</vt:lpstr>
      <vt:lpstr>Their stationary states are computed via the fixed point equation that geometrically is interpreted as an intersection of graphs </vt:lpstr>
      <vt:lpstr>(Asymptotic) stability of a system means that the system, after experiencing being perturbed, returns to the previous stationary state</vt:lpstr>
      <vt:lpstr>For difference equations, there are quite straightforward criteria to test a stationary state for (asymptotic) stability (1/ 2)</vt:lpstr>
      <vt:lpstr>For difference equations, there are quite straightforward criteria to test a stationary state for (asymptotic) stability (2/ 2)</vt:lpstr>
      <vt:lpstr>Our discrete replicator equation of the Hawk-Dove game always has the two pure strategies as stationary states …</vt:lpstr>
      <vt:lpstr>… as well as a third stationary state in mixed strategies provided a further condition on the fitness function is satisfied</vt:lpstr>
      <vt:lpstr>The fitness function of the ‘hawk’ strategy consist of the payoffs/ utilities at encounters weighted by the probability of the encounter …</vt:lpstr>
      <vt:lpstr>… and the background fitness</vt:lpstr>
      <vt:lpstr>Analogously, the fitness function of the ‘dove’ strategy is obtained.</vt:lpstr>
      <vt:lpstr>The fitness functions of the ‘hawk’ and ‘dove’ strategies allow the computation of the stationary state in mixed strategies</vt:lpstr>
      <vt:lpstr>Alternatively, the stationary state in mixed strategies is obtained with the intersection of the graphs of the fitness functions fH and fD</vt:lpstr>
      <vt:lpstr>Under the Darwinian assumption, strategies with higher fitness propagate at the cost of the other strategies (1/ 2)</vt:lpstr>
      <vt:lpstr>Under the Darwinian assumption, strategies with higher fitness propagate at the cost of the other strategies (2/ 2)</vt:lpstr>
      <vt:lpstr>Summary: Discrete replicator equation of the Hawk-Dove game (1/ 2)</vt:lpstr>
      <vt:lpstr>Summary: Discrete replicator equation of the Hawk-Dove game (2/ 2)</vt:lpstr>
      <vt:lpstr>Note, the actual values of the payoffs/ utilities determine the location of the ESS</vt:lpstr>
      <vt:lpstr>PowerPoint-Präsentation</vt:lpstr>
      <vt:lpstr>We extend the Hawk-Dove game by introducing a third strategy that models territorial ownership </vt:lpstr>
      <vt:lpstr>The Hawk-Dove-Bourgeois game has (bourgeois, bourgeois) as a Nash-equilibrium in pure strategies which turns out to be an ESS as well</vt:lpstr>
      <vt:lpstr>Proof: 1) fitness functions of the ‘hawk’, ‘dove’, and ‘bourgeois’ strategies</vt:lpstr>
      <vt:lpstr>Proof: 2) average fitness and discrete replicator equations</vt:lpstr>
      <vt:lpstr>Proof: 3) stationary states and their conditions (1/ 2)</vt:lpstr>
      <vt:lpstr>Proof: 3) stationary states and their conditions (2/ 2)</vt:lpstr>
      <vt:lpstr>Proof: 4) geometric illustration of the dynamics within the strategy simplex</vt:lpstr>
      <vt:lpstr>Proof: 5) dynamics on the edges of the simplex</vt:lpstr>
      <vt:lpstr>Proof: 6) dynamics on the connecting segment between B and M</vt:lpstr>
      <vt:lpstr>Proof: 7) dynamics near B justify that B is an ESS</vt:lpstr>
      <vt:lpstr>Computational Biomathematics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Folie 1</dc:title>
  <dc:creator>Florian</dc:creator>
  <cp:lastModifiedBy>Florian Rupp</cp:lastModifiedBy>
  <cp:revision>213</cp:revision>
  <dcterms:created xsi:type="dcterms:W3CDTF">2020-04-04T18:50:50Z</dcterms:created>
  <dcterms:modified xsi:type="dcterms:W3CDTF">2026-04-06T17:56:23Z</dcterms:modified>
</cp:coreProperties>
</file>
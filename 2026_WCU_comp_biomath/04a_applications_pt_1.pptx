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slideLayouts/slideLayout5.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57" r:id="rId2"/>
  </p:sldMasterIdLst>
  <p:notesMasterIdLst>
    <p:notesMasterId r:id="rId33"/>
  </p:notesMasterIdLst>
  <p:sldIdLst>
    <p:sldId id="410" r:id="rId3"/>
    <p:sldId id="444" r:id="rId4"/>
    <p:sldId id="450" r:id="rId5"/>
    <p:sldId id="453" r:id="rId6"/>
    <p:sldId id="452" r:id="rId7"/>
    <p:sldId id="459" r:id="rId8"/>
    <p:sldId id="460" r:id="rId9"/>
    <p:sldId id="454" r:id="rId10"/>
    <p:sldId id="455" r:id="rId11"/>
    <p:sldId id="456" r:id="rId12"/>
    <p:sldId id="457" r:id="rId13"/>
    <p:sldId id="458" r:id="rId14"/>
    <p:sldId id="461" r:id="rId15"/>
    <p:sldId id="462" r:id="rId16"/>
    <p:sldId id="445" r:id="rId17"/>
    <p:sldId id="447" r:id="rId18"/>
    <p:sldId id="446" r:id="rId19"/>
    <p:sldId id="449" r:id="rId20"/>
    <p:sldId id="448" r:id="rId21"/>
    <p:sldId id="464" r:id="rId22"/>
    <p:sldId id="466" r:id="rId23"/>
    <p:sldId id="467" r:id="rId24"/>
    <p:sldId id="468" r:id="rId25"/>
    <p:sldId id="463" r:id="rId26"/>
    <p:sldId id="470" r:id="rId27"/>
    <p:sldId id="473" r:id="rId28"/>
    <p:sldId id="469" r:id="rId29"/>
    <p:sldId id="472" r:id="rId30"/>
    <p:sldId id="471" r:id="rId31"/>
    <p:sldId id="411" r:id="rId32"/>
  </p:sldIdLst>
  <p:sldSz cx="9144000" cy="5143500" type="screen16x9"/>
  <p:notesSz cx="7104063" cy="10234613"/>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488" autoAdjust="0"/>
    <p:restoredTop sz="97356" autoAdjust="0"/>
  </p:normalViewPr>
  <p:slideViewPr>
    <p:cSldViewPr>
      <p:cViewPr varScale="1">
        <p:scale>
          <a:sx n="136" d="100"/>
          <a:sy n="136" d="100"/>
        </p:scale>
        <p:origin x="594" y="120"/>
      </p:cViewPr>
      <p:guideLst>
        <p:guide orient="horz" pos="1620"/>
        <p:guide pos="2880"/>
      </p:guideLst>
    </p:cSldViewPr>
  </p:slideViewPr>
  <p:notesTextViewPr>
    <p:cViewPr>
      <p:scale>
        <a:sx n="100" d="100"/>
        <a:sy n="100" d="100"/>
      </p:scale>
      <p:origin x="0" y="0"/>
    </p:cViewPr>
  </p:notesTextViewPr>
  <p:sorterViewPr>
    <p:cViewPr varScale="1">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presProps" Target="presProp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viewProps" Target="viewProps.xml"/><Relationship Id="rId8" Type="http://schemas.openxmlformats.org/officeDocument/2006/relationships/slide" Target="slides/slide6.xml"/><Relationship Id="rId3"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3078427" cy="511731"/>
          </a:xfrm>
          <a:prstGeom prst="rect">
            <a:avLst/>
          </a:prstGeom>
        </p:spPr>
        <p:txBody>
          <a:bodyPr vert="horz" lIns="99075" tIns="49538" rIns="99075" bIns="49538" rtlCol="0"/>
          <a:lstStyle>
            <a:lvl1pPr algn="l">
              <a:defRPr sz="1300"/>
            </a:lvl1pPr>
          </a:lstStyle>
          <a:p>
            <a:endParaRPr lang="en-US"/>
          </a:p>
        </p:txBody>
      </p:sp>
      <p:sp>
        <p:nvSpPr>
          <p:cNvPr id="3" name="Datumsplatzhalter 2"/>
          <p:cNvSpPr>
            <a:spLocks noGrp="1"/>
          </p:cNvSpPr>
          <p:nvPr>
            <p:ph type="dt" idx="1"/>
          </p:nvPr>
        </p:nvSpPr>
        <p:spPr>
          <a:xfrm>
            <a:off x="4023992" y="0"/>
            <a:ext cx="3078427" cy="511731"/>
          </a:xfrm>
          <a:prstGeom prst="rect">
            <a:avLst/>
          </a:prstGeom>
        </p:spPr>
        <p:txBody>
          <a:bodyPr vert="horz" lIns="99075" tIns="49538" rIns="99075" bIns="49538" rtlCol="0"/>
          <a:lstStyle>
            <a:lvl1pPr algn="r">
              <a:defRPr sz="1300"/>
            </a:lvl1pPr>
          </a:lstStyle>
          <a:p>
            <a:fld id="{9495D514-7346-4F82-AE13-C6D6741739D2}" type="datetimeFigureOut">
              <a:rPr lang="en-US" smtClean="0"/>
              <a:t>4/17/2026</a:t>
            </a:fld>
            <a:endParaRPr lang="en-US"/>
          </a:p>
        </p:txBody>
      </p:sp>
      <p:sp>
        <p:nvSpPr>
          <p:cNvPr id="4" name="Folienbildplatzhalter 3"/>
          <p:cNvSpPr>
            <a:spLocks noGrp="1" noRot="1" noChangeAspect="1"/>
          </p:cNvSpPr>
          <p:nvPr>
            <p:ph type="sldImg" idx="2"/>
          </p:nvPr>
        </p:nvSpPr>
        <p:spPr>
          <a:xfrm>
            <a:off x="142875" y="768350"/>
            <a:ext cx="6818313" cy="3836988"/>
          </a:xfrm>
          <a:prstGeom prst="rect">
            <a:avLst/>
          </a:prstGeom>
          <a:noFill/>
          <a:ln w="12700">
            <a:solidFill>
              <a:prstClr val="black"/>
            </a:solidFill>
          </a:ln>
        </p:spPr>
        <p:txBody>
          <a:bodyPr vert="horz" lIns="99075" tIns="49538" rIns="99075" bIns="49538" rtlCol="0" anchor="ctr"/>
          <a:lstStyle/>
          <a:p>
            <a:endParaRPr lang="en-US"/>
          </a:p>
        </p:txBody>
      </p:sp>
      <p:sp>
        <p:nvSpPr>
          <p:cNvPr id="5" name="Notizenplatzhalter 4"/>
          <p:cNvSpPr>
            <a:spLocks noGrp="1"/>
          </p:cNvSpPr>
          <p:nvPr>
            <p:ph type="body" sz="quarter" idx="3"/>
          </p:nvPr>
        </p:nvSpPr>
        <p:spPr>
          <a:xfrm>
            <a:off x="710407" y="4861441"/>
            <a:ext cx="5683250" cy="4605576"/>
          </a:xfrm>
          <a:prstGeom prst="rect">
            <a:avLst/>
          </a:prstGeom>
        </p:spPr>
        <p:txBody>
          <a:bodyPr vert="horz" lIns="99075" tIns="49538" rIns="99075" bIns="49538" rtlCol="0">
            <a:normAutofit/>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0" y="9721106"/>
            <a:ext cx="3078427" cy="511731"/>
          </a:xfrm>
          <a:prstGeom prst="rect">
            <a:avLst/>
          </a:prstGeom>
        </p:spPr>
        <p:txBody>
          <a:bodyPr vert="horz" lIns="99075" tIns="49538" rIns="99075" bIns="49538" rtlCol="0" anchor="b"/>
          <a:lstStyle>
            <a:lvl1pPr algn="l">
              <a:defRPr sz="1300"/>
            </a:lvl1pPr>
          </a:lstStyle>
          <a:p>
            <a:endParaRPr lang="en-US"/>
          </a:p>
        </p:txBody>
      </p:sp>
      <p:sp>
        <p:nvSpPr>
          <p:cNvPr id="7" name="Foliennummernplatzhalter 6"/>
          <p:cNvSpPr>
            <a:spLocks noGrp="1"/>
          </p:cNvSpPr>
          <p:nvPr>
            <p:ph type="sldNum" sz="quarter" idx="5"/>
          </p:nvPr>
        </p:nvSpPr>
        <p:spPr>
          <a:xfrm>
            <a:off x="4023992" y="9721106"/>
            <a:ext cx="3078427" cy="511731"/>
          </a:xfrm>
          <a:prstGeom prst="rect">
            <a:avLst/>
          </a:prstGeom>
        </p:spPr>
        <p:txBody>
          <a:bodyPr vert="horz" lIns="99075" tIns="49538" rIns="99075" bIns="49538" rtlCol="0" anchor="b"/>
          <a:lstStyle>
            <a:lvl1pPr algn="r">
              <a:defRPr sz="1300"/>
            </a:lvl1pPr>
          </a:lstStyle>
          <a:p>
            <a:fld id="{A6EF3066-70EE-4F3C-99F9-465CA6AFB6FD}" type="slidenum">
              <a:rPr lang="en-US" smtClean="0"/>
              <a:t>‹Nr.›</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image" Target="../media/image4.jpeg"/><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image" Target="../media/image3.jpeg"/><Relationship Id="rId17" Type="http://schemas.openxmlformats.org/officeDocument/2006/relationships/image" Target="../media/image8.jpeg"/><Relationship Id="rId2" Type="http://schemas.openxmlformats.org/officeDocument/2006/relationships/tags" Target="../tags/tag2.xml"/><Relationship Id="rId16" Type="http://schemas.openxmlformats.org/officeDocument/2006/relationships/image" Target="../media/image7.png"/><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2.jpeg"/><Relationship Id="rId5" Type="http://schemas.openxmlformats.org/officeDocument/2006/relationships/tags" Target="../tags/tag5.xml"/><Relationship Id="rId15" Type="http://schemas.openxmlformats.org/officeDocument/2006/relationships/image" Target="../media/image6.jpeg"/><Relationship Id="rId10" Type="http://schemas.openxmlformats.org/officeDocument/2006/relationships/slideMaster" Target="../slideMasters/slideMaster1.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image" Target="../media/image5.jpe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8" Type="http://schemas.openxmlformats.org/officeDocument/2006/relationships/tags" Target="../tags/tag17.xml"/><Relationship Id="rId13" Type="http://schemas.openxmlformats.org/officeDocument/2006/relationships/image" Target="../media/image11.jpeg"/><Relationship Id="rId3" Type="http://schemas.openxmlformats.org/officeDocument/2006/relationships/tags" Target="../tags/tag12.xml"/><Relationship Id="rId7" Type="http://schemas.openxmlformats.org/officeDocument/2006/relationships/tags" Target="../tags/tag16.xml"/><Relationship Id="rId12" Type="http://schemas.openxmlformats.org/officeDocument/2006/relationships/image" Target="../media/image10.jpe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tags" Target="../tags/tag15.xml"/><Relationship Id="rId11" Type="http://schemas.openxmlformats.org/officeDocument/2006/relationships/image" Target="../media/image9.jpeg"/><Relationship Id="rId5" Type="http://schemas.openxmlformats.org/officeDocument/2006/relationships/tags" Target="../tags/tag14.xml"/><Relationship Id="rId15" Type="http://schemas.openxmlformats.org/officeDocument/2006/relationships/image" Target="../media/image13.jpeg"/><Relationship Id="rId10" Type="http://schemas.openxmlformats.org/officeDocument/2006/relationships/slideMaster" Target="../slideMasters/slideMaster1.xml"/><Relationship Id="rId4" Type="http://schemas.openxmlformats.org/officeDocument/2006/relationships/tags" Target="../tags/tag13.xml"/><Relationship Id="rId9" Type="http://schemas.openxmlformats.org/officeDocument/2006/relationships/tags" Target="../tags/tag18.xml"/><Relationship Id="rId14" Type="http://schemas.openxmlformats.org/officeDocument/2006/relationships/image" Target="../media/image12.jpeg"/></Relationships>
</file>

<file path=ppt/slideLayouts/_rels/slideLayout4.xml.rels><?xml version="1.0" encoding="UTF-8" standalone="yes"?>
<Relationships xmlns="http://schemas.openxmlformats.org/package/2006/relationships"><Relationship Id="rId8" Type="http://schemas.openxmlformats.org/officeDocument/2006/relationships/tags" Target="../tags/tag26.xml"/><Relationship Id="rId13" Type="http://schemas.openxmlformats.org/officeDocument/2006/relationships/image" Target="../media/image3.jpeg"/><Relationship Id="rId18" Type="http://schemas.openxmlformats.org/officeDocument/2006/relationships/image" Target="../media/image8.jpeg"/><Relationship Id="rId3" Type="http://schemas.openxmlformats.org/officeDocument/2006/relationships/tags" Target="../tags/tag21.xml"/><Relationship Id="rId7" Type="http://schemas.openxmlformats.org/officeDocument/2006/relationships/tags" Target="../tags/tag25.xml"/><Relationship Id="rId12" Type="http://schemas.openxmlformats.org/officeDocument/2006/relationships/image" Target="../media/image2.jpeg"/><Relationship Id="rId17" Type="http://schemas.openxmlformats.org/officeDocument/2006/relationships/image" Target="../media/image7.png"/><Relationship Id="rId2" Type="http://schemas.openxmlformats.org/officeDocument/2006/relationships/tags" Target="../tags/tag20.xml"/><Relationship Id="rId16" Type="http://schemas.openxmlformats.org/officeDocument/2006/relationships/image" Target="../media/image6.jpeg"/><Relationship Id="rId1" Type="http://schemas.openxmlformats.org/officeDocument/2006/relationships/tags" Target="../tags/tag19.xml"/><Relationship Id="rId6" Type="http://schemas.openxmlformats.org/officeDocument/2006/relationships/tags" Target="../tags/tag24.xml"/><Relationship Id="rId11" Type="http://schemas.openxmlformats.org/officeDocument/2006/relationships/slideMaster" Target="../slideMasters/slideMaster1.xml"/><Relationship Id="rId5" Type="http://schemas.openxmlformats.org/officeDocument/2006/relationships/tags" Target="../tags/tag23.xml"/><Relationship Id="rId15" Type="http://schemas.openxmlformats.org/officeDocument/2006/relationships/image" Target="../media/image5.jpeg"/><Relationship Id="rId10" Type="http://schemas.openxmlformats.org/officeDocument/2006/relationships/tags" Target="../tags/tag28.xml"/><Relationship Id="rId19" Type="http://schemas.openxmlformats.org/officeDocument/2006/relationships/image" Target="../media/image14.jpeg"/><Relationship Id="rId4" Type="http://schemas.openxmlformats.org/officeDocument/2006/relationships/tags" Target="../tags/tag22.xml"/><Relationship Id="rId9" Type="http://schemas.openxmlformats.org/officeDocument/2006/relationships/tags" Target="../tags/tag27.xml"/><Relationship Id="rId14" Type="http://schemas.openxmlformats.org/officeDocument/2006/relationships/image" Target="../media/image4.jpe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pic>
        <p:nvPicPr>
          <p:cNvPr id="9" name="Picture 8" descr="https://cdn.pixabay.com/photo/2016/04/13/19/23/binary-1327501_960_720.jpg"/>
          <p:cNvPicPr>
            <a:picLocks noChangeAspect="1" noChangeArrowheads="1"/>
          </p:cNvPicPr>
          <p:nvPr/>
        </p:nvPicPr>
        <p:blipFill>
          <a:blip r:embed="rId11" cstate="print"/>
          <a:srcRect/>
          <a:stretch>
            <a:fillRect/>
          </a:stretch>
        </p:blipFill>
        <p:spPr bwMode="auto">
          <a:xfrm>
            <a:off x="395536" y="0"/>
            <a:ext cx="2828754" cy="1152128"/>
          </a:xfrm>
          <a:prstGeom prst="rect">
            <a:avLst/>
          </a:prstGeom>
          <a:noFill/>
        </p:spPr>
      </p:pic>
      <p:grpSp>
        <p:nvGrpSpPr>
          <p:cNvPr id="28" name="Gruppieren 27"/>
          <p:cNvGrpSpPr/>
          <p:nvPr userDrawn="1"/>
        </p:nvGrpSpPr>
        <p:grpSpPr>
          <a:xfrm>
            <a:off x="3059832" y="0"/>
            <a:ext cx="3312368" cy="1152525"/>
            <a:chOff x="3059832" y="0"/>
            <a:chExt cx="3312368" cy="1152525"/>
          </a:xfrm>
        </p:grpSpPr>
        <p:pic>
          <p:nvPicPr>
            <p:cNvPr id="10244"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27" name="Gruppieren 26"/>
            <p:cNvGrpSpPr/>
            <p:nvPr userDrawn="1"/>
          </p:nvGrpSpPr>
          <p:grpSpPr>
            <a:xfrm>
              <a:off x="4427984" y="0"/>
              <a:ext cx="1944216" cy="1152525"/>
              <a:chOff x="4427984" y="0"/>
              <a:chExt cx="1944216" cy="1152525"/>
            </a:xfrm>
          </p:grpSpPr>
          <p:pic>
            <p:nvPicPr>
              <p:cNvPr id="1024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2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26"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2" name="Titel 1"/>
          <p:cNvSpPr>
            <a:spLocks noGrp="1"/>
          </p:cNvSpPr>
          <p:nvPr userDrawn="1">
            <p:ph type="ctrTitle"/>
          </p:nvPr>
        </p:nvSpPr>
        <p:spPr>
          <a:xfrm>
            <a:off x="685800" y="1347614"/>
            <a:ext cx="7772400"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3" name="Untertitel 2"/>
          <p:cNvSpPr>
            <a:spLocks noGrp="1"/>
          </p:cNvSpPr>
          <p:nvPr userDrawn="1">
            <p:ph type="subTitle" idx="1"/>
          </p:nvPr>
        </p:nvSpPr>
        <p:spPr>
          <a:xfrm>
            <a:off x="1371600" y="2355726"/>
            <a:ext cx="6400800" cy="1314450"/>
          </a:xfrm>
          <a:prstGeom prst="rect">
            <a:avLst/>
          </a:prstGeom>
        </p:spPr>
        <p:txBody>
          <a:bodyPr/>
          <a:lstStyle>
            <a:lvl1pPr marL="0" indent="0" algn="ctr">
              <a:buNone/>
              <a:defRPr sz="1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de-DE" dirty="0"/>
              <a:t>Formatvorlage des Untertitelmasters durch Klicken bearbeiten</a:t>
            </a:r>
          </a:p>
        </p:txBody>
      </p:sp>
      <p:sp>
        <p:nvSpPr>
          <p:cNvPr id="13" name="Textfeld 12"/>
          <p:cNvSpPr txBox="1"/>
          <p:nvPr userDrawn="1">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4" name="Freihandform 13"/>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Parallelogramm 16"/>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Parallelogramm 17"/>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Freihandform 18"/>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Freihandform 19"/>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1" name="Rechteck 20"/>
          <p:cNvSpPr/>
          <p:nvPr userDrawn="1">
            <p:custDataLst>
              <p:tags r:id="rId9"/>
            </p:custDataLst>
          </p:nvPr>
        </p:nvSpPr>
        <p:spPr>
          <a:xfrm>
            <a:off x="795" y="648469"/>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2" name="Rectangle 3"/>
          <p:cNvSpPr txBox="1">
            <a:spLocks noChangeArrowheads="1"/>
          </p:cNvSpPr>
          <p:nvPr userDrawn="1"/>
        </p:nvSpPr>
        <p:spPr bwMode="auto">
          <a:xfrm>
            <a:off x="845840" y="4240838"/>
            <a:ext cx="7452320" cy="851192"/>
          </a:xfrm>
          <a:prstGeom prst="rect">
            <a:avLst/>
          </a:prstGeom>
          <a:noFill/>
          <a:ln>
            <a:miter lim="800000"/>
            <a:headEnd/>
            <a:tailEnd/>
          </a:ln>
        </p:spPr>
        <p:txBody>
          <a:bodyPr vert="horz" wrap="square" lIns="91440" tIns="45720" rIns="91440" bIns="45720" numCol="1" anchor="b" anchorCtr="0" compatLnSpc="1">
            <a:prstTxWarp prst="textNoShape">
              <a:avLst/>
            </a:prstTxWarp>
          </a:bodyPr>
          <a:lstStyle/>
          <a:p>
            <a:pPr lvl="0" algn="ctr">
              <a:spcBef>
                <a:spcPct val="20000"/>
              </a:spcBef>
              <a:defRPr/>
            </a:pPr>
            <a:r>
              <a:rPr lang="en-US" sz="1400" b="1" kern="0" dirty="0">
                <a:latin typeface="+mn-lt"/>
              </a:rPr>
              <a:t>Prof. Dr. Dr. </a:t>
            </a:r>
            <a:r>
              <a:rPr lang="en-US" sz="1400" b="1" kern="0" dirty="0" err="1">
                <a:latin typeface="+mn-lt"/>
              </a:rPr>
              <a:t>h.c</a:t>
            </a:r>
            <a:r>
              <a:rPr lang="en-US" sz="1400" b="1" kern="0" dirty="0">
                <a:latin typeface="+mn-lt"/>
              </a:rPr>
              <a:t>. Florian Rupp</a:t>
            </a:r>
            <a:endParaRPr kumimoji="0" lang="en-US" sz="1400" b="1" i="0" u="none" strike="noStrike" kern="0" cap="none" spc="0" normalizeH="0" baseline="0" noProof="0" dirty="0">
              <a:ln>
                <a:noFill/>
              </a:ln>
              <a:solidFill>
                <a:schemeClr val="tx1"/>
              </a:solidFill>
              <a:effectLst/>
              <a:uLnTx/>
              <a:uFillTx/>
              <a:latin typeface="+mn-lt"/>
              <a:ea typeface="+mn-ea"/>
              <a:cs typeface="+mn-cs"/>
            </a:endParaRPr>
          </a:p>
          <a:p>
            <a:pPr marL="0" marR="0" lvl="0" indent="0" algn="ctr" defTabSz="914400" rtl="0" eaLnBrk="1" fontAlgn="base" latinLnBrk="0" hangingPunct="1">
              <a:lnSpc>
                <a:spcPct val="100000"/>
              </a:lnSpc>
              <a:spcBef>
                <a:spcPct val="20000"/>
              </a:spcBef>
              <a:spcAft>
                <a:spcPct val="0"/>
              </a:spcAft>
              <a:buClrTx/>
              <a:buSzTx/>
              <a:buFontTx/>
              <a:buNone/>
              <a:tabLst/>
              <a:defRPr/>
            </a:pPr>
            <a:endParaRPr lang="en-US" sz="500" dirty="0"/>
          </a:p>
          <a:p>
            <a:pPr algn="ctr" eaLnBrk="1" hangingPunct="1"/>
            <a:r>
              <a:rPr lang="en-US" sz="1400" baseline="0" dirty="0"/>
              <a:t>Western Caspian University &amp; </a:t>
            </a:r>
            <a:r>
              <a:rPr lang="en-US" sz="1400" dirty="0"/>
              <a:t>Kutaisi International</a:t>
            </a:r>
            <a:r>
              <a:rPr lang="en-US" sz="1400" baseline="0" dirty="0"/>
              <a:t> University</a:t>
            </a:r>
            <a:endParaRPr lang="en-US" sz="1400" dirty="0"/>
          </a:p>
        </p:txBody>
      </p:sp>
      <p:pic>
        <p:nvPicPr>
          <p:cNvPr id="24" name="Grafik 23" descr="index.png"/>
          <p:cNvPicPr>
            <a:picLocks noChangeAspect="1"/>
          </p:cNvPicPr>
          <p:nvPr userDrawn="1"/>
        </p:nvPicPr>
        <p:blipFill>
          <a:blip r:embed="rId16" cstate="print"/>
          <a:stretch>
            <a:fillRect/>
          </a:stretch>
        </p:blipFill>
        <p:spPr>
          <a:xfrm>
            <a:off x="179513" y="4437868"/>
            <a:ext cx="1872207" cy="582154"/>
          </a:xfrm>
          <a:prstGeom prst="rect">
            <a:avLst/>
          </a:prstGeom>
        </p:spPr>
      </p:pic>
      <p:pic>
        <p:nvPicPr>
          <p:cNvPr id="27650" name="Picture 2" descr="https://www.iau-hesd.net/sites/default/files/styles/medium/public/media_logo/western_caspian_university.jpg?itok=s4WTrk6k"/>
          <p:cNvPicPr>
            <a:picLocks noChangeAspect="1" noChangeArrowheads="1"/>
          </p:cNvPicPr>
          <p:nvPr userDrawn="1"/>
        </p:nvPicPr>
        <p:blipFill>
          <a:blip r:embed="rId17" cstate="print"/>
          <a:srcRect/>
          <a:stretch>
            <a:fillRect/>
          </a:stretch>
        </p:blipFill>
        <p:spPr bwMode="auto">
          <a:xfrm>
            <a:off x="251520" y="3219822"/>
            <a:ext cx="1013731" cy="1054898"/>
          </a:xfrm>
          <a:prstGeom prst="rect">
            <a:avLst/>
          </a:prstGeom>
          <a:noFill/>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0" name="Rechteck 19"/>
          <p:cNvSpPr/>
          <p:nvPr userDrawn="1"/>
        </p:nvSpPr>
        <p:spPr>
          <a:xfrm>
            <a:off x="6084168" y="0"/>
            <a:ext cx="3059832" cy="810000"/>
          </a:xfrm>
          <a:prstGeom prst="rect">
            <a:avLst/>
          </a:prstGeom>
          <a:solidFill>
            <a:schemeClr val="tx2"/>
          </a:solidFill>
          <a:ln w="25400" cap="rnd" cmpd="sng" algn="ctr">
            <a:noFill/>
            <a:prstDash val="solid"/>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1"/>
            </p:custDataLst>
          </p:nvPr>
        </p:nvSpPr>
        <p:spPr>
          <a:xfrm>
            <a:off x="560" y="456093"/>
            <a:ext cx="9143440" cy="354739"/>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nvGrpSpPr>
          <p:cNvPr id="43" name="Gruppieren 42"/>
          <p:cNvGrpSpPr/>
          <p:nvPr userDrawn="1"/>
        </p:nvGrpSpPr>
        <p:grpSpPr>
          <a:xfrm>
            <a:off x="0" y="0"/>
            <a:ext cx="6444207" cy="811112"/>
            <a:chOff x="0" y="0"/>
            <a:chExt cx="9156701" cy="1152525"/>
          </a:xfrm>
        </p:grpSpPr>
        <p:pic>
          <p:nvPicPr>
            <p:cNvPr id="28" name="Picture 8" descr="https://cdn.pixabay.com/photo/2016/04/13/19/23/binary-1327501_960_720.jpg"/>
            <p:cNvPicPr>
              <a:picLocks noChangeAspect="1" noChangeArrowheads="1"/>
            </p:cNvPicPr>
            <p:nvPr userDrawn="1"/>
          </p:nvPicPr>
          <p:blipFill>
            <a:blip r:embed="rId11" cstate="print"/>
            <a:srcRect/>
            <a:stretch>
              <a:fillRect/>
            </a:stretch>
          </p:blipFill>
          <p:spPr bwMode="auto">
            <a:xfrm>
              <a:off x="395536" y="0"/>
              <a:ext cx="2828754" cy="1152128"/>
            </a:xfrm>
            <a:prstGeom prst="rect">
              <a:avLst/>
            </a:prstGeom>
            <a:noFill/>
          </p:spPr>
        </p:pic>
        <p:grpSp>
          <p:nvGrpSpPr>
            <p:cNvPr id="29" name="Gruppieren 28"/>
            <p:cNvGrpSpPr/>
            <p:nvPr userDrawn="1"/>
          </p:nvGrpSpPr>
          <p:grpSpPr>
            <a:xfrm>
              <a:off x="3059832" y="0"/>
              <a:ext cx="3312368" cy="1152525"/>
              <a:chOff x="3059832" y="0"/>
              <a:chExt cx="3312368" cy="1152525"/>
            </a:xfrm>
          </p:grpSpPr>
          <p:pic>
            <p:nvPicPr>
              <p:cNvPr id="30"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2" cstate="print"/>
              <a:srcRect/>
              <a:stretch>
                <a:fillRect/>
              </a:stretch>
            </p:blipFill>
            <p:spPr bwMode="auto">
              <a:xfrm>
                <a:off x="3059832" y="0"/>
                <a:ext cx="1728192" cy="1152128"/>
              </a:xfrm>
              <a:prstGeom prst="rect">
                <a:avLst/>
              </a:prstGeom>
              <a:noFill/>
            </p:spPr>
          </p:pic>
          <p:grpSp>
            <p:nvGrpSpPr>
              <p:cNvPr id="31" name="Gruppieren 26"/>
              <p:cNvGrpSpPr/>
              <p:nvPr userDrawn="1"/>
            </p:nvGrpSpPr>
            <p:grpSpPr>
              <a:xfrm>
                <a:off x="4427984" y="0"/>
                <a:ext cx="1944216" cy="1152525"/>
                <a:chOff x="4427984" y="0"/>
                <a:chExt cx="1944216" cy="1152525"/>
              </a:xfrm>
            </p:grpSpPr>
            <p:pic>
              <p:nvPicPr>
                <p:cNvPr id="32" name="Picture 2" descr="Banner, Header, Mathematik, Formel, Physik, Schule"/>
                <p:cNvPicPr>
                  <a:picLocks noChangeAspect="1" noChangeArrowheads="1"/>
                </p:cNvPicPr>
                <p:nvPr userDrawn="1"/>
              </p:nvPicPr>
              <p:blipFill>
                <a:blip r:embed="rId13" cstate="print"/>
                <a:srcRect/>
                <a:stretch>
                  <a:fillRect/>
                </a:stretch>
              </p:blipFill>
              <p:spPr bwMode="auto">
                <a:xfrm>
                  <a:off x="4427984" y="0"/>
                  <a:ext cx="1944216" cy="267494"/>
                </a:xfrm>
                <a:prstGeom prst="rect">
                  <a:avLst/>
                </a:prstGeom>
                <a:noFill/>
              </p:spPr>
            </p:pic>
            <p:pic>
              <p:nvPicPr>
                <p:cNvPr id="33" name="Picture 2" descr="Banner, Header, Mathematik, Formel, Physik, Schule"/>
                <p:cNvPicPr>
                  <a:picLocks noChangeAspect="1" noChangeArrowheads="1"/>
                </p:cNvPicPr>
                <p:nvPr userDrawn="1"/>
              </p:nvPicPr>
              <p:blipFill>
                <a:blip r:embed="rId14" cstate="print"/>
                <a:srcRect/>
                <a:stretch>
                  <a:fillRect/>
                </a:stretch>
              </p:blipFill>
              <p:spPr bwMode="auto">
                <a:xfrm>
                  <a:off x="4572000" y="267494"/>
                  <a:ext cx="1656184" cy="432048"/>
                </a:xfrm>
                <a:prstGeom prst="rect">
                  <a:avLst/>
                </a:prstGeom>
                <a:noFill/>
              </p:spPr>
            </p:pic>
            <p:pic>
              <p:nvPicPr>
                <p:cNvPr id="34" name="Picture 2" descr="Banner, Header, Mathematik, Formel, Physik, Schule"/>
                <p:cNvPicPr>
                  <a:picLocks noChangeAspect="1" noChangeArrowheads="1"/>
                </p:cNvPicPr>
                <p:nvPr userDrawn="1"/>
              </p:nvPicPr>
              <p:blipFill>
                <a:blip r:embed="rId15" cstate="print"/>
                <a:srcRect/>
                <a:stretch>
                  <a:fillRect/>
                </a:stretch>
              </p:blipFill>
              <p:spPr bwMode="auto">
                <a:xfrm>
                  <a:off x="4716016" y="689073"/>
                  <a:ext cx="1368152" cy="463452"/>
                </a:xfrm>
                <a:prstGeom prst="rect">
                  <a:avLst/>
                </a:prstGeom>
                <a:noFill/>
              </p:spPr>
            </p:pic>
          </p:grpSp>
        </p:grpSp>
        <p:sp>
          <p:nvSpPr>
            <p:cNvPr id="35" name="Freihandform 34"/>
            <p:cNvSpPr/>
            <p:nvPr userDrawn="1">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6" name="Parallelogramm 35"/>
            <p:cNvSpPr/>
            <p:nvPr userDrawn="1">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7" name="Parallelogramm 36"/>
            <p:cNvSpPr/>
            <p:nvPr userDrawn="1">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8" name="Parallelogramm 37"/>
            <p:cNvSpPr/>
            <p:nvPr userDrawn="1">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39" name="Parallelogramm 38"/>
            <p:cNvSpPr/>
            <p:nvPr userDrawn="1">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0" name="Freihandform 39"/>
            <p:cNvSpPr/>
            <p:nvPr userDrawn="1">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1" name="Freihandform 40"/>
            <p:cNvSpPr/>
            <p:nvPr userDrawn="1">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42" name="Rechteck 41"/>
            <p:cNvSpPr/>
            <p:nvPr userDrawn="1">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grpSp>
      <p:sp>
        <p:nvSpPr>
          <p:cNvPr id="21"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Leer">
    <p:spTree>
      <p:nvGrpSpPr>
        <p:cNvPr id="1" name=""/>
        <p:cNvGrpSpPr/>
        <p:nvPr/>
      </p:nvGrpSpPr>
      <p:grpSpPr>
        <a:xfrm>
          <a:off x="0" y="0"/>
          <a:ext cx="0" cy="0"/>
          <a:chOff x="0" y="0"/>
          <a:chExt cx="0" cy="0"/>
        </a:xfrm>
      </p:grpSpPr>
      <p:pic>
        <p:nvPicPr>
          <p:cNvPr id="7" name="Picture 8" descr="https://cdn.pixabay.com/photo/2016/04/13/19/23/binary-1327501_960_720.jpg"/>
          <p:cNvPicPr>
            <a:picLocks noChangeAspect="1" noChangeArrowheads="1"/>
          </p:cNvPicPr>
          <p:nvPr/>
        </p:nvPicPr>
        <p:blipFill>
          <a:blip r:embed="rId12" cstate="print"/>
          <a:srcRect/>
          <a:stretch>
            <a:fillRect/>
          </a:stretch>
        </p:blipFill>
        <p:spPr bwMode="auto">
          <a:xfrm>
            <a:off x="395536" y="0"/>
            <a:ext cx="2828754" cy="1152128"/>
          </a:xfrm>
          <a:prstGeom prst="rect">
            <a:avLst/>
          </a:prstGeom>
          <a:noFill/>
        </p:spPr>
      </p:pic>
      <p:grpSp>
        <p:nvGrpSpPr>
          <p:cNvPr id="26" name="Gruppieren 25"/>
          <p:cNvGrpSpPr/>
          <p:nvPr userDrawn="1"/>
        </p:nvGrpSpPr>
        <p:grpSpPr>
          <a:xfrm>
            <a:off x="3059832" y="0"/>
            <a:ext cx="3312368" cy="1152525"/>
            <a:chOff x="3059832" y="0"/>
            <a:chExt cx="3312368" cy="1152525"/>
          </a:xfrm>
        </p:grpSpPr>
        <p:pic>
          <p:nvPicPr>
            <p:cNvPr id="27" name="Picture 4" descr="https://scontent-muc2-1.xx.fbcdn.net/v/t1.0-9/105047738_302269647821182_6536006559647297022_o.jpg?_nc_cat=105&amp;_nc_sid=730e14&amp;_nc_ohc=TQF0ZCkImkEAX_9ZuvG&amp;_nc_ht=scontent-muc2-1.xx&amp;oh=0be3c9382f21dded80330d22b968e298&amp;oe=5F833F90"/>
            <p:cNvPicPr>
              <a:picLocks noChangeAspect="1" noChangeArrowheads="1"/>
            </p:cNvPicPr>
            <p:nvPr userDrawn="1"/>
          </p:nvPicPr>
          <p:blipFill>
            <a:blip r:embed="rId13" cstate="print"/>
            <a:srcRect/>
            <a:stretch>
              <a:fillRect/>
            </a:stretch>
          </p:blipFill>
          <p:spPr bwMode="auto">
            <a:xfrm>
              <a:off x="3059832" y="0"/>
              <a:ext cx="1728192" cy="1152128"/>
            </a:xfrm>
            <a:prstGeom prst="rect">
              <a:avLst/>
            </a:prstGeom>
            <a:noFill/>
          </p:spPr>
        </p:pic>
        <p:grpSp>
          <p:nvGrpSpPr>
            <p:cNvPr id="28" name="Gruppieren 26"/>
            <p:cNvGrpSpPr/>
            <p:nvPr userDrawn="1"/>
          </p:nvGrpSpPr>
          <p:grpSpPr>
            <a:xfrm>
              <a:off x="4427984" y="0"/>
              <a:ext cx="1944216" cy="1152525"/>
              <a:chOff x="4427984" y="0"/>
              <a:chExt cx="1944216" cy="1152525"/>
            </a:xfrm>
          </p:grpSpPr>
          <p:pic>
            <p:nvPicPr>
              <p:cNvPr id="29" name="Picture 2" descr="Banner, Header, Mathematik, Formel, Physik, Schule"/>
              <p:cNvPicPr>
                <a:picLocks noChangeAspect="1" noChangeArrowheads="1"/>
              </p:cNvPicPr>
              <p:nvPr userDrawn="1"/>
            </p:nvPicPr>
            <p:blipFill>
              <a:blip r:embed="rId14" cstate="print"/>
              <a:srcRect/>
              <a:stretch>
                <a:fillRect/>
              </a:stretch>
            </p:blipFill>
            <p:spPr bwMode="auto">
              <a:xfrm>
                <a:off x="4427984" y="0"/>
                <a:ext cx="1944216" cy="267494"/>
              </a:xfrm>
              <a:prstGeom prst="rect">
                <a:avLst/>
              </a:prstGeom>
              <a:noFill/>
            </p:spPr>
          </p:pic>
          <p:pic>
            <p:nvPicPr>
              <p:cNvPr id="30" name="Picture 2" descr="Banner, Header, Mathematik, Formel, Physik, Schule"/>
              <p:cNvPicPr>
                <a:picLocks noChangeAspect="1" noChangeArrowheads="1"/>
              </p:cNvPicPr>
              <p:nvPr userDrawn="1"/>
            </p:nvPicPr>
            <p:blipFill>
              <a:blip r:embed="rId15" cstate="print"/>
              <a:srcRect/>
              <a:stretch>
                <a:fillRect/>
              </a:stretch>
            </p:blipFill>
            <p:spPr bwMode="auto">
              <a:xfrm>
                <a:off x="4572000" y="267494"/>
                <a:ext cx="1656184" cy="432048"/>
              </a:xfrm>
              <a:prstGeom prst="rect">
                <a:avLst/>
              </a:prstGeom>
              <a:noFill/>
            </p:spPr>
          </p:pic>
          <p:pic>
            <p:nvPicPr>
              <p:cNvPr id="31" name="Picture 2" descr="Banner, Header, Mathematik, Formel, Physik, Schule"/>
              <p:cNvPicPr>
                <a:picLocks noChangeAspect="1" noChangeArrowheads="1"/>
              </p:cNvPicPr>
              <p:nvPr userDrawn="1"/>
            </p:nvPicPr>
            <p:blipFill>
              <a:blip r:embed="rId16" cstate="print"/>
              <a:srcRect/>
              <a:stretch>
                <a:fillRect/>
              </a:stretch>
            </p:blipFill>
            <p:spPr bwMode="auto">
              <a:xfrm>
                <a:off x="4716016" y="689073"/>
                <a:ext cx="1368152" cy="463452"/>
              </a:xfrm>
              <a:prstGeom prst="rect">
                <a:avLst/>
              </a:prstGeom>
              <a:noFill/>
            </p:spPr>
          </p:pic>
        </p:grpSp>
      </p:grpSp>
      <p:sp>
        <p:nvSpPr>
          <p:cNvPr id="24" name="Rechteck 23"/>
          <p:cNvSpPr/>
          <p:nvPr userDrawn="1"/>
        </p:nvSpPr>
        <p:spPr>
          <a:xfrm>
            <a:off x="179512" y="1275606"/>
            <a:ext cx="3240360" cy="37444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feld 10"/>
          <p:cNvSpPr txBox="1"/>
          <p:nvPr>
            <p:custDataLst>
              <p:tags r:id="rId1"/>
            </p:custDataLst>
          </p:nvPr>
        </p:nvSpPr>
        <p:spPr>
          <a:xfrm>
            <a:off x="7543657" y="720080"/>
            <a:ext cx="1505540" cy="369332"/>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800" b="0" i="0" u="none" strike="noStrike" kern="0" cap="none" spc="0" normalizeH="0" baseline="0" noProof="0" dirty="0">
                <a:ln>
                  <a:noFill/>
                </a:ln>
                <a:solidFill>
                  <a:sysClr val="windowText" lastClr="000000"/>
                </a:solidFill>
                <a:effectLst/>
                <a:uLnTx/>
                <a:uFillTx/>
              </a:rPr>
              <a:t>Florian Rupp</a:t>
            </a:r>
          </a:p>
        </p:txBody>
      </p:sp>
      <p:sp>
        <p:nvSpPr>
          <p:cNvPr id="12" name="Freihandform 11"/>
          <p:cNvSpPr/>
          <p:nvPr>
            <p:custDataLst>
              <p:tags r:id="rId2"/>
            </p:custDataLst>
          </p:nvPr>
        </p:nvSpPr>
        <p:spPr>
          <a:xfrm flipH="1">
            <a:off x="6024860" y="447"/>
            <a:ext cx="313184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1955800"/>
              <a:gd name="connsiteY0" fmla="*/ 0 h 1143000"/>
              <a:gd name="connsiteX1" fmla="*/ 1641023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641023"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3" name="Parallelogramm 12"/>
          <p:cNvSpPr/>
          <p:nvPr>
            <p:custDataLst>
              <p:tags r:id="rId3"/>
            </p:custDataLst>
          </p:nvPr>
        </p:nvSpPr>
        <p:spPr>
          <a:xfrm>
            <a:off x="5808836" y="1"/>
            <a:ext cx="792088" cy="1152128"/>
          </a:xfrm>
          <a:prstGeom prst="parallelogram">
            <a:avLst>
              <a:gd name="adj" fmla="val 63481"/>
            </a:avLst>
          </a:pr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4" name="Parallelogramm 13"/>
          <p:cNvSpPr/>
          <p:nvPr>
            <p:custDataLst>
              <p:tags r:id="rId4"/>
            </p:custDataLst>
          </p:nvPr>
        </p:nvSpPr>
        <p:spPr>
          <a:xfrm>
            <a:off x="2568476" y="1"/>
            <a:ext cx="1152128" cy="1152128"/>
          </a:xfrm>
          <a:prstGeom prst="parallelogram">
            <a:avLst>
              <a:gd name="adj" fmla="val 52628"/>
            </a:avLst>
          </a:prstGeom>
          <a:solidFill>
            <a:srgbClr val="1F497D">
              <a:lumMod val="60000"/>
              <a:lumOff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5" name="Parallelogramm 14"/>
          <p:cNvSpPr/>
          <p:nvPr>
            <p:custDataLst>
              <p:tags r:id="rId5"/>
            </p:custDataLst>
          </p:nvPr>
        </p:nvSpPr>
        <p:spPr>
          <a:xfrm flipH="1">
            <a:off x="4296668" y="1"/>
            <a:ext cx="648072" cy="1152128"/>
          </a:xfrm>
          <a:prstGeom prst="parallelogram">
            <a:avLst>
              <a:gd name="adj" fmla="val 68305"/>
            </a:avLst>
          </a:prstGeom>
          <a:solidFill>
            <a:srgbClr val="F79646"/>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6" name="Parallelogramm 15"/>
          <p:cNvSpPr/>
          <p:nvPr>
            <p:custDataLst>
              <p:tags r:id="rId6"/>
            </p:custDataLst>
          </p:nvPr>
        </p:nvSpPr>
        <p:spPr>
          <a:xfrm>
            <a:off x="2568476" y="1"/>
            <a:ext cx="1008112" cy="1152128"/>
          </a:xfrm>
          <a:prstGeom prst="parallelogram">
            <a:avLst>
              <a:gd name="adj" fmla="val 88390"/>
            </a:avLst>
          </a:prstGeom>
          <a:solidFill>
            <a:srgbClr val="4F81BD">
              <a:lumMod val="20000"/>
              <a:lumOff val="8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7" name="Freihandform 16"/>
          <p:cNvSpPr/>
          <p:nvPr>
            <p:custDataLst>
              <p:tags r:id="rId7"/>
            </p:custDataLst>
          </p:nvPr>
        </p:nvSpPr>
        <p:spPr>
          <a:xfrm>
            <a:off x="0" y="0"/>
            <a:ext cx="195580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55800" h="1143000">
                <a:moveTo>
                  <a:pt x="0" y="0"/>
                </a:moveTo>
                <a:lnTo>
                  <a:pt x="1485900" y="0"/>
                </a:lnTo>
                <a:lnTo>
                  <a:pt x="1955800" y="1143000"/>
                </a:lnTo>
                <a:lnTo>
                  <a:pt x="0" y="1143000"/>
                </a:lnTo>
                <a:lnTo>
                  <a:pt x="0" y="0"/>
                </a:lnTo>
                <a:close/>
              </a:path>
            </a:pathLst>
          </a:custGeom>
          <a:solidFill>
            <a:schemeClr val="tx2"/>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8" name="Freihandform 17"/>
          <p:cNvSpPr/>
          <p:nvPr>
            <p:custDataLst>
              <p:tags r:id="rId8"/>
            </p:custDataLst>
          </p:nvPr>
        </p:nvSpPr>
        <p:spPr>
          <a:xfrm>
            <a:off x="2580060" y="1"/>
            <a:ext cx="924520" cy="1151235"/>
          </a:xfrm>
          <a:custGeom>
            <a:avLst/>
            <a:gdLst>
              <a:gd name="connsiteX0" fmla="*/ 0 w 1955800"/>
              <a:gd name="connsiteY0" fmla="*/ 0 h 1143000"/>
              <a:gd name="connsiteX1" fmla="*/ 1485900 w 1955800"/>
              <a:gd name="connsiteY1" fmla="*/ 0 h 1143000"/>
              <a:gd name="connsiteX2" fmla="*/ 1955800 w 1955800"/>
              <a:gd name="connsiteY2" fmla="*/ 1143000 h 1143000"/>
              <a:gd name="connsiteX3" fmla="*/ 0 w 1955800"/>
              <a:gd name="connsiteY3" fmla="*/ 1143000 h 1143000"/>
              <a:gd name="connsiteX4" fmla="*/ 0 w 1955800"/>
              <a:gd name="connsiteY4" fmla="*/ 0 h 1143000"/>
              <a:gd name="connsiteX0" fmla="*/ 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0 w 2880320"/>
              <a:gd name="connsiteY4" fmla="*/ 0 h 1143000"/>
              <a:gd name="connsiteX0" fmla="*/ 2160240 w 2880320"/>
              <a:gd name="connsiteY0" fmla="*/ 0 h 1143000"/>
              <a:gd name="connsiteX1" fmla="*/ 2880320 w 2880320"/>
              <a:gd name="connsiteY1" fmla="*/ 0 h 1143000"/>
              <a:gd name="connsiteX2" fmla="*/ 1955800 w 2880320"/>
              <a:gd name="connsiteY2" fmla="*/ 1143000 h 1143000"/>
              <a:gd name="connsiteX3" fmla="*/ 0 w 2880320"/>
              <a:gd name="connsiteY3" fmla="*/ 1143000 h 1143000"/>
              <a:gd name="connsiteX4" fmla="*/ 2160240 w 28803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132432 w 924520"/>
              <a:gd name="connsiteY3" fmla="*/ 643436 h 1143000"/>
              <a:gd name="connsiteX4" fmla="*/ 204440 w 924520"/>
              <a:gd name="connsiteY4" fmla="*/ 0 h 1143000"/>
              <a:gd name="connsiteX0" fmla="*/ 204440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204440 w 924520"/>
              <a:gd name="connsiteY4" fmla="*/ 0 h 1143000"/>
              <a:gd name="connsiteX0" fmla="*/ 348456 w 924520"/>
              <a:gd name="connsiteY0" fmla="*/ 0 h 1143000"/>
              <a:gd name="connsiteX1" fmla="*/ 924520 w 924520"/>
              <a:gd name="connsiteY1" fmla="*/ 0 h 1143000"/>
              <a:gd name="connsiteX2" fmla="*/ 0 w 924520"/>
              <a:gd name="connsiteY2" fmla="*/ 1143000 h 1143000"/>
              <a:gd name="connsiteX3" fmla="*/ 348456 w 924520"/>
              <a:gd name="connsiteY3" fmla="*/ 571943 h 1143000"/>
              <a:gd name="connsiteX4" fmla="*/ 348456 w 924520"/>
              <a:gd name="connsiteY4" fmla="*/ 0 h 1143000"/>
              <a:gd name="connsiteX0" fmla="*/ 348456 w 924520"/>
              <a:gd name="connsiteY0" fmla="*/ 571943 h 1143000"/>
              <a:gd name="connsiteX1" fmla="*/ 924520 w 924520"/>
              <a:gd name="connsiteY1" fmla="*/ 0 h 1143000"/>
              <a:gd name="connsiteX2" fmla="*/ 0 w 924520"/>
              <a:gd name="connsiteY2" fmla="*/ 1143000 h 1143000"/>
              <a:gd name="connsiteX3" fmla="*/ 348456 w 924520"/>
              <a:gd name="connsiteY3" fmla="*/ 571943 h 1143000"/>
              <a:gd name="connsiteX0" fmla="*/ 420464 w 924520"/>
              <a:gd name="connsiteY0" fmla="*/ 0 h 1143000"/>
              <a:gd name="connsiteX1" fmla="*/ 924520 w 924520"/>
              <a:gd name="connsiteY1" fmla="*/ 0 h 1143000"/>
              <a:gd name="connsiteX2" fmla="*/ 0 w 924520"/>
              <a:gd name="connsiteY2" fmla="*/ 1143000 h 1143000"/>
              <a:gd name="connsiteX3" fmla="*/ 420464 w 924520"/>
              <a:gd name="connsiteY3" fmla="*/ 0 h 1143000"/>
            </a:gdLst>
            <a:ahLst/>
            <a:cxnLst>
              <a:cxn ang="0">
                <a:pos x="connsiteX0" y="connsiteY0"/>
              </a:cxn>
              <a:cxn ang="0">
                <a:pos x="connsiteX1" y="connsiteY1"/>
              </a:cxn>
              <a:cxn ang="0">
                <a:pos x="connsiteX2" y="connsiteY2"/>
              </a:cxn>
              <a:cxn ang="0">
                <a:pos x="connsiteX3" y="connsiteY3"/>
              </a:cxn>
            </a:cxnLst>
            <a:rect l="l" t="t" r="r" b="b"/>
            <a:pathLst>
              <a:path w="924520" h="1143000">
                <a:moveTo>
                  <a:pt x="420464" y="0"/>
                </a:moveTo>
                <a:lnTo>
                  <a:pt x="924520" y="0"/>
                </a:lnTo>
                <a:lnTo>
                  <a:pt x="0" y="1143000"/>
                </a:lnTo>
                <a:lnTo>
                  <a:pt x="420464" y="0"/>
                </a:lnTo>
                <a:close/>
              </a:path>
            </a:pathLst>
          </a:custGeom>
          <a:solidFill>
            <a:srgbClr val="F79646">
              <a:lumMod val="75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19" name="Rechteck 18"/>
          <p:cNvSpPr/>
          <p:nvPr>
            <p:custDataLst>
              <p:tags r:id="rId9"/>
            </p:custDataLst>
          </p:nvPr>
        </p:nvSpPr>
        <p:spPr>
          <a:xfrm>
            <a:off x="795" y="648072"/>
            <a:ext cx="9155906" cy="504056"/>
          </a:xfrm>
          <a:prstGeom prst="rect">
            <a:avLst/>
          </a:prstGeom>
          <a:solidFill>
            <a:srgbClr val="FFFFFF">
              <a:alpha val="40000"/>
            </a:srgbClr>
          </a:solidFill>
          <a:ln w="25400" cap="rnd"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sysClr val="window" lastClr="FFFFFF"/>
              </a:solidFill>
              <a:effectLst/>
              <a:uLnTx/>
              <a:uFillTx/>
              <a:latin typeface="Calibri"/>
              <a:ea typeface="+mn-ea"/>
              <a:cs typeface="+mn-cs"/>
            </a:endParaRPr>
          </a:p>
        </p:txBody>
      </p:sp>
      <p:sp>
        <p:nvSpPr>
          <p:cNvPr id="20" name="Titel 1"/>
          <p:cNvSpPr>
            <a:spLocks noGrp="1"/>
          </p:cNvSpPr>
          <p:nvPr userDrawn="1">
            <p:ph type="ctrTitle"/>
          </p:nvPr>
        </p:nvSpPr>
        <p:spPr>
          <a:xfrm>
            <a:off x="3851920" y="1275606"/>
            <a:ext cx="5112568" cy="864095"/>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txBody>
          <a:bodyPr/>
          <a:lstStyle>
            <a:lvl1pPr algn="ctr">
              <a:defRPr/>
            </a:lvl1pPr>
          </a:lstStyle>
          <a:p>
            <a:r>
              <a:rPr lang="de-DE" dirty="0"/>
              <a:t>Titelmasterformat durch Klicken bearbeiten</a:t>
            </a:r>
          </a:p>
        </p:txBody>
      </p:sp>
      <p:sp>
        <p:nvSpPr>
          <p:cNvPr id="23" name="Rectangle 5"/>
          <p:cNvSpPr>
            <a:spLocks noChangeArrowheads="1"/>
          </p:cNvSpPr>
          <p:nvPr userDrawn="1">
            <p:custDataLst>
              <p:tags r:id="rId10"/>
            </p:custDataLst>
          </p:nvPr>
        </p:nvSpPr>
        <p:spPr bwMode="auto">
          <a:xfrm>
            <a:off x="4752020" y="4299942"/>
            <a:ext cx="3240360" cy="720080"/>
          </a:xfrm>
          <a:prstGeom prst="rect">
            <a:avLst/>
          </a:prstGeom>
          <a:noFill/>
          <a:ln w="9525">
            <a:noFill/>
            <a:miter lim="800000"/>
            <a:headEnd/>
            <a:tailEnd/>
          </a:ln>
        </p:spPr>
        <p:txBody>
          <a:bodyPr anchor="b"/>
          <a:lstStyle/>
          <a:p>
            <a:pPr algn="ctr">
              <a:spcBef>
                <a:spcPct val="20000"/>
              </a:spcBef>
            </a:pPr>
            <a:endParaRPr lang="en-US" sz="1400" dirty="0"/>
          </a:p>
        </p:txBody>
      </p:sp>
      <p:sp>
        <p:nvSpPr>
          <p:cNvPr id="25" name="Textfeld 24"/>
          <p:cNvSpPr txBox="1"/>
          <p:nvPr userDrawn="1"/>
        </p:nvSpPr>
        <p:spPr>
          <a:xfrm>
            <a:off x="3851920" y="2355726"/>
            <a:ext cx="5040560" cy="1631216"/>
          </a:xfrm>
          <a:prstGeom prst="rect">
            <a:avLst/>
          </a:prstGeom>
          <a:noFill/>
        </p:spPr>
        <p:txBody>
          <a:bodyPr wrap="square" rtlCol="0">
            <a:spAutoFit/>
          </a:bodyPr>
          <a:lstStyle/>
          <a:p>
            <a:pPr algn="ctr"/>
            <a:r>
              <a:rPr lang="en-US" sz="2000" dirty="0"/>
              <a:t>Questions &amp; Remarks?</a:t>
            </a:r>
          </a:p>
          <a:p>
            <a:pPr algn="ctr"/>
            <a:endParaRPr lang="en-US" sz="2000" dirty="0"/>
          </a:p>
          <a:p>
            <a:pPr algn="ctr"/>
            <a:endParaRPr lang="en-US" sz="2000" dirty="0"/>
          </a:p>
          <a:p>
            <a:pPr algn="ctr"/>
            <a:endParaRPr lang="en-US" sz="2000" dirty="0"/>
          </a:p>
          <a:p>
            <a:pPr algn="ctr"/>
            <a:r>
              <a:rPr lang="en-US" sz="2000" dirty="0"/>
              <a:t>Thank You Very Much</a:t>
            </a:r>
          </a:p>
        </p:txBody>
      </p:sp>
      <p:pic>
        <p:nvPicPr>
          <p:cNvPr id="22" name="Grafik 21" descr="index.png"/>
          <p:cNvPicPr>
            <a:picLocks noChangeAspect="1"/>
          </p:cNvPicPr>
          <p:nvPr userDrawn="1"/>
        </p:nvPicPr>
        <p:blipFill>
          <a:blip r:embed="rId17" cstate="print"/>
          <a:stretch>
            <a:fillRect/>
          </a:stretch>
        </p:blipFill>
        <p:spPr>
          <a:xfrm>
            <a:off x="3798963" y="4578133"/>
            <a:ext cx="1421109" cy="441887"/>
          </a:xfrm>
          <a:prstGeom prst="rect">
            <a:avLst/>
          </a:prstGeom>
        </p:spPr>
      </p:pic>
      <p:pic>
        <p:nvPicPr>
          <p:cNvPr id="32" name="Picture 2" descr="https://www.iau-hesd.net/sites/default/files/styles/medium/public/media_logo/western_caspian_university.jpg?itok=s4WTrk6k"/>
          <p:cNvPicPr>
            <a:picLocks noChangeAspect="1" noChangeArrowheads="1"/>
          </p:cNvPicPr>
          <p:nvPr userDrawn="1"/>
        </p:nvPicPr>
        <p:blipFill>
          <a:blip r:embed="rId18" cstate="print"/>
          <a:srcRect/>
          <a:stretch>
            <a:fillRect/>
          </a:stretch>
        </p:blipFill>
        <p:spPr bwMode="auto">
          <a:xfrm>
            <a:off x="3851920" y="3718029"/>
            <a:ext cx="720080" cy="749323"/>
          </a:xfrm>
          <a:prstGeom prst="rect">
            <a:avLst/>
          </a:prstGeom>
          <a:noFill/>
        </p:spPr>
      </p:pic>
      <p:pic>
        <p:nvPicPr>
          <p:cNvPr id="33" name="Picture 2" descr="https://avatars.mds.yandex.net/get-altay/11886651/2a0000018defa513b9203394e9330d10fd54/XXL_height"/>
          <p:cNvPicPr>
            <a:picLocks noChangeAspect="1" noChangeArrowheads="1"/>
          </p:cNvPicPr>
          <p:nvPr userDrawn="1"/>
        </p:nvPicPr>
        <p:blipFill>
          <a:blip r:embed="rId19" cstate="print"/>
          <a:srcRect l="11628" r="27907" b="6378"/>
          <a:stretch>
            <a:fillRect/>
          </a:stretch>
        </p:blipFill>
        <p:spPr bwMode="auto">
          <a:xfrm>
            <a:off x="251520" y="1347613"/>
            <a:ext cx="3096344" cy="3600401"/>
          </a:xfrm>
          <a:prstGeom prst="rect">
            <a:avLst/>
          </a:prstGeom>
          <a:noFill/>
          <a:effectLst>
            <a:softEdge rad="31750"/>
          </a:effectLst>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ur Titel">
    <p:spTree>
      <p:nvGrpSpPr>
        <p:cNvPr id="1" name=""/>
        <p:cNvGrpSpPr/>
        <p:nvPr/>
      </p:nvGrpSpPr>
      <p:grpSpPr>
        <a:xfrm>
          <a:off x="0" y="0"/>
          <a:ext cx="0" cy="0"/>
          <a:chOff x="0" y="0"/>
          <a:chExt cx="0" cy="0"/>
        </a:xfrm>
      </p:grpSpPr>
      <p:sp>
        <p:nvSpPr>
          <p:cNvPr id="6" name="Rectangle 2"/>
          <p:cNvSpPr>
            <a:spLocks noGrp="1" noChangeArrowheads="1"/>
          </p:cNvSpPr>
          <p:nvPr>
            <p:ph type="title"/>
          </p:nvPr>
        </p:nvSpPr>
        <p:spPr bwMode="auto">
          <a:xfrm rot="16200000">
            <a:off x="-1625922" y="2576982"/>
            <a:ext cx="4176465"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Tree>
    <p:extLst>
      <p:ext uri="{BB962C8B-B14F-4D97-AF65-F5344CB8AC3E}">
        <p14:creationId xmlns:p14="http://schemas.microsoft.com/office/powerpoint/2010/main" val="180377243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theme" Target="../theme/theme2.xml"/><Relationship Id="rId1" Type="http://schemas.openxmlformats.org/officeDocument/2006/relationships/slideLayout" Target="../slideLayouts/slideLayout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0" y="824640"/>
            <a:ext cx="9144000" cy="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a:off x="0" y="1"/>
            <a:ext cx="9144000" cy="815024"/>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9" name="Abgerundetes Rechteck 8"/>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2"/>
          <p:cNvSpPr>
            <a:spLocks noGrp="1" noChangeArrowheads="1"/>
          </p:cNvSpPr>
          <p:nvPr userDrawn="1">
            <p:ph type="title"/>
          </p:nvPr>
        </p:nvSpPr>
        <p:spPr bwMode="auto">
          <a:xfrm>
            <a:off x="971600" y="52707"/>
            <a:ext cx="8064896"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pic>
        <p:nvPicPr>
          <p:cNvPr id="28674" name="Picture 2" descr="https://cdn-static.bizzabo.com/bizzabo.users.files/zG7zRd0nS5WvqOWKrgQP_Western%20Caspian%20University%20black.png"/>
          <p:cNvPicPr>
            <a:picLocks noChangeAspect="1" noChangeArrowheads="1"/>
          </p:cNvPicPr>
          <p:nvPr userDrawn="1"/>
        </p:nvPicPr>
        <p:blipFill>
          <a:blip r:embed="rId6" cstate="print"/>
          <a:srcRect r="81904"/>
          <a:stretch>
            <a:fillRect/>
          </a:stretch>
        </p:blipFill>
        <p:spPr bwMode="auto">
          <a:xfrm>
            <a:off x="200323" y="176258"/>
            <a:ext cx="504056" cy="457237"/>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4" r:id="rId2"/>
    <p:sldLayoutId id="2147483655" r:id="rId3"/>
    <p:sldLayoutId id="2147483656" r:id="rId4"/>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8" name="Line 12"/>
          <p:cNvSpPr>
            <a:spLocks noChangeShapeType="1"/>
          </p:cNvSpPr>
          <p:nvPr userDrawn="1"/>
        </p:nvSpPr>
        <p:spPr bwMode="auto">
          <a:xfrm>
            <a:off x="912292" y="0"/>
            <a:ext cx="0" cy="5143500"/>
          </a:xfrm>
          <a:prstGeom prst="line">
            <a:avLst/>
          </a:prstGeom>
          <a:noFill/>
          <a:ln w="38100">
            <a:solidFill>
              <a:schemeClr val="tx2">
                <a:lumMod val="20000"/>
                <a:lumOff val="80000"/>
              </a:schemeClr>
            </a:solidFill>
            <a:round/>
            <a:headEnd/>
            <a:tailEnd/>
          </a:ln>
          <a:effectLst/>
        </p:spPr>
        <p:txBody>
          <a:bodyPr/>
          <a:lstStyle/>
          <a:p>
            <a:pPr>
              <a:defRPr/>
            </a:pPr>
            <a:endParaRPr lang="de-DE"/>
          </a:p>
        </p:txBody>
      </p:sp>
      <p:sp>
        <p:nvSpPr>
          <p:cNvPr id="7" name="Rectangle 7"/>
          <p:cNvSpPr>
            <a:spLocks noChangeArrowheads="1"/>
          </p:cNvSpPr>
          <p:nvPr userDrawn="1"/>
        </p:nvSpPr>
        <p:spPr bwMode="invGray">
          <a:xfrm rot="16200000">
            <a:off x="-2121954" y="2121954"/>
            <a:ext cx="5143500" cy="899592"/>
          </a:xfrm>
          <a:prstGeom prst="rect">
            <a:avLst/>
          </a:prstGeom>
          <a:solidFill>
            <a:schemeClr val="tx2"/>
          </a:solidFill>
          <a:ln w="9525">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prst="coolSlant"/>
          </a:sp3d>
        </p:spPr>
        <p:txBody>
          <a:bodyPr wrap="none" anchor="ctr"/>
          <a:lstStyle/>
          <a:p>
            <a:pPr>
              <a:defRPr/>
            </a:pPr>
            <a:endParaRPr lang="de-DE"/>
          </a:p>
        </p:txBody>
      </p:sp>
      <p:sp>
        <p:nvSpPr>
          <p:cNvPr id="11" name="Rectangle 2"/>
          <p:cNvSpPr>
            <a:spLocks noGrp="1" noChangeArrowheads="1"/>
          </p:cNvSpPr>
          <p:nvPr userDrawn="1">
            <p:ph type="title"/>
          </p:nvPr>
        </p:nvSpPr>
        <p:spPr bwMode="auto">
          <a:xfrm rot="16200000">
            <a:off x="-1625922" y="2576982"/>
            <a:ext cx="4176465" cy="70961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de-DE" dirty="0"/>
              <a:t>Titelmasterformat durch Klicken bearbeiten</a:t>
            </a:r>
          </a:p>
        </p:txBody>
      </p:sp>
      <p:sp>
        <p:nvSpPr>
          <p:cNvPr id="2" name="Abgerundetes Rechteck 8">
            <a:extLst>
              <a:ext uri="{FF2B5EF4-FFF2-40B4-BE49-F238E27FC236}">
                <a16:creationId xmlns:a16="http://schemas.microsoft.com/office/drawing/2014/main" id="{CB476D70-CC7A-0E15-4DCA-617D9D155DAD}"/>
              </a:ext>
            </a:extLst>
          </p:cNvPr>
          <p:cNvSpPr/>
          <p:nvPr userDrawn="1"/>
        </p:nvSpPr>
        <p:spPr>
          <a:xfrm>
            <a:off x="118693" y="105507"/>
            <a:ext cx="667317" cy="598738"/>
          </a:xfrm>
          <a:prstGeom prst="roundRect">
            <a:avLst>
              <a:gd name="adj" fmla="val 9178"/>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2" descr="https://cdn-static.bizzabo.com/bizzabo.users.files/zG7zRd0nS5WvqOWKrgQP_Western%20Caspian%20University%20black.png">
            <a:extLst>
              <a:ext uri="{FF2B5EF4-FFF2-40B4-BE49-F238E27FC236}">
                <a16:creationId xmlns:a16="http://schemas.microsoft.com/office/drawing/2014/main" id="{90F55BBB-FA01-275C-9BB9-74614B672428}"/>
              </a:ext>
            </a:extLst>
          </p:cNvPr>
          <p:cNvPicPr>
            <a:picLocks noChangeAspect="1" noChangeArrowheads="1"/>
          </p:cNvPicPr>
          <p:nvPr userDrawn="1"/>
        </p:nvPicPr>
        <p:blipFill>
          <a:blip r:embed="rId3" cstate="print"/>
          <a:srcRect r="81904"/>
          <a:stretch>
            <a:fillRect/>
          </a:stretch>
        </p:blipFill>
        <p:spPr bwMode="auto">
          <a:xfrm>
            <a:off x="200323" y="176258"/>
            <a:ext cx="504056" cy="457237"/>
          </a:xfrm>
          <a:prstGeom prst="rect">
            <a:avLst/>
          </a:prstGeom>
          <a:noFill/>
        </p:spPr>
      </p:pic>
    </p:spTree>
    <p:extLst>
      <p:ext uri="{BB962C8B-B14F-4D97-AF65-F5344CB8AC3E}">
        <p14:creationId xmlns:p14="http://schemas.microsoft.com/office/powerpoint/2010/main" val="2558401982"/>
      </p:ext>
    </p:extLst>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spcBef>
          <a:spcPct val="0"/>
        </a:spcBef>
        <a:buNone/>
        <a:defRPr sz="20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9.gif"/><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30.gif"/><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en-US" noProof="0" dirty="0"/>
              <a:t>Computational Biomathematics</a:t>
            </a:r>
          </a:p>
        </p:txBody>
      </p:sp>
      <p:sp>
        <p:nvSpPr>
          <p:cNvPr id="3" name="Untertitel 2"/>
          <p:cNvSpPr>
            <a:spLocks noGrp="1"/>
          </p:cNvSpPr>
          <p:nvPr>
            <p:ph type="subTitle" idx="1"/>
          </p:nvPr>
        </p:nvSpPr>
        <p:spPr/>
        <p:txBody>
          <a:bodyPr/>
          <a:lstStyle/>
          <a:p>
            <a:endParaRPr lang="en-US" noProof="0" dirty="0"/>
          </a:p>
          <a:p>
            <a:r>
              <a:rPr lang="en-US" noProof="0" dirty="0"/>
              <a:t>Applications of Multi-Agent Ecosystem Modeling &amp; Simulation</a:t>
            </a:r>
          </a:p>
          <a:p>
            <a:endParaRPr lang="en-US" sz="500" noProof="0" dirty="0"/>
          </a:p>
          <a:p>
            <a:r>
              <a:rPr lang="en-US" noProof="0" dirty="0"/>
              <a:t>Lesson 4 (part 1)</a:t>
            </a:r>
          </a:p>
        </p:txBody>
      </p:sp>
      <p:sp>
        <p:nvSpPr>
          <p:cNvPr id="4" name="Rechteck 3"/>
          <p:cNvSpPr/>
          <p:nvPr/>
        </p:nvSpPr>
        <p:spPr>
          <a:xfrm>
            <a:off x="7092280" y="3291830"/>
            <a:ext cx="1800200" cy="171715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t"/>
          <a:lstStyle/>
          <a:p>
            <a:pPr marL="177800" lvl="1" indent="-177800">
              <a:spcAft>
                <a:spcPts val="400"/>
              </a:spcAft>
              <a:buFont typeface="Arial" pitchFamily="34" charset="0"/>
              <a:buChar char="•"/>
            </a:pPr>
            <a:r>
              <a:rPr lang="en-US" sz="1200" noProof="0" dirty="0">
                <a:solidFill>
                  <a:schemeClr val="tx1"/>
                </a:solidFill>
              </a:rPr>
              <a:t>Loss of alpha-predators</a:t>
            </a:r>
          </a:p>
          <a:p>
            <a:pPr marL="177800" lvl="1" indent="-177800">
              <a:spcAft>
                <a:spcPts val="400"/>
              </a:spcAft>
              <a:buFont typeface="Arial" pitchFamily="34" charset="0"/>
              <a:buChar char="•"/>
            </a:pPr>
            <a:r>
              <a:rPr lang="en-US" sz="1200" noProof="0" dirty="0">
                <a:solidFill>
                  <a:schemeClr val="tx1"/>
                </a:solidFill>
              </a:rPr>
              <a:t>Effects of invasive species</a:t>
            </a:r>
          </a:p>
          <a:p>
            <a:pPr marL="177800" lvl="1" indent="-177800">
              <a:spcAft>
                <a:spcPts val="400"/>
              </a:spcAft>
              <a:buFont typeface="Arial" pitchFamily="34" charset="0"/>
              <a:buChar char="•"/>
            </a:pPr>
            <a:r>
              <a:rPr lang="en-US" sz="1200" noProof="0" dirty="0">
                <a:solidFill>
                  <a:schemeClr val="tx1">
                    <a:lumMod val="50000"/>
                    <a:lumOff val="50000"/>
                  </a:schemeClr>
                </a:solidFill>
              </a:rPr>
              <a:t>A trisexual nematode</a:t>
            </a:r>
          </a:p>
          <a:p>
            <a:pPr marL="177800" lvl="1" indent="-177800">
              <a:spcAft>
                <a:spcPts val="400"/>
              </a:spcAft>
              <a:buFont typeface="Arial" pitchFamily="34" charset="0"/>
              <a:buChar char="•"/>
            </a:pPr>
            <a:r>
              <a:rPr lang="en-US" sz="1200" noProof="0" dirty="0">
                <a:solidFill>
                  <a:schemeClr val="tx1">
                    <a:lumMod val="50000"/>
                    <a:lumOff val="50000"/>
                  </a:schemeClr>
                </a:solidFill>
              </a:rPr>
              <a:t>Tobacco plant &amp; insect dynamics</a:t>
            </a:r>
          </a:p>
        </p:txBody>
      </p:sp>
      <p:sp>
        <p:nvSpPr>
          <p:cNvPr id="5" name="Rechteck 4"/>
          <p:cNvSpPr/>
          <p:nvPr/>
        </p:nvSpPr>
        <p:spPr>
          <a:xfrm>
            <a:off x="7092280" y="2931790"/>
            <a:ext cx="1800200" cy="288032"/>
          </a:xfrm>
          <a:prstGeom prst="rect">
            <a:avLst/>
          </a:prstGeom>
          <a:solidFill>
            <a:schemeClr val="tx2"/>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noProof="0" dirty="0"/>
              <a:t>Lecture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94138-1540-6BED-2497-7D82A4D3109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11D2C19-0BCF-B8A7-1628-B709FCEC8084}"/>
              </a:ext>
            </a:extLst>
          </p:cNvPr>
          <p:cNvSpPr/>
          <p:nvPr/>
        </p:nvSpPr>
        <p:spPr>
          <a:xfrm>
            <a:off x="971600" y="1563638"/>
            <a:ext cx="432048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46E2208D-9F59-E9AC-FADA-844F20F78242}"/>
              </a:ext>
            </a:extLst>
          </p:cNvPr>
          <p:cNvSpPr txBox="1"/>
          <p:nvPr/>
        </p:nvSpPr>
        <p:spPr>
          <a:xfrm>
            <a:off x="971600" y="1131590"/>
            <a:ext cx="3718775" cy="2462213"/>
          </a:xfrm>
          <a:prstGeom prst="rect">
            <a:avLst/>
          </a:prstGeom>
          <a:noFill/>
        </p:spPr>
        <p:txBody>
          <a:bodyPr wrap="none" rtlCol="0">
            <a:spAutoFit/>
          </a:bodyPr>
          <a:lstStyle/>
          <a:p>
            <a:r>
              <a:rPr lang="en-US" b="1" noProof="0" dirty="0"/>
              <a:t>Topics</a:t>
            </a:r>
          </a:p>
          <a:p>
            <a:endParaRPr lang="en-US" sz="1000" noProof="0" dirty="0"/>
          </a:p>
          <a:p>
            <a:pPr lvl="1"/>
            <a:r>
              <a:rPr lang="en-US" b="1" noProof="0" dirty="0"/>
              <a:t>Loss of Alpha-Predators</a:t>
            </a:r>
          </a:p>
          <a:p>
            <a:pPr lvl="1"/>
            <a:endParaRPr lang="en-US" noProof="0" dirty="0"/>
          </a:p>
          <a:p>
            <a:pPr lvl="1"/>
            <a:r>
              <a:rPr lang="en-US" noProof="0" dirty="0"/>
              <a:t>Effects of Invasive Species</a:t>
            </a:r>
          </a:p>
          <a:p>
            <a:pPr lvl="1"/>
            <a:endParaRPr lang="en-US" noProof="0" dirty="0"/>
          </a:p>
          <a:p>
            <a:pPr lvl="1"/>
            <a:r>
              <a:rPr lang="en-US" noProof="0" dirty="0">
                <a:solidFill>
                  <a:schemeClr val="tx1">
                    <a:lumMod val="50000"/>
                    <a:lumOff val="50000"/>
                  </a:schemeClr>
                </a:solidFill>
              </a:rPr>
              <a:t>A Trisexual Nematode</a:t>
            </a:r>
          </a:p>
          <a:p>
            <a:pPr lvl="1"/>
            <a:endParaRPr lang="en-US" noProof="0" dirty="0"/>
          </a:p>
          <a:p>
            <a:pPr lvl="1"/>
            <a:r>
              <a:rPr lang="en-US" noProof="0" dirty="0">
                <a:solidFill>
                  <a:schemeClr val="tx1">
                    <a:lumMod val="50000"/>
                    <a:lumOff val="50000"/>
                  </a:schemeClr>
                </a:solidFill>
              </a:rPr>
              <a:t>Tobacco Plant &amp; Insect Dynamics</a:t>
            </a:r>
          </a:p>
        </p:txBody>
      </p:sp>
      <p:pic>
        <p:nvPicPr>
          <p:cNvPr id="4" name="Picture 4" descr="Du betrachtest gerade Yellowstone Nationalpark – Unser umfassender Guide">
            <a:extLst>
              <a:ext uri="{FF2B5EF4-FFF2-40B4-BE49-F238E27FC236}">
                <a16:creationId xmlns:a16="http://schemas.microsoft.com/office/drawing/2014/main" id="{5E1B183C-ACCF-9803-1EDA-6ACB97364A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10" r="17310"/>
          <a:stretch>
            <a:fillRect/>
          </a:stretch>
        </p:blipFill>
        <p:spPr bwMode="auto">
          <a:xfrm>
            <a:off x="5508400" y="1131590"/>
            <a:ext cx="3384080" cy="301737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The wolf does not belong here': German summit convened after animal attacks  | Endangered species | The Guardian">
            <a:extLst>
              <a:ext uri="{FF2B5EF4-FFF2-40B4-BE49-F238E27FC236}">
                <a16:creationId xmlns:a16="http://schemas.microsoft.com/office/drawing/2014/main" id="{4CD72EF5-316D-FA64-AC3A-D81CA2FC2FE3}"/>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617761" y="1203598"/>
            <a:ext cx="1203598" cy="1203598"/>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sp>
        <p:nvSpPr>
          <p:cNvPr id="6" name="Textfeld 5">
            <a:extLst>
              <a:ext uri="{FF2B5EF4-FFF2-40B4-BE49-F238E27FC236}">
                <a16:creationId xmlns:a16="http://schemas.microsoft.com/office/drawing/2014/main" id="{622E31D6-CCD3-9BDA-2F51-443C65B9ED11}"/>
              </a:ext>
            </a:extLst>
          </p:cNvPr>
          <p:cNvSpPr txBox="1"/>
          <p:nvPr/>
        </p:nvSpPr>
        <p:spPr>
          <a:xfrm>
            <a:off x="5508104" y="4232418"/>
            <a:ext cx="1808444" cy="276999"/>
          </a:xfrm>
          <a:prstGeom prst="rect">
            <a:avLst/>
          </a:prstGeom>
          <a:noFill/>
        </p:spPr>
        <p:txBody>
          <a:bodyPr wrap="none" rtlCol="0">
            <a:spAutoFit/>
          </a:bodyPr>
          <a:lstStyle/>
          <a:p>
            <a:r>
              <a:rPr lang="en-US" sz="1200" noProof="0" dirty="0"/>
              <a:t>Yellowstone National Park</a:t>
            </a:r>
          </a:p>
        </p:txBody>
      </p:sp>
    </p:spTree>
    <p:extLst>
      <p:ext uri="{BB962C8B-B14F-4D97-AF65-F5344CB8AC3E}">
        <p14:creationId xmlns:p14="http://schemas.microsoft.com/office/powerpoint/2010/main" val="29815440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BA769D4-EA72-7C3D-9125-5B0619DF8978}"/>
              </a:ext>
            </a:extLst>
          </p:cNvPr>
          <p:cNvSpPr>
            <a:spLocks noGrp="1"/>
          </p:cNvSpPr>
          <p:nvPr>
            <p:ph type="title"/>
          </p:nvPr>
        </p:nvSpPr>
        <p:spPr/>
        <p:txBody>
          <a:bodyPr/>
          <a:lstStyle/>
          <a:p>
            <a:r>
              <a:rPr lang="en-US" noProof="0" dirty="0"/>
              <a:t>How wolves became gardeners</a:t>
            </a:r>
          </a:p>
        </p:txBody>
      </p:sp>
      <p:pic>
        <p:nvPicPr>
          <p:cNvPr id="1028" name="Picture 4" descr="Du betrachtest gerade Yellowstone Nationalpark – Unser umfassender Guide">
            <a:extLst>
              <a:ext uri="{FF2B5EF4-FFF2-40B4-BE49-F238E27FC236}">
                <a16:creationId xmlns:a16="http://schemas.microsoft.com/office/drawing/2014/main" id="{3F4E93D9-B644-FB21-DF3D-F1C571CC7C4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23810" r="17310"/>
          <a:stretch>
            <a:fillRect/>
          </a:stretch>
        </p:blipFill>
        <p:spPr bwMode="auto">
          <a:xfrm>
            <a:off x="251816" y="1131590"/>
            <a:ext cx="3384080" cy="3017379"/>
          </a:xfrm>
          <a:prstGeom prst="rect">
            <a:avLst/>
          </a:prstGeom>
          <a:noFill/>
          <a:extLst>
            <a:ext uri="{909E8E84-426E-40DD-AFC4-6F175D3DCCD1}">
              <a14:hiddenFill xmlns:a14="http://schemas.microsoft.com/office/drawing/2010/main">
                <a:solidFill>
                  <a:srgbClr val="FFFFFF"/>
                </a:solidFill>
              </a14:hiddenFill>
            </a:ext>
          </a:extLst>
        </p:spPr>
      </p:pic>
      <p:sp>
        <p:nvSpPr>
          <p:cNvPr id="3" name="Rechteck 2">
            <a:extLst>
              <a:ext uri="{FF2B5EF4-FFF2-40B4-BE49-F238E27FC236}">
                <a16:creationId xmlns:a16="http://schemas.microsoft.com/office/drawing/2014/main" id="{0DD752A6-C115-EFB8-C3F9-02EFE19BC0D5}"/>
              </a:ext>
            </a:extLst>
          </p:cNvPr>
          <p:cNvSpPr/>
          <p:nvPr/>
        </p:nvSpPr>
        <p:spPr>
          <a:xfrm>
            <a:off x="3851920" y="1131590"/>
            <a:ext cx="5040264"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By the mid-1900’s (grey) wolves had been nearly eliminated from Yellowstone National Park. In 1995, the park moved forward with a plan to reintroduce wolves to the area.</a:t>
            </a:r>
          </a:p>
          <a:p>
            <a:pPr algn="just">
              <a:spcAft>
                <a:spcPts val="600"/>
              </a:spcAft>
            </a:pPr>
            <a:r>
              <a:rPr lang="en-US" sz="1400" noProof="0" dirty="0">
                <a:solidFill>
                  <a:schemeClr val="tx1"/>
                </a:solidFill>
              </a:rPr>
              <a:t>Biologists assumed that the new wolve population would of course affect the food chain and lead to impacts on the total number of prey species.</a:t>
            </a:r>
          </a:p>
          <a:p>
            <a:pPr algn="just">
              <a:spcAft>
                <a:spcPts val="600"/>
              </a:spcAft>
            </a:pPr>
            <a:r>
              <a:rPr lang="en-US" sz="1400" noProof="0" dirty="0">
                <a:solidFill>
                  <a:schemeClr val="tx1"/>
                </a:solidFill>
              </a:rPr>
              <a:t>What they observed was even more interesting: groves and other collections of trees and bushes started to emerge, and forests expanded boundaries while the percentage of grassland declined a bit. This transformation seemed to bring the park back to a state before seeing wolves as unwanted animals and hunting them by purpose.</a:t>
            </a:r>
          </a:p>
          <a:p>
            <a:pPr algn="just">
              <a:spcAft>
                <a:spcPts val="600"/>
              </a:spcAft>
            </a:pPr>
            <a:r>
              <a:rPr lang="en-US" sz="1400" noProof="0" dirty="0">
                <a:solidFill>
                  <a:schemeClr val="tx1"/>
                </a:solidFill>
              </a:rPr>
              <a:t>The park concluded that wolves kept large herbivores, like bison, from grassing too long at one spot and hence  suppressing the growth of larger bushes and trees. The bison started to move around the park more to avoid being to close to wolves.</a:t>
            </a:r>
          </a:p>
        </p:txBody>
      </p:sp>
      <p:sp>
        <p:nvSpPr>
          <p:cNvPr id="4" name="Textfeld 3">
            <a:extLst>
              <a:ext uri="{FF2B5EF4-FFF2-40B4-BE49-F238E27FC236}">
                <a16:creationId xmlns:a16="http://schemas.microsoft.com/office/drawing/2014/main" id="{8C67A585-6304-30C4-99EB-4CD9F6BD5D8C}"/>
              </a:ext>
            </a:extLst>
          </p:cNvPr>
          <p:cNvSpPr txBox="1"/>
          <p:nvPr/>
        </p:nvSpPr>
        <p:spPr>
          <a:xfrm>
            <a:off x="251520" y="4232418"/>
            <a:ext cx="1808444" cy="276999"/>
          </a:xfrm>
          <a:prstGeom prst="rect">
            <a:avLst/>
          </a:prstGeom>
          <a:noFill/>
        </p:spPr>
        <p:txBody>
          <a:bodyPr wrap="none" rtlCol="0">
            <a:spAutoFit/>
          </a:bodyPr>
          <a:lstStyle/>
          <a:p>
            <a:r>
              <a:rPr lang="en-US" sz="1200" noProof="0" dirty="0"/>
              <a:t>Yellowstone National Park</a:t>
            </a:r>
          </a:p>
        </p:txBody>
      </p:sp>
      <p:sp>
        <p:nvSpPr>
          <p:cNvPr id="6" name="Textfeld 5">
            <a:extLst>
              <a:ext uri="{FF2B5EF4-FFF2-40B4-BE49-F238E27FC236}">
                <a16:creationId xmlns:a16="http://schemas.microsoft.com/office/drawing/2014/main" id="{76EAD21E-C3F1-97E6-5C5A-F5502622AB31}"/>
              </a:ext>
            </a:extLst>
          </p:cNvPr>
          <p:cNvSpPr txBox="1"/>
          <p:nvPr/>
        </p:nvSpPr>
        <p:spPr>
          <a:xfrm>
            <a:off x="4499992" y="843558"/>
            <a:ext cx="4635304" cy="215444"/>
          </a:xfrm>
          <a:prstGeom prst="rect">
            <a:avLst/>
          </a:prstGeom>
          <a:noFill/>
        </p:spPr>
        <p:txBody>
          <a:bodyPr wrap="square">
            <a:spAutoFit/>
          </a:bodyPr>
          <a:lstStyle/>
          <a:p>
            <a:pPr algn="r"/>
            <a:r>
              <a:rPr lang="en-US" sz="800" noProof="0" dirty="0"/>
              <a:t>https://herofortheplanet.org/wolf-coexistence/explore/yellowstone-without-wolves/</a:t>
            </a:r>
          </a:p>
        </p:txBody>
      </p:sp>
      <p:pic>
        <p:nvPicPr>
          <p:cNvPr id="1026" name="Picture 2" descr="The wolf does not belong here': German summit convened after animal attacks  | Endangered species | The Guardian">
            <a:extLst>
              <a:ext uri="{FF2B5EF4-FFF2-40B4-BE49-F238E27FC236}">
                <a16:creationId xmlns:a16="http://schemas.microsoft.com/office/drawing/2014/main" id="{6228BC63-2C22-C704-CFCA-C84413441AD9}"/>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61177" y="1203598"/>
            <a:ext cx="1203598" cy="1203598"/>
          </a:xfrm>
          <a:prstGeom prst="rect">
            <a:avLst/>
          </a:prstGeom>
          <a:noFill/>
          <a:ln w="38100">
            <a:solidFill>
              <a:schemeClr val="bg1"/>
            </a:solid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38465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BADFD-B493-5D84-0919-4C8E08B83AC9}"/>
            </a:ext>
          </a:extLst>
        </p:cNvPr>
        <p:cNvGrpSpPr/>
        <p:nvPr/>
      </p:nvGrpSpPr>
      <p:grpSpPr>
        <a:xfrm>
          <a:off x="0" y="0"/>
          <a:ext cx="0" cy="0"/>
          <a:chOff x="0" y="0"/>
          <a:chExt cx="0" cy="0"/>
        </a:xfrm>
      </p:grpSpPr>
      <p:sp>
        <p:nvSpPr>
          <p:cNvPr id="37" name="Rechteck 36">
            <a:extLst>
              <a:ext uri="{FF2B5EF4-FFF2-40B4-BE49-F238E27FC236}">
                <a16:creationId xmlns:a16="http://schemas.microsoft.com/office/drawing/2014/main" id="{26F8D09E-A655-C03A-3A33-0C9980A1CD1B}"/>
              </a:ext>
            </a:extLst>
          </p:cNvPr>
          <p:cNvSpPr/>
          <p:nvPr/>
        </p:nvSpPr>
        <p:spPr>
          <a:xfrm>
            <a:off x="8122760" y="1203598"/>
            <a:ext cx="697711" cy="724851"/>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hteck 31">
            <a:extLst>
              <a:ext uri="{FF2B5EF4-FFF2-40B4-BE49-F238E27FC236}">
                <a16:creationId xmlns:a16="http://schemas.microsoft.com/office/drawing/2014/main" id="{A167B1B6-8C66-9D53-C5F0-E1ACA294006E}"/>
              </a:ext>
            </a:extLst>
          </p:cNvPr>
          <p:cNvSpPr/>
          <p:nvPr/>
        </p:nvSpPr>
        <p:spPr>
          <a:xfrm>
            <a:off x="6400778" y="1928451"/>
            <a:ext cx="1036445" cy="720070"/>
          </a:xfrm>
          <a:prstGeom prst="rect">
            <a:avLst/>
          </a:prstGeom>
          <a:solidFill>
            <a:srgbClr val="00B05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el 1">
            <a:extLst>
              <a:ext uri="{FF2B5EF4-FFF2-40B4-BE49-F238E27FC236}">
                <a16:creationId xmlns:a16="http://schemas.microsoft.com/office/drawing/2014/main" id="{A78060CF-334D-8D8C-D50F-812918D752DD}"/>
              </a:ext>
            </a:extLst>
          </p:cNvPr>
          <p:cNvSpPr>
            <a:spLocks noGrp="1"/>
          </p:cNvSpPr>
          <p:nvPr>
            <p:ph type="title"/>
          </p:nvPr>
        </p:nvSpPr>
        <p:spPr/>
        <p:txBody>
          <a:bodyPr/>
          <a:lstStyle/>
          <a:p>
            <a:r>
              <a:rPr lang="en-US" noProof="0" dirty="0"/>
              <a:t>The conceptual model:</a:t>
            </a:r>
            <a:br>
              <a:rPr lang="en-US" noProof="0" dirty="0"/>
            </a:br>
            <a:r>
              <a:rPr lang="en-US" noProof="0" dirty="0"/>
              <a:t>Multi-agent design (1/ 3)</a:t>
            </a:r>
          </a:p>
        </p:txBody>
      </p:sp>
      <p:sp>
        <p:nvSpPr>
          <p:cNvPr id="3" name="Rechteck 2">
            <a:extLst>
              <a:ext uri="{FF2B5EF4-FFF2-40B4-BE49-F238E27FC236}">
                <a16:creationId xmlns:a16="http://schemas.microsoft.com/office/drawing/2014/main" id="{6D33ACE9-E936-E8D0-5C1A-D50DAAB6873E}"/>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4BB212DC-B120-E37D-FB3F-B82DEF8423C9}"/>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95C55DBF-AF0E-2921-B4C6-EBFEABDC431D}"/>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B2A6EA71-F516-3147-7F1D-D83558D77E34}"/>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61619860-F676-4356-D767-53578EED55F6}"/>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D666138B-FD46-7353-3A8A-E51FCEEDA176}"/>
              </a:ext>
            </a:extLst>
          </p:cNvPr>
          <p:cNvSpPr/>
          <p:nvPr/>
        </p:nvSpPr>
        <p:spPr>
          <a:xfrm>
            <a:off x="1691681" y="1131590"/>
            <a:ext cx="4174814"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Movement Rules:</a:t>
            </a:r>
            <a:r>
              <a:rPr lang="en-US" sz="1400" noProof="0" dirty="0">
                <a:solidFill>
                  <a:schemeClr val="tx1"/>
                </a:solidFill>
              </a:rPr>
              <a:t> We assume that</a:t>
            </a:r>
          </a:p>
          <a:p>
            <a:pPr marL="182563" indent="-182563" algn="just">
              <a:spcAft>
                <a:spcPts val="600"/>
              </a:spcAft>
              <a:buFont typeface="Arial" panose="020B0604020202020204" pitchFamily="34" charset="0"/>
              <a:buChar char="•"/>
            </a:pPr>
            <a:r>
              <a:rPr lang="en-US" sz="1400" noProof="0" dirty="0">
                <a:solidFill>
                  <a:schemeClr val="tx1"/>
                </a:solidFill>
              </a:rPr>
              <a:t>there are two species interacting: wolves (W) and bison (B),</a:t>
            </a:r>
          </a:p>
          <a:p>
            <a:pPr marL="182563" indent="-182563" algn="just">
              <a:spcAft>
                <a:spcPts val="600"/>
              </a:spcAft>
              <a:buFont typeface="Arial" panose="020B0604020202020204" pitchFamily="34" charset="0"/>
              <a:buChar char="•"/>
            </a:pPr>
            <a:r>
              <a:rPr lang="en-US" sz="1400" noProof="0" dirty="0">
                <a:solidFill>
                  <a:schemeClr val="tx1"/>
                </a:solidFill>
              </a:rPr>
              <a:t>the geography is represented by a toroidal lattice with two distinct cell types: grass land (G) and forest (F),</a:t>
            </a:r>
          </a:p>
          <a:p>
            <a:pPr marL="182563" indent="-182563" algn="just">
              <a:spcAft>
                <a:spcPts val="600"/>
              </a:spcAft>
              <a:buFont typeface="Arial" panose="020B0604020202020204" pitchFamily="34" charset="0"/>
              <a:buChar char="•"/>
            </a:pPr>
            <a:r>
              <a:rPr lang="en-US" sz="1400" noProof="0" dirty="0">
                <a:solidFill>
                  <a:schemeClr val="tx1"/>
                </a:solidFill>
              </a:rPr>
              <a:t>bison moves only in and between grassland cells, whereas wolves can move in and between all two cell types,</a:t>
            </a:r>
          </a:p>
          <a:p>
            <a:pPr marL="182563" indent="-182563" algn="just">
              <a:spcAft>
                <a:spcPts val="600"/>
              </a:spcAft>
              <a:buFont typeface="Arial" panose="020B0604020202020204" pitchFamily="34" charset="0"/>
              <a:buChar char="•"/>
            </a:pPr>
            <a:r>
              <a:rPr lang="en-US" sz="1400" noProof="0" dirty="0">
                <a:solidFill>
                  <a:schemeClr val="tx1"/>
                </a:solidFill>
              </a:rPr>
              <a:t>movement is, if only permitted, north, east, south, or west, and</a:t>
            </a:r>
          </a:p>
          <a:p>
            <a:pPr marL="182563" indent="-182563" algn="just">
              <a:spcAft>
                <a:spcPts val="600"/>
              </a:spcAft>
              <a:buFont typeface="Arial" panose="020B0604020202020204" pitchFamily="34" charset="0"/>
              <a:buChar char="•"/>
            </a:pPr>
            <a:r>
              <a:rPr lang="en-US" sz="1400" noProof="0" dirty="0">
                <a:solidFill>
                  <a:schemeClr val="tx1"/>
                </a:solidFill>
              </a:rPr>
              <a:t>generally, at most one wolf or at most one bison can occupy a permitted cell, if at one time step there are more than one individual are occupying a cell then this needs to be resolved before the next time step.</a:t>
            </a:r>
          </a:p>
        </p:txBody>
      </p:sp>
      <p:grpSp>
        <p:nvGrpSpPr>
          <p:cNvPr id="31" name="Gruppieren 30">
            <a:extLst>
              <a:ext uri="{FF2B5EF4-FFF2-40B4-BE49-F238E27FC236}">
                <a16:creationId xmlns:a16="http://schemas.microsoft.com/office/drawing/2014/main" id="{13DB0ECC-EBEB-31CA-A56D-160DB5E13CAE}"/>
              </a:ext>
            </a:extLst>
          </p:cNvPr>
          <p:cNvGrpSpPr/>
          <p:nvPr/>
        </p:nvGrpSpPr>
        <p:grpSpPr>
          <a:xfrm>
            <a:off x="6058345" y="1203598"/>
            <a:ext cx="2762127" cy="2170707"/>
            <a:chOff x="6031729" y="1841203"/>
            <a:chExt cx="2762127" cy="2170707"/>
          </a:xfrm>
        </p:grpSpPr>
        <p:sp>
          <p:nvSpPr>
            <p:cNvPr id="10" name="Rechteck 9">
              <a:extLst>
                <a:ext uri="{FF2B5EF4-FFF2-40B4-BE49-F238E27FC236}">
                  <a16:creationId xmlns:a16="http://schemas.microsoft.com/office/drawing/2014/main" id="{06174FE8-E732-B4AA-DC5B-53F32EB00FE4}"/>
                </a:ext>
              </a:extLst>
            </p:cNvPr>
            <p:cNvSpPr/>
            <p:nvPr/>
          </p:nvSpPr>
          <p:spPr>
            <a:xfrm>
              <a:off x="6031729" y="1841203"/>
              <a:ext cx="2762127" cy="217070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 name="Gerader Verbinder 11">
              <a:extLst>
                <a:ext uri="{FF2B5EF4-FFF2-40B4-BE49-F238E27FC236}">
                  <a16:creationId xmlns:a16="http://schemas.microsoft.com/office/drawing/2014/main" id="{C3A7B727-BE42-65D2-2157-8E0D97D07713}"/>
                </a:ext>
              </a:extLst>
            </p:cNvPr>
            <p:cNvCxnSpPr>
              <a:cxnSpLocks/>
            </p:cNvCxnSpPr>
            <p:nvPr/>
          </p:nvCxnSpPr>
          <p:spPr>
            <a:xfrm>
              <a:off x="637220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 name="Gerader Verbinder 14">
              <a:extLst>
                <a:ext uri="{FF2B5EF4-FFF2-40B4-BE49-F238E27FC236}">
                  <a16:creationId xmlns:a16="http://schemas.microsoft.com/office/drawing/2014/main" id="{A20D2EC7-A13A-BF88-1421-B943033C8BE5}"/>
                </a:ext>
              </a:extLst>
            </p:cNvPr>
            <p:cNvCxnSpPr>
              <a:cxnSpLocks/>
            </p:cNvCxnSpPr>
            <p:nvPr/>
          </p:nvCxnSpPr>
          <p:spPr>
            <a:xfrm>
              <a:off x="671643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Gerader Verbinder 15">
              <a:extLst>
                <a:ext uri="{FF2B5EF4-FFF2-40B4-BE49-F238E27FC236}">
                  <a16:creationId xmlns:a16="http://schemas.microsoft.com/office/drawing/2014/main" id="{01595757-741E-B48B-F6A9-6954841DD146}"/>
                </a:ext>
              </a:extLst>
            </p:cNvPr>
            <p:cNvCxnSpPr>
              <a:cxnSpLocks/>
            </p:cNvCxnSpPr>
            <p:nvPr/>
          </p:nvCxnSpPr>
          <p:spPr>
            <a:xfrm>
              <a:off x="706066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Gerader Verbinder 16">
              <a:extLst>
                <a:ext uri="{FF2B5EF4-FFF2-40B4-BE49-F238E27FC236}">
                  <a16:creationId xmlns:a16="http://schemas.microsoft.com/office/drawing/2014/main" id="{E277E02C-E321-CF03-2812-5C36C21B6866}"/>
                </a:ext>
              </a:extLst>
            </p:cNvPr>
            <p:cNvCxnSpPr>
              <a:cxnSpLocks/>
            </p:cNvCxnSpPr>
            <p:nvPr/>
          </p:nvCxnSpPr>
          <p:spPr>
            <a:xfrm>
              <a:off x="740489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CB368EF7-6E9B-8187-9714-0FEE80045020}"/>
                </a:ext>
              </a:extLst>
            </p:cNvPr>
            <p:cNvCxnSpPr>
              <a:cxnSpLocks/>
            </p:cNvCxnSpPr>
            <p:nvPr/>
          </p:nvCxnSpPr>
          <p:spPr>
            <a:xfrm>
              <a:off x="774912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AA983D93-7176-3C38-4ECC-D628F35D03F0}"/>
                </a:ext>
              </a:extLst>
            </p:cNvPr>
            <p:cNvCxnSpPr>
              <a:cxnSpLocks/>
            </p:cNvCxnSpPr>
            <p:nvPr/>
          </p:nvCxnSpPr>
          <p:spPr>
            <a:xfrm>
              <a:off x="809335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 name="Gerader Verbinder 19">
              <a:extLst>
                <a:ext uri="{FF2B5EF4-FFF2-40B4-BE49-F238E27FC236}">
                  <a16:creationId xmlns:a16="http://schemas.microsoft.com/office/drawing/2014/main" id="{99837E22-3BA4-9782-9EC0-E8FF72633170}"/>
                </a:ext>
              </a:extLst>
            </p:cNvPr>
            <p:cNvCxnSpPr>
              <a:cxnSpLocks/>
            </p:cNvCxnSpPr>
            <p:nvPr/>
          </p:nvCxnSpPr>
          <p:spPr>
            <a:xfrm>
              <a:off x="843758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2" name="Gerader Verbinder 21">
              <a:extLst>
                <a:ext uri="{FF2B5EF4-FFF2-40B4-BE49-F238E27FC236}">
                  <a16:creationId xmlns:a16="http://schemas.microsoft.com/office/drawing/2014/main" id="{98DDB4F6-CAD8-DF78-3A4C-785BDB71AFDA}"/>
                </a:ext>
              </a:extLst>
            </p:cNvPr>
            <p:cNvCxnSpPr>
              <a:cxnSpLocks/>
            </p:cNvCxnSpPr>
            <p:nvPr/>
          </p:nvCxnSpPr>
          <p:spPr>
            <a:xfrm>
              <a:off x="6031729" y="221171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A60B7D83-C0FA-D7C8-36F3-D568B8992A79}"/>
                </a:ext>
              </a:extLst>
            </p:cNvPr>
            <p:cNvCxnSpPr>
              <a:cxnSpLocks/>
            </p:cNvCxnSpPr>
            <p:nvPr/>
          </p:nvCxnSpPr>
          <p:spPr>
            <a:xfrm>
              <a:off x="6031729" y="257175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EB8AB0FE-3D19-15D7-EC68-1A4665B36B2C}"/>
                </a:ext>
              </a:extLst>
            </p:cNvPr>
            <p:cNvCxnSpPr>
              <a:cxnSpLocks/>
            </p:cNvCxnSpPr>
            <p:nvPr/>
          </p:nvCxnSpPr>
          <p:spPr>
            <a:xfrm>
              <a:off x="6031729" y="293179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2D1F1C5E-482F-7ADC-60C2-382CD2221321}"/>
                </a:ext>
              </a:extLst>
            </p:cNvPr>
            <p:cNvCxnSpPr>
              <a:cxnSpLocks/>
            </p:cNvCxnSpPr>
            <p:nvPr/>
          </p:nvCxnSpPr>
          <p:spPr>
            <a:xfrm>
              <a:off x="6031729" y="329183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9" name="Gerader Verbinder 28">
              <a:extLst>
                <a:ext uri="{FF2B5EF4-FFF2-40B4-BE49-F238E27FC236}">
                  <a16:creationId xmlns:a16="http://schemas.microsoft.com/office/drawing/2014/main" id="{2BD3BA97-A5B2-22EF-D2C7-6FA1457DC6C9}"/>
                </a:ext>
              </a:extLst>
            </p:cNvPr>
            <p:cNvCxnSpPr>
              <a:cxnSpLocks/>
            </p:cNvCxnSpPr>
            <p:nvPr/>
          </p:nvCxnSpPr>
          <p:spPr>
            <a:xfrm>
              <a:off x="6031729" y="365187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43" name="Gruppieren 42">
            <a:extLst>
              <a:ext uri="{FF2B5EF4-FFF2-40B4-BE49-F238E27FC236}">
                <a16:creationId xmlns:a16="http://schemas.microsoft.com/office/drawing/2014/main" id="{E4E23DD1-14F2-77CD-FD08-D67C86A63D89}"/>
              </a:ext>
            </a:extLst>
          </p:cNvPr>
          <p:cNvGrpSpPr/>
          <p:nvPr/>
        </p:nvGrpSpPr>
        <p:grpSpPr>
          <a:xfrm>
            <a:off x="7797810" y="3695300"/>
            <a:ext cx="729377" cy="276999"/>
            <a:chOff x="7797810" y="3695300"/>
            <a:chExt cx="729377" cy="276999"/>
          </a:xfrm>
        </p:grpSpPr>
        <p:sp>
          <p:nvSpPr>
            <p:cNvPr id="35" name="Rechteck 34">
              <a:extLst>
                <a:ext uri="{FF2B5EF4-FFF2-40B4-BE49-F238E27FC236}">
                  <a16:creationId xmlns:a16="http://schemas.microsoft.com/office/drawing/2014/main" id="{C1E58956-A52D-4385-B09E-37DEC51A5A50}"/>
                </a:ext>
              </a:extLst>
            </p:cNvPr>
            <p:cNvSpPr/>
            <p:nvPr/>
          </p:nvSpPr>
          <p:spPr>
            <a:xfrm>
              <a:off x="7797810" y="3768024"/>
              <a:ext cx="130955" cy="131551"/>
            </a:xfrm>
            <a:prstGeom prst="rect">
              <a:avLst/>
            </a:prstGeom>
            <a:solidFill>
              <a:srgbClr val="00B050"/>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Textfeld 37">
              <a:extLst>
                <a:ext uri="{FF2B5EF4-FFF2-40B4-BE49-F238E27FC236}">
                  <a16:creationId xmlns:a16="http://schemas.microsoft.com/office/drawing/2014/main" id="{B272C586-E254-0D95-0633-92FF16BDE9F7}"/>
                </a:ext>
              </a:extLst>
            </p:cNvPr>
            <p:cNvSpPr txBox="1"/>
            <p:nvPr/>
          </p:nvSpPr>
          <p:spPr>
            <a:xfrm>
              <a:off x="7979216" y="3695300"/>
              <a:ext cx="547971" cy="276999"/>
            </a:xfrm>
            <a:prstGeom prst="rect">
              <a:avLst/>
            </a:prstGeom>
            <a:noFill/>
          </p:spPr>
          <p:txBody>
            <a:bodyPr wrap="none" rtlCol="0">
              <a:spAutoFit/>
            </a:bodyPr>
            <a:lstStyle/>
            <a:p>
              <a:r>
                <a:rPr lang="en-US" sz="1200" noProof="0" dirty="0"/>
                <a:t>forest</a:t>
              </a:r>
            </a:p>
          </p:txBody>
        </p:sp>
      </p:grpSp>
      <p:grpSp>
        <p:nvGrpSpPr>
          <p:cNvPr id="44" name="Gruppieren 43">
            <a:extLst>
              <a:ext uri="{FF2B5EF4-FFF2-40B4-BE49-F238E27FC236}">
                <a16:creationId xmlns:a16="http://schemas.microsoft.com/office/drawing/2014/main" id="{ADCF6836-D43F-17B6-0232-EB5199418348}"/>
              </a:ext>
            </a:extLst>
          </p:cNvPr>
          <p:cNvGrpSpPr/>
          <p:nvPr/>
        </p:nvGrpSpPr>
        <p:grpSpPr>
          <a:xfrm>
            <a:off x="7797810" y="3437353"/>
            <a:ext cx="1013750" cy="276999"/>
            <a:chOff x="7797810" y="3437353"/>
            <a:chExt cx="1013750" cy="276999"/>
          </a:xfrm>
        </p:grpSpPr>
        <p:sp>
          <p:nvSpPr>
            <p:cNvPr id="34" name="Rechteck 33">
              <a:extLst>
                <a:ext uri="{FF2B5EF4-FFF2-40B4-BE49-F238E27FC236}">
                  <a16:creationId xmlns:a16="http://schemas.microsoft.com/office/drawing/2014/main" id="{896F5ECB-C083-2B94-7FD4-3B5F78855385}"/>
                </a:ext>
              </a:extLst>
            </p:cNvPr>
            <p:cNvSpPr/>
            <p:nvPr/>
          </p:nvSpPr>
          <p:spPr>
            <a:xfrm>
              <a:off x="7797810" y="3510077"/>
              <a:ext cx="130955" cy="13155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Textfeld 38">
              <a:extLst>
                <a:ext uri="{FF2B5EF4-FFF2-40B4-BE49-F238E27FC236}">
                  <a16:creationId xmlns:a16="http://schemas.microsoft.com/office/drawing/2014/main" id="{8D3A14DD-F08B-0887-A315-18F015BE488E}"/>
                </a:ext>
              </a:extLst>
            </p:cNvPr>
            <p:cNvSpPr txBox="1"/>
            <p:nvPr/>
          </p:nvSpPr>
          <p:spPr>
            <a:xfrm>
              <a:off x="7979216" y="3437353"/>
              <a:ext cx="832344" cy="276999"/>
            </a:xfrm>
            <a:prstGeom prst="rect">
              <a:avLst/>
            </a:prstGeom>
            <a:noFill/>
          </p:spPr>
          <p:txBody>
            <a:bodyPr wrap="none" rtlCol="0">
              <a:spAutoFit/>
            </a:bodyPr>
            <a:lstStyle/>
            <a:p>
              <a:r>
                <a:rPr lang="en-US" sz="1200" noProof="0" dirty="0"/>
                <a:t>grass land</a:t>
              </a:r>
            </a:p>
          </p:txBody>
        </p:sp>
      </p:grpSp>
      <p:grpSp>
        <p:nvGrpSpPr>
          <p:cNvPr id="45" name="Gruppieren 44">
            <a:extLst>
              <a:ext uri="{FF2B5EF4-FFF2-40B4-BE49-F238E27FC236}">
                <a16:creationId xmlns:a16="http://schemas.microsoft.com/office/drawing/2014/main" id="{18663E23-B05C-3CF8-3FF8-77805D023F63}"/>
              </a:ext>
            </a:extLst>
          </p:cNvPr>
          <p:cNvGrpSpPr/>
          <p:nvPr/>
        </p:nvGrpSpPr>
        <p:grpSpPr>
          <a:xfrm>
            <a:off x="6058345" y="3723878"/>
            <a:ext cx="1028930" cy="1080089"/>
            <a:chOff x="6058345" y="3723878"/>
            <a:chExt cx="1028930" cy="1080089"/>
          </a:xfrm>
        </p:grpSpPr>
        <p:sp>
          <p:nvSpPr>
            <p:cNvPr id="11" name="Rechteck 10">
              <a:extLst>
                <a:ext uri="{FF2B5EF4-FFF2-40B4-BE49-F238E27FC236}">
                  <a16:creationId xmlns:a16="http://schemas.microsoft.com/office/drawing/2014/main" id="{93D2C2F2-58A8-55C1-98FF-B825D9A9B53B}"/>
                </a:ext>
              </a:extLst>
            </p:cNvPr>
            <p:cNvSpPr/>
            <p:nvPr/>
          </p:nvSpPr>
          <p:spPr>
            <a:xfrm>
              <a:off x="6058345" y="3723878"/>
              <a:ext cx="1028930" cy="108008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4" name="Gerader Verbinder 13">
              <a:extLst>
                <a:ext uri="{FF2B5EF4-FFF2-40B4-BE49-F238E27FC236}">
                  <a16:creationId xmlns:a16="http://schemas.microsoft.com/office/drawing/2014/main" id="{22D1ABC4-E8D6-148A-5402-0379B01E05A6}"/>
                </a:ext>
              </a:extLst>
            </p:cNvPr>
            <p:cNvCxnSpPr/>
            <p:nvPr/>
          </p:nvCxnSpPr>
          <p:spPr>
            <a:xfrm flipH="1">
              <a:off x="6058345" y="4078214"/>
              <a:ext cx="102893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3" name="Gerader Verbinder 22">
              <a:extLst>
                <a:ext uri="{FF2B5EF4-FFF2-40B4-BE49-F238E27FC236}">
                  <a16:creationId xmlns:a16="http://schemas.microsoft.com/office/drawing/2014/main" id="{A3A70B7E-D0D1-9DD0-E416-DF921ADF2B83}"/>
                </a:ext>
              </a:extLst>
            </p:cNvPr>
            <p:cNvCxnSpPr/>
            <p:nvPr/>
          </p:nvCxnSpPr>
          <p:spPr>
            <a:xfrm flipH="1">
              <a:off x="6058345" y="4443958"/>
              <a:ext cx="102893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Gerader Verbinder 24">
              <a:extLst>
                <a:ext uri="{FF2B5EF4-FFF2-40B4-BE49-F238E27FC236}">
                  <a16:creationId xmlns:a16="http://schemas.microsoft.com/office/drawing/2014/main" id="{8C6346EA-96BF-8EFD-7CD0-9E1D0B76F2EA}"/>
                </a:ext>
              </a:extLst>
            </p:cNvPr>
            <p:cNvCxnSpPr/>
            <p:nvPr/>
          </p:nvCxnSpPr>
          <p:spPr>
            <a:xfrm>
              <a:off x="6398816" y="3723878"/>
              <a:ext cx="0" cy="1080089"/>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6" name="Gerader Verbinder 35">
              <a:extLst>
                <a:ext uri="{FF2B5EF4-FFF2-40B4-BE49-F238E27FC236}">
                  <a16:creationId xmlns:a16="http://schemas.microsoft.com/office/drawing/2014/main" id="{0C48273C-B83A-609A-FC74-BFC121391F82}"/>
                </a:ext>
              </a:extLst>
            </p:cNvPr>
            <p:cNvCxnSpPr/>
            <p:nvPr/>
          </p:nvCxnSpPr>
          <p:spPr>
            <a:xfrm>
              <a:off x="6743046" y="3723878"/>
              <a:ext cx="0" cy="1080089"/>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52" name="Gruppieren 51">
            <a:extLst>
              <a:ext uri="{FF2B5EF4-FFF2-40B4-BE49-F238E27FC236}">
                <a16:creationId xmlns:a16="http://schemas.microsoft.com/office/drawing/2014/main" id="{C1BCEE7B-887E-4F2D-4A01-45A8892BA2DD}"/>
              </a:ext>
            </a:extLst>
          </p:cNvPr>
          <p:cNvGrpSpPr/>
          <p:nvPr/>
        </p:nvGrpSpPr>
        <p:grpSpPr>
          <a:xfrm>
            <a:off x="6149542" y="3817181"/>
            <a:ext cx="846537" cy="893483"/>
            <a:chOff x="6149826" y="3838507"/>
            <a:chExt cx="846537" cy="893483"/>
          </a:xfrm>
        </p:grpSpPr>
        <p:grpSp>
          <p:nvGrpSpPr>
            <p:cNvPr id="50" name="Gruppieren 49">
              <a:extLst>
                <a:ext uri="{FF2B5EF4-FFF2-40B4-BE49-F238E27FC236}">
                  <a16:creationId xmlns:a16="http://schemas.microsoft.com/office/drawing/2014/main" id="{D78BEB27-9CD2-94CB-E5AF-E5EBE956B522}"/>
                </a:ext>
              </a:extLst>
            </p:cNvPr>
            <p:cNvGrpSpPr/>
            <p:nvPr/>
          </p:nvGrpSpPr>
          <p:grpSpPr>
            <a:xfrm>
              <a:off x="6501086" y="3838507"/>
              <a:ext cx="144016" cy="893483"/>
              <a:chOff x="6488199" y="3838507"/>
              <a:chExt cx="144016" cy="893483"/>
            </a:xfrm>
          </p:grpSpPr>
          <p:sp>
            <p:nvSpPr>
              <p:cNvPr id="47" name="Pfeil: nach rechts 46">
                <a:extLst>
                  <a:ext uri="{FF2B5EF4-FFF2-40B4-BE49-F238E27FC236}">
                    <a16:creationId xmlns:a16="http://schemas.microsoft.com/office/drawing/2014/main" id="{CDCB2E0C-8FCC-1CEE-4224-AD682903EF65}"/>
                  </a:ext>
                </a:extLst>
              </p:cNvPr>
              <p:cNvSpPr/>
              <p:nvPr/>
            </p:nvSpPr>
            <p:spPr>
              <a:xfrm rot="16200000">
                <a:off x="6380187" y="3946519"/>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48" name="Pfeil: nach rechts 47">
                <a:extLst>
                  <a:ext uri="{FF2B5EF4-FFF2-40B4-BE49-F238E27FC236}">
                    <a16:creationId xmlns:a16="http://schemas.microsoft.com/office/drawing/2014/main" id="{EDCC9083-5E43-3269-4448-1F4CF16FC852}"/>
                  </a:ext>
                </a:extLst>
              </p:cNvPr>
              <p:cNvSpPr/>
              <p:nvPr/>
            </p:nvSpPr>
            <p:spPr>
              <a:xfrm rot="5400000" flipV="1">
                <a:off x="6380187" y="4479962"/>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grpSp>
        <p:grpSp>
          <p:nvGrpSpPr>
            <p:cNvPr id="51" name="Gruppieren 50">
              <a:extLst>
                <a:ext uri="{FF2B5EF4-FFF2-40B4-BE49-F238E27FC236}">
                  <a16:creationId xmlns:a16="http://schemas.microsoft.com/office/drawing/2014/main" id="{2AC43B1B-7154-E8EE-D709-5BE21395D085}"/>
                </a:ext>
              </a:extLst>
            </p:cNvPr>
            <p:cNvGrpSpPr/>
            <p:nvPr/>
          </p:nvGrpSpPr>
          <p:grpSpPr>
            <a:xfrm>
              <a:off x="6149826" y="4211317"/>
              <a:ext cx="846537" cy="147863"/>
              <a:chOff x="6156176" y="4205523"/>
              <a:chExt cx="846537" cy="147863"/>
            </a:xfrm>
          </p:grpSpPr>
          <p:sp>
            <p:nvSpPr>
              <p:cNvPr id="46" name="Pfeil: nach rechts 45">
                <a:extLst>
                  <a:ext uri="{FF2B5EF4-FFF2-40B4-BE49-F238E27FC236}">
                    <a16:creationId xmlns:a16="http://schemas.microsoft.com/office/drawing/2014/main" id="{4EB6298C-FABF-F919-52D6-CC081CD7FE4D}"/>
                  </a:ext>
                </a:extLst>
              </p:cNvPr>
              <p:cNvSpPr/>
              <p:nvPr/>
            </p:nvSpPr>
            <p:spPr>
              <a:xfrm>
                <a:off x="6642673" y="4205523"/>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49" name="Pfeil: nach rechts 48">
                <a:extLst>
                  <a:ext uri="{FF2B5EF4-FFF2-40B4-BE49-F238E27FC236}">
                    <a16:creationId xmlns:a16="http://schemas.microsoft.com/office/drawing/2014/main" id="{D3D65803-57BE-605A-566B-9683DA33720E}"/>
                  </a:ext>
                </a:extLst>
              </p:cNvPr>
              <p:cNvSpPr/>
              <p:nvPr/>
            </p:nvSpPr>
            <p:spPr>
              <a:xfrm flipH="1">
                <a:off x="6156176" y="4209370"/>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grpSp>
      </p:grpSp>
    </p:spTree>
    <p:extLst>
      <p:ext uri="{BB962C8B-B14F-4D97-AF65-F5344CB8AC3E}">
        <p14:creationId xmlns:p14="http://schemas.microsoft.com/office/powerpoint/2010/main" val="32261586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B91121-7D80-BDAC-B681-C6F9AA83E69D}"/>
              </a:ext>
            </a:extLst>
          </p:cNvPr>
          <p:cNvSpPr>
            <a:spLocks noGrp="1"/>
          </p:cNvSpPr>
          <p:nvPr>
            <p:ph type="title"/>
          </p:nvPr>
        </p:nvSpPr>
        <p:spPr/>
        <p:txBody>
          <a:bodyPr/>
          <a:lstStyle/>
          <a:p>
            <a:r>
              <a:rPr lang="en-US" noProof="0" dirty="0"/>
              <a:t>The conceptual model:</a:t>
            </a:r>
            <a:br>
              <a:rPr lang="en-US" noProof="0" dirty="0"/>
            </a:br>
            <a:r>
              <a:rPr lang="en-US" noProof="0" dirty="0"/>
              <a:t>Multi-agent design (2a/ 3)</a:t>
            </a:r>
          </a:p>
        </p:txBody>
      </p:sp>
      <p:sp>
        <p:nvSpPr>
          <p:cNvPr id="3" name="Rechteck 2">
            <a:extLst>
              <a:ext uri="{FF2B5EF4-FFF2-40B4-BE49-F238E27FC236}">
                <a16:creationId xmlns:a16="http://schemas.microsoft.com/office/drawing/2014/main" id="{94C67489-8575-C18B-47C9-7416AE6EF976}"/>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F43C0DB3-B53B-0A37-632F-9AE4DD588414}"/>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180843B6-2284-8172-9522-7FA3FEC0D5CA}"/>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77EC83D5-9A8C-9361-BE30-1712E680F384}"/>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818D417E-C4CC-03E1-67D0-2DD6D060F321}"/>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F4A7FA13-B0A6-5449-5A4A-364C7649C67D}"/>
              </a:ext>
            </a:extLst>
          </p:cNvPr>
          <p:cNvSpPr/>
          <p:nvPr/>
        </p:nvSpPr>
        <p:spPr>
          <a:xfrm>
            <a:off x="1691681" y="1131590"/>
            <a:ext cx="4174814"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Interaction Rules:</a:t>
            </a:r>
            <a:r>
              <a:rPr lang="en-US" sz="1400" noProof="0" dirty="0">
                <a:solidFill>
                  <a:schemeClr val="tx1"/>
                </a:solidFill>
              </a:rPr>
              <a:t> We assume that</a:t>
            </a:r>
          </a:p>
          <a:p>
            <a:pPr marL="182563" indent="-182563" algn="just">
              <a:spcAft>
                <a:spcPts val="600"/>
              </a:spcAft>
              <a:buFont typeface="Arial" panose="020B0604020202020204" pitchFamily="34" charset="0"/>
              <a:buChar char="•"/>
            </a:pPr>
            <a:r>
              <a:rPr lang="en-US" sz="1400" noProof="0" dirty="0">
                <a:solidFill>
                  <a:schemeClr val="tx1"/>
                </a:solidFill>
              </a:rPr>
              <a:t>wolves are not actively hunting bison (due to easier prey available), though, they randomly move between cells every k</a:t>
            </a:r>
            <a:r>
              <a:rPr lang="en-US" sz="1400" baseline="30000" noProof="0" dirty="0">
                <a:solidFill>
                  <a:schemeClr val="tx1"/>
                </a:solidFill>
              </a:rPr>
              <a:t>th</a:t>
            </a:r>
            <a:r>
              <a:rPr lang="en-US" sz="1400" noProof="0" dirty="0">
                <a:solidFill>
                  <a:schemeClr val="tx1"/>
                </a:solidFill>
              </a:rPr>
              <a:t> time step and thus induce bison movement.</a:t>
            </a:r>
          </a:p>
          <a:p>
            <a:pPr marL="182563" indent="-182563" algn="just">
              <a:spcAft>
                <a:spcPts val="600"/>
              </a:spcAft>
              <a:buFont typeface="Arial" panose="020B0604020202020204" pitchFamily="34" charset="0"/>
              <a:buChar char="•"/>
            </a:pPr>
            <a:r>
              <a:rPr lang="en-US" sz="1400" noProof="0" dirty="0">
                <a:solidFill>
                  <a:schemeClr val="tx1"/>
                </a:solidFill>
              </a:rPr>
              <a:t>wolves do not move on a cell that is occupied by another wolve, if all neighboring cells are occupied by wolves no movement is conducted.</a:t>
            </a:r>
          </a:p>
          <a:p>
            <a:pPr marL="182563" indent="-182563" algn="just">
              <a:spcAft>
                <a:spcPts val="600"/>
              </a:spcAft>
              <a:buFont typeface="Arial" panose="020B0604020202020204" pitchFamily="34" charset="0"/>
              <a:buChar char="•"/>
            </a:pPr>
            <a:r>
              <a:rPr lang="en-US" sz="1400" noProof="0" dirty="0">
                <a:solidFill>
                  <a:schemeClr val="tx1"/>
                </a:solidFill>
              </a:rPr>
              <a:t>if a wolf enters a cell occupied by bison, all bison will randomly move toward other cells that are not occupied by any wolf.</a:t>
            </a:r>
          </a:p>
          <a:p>
            <a:pPr marL="182563" indent="-182563" algn="just">
              <a:spcAft>
                <a:spcPts val="600"/>
              </a:spcAft>
              <a:buFont typeface="Arial" panose="020B0604020202020204" pitchFamily="34" charset="0"/>
              <a:buChar char="•"/>
            </a:pPr>
            <a:r>
              <a:rPr lang="en-US" sz="1400" noProof="0" dirty="0">
                <a:solidFill>
                  <a:schemeClr val="tx1"/>
                </a:solidFill>
              </a:rPr>
              <a:t>grassland cells have 10 stages: 0 – 9 pure grassland and 10 emerging forest, the grassland states are affected by the occupation of bison (see table). 0 is the least possible state (overgrazing) and 10 the maximal possible state. </a:t>
            </a:r>
          </a:p>
        </p:txBody>
      </p:sp>
      <p:graphicFrame>
        <p:nvGraphicFramePr>
          <p:cNvPr id="12" name="Tabelle 11">
            <a:extLst>
              <a:ext uri="{FF2B5EF4-FFF2-40B4-BE49-F238E27FC236}">
                <a16:creationId xmlns:a16="http://schemas.microsoft.com/office/drawing/2014/main" id="{E70B126B-4BC5-557A-A369-B23653EF5B08}"/>
              </a:ext>
            </a:extLst>
          </p:cNvPr>
          <p:cNvGraphicFramePr>
            <a:graphicFrameLocks noGrp="1"/>
          </p:cNvGraphicFramePr>
          <p:nvPr>
            <p:extLst>
              <p:ext uri="{D42A27DB-BD31-4B8C-83A1-F6EECF244321}">
                <p14:modId xmlns:p14="http://schemas.microsoft.com/office/powerpoint/2010/main" val="1401043968"/>
              </p:ext>
            </p:extLst>
          </p:nvPr>
        </p:nvGraphicFramePr>
        <p:xfrm>
          <a:off x="6036637" y="1203598"/>
          <a:ext cx="2783835" cy="1280160"/>
        </p:xfrm>
        <a:graphic>
          <a:graphicData uri="http://schemas.openxmlformats.org/drawingml/2006/table">
            <a:tbl>
              <a:tblPr firstRow="1" bandRow="1">
                <a:tableStyleId>{5C22544A-7EE6-4342-B048-85BDC9FD1C3A}</a:tableStyleId>
              </a:tblPr>
              <a:tblGrid>
                <a:gridCol w="695603">
                  <a:extLst>
                    <a:ext uri="{9D8B030D-6E8A-4147-A177-3AD203B41FA5}">
                      <a16:colId xmlns:a16="http://schemas.microsoft.com/office/drawing/2014/main" val="2083426613"/>
                    </a:ext>
                  </a:extLst>
                </a:gridCol>
                <a:gridCol w="2088232">
                  <a:extLst>
                    <a:ext uri="{9D8B030D-6E8A-4147-A177-3AD203B41FA5}">
                      <a16:colId xmlns:a16="http://schemas.microsoft.com/office/drawing/2014/main" val="2852509651"/>
                    </a:ext>
                  </a:extLst>
                </a:gridCol>
              </a:tblGrid>
              <a:tr h="0">
                <a:tc gridSpan="2">
                  <a:txBody>
                    <a:bodyPr/>
                    <a:lstStyle/>
                    <a:p>
                      <a:pPr algn="ctr"/>
                      <a:r>
                        <a:rPr lang="en-US" sz="1200" noProof="0" dirty="0">
                          <a:solidFill>
                            <a:schemeClr val="tx1"/>
                          </a:solidFill>
                        </a:rPr>
                        <a:t>Change of Grassland Cell Stage</a:t>
                      </a:r>
                    </a:p>
                    <a:p>
                      <a:pPr algn="ctr"/>
                      <a:r>
                        <a:rPr lang="en-US" sz="1200" noProof="0" dirty="0">
                          <a:solidFill>
                            <a:schemeClr val="tx1"/>
                          </a:solidFill>
                        </a:rPr>
                        <a:t>(from one time step to the next)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tc hMerge="1">
                  <a:txBody>
                    <a:bodyPr/>
                    <a:lstStyle/>
                    <a:p>
                      <a:endParaRPr lang="de-DE" sz="1200" dirty="0">
                        <a:solidFill>
                          <a:schemeClr val="tx1"/>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425296254"/>
                  </a:ext>
                </a:extLst>
              </a:tr>
              <a:tr h="0">
                <a:tc>
                  <a:txBody>
                    <a:bodyPr/>
                    <a:lstStyle/>
                    <a:p>
                      <a:pPr algn="ctr"/>
                      <a:r>
                        <a:rPr lang="en-US" sz="1200" noProof="0" dirty="0">
                          <a:solidFill>
                            <a:schemeClr val="tx1"/>
                          </a:solidFill>
                        </a:rPr>
                        <a:t>Change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noProof="0" dirty="0">
                          <a:solidFill>
                            <a:schemeClr val="tx1"/>
                          </a:solidFill>
                        </a:rPr>
                        <a:t>Criterion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405891"/>
                  </a:ext>
                </a:extLst>
              </a:tr>
              <a:tr h="0">
                <a:tc>
                  <a:txBody>
                    <a:bodyPr/>
                    <a:lstStyle/>
                    <a:p>
                      <a:pPr algn="ctr"/>
                      <a:r>
                        <a:rPr lang="en-US" sz="1200" noProof="0" dirty="0"/>
                        <a:t>-2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noProof="0" dirty="0"/>
                        <a:t>bison within the cell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82976739"/>
                  </a:ext>
                </a:extLst>
              </a:tr>
              <a:tr h="0">
                <a:tc>
                  <a:txBody>
                    <a:bodyPr/>
                    <a:lstStyle/>
                    <a:p>
                      <a:pPr algn="ctr"/>
                      <a:r>
                        <a:rPr lang="en-US" sz="1200" noProof="0" dirty="0"/>
                        <a:t>+1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r>
                        <a:rPr lang="en-US" sz="1200" noProof="0" dirty="0"/>
                        <a:t>no bison within one cell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844575751"/>
                  </a:ext>
                </a:extLst>
              </a:tr>
            </a:tbl>
          </a:graphicData>
        </a:graphic>
      </p:graphicFrame>
    </p:spTree>
    <p:extLst>
      <p:ext uri="{BB962C8B-B14F-4D97-AF65-F5344CB8AC3E}">
        <p14:creationId xmlns:p14="http://schemas.microsoft.com/office/powerpoint/2010/main" val="164979180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C5932-162C-3C40-D984-9F84F58783C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72FF5D1D-CE65-2D76-0FAE-B75D4DB4FD70}"/>
              </a:ext>
            </a:extLst>
          </p:cNvPr>
          <p:cNvSpPr>
            <a:spLocks noGrp="1"/>
          </p:cNvSpPr>
          <p:nvPr>
            <p:ph type="title"/>
          </p:nvPr>
        </p:nvSpPr>
        <p:spPr/>
        <p:txBody>
          <a:bodyPr/>
          <a:lstStyle/>
          <a:p>
            <a:r>
              <a:rPr lang="en-US" noProof="0" dirty="0"/>
              <a:t>The conceptual model:</a:t>
            </a:r>
            <a:br>
              <a:rPr lang="en-US" noProof="0" dirty="0"/>
            </a:br>
            <a:r>
              <a:rPr lang="en-US" noProof="0" dirty="0"/>
              <a:t>Multi-agent design (2b/ 3)</a:t>
            </a:r>
          </a:p>
        </p:txBody>
      </p:sp>
      <p:sp>
        <p:nvSpPr>
          <p:cNvPr id="3" name="Rechteck 2">
            <a:extLst>
              <a:ext uri="{FF2B5EF4-FFF2-40B4-BE49-F238E27FC236}">
                <a16:creationId xmlns:a16="http://schemas.microsoft.com/office/drawing/2014/main" id="{14071074-610D-FFCB-A324-D0FB5500A2B6}"/>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76F67D64-6AA3-1A0E-0015-2F458892536E}"/>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47698EC7-2567-909C-4D22-0EC4C12620AD}"/>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7733A2A7-84BA-692E-8256-0C6E2C12EC9C}"/>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B657EEB0-16CC-4363-F6E5-E53E8E730B4A}"/>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18D4DD5B-6E20-C5B8-EF29-CA0AFBC65C9C}"/>
              </a:ext>
            </a:extLst>
          </p:cNvPr>
          <p:cNvSpPr/>
          <p:nvPr/>
        </p:nvSpPr>
        <p:spPr>
          <a:xfrm>
            <a:off x="1691680" y="1131590"/>
            <a:ext cx="4176463"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[cont.]</a:t>
            </a:r>
            <a:endParaRPr lang="en-US" sz="1400" noProof="0" dirty="0">
              <a:solidFill>
                <a:schemeClr val="tx1"/>
              </a:solidFill>
            </a:endParaRPr>
          </a:p>
          <a:p>
            <a:pPr marL="182563" indent="-182563" algn="just">
              <a:spcAft>
                <a:spcPts val="600"/>
              </a:spcAft>
              <a:buFont typeface="Arial" panose="020B0604020202020204" pitchFamily="34" charset="0"/>
              <a:buChar char="•"/>
            </a:pPr>
            <a:r>
              <a:rPr lang="en-US" sz="1400" noProof="0" dirty="0">
                <a:solidFill>
                  <a:schemeClr val="tx1"/>
                </a:solidFill>
              </a:rPr>
              <a:t>stage 10 grassland cells can become forest cells (see table).</a:t>
            </a:r>
          </a:p>
          <a:p>
            <a:pPr marL="182563" indent="-182563" algn="just">
              <a:spcAft>
                <a:spcPts val="600"/>
              </a:spcAft>
              <a:buFont typeface="Arial" panose="020B0604020202020204" pitchFamily="34" charset="0"/>
              <a:buChar char="•"/>
            </a:pPr>
            <a:r>
              <a:rPr lang="en-US" sz="1400" noProof="0" dirty="0">
                <a:solidFill>
                  <a:schemeClr val="tx1"/>
                </a:solidFill>
              </a:rPr>
              <a:t>bison move according to grassland rules:</a:t>
            </a:r>
          </a:p>
          <a:p>
            <a:pPr marL="450850" lvl="1" indent="-268288" algn="just">
              <a:spcAft>
                <a:spcPts val="600"/>
              </a:spcAft>
              <a:buFont typeface="Symbol" panose="05050102010706020507" pitchFamily="18" charset="2"/>
              <a:buChar char="-"/>
            </a:pPr>
            <a:r>
              <a:rPr lang="en-US" sz="1400" noProof="0" dirty="0">
                <a:solidFill>
                  <a:schemeClr val="tx1"/>
                </a:solidFill>
              </a:rPr>
              <a:t>bison do not move on a cell already occupied by a wolve</a:t>
            </a:r>
          </a:p>
          <a:p>
            <a:pPr marL="450850" lvl="1" indent="-268288" algn="just">
              <a:spcAft>
                <a:spcPts val="600"/>
              </a:spcAft>
              <a:buFont typeface="Symbol" panose="05050102010706020507" pitchFamily="18" charset="2"/>
              <a:buChar char="-"/>
            </a:pPr>
            <a:r>
              <a:rPr lang="en-US" sz="1400" noProof="0" dirty="0">
                <a:solidFill>
                  <a:schemeClr val="tx1"/>
                </a:solidFill>
              </a:rPr>
              <a:t>bison move to better grassing grounds if the grassland cell they occupy has stage less than 4, i.e., to those neighboring grassland cells with stages higher than or equal to 4.</a:t>
            </a:r>
          </a:p>
          <a:p>
            <a:pPr marL="450850" lvl="1" indent="-268288" algn="just">
              <a:spcAft>
                <a:spcPts val="600"/>
              </a:spcAft>
              <a:buFont typeface="Symbol" panose="05050102010706020507" pitchFamily="18" charset="2"/>
              <a:buChar char="-"/>
            </a:pPr>
            <a:r>
              <a:rPr lang="en-US" sz="1400" noProof="0" dirty="0">
                <a:solidFill>
                  <a:schemeClr val="tx1"/>
                </a:solidFill>
              </a:rPr>
              <a:t>if there is no such cell in their neighborhood then they move to the next best permitted cell and if all permitted cells have the same stage as the one they occupy then the move by random to any one of the permitted neighboring cells.</a:t>
            </a:r>
          </a:p>
        </p:txBody>
      </p:sp>
      <p:graphicFrame>
        <p:nvGraphicFramePr>
          <p:cNvPr id="8" name="Tabelle 7">
            <a:extLst>
              <a:ext uri="{FF2B5EF4-FFF2-40B4-BE49-F238E27FC236}">
                <a16:creationId xmlns:a16="http://schemas.microsoft.com/office/drawing/2014/main" id="{4A41163B-3F09-408E-355C-45A90DD896EA}"/>
              </a:ext>
            </a:extLst>
          </p:cNvPr>
          <p:cNvGraphicFramePr>
            <a:graphicFrameLocks noGrp="1"/>
          </p:cNvGraphicFramePr>
          <p:nvPr>
            <p:extLst>
              <p:ext uri="{D42A27DB-BD31-4B8C-83A1-F6EECF244321}">
                <p14:modId xmlns:p14="http://schemas.microsoft.com/office/powerpoint/2010/main" val="3184797635"/>
              </p:ext>
            </p:extLst>
          </p:nvPr>
        </p:nvGraphicFramePr>
        <p:xfrm>
          <a:off x="6036637" y="1203598"/>
          <a:ext cx="2783835" cy="1280160"/>
        </p:xfrm>
        <a:graphic>
          <a:graphicData uri="http://schemas.openxmlformats.org/drawingml/2006/table">
            <a:tbl>
              <a:tblPr firstRow="1" bandRow="1">
                <a:tableStyleId>{5C22544A-7EE6-4342-B048-85BDC9FD1C3A}</a:tableStyleId>
              </a:tblPr>
              <a:tblGrid>
                <a:gridCol w="2783835">
                  <a:extLst>
                    <a:ext uri="{9D8B030D-6E8A-4147-A177-3AD203B41FA5}">
                      <a16:colId xmlns:a16="http://schemas.microsoft.com/office/drawing/2014/main" val="2083426613"/>
                    </a:ext>
                  </a:extLst>
                </a:gridCol>
              </a:tblGrid>
              <a:tr h="0">
                <a:tc>
                  <a:txBody>
                    <a:bodyPr/>
                    <a:lstStyle/>
                    <a:p>
                      <a:pPr algn="ctr"/>
                      <a:r>
                        <a:rPr lang="en-US" sz="1200" noProof="0" dirty="0">
                          <a:solidFill>
                            <a:schemeClr val="tx1"/>
                          </a:solidFill>
                        </a:rPr>
                        <a:t>Forest Conversion</a:t>
                      </a:r>
                    </a:p>
                    <a:p>
                      <a:pPr algn="ctr"/>
                      <a:r>
                        <a:rPr lang="en-US" sz="1200" noProof="0" dirty="0">
                          <a:solidFill>
                            <a:schemeClr val="tx1"/>
                          </a:solidFill>
                        </a:rPr>
                        <a:t>(ecological memory)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25296254"/>
                  </a:ext>
                </a:extLst>
              </a:tr>
              <a:tr h="0">
                <a:tc>
                  <a:txBody>
                    <a:bodyPr/>
                    <a:lstStyle/>
                    <a:p>
                      <a:pPr marL="171450" indent="-171450" algn="l">
                        <a:buFont typeface="Arial" panose="020B0604020202020204" pitchFamily="34" charset="0"/>
                        <a:buChar char="•"/>
                      </a:pPr>
                      <a:r>
                        <a:rPr lang="en-US" sz="1200" noProof="0" dirty="0"/>
                        <a:t>stage increases/ decreases deterministically, and</a:t>
                      </a:r>
                    </a:p>
                    <a:p>
                      <a:pPr marL="171450" indent="-171450" algn="l">
                        <a:buFont typeface="Arial" panose="020B0604020202020204" pitchFamily="34" charset="0"/>
                        <a:buChar char="•"/>
                      </a:pPr>
                      <a:r>
                        <a:rPr lang="en-US" sz="1200" noProof="0" dirty="0"/>
                        <a:t>conversion only after staying at stage 10 for m = 20 consecutive steps.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405891"/>
                  </a:ext>
                </a:extLst>
              </a:tr>
            </a:tbl>
          </a:graphicData>
        </a:graphic>
      </p:graphicFrame>
    </p:spTree>
    <p:extLst>
      <p:ext uri="{BB962C8B-B14F-4D97-AF65-F5344CB8AC3E}">
        <p14:creationId xmlns:p14="http://schemas.microsoft.com/office/powerpoint/2010/main" val="3872874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131A3C-9B0C-EF00-B085-B3C18972DB2A}"/>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6E23B05C-02ED-C27B-B505-E5777657231B}"/>
              </a:ext>
            </a:extLst>
          </p:cNvPr>
          <p:cNvSpPr>
            <a:spLocks noGrp="1"/>
          </p:cNvSpPr>
          <p:nvPr>
            <p:ph type="title"/>
          </p:nvPr>
        </p:nvSpPr>
        <p:spPr/>
        <p:txBody>
          <a:bodyPr/>
          <a:lstStyle/>
          <a:p>
            <a:r>
              <a:rPr lang="en-US" noProof="0" dirty="0"/>
              <a:t>The conceptual model:</a:t>
            </a:r>
            <a:br>
              <a:rPr lang="en-US" noProof="0" dirty="0"/>
            </a:br>
            <a:r>
              <a:rPr lang="en-US" noProof="0" dirty="0"/>
              <a:t>Multi-agent design (2c/ 3)</a:t>
            </a:r>
          </a:p>
        </p:txBody>
      </p:sp>
      <p:sp>
        <p:nvSpPr>
          <p:cNvPr id="3" name="Rechteck 2">
            <a:extLst>
              <a:ext uri="{FF2B5EF4-FFF2-40B4-BE49-F238E27FC236}">
                <a16:creationId xmlns:a16="http://schemas.microsoft.com/office/drawing/2014/main" id="{6D516C52-05A1-C23B-6BEE-EE2F4332FF21}"/>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A4FB863A-151D-6A88-BDCE-4555425E4285}"/>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2C05877C-F985-A6E6-1814-0DEB351CFFEA}"/>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03A8D1F3-383C-6124-75C5-42790929C899}"/>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3F44CAC4-AC6C-7BE4-AFCE-755F17E7D611}"/>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C8FFFA6C-9833-6440-1810-4FA681F572FC}"/>
              </a:ext>
            </a:extLst>
          </p:cNvPr>
          <p:cNvSpPr/>
          <p:nvPr/>
        </p:nvSpPr>
        <p:spPr>
          <a:xfrm>
            <a:off x="1691680" y="1131590"/>
            <a:ext cx="4176463"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[cont.]</a:t>
            </a:r>
            <a:endParaRPr lang="en-US" sz="1400" noProof="0" dirty="0">
              <a:solidFill>
                <a:schemeClr val="tx1"/>
              </a:solidFill>
            </a:endParaRPr>
          </a:p>
          <a:p>
            <a:pPr marL="182563" indent="-182563" algn="just">
              <a:spcAft>
                <a:spcPts val="600"/>
              </a:spcAft>
              <a:buFont typeface="Arial" panose="020B0604020202020204" pitchFamily="34" charset="0"/>
              <a:buChar char="•"/>
            </a:pPr>
            <a:r>
              <a:rPr lang="en-US" sz="1400" noProof="0" dirty="0">
                <a:solidFill>
                  <a:schemeClr val="tx1"/>
                </a:solidFill>
              </a:rPr>
              <a:t>Bison move according to social rules:</a:t>
            </a:r>
          </a:p>
          <a:p>
            <a:pPr marL="450850" indent="-268288" algn="just">
              <a:spcAft>
                <a:spcPts val="600"/>
              </a:spcAft>
              <a:buFont typeface="Symbol" panose="05050102010706020507" pitchFamily="18" charset="2"/>
              <a:buChar char="-"/>
            </a:pPr>
            <a:r>
              <a:rPr lang="en-US" sz="1400" noProof="0" dirty="0">
                <a:solidFill>
                  <a:schemeClr val="tx1"/>
                </a:solidFill>
              </a:rPr>
              <a:t>if at the end of a time step a cell is occupied by more than one bison, then a random asynchronous movement to neighboring permitted cells is started (the last bison stays at the cell):</a:t>
            </a:r>
          </a:p>
          <a:p>
            <a:pPr marL="450850" lvl="1" indent="-268288" algn="just">
              <a:spcAft>
                <a:spcPts val="600"/>
              </a:spcAft>
              <a:buFont typeface="Symbol" panose="05050102010706020507" pitchFamily="18" charset="2"/>
              <a:buChar char="-"/>
            </a:pPr>
            <a:r>
              <a:rPr lang="en-US" sz="1400" noProof="0" dirty="0">
                <a:solidFill>
                  <a:schemeClr val="tx1"/>
                </a:solidFill>
              </a:rPr>
              <a:t>priority is given to bison moving to unoccupied permitted neighboring cells,</a:t>
            </a:r>
          </a:p>
          <a:p>
            <a:pPr marL="450850" lvl="1" indent="-268288" algn="just">
              <a:spcAft>
                <a:spcPts val="600"/>
              </a:spcAft>
              <a:buFont typeface="Symbol" panose="05050102010706020507" pitchFamily="18" charset="2"/>
              <a:buChar char="-"/>
            </a:pPr>
            <a:r>
              <a:rPr lang="en-US" sz="1400" noProof="0" dirty="0">
                <a:solidFill>
                  <a:schemeClr val="tx1"/>
                </a:solidFill>
              </a:rPr>
              <a:t>if these do not exist then bison move to that neighboring cell that is occupied by the least number of other bison (break ties randomly)</a:t>
            </a:r>
          </a:p>
          <a:p>
            <a:pPr marL="450850" lvl="1" indent="-268288" algn="just">
              <a:spcAft>
                <a:spcPts val="600"/>
              </a:spcAft>
              <a:buFont typeface="Symbol" panose="05050102010706020507" pitchFamily="18" charset="2"/>
              <a:buChar char="-"/>
            </a:pPr>
            <a:endParaRPr lang="en-US" sz="1400" noProof="0" dirty="0">
              <a:solidFill>
                <a:schemeClr val="tx1"/>
              </a:solidFill>
            </a:endParaRPr>
          </a:p>
        </p:txBody>
      </p:sp>
      <p:graphicFrame>
        <p:nvGraphicFramePr>
          <p:cNvPr id="11" name="Tabelle 10">
            <a:extLst>
              <a:ext uri="{FF2B5EF4-FFF2-40B4-BE49-F238E27FC236}">
                <a16:creationId xmlns:a16="http://schemas.microsoft.com/office/drawing/2014/main" id="{E4EB143A-C293-BB3E-86C6-32A7A8C53FAF}"/>
              </a:ext>
            </a:extLst>
          </p:cNvPr>
          <p:cNvGraphicFramePr>
            <a:graphicFrameLocks noGrp="1"/>
          </p:cNvGraphicFramePr>
          <p:nvPr>
            <p:extLst>
              <p:ext uri="{D42A27DB-BD31-4B8C-83A1-F6EECF244321}">
                <p14:modId xmlns:p14="http://schemas.microsoft.com/office/powerpoint/2010/main" val="1963977037"/>
              </p:ext>
            </p:extLst>
          </p:nvPr>
        </p:nvGraphicFramePr>
        <p:xfrm>
          <a:off x="6036637" y="1203598"/>
          <a:ext cx="2783835" cy="1280160"/>
        </p:xfrm>
        <a:graphic>
          <a:graphicData uri="http://schemas.openxmlformats.org/drawingml/2006/table">
            <a:tbl>
              <a:tblPr firstRow="1" bandRow="1">
                <a:tableStyleId>{5C22544A-7EE6-4342-B048-85BDC9FD1C3A}</a:tableStyleId>
              </a:tblPr>
              <a:tblGrid>
                <a:gridCol w="2783835">
                  <a:extLst>
                    <a:ext uri="{9D8B030D-6E8A-4147-A177-3AD203B41FA5}">
                      <a16:colId xmlns:a16="http://schemas.microsoft.com/office/drawing/2014/main" val="2083426613"/>
                    </a:ext>
                  </a:extLst>
                </a:gridCol>
              </a:tblGrid>
              <a:tr h="0">
                <a:tc>
                  <a:txBody>
                    <a:bodyPr/>
                    <a:lstStyle/>
                    <a:p>
                      <a:pPr algn="ctr"/>
                      <a:r>
                        <a:rPr lang="en-US" sz="1200" noProof="0" dirty="0">
                          <a:solidFill>
                            <a:schemeClr val="tx1"/>
                          </a:solidFill>
                        </a:rPr>
                        <a:t>Bison Movement Prioritization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25296254"/>
                  </a:ext>
                </a:extLst>
              </a:tr>
              <a:tr h="0">
                <a:tc>
                  <a:txBody>
                    <a:bodyPr/>
                    <a:lstStyle/>
                    <a:p>
                      <a:pPr marL="266700" indent="-266700" algn="l">
                        <a:buFont typeface="+mj-lt"/>
                        <a:buAutoNum type="arabicPeriod"/>
                      </a:pPr>
                      <a:r>
                        <a:rPr lang="en-US" sz="1200" noProof="0" dirty="0"/>
                        <a:t>Wolve escape</a:t>
                      </a:r>
                    </a:p>
                    <a:p>
                      <a:pPr marL="266700" indent="-266700" algn="l">
                        <a:buFont typeface="+mj-lt"/>
                        <a:buAutoNum type="arabicPeriod"/>
                      </a:pPr>
                      <a:r>
                        <a:rPr lang="en-US" sz="1200" noProof="0" dirty="0"/>
                        <a:t>Grassland rules (better feeding conditions)</a:t>
                      </a:r>
                    </a:p>
                    <a:p>
                      <a:pPr marL="266700" indent="-266700" algn="l">
                        <a:buFont typeface="+mj-lt"/>
                        <a:buAutoNum type="arabicPeriod"/>
                      </a:pPr>
                      <a:r>
                        <a:rPr lang="en-US" sz="1200" noProof="0" dirty="0"/>
                        <a:t>Social rules (keep number of bison at one per cell)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405891"/>
                  </a:ext>
                </a:extLst>
              </a:tr>
            </a:tbl>
          </a:graphicData>
        </a:graphic>
      </p:graphicFrame>
    </p:spTree>
    <p:extLst>
      <p:ext uri="{BB962C8B-B14F-4D97-AF65-F5344CB8AC3E}">
        <p14:creationId xmlns:p14="http://schemas.microsoft.com/office/powerpoint/2010/main" val="4064056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37D667-3AA6-277D-2691-C1D2452EAFA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2D6D000E-EF02-D5BC-3134-0808012CE029}"/>
              </a:ext>
            </a:extLst>
          </p:cNvPr>
          <p:cNvSpPr>
            <a:spLocks noGrp="1"/>
          </p:cNvSpPr>
          <p:nvPr>
            <p:ph type="title"/>
          </p:nvPr>
        </p:nvSpPr>
        <p:spPr/>
        <p:txBody>
          <a:bodyPr/>
          <a:lstStyle/>
          <a:p>
            <a:r>
              <a:rPr lang="en-US" noProof="0" dirty="0"/>
              <a:t>The conceptual model:</a:t>
            </a:r>
            <a:br>
              <a:rPr lang="en-US" noProof="0" dirty="0"/>
            </a:br>
            <a:r>
              <a:rPr lang="en-US" noProof="0" dirty="0"/>
              <a:t>Multi-agent design (3/ 3)</a:t>
            </a:r>
          </a:p>
        </p:txBody>
      </p:sp>
      <p:sp>
        <p:nvSpPr>
          <p:cNvPr id="3" name="Rechteck 2">
            <a:extLst>
              <a:ext uri="{FF2B5EF4-FFF2-40B4-BE49-F238E27FC236}">
                <a16:creationId xmlns:a16="http://schemas.microsoft.com/office/drawing/2014/main" id="{4C02BE46-7249-8BD4-33CB-A8C52E26386B}"/>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D799D401-577E-D6BF-D901-4D3929A84097}"/>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19A1C2E5-7BCA-339D-002A-7E0E1DF7C41D}"/>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9BA24095-B603-3D7F-BFF4-E172166626E2}"/>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92BC0BC8-18E6-6670-AC6E-0466A84EBE7E}"/>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3E01850D-DCAC-7538-E34E-68DAEFBE2404}"/>
              </a:ext>
            </a:extLst>
          </p:cNvPr>
          <p:cNvSpPr/>
          <p:nvPr/>
        </p:nvSpPr>
        <p:spPr>
          <a:xfrm>
            <a:off x="1691681" y="1131590"/>
            <a:ext cx="4174814"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Update/ Time-Evolution Rules:</a:t>
            </a:r>
            <a:endParaRPr lang="en-US" sz="1400" noProof="0" dirty="0">
              <a:solidFill>
                <a:schemeClr val="tx1"/>
              </a:solidFill>
            </a:endParaRPr>
          </a:p>
          <a:p>
            <a:pPr marL="182563" indent="-182563" algn="just">
              <a:spcAft>
                <a:spcPts val="600"/>
              </a:spcAft>
              <a:buFont typeface="Arial" panose="020B0604020202020204" pitchFamily="34" charset="0"/>
              <a:buChar char="•"/>
            </a:pPr>
            <a:r>
              <a:rPr lang="en-US" sz="1400" noProof="0" dirty="0">
                <a:solidFill>
                  <a:schemeClr val="tx1"/>
                </a:solidFill>
              </a:rPr>
              <a:t>Random initialization of NB bison and NW wolves (such that permitted cells are occupied only).</a:t>
            </a:r>
          </a:p>
          <a:p>
            <a:pPr marL="182563" indent="-182563" algn="just">
              <a:spcAft>
                <a:spcPts val="600"/>
              </a:spcAft>
              <a:buFont typeface="Arial" panose="020B0604020202020204" pitchFamily="34" charset="0"/>
              <a:buChar char="•"/>
            </a:pPr>
            <a:r>
              <a:rPr lang="en-US" sz="1400" noProof="0" dirty="0">
                <a:solidFill>
                  <a:schemeClr val="tx1"/>
                </a:solidFill>
              </a:rPr>
              <a:t>During each simulation time step:</a:t>
            </a:r>
          </a:p>
          <a:p>
            <a:pPr marL="450850" indent="-268288" algn="just">
              <a:spcAft>
                <a:spcPts val="600"/>
              </a:spcAft>
              <a:buFont typeface="Symbol" panose="05050102010706020507" pitchFamily="18" charset="2"/>
              <a:buChar char="-"/>
            </a:pPr>
            <a:r>
              <a:rPr lang="en-US" sz="1400" noProof="0" dirty="0">
                <a:solidFill>
                  <a:schemeClr val="tx1"/>
                </a:solidFill>
              </a:rPr>
              <a:t>count current occupancy</a:t>
            </a:r>
          </a:p>
          <a:p>
            <a:pPr marL="450850" indent="-268288" algn="just">
              <a:spcAft>
                <a:spcPts val="600"/>
              </a:spcAft>
              <a:buFont typeface="Symbol" panose="05050102010706020507" pitchFamily="18" charset="2"/>
              <a:buChar char="-"/>
            </a:pPr>
            <a:r>
              <a:rPr lang="en-US" sz="1400" noProof="0" dirty="0">
                <a:solidFill>
                  <a:schemeClr val="tx1"/>
                </a:solidFill>
              </a:rPr>
              <a:t>move wolves only if current time step is a multiple of k</a:t>
            </a:r>
          </a:p>
          <a:p>
            <a:pPr marL="450850" indent="-268288" algn="just">
              <a:spcAft>
                <a:spcPts val="600"/>
              </a:spcAft>
              <a:buFont typeface="Symbol" panose="05050102010706020507" pitchFamily="18" charset="2"/>
              <a:buChar char="-"/>
            </a:pPr>
            <a:r>
              <a:rPr lang="en-US" sz="1400" noProof="0" dirty="0">
                <a:solidFill>
                  <a:schemeClr val="tx1"/>
                </a:solidFill>
              </a:rPr>
              <a:t>detect cells where wolves and bison coincide and force bison escape from wolf-occupied cells</a:t>
            </a:r>
          </a:p>
          <a:p>
            <a:pPr marL="450850" indent="-268288" algn="just">
              <a:spcAft>
                <a:spcPts val="600"/>
              </a:spcAft>
              <a:buFont typeface="Symbol" panose="05050102010706020507" pitchFamily="18" charset="2"/>
              <a:buChar char="-"/>
            </a:pPr>
            <a:r>
              <a:rPr lang="en-US" sz="1400" noProof="0" dirty="0">
                <a:solidFill>
                  <a:schemeClr val="tx1"/>
                </a:solidFill>
              </a:rPr>
              <a:t>asynchronously move remaining bison according to better grassland rule and social rule</a:t>
            </a:r>
          </a:p>
          <a:p>
            <a:pPr marL="450850" indent="-268288" algn="just">
              <a:spcAft>
                <a:spcPts val="600"/>
              </a:spcAft>
              <a:buFont typeface="Symbol" panose="05050102010706020507" pitchFamily="18" charset="2"/>
              <a:buChar char="-"/>
            </a:pPr>
            <a:r>
              <a:rPr lang="en-US" sz="1400" noProof="0" dirty="0">
                <a:solidFill>
                  <a:schemeClr val="tx1"/>
                </a:solidFill>
              </a:rPr>
              <a:t>update grassland stages from local bison pressure and convert eligible stage-5 grassland to forest</a:t>
            </a:r>
          </a:p>
          <a:p>
            <a:pPr marL="450850" indent="-268288" algn="just">
              <a:spcAft>
                <a:spcPts val="600"/>
              </a:spcAft>
              <a:buFont typeface="Symbol" panose="05050102010706020507" pitchFamily="18" charset="2"/>
              <a:buChar char="-"/>
            </a:pPr>
            <a:r>
              <a:rPr lang="en-US" sz="1400" noProof="0" dirty="0">
                <a:solidFill>
                  <a:schemeClr val="tx1"/>
                </a:solidFill>
              </a:rPr>
              <a:t>record metrics and optionally render</a:t>
            </a:r>
          </a:p>
        </p:txBody>
      </p:sp>
      <p:graphicFrame>
        <p:nvGraphicFramePr>
          <p:cNvPr id="12" name="Tabelle 11">
            <a:extLst>
              <a:ext uri="{FF2B5EF4-FFF2-40B4-BE49-F238E27FC236}">
                <a16:creationId xmlns:a16="http://schemas.microsoft.com/office/drawing/2014/main" id="{12A4ED95-7D42-850E-3249-D92E539B0297}"/>
              </a:ext>
            </a:extLst>
          </p:cNvPr>
          <p:cNvGraphicFramePr>
            <a:graphicFrameLocks noGrp="1"/>
          </p:cNvGraphicFramePr>
          <p:nvPr>
            <p:extLst>
              <p:ext uri="{D42A27DB-BD31-4B8C-83A1-F6EECF244321}">
                <p14:modId xmlns:p14="http://schemas.microsoft.com/office/powerpoint/2010/main" val="476537207"/>
              </p:ext>
            </p:extLst>
          </p:nvPr>
        </p:nvGraphicFramePr>
        <p:xfrm>
          <a:off x="6036637" y="1203598"/>
          <a:ext cx="2783835" cy="1645920"/>
        </p:xfrm>
        <a:graphic>
          <a:graphicData uri="http://schemas.openxmlformats.org/drawingml/2006/table">
            <a:tbl>
              <a:tblPr firstRow="1" bandRow="1">
                <a:tableStyleId>{5C22544A-7EE6-4342-B048-85BDC9FD1C3A}</a:tableStyleId>
              </a:tblPr>
              <a:tblGrid>
                <a:gridCol w="2783835">
                  <a:extLst>
                    <a:ext uri="{9D8B030D-6E8A-4147-A177-3AD203B41FA5}">
                      <a16:colId xmlns:a16="http://schemas.microsoft.com/office/drawing/2014/main" val="2083426613"/>
                    </a:ext>
                  </a:extLst>
                </a:gridCol>
              </a:tblGrid>
              <a:tr h="0">
                <a:tc>
                  <a:txBody>
                    <a:bodyPr/>
                    <a:lstStyle/>
                    <a:p>
                      <a:pPr algn="ctr"/>
                      <a:r>
                        <a:rPr lang="en-US" sz="1200" noProof="0" dirty="0">
                          <a:solidFill>
                            <a:schemeClr val="tx1"/>
                          </a:solidFill>
                        </a:rPr>
                        <a:t>Bison Movement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25296254"/>
                  </a:ext>
                </a:extLst>
              </a:tr>
              <a:tr h="0">
                <a:tc>
                  <a:txBody>
                    <a:bodyPr/>
                    <a:lstStyle/>
                    <a:p>
                      <a:pPr marL="171450" indent="-171450" algn="l">
                        <a:buFont typeface="Arial" panose="020B0604020202020204" pitchFamily="34" charset="0"/>
                        <a:buChar char="•"/>
                      </a:pPr>
                      <a:r>
                        <a:rPr lang="en-US" sz="1200" noProof="0" dirty="0"/>
                        <a:t>candidate cells are von Neumann neighbors that are grassland</a:t>
                      </a:r>
                    </a:p>
                    <a:p>
                      <a:pPr marL="171450" indent="-171450" algn="l">
                        <a:buFont typeface="Arial" panose="020B0604020202020204" pitchFamily="34" charset="0"/>
                        <a:buChar char="•"/>
                      </a:pPr>
                      <a:r>
                        <a:rPr lang="en-US" sz="1200" noProof="0" dirty="0"/>
                        <a:t>score each candidate by number of bison already there</a:t>
                      </a:r>
                    </a:p>
                    <a:p>
                      <a:pPr marL="171450" indent="-171450" algn="l">
                        <a:buFont typeface="Arial" panose="020B0604020202020204" pitchFamily="34" charset="0"/>
                        <a:buChar char="•"/>
                      </a:pPr>
                      <a:r>
                        <a:rPr lang="en-US" sz="1200" noProof="0" dirty="0"/>
                        <a:t>move to one of the highest-scoring candidates</a:t>
                      </a:r>
                    </a:p>
                    <a:p>
                      <a:pPr marL="171450" indent="-171450" algn="l">
                        <a:buFont typeface="Arial" panose="020B0604020202020204" pitchFamily="34" charset="0"/>
                        <a:buChar char="•"/>
                      </a:pPr>
                      <a:r>
                        <a:rPr lang="en-US" sz="1200" noProof="0" dirty="0"/>
                        <a:t>break ties randomly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405891"/>
                  </a:ext>
                </a:extLst>
              </a:tr>
            </a:tbl>
          </a:graphicData>
        </a:graphic>
      </p:graphicFrame>
      <p:graphicFrame>
        <p:nvGraphicFramePr>
          <p:cNvPr id="8" name="Tabelle 7">
            <a:extLst>
              <a:ext uri="{FF2B5EF4-FFF2-40B4-BE49-F238E27FC236}">
                <a16:creationId xmlns:a16="http://schemas.microsoft.com/office/drawing/2014/main" id="{0AAF14CC-5801-AA16-CD94-ED3365354AAA}"/>
              </a:ext>
            </a:extLst>
          </p:cNvPr>
          <p:cNvGraphicFramePr>
            <a:graphicFrameLocks noGrp="1"/>
          </p:cNvGraphicFramePr>
          <p:nvPr>
            <p:extLst>
              <p:ext uri="{D42A27DB-BD31-4B8C-83A1-F6EECF244321}">
                <p14:modId xmlns:p14="http://schemas.microsoft.com/office/powerpoint/2010/main" val="4074484986"/>
              </p:ext>
            </p:extLst>
          </p:nvPr>
        </p:nvGraphicFramePr>
        <p:xfrm>
          <a:off x="6036637" y="2931790"/>
          <a:ext cx="2783835" cy="1280160"/>
        </p:xfrm>
        <a:graphic>
          <a:graphicData uri="http://schemas.openxmlformats.org/drawingml/2006/table">
            <a:tbl>
              <a:tblPr firstRow="1" bandRow="1">
                <a:tableStyleId>{5C22544A-7EE6-4342-B048-85BDC9FD1C3A}</a:tableStyleId>
              </a:tblPr>
              <a:tblGrid>
                <a:gridCol w="2783835">
                  <a:extLst>
                    <a:ext uri="{9D8B030D-6E8A-4147-A177-3AD203B41FA5}">
                      <a16:colId xmlns:a16="http://schemas.microsoft.com/office/drawing/2014/main" val="2083426613"/>
                    </a:ext>
                  </a:extLst>
                </a:gridCol>
              </a:tblGrid>
              <a:tr h="0">
                <a:tc>
                  <a:txBody>
                    <a:bodyPr/>
                    <a:lstStyle/>
                    <a:p>
                      <a:pPr algn="ctr"/>
                      <a:r>
                        <a:rPr lang="en-US" sz="1200" noProof="0" dirty="0">
                          <a:solidFill>
                            <a:schemeClr val="tx1"/>
                          </a:solidFill>
                        </a:rPr>
                        <a:t>Bison Escape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3425296254"/>
                  </a:ext>
                </a:extLst>
              </a:tr>
              <a:tr h="0">
                <a:tc>
                  <a:txBody>
                    <a:bodyPr/>
                    <a:lstStyle/>
                    <a:p>
                      <a:pPr marL="171450" indent="-171450" algn="l">
                        <a:buFont typeface="Arial" panose="020B0604020202020204" pitchFamily="34" charset="0"/>
                        <a:buChar char="•"/>
                      </a:pPr>
                      <a:r>
                        <a:rPr lang="en-US" sz="1200" noProof="0" dirty="0"/>
                        <a:t>for each bison in a wolf-occupied cell, search neighboring grassland cells without wolves</a:t>
                      </a:r>
                    </a:p>
                    <a:p>
                      <a:pPr marL="171450" indent="-171450" algn="l">
                        <a:buFont typeface="Arial" panose="020B0604020202020204" pitchFamily="34" charset="0"/>
                        <a:buChar char="•"/>
                      </a:pPr>
                      <a:r>
                        <a:rPr lang="en-US" sz="1200" noProof="0" dirty="0"/>
                        <a:t>if several exist, choose randomly</a:t>
                      </a:r>
                    </a:p>
                    <a:p>
                      <a:pPr marL="171450" indent="-171450" algn="l">
                        <a:buFont typeface="Arial" panose="020B0604020202020204" pitchFamily="34" charset="0"/>
                        <a:buChar char="•"/>
                      </a:pPr>
                      <a:r>
                        <a:rPr lang="en-US" sz="1200" noProof="0" dirty="0"/>
                        <a:t>if none exist, stay put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293405891"/>
                  </a:ext>
                </a:extLst>
              </a:tr>
            </a:tbl>
          </a:graphicData>
        </a:graphic>
      </p:graphicFrame>
    </p:spTree>
    <p:extLst>
      <p:ext uri="{BB962C8B-B14F-4D97-AF65-F5344CB8AC3E}">
        <p14:creationId xmlns:p14="http://schemas.microsoft.com/office/powerpoint/2010/main" val="21857588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43D6338-C220-3F96-E3A6-97129D45C9A5}"/>
              </a:ext>
            </a:extLst>
          </p:cNvPr>
          <p:cNvSpPr>
            <a:spLocks noGrp="1"/>
          </p:cNvSpPr>
          <p:nvPr>
            <p:ph type="title"/>
          </p:nvPr>
        </p:nvSpPr>
        <p:spPr/>
        <p:txBody>
          <a:bodyPr/>
          <a:lstStyle/>
          <a:p>
            <a:r>
              <a:rPr lang="en-US" noProof="0" dirty="0"/>
              <a:t>To support AI-assisted coding, we use a very modular program structure</a:t>
            </a:r>
          </a:p>
        </p:txBody>
      </p:sp>
      <p:sp>
        <p:nvSpPr>
          <p:cNvPr id="3" name="Rechteck: obere Ecken abgerundet 2">
            <a:extLst>
              <a:ext uri="{FF2B5EF4-FFF2-40B4-BE49-F238E27FC236}">
                <a16:creationId xmlns:a16="http://schemas.microsoft.com/office/drawing/2014/main" id="{2E9C2B4D-9EEF-5FB7-3AAC-72158ED3F096}"/>
              </a:ext>
            </a:extLst>
          </p:cNvPr>
          <p:cNvSpPr/>
          <p:nvPr/>
        </p:nvSpPr>
        <p:spPr>
          <a:xfrm>
            <a:off x="3275855" y="1136043"/>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hteck 3">
            <a:extLst>
              <a:ext uri="{FF2B5EF4-FFF2-40B4-BE49-F238E27FC236}">
                <a16:creationId xmlns:a16="http://schemas.microsoft.com/office/drawing/2014/main" id="{CDDC491B-6504-43DA-0443-923C783A1973}"/>
              </a:ext>
            </a:extLst>
          </p:cNvPr>
          <p:cNvSpPr/>
          <p:nvPr/>
        </p:nvSpPr>
        <p:spPr>
          <a:xfrm>
            <a:off x="3275856" y="1269676"/>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Yellowstone/</a:t>
            </a:r>
          </a:p>
        </p:txBody>
      </p:sp>
      <p:sp>
        <p:nvSpPr>
          <p:cNvPr id="5" name="Rechteck: obere Ecken abgerundet 4">
            <a:extLst>
              <a:ext uri="{FF2B5EF4-FFF2-40B4-BE49-F238E27FC236}">
                <a16:creationId xmlns:a16="http://schemas.microsoft.com/office/drawing/2014/main" id="{EBF59476-7774-66D7-97AB-7120A8B239FC}"/>
              </a:ext>
            </a:extLst>
          </p:cNvPr>
          <p:cNvSpPr/>
          <p:nvPr/>
        </p:nvSpPr>
        <p:spPr>
          <a:xfrm>
            <a:off x="985108" y="2643758"/>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hteck 5">
            <a:extLst>
              <a:ext uri="{FF2B5EF4-FFF2-40B4-BE49-F238E27FC236}">
                <a16:creationId xmlns:a16="http://schemas.microsoft.com/office/drawing/2014/main" id="{B3CD2BE1-106F-1823-35B7-490644B97CF6}"/>
              </a:ext>
            </a:extLst>
          </p:cNvPr>
          <p:cNvSpPr/>
          <p:nvPr/>
        </p:nvSpPr>
        <p:spPr>
          <a:xfrm>
            <a:off x="985108" y="2777391"/>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visualization/</a:t>
            </a:r>
          </a:p>
        </p:txBody>
      </p:sp>
      <p:sp>
        <p:nvSpPr>
          <p:cNvPr id="7" name="Rechteck: obere Ecken abgerundet 6">
            <a:extLst>
              <a:ext uri="{FF2B5EF4-FFF2-40B4-BE49-F238E27FC236}">
                <a16:creationId xmlns:a16="http://schemas.microsoft.com/office/drawing/2014/main" id="{AB7AEA91-6700-2D80-1B13-A30CDA55E937}"/>
              </a:ext>
            </a:extLst>
          </p:cNvPr>
          <p:cNvSpPr/>
          <p:nvPr/>
        </p:nvSpPr>
        <p:spPr>
          <a:xfrm>
            <a:off x="985108" y="4454340"/>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 name="Rechteck 7">
            <a:extLst>
              <a:ext uri="{FF2B5EF4-FFF2-40B4-BE49-F238E27FC236}">
                <a16:creationId xmlns:a16="http://schemas.microsoft.com/office/drawing/2014/main" id="{3D183226-3486-8E5D-FB2E-9548A84F8930}"/>
              </a:ext>
            </a:extLst>
          </p:cNvPr>
          <p:cNvSpPr/>
          <p:nvPr/>
        </p:nvSpPr>
        <p:spPr>
          <a:xfrm>
            <a:off x="985108" y="4578743"/>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tests/</a:t>
            </a:r>
          </a:p>
        </p:txBody>
      </p:sp>
      <p:cxnSp>
        <p:nvCxnSpPr>
          <p:cNvPr id="9" name="Verbinder: gewinkelt 8">
            <a:extLst>
              <a:ext uri="{FF2B5EF4-FFF2-40B4-BE49-F238E27FC236}">
                <a16:creationId xmlns:a16="http://schemas.microsoft.com/office/drawing/2014/main" id="{A2A6C851-C137-D66E-070B-95E3A51E14C5}"/>
              </a:ext>
            </a:extLst>
          </p:cNvPr>
          <p:cNvCxnSpPr>
            <a:stCxn id="4" idx="2"/>
            <a:endCxn id="6" idx="3"/>
          </p:cNvCxnSpPr>
          <p:nvPr/>
        </p:nvCxnSpPr>
        <p:spPr>
          <a:xfrm rot="5400000">
            <a:off x="2351040" y="1497151"/>
            <a:ext cx="1287076" cy="171468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0" name="Verbinder: gewinkelt 9">
            <a:extLst>
              <a:ext uri="{FF2B5EF4-FFF2-40B4-BE49-F238E27FC236}">
                <a16:creationId xmlns:a16="http://schemas.microsoft.com/office/drawing/2014/main" id="{6DA0B1A5-01BF-74DB-00F1-EFB86C221506}"/>
              </a:ext>
            </a:extLst>
          </p:cNvPr>
          <p:cNvCxnSpPr>
            <a:cxnSpLocks/>
            <a:stCxn id="4" idx="2"/>
            <a:endCxn id="8" idx="3"/>
          </p:cNvCxnSpPr>
          <p:nvPr/>
        </p:nvCxnSpPr>
        <p:spPr>
          <a:xfrm rot="5400000">
            <a:off x="1450364" y="2397827"/>
            <a:ext cx="3088428" cy="171468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1" name="Rechteck 10">
            <a:extLst>
              <a:ext uri="{FF2B5EF4-FFF2-40B4-BE49-F238E27FC236}">
                <a16:creationId xmlns:a16="http://schemas.microsoft.com/office/drawing/2014/main" id="{21CA0001-496E-8C91-AEA7-69426D58BD80}"/>
              </a:ext>
            </a:extLst>
          </p:cNvPr>
          <p:cNvSpPr/>
          <p:nvPr/>
        </p:nvSpPr>
        <p:spPr>
          <a:xfrm>
            <a:off x="1647248" y="3335702"/>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__init__.py</a:t>
            </a:r>
          </a:p>
        </p:txBody>
      </p:sp>
      <p:sp>
        <p:nvSpPr>
          <p:cNvPr id="12" name="Rechteck 11">
            <a:extLst>
              <a:ext uri="{FF2B5EF4-FFF2-40B4-BE49-F238E27FC236}">
                <a16:creationId xmlns:a16="http://schemas.microsoft.com/office/drawing/2014/main" id="{692B62BD-40EB-211B-7ECB-8AC7F6215745}"/>
              </a:ext>
            </a:extLst>
          </p:cNvPr>
          <p:cNvSpPr/>
          <p:nvPr/>
        </p:nvSpPr>
        <p:spPr>
          <a:xfrm>
            <a:off x="1647248" y="3674414"/>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plot.py</a:t>
            </a:r>
          </a:p>
        </p:txBody>
      </p:sp>
      <p:sp>
        <p:nvSpPr>
          <p:cNvPr id="13" name="Rechteck 12">
            <a:extLst>
              <a:ext uri="{FF2B5EF4-FFF2-40B4-BE49-F238E27FC236}">
                <a16:creationId xmlns:a16="http://schemas.microsoft.com/office/drawing/2014/main" id="{4B919052-A8E0-2029-BA6F-0828B8EE793C}"/>
              </a:ext>
            </a:extLst>
          </p:cNvPr>
          <p:cNvSpPr/>
          <p:nvPr/>
        </p:nvSpPr>
        <p:spPr>
          <a:xfrm>
            <a:off x="1647248" y="401375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animation.py</a:t>
            </a:r>
          </a:p>
        </p:txBody>
      </p:sp>
      <p:cxnSp>
        <p:nvCxnSpPr>
          <p:cNvPr id="14" name="Verbinder: gewinkelt 13">
            <a:extLst>
              <a:ext uri="{FF2B5EF4-FFF2-40B4-BE49-F238E27FC236}">
                <a16:creationId xmlns:a16="http://schemas.microsoft.com/office/drawing/2014/main" id="{9AFF20E8-DE9B-10B5-502E-902E95A52694}"/>
              </a:ext>
            </a:extLst>
          </p:cNvPr>
          <p:cNvCxnSpPr>
            <a:cxnSpLocks/>
            <a:stCxn id="6" idx="2"/>
            <a:endCxn id="11" idx="1"/>
          </p:cNvCxnSpPr>
          <p:nvPr/>
        </p:nvCxnSpPr>
        <p:spPr>
          <a:xfrm rot="16200000" flipH="1">
            <a:off x="1473686" y="3306156"/>
            <a:ext cx="261048" cy="8607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 name="Verbinder: gewinkelt 14">
            <a:extLst>
              <a:ext uri="{FF2B5EF4-FFF2-40B4-BE49-F238E27FC236}">
                <a16:creationId xmlns:a16="http://schemas.microsoft.com/office/drawing/2014/main" id="{9902E9AF-3A81-908D-D516-DCA16A6AE336}"/>
              </a:ext>
            </a:extLst>
          </p:cNvPr>
          <p:cNvCxnSpPr>
            <a:cxnSpLocks/>
            <a:stCxn id="6" idx="2"/>
            <a:endCxn id="13" idx="1"/>
          </p:cNvCxnSpPr>
          <p:nvPr/>
        </p:nvCxnSpPr>
        <p:spPr>
          <a:xfrm rot="16200000" flipH="1">
            <a:off x="1134658" y="3645184"/>
            <a:ext cx="939105" cy="8607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Verbinder: gewinkelt 15">
            <a:extLst>
              <a:ext uri="{FF2B5EF4-FFF2-40B4-BE49-F238E27FC236}">
                <a16:creationId xmlns:a16="http://schemas.microsoft.com/office/drawing/2014/main" id="{71D0AC72-BE80-388C-4E43-692CC73D8BC7}"/>
              </a:ext>
            </a:extLst>
          </p:cNvPr>
          <p:cNvCxnSpPr>
            <a:cxnSpLocks/>
            <a:stCxn id="6" idx="2"/>
            <a:endCxn id="12" idx="1"/>
          </p:cNvCxnSpPr>
          <p:nvPr/>
        </p:nvCxnSpPr>
        <p:spPr>
          <a:xfrm rot="16200000" flipH="1">
            <a:off x="1304330" y="3475512"/>
            <a:ext cx="599760" cy="8607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7" name="Rechteck: obere Ecken abgerundet 16">
            <a:extLst>
              <a:ext uri="{FF2B5EF4-FFF2-40B4-BE49-F238E27FC236}">
                <a16:creationId xmlns:a16="http://schemas.microsoft.com/office/drawing/2014/main" id="{DBFE7E66-7A73-F6D1-3CAA-90CD1FF47EAE}"/>
              </a:ext>
            </a:extLst>
          </p:cNvPr>
          <p:cNvSpPr/>
          <p:nvPr/>
        </p:nvSpPr>
        <p:spPr>
          <a:xfrm>
            <a:off x="4716016" y="3369023"/>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8" name="Rechteck 17">
            <a:extLst>
              <a:ext uri="{FF2B5EF4-FFF2-40B4-BE49-F238E27FC236}">
                <a16:creationId xmlns:a16="http://schemas.microsoft.com/office/drawing/2014/main" id="{71D557CF-FACB-6DE8-5589-1895A5C6092E}"/>
              </a:ext>
            </a:extLst>
          </p:cNvPr>
          <p:cNvSpPr/>
          <p:nvPr/>
        </p:nvSpPr>
        <p:spPr>
          <a:xfrm>
            <a:off x="4716017" y="3502656"/>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analysis/</a:t>
            </a:r>
          </a:p>
        </p:txBody>
      </p:sp>
      <p:sp>
        <p:nvSpPr>
          <p:cNvPr id="19" name="Rechteck 18">
            <a:extLst>
              <a:ext uri="{FF2B5EF4-FFF2-40B4-BE49-F238E27FC236}">
                <a16:creationId xmlns:a16="http://schemas.microsoft.com/office/drawing/2014/main" id="{C264CD3F-C669-A028-39E5-5EC4F854C468}"/>
              </a:ext>
            </a:extLst>
          </p:cNvPr>
          <p:cNvSpPr/>
          <p:nvPr/>
        </p:nvSpPr>
        <p:spPr>
          <a:xfrm>
            <a:off x="4880230" y="406542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__init__.py</a:t>
            </a:r>
          </a:p>
        </p:txBody>
      </p:sp>
      <p:sp>
        <p:nvSpPr>
          <p:cNvPr id="20" name="Rechteck 19">
            <a:extLst>
              <a:ext uri="{FF2B5EF4-FFF2-40B4-BE49-F238E27FC236}">
                <a16:creationId xmlns:a16="http://schemas.microsoft.com/office/drawing/2014/main" id="{6EFA5290-5724-02DE-EA4B-0B18CBF9F396}"/>
              </a:ext>
            </a:extLst>
          </p:cNvPr>
          <p:cNvSpPr/>
          <p:nvPr/>
        </p:nvSpPr>
        <p:spPr>
          <a:xfrm>
            <a:off x="4880230" y="439967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metrics.py</a:t>
            </a:r>
          </a:p>
        </p:txBody>
      </p:sp>
      <p:sp>
        <p:nvSpPr>
          <p:cNvPr id="22" name="Rechteck 21">
            <a:extLst>
              <a:ext uri="{FF2B5EF4-FFF2-40B4-BE49-F238E27FC236}">
                <a16:creationId xmlns:a16="http://schemas.microsoft.com/office/drawing/2014/main" id="{07B6D3B7-001A-AADC-3967-2A3CC079ED5D}"/>
              </a:ext>
            </a:extLst>
          </p:cNvPr>
          <p:cNvSpPr/>
          <p:nvPr/>
        </p:nvSpPr>
        <p:spPr>
          <a:xfrm>
            <a:off x="4716016" y="3810320"/>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23" name="Verbinder: gewinkelt 22">
            <a:extLst>
              <a:ext uri="{FF2B5EF4-FFF2-40B4-BE49-F238E27FC236}">
                <a16:creationId xmlns:a16="http://schemas.microsoft.com/office/drawing/2014/main" id="{095CDA7C-4FC1-2296-2E7D-1DD0C2DC896C}"/>
              </a:ext>
            </a:extLst>
          </p:cNvPr>
          <p:cNvCxnSpPr>
            <a:cxnSpLocks/>
            <a:stCxn id="22" idx="2"/>
            <a:endCxn id="19" idx="1"/>
          </p:cNvCxnSpPr>
          <p:nvPr/>
        </p:nvCxnSpPr>
        <p:spPr>
          <a:xfrm rot="16200000" flipH="1">
            <a:off x="4706435" y="4035641"/>
            <a:ext cx="265482" cy="82107"/>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5" name="Verbinder: gewinkelt 24">
            <a:extLst>
              <a:ext uri="{FF2B5EF4-FFF2-40B4-BE49-F238E27FC236}">
                <a16:creationId xmlns:a16="http://schemas.microsoft.com/office/drawing/2014/main" id="{84B05E9B-7040-0243-1D3A-D25AF5CEC0AA}"/>
              </a:ext>
            </a:extLst>
          </p:cNvPr>
          <p:cNvCxnSpPr>
            <a:cxnSpLocks/>
            <a:stCxn id="22" idx="2"/>
            <a:endCxn id="20" idx="1"/>
          </p:cNvCxnSpPr>
          <p:nvPr/>
        </p:nvCxnSpPr>
        <p:spPr>
          <a:xfrm rot="16200000" flipH="1">
            <a:off x="4539306" y="4202770"/>
            <a:ext cx="599741" cy="82107"/>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26" name="Rechteck: obere Ecken abgerundet 25">
            <a:extLst>
              <a:ext uri="{FF2B5EF4-FFF2-40B4-BE49-F238E27FC236}">
                <a16:creationId xmlns:a16="http://schemas.microsoft.com/office/drawing/2014/main" id="{8F5E821A-FEA0-F59C-4FED-90C7F5584386}"/>
              </a:ext>
            </a:extLst>
          </p:cNvPr>
          <p:cNvSpPr/>
          <p:nvPr/>
        </p:nvSpPr>
        <p:spPr>
          <a:xfrm>
            <a:off x="5343890" y="1762524"/>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7" name="Rechteck 26">
            <a:extLst>
              <a:ext uri="{FF2B5EF4-FFF2-40B4-BE49-F238E27FC236}">
                <a16:creationId xmlns:a16="http://schemas.microsoft.com/office/drawing/2014/main" id="{5C066DC0-A265-81DB-4163-7CB607A030FB}"/>
              </a:ext>
            </a:extLst>
          </p:cNvPr>
          <p:cNvSpPr/>
          <p:nvPr/>
        </p:nvSpPr>
        <p:spPr>
          <a:xfrm>
            <a:off x="5343891" y="1896157"/>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config/</a:t>
            </a:r>
          </a:p>
        </p:txBody>
      </p:sp>
      <p:sp>
        <p:nvSpPr>
          <p:cNvPr id="28" name="Rechteck 27">
            <a:extLst>
              <a:ext uri="{FF2B5EF4-FFF2-40B4-BE49-F238E27FC236}">
                <a16:creationId xmlns:a16="http://schemas.microsoft.com/office/drawing/2014/main" id="{2F7E2F24-153F-1D51-CC22-968F72BF4450}"/>
              </a:ext>
            </a:extLst>
          </p:cNvPr>
          <p:cNvSpPr/>
          <p:nvPr/>
        </p:nvSpPr>
        <p:spPr>
          <a:xfrm>
            <a:off x="5508104" y="2441802"/>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__init__.py</a:t>
            </a:r>
          </a:p>
        </p:txBody>
      </p:sp>
      <p:sp>
        <p:nvSpPr>
          <p:cNvPr id="29" name="Rechteck 28">
            <a:extLst>
              <a:ext uri="{FF2B5EF4-FFF2-40B4-BE49-F238E27FC236}">
                <a16:creationId xmlns:a16="http://schemas.microsoft.com/office/drawing/2014/main" id="{EB0A8F4B-6167-047D-DF8F-8DBBCBC4F197}"/>
              </a:ext>
            </a:extLst>
          </p:cNvPr>
          <p:cNvSpPr/>
          <p:nvPr/>
        </p:nvSpPr>
        <p:spPr>
          <a:xfrm>
            <a:off x="5343891" y="2203821"/>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30" name="Verbinder: gewinkelt 29">
            <a:extLst>
              <a:ext uri="{FF2B5EF4-FFF2-40B4-BE49-F238E27FC236}">
                <a16:creationId xmlns:a16="http://schemas.microsoft.com/office/drawing/2014/main" id="{06AFDD18-3DC3-D0A9-B0C8-822FBD94279A}"/>
              </a:ext>
            </a:extLst>
          </p:cNvPr>
          <p:cNvCxnSpPr>
            <a:cxnSpLocks/>
            <a:stCxn id="29" idx="2"/>
            <a:endCxn id="28" idx="1"/>
          </p:cNvCxnSpPr>
          <p:nvPr/>
        </p:nvCxnSpPr>
        <p:spPr>
          <a:xfrm rot="16200000" flipH="1">
            <a:off x="5342870" y="2420583"/>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31" name="Rechteck: obere Ecken abgerundet 30">
            <a:extLst>
              <a:ext uri="{FF2B5EF4-FFF2-40B4-BE49-F238E27FC236}">
                <a16:creationId xmlns:a16="http://schemas.microsoft.com/office/drawing/2014/main" id="{62C03732-1B95-2E14-E140-50D877013996}"/>
              </a:ext>
            </a:extLst>
          </p:cNvPr>
          <p:cNvSpPr/>
          <p:nvPr/>
        </p:nvSpPr>
        <p:spPr>
          <a:xfrm>
            <a:off x="7020271" y="2865961"/>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hteck 31">
            <a:extLst>
              <a:ext uri="{FF2B5EF4-FFF2-40B4-BE49-F238E27FC236}">
                <a16:creationId xmlns:a16="http://schemas.microsoft.com/office/drawing/2014/main" id="{5CCA028C-B96A-0D56-0AA4-17A226419A60}"/>
              </a:ext>
            </a:extLst>
          </p:cNvPr>
          <p:cNvSpPr/>
          <p:nvPr/>
        </p:nvSpPr>
        <p:spPr>
          <a:xfrm>
            <a:off x="7020272" y="2999594"/>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model/</a:t>
            </a:r>
          </a:p>
        </p:txBody>
      </p:sp>
      <p:sp>
        <p:nvSpPr>
          <p:cNvPr id="33" name="Rechteck 32">
            <a:extLst>
              <a:ext uri="{FF2B5EF4-FFF2-40B4-BE49-F238E27FC236}">
                <a16:creationId xmlns:a16="http://schemas.microsoft.com/office/drawing/2014/main" id="{7CFAA79C-C429-F6EE-3EE5-DC31460C1A30}"/>
              </a:ext>
            </a:extLst>
          </p:cNvPr>
          <p:cNvSpPr/>
          <p:nvPr/>
        </p:nvSpPr>
        <p:spPr>
          <a:xfrm>
            <a:off x="7668344" y="356235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movement.py</a:t>
            </a:r>
          </a:p>
        </p:txBody>
      </p:sp>
      <p:sp>
        <p:nvSpPr>
          <p:cNvPr id="34" name="Rechteck 33">
            <a:extLst>
              <a:ext uri="{FF2B5EF4-FFF2-40B4-BE49-F238E27FC236}">
                <a16:creationId xmlns:a16="http://schemas.microsoft.com/office/drawing/2014/main" id="{A3661B34-B3C1-23DA-2E00-AFF676B82C31}"/>
              </a:ext>
            </a:extLst>
          </p:cNvPr>
          <p:cNvSpPr/>
          <p:nvPr/>
        </p:nvSpPr>
        <p:spPr>
          <a:xfrm>
            <a:off x="7668344" y="3896617"/>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interactions.py</a:t>
            </a:r>
          </a:p>
        </p:txBody>
      </p:sp>
      <p:sp>
        <p:nvSpPr>
          <p:cNvPr id="35" name="Rechteck 34">
            <a:extLst>
              <a:ext uri="{FF2B5EF4-FFF2-40B4-BE49-F238E27FC236}">
                <a16:creationId xmlns:a16="http://schemas.microsoft.com/office/drawing/2014/main" id="{5A7F9803-B1E2-A183-9492-44A584706085}"/>
              </a:ext>
            </a:extLst>
          </p:cNvPr>
          <p:cNvSpPr/>
          <p:nvPr/>
        </p:nvSpPr>
        <p:spPr>
          <a:xfrm>
            <a:off x="7668344" y="422892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update_rules.py</a:t>
            </a:r>
          </a:p>
        </p:txBody>
      </p:sp>
      <p:cxnSp>
        <p:nvCxnSpPr>
          <p:cNvPr id="36" name="Verbinder: gewinkelt 35">
            <a:extLst>
              <a:ext uri="{FF2B5EF4-FFF2-40B4-BE49-F238E27FC236}">
                <a16:creationId xmlns:a16="http://schemas.microsoft.com/office/drawing/2014/main" id="{0429F52B-A8B2-95C1-8D29-B849452F6FBD}"/>
              </a:ext>
            </a:extLst>
          </p:cNvPr>
          <p:cNvCxnSpPr>
            <a:cxnSpLocks/>
            <a:stCxn id="32" idx="2"/>
            <a:endCxn id="33" idx="1"/>
          </p:cNvCxnSpPr>
          <p:nvPr/>
        </p:nvCxnSpPr>
        <p:spPr>
          <a:xfrm rot="16200000" flipH="1">
            <a:off x="7499590" y="3537619"/>
            <a:ext cx="265501"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7" name="Verbinder: gewinkelt 36">
            <a:extLst>
              <a:ext uri="{FF2B5EF4-FFF2-40B4-BE49-F238E27FC236}">
                <a16:creationId xmlns:a16="http://schemas.microsoft.com/office/drawing/2014/main" id="{651C251C-956D-12F1-C24F-28BB7EE342D9}"/>
              </a:ext>
            </a:extLst>
          </p:cNvPr>
          <p:cNvCxnSpPr>
            <a:cxnSpLocks/>
            <a:stCxn id="32" idx="2"/>
            <a:endCxn id="35" idx="1"/>
          </p:cNvCxnSpPr>
          <p:nvPr/>
        </p:nvCxnSpPr>
        <p:spPr>
          <a:xfrm rot="16200000" flipH="1">
            <a:off x="7166305" y="3870904"/>
            <a:ext cx="932071"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38" name="Verbinder: gewinkelt 37">
            <a:extLst>
              <a:ext uri="{FF2B5EF4-FFF2-40B4-BE49-F238E27FC236}">
                <a16:creationId xmlns:a16="http://schemas.microsoft.com/office/drawing/2014/main" id="{934D6AA7-06C5-7A8E-AB2A-A05E9AA480C4}"/>
              </a:ext>
            </a:extLst>
          </p:cNvPr>
          <p:cNvCxnSpPr>
            <a:cxnSpLocks/>
            <a:stCxn id="32" idx="2"/>
            <a:endCxn id="34" idx="1"/>
          </p:cNvCxnSpPr>
          <p:nvPr/>
        </p:nvCxnSpPr>
        <p:spPr>
          <a:xfrm rot="16200000" flipH="1">
            <a:off x="7332460" y="3704749"/>
            <a:ext cx="599760"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39" name="Rechteck 38">
            <a:extLst>
              <a:ext uri="{FF2B5EF4-FFF2-40B4-BE49-F238E27FC236}">
                <a16:creationId xmlns:a16="http://schemas.microsoft.com/office/drawing/2014/main" id="{CBE18FC2-939A-4BAA-111F-3DEBE300D60B}"/>
              </a:ext>
            </a:extLst>
          </p:cNvPr>
          <p:cNvSpPr/>
          <p:nvPr/>
        </p:nvSpPr>
        <p:spPr>
          <a:xfrm>
            <a:off x="1705188" y="1779662"/>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main.py</a:t>
            </a:r>
          </a:p>
        </p:txBody>
      </p:sp>
      <p:cxnSp>
        <p:nvCxnSpPr>
          <p:cNvPr id="40" name="Verbinder: gewinkelt 39">
            <a:extLst>
              <a:ext uri="{FF2B5EF4-FFF2-40B4-BE49-F238E27FC236}">
                <a16:creationId xmlns:a16="http://schemas.microsoft.com/office/drawing/2014/main" id="{30FDB283-BDBF-B01F-6D85-3AAF29B33CB9}"/>
              </a:ext>
            </a:extLst>
          </p:cNvPr>
          <p:cNvCxnSpPr>
            <a:stCxn id="27" idx="1"/>
            <a:endCxn id="4" idx="2"/>
          </p:cNvCxnSpPr>
          <p:nvPr/>
        </p:nvCxnSpPr>
        <p:spPr>
          <a:xfrm rot="10800000">
            <a:off x="3851921" y="1710955"/>
            <a:ext cx="1491971" cy="405842"/>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41" name="Verbinder: gewinkelt 40">
            <a:extLst>
              <a:ext uri="{FF2B5EF4-FFF2-40B4-BE49-F238E27FC236}">
                <a16:creationId xmlns:a16="http://schemas.microsoft.com/office/drawing/2014/main" id="{470A06F4-E981-5287-A45E-0CCBAF3FB818}"/>
              </a:ext>
            </a:extLst>
          </p:cNvPr>
          <p:cNvCxnSpPr>
            <a:cxnSpLocks/>
            <a:stCxn id="18" idx="1"/>
            <a:endCxn id="4" idx="2"/>
          </p:cNvCxnSpPr>
          <p:nvPr/>
        </p:nvCxnSpPr>
        <p:spPr>
          <a:xfrm rot="10800000">
            <a:off x="3851921" y="1710956"/>
            <a:ext cx="864097" cy="2012341"/>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42" name="Verbinder: gewinkelt 41">
            <a:extLst>
              <a:ext uri="{FF2B5EF4-FFF2-40B4-BE49-F238E27FC236}">
                <a16:creationId xmlns:a16="http://schemas.microsoft.com/office/drawing/2014/main" id="{671763FE-8E11-D6DB-EAC8-287163C139AB}"/>
              </a:ext>
            </a:extLst>
          </p:cNvPr>
          <p:cNvCxnSpPr>
            <a:stCxn id="39" idx="3"/>
            <a:endCxn id="4" idx="2"/>
          </p:cNvCxnSpPr>
          <p:nvPr/>
        </p:nvCxnSpPr>
        <p:spPr>
          <a:xfrm flipV="1">
            <a:off x="2929324" y="1710955"/>
            <a:ext cx="922596" cy="212723"/>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43" name="Verbinder: gewinkelt 42">
            <a:extLst>
              <a:ext uri="{FF2B5EF4-FFF2-40B4-BE49-F238E27FC236}">
                <a16:creationId xmlns:a16="http://schemas.microsoft.com/office/drawing/2014/main" id="{8CA43924-EA0E-4988-2A9A-6C144453D268}"/>
              </a:ext>
            </a:extLst>
          </p:cNvPr>
          <p:cNvCxnSpPr>
            <a:cxnSpLocks/>
            <a:stCxn id="4" idx="2"/>
            <a:endCxn id="32" idx="1"/>
          </p:cNvCxnSpPr>
          <p:nvPr/>
        </p:nvCxnSpPr>
        <p:spPr>
          <a:xfrm rot="16200000" flipH="1">
            <a:off x="4681457" y="881418"/>
            <a:ext cx="1509279" cy="3168352"/>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44" name="Rechteck 43">
            <a:extLst>
              <a:ext uri="{FF2B5EF4-FFF2-40B4-BE49-F238E27FC236}">
                <a16:creationId xmlns:a16="http://schemas.microsoft.com/office/drawing/2014/main" id="{D9F38DD2-8871-ACCE-6018-2C76B2BA96FD}"/>
              </a:ext>
            </a:extLst>
          </p:cNvPr>
          <p:cNvSpPr/>
          <p:nvPr/>
        </p:nvSpPr>
        <p:spPr>
          <a:xfrm>
            <a:off x="6300192" y="439717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environment.py</a:t>
            </a:r>
          </a:p>
        </p:txBody>
      </p:sp>
      <p:sp>
        <p:nvSpPr>
          <p:cNvPr id="45" name="Rechteck 44">
            <a:extLst>
              <a:ext uri="{FF2B5EF4-FFF2-40B4-BE49-F238E27FC236}">
                <a16:creationId xmlns:a16="http://schemas.microsoft.com/office/drawing/2014/main" id="{91270E26-9F06-F50A-78AD-E94C08F35A5D}"/>
              </a:ext>
            </a:extLst>
          </p:cNvPr>
          <p:cNvSpPr/>
          <p:nvPr/>
        </p:nvSpPr>
        <p:spPr>
          <a:xfrm>
            <a:off x="6300192" y="3730057"/>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__init__.py</a:t>
            </a:r>
          </a:p>
        </p:txBody>
      </p:sp>
      <p:sp>
        <p:nvSpPr>
          <p:cNvPr id="46" name="Rechteck 45">
            <a:extLst>
              <a:ext uri="{FF2B5EF4-FFF2-40B4-BE49-F238E27FC236}">
                <a16:creationId xmlns:a16="http://schemas.microsoft.com/office/drawing/2014/main" id="{2ABBCA88-D83E-ECD4-D81B-2FB4A526F327}"/>
              </a:ext>
            </a:extLst>
          </p:cNvPr>
          <p:cNvSpPr/>
          <p:nvPr/>
        </p:nvSpPr>
        <p:spPr>
          <a:xfrm>
            <a:off x="6300192" y="406236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grid.py</a:t>
            </a:r>
          </a:p>
        </p:txBody>
      </p:sp>
      <p:cxnSp>
        <p:nvCxnSpPr>
          <p:cNvPr id="47" name="Verbinder: gewinkelt 46">
            <a:extLst>
              <a:ext uri="{FF2B5EF4-FFF2-40B4-BE49-F238E27FC236}">
                <a16:creationId xmlns:a16="http://schemas.microsoft.com/office/drawing/2014/main" id="{A49807AF-31AF-B03D-5030-A874BD0BDDC2}"/>
              </a:ext>
            </a:extLst>
          </p:cNvPr>
          <p:cNvCxnSpPr>
            <a:cxnSpLocks/>
            <a:stCxn id="32" idx="2"/>
            <a:endCxn id="46" idx="3"/>
          </p:cNvCxnSpPr>
          <p:nvPr/>
        </p:nvCxnSpPr>
        <p:spPr>
          <a:xfrm rot="5400000">
            <a:off x="7177577" y="3787624"/>
            <a:ext cx="765511"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48" name="Verbinder: gewinkelt 47">
            <a:extLst>
              <a:ext uri="{FF2B5EF4-FFF2-40B4-BE49-F238E27FC236}">
                <a16:creationId xmlns:a16="http://schemas.microsoft.com/office/drawing/2014/main" id="{698A5FB3-FD81-625C-96BF-4506FB1FB3EC}"/>
              </a:ext>
            </a:extLst>
          </p:cNvPr>
          <p:cNvCxnSpPr>
            <a:cxnSpLocks/>
            <a:stCxn id="32" idx="2"/>
            <a:endCxn id="45" idx="3"/>
          </p:cNvCxnSpPr>
          <p:nvPr/>
        </p:nvCxnSpPr>
        <p:spPr>
          <a:xfrm rot="5400000">
            <a:off x="7343732" y="3621469"/>
            <a:ext cx="433200"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49" name="Verbinder: gewinkelt 48">
            <a:extLst>
              <a:ext uri="{FF2B5EF4-FFF2-40B4-BE49-F238E27FC236}">
                <a16:creationId xmlns:a16="http://schemas.microsoft.com/office/drawing/2014/main" id="{5E68FA5E-9315-C221-4B90-348E27EE6517}"/>
              </a:ext>
            </a:extLst>
          </p:cNvPr>
          <p:cNvCxnSpPr>
            <a:cxnSpLocks/>
            <a:stCxn id="32" idx="2"/>
            <a:endCxn id="44" idx="3"/>
          </p:cNvCxnSpPr>
          <p:nvPr/>
        </p:nvCxnSpPr>
        <p:spPr>
          <a:xfrm rot="5400000">
            <a:off x="7010171" y="3955030"/>
            <a:ext cx="1100322"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50" name="Rechteck 49">
            <a:extLst>
              <a:ext uri="{FF2B5EF4-FFF2-40B4-BE49-F238E27FC236}">
                <a16:creationId xmlns:a16="http://schemas.microsoft.com/office/drawing/2014/main" id="{0D1A14DB-1415-8D56-41E7-2C06FE75DC21}"/>
              </a:ext>
            </a:extLst>
          </p:cNvPr>
          <p:cNvSpPr/>
          <p:nvPr/>
        </p:nvSpPr>
        <p:spPr>
          <a:xfrm>
            <a:off x="5508104" y="2787774"/>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config.py</a:t>
            </a:r>
          </a:p>
        </p:txBody>
      </p:sp>
      <p:cxnSp>
        <p:nvCxnSpPr>
          <p:cNvPr id="51" name="Verbinder: gewinkelt 50">
            <a:extLst>
              <a:ext uri="{FF2B5EF4-FFF2-40B4-BE49-F238E27FC236}">
                <a16:creationId xmlns:a16="http://schemas.microsoft.com/office/drawing/2014/main" id="{F05CCB34-13CC-59A7-F589-56A337AFBD2C}"/>
              </a:ext>
            </a:extLst>
          </p:cNvPr>
          <p:cNvCxnSpPr>
            <a:cxnSpLocks/>
            <a:stCxn id="29" idx="2"/>
            <a:endCxn id="50" idx="1"/>
          </p:cNvCxnSpPr>
          <p:nvPr/>
        </p:nvCxnSpPr>
        <p:spPr>
          <a:xfrm rot="16200000" flipH="1">
            <a:off x="5169884" y="2593569"/>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52" name="Rechteck 51">
            <a:extLst>
              <a:ext uri="{FF2B5EF4-FFF2-40B4-BE49-F238E27FC236}">
                <a16:creationId xmlns:a16="http://schemas.microsoft.com/office/drawing/2014/main" id="{D8C09BBD-8DBF-2811-E026-75109E3D1746}"/>
              </a:ext>
            </a:extLst>
          </p:cNvPr>
          <p:cNvSpPr/>
          <p:nvPr/>
        </p:nvSpPr>
        <p:spPr>
          <a:xfrm>
            <a:off x="6300192" y="473199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agents.py</a:t>
            </a:r>
          </a:p>
        </p:txBody>
      </p:sp>
      <p:sp>
        <p:nvSpPr>
          <p:cNvPr id="53" name="Rechteck 52">
            <a:extLst>
              <a:ext uri="{FF2B5EF4-FFF2-40B4-BE49-F238E27FC236}">
                <a16:creationId xmlns:a16="http://schemas.microsoft.com/office/drawing/2014/main" id="{2DD389DB-7031-01AF-3F27-DE554C241021}"/>
              </a:ext>
            </a:extLst>
          </p:cNvPr>
          <p:cNvSpPr/>
          <p:nvPr/>
        </p:nvSpPr>
        <p:spPr>
          <a:xfrm>
            <a:off x="7669440" y="456123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simulation.py</a:t>
            </a:r>
          </a:p>
        </p:txBody>
      </p:sp>
      <p:cxnSp>
        <p:nvCxnSpPr>
          <p:cNvPr id="54" name="Verbinder: gewinkelt 53">
            <a:extLst>
              <a:ext uri="{FF2B5EF4-FFF2-40B4-BE49-F238E27FC236}">
                <a16:creationId xmlns:a16="http://schemas.microsoft.com/office/drawing/2014/main" id="{7454E9E6-313D-7058-F6A2-9EB732014D63}"/>
              </a:ext>
            </a:extLst>
          </p:cNvPr>
          <p:cNvCxnSpPr>
            <a:cxnSpLocks/>
            <a:stCxn id="32" idx="2"/>
            <a:endCxn id="52" idx="3"/>
          </p:cNvCxnSpPr>
          <p:nvPr/>
        </p:nvCxnSpPr>
        <p:spPr>
          <a:xfrm rot="5400000">
            <a:off x="6842766" y="4122435"/>
            <a:ext cx="1435133" cy="720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55" name="Verbinder: gewinkelt 54">
            <a:extLst>
              <a:ext uri="{FF2B5EF4-FFF2-40B4-BE49-F238E27FC236}">
                <a16:creationId xmlns:a16="http://schemas.microsoft.com/office/drawing/2014/main" id="{B0F50D17-4054-DFF1-BC17-ECBA8E26F766}"/>
              </a:ext>
            </a:extLst>
          </p:cNvPr>
          <p:cNvCxnSpPr>
            <a:cxnSpLocks/>
            <a:stCxn id="32" idx="2"/>
            <a:endCxn id="53" idx="1"/>
          </p:cNvCxnSpPr>
          <p:nvPr/>
        </p:nvCxnSpPr>
        <p:spPr>
          <a:xfrm rot="16200000" flipH="1">
            <a:off x="7000697" y="4036512"/>
            <a:ext cx="1264382" cy="7310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60" name="Rechteck 59">
            <a:extLst>
              <a:ext uri="{FF2B5EF4-FFF2-40B4-BE49-F238E27FC236}">
                <a16:creationId xmlns:a16="http://schemas.microsoft.com/office/drawing/2014/main" id="{9A09781E-354E-4038-927B-28385F037DA2}"/>
              </a:ext>
            </a:extLst>
          </p:cNvPr>
          <p:cNvSpPr/>
          <p:nvPr/>
        </p:nvSpPr>
        <p:spPr>
          <a:xfrm>
            <a:off x="6732240" y="1428022"/>
            <a:ext cx="2142136" cy="59275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script that automatically creates all the folders and files (correct names, but empty)</a:t>
            </a:r>
          </a:p>
        </p:txBody>
      </p:sp>
      <p:sp>
        <p:nvSpPr>
          <p:cNvPr id="61" name="Rechteck 60">
            <a:extLst>
              <a:ext uri="{FF2B5EF4-FFF2-40B4-BE49-F238E27FC236}">
                <a16:creationId xmlns:a16="http://schemas.microsoft.com/office/drawing/2014/main" id="{C063CE9E-7330-01FD-6807-28B6C0489046}"/>
              </a:ext>
            </a:extLst>
          </p:cNvPr>
          <p:cNvSpPr/>
          <p:nvPr/>
        </p:nvSpPr>
        <p:spPr>
          <a:xfrm>
            <a:off x="6732240" y="1139989"/>
            <a:ext cx="2142136"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setup.py</a:t>
            </a:r>
          </a:p>
        </p:txBody>
      </p:sp>
      <p:sp>
        <p:nvSpPr>
          <p:cNvPr id="62" name="Rechteck 61">
            <a:extLst>
              <a:ext uri="{FF2B5EF4-FFF2-40B4-BE49-F238E27FC236}">
                <a16:creationId xmlns:a16="http://schemas.microsoft.com/office/drawing/2014/main" id="{5606F0F3-0527-0BB8-3613-6C1B127052C5}"/>
              </a:ext>
            </a:extLst>
          </p:cNvPr>
          <p:cNvSpPr/>
          <p:nvPr/>
        </p:nvSpPr>
        <p:spPr>
          <a:xfrm>
            <a:off x="2339752" y="2211710"/>
            <a:ext cx="138968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README.md</a:t>
            </a:r>
          </a:p>
        </p:txBody>
      </p:sp>
      <p:sp>
        <p:nvSpPr>
          <p:cNvPr id="63" name="Rechteck 62">
            <a:extLst>
              <a:ext uri="{FF2B5EF4-FFF2-40B4-BE49-F238E27FC236}">
                <a16:creationId xmlns:a16="http://schemas.microsoft.com/office/drawing/2014/main" id="{C6B2B5FC-E6A2-8ADA-9E80-D2C0246FD39E}"/>
              </a:ext>
            </a:extLst>
          </p:cNvPr>
          <p:cNvSpPr/>
          <p:nvPr/>
        </p:nvSpPr>
        <p:spPr>
          <a:xfrm>
            <a:off x="2339752" y="2550422"/>
            <a:ext cx="138968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requirenments.txt</a:t>
            </a:r>
          </a:p>
        </p:txBody>
      </p:sp>
      <p:cxnSp>
        <p:nvCxnSpPr>
          <p:cNvPr id="64" name="Verbinder: gewinkelt 63">
            <a:extLst>
              <a:ext uri="{FF2B5EF4-FFF2-40B4-BE49-F238E27FC236}">
                <a16:creationId xmlns:a16="http://schemas.microsoft.com/office/drawing/2014/main" id="{5EA1D1B2-3FB4-814A-DA61-45E259C275A0}"/>
              </a:ext>
            </a:extLst>
          </p:cNvPr>
          <p:cNvCxnSpPr>
            <a:cxnSpLocks/>
            <a:stCxn id="62" idx="3"/>
            <a:endCxn id="4" idx="2"/>
          </p:cNvCxnSpPr>
          <p:nvPr/>
        </p:nvCxnSpPr>
        <p:spPr>
          <a:xfrm flipV="1">
            <a:off x="3729438" y="1710955"/>
            <a:ext cx="122482" cy="644771"/>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65" name="Verbinder: gewinkelt 64">
            <a:extLst>
              <a:ext uri="{FF2B5EF4-FFF2-40B4-BE49-F238E27FC236}">
                <a16:creationId xmlns:a16="http://schemas.microsoft.com/office/drawing/2014/main" id="{9E34403C-0001-9C4E-2AD0-1A74F301E471}"/>
              </a:ext>
            </a:extLst>
          </p:cNvPr>
          <p:cNvCxnSpPr>
            <a:cxnSpLocks/>
            <a:stCxn id="63" idx="3"/>
            <a:endCxn id="4" idx="2"/>
          </p:cNvCxnSpPr>
          <p:nvPr/>
        </p:nvCxnSpPr>
        <p:spPr>
          <a:xfrm flipV="1">
            <a:off x="3729438" y="1710955"/>
            <a:ext cx="122482" cy="983483"/>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pic>
        <p:nvPicPr>
          <p:cNvPr id="66" name="Picture 2" descr="The wolf does not belong here': German summit convened after animal attacks  | Endangered species | The Guardian">
            <a:extLst>
              <a:ext uri="{FF2B5EF4-FFF2-40B4-BE49-F238E27FC236}">
                <a16:creationId xmlns:a16="http://schemas.microsoft.com/office/drawing/2014/main" id="{A4A8802A-1B33-B21D-BEA6-42D128787B1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58554" y="1140481"/>
            <a:ext cx="1203598" cy="1203598"/>
          </a:xfrm>
          <a:prstGeom prst="rect">
            <a:avLst/>
          </a:prstGeom>
          <a:noFill/>
          <a:ln w="38100">
            <a:noFill/>
          </a:ln>
          <a:extLst>
            <a:ext uri="{909E8E84-426E-40DD-AFC4-6F175D3DCCD1}">
              <a14:hiddenFill xmlns:a14="http://schemas.microsoft.com/office/drawing/2010/main">
                <a:solidFill>
                  <a:srgbClr val="FFFFFF"/>
                </a:solidFill>
              </a14:hiddenFill>
            </a:ext>
          </a:extLst>
        </p:spPr>
      </p:pic>
      <p:sp>
        <p:nvSpPr>
          <p:cNvPr id="67" name="Rechteck 66">
            <a:extLst>
              <a:ext uri="{FF2B5EF4-FFF2-40B4-BE49-F238E27FC236}">
                <a16:creationId xmlns:a16="http://schemas.microsoft.com/office/drawing/2014/main" id="{89D4B0C4-96C6-A6FA-FC0C-47FDD54A647F}"/>
              </a:ext>
            </a:extLst>
          </p:cNvPr>
          <p:cNvSpPr/>
          <p:nvPr/>
        </p:nvSpPr>
        <p:spPr>
          <a:xfrm>
            <a:off x="4119754" y="264375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initialization.py</a:t>
            </a:r>
          </a:p>
        </p:txBody>
      </p:sp>
      <p:cxnSp>
        <p:nvCxnSpPr>
          <p:cNvPr id="68" name="Verbinder: gewinkelt 67">
            <a:extLst>
              <a:ext uri="{FF2B5EF4-FFF2-40B4-BE49-F238E27FC236}">
                <a16:creationId xmlns:a16="http://schemas.microsoft.com/office/drawing/2014/main" id="{7538F9AC-D9A9-9399-36B7-576E12769837}"/>
              </a:ext>
            </a:extLst>
          </p:cNvPr>
          <p:cNvCxnSpPr>
            <a:cxnSpLocks/>
            <a:stCxn id="29" idx="2"/>
            <a:endCxn id="67" idx="3"/>
          </p:cNvCxnSpPr>
          <p:nvPr/>
        </p:nvCxnSpPr>
        <p:spPr>
          <a:xfrm rot="5400000">
            <a:off x="5159785" y="2521560"/>
            <a:ext cx="450319" cy="82108"/>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21" name="Rechteck 20">
            <a:extLst>
              <a:ext uri="{FF2B5EF4-FFF2-40B4-BE49-F238E27FC236}">
                <a16:creationId xmlns:a16="http://schemas.microsoft.com/office/drawing/2014/main" id="{D4207BA0-121E-28DD-DD5C-DE88E6040CC7}"/>
              </a:ext>
            </a:extLst>
          </p:cNvPr>
          <p:cNvSpPr/>
          <p:nvPr/>
        </p:nvSpPr>
        <p:spPr>
          <a:xfrm>
            <a:off x="4880230" y="473199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monte_carlo.py</a:t>
            </a:r>
          </a:p>
        </p:txBody>
      </p:sp>
    </p:spTree>
    <p:extLst>
      <p:ext uri="{BB962C8B-B14F-4D97-AF65-F5344CB8AC3E}">
        <p14:creationId xmlns:p14="http://schemas.microsoft.com/office/powerpoint/2010/main" val="42815442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846B65-07E1-D46E-A786-29C3BDAF76E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C1A5AB6-E43F-FCF7-9162-9A135673E77C}"/>
              </a:ext>
            </a:extLst>
          </p:cNvPr>
          <p:cNvSpPr>
            <a:spLocks noGrp="1"/>
          </p:cNvSpPr>
          <p:nvPr>
            <p:ph type="title"/>
          </p:nvPr>
        </p:nvSpPr>
        <p:spPr/>
        <p:txBody>
          <a:bodyPr/>
          <a:lstStyle/>
          <a:p>
            <a:r>
              <a:rPr lang="en-US" noProof="0" dirty="0"/>
              <a:t>Here, the single files contain the information necessary to simulate the Yellowstone model (1/ 2)</a:t>
            </a:r>
          </a:p>
        </p:txBody>
      </p:sp>
      <p:sp>
        <p:nvSpPr>
          <p:cNvPr id="66" name="Rechteck 65">
            <a:extLst>
              <a:ext uri="{FF2B5EF4-FFF2-40B4-BE49-F238E27FC236}">
                <a16:creationId xmlns:a16="http://schemas.microsoft.com/office/drawing/2014/main" id="{83D9AAD9-2C3C-9FFD-73EF-6E6567EDA5B7}"/>
              </a:ext>
            </a:extLst>
          </p:cNvPr>
          <p:cNvSpPr/>
          <p:nvPr/>
        </p:nvSpPr>
        <p:spPr>
          <a:xfrm>
            <a:off x="251520"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Main file</a:t>
            </a:r>
          </a:p>
          <a:p>
            <a:endParaRPr lang="en-US" sz="1000" noProof="0" dirty="0">
              <a:solidFill>
                <a:schemeClr val="tx1"/>
              </a:solidFill>
            </a:endParaRPr>
          </a:p>
          <a:p>
            <a:r>
              <a:rPr lang="en-US" sz="1000" noProof="0" dirty="0">
                <a:solidFill>
                  <a:schemeClr val="tx1"/>
                </a:solidFill>
              </a:rPr>
              <a:t>supported by</a:t>
            </a:r>
          </a:p>
          <a:p>
            <a:pPr marL="182563" indent="-182563">
              <a:buFont typeface="Arial" panose="020B0604020202020204" pitchFamily="34" charset="0"/>
              <a:buChar char="•"/>
            </a:pPr>
            <a:r>
              <a:rPr lang="en-US" sz="1000" noProof="0" dirty="0">
                <a:solidFill>
                  <a:schemeClr val="tx1"/>
                </a:solidFill>
              </a:rPr>
              <a:t>README.md</a:t>
            </a:r>
          </a:p>
          <a:p>
            <a:pPr marL="182563" indent="-182563">
              <a:buFont typeface="Arial" panose="020B0604020202020204" pitchFamily="34" charset="0"/>
              <a:buChar char="•"/>
            </a:pPr>
            <a:r>
              <a:rPr lang="en-US" sz="1000" noProof="0" dirty="0">
                <a:solidFill>
                  <a:schemeClr val="tx1"/>
                </a:solidFill>
              </a:rPr>
              <a:t>requirenments.txt</a:t>
            </a:r>
          </a:p>
        </p:txBody>
      </p:sp>
      <p:sp>
        <p:nvSpPr>
          <p:cNvPr id="67" name="Rechteck 66">
            <a:extLst>
              <a:ext uri="{FF2B5EF4-FFF2-40B4-BE49-F238E27FC236}">
                <a16:creationId xmlns:a16="http://schemas.microsoft.com/office/drawing/2014/main" id="{3FD39E9A-185B-2999-E103-1BCA9373F575}"/>
              </a:ext>
            </a:extLst>
          </p:cNvPr>
          <p:cNvSpPr/>
          <p:nvPr/>
        </p:nvSpPr>
        <p:spPr>
          <a:xfrm>
            <a:off x="1979712"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Stores:</a:t>
            </a:r>
          </a:p>
          <a:p>
            <a:pPr marL="182563" indent="-182563">
              <a:buFont typeface="Arial" panose="020B0604020202020204" pitchFamily="34" charset="0"/>
              <a:buChar char="•"/>
            </a:pPr>
            <a:r>
              <a:rPr lang="en-US" sz="1000" noProof="0" dirty="0">
                <a:solidFill>
                  <a:schemeClr val="tx1"/>
                </a:solidFill>
              </a:rPr>
              <a:t>grid size </a:t>
            </a:r>
            <a:r>
              <a:rPr lang="en-US" sz="1000" noProof="0" dirty="0" err="1">
                <a:solidFill>
                  <a:schemeClr val="tx1"/>
                </a:solidFill>
              </a:rPr>
              <a:t>nx</a:t>
            </a:r>
            <a:r>
              <a:rPr lang="en-US" sz="1000" noProof="0" dirty="0">
                <a:solidFill>
                  <a:schemeClr val="tx1"/>
                </a:solidFill>
              </a:rPr>
              <a:t>, </a:t>
            </a:r>
            <a:r>
              <a:rPr lang="en-US" sz="1000" noProof="0" dirty="0" err="1">
                <a:solidFill>
                  <a:schemeClr val="tx1"/>
                </a:solidFill>
              </a:rPr>
              <a:t>ny</a:t>
            </a:r>
            <a:endParaRPr lang="en-US" sz="1000" noProof="0" dirty="0">
              <a:solidFill>
                <a:schemeClr val="tx1"/>
              </a:solidFill>
            </a:endParaRPr>
          </a:p>
          <a:p>
            <a:pPr marL="182563" indent="-182563">
              <a:buFont typeface="Arial" panose="020B0604020202020204" pitchFamily="34" charset="0"/>
              <a:buChar char="•"/>
            </a:pPr>
            <a:r>
              <a:rPr lang="en-US" sz="1000" noProof="0" dirty="0">
                <a:solidFill>
                  <a:schemeClr val="tx1"/>
                </a:solidFill>
              </a:rPr>
              <a:t>bison &amp; wolve numbers wolf movement period k</a:t>
            </a:r>
          </a:p>
          <a:p>
            <a:pPr marL="182563" indent="-182563">
              <a:buFont typeface="Arial" panose="020B0604020202020204" pitchFamily="34" charset="0"/>
              <a:buChar char="•"/>
            </a:pPr>
            <a:r>
              <a:rPr lang="en-US" sz="1000" noProof="0" dirty="0">
                <a:solidFill>
                  <a:schemeClr val="tx1"/>
                </a:solidFill>
              </a:rPr>
              <a:t>overgrazing threshold values</a:t>
            </a:r>
          </a:p>
          <a:p>
            <a:pPr marL="182563" indent="-182563">
              <a:buFont typeface="Arial" panose="020B0604020202020204" pitchFamily="34" charset="0"/>
              <a:buChar char="•"/>
            </a:pPr>
            <a:r>
              <a:rPr lang="en-US" sz="1000" noProof="0" dirty="0">
                <a:solidFill>
                  <a:schemeClr val="tx1"/>
                </a:solidFill>
              </a:rPr>
              <a:t>random seed</a:t>
            </a:r>
          </a:p>
          <a:p>
            <a:pPr marL="182563" indent="-182563">
              <a:buFont typeface="Arial" panose="020B0604020202020204" pitchFamily="34" charset="0"/>
              <a:buChar char="•"/>
            </a:pPr>
            <a:r>
              <a:rPr lang="en-US" sz="1000" noProof="0" dirty="0">
                <a:solidFill>
                  <a:schemeClr val="tx1"/>
                </a:solidFill>
              </a:rPr>
              <a:t>simulation length</a:t>
            </a:r>
          </a:p>
          <a:p>
            <a:pPr marL="182563" indent="-182563">
              <a:buFont typeface="Arial" panose="020B0604020202020204" pitchFamily="34" charset="0"/>
              <a:buChar char="•"/>
            </a:pPr>
            <a:r>
              <a:rPr lang="en-US" sz="1000" noProof="0" dirty="0">
                <a:solidFill>
                  <a:schemeClr val="tx1"/>
                </a:solidFill>
              </a:rPr>
              <a:t>visualization interval</a:t>
            </a:r>
          </a:p>
        </p:txBody>
      </p:sp>
      <p:sp>
        <p:nvSpPr>
          <p:cNvPr id="68" name="Rechteck 67">
            <a:extLst>
              <a:ext uri="{FF2B5EF4-FFF2-40B4-BE49-F238E27FC236}">
                <a16:creationId xmlns:a16="http://schemas.microsoft.com/office/drawing/2014/main" id="{3BFB7015-2E29-0C4D-FB5E-8CE3F43A1C22}"/>
              </a:ext>
            </a:extLst>
          </p:cNvPr>
          <p:cNvSpPr/>
          <p:nvPr/>
        </p:nvSpPr>
        <p:spPr>
          <a:xfrm>
            <a:off x="3744742"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Stores:</a:t>
            </a:r>
          </a:p>
          <a:p>
            <a:pPr marL="182563" indent="-182563">
              <a:buFont typeface="Arial" panose="020B0604020202020204" pitchFamily="34" charset="0"/>
              <a:buChar char="•"/>
            </a:pPr>
            <a:r>
              <a:rPr lang="en-US" sz="1000" noProof="0" dirty="0">
                <a:solidFill>
                  <a:schemeClr val="tx1"/>
                </a:solidFill>
              </a:rPr>
              <a:t>initial pattern of forest cells</a:t>
            </a:r>
          </a:p>
          <a:p>
            <a:pPr marL="182563" indent="-182563">
              <a:buFont typeface="Arial" panose="020B0604020202020204" pitchFamily="34" charset="0"/>
              <a:buChar char="•"/>
            </a:pPr>
            <a:r>
              <a:rPr lang="en-US" sz="1000" noProof="0" dirty="0">
                <a:solidFill>
                  <a:schemeClr val="tx1"/>
                </a:solidFill>
              </a:rPr>
              <a:t>initial grassland stage values</a:t>
            </a:r>
          </a:p>
        </p:txBody>
      </p:sp>
      <p:sp>
        <p:nvSpPr>
          <p:cNvPr id="69" name="Rechteck 68">
            <a:extLst>
              <a:ext uri="{FF2B5EF4-FFF2-40B4-BE49-F238E27FC236}">
                <a16:creationId xmlns:a16="http://schemas.microsoft.com/office/drawing/2014/main" id="{8D86F832-7FC6-56DD-F962-3151F10CD51E}"/>
              </a:ext>
            </a:extLst>
          </p:cNvPr>
          <p:cNvSpPr/>
          <p:nvPr/>
        </p:nvSpPr>
        <p:spPr>
          <a:xfrm>
            <a:off x="5508104"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Handles the toroidal lattice:</a:t>
            </a:r>
          </a:p>
          <a:p>
            <a:pPr marL="177800" indent="-177800">
              <a:buFont typeface="Arial" panose="020B0604020202020204" pitchFamily="34" charset="0"/>
              <a:buChar char="•"/>
            </a:pPr>
            <a:r>
              <a:rPr lang="en-US" sz="1000" noProof="0" dirty="0">
                <a:solidFill>
                  <a:schemeClr val="tx1"/>
                </a:solidFill>
              </a:rPr>
              <a:t>wrap-around indexing (toroidal movement)</a:t>
            </a:r>
          </a:p>
          <a:p>
            <a:pPr marL="177800" indent="-177800">
              <a:buFont typeface="Arial" panose="020B0604020202020204" pitchFamily="34" charset="0"/>
              <a:buChar char="•"/>
            </a:pPr>
            <a:r>
              <a:rPr lang="en-US" sz="1000" noProof="0" dirty="0">
                <a:solidFill>
                  <a:schemeClr val="tx1"/>
                </a:solidFill>
              </a:rPr>
              <a:t>neighborhood queries</a:t>
            </a:r>
          </a:p>
          <a:p>
            <a:pPr marL="177800" indent="-177800">
              <a:buFont typeface="Arial" panose="020B0604020202020204" pitchFamily="34" charset="0"/>
              <a:buChar char="•"/>
            </a:pPr>
            <a:r>
              <a:rPr lang="en-US" sz="1000" noProof="0" dirty="0">
                <a:solidFill>
                  <a:schemeClr val="tx1"/>
                </a:solidFill>
              </a:rPr>
              <a:t>valid movement targets</a:t>
            </a:r>
          </a:p>
          <a:p>
            <a:pPr marL="177800" indent="-177800">
              <a:buFont typeface="Arial" panose="020B0604020202020204" pitchFamily="34" charset="0"/>
              <a:buChar char="•"/>
            </a:pPr>
            <a:r>
              <a:rPr lang="en-US" sz="1000" noProof="0" dirty="0">
                <a:solidFill>
                  <a:schemeClr val="tx1"/>
                </a:solidFill>
              </a:rPr>
              <a:t>helper functions, like</a:t>
            </a:r>
          </a:p>
          <a:p>
            <a:pPr marL="361950" lvl="1" indent="-184150">
              <a:buFont typeface="Symbol" panose="05050102010706020507" pitchFamily="18" charset="2"/>
              <a:buChar char="-"/>
            </a:pPr>
            <a:r>
              <a:rPr lang="en-US" sz="1000" noProof="0" dirty="0" err="1">
                <a:solidFill>
                  <a:schemeClr val="tx1"/>
                </a:solidFill>
              </a:rPr>
              <a:t>wrap_position</a:t>
            </a:r>
            <a:r>
              <a:rPr lang="en-US" sz="1000" noProof="0" dirty="0">
                <a:solidFill>
                  <a:schemeClr val="tx1"/>
                </a:solidFill>
              </a:rPr>
              <a:t> or</a:t>
            </a:r>
          </a:p>
          <a:p>
            <a:pPr marL="361950" lvl="1" indent="-184150">
              <a:buFont typeface="Symbol" panose="05050102010706020507" pitchFamily="18" charset="2"/>
              <a:buChar char="-"/>
            </a:pPr>
            <a:r>
              <a:rPr lang="en-US" sz="1000" noProof="0" dirty="0" err="1">
                <a:solidFill>
                  <a:schemeClr val="tx1"/>
                </a:solidFill>
              </a:rPr>
              <a:t>get_von_neumann</a:t>
            </a:r>
            <a:r>
              <a:rPr lang="en-US" sz="1000" noProof="0" dirty="0">
                <a:solidFill>
                  <a:schemeClr val="tx1"/>
                </a:solidFill>
              </a:rPr>
              <a:t>_ </a:t>
            </a:r>
            <a:r>
              <a:rPr lang="en-US" sz="1000" noProof="0" dirty="0" err="1">
                <a:solidFill>
                  <a:schemeClr val="tx1"/>
                </a:solidFill>
              </a:rPr>
              <a:t>neigbours</a:t>
            </a:r>
            <a:endParaRPr lang="en-US" sz="1000" noProof="0" dirty="0">
              <a:solidFill>
                <a:schemeClr val="tx1"/>
              </a:solidFill>
            </a:endParaRPr>
          </a:p>
        </p:txBody>
      </p:sp>
      <p:sp>
        <p:nvSpPr>
          <p:cNvPr id="70" name="Rechteck 69">
            <a:extLst>
              <a:ext uri="{FF2B5EF4-FFF2-40B4-BE49-F238E27FC236}">
                <a16:creationId xmlns:a16="http://schemas.microsoft.com/office/drawing/2014/main" id="{B819941F-D2AC-B9BF-AFBA-80C1F56F5958}"/>
              </a:ext>
            </a:extLst>
          </p:cNvPr>
          <p:cNvSpPr/>
          <p:nvPr/>
        </p:nvSpPr>
        <p:spPr>
          <a:xfrm>
            <a:off x="251520"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main.py</a:t>
            </a:r>
          </a:p>
        </p:txBody>
      </p:sp>
      <p:sp>
        <p:nvSpPr>
          <p:cNvPr id="71" name="Rechteck 70">
            <a:extLst>
              <a:ext uri="{FF2B5EF4-FFF2-40B4-BE49-F238E27FC236}">
                <a16:creationId xmlns:a16="http://schemas.microsoft.com/office/drawing/2014/main" id="{3C35DDF4-E2F2-2410-6E80-9FD9611942D1}"/>
              </a:ext>
            </a:extLst>
          </p:cNvPr>
          <p:cNvSpPr/>
          <p:nvPr/>
        </p:nvSpPr>
        <p:spPr>
          <a:xfrm>
            <a:off x="1979712"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config/config.py</a:t>
            </a:r>
          </a:p>
        </p:txBody>
      </p:sp>
      <p:sp>
        <p:nvSpPr>
          <p:cNvPr id="72" name="Rechteck 71">
            <a:extLst>
              <a:ext uri="{FF2B5EF4-FFF2-40B4-BE49-F238E27FC236}">
                <a16:creationId xmlns:a16="http://schemas.microsoft.com/office/drawing/2014/main" id="{0AE942E0-3933-6413-C290-AF9A92DE7C90}"/>
              </a:ext>
            </a:extLst>
          </p:cNvPr>
          <p:cNvSpPr/>
          <p:nvPr/>
        </p:nvSpPr>
        <p:spPr>
          <a:xfrm>
            <a:off x="3744742"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config/initialization.py</a:t>
            </a:r>
          </a:p>
        </p:txBody>
      </p:sp>
      <p:sp>
        <p:nvSpPr>
          <p:cNvPr id="73" name="Rechteck 72">
            <a:extLst>
              <a:ext uri="{FF2B5EF4-FFF2-40B4-BE49-F238E27FC236}">
                <a16:creationId xmlns:a16="http://schemas.microsoft.com/office/drawing/2014/main" id="{A5ECD7D4-6C96-7141-A51D-E10B1D43497E}"/>
              </a:ext>
            </a:extLst>
          </p:cNvPr>
          <p:cNvSpPr/>
          <p:nvPr/>
        </p:nvSpPr>
        <p:spPr>
          <a:xfrm>
            <a:off x="5508104"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model/grid.py</a:t>
            </a:r>
          </a:p>
        </p:txBody>
      </p:sp>
      <p:sp>
        <p:nvSpPr>
          <p:cNvPr id="74" name="Rechteck 73">
            <a:extLst>
              <a:ext uri="{FF2B5EF4-FFF2-40B4-BE49-F238E27FC236}">
                <a16:creationId xmlns:a16="http://schemas.microsoft.com/office/drawing/2014/main" id="{DD7CE50E-E0ED-BF69-DE4A-65F1B1D588CB}"/>
              </a:ext>
            </a:extLst>
          </p:cNvPr>
          <p:cNvSpPr/>
          <p:nvPr/>
        </p:nvSpPr>
        <p:spPr>
          <a:xfrm>
            <a:off x="7236296" y="1416908"/>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Stores habitat and vegetation state:</a:t>
            </a:r>
          </a:p>
          <a:p>
            <a:pPr marL="177800" indent="-177800">
              <a:buFont typeface="Arial" panose="020B0604020202020204" pitchFamily="34" charset="0"/>
              <a:buChar char="•"/>
            </a:pPr>
            <a:r>
              <a:rPr lang="en-US" sz="1000" noProof="0" dirty="0">
                <a:solidFill>
                  <a:schemeClr val="tx1"/>
                </a:solidFill>
              </a:rPr>
              <a:t>cell type: “grass” or “forest”</a:t>
            </a:r>
          </a:p>
          <a:p>
            <a:pPr marL="177800" indent="-177800">
              <a:buFont typeface="Arial" panose="020B0604020202020204" pitchFamily="34" charset="0"/>
              <a:buChar char="•"/>
            </a:pPr>
            <a:r>
              <a:rPr lang="en-US" sz="1000" noProof="0" dirty="0">
                <a:solidFill>
                  <a:schemeClr val="tx1"/>
                </a:solidFill>
              </a:rPr>
              <a:t>grassland stage</a:t>
            </a:r>
          </a:p>
          <a:p>
            <a:pPr marL="177800" indent="-177800">
              <a:buFont typeface="Arial" panose="020B0604020202020204" pitchFamily="34" charset="0"/>
              <a:buChar char="•"/>
            </a:pPr>
            <a:r>
              <a:rPr lang="en-US" sz="1000" noProof="0" dirty="0">
                <a:solidFill>
                  <a:schemeClr val="tx1"/>
                </a:solidFill>
              </a:rPr>
              <a:t>logic for converting grassland to forest</a:t>
            </a:r>
          </a:p>
          <a:p>
            <a:pPr marL="177800" indent="-177800">
              <a:buFont typeface="Arial" panose="020B0604020202020204" pitchFamily="34" charset="0"/>
              <a:buChar char="•"/>
            </a:pPr>
            <a:r>
              <a:rPr lang="en-US" sz="1000" noProof="0" dirty="0">
                <a:solidFill>
                  <a:schemeClr val="tx1"/>
                </a:solidFill>
              </a:rPr>
              <a:t>counting occupancy per cell</a:t>
            </a:r>
          </a:p>
        </p:txBody>
      </p:sp>
      <p:sp>
        <p:nvSpPr>
          <p:cNvPr id="75" name="Rechteck 74">
            <a:extLst>
              <a:ext uri="{FF2B5EF4-FFF2-40B4-BE49-F238E27FC236}">
                <a16:creationId xmlns:a16="http://schemas.microsoft.com/office/drawing/2014/main" id="{98DDBAAE-136F-C897-DF07-1B43F86D6CAF}"/>
              </a:ext>
            </a:extLst>
          </p:cNvPr>
          <p:cNvSpPr/>
          <p:nvPr/>
        </p:nvSpPr>
        <p:spPr>
          <a:xfrm>
            <a:off x="7236296" y="1128876"/>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model/environment.py</a:t>
            </a:r>
          </a:p>
        </p:txBody>
      </p:sp>
      <p:sp>
        <p:nvSpPr>
          <p:cNvPr id="76" name="Rechteck 75">
            <a:extLst>
              <a:ext uri="{FF2B5EF4-FFF2-40B4-BE49-F238E27FC236}">
                <a16:creationId xmlns:a16="http://schemas.microsoft.com/office/drawing/2014/main" id="{852FA0B5-6DC5-11B1-B9C0-9CA015746AF6}"/>
              </a:ext>
            </a:extLst>
          </p:cNvPr>
          <p:cNvSpPr/>
          <p:nvPr/>
        </p:nvSpPr>
        <p:spPr>
          <a:xfrm>
            <a:off x="251520" y="3456384"/>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Defines the agent classes:</a:t>
            </a:r>
          </a:p>
          <a:p>
            <a:pPr marL="177800" indent="-177800">
              <a:buFont typeface="Arial" panose="020B0604020202020204" pitchFamily="34" charset="0"/>
              <a:buChar char="•"/>
            </a:pPr>
            <a:r>
              <a:rPr lang="en-US" sz="1000" noProof="0" dirty="0">
                <a:solidFill>
                  <a:schemeClr val="tx1"/>
                </a:solidFill>
              </a:rPr>
              <a:t>Bison</a:t>
            </a:r>
          </a:p>
          <a:p>
            <a:pPr marL="177800" indent="-177800">
              <a:buFont typeface="Arial" panose="020B0604020202020204" pitchFamily="34" charset="0"/>
              <a:buChar char="•"/>
            </a:pPr>
            <a:r>
              <a:rPr lang="en-US" sz="1000" noProof="0" dirty="0">
                <a:solidFill>
                  <a:schemeClr val="tx1"/>
                </a:solidFill>
              </a:rPr>
              <a:t>Wolf</a:t>
            </a:r>
          </a:p>
          <a:p>
            <a:endParaRPr lang="en-US" sz="500" noProof="0" dirty="0">
              <a:solidFill>
                <a:schemeClr val="tx1"/>
              </a:solidFill>
            </a:endParaRPr>
          </a:p>
          <a:p>
            <a:r>
              <a:rPr lang="en-US" sz="1000" noProof="0" dirty="0">
                <a:solidFill>
                  <a:schemeClr val="tx1"/>
                </a:solidFill>
              </a:rPr>
              <a:t>Each agent should at least store:</a:t>
            </a:r>
          </a:p>
          <a:p>
            <a:pPr marL="177800" indent="-177800">
              <a:buFont typeface="Arial" panose="020B0604020202020204" pitchFamily="34" charset="0"/>
              <a:buChar char="•"/>
            </a:pPr>
            <a:r>
              <a:rPr lang="en-US" sz="1000" noProof="0" dirty="0">
                <a:solidFill>
                  <a:schemeClr val="tx1"/>
                </a:solidFill>
              </a:rPr>
              <a:t>id</a:t>
            </a:r>
          </a:p>
          <a:p>
            <a:pPr marL="177800" indent="-177800">
              <a:buFont typeface="Arial" panose="020B0604020202020204" pitchFamily="34" charset="0"/>
              <a:buChar char="•"/>
            </a:pPr>
            <a:r>
              <a:rPr lang="en-US" sz="1000" noProof="0" dirty="0">
                <a:solidFill>
                  <a:schemeClr val="tx1"/>
                </a:solidFill>
              </a:rPr>
              <a:t>cell number where it is</a:t>
            </a:r>
          </a:p>
          <a:p>
            <a:pPr marL="177800" indent="-177800">
              <a:buFont typeface="Arial" panose="020B0604020202020204" pitchFamily="34" charset="0"/>
              <a:buChar char="•"/>
            </a:pPr>
            <a:r>
              <a:rPr lang="en-US" sz="1000" noProof="0" dirty="0">
                <a:solidFill>
                  <a:schemeClr val="tx1"/>
                </a:solidFill>
              </a:rPr>
              <a:t>a simple move history for diagnostics</a:t>
            </a:r>
          </a:p>
        </p:txBody>
      </p:sp>
      <p:sp>
        <p:nvSpPr>
          <p:cNvPr id="77" name="Rechteck 76">
            <a:extLst>
              <a:ext uri="{FF2B5EF4-FFF2-40B4-BE49-F238E27FC236}">
                <a16:creationId xmlns:a16="http://schemas.microsoft.com/office/drawing/2014/main" id="{72701957-9922-BCE3-D8EB-8CE182D36F1E}"/>
              </a:ext>
            </a:extLst>
          </p:cNvPr>
          <p:cNvSpPr/>
          <p:nvPr/>
        </p:nvSpPr>
        <p:spPr>
          <a:xfrm>
            <a:off x="1979712" y="3456384"/>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Pure movement logic:</a:t>
            </a:r>
          </a:p>
          <a:p>
            <a:pPr marL="177800" indent="-177800">
              <a:buFont typeface="Arial" panose="020B0604020202020204" pitchFamily="34" charset="0"/>
              <a:buChar char="•"/>
            </a:pPr>
            <a:r>
              <a:rPr lang="en-US" sz="1000" noProof="0" dirty="0">
                <a:solidFill>
                  <a:schemeClr val="tx1"/>
                </a:solidFill>
              </a:rPr>
              <a:t>bison movement rules</a:t>
            </a:r>
          </a:p>
          <a:p>
            <a:pPr marL="177800" indent="-177800">
              <a:buFont typeface="Arial" panose="020B0604020202020204" pitchFamily="34" charset="0"/>
              <a:buChar char="•"/>
            </a:pPr>
            <a:r>
              <a:rPr lang="en-US" sz="1000" noProof="0" dirty="0">
                <a:solidFill>
                  <a:schemeClr val="tx1"/>
                </a:solidFill>
              </a:rPr>
              <a:t>wolf movement rules</a:t>
            </a:r>
          </a:p>
          <a:p>
            <a:pPr marL="177800" indent="-177800">
              <a:buFont typeface="Arial" panose="020B0604020202020204" pitchFamily="34" charset="0"/>
              <a:buChar char="•"/>
            </a:pPr>
            <a:r>
              <a:rPr lang="en-US" sz="1000" noProof="0" dirty="0">
                <a:solidFill>
                  <a:schemeClr val="tx1"/>
                </a:solidFill>
              </a:rPr>
              <a:t>selecting candidate cells</a:t>
            </a:r>
          </a:p>
          <a:p>
            <a:pPr marL="177800" indent="-177800">
              <a:buFont typeface="Arial" panose="020B0604020202020204" pitchFamily="34" charset="0"/>
              <a:buChar char="•"/>
            </a:pPr>
            <a:r>
              <a:rPr lang="en-US" sz="1000" noProof="0" dirty="0">
                <a:solidFill>
                  <a:schemeClr val="tx1"/>
                </a:solidFill>
              </a:rPr>
              <a:t>random tie-breaking</a:t>
            </a:r>
          </a:p>
        </p:txBody>
      </p:sp>
      <p:sp>
        <p:nvSpPr>
          <p:cNvPr id="78" name="Rechteck 77">
            <a:extLst>
              <a:ext uri="{FF2B5EF4-FFF2-40B4-BE49-F238E27FC236}">
                <a16:creationId xmlns:a16="http://schemas.microsoft.com/office/drawing/2014/main" id="{43C8F205-5491-78DE-AB11-5B28991A6042}"/>
              </a:ext>
            </a:extLst>
          </p:cNvPr>
          <p:cNvSpPr/>
          <p:nvPr/>
        </p:nvSpPr>
        <p:spPr>
          <a:xfrm>
            <a:off x="3744742" y="3456384"/>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Implements cross-species effects:</a:t>
            </a:r>
          </a:p>
          <a:p>
            <a:pPr marL="177800" indent="-177800">
              <a:buFont typeface="Arial" panose="020B0604020202020204" pitchFamily="34" charset="0"/>
              <a:buChar char="•"/>
            </a:pPr>
            <a:r>
              <a:rPr lang="en-US" sz="1000" noProof="0" dirty="0">
                <a:solidFill>
                  <a:schemeClr val="tx1"/>
                </a:solidFill>
              </a:rPr>
              <a:t>check whether wolves occupy a bison cell</a:t>
            </a:r>
          </a:p>
          <a:p>
            <a:pPr marL="177800" indent="-177800">
              <a:buFont typeface="Arial" panose="020B0604020202020204" pitchFamily="34" charset="0"/>
              <a:buChar char="•"/>
            </a:pPr>
            <a:r>
              <a:rPr lang="en-US" sz="1000" noProof="0" dirty="0">
                <a:solidFill>
                  <a:schemeClr val="tx1"/>
                </a:solidFill>
              </a:rPr>
              <a:t>bison escape</a:t>
            </a:r>
          </a:p>
          <a:p>
            <a:pPr marL="177800" indent="-177800">
              <a:buFont typeface="Arial" panose="020B0604020202020204" pitchFamily="34" charset="0"/>
              <a:buChar char="•"/>
            </a:pPr>
            <a:r>
              <a:rPr lang="en-US" sz="1000" noProof="0" dirty="0">
                <a:solidFill>
                  <a:schemeClr val="tx1"/>
                </a:solidFill>
              </a:rPr>
              <a:t>ensure escape targets are wolf-free</a:t>
            </a:r>
          </a:p>
          <a:p>
            <a:pPr marL="177800" indent="-177800">
              <a:buFont typeface="Arial" panose="020B0604020202020204" pitchFamily="34" charset="0"/>
              <a:buChar char="•"/>
            </a:pPr>
            <a:r>
              <a:rPr lang="en-US" sz="1000" noProof="0" dirty="0">
                <a:solidFill>
                  <a:schemeClr val="tx1"/>
                </a:solidFill>
              </a:rPr>
              <a:t>bison attraction toward bison-rich cells</a:t>
            </a:r>
          </a:p>
        </p:txBody>
      </p:sp>
      <p:sp>
        <p:nvSpPr>
          <p:cNvPr id="79" name="Rechteck 78">
            <a:extLst>
              <a:ext uri="{FF2B5EF4-FFF2-40B4-BE49-F238E27FC236}">
                <a16:creationId xmlns:a16="http://schemas.microsoft.com/office/drawing/2014/main" id="{C9D56C8F-420C-57D2-7FEF-107A11FDFFC7}"/>
              </a:ext>
            </a:extLst>
          </p:cNvPr>
          <p:cNvSpPr/>
          <p:nvPr/>
        </p:nvSpPr>
        <p:spPr>
          <a:xfrm>
            <a:off x="5508104" y="3456384"/>
            <a:ext cx="3384376"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Updates environment after movement:</a:t>
            </a:r>
          </a:p>
          <a:p>
            <a:pPr marL="177800" indent="-177800">
              <a:buFont typeface="Arial" panose="020B0604020202020204" pitchFamily="34" charset="0"/>
              <a:buChar char="•"/>
            </a:pPr>
            <a:r>
              <a:rPr lang="en-US" sz="1000" noProof="0" dirty="0">
                <a:solidFill>
                  <a:schemeClr val="tx1"/>
                </a:solidFill>
              </a:rPr>
              <a:t>count bison per grassland cell</a:t>
            </a:r>
          </a:p>
          <a:p>
            <a:pPr marL="177800" indent="-177800">
              <a:buFont typeface="Arial" panose="020B0604020202020204" pitchFamily="34" charset="0"/>
              <a:buChar char="•"/>
            </a:pPr>
            <a:r>
              <a:rPr lang="en-US" sz="1000" noProof="0" dirty="0">
                <a:solidFill>
                  <a:schemeClr val="tx1"/>
                </a:solidFill>
              </a:rPr>
              <a:t>apply stage change:</a:t>
            </a:r>
          </a:p>
          <a:p>
            <a:pPr marL="361950" lvl="1" indent="-184150">
              <a:buFont typeface="Symbol" panose="05050102010706020507" pitchFamily="18" charset="2"/>
              <a:buChar char="-"/>
            </a:pPr>
            <a:r>
              <a:rPr lang="en-US" sz="1000" noProof="0" dirty="0">
                <a:solidFill>
                  <a:schemeClr val="tx1"/>
                </a:solidFill>
              </a:rPr>
              <a:t>-1 if more than 20 bison,</a:t>
            </a:r>
          </a:p>
          <a:p>
            <a:pPr marL="361950" lvl="1" indent="-184150">
              <a:buFont typeface="Symbol" panose="05050102010706020507" pitchFamily="18" charset="2"/>
              <a:buChar char="-"/>
            </a:pPr>
            <a:r>
              <a:rPr lang="en-US" sz="1000" noProof="0" dirty="0">
                <a:solidFill>
                  <a:schemeClr val="tx1"/>
                </a:solidFill>
              </a:rPr>
              <a:t>0 if 1-20 bison, and</a:t>
            </a:r>
          </a:p>
          <a:p>
            <a:pPr marL="361950" lvl="1" indent="-184150">
              <a:buFont typeface="Symbol" panose="05050102010706020507" pitchFamily="18" charset="2"/>
              <a:buChar char="-"/>
            </a:pPr>
            <a:r>
              <a:rPr lang="en-US" sz="1000" noProof="0" dirty="0">
                <a:solidFill>
                  <a:schemeClr val="tx1"/>
                </a:solidFill>
              </a:rPr>
              <a:t>+1 if 0 bison</a:t>
            </a:r>
          </a:p>
          <a:p>
            <a:pPr marL="177800" indent="-177800">
              <a:buFont typeface="Arial" panose="020B0604020202020204" pitchFamily="34" charset="0"/>
              <a:buChar char="•"/>
            </a:pPr>
            <a:r>
              <a:rPr lang="en-US" sz="1000" noProof="0" dirty="0">
                <a:solidFill>
                  <a:schemeClr val="tx1"/>
                </a:solidFill>
              </a:rPr>
              <a:t>clamp grassland stage to [0,5]</a:t>
            </a:r>
          </a:p>
          <a:p>
            <a:pPr marL="177800" indent="-177800">
              <a:buFont typeface="Arial" panose="020B0604020202020204" pitchFamily="34" charset="0"/>
              <a:buChar char="•"/>
            </a:pPr>
            <a:r>
              <a:rPr lang="en-US" sz="1000" noProof="0" dirty="0">
                <a:solidFill>
                  <a:schemeClr val="tx1"/>
                </a:solidFill>
              </a:rPr>
              <a:t>convert stage-5 grassland to forest under the condition from your model interpretation</a:t>
            </a:r>
          </a:p>
        </p:txBody>
      </p:sp>
      <p:sp>
        <p:nvSpPr>
          <p:cNvPr id="80" name="Rechteck 79">
            <a:extLst>
              <a:ext uri="{FF2B5EF4-FFF2-40B4-BE49-F238E27FC236}">
                <a16:creationId xmlns:a16="http://schemas.microsoft.com/office/drawing/2014/main" id="{7ADBC22E-255A-E755-618C-B55C0384F4DD}"/>
              </a:ext>
            </a:extLst>
          </p:cNvPr>
          <p:cNvSpPr/>
          <p:nvPr/>
        </p:nvSpPr>
        <p:spPr>
          <a:xfrm>
            <a:off x="251520"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model/agents.py</a:t>
            </a:r>
          </a:p>
        </p:txBody>
      </p:sp>
      <p:sp>
        <p:nvSpPr>
          <p:cNvPr id="81" name="Rechteck 80">
            <a:extLst>
              <a:ext uri="{FF2B5EF4-FFF2-40B4-BE49-F238E27FC236}">
                <a16:creationId xmlns:a16="http://schemas.microsoft.com/office/drawing/2014/main" id="{53C2D2EF-2769-0EA1-D914-D1B279B0F780}"/>
              </a:ext>
            </a:extLst>
          </p:cNvPr>
          <p:cNvSpPr/>
          <p:nvPr/>
        </p:nvSpPr>
        <p:spPr>
          <a:xfrm>
            <a:off x="1979712"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model/movement.py</a:t>
            </a:r>
          </a:p>
        </p:txBody>
      </p:sp>
      <p:sp>
        <p:nvSpPr>
          <p:cNvPr id="82" name="Rechteck 81">
            <a:extLst>
              <a:ext uri="{FF2B5EF4-FFF2-40B4-BE49-F238E27FC236}">
                <a16:creationId xmlns:a16="http://schemas.microsoft.com/office/drawing/2014/main" id="{7863FB5C-F9CF-7959-CBD0-42B3E5AF849B}"/>
              </a:ext>
            </a:extLst>
          </p:cNvPr>
          <p:cNvSpPr/>
          <p:nvPr/>
        </p:nvSpPr>
        <p:spPr>
          <a:xfrm>
            <a:off x="3744742"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model/interactions.py</a:t>
            </a:r>
          </a:p>
        </p:txBody>
      </p:sp>
      <p:sp>
        <p:nvSpPr>
          <p:cNvPr id="83" name="Rechteck 82">
            <a:extLst>
              <a:ext uri="{FF2B5EF4-FFF2-40B4-BE49-F238E27FC236}">
                <a16:creationId xmlns:a16="http://schemas.microsoft.com/office/drawing/2014/main" id="{9F870667-D822-5486-5C06-7B6AE99F39D8}"/>
              </a:ext>
            </a:extLst>
          </p:cNvPr>
          <p:cNvSpPr/>
          <p:nvPr/>
        </p:nvSpPr>
        <p:spPr>
          <a:xfrm>
            <a:off x="5508104" y="3168352"/>
            <a:ext cx="3384376"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model/update_rules.py</a:t>
            </a:r>
          </a:p>
        </p:txBody>
      </p:sp>
      <p:pic>
        <p:nvPicPr>
          <p:cNvPr id="88" name="Grafik 87">
            <a:extLst>
              <a:ext uri="{FF2B5EF4-FFF2-40B4-BE49-F238E27FC236}">
                <a16:creationId xmlns:a16="http://schemas.microsoft.com/office/drawing/2014/main" id="{2EBD1B55-6F4B-1EFD-FFD1-EDC9780C40B3}"/>
              </a:ext>
            </a:extLst>
          </p:cNvPr>
          <p:cNvPicPr>
            <a:picLocks noChangeAspect="1"/>
          </p:cNvPicPr>
          <p:nvPr/>
        </p:nvPicPr>
        <p:blipFill>
          <a:blip r:embed="rId2"/>
          <a:stretch>
            <a:fillRect/>
          </a:stretch>
        </p:blipFill>
        <p:spPr>
          <a:xfrm>
            <a:off x="4530976" y="2292164"/>
            <a:ext cx="820412" cy="648072"/>
          </a:xfrm>
          <a:prstGeom prst="rect">
            <a:avLst/>
          </a:prstGeom>
        </p:spPr>
      </p:pic>
    </p:spTree>
    <p:extLst>
      <p:ext uri="{BB962C8B-B14F-4D97-AF65-F5344CB8AC3E}">
        <p14:creationId xmlns:p14="http://schemas.microsoft.com/office/powerpoint/2010/main" val="30463104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31B0-7265-A072-9EBD-96825B07827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1643256-1A77-885E-5F5D-00FC29EE8236}"/>
              </a:ext>
            </a:extLst>
          </p:cNvPr>
          <p:cNvSpPr>
            <a:spLocks noGrp="1"/>
          </p:cNvSpPr>
          <p:nvPr>
            <p:ph type="title"/>
          </p:nvPr>
        </p:nvSpPr>
        <p:spPr/>
        <p:txBody>
          <a:bodyPr/>
          <a:lstStyle/>
          <a:p>
            <a:r>
              <a:rPr lang="en-US" noProof="0" dirty="0"/>
              <a:t>Here, the single files contain the information necessary to simulate the Yellowstone model (2/ 2)</a:t>
            </a:r>
          </a:p>
        </p:txBody>
      </p:sp>
      <p:sp>
        <p:nvSpPr>
          <p:cNvPr id="66" name="Rechteck 65">
            <a:extLst>
              <a:ext uri="{FF2B5EF4-FFF2-40B4-BE49-F238E27FC236}">
                <a16:creationId xmlns:a16="http://schemas.microsoft.com/office/drawing/2014/main" id="{598905CD-1D42-FF69-B939-02FE774A016B}"/>
              </a:ext>
            </a:extLst>
          </p:cNvPr>
          <p:cNvSpPr/>
          <p:nvPr/>
        </p:nvSpPr>
        <p:spPr>
          <a:xfrm>
            <a:off x="251520"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Central orchestrator:</a:t>
            </a:r>
          </a:p>
          <a:p>
            <a:pPr marL="171450" indent="-171450">
              <a:buFont typeface="Arial" panose="020B0604020202020204" pitchFamily="34" charset="0"/>
              <a:buChar char="•"/>
            </a:pPr>
            <a:r>
              <a:rPr lang="en-US" sz="1000" noProof="0" dirty="0">
                <a:solidFill>
                  <a:schemeClr val="tx1"/>
                </a:solidFill>
              </a:rPr>
              <a:t>initialize environment and agents</a:t>
            </a:r>
          </a:p>
          <a:p>
            <a:pPr marL="171450" indent="-171450">
              <a:buFont typeface="Arial" panose="020B0604020202020204" pitchFamily="34" charset="0"/>
              <a:buChar char="•"/>
            </a:pPr>
            <a:r>
              <a:rPr lang="en-US" sz="1000" noProof="0" dirty="0">
                <a:solidFill>
                  <a:schemeClr val="tx1"/>
                </a:solidFill>
              </a:rPr>
              <a:t>run time loop</a:t>
            </a:r>
          </a:p>
          <a:p>
            <a:pPr marL="171450" indent="-171450">
              <a:buFont typeface="Arial" panose="020B0604020202020204" pitchFamily="34" charset="0"/>
              <a:buChar char="•"/>
            </a:pPr>
            <a:r>
              <a:rPr lang="en-US" sz="1000" noProof="0" dirty="0">
                <a:solidFill>
                  <a:schemeClr val="tx1"/>
                </a:solidFill>
              </a:rPr>
              <a:t>call movement, interactions, updates</a:t>
            </a:r>
          </a:p>
          <a:p>
            <a:pPr marL="171450" indent="-171450">
              <a:buFont typeface="Arial" panose="020B0604020202020204" pitchFamily="34" charset="0"/>
              <a:buChar char="•"/>
            </a:pPr>
            <a:r>
              <a:rPr lang="en-US" sz="1000" noProof="0" dirty="0">
                <a:solidFill>
                  <a:schemeClr val="tx1"/>
                </a:solidFill>
              </a:rPr>
              <a:t>collect statistics</a:t>
            </a:r>
          </a:p>
        </p:txBody>
      </p:sp>
      <p:sp>
        <p:nvSpPr>
          <p:cNvPr id="67" name="Rechteck 66">
            <a:extLst>
              <a:ext uri="{FF2B5EF4-FFF2-40B4-BE49-F238E27FC236}">
                <a16:creationId xmlns:a16="http://schemas.microsoft.com/office/drawing/2014/main" id="{72C72806-0041-E0C8-FBBE-297E593ACB66}"/>
              </a:ext>
            </a:extLst>
          </p:cNvPr>
          <p:cNvSpPr/>
          <p:nvPr/>
        </p:nvSpPr>
        <p:spPr>
          <a:xfrm>
            <a:off x="1979712"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Static plots:</a:t>
            </a:r>
          </a:p>
          <a:p>
            <a:pPr marL="177800" indent="-177800">
              <a:buFont typeface="Arial" panose="020B0604020202020204" pitchFamily="34" charset="0"/>
              <a:buChar char="•"/>
            </a:pPr>
            <a:r>
              <a:rPr lang="en-US" sz="1000" noProof="0" dirty="0">
                <a:solidFill>
                  <a:schemeClr val="tx1"/>
                </a:solidFill>
              </a:rPr>
              <a:t>habitat map</a:t>
            </a:r>
          </a:p>
          <a:p>
            <a:pPr marL="177800" indent="-177800">
              <a:buFont typeface="Arial" panose="020B0604020202020204" pitchFamily="34" charset="0"/>
              <a:buChar char="•"/>
            </a:pPr>
            <a:r>
              <a:rPr lang="en-US" sz="1000" noProof="0" dirty="0">
                <a:solidFill>
                  <a:schemeClr val="tx1"/>
                </a:solidFill>
              </a:rPr>
              <a:t>grassland-stage heatmap</a:t>
            </a:r>
          </a:p>
          <a:p>
            <a:pPr marL="177800" indent="-177800">
              <a:buFont typeface="Arial" panose="020B0604020202020204" pitchFamily="34" charset="0"/>
              <a:buChar char="•"/>
            </a:pPr>
            <a:r>
              <a:rPr lang="en-US" sz="1000" noProof="0" dirty="0">
                <a:solidFill>
                  <a:schemeClr val="tx1"/>
                </a:solidFill>
              </a:rPr>
              <a:t>bison density map</a:t>
            </a:r>
          </a:p>
          <a:p>
            <a:pPr marL="177800" indent="-177800">
              <a:buFont typeface="Arial" panose="020B0604020202020204" pitchFamily="34" charset="0"/>
              <a:buChar char="•"/>
            </a:pPr>
            <a:r>
              <a:rPr lang="en-US" sz="1000" noProof="0" dirty="0">
                <a:solidFill>
                  <a:schemeClr val="tx1"/>
                </a:solidFill>
              </a:rPr>
              <a:t>wolf positions</a:t>
            </a:r>
          </a:p>
        </p:txBody>
      </p:sp>
      <p:sp>
        <p:nvSpPr>
          <p:cNvPr id="68" name="Rechteck 67">
            <a:extLst>
              <a:ext uri="{FF2B5EF4-FFF2-40B4-BE49-F238E27FC236}">
                <a16:creationId xmlns:a16="http://schemas.microsoft.com/office/drawing/2014/main" id="{A8F7D794-AA8F-0E41-4083-D1718823B1BE}"/>
              </a:ext>
            </a:extLst>
          </p:cNvPr>
          <p:cNvSpPr/>
          <p:nvPr/>
        </p:nvSpPr>
        <p:spPr>
          <a:xfrm>
            <a:off x="3744742" y="1419622"/>
            <a:ext cx="1656184" cy="56567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Animation of the system over time.</a:t>
            </a:r>
          </a:p>
        </p:txBody>
      </p:sp>
      <p:sp>
        <p:nvSpPr>
          <p:cNvPr id="69" name="Rechteck 68">
            <a:extLst>
              <a:ext uri="{FF2B5EF4-FFF2-40B4-BE49-F238E27FC236}">
                <a16:creationId xmlns:a16="http://schemas.microsoft.com/office/drawing/2014/main" id="{32452362-9C4B-4F99-69DE-DE107B9E62F2}"/>
              </a:ext>
            </a:extLst>
          </p:cNvPr>
          <p:cNvSpPr/>
          <p:nvPr/>
        </p:nvSpPr>
        <p:spPr>
          <a:xfrm>
            <a:off x="5508104" y="1419622"/>
            <a:ext cx="3384376"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Computes time series such as:</a:t>
            </a:r>
          </a:p>
          <a:p>
            <a:pPr marL="171450" indent="-171450">
              <a:buFont typeface="Arial" panose="020B0604020202020204" pitchFamily="34" charset="0"/>
              <a:buChar char="•"/>
            </a:pPr>
            <a:r>
              <a:rPr lang="en-US" sz="1000" noProof="0" dirty="0">
                <a:solidFill>
                  <a:schemeClr val="tx1"/>
                </a:solidFill>
              </a:rPr>
              <a:t>total number of forest cells</a:t>
            </a:r>
          </a:p>
          <a:p>
            <a:pPr marL="171450" indent="-171450">
              <a:buFont typeface="Arial" panose="020B0604020202020204" pitchFamily="34" charset="0"/>
              <a:buChar char="•"/>
            </a:pPr>
            <a:r>
              <a:rPr lang="en-US" sz="1000" noProof="0" dirty="0">
                <a:solidFill>
                  <a:schemeClr val="tx1"/>
                </a:solidFill>
              </a:rPr>
              <a:t>mean grassland stage</a:t>
            </a:r>
          </a:p>
          <a:p>
            <a:pPr marL="171450" indent="-171450">
              <a:buFont typeface="Arial" panose="020B0604020202020204" pitchFamily="34" charset="0"/>
              <a:buChar char="•"/>
            </a:pPr>
            <a:r>
              <a:rPr lang="en-US" sz="1000" noProof="0" dirty="0">
                <a:solidFill>
                  <a:schemeClr val="tx1"/>
                </a:solidFill>
              </a:rPr>
              <a:t>number of overgrazed cells</a:t>
            </a:r>
          </a:p>
          <a:p>
            <a:pPr marL="171450" indent="-171450">
              <a:buFont typeface="Arial" panose="020B0604020202020204" pitchFamily="34" charset="0"/>
              <a:buChar char="•"/>
            </a:pPr>
            <a:r>
              <a:rPr lang="en-US" sz="1000" noProof="0" dirty="0">
                <a:solidFill>
                  <a:schemeClr val="tx1"/>
                </a:solidFill>
              </a:rPr>
              <a:t>mean bison cluster size</a:t>
            </a:r>
          </a:p>
          <a:p>
            <a:pPr marL="171450" indent="-171450">
              <a:buFont typeface="Arial" panose="020B0604020202020204" pitchFamily="34" charset="0"/>
              <a:buChar char="•"/>
            </a:pPr>
            <a:r>
              <a:rPr lang="en-US" sz="1000" noProof="0" dirty="0">
                <a:solidFill>
                  <a:schemeClr val="tx1"/>
                </a:solidFill>
              </a:rPr>
              <a:t>number of wolf-bison encounters</a:t>
            </a:r>
          </a:p>
          <a:p>
            <a:pPr marL="171450" indent="-171450">
              <a:buFont typeface="Arial" panose="020B0604020202020204" pitchFamily="34" charset="0"/>
              <a:buChar char="•"/>
            </a:pPr>
            <a:r>
              <a:rPr lang="en-US" sz="1000" noProof="0" dirty="0">
                <a:solidFill>
                  <a:schemeClr val="tx1"/>
                </a:solidFill>
              </a:rPr>
              <a:t>spatial dispersion index of bison</a:t>
            </a:r>
          </a:p>
        </p:txBody>
      </p:sp>
      <p:sp>
        <p:nvSpPr>
          <p:cNvPr id="70" name="Rechteck 69">
            <a:extLst>
              <a:ext uri="{FF2B5EF4-FFF2-40B4-BE49-F238E27FC236}">
                <a16:creationId xmlns:a16="http://schemas.microsoft.com/office/drawing/2014/main" id="{07826F44-1D86-25C7-AEC0-80CD1E7E320A}"/>
              </a:ext>
            </a:extLst>
          </p:cNvPr>
          <p:cNvSpPr/>
          <p:nvPr/>
        </p:nvSpPr>
        <p:spPr>
          <a:xfrm>
            <a:off x="251520"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model/simulation.py</a:t>
            </a:r>
          </a:p>
        </p:txBody>
      </p:sp>
      <p:sp>
        <p:nvSpPr>
          <p:cNvPr id="71" name="Rechteck 70">
            <a:extLst>
              <a:ext uri="{FF2B5EF4-FFF2-40B4-BE49-F238E27FC236}">
                <a16:creationId xmlns:a16="http://schemas.microsoft.com/office/drawing/2014/main" id="{491575AA-85E0-4942-FF20-239A8FBF3040}"/>
              </a:ext>
            </a:extLst>
          </p:cNvPr>
          <p:cNvSpPr/>
          <p:nvPr/>
        </p:nvSpPr>
        <p:spPr>
          <a:xfrm>
            <a:off x="1979712"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visualization/plot.py</a:t>
            </a:r>
          </a:p>
        </p:txBody>
      </p:sp>
      <p:sp>
        <p:nvSpPr>
          <p:cNvPr id="72" name="Rechteck 71">
            <a:extLst>
              <a:ext uri="{FF2B5EF4-FFF2-40B4-BE49-F238E27FC236}">
                <a16:creationId xmlns:a16="http://schemas.microsoft.com/office/drawing/2014/main" id="{71FE033B-3BA9-40E8-4B67-FCC8AFCCCC80}"/>
              </a:ext>
            </a:extLst>
          </p:cNvPr>
          <p:cNvSpPr/>
          <p:nvPr/>
        </p:nvSpPr>
        <p:spPr>
          <a:xfrm>
            <a:off x="3744742"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vis…/animation.py</a:t>
            </a:r>
          </a:p>
        </p:txBody>
      </p:sp>
      <p:sp>
        <p:nvSpPr>
          <p:cNvPr id="73" name="Rechteck 72">
            <a:extLst>
              <a:ext uri="{FF2B5EF4-FFF2-40B4-BE49-F238E27FC236}">
                <a16:creationId xmlns:a16="http://schemas.microsoft.com/office/drawing/2014/main" id="{7C88750E-EC7C-F090-4684-666FA47534CD}"/>
              </a:ext>
            </a:extLst>
          </p:cNvPr>
          <p:cNvSpPr/>
          <p:nvPr/>
        </p:nvSpPr>
        <p:spPr>
          <a:xfrm>
            <a:off x="5508104" y="1131590"/>
            <a:ext cx="3384376"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analysis/metrics.py</a:t>
            </a:r>
          </a:p>
        </p:txBody>
      </p:sp>
      <p:sp>
        <p:nvSpPr>
          <p:cNvPr id="4" name="Rechteck 3">
            <a:extLst>
              <a:ext uri="{FF2B5EF4-FFF2-40B4-BE49-F238E27FC236}">
                <a16:creationId xmlns:a16="http://schemas.microsoft.com/office/drawing/2014/main" id="{C083C9DE-DBB0-9FF6-AC7F-00ADC62FF6A8}"/>
              </a:ext>
            </a:extLst>
          </p:cNvPr>
          <p:cNvSpPr/>
          <p:nvPr/>
        </p:nvSpPr>
        <p:spPr>
          <a:xfrm>
            <a:off x="251520" y="3169592"/>
            <a:ext cx="3384376" cy="1850430"/>
          </a:xfrm>
          <a:prstGeom prst="rect">
            <a:avLst/>
          </a:prstGeom>
          <a:solidFill>
            <a:schemeClr val="tx2">
              <a:lumMod val="20000"/>
              <a:lumOff val="80000"/>
            </a:schemeClr>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latin typeface="Courier New" panose="02070309020205020404" pitchFamily="49" charset="0"/>
                <a:cs typeface="Courier New" panose="02070309020205020404" pitchFamily="49" charset="0"/>
              </a:rPr>
              <a:t>Minimal Parameter Set:</a:t>
            </a:r>
          </a:p>
          <a:p>
            <a:endParaRPr lang="en-US" sz="500" noProof="0" dirty="0">
              <a:solidFill>
                <a:schemeClr val="tx1"/>
              </a:solidFill>
              <a:latin typeface="Courier New" panose="02070309020205020404" pitchFamily="49" charset="0"/>
              <a:cs typeface="Courier New" panose="02070309020205020404" pitchFamily="49" charset="0"/>
            </a:endParaRPr>
          </a:p>
          <a:p>
            <a:r>
              <a:rPr lang="en-US" sz="1000" noProof="0" dirty="0">
                <a:solidFill>
                  <a:schemeClr val="tx1"/>
                </a:solidFill>
                <a:latin typeface="Courier New" panose="02070309020205020404" pitchFamily="49" charset="0"/>
                <a:cs typeface="Courier New" panose="02070309020205020404" pitchFamily="49" charset="0"/>
              </a:rPr>
              <a:t>NX = 40</a:t>
            </a:r>
          </a:p>
          <a:p>
            <a:r>
              <a:rPr lang="en-US" sz="1000" noProof="0" dirty="0">
                <a:solidFill>
                  <a:schemeClr val="tx1"/>
                </a:solidFill>
                <a:latin typeface="Courier New" panose="02070309020205020404" pitchFamily="49" charset="0"/>
                <a:cs typeface="Courier New" panose="02070309020205020404" pitchFamily="49" charset="0"/>
              </a:rPr>
              <a:t>NY = 40</a:t>
            </a:r>
          </a:p>
          <a:p>
            <a:r>
              <a:rPr lang="en-US" sz="1000" noProof="0" dirty="0">
                <a:solidFill>
                  <a:schemeClr val="tx1"/>
                </a:solidFill>
                <a:latin typeface="Courier New" panose="02070309020205020404" pitchFamily="49" charset="0"/>
                <a:cs typeface="Courier New" panose="02070309020205020404" pitchFamily="49" charset="0"/>
              </a:rPr>
              <a:t>N_BISON = 250</a:t>
            </a:r>
          </a:p>
          <a:p>
            <a:r>
              <a:rPr lang="en-US" sz="1000" noProof="0" dirty="0">
                <a:solidFill>
                  <a:schemeClr val="tx1"/>
                </a:solidFill>
                <a:latin typeface="Courier New" panose="02070309020205020404" pitchFamily="49" charset="0"/>
                <a:cs typeface="Courier New" panose="02070309020205020404" pitchFamily="49" charset="0"/>
              </a:rPr>
              <a:t>N_WOLVES = 8</a:t>
            </a:r>
          </a:p>
          <a:p>
            <a:r>
              <a:rPr lang="en-US" sz="1000" noProof="0" dirty="0">
                <a:solidFill>
                  <a:schemeClr val="tx1"/>
                </a:solidFill>
                <a:latin typeface="Courier New" panose="02070309020205020404" pitchFamily="49" charset="0"/>
                <a:cs typeface="Courier New" panose="02070309020205020404" pitchFamily="49" charset="0"/>
              </a:rPr>
              <a:t>WOLF_MOVE_PERIOD = 4</a:t>
            </a:r>
          </a:p>
          <a:p>
            <a:r>
              <a:rPr lang="en-US" sz="1000" noProof="0" dirty="0">
                <a:solidFill>
                  <a:schemeClr val="tx1"/>
                </a:solidFill>
                <a:latin typeface="Courier New" panose="02070309020205020404" pitchFamily="49" charset="0"/>
                <a:cs typeface="Courier New" panose="02070309020205020404" pitchFamily="49" charset="0"/>
              </a:rPr>
              <a:t>N_STEPS = 300</a:t>
            </a:r>
          </a:p>
          <a:p>
            <a:r>
              <a:rPr lang="en-US" sz="1000" noProof="0" dirty="0">
                <a:solidFill>
                  <a:schemeClr val="tx1"/>
                </a:solidFill>
                <a:latin typeface="Courier New" panose="02070309020205020404" pitchFamily="49" charset="0"/>
                <a:cs typeface="Courier New" panose="02070309020205020404" pitchFamily="49" charset="0"/>
              </a:rPr>
              <a:t>INITIAL_GRASS_STAGE = 3</a:t>
            </a:r>
          </a:p>
          <a:p>
            <a:r>
              <a:rPr lang="en-US" sz="1000" noProof="0" dirty="0">
                <a:solidFill>
                  <a:schemeClr val="tx1"/>
                </a:solidFill>
                <a:latin typeface="Courier New" panose="02070309020205020404" pitchFamily="49" charset="0"/>
                <a:cs typeface="Courier New" panose="02070309020205020404" pitchFamily="49" charset="0"/>
              </a:rPr>
              <a:t>STAGE5_TO_FOREST_DELAY = 3</a:t>
            </a:r>
          </a:p>
          <a:p>
            <a:r>
              <a:rPr lang="en-US" sz="1000" noProof="0" dirty="0">
                <a:solidFill>
                  <a:schemeClr val="tx1"/>
                </a:solidFill>
                <a:latin typeface="Courier New" panose="02070309020205020404" pitchFamily="49" charset="0"/>
                <a:cs typeface="Courier New" panose="02070309020205020404" pitchFamily="49" charset="0"/>
              </a:rPr>
              <a:t>RANDOM_SEED = 42</a:t>
            </a:r>
          </a:p>
        </p:txBody>
      </p:sp>
      <p:sp>
        <p:nvSpPr>
          <p:cNvPr id="8" name="Rechteck 7">
            <a:extLst>
              <a:ext uri="{FF2B5EF4-FFF2-40B4-BE49-F238E27FC236}">
                <a16:creationId xmlns:a16="http://schemas.microsoft.com/office/drawing/2014/main" id="{F1923F62-90BC-D260-A346-2E5AEDB7FB68}"/>
              </a:ext>
            </a:extLst>
          </p:cNvPr>
          <p:cNvSpPr/>
          <p:nvPr/>
        </p:nvSpPr>
        <p:spPr>
          <a:xfrm>
            <a:off x="3744742" y="3168352"/>
            <a:ext cx="5147738" cy="185167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b="1" noProof="0" dirty="0">
                <a:solidFill>
                  <a:schemeClr val="tx1"/>
                </a:solidFill>
              </a:rPr>
              <a:t>Experiments:</a:t>
            </a:r>
          </a:p>
          <a:p>
            <a:endParaRPr lang="en-US" sz="500" b="1" noProof="0" dirty="0">
              <a:solidFill>
                <a:schemeClr val="tx1"/>
              </a:solidFill>
            </a:endParaRPr>
          </a:p>
          <a:p>
            <a:pPr algn="ctr"/>
            <a:r>
              <a:rPr lang="en-US" sz="1000" b="1" noProof="0" dirty="0">
                <a:solidFill>
                  <a:schemeClr val="tx1"/>
                </a:solidFill>
              </a:rPr>
              <a:t>wolves act as ecosystem engineers by changing bison space use,</a:t>
            </a:r>
          </a:p>
          <a:p>
            <a:pPr algn="ctr"/>
            <a:r>
              <a:rPr lang="en-US" sz="1000" b="1" noProof="0" dirty="0">
                <a:solidFill>
                  <a:schemeClr val="tx1"/>
                </a:solidFill>
              </a:rPr>
              <a:t>not necessarily by directly killing them</a:t>
            </a:r>
          </a:p>
          <a:p>
            <a:endParaRPr lang="en-US" sz="500" b="1" noProof="0" dirty="0">
              <a:solidFill>
                <a:schemeClr val="tx1"/>
              </a:solidFill>
            </a:endParaRPr>
          </a:p>
          <a:p>
            <a:pPr marL="177800" indent="-177800">
              <a:buFont typeface="Arial" panose="020B0604020202020204" pitchFamily="34" charset="0"/>
              <a:buChar char="•"/>
            </a:pPr>
            <a:r>
              <a:rPr lang="en-US" sz="1000" noProof="0" dirty="0">
                <a:solidFill>
                  <a:schemeClr val="tx1"/>
                </a:solidFill>
              </a:rPr>
              <a:t>No wolves vs. wolves: Does forest recover more with wolves being present?</a:t>
            </a:r>
          </a:p>
          <a:p>
            <a:pPr marL="177800" indent="-177800">
              <a:buFont typeface="Arial" panose="020B0604020202020204" pitchFamily="34" charset="0"/>
              <a:buChar char="•"/>
            </a:pPr>
            <a:r>
              <a:rPr lang="en-US" sz="1000" noProof="0" dirty="0">
                <a:solidFill>
                  <a:schemeClr val="tx1"/>
                </a:solidFill>
              </a:rPr>
              <a:t>Different wolf movement periods: How much disturbance is needed to prevent overgrazing?</a:t>
            </a:r>
          </a:p>
          <a:p>
            <a:pPr marL="177800" indent="-177800">
              <a:buFont typeface="Arial" panose="020B0604020202020204" pitchFamily="34" charset="0"/>
              <a:buChar char="•"/>
            </a:pPr>
            <a:r>
              <a:rPr lang="en-US" sz="1000" noProof="0" dirty="0">
                <a:solidFill>
                  <a:schemeClr val="tx1"/>
                </a:solidFill>
              </a:rPr>
              <a:t>Low vs high bison numbers: Is there a threshold where vegetation collapses?</a:t>
            </a:r>
          </a:p>
          <a:p>
            <a:pPr marL="177800" indent="-177800">
              <a:buFont typeface="Arial" panose="020B0604020202020204" pitchFamily="34" charset="0"/>
              <a:buChar char="•"/>
            </a:pPr>
            <a:r>
              <a:rPr lang="en-US" sz="1000" noProof="0" dirty="0">
                <a:solidFill>
                  <a:schemeClr val="tx1"/>
                </a:solidFill>
              </a:rPr>
              <a:t>Strong vs. weak bison sociality: Does tighter herding worsen overgrazing?</a:t>
            </a:r>
          </a:p>
          <a:p>
            <a:pPr marL="177800" indent="-177800">
              <a:buFont typeface="Arial" panose="020B0604020202020204" pitchFamily="34" charset="0"/>
              <a:buChar char="•"/>
            </a:pPr>
            <a:r>
              <a:rPr lang="en-US" sz="1000" noProof="0" dirty="0">
                <a:solidFill>
                  <a:schemeClr val="tx1"/>
                </a:solidFill>
              </a:rPr>
              <a:t>Different forest-conversion rules: How sensitive is reforestation to ecological memory?</a:t>
            </a:r>
          </a:p>
        </p:txBody>
      </p:sp>
      <p:grpSp>
        <p:nvGrpSpPr>
          <p:cNvPr id="7" name="Gruppieren 6">
            <a:extLst>
              <a:ext uri="{FF2B5EF4-FFF2-40B4-BE49-F238E27FC236}">
                <a16:creationId xmlns:a16="http://schemas.microsoft.com/office/drawing/2014/main" id="{90664C5E-06C9-39A2-2F58-1C69E5B8FEE9}"/>
              </a:ext>
            </a:extLst>
          </p:cNvPr>
          <p:cNvGrpSpPr/>
          <p:nvPr/>
        </p:nvGrpSpPr>
        <p:grpSpPr>
          <a:xfrm>
            <a:off x="3744742" y="2129558"/>
            <a:ext cx="1656184" cy="853702"/>
            <a:chOff x="3744742" y="2078088"/>
            <a:chExt cx="1656184" cy="853702"/>
          </a:xfrm>
        </p:grpSpPr>
        <p:sp>
          <p:nvSpPr>
            <p:cNvPr id="3" name="Rechteck 2">
              <a:extLst>
                <a:ext uri="{FF2B5EF4-FFF2-40B4-BE49-F238E27FC236}">
                  <a16:creationId xmlns:a16="http://schemas.microsoft.com/office/drawing/2014/main" id="{219B741A-A944-FBA7-4095-0982C55B83F6}"/>
                </a:ext>
              </a:extLst>
            </p:cNvPr>
            <p:cNvSpPr/>
            <p:nvPr/>
          </p:nvSpPr>
          <p:spPr>
            <a:xfrm>
              <a:off x="3744742" y="2366120"/>
              <a:ext cx="1656184" cy="56567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Monte Carlo simulation runs for different numbers of wolves to get their impact</a:t>
              </a:r>
            </a:p>
          </p:txBody>
        </p:sp>
        <p:sp>
          <p:nvSpPr>
            <p:cNvPr id="5" name="Rechteck 4">
              <a:extLst>
                <a:ext uri="{FF2B5EF4-FFF2-40B4-BE49-F238E27FC236}">
                  <a16:creationId xmlns:a16="http://schemas.microsoft.com/office/drawing/2014/main" id="{B97F7511-6CC6-D714-BA69-DA8345A67688}"/>
                </a:ext>
              </a:extLst>
            </p:cNvPr>
            <p:cNvSpPr/>
            <p:nvPr/>
          </p:nvSpPr>
          <p:spPr>
            <a:xfrm>
              <a:off x="3744742" y="2078088"/>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ana…/monte_carlo.py</a:t>
              </a:r>
            </a:p>
          </p:txBody>
        </p:sp>
      </p:grpSp>
    </p:spTree>
    <p:extLst>
      <p:ext uri="{BB962C8B-B14F-4D97-AF65-F5344CB8AC3E}">
        <p14:creationId xmlns:p14="http://schemas.microsoft.com/office/powerpoint/2010/main" val="9250920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BC4F40C-B2AF-DB37-625F-3B57C4D32FBC}"/>
              </a:ext>
            </a:extLst>
          </p:cNvPr>
          <p:cNvSpPr>
            <a:spLocks noGrp="1"/>
          </p:cNvSpPr>
          <p:nvPr>
            <p:ph type="title"/>
          </p:nvPr>
        </p:nvSpPr>
        <p:spPr/>
        <p:txBody>
          <a:bodyPr/>
          <a:lstStyle/>
          <a:p>
            <a:r>
              <a:rPr lang="en-US" noProof="0" dirty="0"/>
              <a:t>Simulation 1:</a:t>
            </a:r>
            <a:br>
              <a:rPr lang="en-US" noProof="0" dirty="0"/>
            </a:br>
            <a:r>
              <a:rPr lang="en-US" noProof="0" dirty="0"/>
              <a:t>Animation of the dynamics – 1/ 2</a:t>
            </a:r>
          </a:p>
        </p:txBody>
      </p:sp>
      <p:pic>
        <p:nvPicPr>
          <p:cNvPr id="6" name="Grafik 5">
            <a:extLst>
              <a:ext uri="{FF2B5EF4-FFF2-40B4-BE49-F238E27FC236}">
                <a16:creationId xmlns:a16="http://schemas.microsoft.com/office/drawing/2014/main" id="{31037B41-1736-B15B-8D6C-37ECE268A299}"/>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350744" y="1138624"/>
            <a:ext cx="4541736" cy="3881398"/>
          </a:xfrm>
          <a:prstGeom prst="rect">
            <a:avLst/>
          </a:prstGeom>
          <a:noFill/>
          <a:ln>
            <a:solidFill>
              <a:schemeClr val="tx2"/>
            </a:solidFill>
          </a:ln>
        </p:spPr>
      </p:pic>
      <p:sp>
        <p:nvSpPr>
          <p:cNvPr id="3" name="Rechteck 2">
            <a:extLst>
              <a:ext uri="{FF2B5EF4-FFF2-40B4-BE49-F238E27FC236}">
                <a16:creationId xmlns:a16="http://schemas.microsoft.com/office/drawing/2014/main" id="{4297D827-4C6D-806F-8F2B-5C0EC0DCD7C2}"/>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Wolve-Bison</a:t>
            </a:r>
            <a:br>
              <a:rPr lang="en-US" sz="1200" b="1" noProof="0" dirty="0">
                <a:solidFill>
                  <a:schemeClr val="tx1"/>
                </a:solidFill>
              </a:rPr>
            </a:br>
            <a:r>
              <a:rPr lang="en-US" sz="1200" b="1" noProof="0" dirty="0">
                <a:solidFill>
                  <a:schemeClr val="tx1"/>
                </a:solidFill>
              </a:rPr>
              <a:t>Dynamics</a:t>
            </a:r>
          </a:p>
        </p:txBody>
      </p:sp>
      <p:grpSp>
        <p:nvGrpSpPr>
          <p:cNvPr id="4" name="Gruppieren 3">
            <a:extLst>
              <a:ext uri="{FF2B5EF4-FFF2-40B4-BE49-F238E27FC236}">
                <a16:creationId xmlns:a16="http://schemas.microsoft.com/office/drawing/2014/main" id="{E18291D6-022B-6613-A22E-0F7499062A27}"/>
              </a:ext>
            </a:extLst>
          </p:cNvPr>
          <p:cNvGrpSpPr/>
          <p:nvPr/>
        </p:nvGrpSpPr>
        <p:grpSpPr>
          <a:xfrm>
            <a:off x="251520" y="1131588"/>
            <a:ext cx="1656184" cy="936107"/>
            <a:chOff x="251520" y="1131588"/>
            <a:chExt cx="1656184" cy="936107"/>
          </a:xfrm>
        </p:grpSpPr>
        <p:sp>
          <p:nvSpPr>
            <p:cNvPr id="5" name="Rechteck 4">
              <a:extLst>
                <a:ext uri="{FF2B5EF4-FFF2-40B4-BE49-F238E27FC236}">
                  <a16:creationId xmlns:a16="http://schemas.microsoft.com/office/drawing/2014/main" id="{54784724-AAA5-6A99-D3AB-F6727C57F2F2}"/>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72297AE1-8B60-C5B9-945B-3F7477D10E79}"/>
                </a:ext>
              </a:extLst>
            </p:cNvPr>
            <p:cNvPicPr>
              <a:picLocks noChangeAspect="1"/>
            </p:cNvPicPr>
            <p:nvPr/>
          </p:nvPicPr>
          <p:blipFill>
            <a:blip r:embed="rId3"/>
            <a:srcRect t="5700" b="15210"/>
            <a:stretch>
              <a:fillRect/>
            </a:stretch>
          </p:blipFill>
          <p:spPr>
            <a:xfrm>
              <a:off x="487821" y="1131589"/>
              <a:ext cx="1183583" cy="936106"/>
            </a:xfrm>
            <a:prstGeom prst="rect">
              <a:avLst/>
            </a:prstGeom>
          </p:spPr>
        </p:pic>
      </p:grpSp>
      <p:sp>
        <p:nvSpPr>
          <p:cNvPr id="10" name="Rechteck 9">
            <a:extLst>
              <a:ext uri="{FF2B5EF4-FFF2-40B4-BE49-F238E27FC236}">
                <a16:creationId xmlns:a16="http://schemas.microsoft.com/office/drawing/2014/main" id="{61C24122-556C-F2B2-C68F-01E84A29E9D0}"/>
              </a:ext>
            </a:extLst>
          </p:cNvPr>
          <p:cNvSpPr/>
          <p:nvPr/>
        </p:nvSpPr>
        <p:spPr>
          <a:xfrm>
            <a:off x="2051720" y="1138624"/>
            <a:ext cx="2160240" cy="3881398"/>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00" noProof="0" dirty="0">
                <a:solidFill>
                  <a:schemeClr val="tx1"/>
                </a:solidFill>
                <a:latin typeface="Courier New" panose="02070309020205020404" pitchFamily="49" charset="0"/>
                <a:cs typeface="Courier New" panose="02070309020205020404" pitchFamily="49" charset="0"/>
              </a:rPr>
              <a:t>NX = 50  # Grid width</a:t>
            </a:r>
          </a:p>
          <a:p>
            <a:r>
              <a:rPr lang="en-US" sz="800" noProof="0" dirty="0">
                <a:solidFill>
                  <a:schemeClr val="tx1"/>
                </a:solidFill>
                <a:latin typeface="Courier New" panose="02070309020205020404" pitchFamily="49" charset="0"/>
                <a:cs typeface="Courier New" panose="02070309020205020404" pitchFamily="49" charset="0"/>
              </a:rPr>
              <a:t>NY = 50  # Grid height</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N_BISON = 300</a:t>
            </a:r>
          </a:p>
          <a:p>
            <a:r>
              <a:rPr lang="en-US" sz="800" noProof="0" dirty="0">
                <a:solidFill>
                  <a:schemeClr val="tx1"/>
                </a:solidFill>
                <a:latin typeface="Courier New" panose="02070309020205020404" pitchFamily="49" charset="0"/>
                <a:cs typeface="Courier New" panose="02070309020205020404" pitchFamily="49" charset="0"/>
              </a:rPr>
              <a:t>N_WOLVES = 15</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WOLF_MOVE_PERIOD = 1</a:t>
            </a:r>
          </a:p>
          <a:p>
            <a:r>
              <a:rPr lang="en-US" sz="800" noProof="0" dirty="0">
                <a:solidFill>
                  <a:schemeClr val="tx1"/>
                </a:solidFill>
                <a:latin typeface="Courier New" panose="02070309020205020404" pitchFamily="49" charset="0"/>
                <a:cs typeface="Courier New" panose="02070309020205020404" pitchFamily="49" charset="0"/>
              </a:rPr>
              <a:t># Wolves move every k steps</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N_STEPS = 5#500</a:t>
            </a:r>
          </a:p>
          <a:p>
            <a:r>
              <a:rPr lang="en-US" sz="800" noProof="0" dirty="0">
                <a:solidFill>
                  <a:schemeClr val="tx1"/>
                </a:solidFill>
                <a:latin typeface="Courier New" panose="02070309020205020404" pitchFamily="49" charset="0"/>
                <a:cs typeface="Courier New" panose="02070309020205020404" pitchFamily="49" charset="0"/>
              </a:rPr>
              <a:t>RANDOM_SEED = 42</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CELL_TYPE_GRASS = "grass"</a:t>
            </a:r>
          </a:p>
          <a:p>
            <a:r>
              <a:rPr lang="en-US" sz="800" noProof="0" dirty="0">
                <a:solidFill>
                  <a:schemeClr val="tx1"/>
                </a:solidFill>
                <a:latin typeface="Courier New" panose="02070309020205020404" pitchFamily="49" charset="0"/>
                <a:cs typeface="Courier New" panose="02070309020205020404" pitchFamily="49" charset="0"/>
              </a:rPr>
              <a:t>CELL_TYPE_FOREST = "forest"</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INITIAL_FOREST_FRACTION = 0.15  INITIAL_GRASS_STAGE_MEAN = 4.0  INITIAL_GRASS_STAGE_STD = 1.0</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MIN_GRASS_STAGE = 0   MAX_GRASS_STAGE = 10</a:t>
            </a:r>
          </a:p>
          <a:p>
            <a:r>
              <a:rPr lang="en-US" sz="800" noProof="0" dirty="0">
                <a:solidFill>
                  <a:schemeClr val="tx1"/>
                </a:solidFill>
                <a:latin typeface="Courier New" panose="02070309020205020404" pitchFamily="49" charset="0"/>
                <a:cs typeface="Courier New" panose="02070309020205020404" pitchFamily="49" charset="0"/>
              </a:rPr>
              <a:t>GRASS_PREFERENCE_THRESHOLD = 4</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GRASS_CHANGE_GRAZING  = -2</a:t>
            </a:r>
          </a:p>
          <a:p>
            <a:r>
              <a:rPr lang="en-US" sz="800" noProof="0" dirty="0">
                <a:solidFill>
                  <a:schemeClr val="tx1"/>
                </a:solidFill>
                <a:latin typeface="Courier New" panose="02070309020205020404" pitchFamily="49" charset="0"/>
                <a:cs typeface="Courier New" panose="02070309020205020404" pitchFamily="49" charset="0"/>
              </a:rPr>
              <a:t>GRASS_CHANGE_RECOVERY = +1</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STAGE10_THRESHOLD    = 20  WOLF_DETECTION_RANGE = 0</a:t>
            </a:r>
          </a:p>
          <a:p>
            <a:endParaRPr lang="en-US" sz="800" noProof="0" dirty="0">
              <a:solidFill>
                <a:schemeClr val="tx1"/>
              </a:solidFill>
              <a:latin typeface="Courier New" panose="02070309020205020404" pitchFamily="49" charset="0"/>
              <a:cs typeface="Courier New" panose="02070309020205020404" pitchFamily="49" charset="0"/>
            </a:endParaRPr>
          </a:p>
          <a:p>
            <a:r>
              <a:rPr lang="en-US" sz="800" noProof="0" dirty="0">
                <a:solidFill>
                  <a:schemeClr val="tx1"/>
                </a:solidFill>
                <a:latin typeface="Courier New" panose="02070309020205020404" pitchFamily="49" charset="0"/>
                <a:cs typeface="Courier New" panose="02070309020205020404" pitchFamily="49" charset="0"/>
              </a:rPr>
              <a:t>MAX_WOLVES_PER_CELL = 1</a:t>
            </a:r>
          </a:p>
          <a:p>
            <a:r>
              <a:rPr lang="en-US" sz="800" noProof="0" dirty="0">
                <a:solidFill>
                  <a:schemeClr val="tx1"/>
                </a:solidFill>
                <a:latin typeface="Courier New" panose="02070309020205020404" pitchFamily="49" charset="0"/>
                <a:cs typeface="Courier New" panose="02070309020205020404" pitchFamily="49" charset="0"/>
              </a:rPr>
              <a:t>MAX_BISON_PER_CELL  = 1</a:t>
            </a:r>
          </a:p>
        </p:txBody>
      </p:sp>
    </p:spTree>
    <p:extLst>
      <p:ext uri="{BB962C8B-B14F-4D97-AF65-F5344CB8AC3E}">
        <p14:creationId xmlns:p14="http://schemas.microsoft.com/office/powerpoint/2010/main" val="2171717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6ED0C-3F8E-A1EB-5253-837C791D6DE0}"/>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C79320FD-990F-3070-B6CE-F987115ED543}"/>
              </a:ext>
            </a:extLst>
          </p:cNvPr>
          <p:cNvSpPr>
            <a:spLocks noGrp="1"/>
          </p:cNvSpPr>
          <p:nvPr>
            <p:ph type="title"/>
          </p:nvPr>
        </p:nvSpPr>
        <p:spPr/>
        <p:txBody>
          <a:bodyPr/>
          <a:lstStyle/>
          <a:p>
            <a:r>
              <a:rPr lang="en-US" noProof="0" dirty="0"/>
              <a:t>Simulation 1:</a:t>
            </a:r>
            <a:br>
              <a:rPr lang="en-US" noProof="0" dirty="0"/>
            </a:br>
            <a:r>
              <a:rPr lang="en-US" noProof="0" dirty="0"/>
              <a:t>Animation of the dynamics – 2/ 2</a:t>
            </a:r>
          </a:p>
        </p:txBody>
      </p:sp>
      <p:pic>
        <p:nvPicPr>
          <p:cNvPr id="4" name="Grafik 3">
            <a:extLst>
              <a:ext uri="{FF2B5EF4-FFF2-40B4-BE49-F238E27FC236}">
                <a16:creationId xmlns:a16="http://schemas.microsoft.com/office/drawing/2014/main" id="{A88B911E-4CA9-54C5-E57D-569FFD172AB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436096" y="1138624"/>
            <a:ext cx="3456384" cy="2956626"/>
          </a:xfrm>
          <a:prstGeom prst="rect">
            <a:avLst/>
          </a:prstGeom>
          <a:noFill/>
          <a:ln>
            <a:solidFill>
              <a:schemeClr val="tx2"/>
            </a:solidFill>
          </a:ln>
        </p:spPr>
      </p:pic>
      <p:sp>
        <p:nvSpPr>
          <p:cNvPr id="3" name="Textfeld 2">
            <a:extLst>
              <a:ext uri="{FF2B5EF4-FFF2-40B4-BE49-F238E27FC236}">
                <a16:creationId xmlns:a16="http://schemas.microsoft.com/office/drawing/2014/main" id="{DA6A1F01-8045-A469-A5ED-44C9713309EA}"/>
              </a:ext>
            </a:extLst>
          </p:cNvPr>
          <p:cNvSpPr txBox="1"/>
          <p:nvPr/>
        </p:nvSpPr>
        <p:spPr>
          <a:xfrm>
            <a:off x="8071486" y="4155926"/>
            <a:ext cx="820994" cy="276999"/>
          </a:xfrm>
          <a:prstGeom prst="rect">
            <a:avLst/>
          </a:prstGeom>
          <a:noFill/>
        </p:spPr>
        <p:txBody>
          <a:bodyPr wrap="none" rtlCol="0">
            <a:spAutoFit/>
          </a:bodyPr>
          <a:lstStyle/>
          <a:p>
            <a:pPr algn="r"/>
            <a:r>
              <a:rPr lang="en-US" sz="1200" noProof="0" dirty="0"/>
              <a:t>final stage</a:t>
            </a:r>
          </a:p>
        </p:txBody>
      </p:sp>
      <p:pic>
        <p:nvPicPr>
          <p:cNvPr id="7" name="Grafik 6">
            <a:extLst>
              <a:ext uri="{FF2B5EF4-FFF2-40B4-BE49-F238E27FC236}">
                <a16:creationId xmlns:a16="http://schemas.microsoft.com/office/drawing/2014/main" id="{FBE9B978-BC66-0445-3515-936C48DD51A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7504" y="1023578"/>
            <a:ext cx="4968552" cy="4140460"/>
          </a:xfrm>
          <a:prstGeom prst="rect">
            <a:avLst/>
          </a:prstGeom>
        </p:spPr>
      </p:pic>
    </p:spTree>
    <p:extLst>
      <p:ext uri="{BB962C8B-B14F-4D97-AF65-F5344CB8AC3E}">
        <p14:creationId xmlns:p14="http://schemas.microsoft.com/office/powerpoint/2010/main" val="1533303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89A2FF-C62F-1E74-0288-BA4668A12F1C}"/>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F15E542A-B159-3C3E-E325-403AEFEE57A9}"/>
              </a:ext>
            </a:extLst>
          </p:cNvPr>
          <p:cNvSpPr>
            <a:spLocks noGrp="1"/>
          </p:cNvSpPr>
          <p:nvPr>
            <p:ph type="title"/>
          </p:nvPr>
        </p:nvSpPr>
        <p:spPr/>
        <p:txBody>
          <a:bodyPr/>
          <a:lstStyle/>
          <a:p>
            <a:r>
              <a:rPr lang="en-US" noProof="0" dirty="0"/>
              <a:t>Simulation 2:</a:t>
            </a:r>
            <a:br>
              <a:rPr lang="en-US" noProof="0" dirty="0"/>
            </a:br>
            <a:r>
              <a:rPr lang="en-US" noProof="0" dirty="0"/>
              <a:t>The wolf effect – increasing percentage of forest</a:t>
            </a:r>
          </a:p>
        </p:txBody>
      </p:sp>
      <p:graphicFrame>
        <p:nvGraphicFramePr>
          <p:cNvPr id="10" name="Tabelle 9">
            <a:extLst>
              <a:ext uri="{FF2B5EF4-FFF2-40B4-BE49-F238E27FC236}">
                <a16:creationId xmlns:a16="http://schemas.microsoft.com/office/drawing/2014/main" id="{C9C2BDCC-58D0-745F-316A-8D635B5634A8}"/>
              </a:ext>
            </a:extLst>
          </p:cNvPr>
          <p:cNvGraphicFramePr>
            <a:graphicFrameLocks noGrp="1"/>
          </p:cNvGraphicFramePr>
          <p:nvPr>
            <p:extLst>
              <p:ext uri="{D42A27DB-BD31-4B8C-83A1-F6EECF244321}">
                <p14:modId xmlns:p14="http://schemas.microsoft.com/office/powerpoint/2010/main" val="2114290029"/>
              </p:ext>
            </p:extLst>
          </p:nvPr>
        </p:nvGraphicFramePr>
        <p:xfrm>
          <a:off x="2411760" y="1125556"/>
          <a:ext cx="6480426" cy="2133600"/>
        </p:xfrm>
        <a:graphic>
          <a:graphicData uri="http://schemas.openxmlformats.org/drawingml/2006/table">
            <a:tbl>
              <a:tblPr firstRow="1" bandRow="1">
                <a:tableStyleId>{5C22544A-7EE6-4342-B048-85BDC9FD1C3A}</a:tableStyleId>
              </a:tblPr>
              <a:tblGrid>
                <a:gridCol w="2160142">
                  <a:extLst>
                    <a:ext uri="{9D8B030D-6E8A-4147-A177-3AD203B41FA5}">
                      <a16:colId xmlns:a16="http://schemas.microsoft.com/office/drawing/2014/main" val="3481871573"/>
                    </a:ext>
                  </a:extLst>
                </a:gridCol>
                <a:gridCol w="2160142">
                  <a:extLst>
                    <a:ext uri="{9D8B030D-6E8A-4147-A177-3AD203B41FA5}">
                      <a16:colId xmlns:a16="http://schemas.microsoft.com/office/drawing/2014/main" val="3046489435"/>
                    </a:ext>
                  </a:extLst>
                </a:gridCol>
                <a:gridCol w="2160142">
                  <a:extLst>
                    <a:ext uri="{9D8B030D-6E8A-4147-A177-3AD203B41FA5}">
                      <a16:colId xmlns:a16="http://schemas.microsoft.com/office/drawing/2014/main" val="1131145606"/>
                    </a:ext>
                  </a:extLst>
                </a:gridCol>
              </a:tblGrid>
              <a:tr h="0">
                <a:tc>
                  <a:txBody>
                    <a:bodyPr/>
                    <a:lstStyle/>
                    <a:p>
                      <a:pPr algn="ctr"/>
                      <a:r>
                        <a:rPr lang="en-US" sz="1400" noProof="0" dirty="0"/>
                        <a:t>Number of Wolves</a:t>
                      </a:r>
                    </a:p>
                  </a:txBody>
                  <a:tcPr anchor="b"/>
                </a:tc>
                <a:tc>
                  <a:txBody>
                    <a:bodyPr/>
                    <a:lstStyle/>
                    <a:p>
                      <a:pPr algn="ctr"/>
                      <a:r>
                        <a:rPr lang="en-US" sz="1400" noProof="0" dirty="0"/>
                        <a:t>Final Forest Cells</a:t>
                      </a:r>
                    </a:p>
                  </a:txBody>
                  <a:tcPr anchor="b"/>
                </a:tc>
                <a:tc>
                  <a:txBody>
                    <a:bodyPr/>
                    <a:lstStyle/>
                    <a:p>
                      <a:pPr algn="ctr"/>
                      <a:r>
                        <a:rPr lang="en-US" sz="1400" noProof="0" dirty="0"/>
                        <a:t>Wolf-Bison Encounter</a:t>
                      </a:r>
                    </a:p>
                  </a:txBody>
                  <a:tcPr anchor="b"/>
                </a:tc>
                <a:extLst>
                  <a:ext uri="{0D108BD9-81ED-4DB2-BD59-A6C34878D82A}">
                    <a16:rowId xmlns:a16="http://schemas.microsoft.com/office/drawing/2014/main" val="2274743869"/>
                  </a:ext>
                </a:extLst>
              </a:tr>
              <a:tr h="0">
                <a:tc>
                  <a:txBody>
                    <a:bodyPr/>
                    <a:lstStyle/>
                    <a:p>
                      <a:pPr algn="ctr"/>
                      <a:r>
                        <a:rPr lang="en-US" sz="1400" noProof="0" dirty="0"/>
                        <a:t>0</a:t>
                      </a:r>
                    </a:p>
                  </a:txBody>
                  <a:tcPr/>
                </a:tc>
                <a:tc>
                  <a:txBody>
                    <a:bodyPr/>
                    <a:lstStyle/>
                    <a:p>
                      <a:pPr algn="ctr"/>
                      <a:r>
                        <a:rPr lang="en-US" sz="1400" noProof="0" dirty="0"/>
                        <a:t>1124.3 ± 16.7</a:t>
                      </a:r>
                    </a:p>
                  </a:txBody>
                  <a:tcPr/>
                </a:tc>
                <a:tc>
                  <a:txBody>
                    <a:bodyPr/>
                    <a:lstStyle/>
                    <a:p>
                      <a:pPr algn="ctr"/>
                      <a:r>
                        <a:rPr lang="en-US" sz="1400" noProof="0" dirty="0"/>
                        <a:t>0.0 ± 0.0 </a:t>
                      </a:r>
                    </a:p>
                  </a:txBody>
                  <a:tcPr/>
                </a:tc>
                <a:extLst>
                  <a:ext uri="{0D108BD9-81ED-4DB2-BD59-A6C34878D82A}">
                    <a16:rowId xmlns:a16="http://schemas.microsoft.com/office/drawing/2014/main" val="2944015302"/>
                  </a:ext>
                </a:extLst>
              </a:tr>
              <a:tr h="0">
                <a:tc>
                  <a:txBody>
                    <a:bodyPr/>
                    <a:lstStyle/>
                    <a:p>
                      <a:pPr algn="ctr"/>
                      <a:r>
                        <a:rPr lang="en-US" sz="1400" noProof="0" dirty="0"/>
                        <a:t>5</a:t>
                      </a:r>
                    </a:p>
                  </a:txBody>
                  <a:tcPr/>
                </a:tc>
                <a:tc>
                  <a:txBody>
                    <a:bodyPr/>
                    <a:lstStyle/>
                    <a:p>
                      <a:pPr algn="ctr"/>
                      <a:r>
                        <a:rPr lang="en-US" sz="1400" noProof="0" dirty="0"/>
                        <a:t>1132.4 ± 14.7</a:t>
                      </a:r>
                    </a:p>
                  </a:txBody>
                  <a:tcPr/>
                </a:tc>
                <a:tc>
                  <a:txBody>
                    <a:bodyPr/>
                    <a:lstStyle/>
                    <a:p>
                      <a:pPr algn="ctr"/>
                      <a:r>
                        <a:rPr lang="en-US" sz="1400" noProof="0" dirty="0"/>
                        <a:t>165.5 ± 24.2</a:t>
                      </a:r>
                    </a:p>
                  </a:txBody>
                  <a:tcPr/>
                </a:tc>
                <a:extLst>
                  <a:ext uri="{0D108BD9-81ED-4DB2-BD59-A6C34878D82A}">
                    <a16:rowId xmlns:a16="http://schemas.microsoft.com/office/drawing/2014/main" val="3670011145"/>
                  </a:ext>
                </a:extLst>
              </a:tr>
              <a:tr h="0">
                <a:tc>
                  <a:txBody>
                    <a:bodyPr/>
                    <a:lstStyle/>
                    <a:p>
                      <a:pPr algn="ctr"/>
                      <a:r>
                        <a:rPr lang="en-US" sz="1400" noProof="0" dirty="0"/>
                        <a:t>10</a:t>
                      </a:r>
                    </a:p>
                  </a:txBody>
                  <a:tcPr/>
                </a:tc>
                <a:tc>
                  <a:txBody>
                    <a:bodyPr/>
                    <a:lstStyle/>
                    <a:p>
                      <a:pPr algn="ctr"/>
                      <a:r>
                        <a:rPr lang="en-US" sz="1400" noProof="0" dirty="0"/>
                        <a:t>1132.8 ± 16.6</a:t>
                      </a:r>
                    </a:p>
                  </a:txBody>
                  <a:tcPr/>
                </a:tc>
                <a:tc>
                  <a:txBody>
                    <a:bodyPr/>
                    <a:lstStyle/>
                    <a:p>
                      <a:pPr algn="ctr"/>
                      <a:r>
                        <a:rPr lang="en-US" sz="1400" noProof="0" dirty="0"/>
                        <a:t>345.2 ± 31.7</a:t>
                      </a:r>
                    </a:p>
                  </a:txBody>
                  <a:tcPr/>
                </a:tc>
                <a:extLst>
                  <a:ext uri="{0D108BD9-81ED-4DB2-BD59-A6C34878D82A}">
                    <a16:rowId xmlns:a16="http://schemas.microsoft.com/office/drawing/2014/main" val="1783225540"/>
                  </a:ext>
                </a:extLst>
              </a:tr>
              <a:tr h="0">
                <a:tc>
                  <a:txBody>
                    <a:bodyPr/>
                    <a:lstStyle/>
                    <a:p>
                      <a:pPr algn="ctr"/>
                      <a:r>
                        <a:rPr lang="en-US" sz="1400" noProof="0" dirty="0"/>
                        <a:t>15</a:t>
                      </a:r>
                    </a:p>
                  </a:txBody>
                  <a:tcPr/>
                </a:tc>
                <a:tc>
                  <a:txBody>
                    <a:bodyPr/>
                    <a:lstStyle/>
                    <a:p>
                      <a:pPr algn="ctr"/>
                      <a:r>
                        <a:rPr lang="en-US" sz="1400" noProof="0" dirty="0"/>
                        <a:t>1139.5 ± 18.1</a:t>
                      </a:r>
                    </a:p>
                  </a:txBody>
                  <a:tcPr/>
                </a:tc>
                <a:tc>
                  <a:txBody>
                    <a:bodyPr/>
                    <a:lstStyle/>
                    <a:p>
                      <a:pPr algn="ctr"/>
                      <a:r>
                        <a:rPr lang="en-US" sz="1400" noProof="0" dirty="0"/>
                        <a:t>510.8 ± 37.6</a:t>
                      </a:r>
                    </a:p>
                  </a:txBody>
                  <a:tcPr/>
                </a:tc>
                <a:extLst>
                  <a:ext uri="{0D108BD9-81ED-4DB2-BD59-A6C34878D82A}">
                    <a16:rowId xmlns:a16="http://schemas.microsoft.com/office/drawing/2014/main" val="4079503683"/>
                  </a:ext>
                </a:extLst>
              </a:tr>
              <a:tr h="0">
                <a:tc>
                  <a:txBody>
                    <a:bodyPr/>
                    <a:lstStyle/>
                    <a:p>
                      <a:pPr algn="ctr"/>
                      <a:r>
                        <a:rPr lang="en-US" sz="1400" noProof="0" dirty="0"/>
                        <a:t>20</a:t>
                      </a:r>
                    </a:p>
                  </a:txBody>
                  <a:tcPr/>
                </a:tc>
                <a:tc>
                  <a:txBody>
                    <a:bodyPr/>
                    <a:lstStyle/>
                    <a:p>
                      <a:pPr algn="ctr"/>
                      <a:r>
                        <a:rPr lang="en-US" sz="1400" noProof="0" dirty="0"/>
                        <a:t>1142.7 ± 18.9</a:t>
                      </a:r>
                    </a:p>
                  </a:txBody>
                  <a:tcPr/>
                </a:tc>
                <a:tc>
                  <a:txBody>
                    <a:bodyPr/>
                    <a:lstStyle/>
                    <a:p>
                      <a:pPr algn="ctr"/>
                      <a:r>
                        <a:rPr lang="en-US" sz="1400" noProof="0" dirty="0"/>
                        <a:t>684.4 ± 36.5</a:t>
                      </a:r>
                    </a:p>
                  </a:txBody>
                  <a:tcPr/>
                </a:tc>
                <a:extLst>
                  <a:ext uri="{0D108BD9-81ED-4DB2-BD59-A6C34878D82A}">
                    <a16:rowId xmlns:a16="http://schemas.microsoft.com/office/drawing/2014/main" val="2643844689"/>
                  </a:ext>
                </a:extLst>
              </a:tr>
              <a:tr h="0">
                <a:tc>
                  <a:txBody>
                    <a:bodyPr/>
                    <a:lstStyle/>
                    <a:p>
                      <a:pPr algn="ctr"/>
                      <a:r>
                        <a:rPr lang="en-US" sz="1400" noProof="0" dirty="0"/>
                        <a:t>30</a:t>
                      </a:r>
                    </a:p>
                  </a:txBody>
                  <a:tcPr/>
                </a:tc>
                <a:tc>
                  <a:txBody>
                    <a:bodyPr/>
                    <a:lstStyle/>
                    <a:p>
                      <a:pPr algn="ctr"/>
                      <a:r>
                        <a:rPr lang="en-US" sz="1400" noProof="0" dirty="0"/>
                        <a:t>1146.2 ± 16.6</a:t>
                      </a:r>
                    </a:p>
                  </a:txBody>
                  <a:tcPr/>
                </a:tc>
                <a:tc>
                  <a:txBody>
                    <a:bodyPr/>
                    <a:lstStyle/>
                    <a:p>
                      <a:pPr algn="ctr"/>
                      <a:r>
                        <a:rPr lang="en-US" sz="1400" noProof="0" dirty="0"/>
                        <a:t>1028.2 ± 45.9</a:t>
                      </a:r>
                    </a:p>
                  </a:txBody>
                  <a:tcPr/>
                </a:tc>
                <a:extLst>
                  <a:ext uri="{0D108BD9-81ED-4DB2-BD59-A6C34878D82A}">
                    <a16:rowId xmlns:a16="http://schemas.microsoft.com/office/drawing/2014/main" val="777878468"/>
                  </a:ext>
                </a:extLst>
              </a:tr>
            </a:tbl>
          </a:graphicData>
        </a:graphic>
      </p:graphicFrame>
      <p:sp>
        <p:nvSpPr>
          <p:cNvPr id="6" name="Rechteck 5">
            <a:extLst>
              <a:ext uri="{FF2B5EF4-FFF2-40B4-BE49-F238E27FC236}">
                <a16:creationId xmlns:a16="http://schemas.microsoft.com/office/drawing/2014/main" id="{4C1DCF23-517E-A9AE-CF76-A2C0A0629711}"/>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Monte Carlo Simulation</a:t>
            </a:r>
          </a:p>
          <a:p>
            <a:pPr algn="ctr">
              <a:spcAft>
                <a:spcPts val="600"/>
              </a:spcAft>
            </a:pPr>
            <a:endParaRPr lang="en-US" sz="1200" b="1" noProof="0" dirty="0">
              <a:solidFill>
                <a:schemeClr val="tx1"/>
              </a:solidFill>
            </a:endParaRPr>
          </a:p>
          <a:p>
            <a:pPr marL="182563" indent="-182563">
              <a:spcAft>
                <a:spcPts val="600"/>
              </a:spcAft>
              <a:buFont typeface="Arial" panose="020B0604020202020204" pitchFamily="34" charset="0"/>
              <a:buChar char="•"/>
            </a:pPr>
            <a:r>
              <a:rPr lang="en-US" sz="1200" noProof="0" dirty="0">
                <a:solidFill>
                  <a:schemeClr val="tx1"/>
                </a:solidFill>
              </a:rPr>
              <a:t>50 runs for each number of wolves</a:t>
            </a:r>
          </a:p>
          <a:p>
            <a:pPr marL="182563" indent="-182563">
              <a:spcAft>
                <a:spcPts val="600"/>
              </a:spcAft>
              <a:buFont typeface="Arial" panose="020B0604020202020204" pitchFamily="34" charset="0"/>
              <a:buChar char="•"/>
            </a:pPr>
            <a:r>
              <a:rPr lang="en-US" sz="1200" noProof="0" dirty="0">
                <a:solidFill>
                  <a:schemeClr val="tx1"/>
                </a:solidFill>
              </a:rPr>
              <a:t>number of forest cells &amp; wolf-bison encounters recorded after 300 simulation steps per run</a:t>
            </a:r>
          </a:p>
          <a:p>
            <a:pPr marL="182563" indent="-182563">
              <a:spcAft>
                <a:spcPts val="600"/>
              </a:spcAft>
              <a:buFont typeface="Arial" panose="020B0604020202020204" pitchFamily="34" charset="0"/>
              <a:buChar char="•"/>
            </a:pPr>
            <a:r>
              <a:rPr lang="en-US" sz="1200" noProof="0" dirty="0">
                <a:solidFill>
                  <a:schemeClr val="tx1"/>
                </a:solidFill>
              </a:rPr>
              <a:t>empirical mean ± standard deviation are given</a:t>
            </a:r>
          </a:p>
        </p:txBody>
      </p:sp>
      <p:grpSp>
        <p:nvGrpSpPr>
          <p:cNvPr id="7" name="Gruppieren 6">
            <a:extLst>
              <a:ext uri="{FF2B5EF4-FFF2-40B4-BE49-F238E27FC236}">
                <a16:creationId xmlns:a16="http://schemas.microsoft.com/office/drawing/2014/main" id="{CD316437-D29B-191B-8D74-9C3C9FE3BE0B}"/>
              </a:ext>
            </a:extLst>
          </p:cNvPr>
          <p:cNvGrpSpPr/>
          <p:nvPr/>
        </p:nvGrpSpPr>
        <p:grpSpPr>
          <a:xfrm>
            <a:off x="251520" y="1131588"/>
            <a:ext cx="1656184" cy="936107"/>
            <a:chOff x="251520" y="1131588"/>
            <a:chExt cx="1656184" cy="936107"/>
          </a:xfrm>
        </p:grpSpPr>
        <p:sp>
          <p:nvSpPr>
            <p:cNvPr id="8" name="Rechteck 7">
              <a:extLst>
                <a:ext uri="{FF2B5EF4-FFF2-40B4-BE49-F238E27FC236}">
                  <a16:creationId xmlns:a16="http://schemas.microsoft.com/office/drawing/2014/main" id="{30F9F037-FEBA-99B3-A674-907C5DE2C4A2}"/>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AA441DBA-8B95-DC42-5349-0E3F319440FA}"/>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sp>
        <p:nvSpPr>
          <p:cNvPr id="3" name="Pfeil: nach rechts 2">
            <a:extLst>
              <a:ext uri="{FF2B5EF4-FFF2-40B4-BE49-F238E27FC236}">
                <a16:creationId xmlns:a16="http://schemas.microsoft.com/office/drawing/2014/main" id="{91436100-8DE1-5AC3-E247-6B0AF7235250}"/>
              </a:ext>
            </a:extLst>
          </p:cNvPr>
          <p:cNvSpPr/>
          <p:nvPr/>
        </p:nvSpPr>
        <p:spPr>
          <a:xfrm rot="21149094">
            <a:off x="2627341" y="4124009"/>
            <a:ext cx="6007981" cy="216024"/>
          </a:xfrm>
          <a:prstGeom prst="rightArrow">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Textfeld 3">
            <a:extLst>
              <a:ext uri="{FF2B5EF4-FFF2-40B4-BE49-F238E27FC236}">
                <a16:creationId xmlns:a16="http://schemas.microsoft.com/office/drawing/2014/main" id="{5FD31EEC-A0ED-C1C3-3B06-5EA1CE3C7770}"/>
              </a:ext>
            </a:extLst>
          </p:cNvPr>
          <p:cNvSpPr txBox="1"/>
          <p:nvPr/>
        </p:nvSpPr>
        <p:spPr>
          <a:xfrm>
            <a:off x="4788024" y="4496802"/>
            <a:ext cx="4104162" cy="523220"/>
          </a:xfrm>
          <a:prstGeom prst="rect">
            <a:avLst/>
          </a:prstGeom>
          <a:noFill/>
        </p:spPr>
        <p:txBody>
          <a:bodyPr wrap="square" rtlCol="0">
            <a:spAutoFit/>
          </a:bodyPr>
          <a:lstStyle/>
          <a:p>
            <a:r>
              <a:rPr lang="en-US" sz="1400" noProof="0" dirty="0"/>
              <a:t>some slight positive correlation is visible between the number of wolves and the amount of forest cells</a:t>
            </a:r>
          </a:p>
        </p:txBody>
      </p:sp>
    </p:spTree>
    <p:extLst>
      <p:ext uri="{BB962C8B-B14F-4D97-AF65-F5344CB8AC3E}">
        <p14:creationId xmlns:p14="http://schemas.microsoft.com/office/powerpoint/2010/main" val="173863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890A4C-AEFC-55DE-0AF3-02043F635578}"/>
            </a:ext>
          </a:extLst>
        </p:cNvPr>
        <p:cNvGrpSpPr/>
        <p:nvPr/>
      </p:nvGrpSpPr>
      <p:grpSpPr>
        <a:xfrm>
          <a:off x="0" y="0"/>
          <a:ext cx="0" cy="0"/>
          <a:chOff x="0" y="0"/>
          <a:chExt cx="0" cy="0"/>
        </a:xfrm>
      </p:grpSpPr>
      <p:sp>
        <p:nvSpPr>
          <p:cNvPr id="2" name="Abgerundetes Rechteck 1">
            <a:extLst>
              <a:ext uri="{FF2B5EF4-FFF2-40B4-BE49-F238E27FC236}">
                <a16:creationId xmlns:a16="http://schemas.microsoft.com/office/drawing/2014/main" id="{8CE00983-AF02-4788-0EF0-07DAF13A5854}"/>
              </a:ext>
            </a:extLst>
          </p:cNvPr>
          <p:cNvSpPr/>
          <p:nvPr/>
        </p:nvSpPr>
        <p:spPr>
          <a:xfrm>
            <a:off x="971600" y="2118600"/>
            <a:ext cx="7200800" cy="360040"/>
          </a:xfrm>
          <a:prstGeom prst="roundRect">
            <a:avLst/>
          </a:prstGeom>
          <a:solidFill>
            <a:schemeClr val="tx2">
              <a:lumMod val="40000"/>
              <a:lumOff val="60000"/>
            </a:schemeClr>
          </a:solid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 name="Textfeld 2">
            <a:extLst>
              <a:ext uri="{FF2B5EF4-FFF2-40B4-BE49-F238E27FC236}">
                <a16:creationId xmlns:a16="http://schemas.microsoft.com/office/drawing/2014/main" id="{8262DEAD-8F66-5914-A3BD-BAF4AE89A30D}"/>
              </a:ext>
            </a:extLst>
          </p:cNvPr>
          <p:cNvSpPr txBox="1"/>
          <p:nvPr/>
        </p:nvSpPr>
        <p:spPr>
          <a:xfrm>
            <a:off x="971600" y="1131590"/>
            <a:ext cx="3718775" cy="2462213"/>
          </a:xfrm>
          <a:prstGeom prst="rect">
            <a:avLst/>
          </a:prstGeom>
          <a:noFill/>
        </p:spPr>
        <p:txBody>
          <a:bodyPr wrap="none" rtlCol="0">
            <a:spAutoFit/>
          </a:bodyPr>
          <a:lstStyle/>
          <a:p>
            <a:r>
              <a:rPr lang="en-US" b="1" noProof="0" dirty="0"/>
              <a:t>Topics</a:t>
            </a:r>
          </a:p>
          <a:p>
            <a:endParaRPr lang="en-US" sz="1000" noProof="0" dirty="0"/>
          </a:p>
          <a:p>
            <a:pPr lvl="1"/>
            <a:r>
              <a:rPr lang="en-US" noProof="0" dirty="0"/>
              <a:t>Loss of Alpha-Predators</a:t>
            </a:r>
          </a:p>
          <a:p>
            <a:pPr lvl="1"/>
            <a:endParaRPr lang="en-US" b="1" noProof="0" dirty="0"/>
          </a:p>
          <a:p>
            <a:pPr lvl="1"/>
            <a:r>
              <a:rPr lang="en-US" b="1" noProof="0" dirty="0"/>
              <a:t>Effects of Invasive Species</a:t>
            </a:r>
          </a:p>
          <a:p>
            <a:pPr lvl="1"/>
            <a:endParaRPr lang="en-US" noProof="0" dirty="0"/>
          </a:p>
          <a:p>
            <a:pPr lvl="1"/>
            <a:r>
              <a:rPr lang="en-US" noProof="0" dirty="0">
                <a:solidFill>
                  <a:schemeClr val="tx1">
                    <a:lumMod val="50000"/>
                    <a:lumOff val="50000"/>
                  </a:schemeClr>
                </a:solidFill>
              </a:rPr>
              <a:t>A Trisexual Nematode</a:t>
            </a:r>
          </a:p>
          <a:p>
            <a:pPr lvl="1"/>
            <a:endParaRPr lang="en-US" noProof="0" dirty="0">
              <a:solidFill>
                <a:schemeClr val="tx1">
                  <a:lumMod val="50000"/>
                  <a:lumOff val="50000"/>
                </a:schemeClr>
              </a:solidFill>
            </a:endParaRPr>
          </a:p>
          <a:p>
            <a:pPr lvl="1"/>
            <a:r>
              <a:rPr lang="en-US" noProof="0">
                <a:solidFill>
                  <a:schemeClr val="tx1">
                    <a:lumMod val="50000"/>
                    <a:lumOff val="50000"/>
                  </a:schemeClr>
                </a:solidFill>
              </a:rPr>
              <a:t>Tobacco </a:t>
            </a:r>
            <a:r>
              <a:rPr lang="en-US" noProof="0" dirty="0">
                <a:solidFill>
                  <a:schemeClr val="tx1">
                    <a:lumMod val="50000"/>
                    <a:lumOff val="50000"/>
                  </a:schemeClr>
                </a:solidFill>
              </a:rPr>
              <a:t>Plant &amp; Insect Dynamics</a:t>
            </a:r>
          </a:p>
        </p:txBody>
      </p:sp>
    </p:spTree>
    <p:extLst>
      <p:ext uri="{BB962C8B-B14F-4D97-AF65-F5344CB8AC3E}">
        <p14:creationId xmlns:p14="http://schemas.microsoft.com/office/powerpoint/2010/main" val="3896007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88ADE8-936E-B392-CD23-A5D3920D1B0E}"/>
              </a:ext>
            </a:extLst>
          </p:cNvPr>
          <p:cNvSpPr>
            <a:spLocks noGrp="1"/>
          </p:cNvSpPr>
          <p:nvPr>
            <p:ph type="title"/>
          </p:nvPr>
        </p:nvSpPr>
        <p:spPr/>
        <p:txBody>
          <a:bodyPr/>
          <a:lstStyle/>
          <a:p>
            <a:r>
              <a:rPr lang="en-US" noProof="0" dirty="0"/>
              <a:t>Based on [Peller &amp; Altermatt, 2024] we are simulating the effects of invasive species on ecosystems (1/ 2)</a:t>
            </a:r>
          </a:p>
        </p:txBody>
      </p:sp>
      <p:pic>
        <p:nvPicPr>
          <p:cNvPr id="4" name="Grafik 3">
            <a:extLst>
              <a:ext uri="{FF2B5EF4-FFF2-40B4-BE49-F238E27FC236}">
                <a16:creationId xmlns:a16="http://schemas.microsoft.com/office/drawing/2014/main" id="{9194C9A2-3F50-E71D-6C55-04BA1CC962C6}"/>
              </a:ext>
            </a:extLst>
          </p:cNvPr>
          <p:cNvPicPr>
            <a:picLocks noChangeAspect="1"/>
          </p:cNvPicPr>
          <p:nvPr/>
        </p:nvPicPr>
        <p:blipFill>
          <a:blip r:embed="rId2"/>
          <a:stretch>
            <a:fillRect/>
          </a:stretch>
        </p:blipFill>
        <p:spPr>
          <a:xfrm>
            <a:off x="251520" y="1131590"/>
            <a:ext cx="4254285" cy="3816424"/>
          </a:xfrm>
          <a:prstGeom prst="rect">
            <a:avLst/>
          </a:prstGeom>
          <a:solidFill>
            <a:schemeClr val="tx2">
              <a:lumMod val="20000"/>
              <a:lumOff val="80000"/>
            </a:schemeClr>
          </a:solidFill>
        </p:spPr>
      </p:pic>
      <p:grpSp>
        <p:nvGrpSpPr>
          <p:cNvPr id="9" name="Gruppieren 8">
            <a:extLst>
              <a:ext uri="{FF2B5EF4-FFF2-40B4-BE49-F238E27FC236}">
                <a16:creationId xmlns:a16="http://schemas.microsoft.com/office/drawing/2014/main" id="{56084124-D52D-55B6-3741-3952C4E1A200}"/>
              </a:ext>
            </a:extLst>
          </p:cNvPr>
          <p:cNvGrpSpPr/>
          <p:nvPr/>
        </p:nvGrpSpPr>
        <p:grpSpPr>
          <a:xfrm>
            <a:off x="4643712" y="1131590"/>
            <a:ext cx="4248768" cy="2165261"/>
            <a:chOff x="4644010" y="1127911"/>
            <a:chExt cx="4248768" cy="2165261"/>
          </a:xfrm>
        </p:grpSpPr>
        <p:pic>
          <p:nvPicPr>
            <p:cNvPr id="5" name="Picture 4" descr="Ökosystem | Politik für Kinder, einfach erklärt - HanisauLand.de">
              <a:extLst>
                <a:ext uri="{FF2B5EF4-FFF2-40B4-BE49-F238E27FC236}">
                  <a16:creationId xmlns:a16="http://schemas.microsoft.com/office/drawing/2014/main" id="{4DAD696C-6674-64B1-8D93-D3A44EEB8BA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3590"/>
            <a:stretch>
              <a:fillRect/>
            </a:stretch>
          </p:blipFill>
          <p:spPr bwMode="auto">
            <a:xfrm>
              <a:off x="4644010" y="1127911"/>
              <a:ext cx="4248470" cy="2160241"/>
            </a:xfrm>
            <a:prstGeom prst="rect">
              <a:avLst/>
            </a:prstGeom>
            <a:noFill/>
            <a:extLst>
              <a:ext uri="{909E8E84-426E-40DD-AFC4-6F175D3DCCD1}">
                <a14:hiddenFill xmlns:a14="http://schemas.microsoft.com/office/drawing/2010/main">
                  <a:solidFill>
                    <a:srgbClr val="FFFFFF"/>
                  </a:solidFill>
                </a14:hiddenFill>
              </a:ext>
            </a:extLst>
          </p:spPr>
        </p:pic>
        <p:sp>
          <p:nvSpPr>
            <p:cNvPr id="6" name="Rechteck 5">
              <a:extLst>
                <a:ext uri="{FF2B5EF4-FFF2-40B4-BE49-F238E27FC236}">
                  <a16:creationId xmlns:a16="http://schemas.microsoft.com/office/drawing/2014/main" id="{040DB9D1-ED88-1B65-E793-FB601FE652BE}"/>
                </a:ext>
              </a:extLst>
            </p:cNvPr>
            <p:cNvSpPr/>
            <p:nvPr/>
          </p:nvSpPr>
          <p:spPr>
            <a:xfrm>
              <a:off x="4644306" y="1132932"/>
              <a:ext cx="4248472" cy="2160240"/>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u="sng" noProof="0" dirty="0">
                <a:solidFill>
                  <a:schemeClr val="tx1"/>
                </a:solidFill>
              </a:endParaRPr>
            </a:p>
          </p:txBody>
        </p:sp>
        <p:grpSp>
          <p:nvGrpSpPr>
            <p:cNvPr id="7" name="Gruppieren 6">
              <a:extLst>
                <a:ext uri="{FF2B5EF4-FFF2-40B4-BE49-F238E27FC236}">
                  <a16:creationId xmlns:a16="http://schemas.microsoft.com/office/drawing/2014/main" id="{9F4EA41B-28C2-72B9-DB11-E1BBC0804F87}"/>
                </a:ext>
              </a:extLst>
            </p:cNvPr>
            <p:cNvGrpSpPr/>
            <p:nvPr/>
          </p:nvGrpSpPr>
          <p:grpSpPr>
            <a:xfrm>
              <a:off x="4716016" y="1203598"/>
              <a:ext cx="4104747" cy="2022016"/>
              <a:chOff x="3994530" y="848190"/>
              <a:chExt cx="4826243" cy="2377429"/>
            </a:xfrm>
          </p:grpSpPr>
          <p:pic>
            <p:nvPicPr>
              <p:cNvPr id="8" name="Picture 2">
                <a:extLst>
                  <a:ext uri="{FF2B5EF4-FFF2-40B4-BE49-F238E27FC236}">
                    <a16:creationId xmlns:a16="http://schemas.microsoft.com/office/drawing/2014/main" id="{871F2F2D-9B1A-875B-E938-654E52F9206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50929"/>
              <a:stretch>
                <a:fillRect/>
              </a:stretch>
            </p:blipFill>
            <p:spPr bwMode="auto">
              <a:xfrm>
                <a:off x="3994530" y="848190"/>
                <a:ext cx="2343151" cy="145829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a:extLst>
                  <a:ext uri="{FF2B5EF4-FFF2-40B4-BE49-F238E27FC236}">
                    <a16:creationId xmlns:a16="http://schemas.microsoft.com/office/drawing/2014/main" id="{B05B9661-CE8D-A133-0BE3-30424ECAF53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t="46693"/>
              <a:stretch>
                <a:fillRect/>
              </a:stretch>
            </p:blipFill>
            <p:spPr bwMode="auto">
              <a:xfrm>
                <a:off x="6477623" y="1641443"/>
                <a:ext cx="2343150" cy="1584176"/>
              </a:xfrm>
              <a:prstGeom prst="rect">
                <a:avLst/>
              </a:prstGeom>
              <a:noFill/>
              <a:extLst>
                <a:ext uri="{909E8E84-426E-40DD-AFC4-6F175D3DCCD1}">
                  <a14:hiddenFill xmlns:a14="http://schemas.microsoft.com/office/drawing/2010/main">
                    <a:solidFill>
                      <a:srgbClr val="FFFFFF"/>
                    </a:solidFill>
                  </a14:hiddenFill>
                </a:ext>
              </a:extLst>
            </p:spPr>
          </p:pic>
        </p:grpSp>
      </p:grpSp>
      <p:sp>
        <p:nvSpPr>
          <p:cNvPr id="11" name="Rechteck 10">
            <a:extLst>
              <a:ext uri="{FF2B5EF4-FFF2-40B4-BE49-F238E27FC236}">
                <a16:creationId xmlns:a16="http://schemas.microsoft.com/office/drawing/2014/main" id="{6BED135A-E64E-5087-E8A0-CF21491B99A9}"/>
              </a:ext>
            </a:extLst>
          </p:cNvPr>
          <p:cNvSpPr/>
          <p:nvPr/>
        </p:nvSpPr>
        <p:spPr>
          <a:xfrm>
            <a:off x="251520" y="1131590"/>
            <a:ext cx="427317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extfeld 11">
            <a:extLst>
              <a:ext uri="{FF2B5EF4-FFF2-40B4-BE49-F238E27FC236}">
                <a16:creationId xmlns:a16="http://schemas.microsoft.com/office/drawing/2014/main" id="{C9B0170B-86D2-6D99-93C3-4B6C97FD37F1}"/>
              </a:ext>
            </a:extLst>
          </p:cNvPr>
          <p:cNvSpPr txBox="1"/>
          <p:nvPr/>
        </p:nvSpPr>
        <p:spPr>
          <a:xfrm>
            <a:off x="4643710" y="4312136"/>
            <a:ext cx="4248472" cy="707886"/>
          </a:xfrm>
          <a:prstGeom prst="rect">
            <a:avLst/>
          </a:prstGeom>
          <a:noFill/>
        </p:spPr>
        <p:txBody>
          <a:bodyPr wrap="square" rtlCol="0">
            <a:spAutoFit/>
          </a:bodyPr>
          <a:lstStyle/>
          <a:p>
            <a:pPr algn="just"/>
            <a:r>
              <a:rPr lang="en-US" sz="1000" noProof="0" dirty="0"/>
              <a:t>T. Peller &amp; F. Altermatt (2024): </a:t>
            </a:r>
            <a:r>
              <a:rPr lang="en-US" sz="1000" i="1" noProof="0" dirty="0"/>
              <a:t>Invasive species drive cross-ecosystem effects worldwide</a:t>
            </a:r>
            <a:r>
              <a:rPr lang="en-US" sz="1000" noProof="0" dirty="0"/>
              <a:t>, Nature Ecology &amp; Evolution, 8 (6), pp. 1087–1097</a:t>
            </a:r>
          </a:p>
          <a:p>
            <a:endParaRPr lang="en-US" sz="1000" noProof="0" dirty="0"/>
          </a:p>
          <a:p>
            <a:r>
              <a:rPr lang="en-US" sz="1000" noProof="0" dirty="0"/>
              <a:t>DOI: 10.1038/s41559-024-02380-1</a:t>
            </a:r>
          </a:p>
        </p:txBody>
      </p:sp>
    </p:spTree>
    <p:extLst>
      <p:ext uri="{BB962C8B-B14F-4D97-AF65-F5344CB8AC3E}">
        <p14:creationId xmlns:p14="http://schemas.microsoft.com/office/powerpoint/2010/main" val="32933837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78CFCC7-9C1B-CB94-1082-5D86B696F2A7}"/>
              </a:ext>
            </a:extLst>
          </p:cNvPr>
          <p:cNvSpPr>
            <a:spLocks noGrp="1"/>
          </p:cNvSpPr>
          <p:nvPr>
            <p:ph type="title"/>
          </p:nvPr>
        </p:nvSpPr>
        <p:spPr/>
        <p:txBody>
          <a:bodyPr/>
          <a:lstStyle/>
          <a:p>
            <a:r>
              <a:rPr lang="en-US" noProof="0" dirty="0"/>
              <a:t>Based on [Peller &amp; </a:t>
            </a:r>
            <a:r>
              <a:rPr lang="en-US" noProof="0" dirty="0" err="1"/>
              <a:t>Alermatt</a:t>
            </a:r>
            <a:r>
              <a:rPr lang="en-US" noProof="0" dirty="0"/>
              <a:t>, 2024] we are simulating the effects of invasive species on ecosystems (2a/ 2)</a:t>
            </a:r>
          </a:p>
        </p:txBody>
      </p:sp>
      <p:sp>
        <p:nvSpPr>
          <p:cNvPr id="10" name="Rechteck 9">
            <a:extLst>
              <a:ext uri="{FF2B5EF4-FFF2-40B4-BE49-F238E27FC236}">
                <a16:creationId xmlns:a16="http://schemas.microsoft.com/office/drawing/2014/main" id="{C35C01F1-4D9A-6F83-BB15-CE922BAE6920}"/>
              </a:ext>
            </a:extLst>
          </p:cNvPr>
          <p:cNvSpPr/>
          <p:nvPr/>
        </p:nvSpPr>
        <p:spPr>
          <a:xfrm>
            <a:off x="3851920" y="1131590"/>
            <a:ext cx="5040264"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Invasive species drive cross-ecosystem effects by altering flows of non-living materials and the movement of organisms across ecosystem boundaries.</a:t>
            </a:r>
          </a:p>
          <a:p>
            <a:pPr algn="just">
              <a:spcAft>
                <a:spcPts val="600"/>
              </a:spcAft>
            </a:pPr>
            <a:r>
              <a:rPr lang="en-US" sz="1400" noProof="0" dirty="0">
                <a:solidFill>
                  <a:schemeClr val="tx1"/>
                </a:solidFill>
              </a:rPr>
              <a:t>Invasive species (red) drive cross-ecosystem effects by altering flows of non-living materials and the movement of organisms across ecosystem boundaries (for example, aquatic-terrestrial).</a:t>
            </a:r>
          </a:p>
          <a:p>
            <a:pPr algn="just">
              <a:spcAft>
                <a:spcPts val="600"/>
              </a:spcAft>
            </a:pPr>
            <a:endParaRPr lang="en-US" sz="1400" noProof="0" dirty="0">
              <a:solidFill>
                <a:schemeClr val="tx1"/>
              </a:solidFill>
            </a:endParaRPr>
          </a:p>
          <a:p>
            <a:pPr algn="just">
              <a:spcAft>
                <a:spcPts val="600"/>
              </a:spcAft>
            </a:pPr>
            <a:r>
              <a:rPr lang="en-US" sz="1400" b="1" noProof="0" dirty="0">
                <a:solidFill>
                  <a:schemeClr val="tx1"/>
                </a:solidFill>
              </a:rPr>
              <a:t>For instance:</a:t>
            </a:r>
          </a:p>
          <a:p>
            <a:pPr algn="just">
              <a:spcAft>
                <a:spcPts val="600"/>
              </a:spcAft>
            </a:pPr>
            <a:r>
              <a:rPr lang="en-US" sz="1400" noProof="0" dirty="0">
                <a:solidFill>
                  <a:schemeClr val="tx1"/>
                </a:solidFill>
                <a:sym typeface="Wingdings" panose="05000000000000000000" pitchFamily="2" charset="2"/>
              </a:rPr>
              <a:t> </a:t>
            </a:r>
            <a:r>
              <a:rPr lang="en-US" sz="1400" noProof="0" dirty="0">
                <a:solidFill>
                  <a:schemeClr val="tx1"/>
                </a:solidFill>
              </a:rPr>
              <a:t>Invasive lake trout feed on native trout, decreasing their abundance and interrupting their migration from lakes to rivers, which reduces the contribution of native trout to river nutrient cycles and eliminates a key prey source for bears.</a:t>
            </a:r>
          </a:p>
          <a:p>
            <a:pPr algn="just">
              <a:spcAft>
                <a:spcPts val="600"/>
              </a:spcAft>
            </a:pPr>
            <a:r>
              <a:rPr lang="en-US" sz="1400" noProof="0" dirty="0">
                <a:solidFill>
                  <a:schemeClr val="tx1"/>
                </a:solidFill>
              </a:rPr>
              <a:t>This has cascading impacts through the terrestrial food web by causing bears to feed primarily on alternative prey sources, such as juvenile elk.</a:t>
            </a:r>
          </a:p>
        </p:txBody>
      </p:sp>
      <p:pic>
        <p:nvPicPr>
          <p:cNvPr id="1026" name="Picture 2">
            <a:extLst>
              <a:ext uri="{FF2B5EF4-FFF2-40B4-BE49-F238E27FC236}">
                <a16:creationId xmlns:a16="http://schemas.microsoft.com/office/drawing/2014/main" id="{B5C0C3DD-FFD7-8D0C-5595-6F29D1CAEE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31590"/>
            <a:ext cx="3053140"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34891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1E9E5-9730-45D1-ABC0-F4ED471C636E}"/>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18C8C98-EE32-61B2-1F3E-53294B4B1B86}"/>
              </a:ext>
            </a:extLst>
          </p:cNvPr>
          <p:cNvSpPr>
            <a:spLocks noGrp="1"/>
          </p:cNvSpPr>
          <p:nvPr>
            <p:ph type="title"/>
          </p:nvPr>
        </p:nvSpPr>
        <p:spPr/>
        <p:txBody>
          <a:bodyPr/>
          <a:lstStyle/>
          <a:p>
            <a:r>
              <a:rPr lang="en-US" noProof="0" dirty="0"/>
              <a:t>Based on [Peller &amp; </a:t>
            </a:r>
            <a:r>
              <a:rPr lang="en-US" noProof="0" dirty="0" err="1"/>
              <a:t>Alermatt</a:t>
            </a:r>
            <a:r>
              <a:rPr lang="en-US" noProof="0" dirty="0"/>
              <a:t>, 2024] we are simulating the effects of invasive species on ecosystems (2b/ 2)</a:t>
            </a:r>
          </a:p>
        </p:txBody>
      </p:sp>
      <p:sp>
        <p:nvSpPr>
          <p:cNvPr id="10" name="Rechteck 9">
            <a:extLst>
              <a:ext uri="{FF2B5EF4-FFF2-40B4-BE49-F238E27FC236}">
                <a16:creationId xmlns:a16="http://schemas.microsoft.com/office/drawing/2014/main" id="{2E7E5892-E5E6-2D6C-5CEF-814009FE7373}"/>
              </a:ext>
            </a:extLst>
          </p:cNvPr>
          <p:cNvSpPr/>
          <p:nvPr/>
        </p:nvSpPr>
        <p:spPr>
          <a:xfrm>
            <a:off x="3851920" y="1131590"/>
            <a:ext cx="5040264"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noProof="0" dirty="0">
                <a:solidFill>
                  <a:schemeClr val="tx1"/>
                </a:solidFill>
              </a:rPr>
              <a:t>Lake trout invasion further has spatially cascading effects on distant lakes: birds that fed on native trout prior to lake trout invasion shift their feeding activities to lakes with sufficient prey availability.</a:t>
            </a:r>
          </a:p>
          <a:p>
            <a:pPr algn="just">
              <a:spcAft>
                <a:spcPts val="600"/>
              </a:spcAft>
            </a:pPr>
            <a:r>
              <a:rPr lang="en-US" sz="1400" noProof="0" dirty="0">
                <a:solidFill>
                  <a:schemeClr val="tx1"/>
                </a:solidFill>
                <a:sym typeface="Wingdings" panose="05000000000000000000" pitchFamily="2" charset="2"/>
              </a:rPr>
              <a:t></a:t>
            </a:r>
            <a:r>
              <a:rPr lang="en-US" sz="1400" noProof="0" dirty="0">
                <a:solidFill>
                  <a:schemeClr val="tx1"/>
                </a:solidFill>
              </a:rPr>
              <a:t> The displacement of native kelp forests by invasive green macroalgae alters the quality of macroalgal detritus exported from coastal ecosystems to deeper ocean ecosystems, where imported detritus is a key food source. This change in quality of imported detritus affects the abundance and diversity of macrofaunal species.</a:t>
            </a:r>
          </a:p>
          <a:p>
            <a:pPr algn="just">
              <a:spcAft>
                <a:spcPts val="600"/>
              </a:spcAft>
            </a:pPr>
            <a:r>
              <a:rPr lang="en-US" sz="1400" noProof="0" dirty="0">
                <a:solidFill>
                  <a:schemeClr val="tx1"/>
                </a:solidFill>
                <a:sym typeface="Wingdings" panose="05000000000000000000" pitchFamily="2" charset="2"/>
              </a:rPr>
              <a:t></a:t>
            </a:r>
            <a:r>
              <a:rPr lang="en-US" sz="1400" noProof="0" dirty="0">
                <a:solidFill>
                  <a:schemeClr val="tx1"/>
                </a:solidFill>
              </a:rPr>
              <a:t> Invasive terrestrial plants displacing native forest plants affect </a:t>
            </a:r>
            <a:r>
              <a:rPr lang="en-US" sz="1400" noProof="0" dirty="0" err="1">
                <a:solidFill>
                  <a:schemeClr val="tx1"/>
                </a:solidFill>
              </a:rPr>
              <a:t>foodweb</a:t>
            </a:r>
            <a:r>
              <a:rPr lang="en-US" sz="1400" noProof="0" dirty="0">
                <a:solidFill>
                  <a:schemeClr val="tx1"/>
                </a:solidFill>
              </a:rPr>
              <a:t> dynamics in ponds by introducing novel allelochemicals to forests that leach and flow into ponds, where they decrease the growth rate of zooplankton.</a:t>
            </a:r>
          </a:p>
        </p:txBody>
      </p:sp>
      <p:pic>
        <p:nvPicPr>
          <p:cNvPr id="1026" name="Picture 2">
            <a:extLst>
              <a:ext uri="{FF2B5EF4-FFF2-40B4-BE49-F238E27FC236}">
                <a16:creationId xmlns:a16="http://schemas.microsoft.com/office/drawing/2014/main" id="{1185CFF1-9088-FEE1-3E87-68D83EB46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1131590"/>
            <a:ext cx="3053140" cy="38884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241198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hteck 36">
            <a:extLst>
              <a:ext uri="{FF2B5EF4-FFF2-40B4-BE49-F238E27FC236}">
                <a16:creationId xmlns:a16="http://schemas.microsoft.com/office/drawing/2014/main" id="{60DB564A-D7DE-E098-4A56-28380D1EBB81}"/>
              </a:ext>
            </a:extLst>
          </p:cNvPr>
          <p:cNvSpPr/>
          <p:nvPr/>
        </p:nvSpPr>
        <p:spPr>
          <a:xfrm>
            <a:off x="8122760" y="1203598"/>
            <a:ext cx="697711" cy="724851"/>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2" name="Rechteck 31">
            <a:extLst>
              <a:ext uri="{FF2B5EF4-FFF2-40B4-BE49-F238E27FC236}">
                <a16:creationId xmlns:a16="http://schemas.microsoft.com/office/drawing/2014/main" id="{C08C6617-46CC-0B6F-8D61-83B602B383AD}"/>
              </a:ext>
            </a:extLst>
          </p:cNvPr>
          <p:cNvSpPr/>
          <p:nvPr/>
        </p:nvSpPr>
        <p:spPr>
          <a:xfrm>
            <a:off x="6400778" y="1928451"/>
            <a:ext cx="1036445" cy="720070"/>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3" name="Rechteck 32">
            <a:extLst>
              <a:ext uri="{FF2B5EF4-FFF2-40B4-BE49-F238E27FC236}">
                <a16:creationId xmlns:a16="http://schemas.microsoft.com/office/drawing/2014/main" id="{5906F486-9E43-C376-C783-9CD64A8D704F}"/>
              </a:ext>
            </a:extLst>
          </p:cNvPr>
          <p:cNvSpPr/>
          <p:nvPr/>
        </p:nvSpPr>
        <p:spPr>
          <a:xfrm>
            <a:off x="7092996" y="2661673"/>
            <a:ext cx="344228" cy="71263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 name="Titel 1">
            <a:extLst>
              <a:ext uri="{FF2B5EF4-FFF2-40B4-BE49-F238E27FC236}">
                <a16:creationId xmlns:a16="http://schemas.microsoft.com/office/drawing/2014/main" id="{9D87AEF3-030C-26E9-811B-951ACEB1197B}"/>
              </a:ext>
            </a:extLst>
          </p:cNvPr>
          <p:cNvSpPr>
            <a:spLocks noGrp="1"/>
          </p:cNvSpPr>
          <p:nvPr>
            <p:ph type="title"/>
          </p:nvPr>
        </p:nvSpPr>
        <p:spPr/>
        <p:txBody>
          <a:bodyPr/>
          <a:lstStyle/>
          <a:p>
            <a:r>
              <a:rPr lang="en-US" noProof="0" dirty="0"/>
              <a:t>Scenario </a:t>
            </a:r>
            <a:r>
              <a:rPr lang="en-US" b="1" noProof="0" dirty="0">
                <a:sym typeface="Wingdings" panose="05000000000000000000" pitchFamily="2" charset="2"/>
              </a:rPr>
              <a:t></a:t>
            </a:r>
            <a:r>
              <a:rPr lang="en-US" noProof="0" dirty="0">
                <a:sym typeface="Wingdings" panose="05000000000000000000" pitchFamily="2" charset="2"/>
              </a:rPr>
              <a:t>:</a:t>
            </a:r>
            <a:br>
              <a:rPr lang="en-US" noProof="0" dirty="0">
                <a:sym typeface="Wingdings" panose="05000000000000000000" pitchFamily="2" charset="2"/>
              </a:rPr>
            </a:br>
            <a:r>
              <a:rPr lang="en-US" noProof="0" dirty="0">
                <a:sym typeface="Wingdings" panose="05000000000000000000" pitchFamily="2" charset="2"/>
              </a:rPr>
              <a:t>Invasion of lake trout and change of food webs</a:t>
            </a:r>
            <a:endParaRPr lang="en-US" noProof="0" dirty="0"/>
          </a:p>
        </p:txBody>
      </p:sp>
      <p:sp>
        <p:nvSpPr>
          <p:cNvPr id="3" name="Rechteck 2">
            <a:extLst>
              <a:ext uri="{FF2B5EF4-FFF2-40B4-BE49-F238E27FC236}">
                <a16:creationId xmlns:a16="http://schemas.microsoft.com/office/drawing/2014/main" id="{ECD65CFE-B607-3836-9933-6E66098CDE2E}"/>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7DD70087-AB77-502F-5638-26FF63C0C33E}"/>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B11F0518-08C3-B8E5-7DC7-F954EC29B17D}"/>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390F77E1-FCA1-974B-52BB-49277D75F7FD}"/>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EE6412A7-0EDB-F56C-D7B7-2AF6A2F311AC}"/>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CAC6C18D-BFB2-6670-C803-059803C1AD7C}"/>
              </a:ext>
            </a:extLst>
          </p:cNvPr>
          <p:cNvSpPr/>
          <p:nvPr/>
        </p:nvSpPr>
        <p:spPr>
          <a:xfrm>
            <a:off x="1691681" y="1131590"/>
            <a:ext cx="4174814"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Movement Rules: </a:t>
            </a:r>
            <a:r>
              <a:rPr lang="en-US" sz="1400" noProof="0" dirty="0">
                <a:solidFill>
                  <a:schemeClr val="tx1"/>
                </a:solidFill>
              </a:rPr>
              <a:t>We assume that</a:t>
            </a:r>
          </a:p>
          <a:p>
            <a:pPr marL="182563" indent="-182563" algn="just">
              <a:spcAft>
                <a:spcPts val="600"/>
              </a:spcAft>
              <a:buFont typeface="Arial" panose="020B0604020202020204" pitchFamily="34" charset="0"/>
              <a:buChar char="•"/>
            </a:pPr>
            <a:r>
              <a:rPr lang="en-US" sz="1400" noProof="0" dirty="0">
                <a:solidFill>
                  <a:schemeClr val="tx1"/>
                </a:solidFill>
              </a:rPr>
              <a:t>there are six species interacting: native trout (NT), invasive trout (IT), bear (B), native trout predatory birds (P), and elk (E),</a:t>
            </a:r>
          </a:p>
          <a:p>
            <a:pPr marL="182563" indent="-182563" algn="just">
              <a:spcAft>
                <a:spcPts val="600"/>
              </a:spcAft>
              <a:buFont typeface="Arial" panose="020B0604020202020204" pitchFamily="34" charset="0"/>
              <a:buChar char="•"/>
            </a:pPr>
            <a:r>
              <a:rPr lang="en-US" sz="1400" noProof="0" dirty="0">
                <a:solidFill>
                  <a:schemeClr val="tx1"/>
                </a:solidFill>
              </a:rPr>
              <a:t>the geography is represented by a toroidal lattice with three distinct cell types: lake (L), river (R), and grass land (G),</a:t>
            </a:r>
          </a:p>
          <a:p>
            <a:pPr marL="182563" indent="-182563" algn="just">
              <a:spcAft>
                <a:spcPts val="600"/>
              </a:spcAft>
              <a:buFont typeface="Arial" panose="020B0604020202020204" pitchFamily="34" charset="0"/>
              <a:buChar char="•"/>
            </a:pPr>
            <a:r>
              <a:rPr lang="en-US" sz="1400" noProof="0" dirty="0">
                <a:solidFill>
                  <a:schemeClr val="tx1"/>
                </a:solidFill>
              </a:rPr>
              <a:t>native trout moves only in and between lake and river cells, invasive trout only in and between lake cells, bears only in and between grassland and river cells, elk only in and between grassland cells, and trout predatory birds can move in and between all three cell types, and</a:t>
            </a:r>
          </a:p>
          <a:p>
            <a:pPr marL="182563" indent="-182563" algn="just">
              <a:spcAft>
                <a:spcPts val="600"/>
              </a:spcAft>
              <a:buFont typeface="Arial" panose="020B0604020202020204" pitchFamily="34" charset="0"/>
              <a:buChar char="•"/>
            </a:pPr>
            <a:r>
              <a:rPr lang="en-US" sz="1400" noProof="0" dirty="0">
                <a:solidFill>
                  <a:schemeClr val="tx1"/>
                </a:solidFill>
              </a:rPr>
              <a:t>movement is, if not permitted, north, east, south, or west.</a:t>
            </a:r>
          </a:p>
          <a:p>
            <a:pPr algn="just">
              <a:spcAft>
                <a:spcPts val="600"/>
              </a:spcAft>
            </a:pPr>
            <a:endParaRPr lang="en-US" sz="1400" noProof="0" dirty="0">
              <a:solidFill>
                <a:schemeClr val="tx1"/>
              </a:solidFill>
            </a:endParaRPr>
          </a:p>
        </p:txBody>
      </p:sp>
      <p:grpSp>
        <p:nvGrpSpPr>
          <p:cNvPr id="31" name="Gruppieren 30">
            <a:extLst>
              <a:ext uri="{FF2B5EF4-FFF2-40B4-BE49-F238E27FC236}">
                <a16:creationId xmlns:a16="http://schemas.microsoft.com/office/drawing/2014/main" id="{1689D8B7-3B0B-D8DE-B735-1EE449F93D58}"/>
              </a:ext>
            </a:extLst>
          </p:cNvPr>
          <p:cNvGrpSpPr/>
          <p:nvPr/>
        </p:nvGrpSpPr>
        <p:grpSpPr>
          <a:xfrm>
            <a:off x="6058345" y="1203598"/>
            <a:ext cx="2762127" cy="2170707"/>
            <a:chOff x="6031729" y="1841203"/>
            <a:chExt cx="2762127" cy="2170707"/>
          </a:xfrm>
        </p:grpSpPr>
        <p:sp>
          <p:nvSpPr>
            <p:cNvPr id="10" name="Rechteck 9">
              <a:extLst>
                <a:ext uri="{FF2B5EF4-FFF2-40B4-BE49-F238E27FC236}">
                  <a16:creationId xmlns:a16="http://schemas.microsoft.com/office/drawing/2014/main" id="{B3435C45-C23F-F788-1AA7-B39C97C81E29}"/>
                </a:ext>
              </a:extLst>
            </p:cNvPr>
            <p:cNvSpPr/>
            <p:nvPr/>
          </p:nvSpPr>
          <p:spPr>
            <a:xfrm>
              <a:off x="6031729" y="1841203"/>
              <a:ext cx="2762127" cy="2170707"/>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2" name="Gerader Verbinder 11">
              <a:extLst>
                <a:ext uri="{FF2B5EF4-FFF2-40B4-BE49-F238E27FC236}">
                  <a16:creationId xmlns:a16="http://schemas.microsoft.com/office/drawing/2014/main" id="{79FDE219-8A49-065D-FD6F-832FA2DB4536}"/>
                </a:ext>
              </a:extLst>
            </p:cNvPr>
            <p:cNvCxnSpPr>
              <a:cxnSpLocks/>
            </p:cNvCxnSpPr>
            <p:nvPr/>
          </p:nvCxnSpPr>
          <p:spPr>
            <a:xfrm>
              <a:off x="637220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 name="Gerader Verbinder 14">
              <a:extLst>
                <a:ext uri="{FF2B5EF4-FFF2-40B4-BE49-F238E27FC236}">
                  <a16:creationId xmlns:a16="http://schemas.microsoft.com/office/drawing/2014/main" id="{C240BCF9-5C63-CC2A-CAD7-B13E652BD330}"/>
                </a:ext>
              </a:extLst>
            </p:cNvPr>
            <p:cNvCxnSpPr>
              <a:cxnSpLocks/>
            </p:cNvCxnSpPr>
            <p:nvPr/>
          </p:nvCxnSpPr>
          <p:spPr>
            <a:xfrm>
              <a:off x="671643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6" name="Gerader Verbinder 15">
              <a:extLst>
                <a:ext uri="{FF2B5EF4-FFF2-40B4-BE49-F238E27FC236}">
                  <a16:creationId xmlns:a16="http://schemas.microsoft.com/office/drawing/2014/main" id="{5A83ECDC-EC83-493F-DAEB-970A6D14AF62}"/>
                </a:ext>
              </a:extLst>
            </p:cNvPr>
            <p:cNvCxnSpPr>
              <a:cxnSpLocks/>
            </p:cNvCxnSpPr>
            <p:nvPr/>
          </p:nvCxnSpPr>
          <p:spPr>
            <a:xfrm>
              <a:off x="706066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7" name="Gerader Verbinder 16">
              <a:extLst>
                <a:ext uri="{FF2B5EF4-FFF2-40B4-BE49-F238E27FC236}">
                  <a16:creationId xmlns:a16="http://schemas.microsoft.com/office/drawing/2014/main" id="{618A2387-AE04-9A18-7172-DBABEA327F94}"/>
                </a:ext>
              </a:extLst>
            </p:cNvPr>
            <p:cNvCxnSpPr>
              <a:cxnSpLocks/>
            </p:cNvCxnSpPr>
            <p:nvPr/>
          </p:nvCxnSpPr>
          <p:spPr>
            <a:xfrm>
              <a:off x="740489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8" name="Gerader Verbinder 17">
              <a:extLst>
                <a:ext uri="{FF2B5EF4-FFF2-40B4-BE49-F238E27FC236}">
                  <a16:creationId xmlns:a16="http://schemas.microsoft.com/office/drawing/2014/main" id="{468C1C6D-E1E7-D599-CB9D-B302BD166386}"/>
                </a:ext>
              </a:extLst>
            </p:cNvPr>
            <p:cNvCxnSpPr>
              <a:cxnSpLocks/>
            </p:cNvCxnSpPr>
            <p:nvPr/>
          </p:nvCxnSpPr>
          <p:spPr>
            <a:xfrm>
              <a:off x="774912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9" name="Gerader Verbinder 18">
              <a:extLst>
                <a:ext uri="{FF2B5EF4-FFF2-40B4-BE49-F238E27FC236}">
                  <a16:creationId xmlns:a16="http://schemas.microsoft.com/office/drawing/2014/main" id="{C83DE95C-C927-CF94-1CD7-5E0806AC29AD}"/>
                </a:ext>
              </a:extLst>
            </p:cNvPr>
            <p:cNvCxnSpPr>
              <a:cxnSpLocks/>
            </p:cNvCxnSpPr>
            <p:nvPr/>
          </p:nvCxnSpPr>
          <p:spPr>
            <a:xfrm>
              <a:off x="809335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 name="Gerader Verbinder 19">
              <a:extLst>
                <a:ext uri="{FF2B5EF4-FFF2-40B4-BE49-F238E27FC236}">
                  <a16:creationId xmlns:a16="http://schemas.microsoft.com/office/drawing/2014/main" id="{C84C0574-3F2B-4774-20F0-BB94CE6E6A5C}"/>
                </a:ext>
              </a:extLst>
            </p:cNvPr>
            <p:cNvCxnSpPr>
              <a:cxnSpLocks/>
            </p:cNvCxnSpPr>
            <p:nvPr/>
          </p:nvCxnSpPr>
          <p:spPr>
            <a:xfrm>
              <a:off x="8437580" y="1841203"/>
              <a:ext cx="0" cy="2170707"/>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2" name="Gerader Verbinder 21">
              <a:extLst>
                <a:ext uri="{FF2B5EF4-FFF2-40B4-BE49-F238E27FC236}">
                  <a16:creationId xmlns:a16="http://schemas.microsoft.com/office/drawing/2014/main" id="{269A8A4D-1CBB-2EF3-6E1B-5A394117B1B4}"/>
                </a:ext>
              </a:extLst>
            </p:cNvPr>
            <p:cNvCxnSpPr>
              <a:cxnSpLocks/>
            </p:cNvCxnSpPr>
            <p:nvPr/>
          </p:nvCxnSpPr>
          <p:spPr>
            <a:xfrm>
              <a:off x="6031729" y="221171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6" name="Gerader Verbinder 25">
              <a:extLst>
                <a:ext uri="{FF2B5EF4-FFF2-40B4-BE49-F238E27FC236}">
                  <a16:creationId xmlns:a16="http://schemas.microsoft.com/office/drawing/2014/main" id="{20606C24-1F6B-52B1-BD1A-F933D9D9453E}"/>
                </a:ext>
              </a:extLst>
            </p:cNvPr>
            <p:cNvCxnSpPr>
              <a:cxnSpLocks/>
            </p:cNvCxnSpPr>
            <p:nvPr/>
          </p:nvCxnSpPr>
          <p:spPr>
            <a:xfrm>
              <a:off x="6031729" y="257175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7" name="Gerader Verbinder 26">
              <a:extLst>
                <a:ext uri="{FF2B5EF4-FFF2-40B4-BE49-F238E27FC236}">
                  <a16:creationId xmlns:a16="http://schemas.microsoft.com/office/drawing/2014/main" id="{4F99A776-7D4A-9493-612D-42480B7B0B85}"/>
                </a:ext>
              </a:extLst>
            </p:cNvPr>
            <p:cNvCxnSpPr>
              <a:cxnSpLocks/>
            </p:cNvCxnSpPr>
            <p:nvPr/>
          </p:nvCxnSpPr>
          <p:spPr>
            <a:xfrm>
              <a:off x="6031729" y="293179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8" name="Gerader Verbinder 27">
              <a:extLst>
                <a:ext uri="{FF2B5EF4-FFF2-40B4-BE49-F238E27FC236}">
                  <a16:creationId xmlns:a16="http://schemas.microsoft.com/office/drawing/2014/main" id="{B78869AE-570C-EBDD-63FA-5FE5248A2313}"/>
                </a:ext>
              </a:extLst>
            </p:cNvPr>
            <p:cNvCxnSpPr>
              <a:cxnSpLocks/>
            </p:cNvCxnSpPr>
            <p:nvPr/>
          </p:nvCxnSpPr>
          <p:spPr>
            <a:xfrm>
              <a:off x="6031729" y="329183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9" name="Gerader Verbinder 28">
              <a:extLst>
                <a:ext uri="{FF2B5EF4-FFF2-40B4-BE49-F238E27FC236}">
                  <a16:creationId xmlns:a16="http://schemas.microsoft.com/office/drawing/2014/main" id="{96460641-F59F-44C9-DD3D-D398F8BB29D8}"/>
                </a:ext>
              </a:extLst>
            </p:cNvPr>
            <p:cNvCxnSpPr>
              <a:cxnSpLocks/>
            </p:cNvCxnSpPr>
            <p:nvPr/>
          </p:nvCxnSpPr>
          <p:spPr>
            <a:xfrm>
              <a:off x="6031729" y="3651870"/>
              <a:ext cx="2746323"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43" name="Gruppieren 42">
            <a:extLst>
              <a:ext uri="{FF2B5EF4-FFF2-40B4-BE49-F238E27FC236}">
                <a16:creationId xmlns:a16="http://schemas.microsoft.com/office/drawing/2014/main" id="{82261448-5664-66DC-3A78-1F2DE48EF682}"/>
              </a:ext>
            </a:extLst>
          </p:cNvPr>
          <p:cNvGrpSpPr/>
          <p:nvPr/>
        </p:nvGrpSpPr>
        <p:grpSpPr>
          <a:xfrm>
            <a:off x="7797810" y="3695300"/>
            <a:ext cx="617616" cy="276999"/>
            <a:chOff x="7797810" y="3695300"/>
            <a:chExt cx="617616" cy="276999"/>
          </a:xfrm>
        </p:grpSpPr>
        <p:sp>
          <p:nvSpPr>
            <p:cNvPr id="35" name="Rechteck 34">
              <a:extLst>
                <a:ext uri="{FF2B5EF4-FFF2-40B4-BE49-F238E27FC236}">
                  <a16:creationId xmlns:a16="http://schemas.microsoft.com/office/drawing/2014/main" id="{2099455A-CFC0-A86F-86B2-C5CC53ED91F2}"/>
                </a:ext>
              </a:extLst>
            </p:cNvPr>
            <p:cNvSpPr/>
            <p:nvPr/>
          </p:nvSpPr>
          <p:spPr>
            <a:xfrm>
              <a:off x="7797810" y="3768024"/>
              <a:ext cx="130955" cy="131551"/>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8" name="Textfeld 37">
              <a:extLst>
                <a:ext uri="{FF2B5EF4-FFF2-40B4-BE49-F238E27FC236}">
                  <a16:creationId xmlns:a16="http://schemas.microsoft.com/office/drawing/2014/main" id="{EEE1B722-455E-4BB4-A1E2-6FE767DF4B3E}"/>
                </a:ext>
              </a:extLst>
            </p:cNvPr>
            <p:cNvSpPr txBox="1"/>
            <p:nvPr/>
          </p:nvSpPr>
          <p:spPr>
            <a:xfrm>
              <a:off x="7979216" y="3695300"/>
              <a:ext cx="436210" cy="276999"/>
            </a:xfrm>
            <a:prstGeom prst="rect">
              <a:avLst/>
            </a:prstGeom>
            <a:noFill/>
          </p:spPr>
          <p:txBody>
            <a:bodyPr wrap="none" rtlCol="0">
              <a:spAutoFit/>
            </a:bodyPr>
            <a:lstStyle/>
            <a:p>
              <a:r>
                <a:rPr lang="en-US" sz="1200" noProof="0" dirty="0"/>
                <a:t>lake</a:t>
              </a:r>
            </a:p>
          </p:txBody>
        </p:sp>
      </p:grpSp>
      <p:grpSp>
        <p:nvGrpSpPr>
          <p:cNvPr id="44" name="Gruppieren 43">
            <a:extLst>
              <a:ext uri="{FF2B5EF4-FFF2-40B4-BE49-F238E27FC236}">
                <a16:creationId xmlns:a16="http://schemas.microsoft.com/office/drawing/2014/main" id="{3F1989E0-11EB-1B97-E0AB-C6DEE4F48A66}"/>
              </a:ext>
            </a:extLst>
          </p:cNvPr>
          <p:cNvGrpSpPr/>
          <p:nvPr/>
        </p:nvGrpSpPr>
        <p:grpSpPr>
          <a:xfrm>
            <a:off x="7797810" y="3437353"/>
            <a:ext cx="1013750" cy="276999"/>
            <a:chOff x="7797810" y="3437353"/>
            <a:chExt cx="1013750" cy="276999"/>
          </a:xfrm>
        </p:grpSpPr>
        <p:sp>
          <p:nvSpPr>
            <p:cNvPr id="34" name="Rechteck 33">
              <a:extLst>
                <a:ext uri="{FF2B5EF4-FFF2-40B4-BE49-F238E27FC236}">
                  <a16:creationId xmlns:a16="http://schemas.microsoft.com/office/drawing/2014/main" id="{AFA5C856-E721-8409-7CA7-F94E795D885C}"/>
                </a:ext>
              </a:extLst>
            </p:cNvPr>
            <p:cNvSpPr/>
            <p:nvPr/>
          </p:nvSpPr>
          <p:spPr>
            <a:xfrm>
              <a:off x="7797810" y="3510077"/>
              <a:ext cx="130955" cy="131551"/>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39" name="Textfeld 38">
              <a:extLst>
                <a:ext uri="{FF2B5EF4-FFF2-40B4-BE49-F238E27FC236}">
                  <a16:creationId xmlns:a16="http://schemas.microsoft.com/office/drawing/2014/main" id="{5F2EF45A-E53F-FB11-6EF5-B6D71ED3617B}"/>
                </a:ext>
              </a:extLst>
            </p:cNvPr>
            <p:cNvSpPr txBox="1"/>
            <p:nvPr/>
          </p:nvSpPr>
          <p:spPr>
            <a:xfrm>
              <a:off x="7979216" y="3437353"/>
              <a:ext cx="832344" cy="276999"/>
            </a:xfrm>
            <a:prstGeom prst="rect">
              <a:avLst/>
            </a:prstGeom>
            <a:noFill/>
          </p:spPr>
          <p:txBody>
            <a:bodyPr wrap="none" rtlCol="0">
              <a:spAutoFit/>
            </a:bodyPr>
            <a:lstStyle/>
            <a:p>
              <a:r>
                <a:rPr lang="en-US" sz="1200" noProof="0" dirty="0"/>
                <a:t>grass land</a:t>
              </a:r>
            </a:p>
          </p:txBody>
        </p:sp>
      </p:grpSp>
      <p:grpSp>
        <p:nvGrpSpPr>
          <p:cNvPr id="42" name="Gruppieren 41">
            <a:extLst>
              <a:ext uri="{FF2B5EF4-FFF2-40B4-BE49-F238E27FC236}">
                <a16:creationId xmlns:a16="http://schemas.microsoft.com/office/drawing/2014/main" id="{974D5D82-AEDF-505B-8FDF-F7D9EEC1D733}"/>
              </a:ext>
            </a:extLst>
          </p:cNvPr>
          <p:cNvGrpSpPr/>
          <p:nvPr/>
        </p:nvGrpSpPr>
        <p:grpSpPr>
          <a:xfrm>
            <a:off x="7797810" y="3950935"/>
            <a:ext cx="651535" cy="276999"/>
            <a:chOff x="7797810" y="3950935"/>
            <a:chExt cx="651535" cy="276999"/>
          </a:xfrm>
        </p:grpSpPr>
        <p:sp>
          <p:nvSpPr>
            <p:cNvPr id="40" name="Rechteck 39">
              <a:extLst>
                <a:ext uri="{FF2B5EF4-FFF2-40B4-BE49-F238E27FC236}">
                  <a16:creationId xmlns:a16="http://schemas.microsoft.com/office/drawing/2014/main" id="{001E8293-2A7E-CC41-120B-0563A67B2183}"/>
                </a:ext>
              </a:extLst>
            </p:cNvPr>
            <p:cNvSpPr/>
            <p:nvPr/>
          </p:nvSpPr>
          <p:spPr>
            <a:xfrm>
              <a:off x="7797810" y="4023659"/>
              <a:ext cx="130955" cy="131551"/>
            </a:xfrm>
            <a:prstGeom prst="rect">
              <a:avLst/>
            </a:prstGeom>
            <a:solidFill>
              <a:schemeClr val="accent1"/>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1" name="Textfeld 40">
              <a:extLst>
                <a:ext uri="{FF2B5EF4-FFF2-40B4-BE49-F238E27FC236}">
                  <a16:creationId xmlns:a16="http://schemas.microsoft.com/office/drawing/2014/main" id="{6BD87308-77FA-8CD0-2417-9B099117E5C5}"/>
                </a:ext>
              </a:extLst>
            </p:cNvPr>
            <p:cNvSpPr txBox="1"/>
            <p:nvPr/>
          </p:nvSpPr>
          <p:spPr>
            <a:xfrm>
              <a:off x="7979216" y="3950935"/>
              <a:ext cx="470129" cy="276999"/>
            </a:xfrm>
            <a:prstGeom prst="rect">
              <a:avLst/>
            </a:prstGeom>
            <a:noFill/>
          </p:spPr>
          <p:txBody>
            <a:bodyPr wrap="none" rtlCol="0">
              <a:spAutoFit/>
            </a:bodyPr>
            <a:lstStyle/>
            <a:p>
              <a:r>
                <a:rPr lang="en-US" sz="1200" noProof="0" dirty="0"/>
                <a:t>river</a:t>
              </a:r>
            </a:p>
          </p:txBody>
        </p:sp>
      </p:grpSp>
      <p:grpSp>
        <p:nvGrpSpPr>
          <p:cNvPr id="8" name="Gruppieren 7">
            <a:extLst>
              <a:ext uri="{FF2B5EF4-FFF2-40B4-BE49-F238E27FC236}">
                <a16:creationId xmlns:a16="http://schemas.microsoft.com/office/drawing/2014/main" id="{30BA512E-182E-EED6-8C1F-867223FC54E3}"/>
              </a:ext>
            </a:extLst>
          </p:cNvPr>
          <p:cNvGrpSpPr/>
          <p:nvPr/>
        </p:nvGrpSpPr>
        <p:grpSpPr>
          <a:xfrm>
            <a:off x="6058345" y="3723878"/>
            <a:ext cx="1028930" cy="1080089"/>
            <a:chOff x="6058345" y="3723878"/>
            <a:chExt cx="1028930" cy="1080089"/>
          </a:xfrm>
        </p:grpSpPr>
        <p:sp>
          <p:nvSpPr>
            <p:cNvPr id="11" name="Rechteck 10">
              <a:extLst>
                <a:ext uri="{FF2B5EF4-FFF2-40B4-BE49-F238E27FC236}">
                  <a16:creationId xmlns:a16="http://schemas.microsoft.com/office/drawing/2014/main" id="{BC1946DC-91BD-34E7-36B7-5FF0A5D8B399}"/>
                </a:ext>
              </a:extLst>
            </p:cNvPr>
            <p:cNvSpPr/>
            <p:nvPr/>
          </p:nvSpPr>
          <p:spPr>
            <a:xfrm>
              <a:off x="6058345" y="3723878"/>
              <a:ext cx="1028930" cy="1080089"/>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3" name="Gerader Verbinder 12">
              <a:extLst>
                <a:ext uri="{FF2B5EF4-FFF2-40B4-BE49-F238E27FC236}">
                  <a16:creationId xmlns:a16="http://schemas.microsoft.com/office/drawing/2014/main" id="{B674D3CF-9836-1CEA-0301-A58C0012BDAB}"/>
                </a:ext>
              </a:extLst>
            </p:cNvPr>
            <p:cNvCxnSpPr/>
            <p:nvPr/>
          </p:nvCxnSpPr>
          <p:spPr>
            <a:xfrm flipH="1">
              <a:off x="6058345" y="4078214"/>
              <a:ext cx="102893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4" name="Gerader Verbinder 13">
              <a:extLst>
                <a:ext uri="{FF2B5EF4-FFF2-40B4-BE49-F238E27FC236}">
                  <a16:creationId xmlns:a16="http://schemas.microsoft.com/office/drawing/2014/main" id="{5E8F6A80-CD49-9C99-2AAE-99ED482004B0}"/>
                </a:ext>
              </a:extLst>
            </p:cNvPr>
            <p:cNvCxnSpPr/>
            <p:nvPr/>
          </p:nvCxnSpPr>
          <p:spPr>
            <a:xfrm flipH="1">
              <a:off x="6058345" y="4443958"/>
              <a:ext cx="1028930" cy="0"/>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1" name="Gerader Verbinder 20">
              <a:extLst>
                <a:ext uri="{FF2B5EF4-FFF2-40B4-BE49-F238E27FC236}">
                  <a16:creationId xmlns:a16="http://schemas.microsoft.com/office/drawing/2014/main" id="{E0CFE52F-8F4F-9CB3-D7E2-05F10F09E45B}"/>
                </a:ext>
              </a:extLst>
            </p:cNvPr>
            <p:cNvCxnSpPr/>
            <p:nvPr/>
          </p:nvCxnSpPr>
          <p:spPr>
            <a:xfrm>
              <a:off x="6398816" y="3723878"/>
              <a:ext cx="0" cy="1080089"/>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3" name="Gerader Verbinder 22">
              <a:extLst>
                <a:ext uri="{FF2B5EF4-FFF2-40B4-BE49-F238E27FC236}">
                  <a16:creationId xmlns:a16="http://schemas.microsoft.com/office/drawing/2014/main" id="{F46364EB-0AAA-13F0-729A-D7803C18532C}"/>
                </a:ext>
              </a:extLst>
            </p:cNvPr>
            <p:cNvCxnSpPr/>
            <p:nvPr/>
          </p:nvCxnSpPr>
          <p:spPr>
            <a:xfrm>
              <a:off x="6743046" y="3723878"/>
              <a:ext cx="0" cy="1080089"/>
            </a:xfrm>
            <a:prstGeom prst="line">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24" name="Gruppieren 23">
            <a:extLst>
              <a:ext uri="{FF2B5EF4-FFF2-40B4-BE49-F238E27FC236}">
                <a16:creationId xmlns:a16="http://schemas.microsoft.com/office/drawing/2014/main" id="{1531DD56-9614-B3B0-8E5E-DDCD15ED9B8F}"/>
              </a:ext>
            </a:extLst>
          </p:cNvPr>
          <p:cNvGrpSpPr/>
          <p:nvPr/>
        </p:nvGrpSpPr>
        <p:grpSpPr>
          <a:xfrm>
            <a:off x="6149542" y="3817181"/>
            <a:ext cx="846537" cy="893483"/>
            <a:chOff x="6149826" y="3838507"/>
            <a:chExt cx="846537" cy="893483"/>
          </a:xfrm>
        </p:grpSpPr>
        <p:grpSp>
          <p:nvGrpSpPr>
            <p:cNvPr id="25" name="Gruppieren 24">
              <a:extLst>
                <a:ext uri="{FF2B5EF4-FFF2-40B4-BE49-F238E27FC236}">
                  <a16:creationId xmlns:a16="http://schemas.microsoft.com/office/drawing/2014/main" id="{D22461C5-128A-EF1C-E63A-4E6C7766B797}"/>
                </a:ext>
              </a:extLst>
            </p:cNvPr>
            <p:cNvGrpSpPr/>
            <p:nvPr/>
          </p:nvGrpSpPr>
          <p:grpSpPr>
            <a:xfrm>
              <a:off x="6501086" y="3838507"/>
              <a:ext cx="144016" cy="893483"/>
              <a:chOff x="6488199" y="3838507"/>
              <a:chExt cx="144016" cy="893483"/>
            </a:xfrm>
          </p:grpSpPr>
          <p:sp>
            <p:nvSpPr>
              <p:cNvPr id="46" name="Pfeil: nach rechts 45">
                <a:extLst>
                  <a:ext uri="{FF2B5EF4-FFF2-40B4-BE49-F238E27FC236}">
                    <a16:creationId xmlns:a16="http://schemas.microsoft.com/office/drawing/2014/main" id="{904F080F-5344-46EB-91A8-9EAD84D8E229}"/>
                  </a:ext>
                </a:extLst>
              </p:cNvPr>
              <p:cNvSpPr/>
              <p:nvPr/>
            </p:nvSpPr>
            <p:spPr>
              <a:xfrm rot="16200000">
                <a:off x="6380187" y="3946519"/>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47" name="Pfeil: nach rechts 46">
                <a:extLst>
                  <a:ext uri="{FF2B5EF4-FFF2-40B4-BE49-F238E27FC236}">
                    <a16:creationId xmlns:a16="http://schemas.microsoft.com/office/drawing/2014/main" id="{4B9DB8AC-AC21-913D-DB69-62C68750810F}"/>
                  </a:ext>
                </a:extLst>
              </p:cNvPr>
              <p:cNvSpPr/>
              <p:nvPr/>
            </p:nvSpPr>
            <p:spPr>
              <a:xfrm rot="5400000" flipV="1">
                <a:off x="6380187" y="4479962"/>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grpSp>
        <p:grpSp>
          <p:nvGrpSpPr>
            <p:cNvPr id="30" name="Gruppieren 29">
              <a:extLst>
                <a:ext uri="{FF2B5EF4-FFF2-40B4-BE49-F238E27FC236}">
                  <a16:creationId xmlns:a16="http://schemas.microsoft.com/office/drawing/2014/main" id="{F97CFBA1-4E49-D212-5858-6AE49FC07116}"/>
                </a:ext>
              </a:extLst>
            </p:cNvPr>
            <p:cNvGrpSpPr/>
            <p:nvPr/>
          </p:nvGrpSpPr>
          <p:grpSpPr>
            <a:xfrm>
              <a:off x="6149826" y="4211317"/>
              <a:ext cx="846537" cy="147863"/>
              <a:chOff x="6156176" y="4205523"/>
              <a:chExt cx="846537" cy="147863"/>
            </a:xfrm>
          </p:grpSpPr>
          <p:sp>
            <p:nvSpPr>
              <p:cNvPr id="36" name="Pfeil: nach rechts 35">
                <a:extLst>
                  <a:ext uri="{FF2B5EF4-FFF2-40B4-BE49-F238E27FC236}">
                    <a16:creationId xmlns:a16="http://schemas.microsoft.com/office/drawing/2014/main" id="{9A895BDE-268B-F990-25CC-66705EAD054F}"/>
                  </a:ext>
                </a:extLst>
              </p:cNvPr>
              <p:cNvSpPr/>
              <p:nvPr/>
            </p:nvSpPr>
            <p:spPr>
              <a:xfrm>
                <a:off x="6642673" y="4205523"/>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sp>
            <p:nvSpPr>
              <p:cNvPr id="45" name="Pfeil: nach rechts 44">
                <a:extLst>
                  <a:ext uri="{FF2B5EF4-FFF2-40B4-BE49-F238E27FC236}">
                    <a16:creationId xmlns:a16="http://schemas.microsoft.com/office/drawing/2014/main" id="{77987759-D730-7027-B3EB-5A503CD62AC9}"/>
                  </a:ext>
                </a:extLst>
              </p:cNvPr>
              <p:cNvSpPr/>
              <p:nvPr/>
            </p:nvSpPr>
            <p:spPr>
              <a:xfrm flipH="1">
                <a:off x="6156176" y="4209370"/>
                <a:ext cx="360040" cy="144016"/>
              </a:xfrm>
              <a:prstGeom prst="rightArrow">
                <a:avLst/>
              </a:prstGeom>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endParaRPr lang="en-US" noProof="0" dirty="0"/>
              </a:p>
            </p:txBody>
          </p:sp>
        </p:grpSp>
      </p:grpSp>
    </p:spTree>
    <p:extLst>
      <p:ext uri="{BB962C8B-B14F-4D97-AF65-F5344CB8AC3E}">
        <p14:creationId xmlns:p14="http://schemas.microsoft.com/office/powerpoint/2010/main" val="138817697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F735C-C0E5-EDAC-202F-0FA8FB0B583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0157ECE-710C-CCF0-EED7-194D822B5436}"/>
              </a:ext>
            </a:extLst>
          </p:cNvPr>
          <p:cNvSpPr>
            <a:spLocks noGrp="1"/>
          </p:cNvSpPr>
          <p:nvPr>
            <p:ph type="title"/>
          </p:nvPr>
        </p:nvSpPr>
        <p:spPr/>
        <p:txBody>
          <a:bodyPr/>
          <a:lstStyle/>
          <a:p>
            <a:r>
              <a:rPr lang="en-US" noProof="0" dirty="0"/>
              <a:t>Scenario </a:t>
            </a:r>
            <a:r>
              <a:rPr lang="en-US" b="1" noProof="0" dirty="0">
                <a:sym typeface="Wingdings" panose="05000000000000000000" pitchFamily="2" charset="2"/>
              </a:rPr>
              <a:t></a:t>
            </a:r>
            <a:r>
              <a:rPr lang="en-US" noProof="0" dirty="0">
                <a:sym typeface="Wingdings" panose="05000000000000000000" pitchFamily="2" charset="2"/>
              </a:rPr>
              <a:t>:</a:t>
            </a:r>
            <a:br>
              <a:rPr lang="en-US" noProof="0" dirty="0">
                <a:sym typeface="Wingdings" panose="05000000000000000000" pitchFamily="2" charset="2"/>
              </a:rPr>
            </a:br>
            <a:r>
              <a:rPr lang="en-US" noProof="0" dirty="0">
                <a:sym typeface="Wingdings" panose="05000000000000000000" pitchFamily="2" charset="2"/>
              </a:rPr>
              <a:t>Invasion of lake trout and change of food webs</a:t>
            </a:r>
            <a:endParaRPr lang="en-US" noProof="0" dirty="0"/>
          </a:p>
        </p:txBody>
      </p:sp>
      <p:sp>
        <p:nvSpPr>
          <p:cNvPr id="3" name="Rechteck 2">
            <a:extLst>
              <a:ext uri="{FF2B5EF4-FFF2-40B4-BE49-F238E27FC236}">
                <a16:creationId xmlns:a16="http://schemas.microsoft.com/office/drawing/2014/main" id="{A70D3ACE-92EB-3902-4837-710F36A4B6A1}"/>
              </a:ext>
            </a:extLst>
          </p:cNvPr>
          <p:cNvSpPr/>
          <p:nvPr/>
        </p:nvSpPr>
        <p:spPr>
          <a:xfrm>
            <a:off x="1691680" y="1131590"/>
            <a:ext cx="720080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endParaRPr lang="en-US" sz="1400" noProof="0" dirty="0">
              <a:solidFill>
                <a:schemeClr val="tx1"/>
              </a:solidFill>
            </a:endParaRPr>
          </a:p>
        </p:txBody>
      </p:sp>
      <p:sp>
        <p:nvSpPr>
          <p:cNvPr id="4" name="Rechteck 3">
            <a:extLst>
              <a:ext uri="{FF2B5EF4-FFF2-40B4-BE49-F238E27FC236}">
                <a16:creationId xmlns:a16="http://schemas.microsoft.com/office/drawing/2014/main" id="{76C1B938-9A0D-43F9-A9DA-424F9C05C1EE}"/>
              </a:ext>
            </a:extLst>
          </p:cNvPr>
          <p:cNvSpPr/>
          <p:nvPr/>
        </p:nvSpPr>
        <p:spPr>
          <a:xfrm>
            <a:off x="251520" y="1131590"/>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1. Understand the Problem</a:t>
            </a:r>
          </a:p>
        </p:txBody>
      </p:sp>
      <p:sp>
        <p:nvSpPr>
          <p:cNvPr id="5" name="Rechteck 4">
            <a:extLst>
              <a:ext uri="{FF2B5EF4-FFF2-40B4-BE49-F238E27FC236}">
                <a16:creationId xmlns:a16="http://schemas.microsoft.com/office/drawing/2014/main" id="{52421433-BEBA-B9A8-F42D-2C77DBA9A129}"/>
              </a:ext>
            </a:extLst>
          </p:cNvPr>
          <p:cNvSpPr/>
          <p:nvPr/>
        </p:nvSpPr>
        <p:spPr>
          <a:xfrm>
            <a:off x="251520" y="1952061"/>
            <a:ext cx="1296144" cy="709613"/>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bg1"/>
                </a:solidFill>
              </a:rPr>
              <a:t>2. Plan</a:t>
            </a:r>
          </a:p>
        </p:txBody>
      </p:sp>
      <p:sp>
        <p:nvSpPr>
          <p:cNvPr id="6" name="Rechteck 5">
            <a:extLst>
              <a:ext uri="{FF2B5EF4-FFF2-40B4-BE49-F238E27FC236}">
                <a16:creationId xmlns:a16="http://schemas.microsoft.com/office/drawing/2014/main" id="{F8F70BDC-F05C-F4B0-2C68-02ABC0E39A91}"/>
              </a:ext>
            </a:extLst>
          </p:cNvPr>
          <p:cNvSpPr/>
          <p:nvPr/>
        </p:nvSpPr>
        <p:spPr>
          <a:xfrm>
            <a:off x="251520" y="3634389"/>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4. Look Back</a:t>
            </a:r>
          </a:p>
        </p:txBody>
      </p:sp>
      <p:sp>
        <p:nvSpPr>
          <p:cNvPr id="7" name="Rechteck 6">
            <a:extLst>
              <a:ext uri="{FF2B5EF4-FFF2-40B4-BE49-F238E27FC236}">
                <a16:creationId xmlns:a16="http://schemas.microsoft.com/office/drawing/2014/main" id="{F2AF7E53-3E51-EC9E-90F7-DF6988551754}"/>
              </a:ext>
            </a:extLst>
          </p:cNvPr>
          <p:cNvSpPr/>
          <p:nvPr/>
        </p:nvSpPr>
        <p:spPr>
          <a:xfrm>
            <a:off x="251520" y="2793225"/>
            <a:ext cx="1296144" cy="709613"/>
          </a:xfrm>
          <a:prstGeom prst="rect">
            <a:avLst/>
          </a:prstGeom>
          <a:solidFill>
            <a:schemeClr val="bg1">
              <a:lumMod val="95000"/>
            </a:schemeClr>
          </a:solidFill>
          <a:ln>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noProof="0" dirty="0">
                <a:solidFill>
                  <a:schemeClr val="tx1">
                    <a:lumMod val="50000"/>
                    <a:lumOff val="50000"/>
                  </a:schemeClr>
                </a:solidFill>
              </a:rPr>
              <a:t>3. Execute</a:t>
            </a:r>
          </a:p>
        </p:txBody>
      </p:sp>
      <p:sp>
        <p:nvSpPr>
          <p:cNvPr id="9" name="Rechteck 8">
            <a:extLst>
              <a:ext uri="{FF2B5EF4-FFF2-40B4-BE49-F238E27FC236}">
                <a16:creationId xmlns:a16="http://schemas.microsoft.com/office/drawing/2014/main" id="{41C76E18-5A5E-19F3-C7DC-F38E396048BF}"/>
              </a:ext>
            </a:extLst>
          </p:cNvPr>
          <p:cNvSpPr/>
          <p:nvPr/>
        </p:nvSpPr>
        <p:spPr>
          <a:xfrm>
            <a:off x="1691681" y="1131590"/>
            <a:ext cx="3528391"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Occupation Rules: </a:t>
            </a:r>
            <a:r>
              <a:rPr lang="en-US" sz="1400" noProof="0" dirty="0">
                <a:solidFill>
                  <a:schemeClr val="tx1"/>
                </a:solidFill>
              </a:rPr>
              <a:t>We assume that more than one member of any species can occupy a cell.</a:t>
            </a:r>
          </a:p>
          <a:p>
            <a:pPr algn="just">
              <a:spcAft>
                <a:spcPts val="600"/>
              </a:spcAft>
            </a:pPr>
            <a:endParaRPr lang="en-US" sz="1400" b="1" noProof="0" dirty="0">
              <a:solidFill>
                <a:schemeClr val="tx1"/>
              </a:solidFill>
            </a:endParaRPr>
          </a:p>
          <a:p>
            <a:pPr algn="just">
              <a:spcAft>
                <a:spcPts val="600"/>
              </a:spcAft>
            </a:pPr>
            <a:r>
              <a:rPr lang="en-US" sz="1400" b="1" noProof="0" dirty="0">
                <a:solidFill>
                  <a:schemeClr val="tx1"/>
                </a:solidFill>
              </a:rPr>
              <a:t>Interaction Rules: </a:t>
            </a:r>
            <a:r>
              <a:rPr lang="en-US" sz="1400" noProof="0" dirty="0">
                <a:solidFill>
                  <a:schemeClr val="tx1"/>
                </a:solidFill>
              </a:rPr>
              <a:t>We assume that</a:t>
            </a:r>
          </a:p>
          <a:p>
            <a:pPr marL="182563" indent="-182563" algn="just">
              <a:spcAft>
                <a:spcPts val="600"/>
              </a:spcAft>
              <a:buFont typeface="Arial" panose="020B0604020202020204" pitchFamily="34" charset="0"/>
              <a:buChar char="•"/>
            </a:pPr>
            <a:r>
              <a:rPr lang="en-US" sz="1400" noProof="0" dirty="0">
                <a:solidFill>
                  <a:schemeClr val="tx1"/>
                </a:solidFill>
              </a:rPr>
              <a:t>each predator-prey encounter is successful for the predator by a certain hunter probability</a:t>
            </a:r>
          </a:p>
          <a:p>
            <a:pPr marL="182563" indent="-182563" algn="just">
              <a:spcAft>
                <a:spcPts val="600"/>
              </a:spcAft>
              <a:buFont typeface="Arial" panose="020B0604020202020204" pitchFamily="34" charset="0"/>
              <a:buChar char="•"/>
            </a:pPr>
            <a:r>
              <a:rPr lang="en-US" sz="1400" noProof="0" dirty="0">
                <a:solidFill>
                  <a:schemeClr val="tx1"/>
                </a:solidFill>
              </a:rPr>
              <a:t>within lakes native trout is preyed upon by invasive trout and predatory birds</a:t>
            </a:r>
          </a:p>
          <a:p>
            <a:pPr marL="182563" indent="-182563" algn="just">
              <a:spcAft>
                <a:spcPts val="600"/>
              </a:spcAft>
              <a:buFont typeface="Arial" panose="020B0604020202020204" pitchFamily="34" charset="0"/>
              <a:buChar char="•"/>
            </a:pPr>
            <a:r>
              <a:rPr lang="en-US" sz="1400" noProof="0" dirty="0">
                <a:solidFill>
                  <a:schemeClr val="tx1"/>
                </a:solidFill>
              </a:rPr>
              <a:t>within in rivers native trout is preyed upon by bears</a:t>
            </a:r>
          </a:p>
          <a:p>
            <a:pPr marL="182563" indent="-182563" algn="just">
              <a:spcAft>
                <a:spcPts val="600"/>
              </a:spcAft>
              <a:buFont typeface="Arial" panose="020B0604020202020204" pitchFamily="34" charset="0"/>
              <a:buChar char="•"/>
            </a:pPr>
            <a:r>
              <a:rPr lang="en-US" sz="1400" noProof="0" dirty="0">
                <a:solidFill>
                  <a:schemeClr val="tx1"/>
                </a:solidFill>
              </a:rPr>
              <a:t>within grassland  elks are preyed upon by bears</a:t>
            </a:r>
          </a:p>
          <a:p>
            <a:pPr marL="182563" indent="-182563" algn="just">
              <a:spcAft>
                <a:spcPts val="600"/>
              </a:spcAft>
              <a:buFont typeface="Arial" panose="020B0604020202020204" pitchFamily="34" charset="0"/>
              <a:buChar char="•"/>
            </a:pPr>
            <a:r>
              <a:rPr lang="en-US" sz="1400" noProof="0" dirty="0">
                <a:solidFill>
                  <a:schemeClr val="tx1"/>
                </a:solidFill>
              </a:rPr>
              <a:t>the hunting probability of a bear on native trout is much higher than on elk</a:t>
            </a:r>
          </a:p>
          <a:p>
            <a:pPr algn="just">
              <a:spcAft>
                <a:spcPts val="600"/>
              </a:spcAft>
            </a:pPr>
            <a:endParaRPr lang="en-US" sz="1400" noProof="0" dirty="0">
              <a:solidFill>
                <a:schemeClr val="tx1"/>
              </a:solidFill>
            </a:endParaRPr>
          </a:p>
        </p:txBody>
      </p:sp>
      <p:sp>
        <p:nvSpPr>
          <p:cNvPr id="48" name="Rechteck 47">
            <a:extLst>
              <a:ext uri="{FF2B5EF4-FFF2-40B4-BE49-F238E27FC236}">
                <a16:creationId xmlns:a16="http://schemas.microsoft.com/office/drawing/2014/main" id="{84CE05BC-F368-6B32-BB28-B9C22154203C}"/>
              </a:ext>
            </a:extLst>
          </p:cNvPr>
          <p:cNvSpPr/>
          <p:nvPr/>
        </p:nvSpPr>
        <p:spPr>
          <a:xfrm>
            <a:off x="5364089" y="1131590"/>
            <a:ext cx="3528391" cy="3888432"/>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just">
              <a:spcAft>
                <a:spcPts val="600"/>
              </a:spcAft>
            </a:pPr>
            <a:r>
              <a:rPr lang="en-US" sz="1400" b="1" noProof="0" dirty="0">
                <a:solidFill>
                  <a:schemeClr val="tx1"/>
                </a:solidFill>
              </a:rPr>
              <a:t>Resource Rules: </a:t>
            </a:r>
            <a:r>
              <a:rPr lang="en-US" sz="1400" noProof="0" dirty="0">
                <a:solidFill>
                  <a:schemeClr val="tx1"/>
                </a:solidFill>
              </a:rPr>
              <a:t>We assume that</a:t>
            </a:r>
          </a:p>
          <a:p>
            <a:pPr marL="182563" indent="-182563" algn="just">
              <a:spcAft>
                <a:spcPts val="600"/>
              </a:spcAft>
              <a:buFont typeface="Arial" panose="020B0604020202020204" pitchFamily="34" charset="0"/>
              <a:buChar char="•"/>
            </a:pPr>
            <a:r>
              <a:rPr lang="en-US" sz="1400" noProof="0" dirty="0">
                <a:solidFill>
                  <a:schemeClr val="tx1"/>
                </a:solidFill>
              </a:rPr>
              <a:t>species are born proportional to the total amount of the species</a:t>
            </a:r>
          </a:p>
          <a:p>
            <a:pPr marL="182563" indent="-182563" algn="just">
              <a:spcAft>
                <a:spcPts val="600"/>
              </a:spcAft>
              <a:buFont typeface="Arial" panose="020B0604020202020204" pitchFamily="34" charset="0"/>
              <a:buChar char="•"/>
            </a:pPr>
            <a:r>
              <a:rPr lang="en-US" sz="1400" noProof="0" dirty="0">
                <a:solidFill>
                  <a:schemeClr val="tx1"/>
                </a:solidFill>
              </a:rPr>
              <a:t>species have a specific age limit</a:t>
            </a:r>
          </a:p>
          <a:p>
            <a:pPr marL="182563" indent="-182563" algn="just">
              <a:spcAft>
                <a:spcPts val="600"/>
              </a:spcAft>
              <a:buFont typeface="Arial" panose="020B0604020202020204" pitchFamily="34" charset="0"/>
              <a:buChar char="•"/>
            </a:pPr>
            <a:r>
              <a:rPr lang="en-US" sz="1400" noProof="0" dirty="0">
                <a:solidFill>
                  <a:schemeClr val="tx1"/>
                </a:solidFill>
              </a:rPr>
              <a:t>native and  invasive trout have a species-specific total number limit (carrying capacity of the ecosystem)</a:t>
            </a:r>
          </a:p>
          <a:p>
            <a:pPr marL="182563" indent="-182563" algn="just">
              <a:spcAft>
                <a:spcPts val="600"/>
              </a:spcAft>
              <a:buFont typeface="Arial" panose="020B0604020202020204" pitchFamily="34" charset="0"/>
              <a:buChar char="•"/>
            </a:pPr>
            <a:r>
              <a:rPr lang="en-US" sz="1400" noProof="0" dirty="0">
                <a:solidFill>
                  <a:schemeClr val="tx1"/>
                </a:solidFill>
              </a:rPr>
              <a:t>each predatory bird needs to feed at least on one native trout every 10</a:t>
            </a:r>
            <a:r>
              <a:rPr lang="en-US" sz="1400" baseline="30000" noProof="0" dirty="0">
                <a:solidFill>
                  <a:schemeClr val="tx1"/>
                </a:solidFill>
              </a:rPr>
              <a:t>th</a:t>
            </a:r>
            <a:r>
              <a:rPr lang="en-US" sz="1400" noProof="0" dirty="0">
                <a:solidFill>
                  <a:schemeClr val="tx1"/>
                </a:solidFill>
              </a:rPr>
              <a:t> time step</a:t>
            </a:r>
          </a:p>
          <a:p>
            <a:pPr marL="182563" indent="-182563" algn="just">
              <a:spcAft>
                <a:spcPts val="600"/>
              </a:spcAft>
              <a:buFont typeface="Arial" panose="020B0604020202020204" pitchFamily="34" charset="0"/>
              <a:buChar char="•"/>
            </a:pPr>
            <a:r>
              <a:rPr lang="en-US" sz="1400" noProof="0" dirty="0">
                <a:solidFill>
                  <a:schemeClr val="tx1"/>
                </a:solidFill>
              </a:rPr>
              <a:t>each  bear needs to feed at least on one native trout every 5</a:t>
            </a:r>
            <a:r>
              <a:rPr lang="en-US" sz="1400" baseline="30000" noProof="0" dirty="0">
                <a:solidFill>
                  <a:schemeClr val="tx1"/>
                </a:solidFill>
              </a:rPr>
              <a:t>th</a:t>
            </a:r>
            <a:r>
              <a:rPr lang="en-US" sz="1400" noProof="0" dirty="0">
                <a:solidFill>
                  <a:schemeClr val="tx1"/>
                </a:solidFill>
              </a:rPr>
              <a:t> time step or one elk every 10</a:t>
            </a:r>
            <a:r>
              <a:rPr lang="en-US" sz="1400" baseline="30000" noProof="0" dirty="0">
                <a:solidFill>
                  <a:schemeClr val="tx1"/>
                </a:solidFill>
              </a:rPr>
              <a:t>th</a:t>
            </a:r>
            <a:r>
              <a:rPr lang="en-US" sz="1400" noProof="0" dirty="0">
                <a:solidFill>
                  <a:schemeClr val="tx1"/>
                </a:solidFill>
              </a:rPr>
              <a:t> time step</a:t>
            </a:r>
          </a:p>
          <a:p>
            <a:pPr algn="just">
              <a:spcAft>
                <a:spcPts val="600"/>
              </a:spcAft>
            </a:pPr>
            <a:endParaRPr lang="en-US" sz="1400" noProof="0" dirty="0">
              <a:solidFill>
                <a:schemeClr val="tx1"/>
              </a:solidFill>
            </a:endParaRPr>
          </a:p>
        </p:txBody>
      </p:sp>
      <p:cxnSp>
        <p:nvCxnSpPr>
          <p:cNvPr id="50" name="Gerader Verbinder 49">
            <a:extLst>
              <a:ext uri="{FF2B5EF4-FFF2-40B4-BE49-F238E27FC236}">
                <a16:creationId xmlns:a16="http://schemas.microsoft.com/office/drawing/2014/main" id="{A8F2426B-B179-26EC-E698-70B92E9583A2}"/>
              </a:ext>
            </a:extLst>
          </p:cNvPr>
          <p:cNvCxnSpPr>
            <a:stCxn id="3" idx="0"/>
            <a:endCxn id="3" idx="2"/>
          </p:cNvCxnSpPr>
          <p:nvPr/>
        </p:nvCxnSpPr>
        <p:spPr>
          <a:xfrm>
            <a:off x="5292080" y="1131590"/>
            <a:ext cx="0" cy="3888432"/>
          </a:xfrm>
          <a:prstGeom prst="line">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Tree>
    <p:extLst>
      <p:ext uri="{BB962C8B-B14F-4D97-AF65-F5344CB8AC3E}">
        <p14:creationId xmlns:p14="http://schemas.microsoft.com/office/powerpoint/2010/main" val="1917982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C8435-FB46-374B-BFE5-63E97473B3A8}"/>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F65A922-C0E0-D5A4-ED76-64C6CE91C1E1}"/>
              </a:ext>
            </a:extLst>
          </p:cNvPr>
          <p:cNvSpPr>
            <a:spLocks noGrp="1"/>
          </p:cNvSpPr>
          <p:nvPr>
            <p:ph type="title"/>
          </p:nvPr>
        </p:nvSpPr>
        <p:spPr/>
        <p:txBody>
          <a:bodyPr/>
          <a:lstStyle/>
          <a:p>
            <a:r>
              <a:rPr lang="en-US" noProof="0" dirty="0"/>
              <a:t>To support AI-assisted coding, we use a very modular program structure</a:t>
            </a:r>
          </a:p>
        </p:txBody>
      </p:sp>
      <p:sp>
        <p:nvSpPr>
          <p:cNvPr id="3" name="Rechteck: obere Ecken abgerundet 2">
            <a:extLst>
              <a:ext uri="{FF2B5EF4-FFF2-40B4-BE49-F238E27FC236}">
                <a16:creationId xmlns:a16="http://schemas.microsoft.com/office/drawing/2014/main" id="{4FE8B3FA-1DD8-56EF-4900-8361CF09133E}"/>
              </a:ext>
            </a:extLst>
          </p:cNvPr>
          <p:cNvSpPr/>
          <p:nvPr/>
        </p:nvSpPr>
        <p:spPr>
          <a:xfrm>
            <a:off x="269623" y="1117317"/>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4" name="Rechteck 3">
            <a:extLst>
              <a:ext uri="{FF2B5EF4-FFF2-40B4-BE49-F238E27FC236}">
                <a16:creationId xmlns:a16="http://schemas.microsoft.com/office/drawing/2014/main" id="{3A83F8A2-B585-1E7E-498B-A18674BD3FAF}"/>
              </a:ext>
            </a:extLst>
          </p:cNvPr>
          <p:cNvSpPr/>
          <p:nvPr/>
        </p:nvSpPr>
        <p:spPr>
          <a:xfrm>
            <a:off x="269624" y="1250950"/>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err="1">
                <a:solidFill>
                  <a:schemeClr val="tx1"/>
                </a:solidFill>
              </a:rPr>
              <a:t>inv_species</a:t>
            </a:r>
            <a:r>
              <a:rPr lang="en-US" sz="1200" noProof="0" dirty="0">
                <a:solidFill>
                  <a:schemeClr val="tx1"/>
                </a:solidFill>
              </a:rPr>
              <a:t>/</a:t>
            </a:r>
          </a:p>
        </p:txBody>
      </p:sp>
      <p:sp>
        <p:nvSpPr>
          <p:cNvPr id="60" name="Rechteck 59">
            <a:extLst>
              <a:ext uri="{FF2B5EF4-FFF2-40B4-BE49-F238E27FC236}">
                <a16:creationId xmlns:a16="http://schemas.microsoft.com/office/drawing/2014/main" id="{446DC56D-AEEA-A64D-CF48-AC38EB20F6CB}"/>
              </a:ext>
            </a:extLst>
          </p:cNvPr>
          <p:cNvSpPr/>
          <p:nvPr/>
        </p:nvSpPr>
        <p:spPr>
          <a:xfrm>
            <a:off x="2501872" y="1428022"/>
            <a:ext cx="2502176" cy="401815"/>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script that automatically creates all the folders and files (correct names, but empty)</a:t>
            </a:r>
          </a:p>
        </p:txBody>
      </p:sp>
      <p:sp>
        <p:nvSpPr>
          <p:cNvPr id="61" name="Rechteck 60">
            <a:extLst>
              <a:ext uri="{FF2B5EF4-FFF2-40B4-BE49-F238E27FC236}">
                <a16:creationId xmlns:a16="http://schemas.microsoft.com/office/drawing/2014/main" id="{47202AF6-A9A7-05F8-7FDD-19CEF65F3C5D}"/>
              </a:ext>
            </a:extLst>
          </p:cNvPr>
          <p:cNvSpPr/>
          <p:nvPr/>
        </p:nvSpPr>
        <p:spPr>
          <a:xfrm>
            <a:off x="2501872" y="1139989"/>
            <a:ext cx="2502176"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setup.py</a:t>
            </a:r>
          </a:p>
        </p:txBody>
      </p:sp>
      <p:grpSp>
        <p:nvGrpSpPr>
          <p:cNvPr id="212" name="Gruppieren 211">
            <a:extLst>
              <a:ext uri="{FF2B5EF4-FFF2-40B4-BE49-F238E27FC236}">
                <a16:creationId xmlns:a16="http://schemas.microsoft.com/office/drawing/2014/main" id="{702D0296-88D9-27A0-6764-CCA374E6E5E2}"/>
              </a:ext>
            </a:extLst>
          </p:cNvPr>
          <p:cNvGrpSpPr/>
          <p:nvPr/>
        </p:nvGrpSpPr>
        <p:grpSpPr>
          <a:xfrm>
            <a:off x="683568" y="2361905"/>
            <a:ext cx="1388350" cy="967310"/>
            <a:chOff x="683568" y="2361905"/>
            <a:chExt cx="1388350" cy="967310"/>
          </a:xfrm>
        </p:grpSpPr>
        <p:sp>
          <p:nvSpPr>
            <p:cNvPr id="73" name="Rechteck: obere Ecken abgerundet 72">
              <a:extLst>
                <a:ext uri="{FF2B5EF4-FFF2-40B4-BE49-F238E27FC236}">
                  <a16:creationId xmlns:a16="http://schemas.microsoft.com/office/drawing/2014/main" id="{BF0A5B1D-0890-965B-B8BD-F1E101B51B07}"/>
                </a:ext>
              </a:extLst>
            </p:cNvPr>
            <p:cNvSpPr/>
            <p:nvPr/>
          </p:nvSpPr>
          <p:spPr>
            <a:xfrm>
              <a:off x="683568" y="2361905"/>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74" name="Rechteck 73">
              <a:extLst>
                <a:ext uri="{FF2B5EF4-FFF2-40B4-BE49-F238E27FC236}">
                  <a16:creationId xmlns:a16="http://schemas.microsoft.com/office/drawing/2014/main" id="{23276607-DCDB-498F-5ACE-D5222CAC91CA}"/>
                </a:ext>
              </a:extLst>
            </p:cNvPr>
            <p:cNvSpPr/>
            <p:nvPr/>
          </p:nvSpPr>
          <p:spPr>
            <a:xfrm>
              <a:off x="683569" y="2495538"/>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config/</a:t>
              </a:r>
            </a:p>
          </p:txBody>
        </p:sp>
        <p:sp>
          <p:nvSpPr>
            <p:cNvPr id="75" name="Rechteck 74">
              <a:extLst>
                <a:ext uri="{FF2B5EF4-FFF2-40B4-BE49-F238E27FC236}">
                  <a16:creationId xmlns:a16="http://schemas.microsoft.com/office/drawing/2014/main" id="{0C1C0FD3-C981-2599-39C0-4CC471AFE14A}"/>
                </a:ext>
              </a:extLst>
            </p:cNvPr>
            <p:cNvSpPr/>
            <p:nvPr/>
          </p:nvSpPr>
          <p:spPr>
            <a:xfrm>
              <a:off x="847782" y="3041183"/>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config.py</a:t>
              </a:r>
            </a:p>
          </p:txBody>
        </p:sp>
        <p:sp>
          <p:nvSpPr>
            <p:cNvPr id="76" name="Rechteck 75">
              <a:extLst>
                <a:ext uri="{FF2B5EF4-FFF2-40B4-BE49-F238E27FC236}">
                  <a16:creationId xmlns:a16="http://schemas.microsoft.com/office/drawing/2014/main" id="{A9E7FC56-9D06-0C87-AB77-2F0A3D3C5719}"/>
                </a:ext>
              </a:extLst>
            </p:cNvPr>
            <p:cNvSpPr/>
            <p:nvPr/>
          </p:nvSpPr>
          <p:spPr>
            <a:xfrm>
              <a:off x="683569" y="2803202"/>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77" name="Verbinder: gewinkelt 76">
              <a:extLst>
                <a:ext uri="{FF2B5EF4-FFF2-40B4-BE49-F238E27FC236}">
                  <a16:creationId xmlns:a16="http://schemas.microsoft.com/office/drawing/2014/main" id="{F9C7B63F-9A04-705E-C7F0-5D12FFAB44A1}"/>
                </a:ext>
              </a:extLst>
            </p:cNvPr>
            <p:cNvCxnSpPr>
              <a:cxnSpLocks/>
              <a:stCxn id="76" idx="2"/>
              <a:endCxn id="75" idx="1"/>
            </p:cNvCxnSpPr>
            <p:nvPr/>
          </p:nvCxnSpPr>
          <p:spPr>
            <a:xfrm rot="16200000" flipH="1">
              <a:off x="682548" y="3019964"/>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
        <p:nvSpPr>
          <p:cNvPr id="108" name="Rechteck: obere Ecken abgerundet 107">
            <a:extLst>
              <a:ext uri="{FF2B5EF4-FFF2-40B4-BE49-F238E27FC236}">
                <a16:creationId xmlns:a16="http://schemas.microsoft.com/office/drawing/2014/main" id="{AD48E25A-1FD8-74FD-EA13-6DA2CB329448}"/>
              </a:ext>
            </a:extLst>
          </p:cNvPr>
          <p:cNvSpPr/>
          <p:nvPr/>
        </p:nvSpPr>
        <p:spPr>
          <a:xfrm>
            <a:off x="680532" y="3706740"/>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9" name="Rechteck 108">
            <a:extLst>
              <a:ext uri="{FF2B5EF4-FFF2-40B4-BE49-F238E27FC236}">
                <a16:creationId xmlns:a16="http://schemas.microsoft.com/office/drawing/2014/main" id="{B217A4D7-E02B-5453-4964-008671BFC7D2}"/>
              </a:ext>
            </a:extLst>
          </p:cNvPr>
          <p:cNvSpPr/>
          <p:nvPr/>
        </p:nvSpPr>
        <p:spPr>
          <a:xfrm>
            <a:off x="680533" y="3840373"/>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environment/</a:t>
            </a:r>
          </a:p>
        </p:txBody>
      </p:sp>
      <p:sp>
        <p:nvSpPr>
          <p:cNvPr id="110" name="Rechteck 109">
            <a:extLst>
              <a:ext uri="{FF2B5EF4-FFF2-40B4-BE49-F238E27FC236}">
                <a16:creationId xmlns:a16="http://schemas.microsoft.com/office/drawing/2014/main" id="{2F6B86FB-9AA1-DCEF-2160-BF579F487D66}"/>
              </a:ext>
            </a:extLst>
          </p:cNvPr>
          <p:cNvSpPr/>
          <p:nvPr/>
        </p:nvSpPr>
        <p:spPr>
          <a:xfrm>
            <a:off x="844746" y="438601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habitat.py</a:t>
            </a:r>
          </a:p>
        </p:txBody>
      </p:sp>
      <p:sp>
        <p:nvSpPr>
          <p:cNvPr id="111" name="Rechteck 110">
            <a:extLst>
              <a:ext uri="{FF2B5EF4-FFF2-40B4-BE49-F238E27FC236}">
                <a16:creationId xmlns:a16="http://schemas.microsoft.com/office/drawing/2014/main" id="{46E6FA6A-0AC5-F9DE-272D-53B7DEE2FF6C}"/>
              </a:ext>
            </a:extLst>
          </p:cNvPr>
          <p:cNvSpPr/>
          <p:nvPr/>
        </p:nvSpPr>
        <p:spPr>
          <a:xfrm>
            <a:off x="680533" y="4148037"/>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2" name="Verbinder: gewinkelt 111">
            <a:extLst>
              <a:ext uri="{FF2B5EF4-FFF2-40B4-BE49-F238E27FC236}">
                <a16:creationId xmlns:a16="http://schemas.microsoft.com/office/drawing/2014/main" id="{BAC1FA68-7461-CD10-43F8-2EA68C9880DF}"/>
              </a:ext>
            </a:extLst>
          </p:cNvPr>
          <p:cNvCxnSpPr>
            <a:cxnSpLocks/>
            <a:stCxn id="111" idx="2"/>
            <a:endCxn id="110" idx="1"/>
          </p:cNvCxnSpPr>
          <p:nvPr/>
        </p:nvCxnSpPr>
        <p:spPr>
          <a:xfrm rot="16200000" flipH="1">
            <a:off x="679512" y="4364799"/>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13" name="Rechteck 112">
            <a:extLst>
              <a:ext uri="{FF2B5EF4-FFF2-40B4-BE49-F238E27FC236}">
                <a16:creationId xmlns:a16="http://schemas.microsoft.com/office/drawing/2014/main" id="{F792320C-7120-EDA4-8AAF-3450220FEF4A}"/>
              </a:ext>
            </a:extLst>
          </p:cNvPr>
          <p:cNvSpPr/>
          <p:nvPr/>
        </p:nvSpPr>
        <p:spPr>
          <a:xfrm>
            <a:off x="844746" y="473199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lattice.py</a:t>
            </a:r>
          </a:p>
        </p:txBody>
      </p:sp>
      <p:cxnSp>
        <p:nvCxnSpPr>
          <p:cNvPr id="114" name="Verbinder: gewinkelt 113">
            <a:extLst>
              <a:ext uri="{FF2B5EF4-FFF2-40B4-BE49-F238E27FC236}">
                <a16:creationId xmlns:a16="http://schemas.microsoft.com/office/drawing/2014/main" id="{2E6BAC70-155C-05F4-9A45-6BEFA6E051B6}"/>
              </a:ext>
            </a:extLst>
          </p:cNvPr>
          <p:cNvCxnSpPr>
            <a:cxnSpLocks/>
            <a:stCxn id="111" idx="2"/>
            <a:endCxn id="113" idx="1"/>
          </p:cNvCxnSpPr>
          <p:nvPr/>
        </p:nvCxnSpPr>
        <p:spPr>
          <a:xfrm rot="16200000" flipH="1">
            <a:off x="506526" y="4537785"/>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15" name="Rechteck 114">
            <a:extLst>
              <a:ext uri="{FF2B5EF4-FFF2-40B4-BE49-F238E27FC236}">
                <a16:creationId xmlns:a16="http://schemas.microsoft.com/office/drawing/2014/main" id="{9B821C64-9AE3-C656-0634-B1DB31EE15F7}"/>
              </a:ext>
            </a:extLst>
          </p:cNvPr>
          <p:cNvSpPr/>
          <p:nvPr/>
        </p:nvSpPr>
        <p:spPr>
          <a:xfrm>
            <a:off x="279656" y="1563638"/>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17" name="Verbinder: gewinkelt 116">
            <a:extLst>
              <a:ext uri="{FF2B5EF4-FFF2-40B4-BE49-F238E27FC236}">
                <a16:creationId xmlns:a16="http://schemas.microsoft.com/office/drawing/2014/main" id="{333FEB02-A2E9-765A-D89E-12EDBDC86635}"/>
              </a:ext>
            </a:extLst>
          </p:cNvPr>
          <p:cNvCxnSpPr>
            <a:cxnSpLocks/>
            <a:stCxn id="115" idx="2"/>
            <a:endCxn id="74" idx="1"/>
          </p:cNvCxnSpPr>
          <p:nvPr/>
        </p:nvCxnSpPr>
        <p:spPr>
          <a:xfrm rot="16200000" flipH="1">
            <a:off x="13213" y="2045822"/>
            <a:ext cx="1018906" cy="3218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20" name="Verbinder: gewinkelt 119">
            <a:extLst>
              <a:ext uri="{FF2B5EF4-FFF2-40B4-BE49-F238E27FC236}">
                <a16:creationId xmlns:a16="http://schemas.microsoft.com/office/drawing/2014/main" id="{B3A009DD-DF80-0EE9-1149-DEEC8AC72BA7}"/>
              </a:ext>
            </a:extLst>
          </p:cNvPr>
          <p:cNvCxnSpPr>
            <a:cxnSpLocks/>
            <a:stCxn id="115" idx="2"/>
            <a:endCxn id="109" idx="1"/>
          </p:cNvCxnSpPr>
          <p:nvPr/>
        </p:nvCxnSpPr>
        <p:spPr>
          <a:xfrm rot="16200000" flipH="1">
            <a:off x="-660722" y="2719757"/>
            <a:ext cx="2363741" cy="318770"/>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23" name="Rechteck 122">
            <a:extLst>
              <a:ext uri="{FF2B5EF4-FFF2-40B4-BE49-F238E27FC236}">
                <a16:creationId xmlns:a16="http://schemas.microsoft.com/office/drawing/2014/main" id="{72BB43A1-99EE-5A36-0588-130A80882BC5}"/>
              </a:ext>
            </a:extLst>
          </p:cNvPr>
          <p:cNvSpPr/>
          <p:nvPr/>
        </p:nvSpPr>
        <p:spPr>
          <a:xfrm>
            <a:off x="683568" y="1779662"/>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main.py</a:t>
            </a:r>
          </a:p>
        </p:txBody>
      </p:sp>
      <p:cxnSp>
        <p:nvCxnSpPr>
          <p:cNvPr id="124" name="Verbinder: gewinkelt 123">
            <a:extLst>
              <a:ext uri="{FF2B5EF4-FFF2-40B4-BE49-F238E27FC236}">
                <a16:creationId xmlns:a16="http://schemas.microsoft.com/office/drawing/2014/main" id="{CDE6BC7B-52EC-AD51-450B-C419953D3A1B}"/>
              </a:ext>
            </a:extLst>
          </p:cNvPr>
          <p:cNvCxnSpPr>
            <a:cxnSpLocks/>
            <a:stCxn id="123" idx="1"/>
            <a:endCxn id="115" idx="2"/>
          </p:cNvCxnSpPr>
          <p:nvPr/>
        </p:nvCxnSpPr>
        <p:spPr>
          <a:xfrm rot="10800000">
            <a:off x="361764" y="1697272"/>
            <a:ext cx="321805" cy="2264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nvGrpSpPr>
          <p:cNvPr id="207" name="Gruppieren 206">
            <a:extLst>
              <a:ext uri="{FF2B5EF4-FFF2-40B4-BE49-F238E27FC236}">
                <a16:creationId xmlns:a16="http://schemas.microsoft.com/office/drawing/2014/main" id="{9247BF68-256E-7188-0AD3-268BD371BAA8}"/>
              </a:ext>
            </a:extLst>
          </p:cNvPr>
          <p:cNvGrpSpPr/>
          <p:nvPr/>
        </p:nvGrpSpPr>
        <p:grpSpPr>
          <a:xfrm>
            <a:off x="7504130" y="1692099"/>
            <a:ext cx="1388350" cy="3327923"/>
            <a:chOff x="7504130" y="1692099"/>
            <a:chExt cx="1388350" cy="3327923"/>
          </a:xfrm>
        </p:grpSpPr>
        <p:sp>
          <p:nvSpPr>
            <p:cNvPr id="87" name="Rechteck: obere Ecken abgerundet 86">
              <a:extLst>
                <a:ext uri="{FF2B5EF4-FFF2-40B4-BE49-F238E27FC236}">
                  <a16:creationId xmlns:a16="http://schemas.microsoft.com/office/drawing/2014/main" id="{2AA20781-D609-139B-7CAE-FF15F649EC29}"/>
                </a:ext>
              </a:extLst>
            </p:cNvPr>
            <p:cNvSpPr/>
            <p:nvPr/>
          </p:nvSpPr>
          <p:spPr>
            <a:xfrm>
              <a:off x="7504130" y="1692099"/>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8" name="Rechteck 87">
              <a:extLst>
                <a:ext uri="{FF2B5EF4-FFF2-40B4-BE49-F238E27FC236}">
                  <a16:creationId xmlns:a16="http://schemas.microsoft.com/office/drawing/2014/main" id="{0EE5ACC9-7566-6CC0-FCF5-F2130B7183AB}"/>
                </a:ext>
              </a:extLst>
            </p:cNvPr>
            <p:cNvSpPr/>
            <p:nvPr/>
          </p:nvSpPr>
          <p:spPr>
            <a:xfrm>
              <a:off x="7504131" y="1825732"/>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core/</a:t>
              </a:r>
            </a:p>
          </p:txBody>
        </p:sp>
        <p:sp>
          <p:nvSpPr>
            <p:cNvPr id="89" name="Rechteck 88">
              <a:extLst>
                <a:ext uri="{FF2B5EF4-FFF2-40B4-BE49-F238E27FC236}">
                  <a16:creationId xmlns:a16="http://schemas.microsoft.com/office/drawing/2014/main" id="{27FBFB12-8366-2526-7CA7-7630B4740A2E}"/>
                </a:ext>
              </a:extLst>
            </p:cNvPr>
            <p:cNvSpPr/>
            <p:nvPr/>
          </p:nvSpPr>
          <p:spPr>
            <a:xfrm>
              <a:off x="7668344" y="2371377"/>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initializer.py</a:t>
              </a:r>
            </a:p>
          </p:txBody>
        </p:sp>
        <p:sp>
          <p:nvSpPr>
            <p:cNvPr id="90" name="Rechteck 89">
              <a:extLst>
                <a:ext uri="{FF2B5EF4-FFF2-40B4-BE49-F238E27FC236}">
                  <a16:creationId xmlns:a16="http://schemas.microsoft.com/office/drawing/2014/main" id="{FFFE898E-2FD3-9113-C11C-3E2E494192A1}"/>
                </a:ext>
              </a:extLst>
            </p:cNvPr>
            <p:cNvSpPr/>
            <p:nvPr/>
          </p:nvSpPr>
          <p:spPr>
            <a:xfrm>
              <a:off x="7504131" y="2133396"/>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1" name="Verbinder: gewinkelt 90">
              <a:extLst>
                <a:ext uri="{FF2B5EF4-FFF2-40B4-BE49-F238E27FC236}">
                  <a16:creationId xmlns:a16="http://schemas.microsoft.com/office/drawing/2014/main" id="{61C73616-FC8C-8CBB-CD4A-F8FB8CE7D27A}"/>
                </a:ext>
              </a:extLst>
            </p:cNvPr>
            <p:cNvCxnSpPr>
              <a:cxnSpLocks/>
              <a:stCxn id="90" idx="2"/>
              <a:endCxn id="89" idx="1"/>
            </p:cNvCxnSpPr>
            <p:nvPr/>
          </p:nvCxnSpPr>
          <p:spPr>
            <a:xfrm rot="16200000" flipH="1">
              <a:off x="7503110" y="2350158"/>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92" name="Rechteck 91">
              <a:extLst>
                <a:ext uri="{FF2B5EF4-FFF2-40B4-BE49-F238E27FC236}">
                  <a16:creationId xmlns:a16="http://schemas.microsoft.com/office/drawing/2014/main" id="{03144711-19B3-BFA3-4035-9E87CC5D9C87}"/>
                </a:ext>
              </a:extLst>
            </p:cNvPr>
            <p:cNvSpPr/>
            <p:nvPr/>
          </p:nvSpPr>
          <p:spPr>
            <a:xfrm>
              <a:off x="7668344" y="271734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movement.py</a:t>
              </a:r>
            </a:p>
          </p:txBody>
        </p:sp>
        <p:cxnSp>
          <p:nvCxnSpPr>
            <p:cNvPr id="93" name="Verbinder: gewinkelt 92">
              <a:extLst>
                <a:ext uri="{FF2B5EF4-FFF2-40B4-BE49-F238E27FC236}">
                  <a16:creationId xmlns:a16="http://schemas.microsoft.com/office/drawing/2014/main" id="{D08A2706-6FEA-C4F7-84C1-27D62BB026F3}"/>
                </a:ext>
              </a:extLst>
            </p:cNvPr>
            <p:cNvCxnSpPr>
              <a:cxnSpLocks/>
              <a:stCxn id="90" idx="2"/>
              <a:endCxn id="92" idx="1"/>
            </p:cNvCxnSpPr>
            <p:nvPr/>
          </p:nvCxnSpPr>
          <p:spPr>
            <a:xfrm rot="16200000" flipH="1">
              <a:off x="7330124" y="2523144"/>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44" name="Rechteck 143">
              <a:extLst>
                <a:ext uri="{FF2B5EF4-FFF2-40B4-BE49-F238E27FC236}">
                  <a16:creationId xmlns:a16="http://schemas.microsoft.com/office/drawing/2014/main" id="{8855C849-F796-C524-D377-B796A3E1946E}"/>
                </a:ext>
              </a:extLst>
            </p:cNvPr>
            <p:cNvSpPr/>
            <p:nvPr/>
          </p:nvSpPr>
          <p:spPr>
            <a:xfrm>
              <a:off x="7668344" y="3727373"/>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mortality.py</a:t>
              </a:r>
            </a:p>
          </p:txBody>
        </p:sp>
        <p:sp>
          <p:nvSpPr>
            <p:cNvPr id="145" name="Rechteck 144">
              <a:extLst>
                <a:ext uri="{FF2B5EF4-FFF2-40B4-BE49-F238E27FC236}">
                  <a16:creationId xmlns:a16="http://schemas.microsoft.com/office/drawing/2014/main" id="{52703EA7-0A51-E9D5-454B-13A06A531056}"/>
                </a:ext>
              </a:extLst>
            </p:cNvPr>
            <p:cNvSpPr/>
            <p:nvPr/>
          </p:nvSpPr>
          <p:spPr>
            <a:xfrm>
              <a:off x="7668344" y="3060251"/>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noProof="0" dirty="0">
                  <a:solidFill>
                    <a:schemeClr val="tx1"/>
                  </a:solidFill>
                </a:rPr>
                <a:t>interactions.py</a:t>
              </a:r>
            </a:p>
          </p:txBody>
        </p:sp>
        <p:sp>
          <p:nvSpPr>
            <p:cNvPr id="146" name="Rechteck 145">
              <a:extLst>
                <a:ext uri="{FF2B5EF4-FFF2-40B4-BE49-F238E27FC236}">
                  <a16:creationId xmlns:a16="http://schemas.microsoft.com/office/drawing/2014/main" id="{CD763E36-6945-9B7C-53C6-8F5FA2747A76}"/>
                </a:ext>
              </a:extLst>
            </p:cNvPr>
            <p:cNvSpPr/>
            <p:nvPr/>
          </p:nvSpPr>
          <p:spPr>
            <a:xfrm>
              <a:off x="7668344" y="3392562"/>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reproduction.py</a:t>
              </a:r>
            </a:p>
          </p:txBody>
        </p:sp>
        <p:sp>
          <p:nvSpPr>
            <p:cNvPr id="147" name="Rechteck 146">
              <a:extLst>
                <a:ext uri="{FF2B5EF4-FFF2-40B4-BE49-F238E27FC236}">
                  <a16:creationId xmlns:a16="http://schemas.microsoft.com/office/drawing/2014/main" id="{45AEEE27-B2BD-1F4D-84D2-1F84AEFB579D}"/>
                </a:ext>
              </a:extLst>
            </p:cNvPr>
            <p:cNvSpPr/>
            <p:nvPr/>
          </p:nvSpPr>
          <p:spPr>
            <a:xfrm>
              <a:off x="7668344" y="4062184"/>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noProof="0" dirty="0">
                  <a:solidFill>
                    <a:schemeClr val="tx1"/>
                  </a:solidFill>
                </a:rPr>
                <a:t>carying_capacity.py</a:t>
              </a:r>
            </a:p>
          </p:txBody>
        </p:sp>
        <p:sp>
          <p:nvSpPr>
            <p:cNvPr id="148" name="Rechteck 147">
              <a:extLst>
                <a:ext uri="{FF2B5EF4-FFF2-40B4-BE49-F238E27FC236}">
                  <a16:creationId xmlns:a16="http://schemas.microsoft.com/office/drawing/2014/main" id="{749DCC3E-5C77-760A-E1B5-F25F7E0EBC86}"/>
                </a:ext>
              </a:extLst>
            </p:cNvPr>
            <p:cNvSpPr/>
            <p:nvPr/>
          </p:nvSpPr>
          <p:spPr>
            <a:xfrm>
              <a:off x="7664332" y="439717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scheduler.py</a:t>
              </a:r>
            </a:p>
          </p:txBody>
        </p:sp>
        <p:sp>
          <p:nvSpPr>
            <p:cNvPr id="149" name="Rechteck 148">
              <a:extLst>
                <a:ext uri="{FF2B5EF4-FFF2-40B4-BE49-F238E27FC236}">
                  <a16:creationId xmlns:a16="http://schemas.microsoft.com/office/drawing/2014/main" id="{789F0C09-CC5C-649D-2401-7D6702B2ACD5}"/>
                </a:ext>
              </a:extLst>
            </p:cNvPr>
            <p:cNvSpPr/>
            <p:nvPr/>
          </p:nvSpPr>
          <p:spPr>
            <a:xfrm>
              <a:off x="7664332" y="473199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simulation.py</a:t>
              </a:r>
            </a:p>
          </p:txBody>
        </p:sp>
        <p:cxnSp>
          <p:nvCxnSpPr>
            <p:cNvPr id="150" name="Verbinder: gewinkelt 149">
              <a:extLst>
                <a:ext uri="{FF2B5EF4-FFF2-40B4-BE49-F238E27FC236}">
                  <a16:creationId xmlns:a16="http://schemas.microsoft.com/office/drawing/2014/main" id="{650FBCF0-7BBA-89CF-85A4-63C5CBF3F038}"/>
                </a:ext>
              </a:extLst>
            </p:cNvPr>
            <p:cNvCxnSpPr>
              <a:cxnSpLocks/>
              <a:stCxn id="90" idx="2"/>
              <a:endCxn id="145" idx="1"/>
            </p:cNvCxnSpPr>
            <p:nvPr/>
          </p:nvCxnSpPr>
          <p:spPr>
            <a:xfrm rot="16200000" flipH="1">
              <a:off x="7158673" y="2694595"/>
              <a:ext cx="937237"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1" name="Verbinder: gewinkelt 150">
              <a:extLst>
                <a:ext uri="{FF2B5EF4-FFF2-40B4-BE49-F238E27FC236}">
                  <a16:creationId xmlns:a16="http://schemas.microsoft.com/office/drawing/2014/main" id="{96C8677E-69EF-A3C3-6AA4-E2CB7D253470}"/>
                </a:ext>
              </a:extLst>
            </p:cNvPr>
            <p:cNvCxnSpPr>
              <a:cxnSpLocks/>
              <a:stCxn id="90" idx="2"/>
              <a:endCxn id="144" idx="1"/>
            </p:cNvCxnSpPr>
            <p:nvPr/>
          </p:nvCxnSpPr>
          <p:spPr>
            <a:xfrm rot="16200000" flipH="1">
              <a:off x="6825112" y="3028156"/>
              <a:ext cx="1604359"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2" name="Verbinder: gewinkelt 151">
              <a:extLst>
                <a:ext uri="{FF2B5EF4-FFF2-40B4-BE49-F238E27FC236}">
                  <a16:creationId xmlns:a16="http://schemas.microsoft.com/office/drawing/2014/main" id="{A98C95DA-B57D-435E-4156-399826E668A5}"/>
                </a:ext>
              </a:extLst>
            </p:cNvPr>
            <p:cNvCxnSpPr>
              <a:cxnSpLocks/>
              <a:stCxn id="90" idx="2"/>
              <a:endCxn id="147" idx="1"/>
            </p:cNvCxnSpPr>
            <p:nvPr/>
          </p:nvCxnSpPr>
          <p:spPr>
            <a:xfrm rot="16200000" flipH="1">
              <a:off x="6657706" y="3195562"/>
              <a:ext cx="1939170"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3" name="Verbinder: gewinkelt 152">
              <a:extLst>
                <a:ext uri="{FF2B5EF4-FFF2-40B4-BE49-F238E27FC236}">
                  <a16:creationId xmlns:a16="http://schemas.microsoft.com/office/drawing/2014/main" id="{12B1778F-EBDF-9E71-2C3A-68ADC53E3117}"/>
                </a:ext>
              </a:extLst>
            </p:cNvPr>
            <p:cNvCxnSpPr>
              <a:cxnSpLocks/>
              <a:stCxn id="90" idx="2"/>
              <a:endCxn id="148" idx="1"/>
            </p:cNvCxnSpPr>
            <p:nvPr/>
          </p:nvCxnSpPr>
          <p:spPr>
            <a:xfrm rot="16200000" flipH="1">
              <a:off x="6488203" y="3365065"/>
              <a:ext cx="2274165" cy="780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54" name="Verbinder: gewinkelt 153">
              <a:extLst>
                <a:ext uri="{FF2B5EF4-FFF2-40B4-BE49-F238E27FC236}">
                  <a16:creationId xmlns:a16="http://schemas.microsoft.com/office/drawing/2014/main" id="{9BE80411-A855-FADE-88AB-AE0C466006BA}"/>
                </a:ext>
              </a:extLst>
            </p:cNvPr>
            <p:cNvCxnSpPr>
              <a:cxnSpLocks/>
              <a:stCxn id="90" idx="2"/>
              <a:endCxn id="149" idx="1"/>
            </p:cNvCxnSpPr>
            <p:nvPr/>
          </p:nvCxnSpPr>
          <p:spPr>
            <a:xfrm rot="16200000" flipH="1">
              <a:off x="6320797" y="3532471"/>
              <a:ext cx="2608976" cy="780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66" name="Verbinder: gewinkelt 165">
              <a:extLst>
                <a:ext uri="{FF2B5EF4-FFF2-40B4-BE49-F238E27FC236}">
                  <a16:creationId xmlns:a16="http://schemas.microsoft.com/office/drawing/2014/main" id="{8E529FEA-1FF6-6DDC-4AAD-496B537F295E}"/>
                </a:ext>
              </a:extLst>
            </p:cNvPr>
            <p:cNvCxnSpPr>
              <a:cxnSpLocks/>
              <a:stCxn id="90" idx="2"/>
              <a:endCxn id="146" idx="1"/>
            </p:cNvCxnSpPr>
            <p:nvPr/>
          </p:nvCxnSpPr>
          <p:spPr>
            <a:xfrm rot="16200000" flipH="1">
              <a:off x="6992517" y="2860751"/>
              <a:ext cx="1269548"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cxnSp>
        <p:nvCxnSpPr>
          <p:cNvPr id="189" name="Verbinder: gewinkelt 188">
            <a:extLst>
              <a:ext uri="{FF2B5EF4-FFF2-40B4-BE49-F238E27FC236}">
                <a16:creationId xmlns:a16="http://schemas.microsoft.com/office/drawing/2014/main" id="{0A5B52C2-16F6-6939-3E89-F2BCDB350801}"/>
              </a:ext>
            </a:extLst>
          </p:cNvPr>
          <p:cNvCxnSpPr>
            <a:cxnSpLocks/>
            <a:stCxn id="90" idx="1"/>
            <a:endCxn id="115" idx="2"/>
          </p:cNvCxnSpPr>
          <p:nvPr/>
        </p:nvCxnSpPr>
        <p:spPr>
          <a:xfrm rot="10800000">
            <a:off x="361763" y="1697273"/>
            <a:ext cx="7142368" cy="502941"/>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nvGrpSpPr>
          <p:cNvPr id="206" name="Gruppieren 205">
            <a:extLst>
              <a:ext uri="{FF2B5EF4-FFF2-40B4-BE49-F238E27FC236}">
                <a16:creationId xmlns:a16="http://schemas.microsoft.com/office/drawing/2014/main" id="{FAB9B8E6-8087-509D-FD55-B784F7C1FB1B}"/>
              </a:ext>
            </a:extLst>
          </p:cNvPr>
          <p:cNvGrpSpPr/>
          <p:nvPr/>
        </p:nvGrpSpPr>
        <p:grpSpPr>
          <a:xfrm>
            <a:off x="5764494" y="2200215"/>
            <a:ext cx="1584177" cy="2819807"/>
            <a:chOff x="5724127" y="2200215"/>
            <a:chExt cx="1584177" cy="2819807"/>
          </a:xfrm>
        </p:grpSpPr>
        <p:sp>
          <p:nvSpPr>
            <p:cNvPr id="101" name="Rechteck: obere Ecken abgerundet 100">
              <a:extLst>
                <a:ext uri="{FF2B5EF4-FFF2-40B4-BE49-F238E27FC236}">
                  <a16:creationId xmlns:a16="http://schemas.microsoft.com/office/drawing/2014/main" id="{C2B61625-2F0F-7C5C-2DD7-0708CF7FADBA}"/>
                </a:ext>
              </a:extLst>
            </p:cNvPr>
            <p:cNvSpPr/>
            <p:nvPr/>
          </p:nvSpPr>
          <p:spPr>
            <a:xfrm>
              <a:off x="5919954" y="2361905"/>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02" name="Rechteck 101">
              <a:extLst>
                <a:ext uri="{FF2B5EF4-FFF2-40B4-BE49-F238E27FC236}">
                  <a16:creationId xmlns:a16="http://schemas.microsoft.com/office/drawing/2014/main" id="{20325546-37DF-95DA-73B6-DBCC6CEAB4E9}"/>
                </a:ext>
              </a:extLst>
            </p:cNvPr>
            <p:cNvSpPr/>
            <p:nvPr/>
          </p:nvSpPr>
          <p:spPr>
            <a:xfrm>
              <a:off x="5919955" y="2495538"/>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utils/</a:t>
              </a:r>
            </a:p>
          </p:txBody>
        </p:sp>
        <p:sp>
          <p:nvSpPr>
            <p:cNvPr id="103" name="Rechteck 102">
              <a:extLst>
                <a:ext uri="{FF2B5EF4-FFF2-40B4-BE49-F238E27FC236}">
                  <a16:creationId xmlns:a16="http://schemas.microsoft.com/office/drawing/2014/main" id="{73BFE318-95E2-5DCC-A007-60598DE2D23B}"/>
                </a:ext>
              </a:extLst>
            </p:cNvPr>
            <p:cNvSpPr/>
            <p:nvPr/>
          </p:nvSpPr>
          <p:spPr>
            <a:xfrm>
              <a:off x="6084168" y="3041183"/>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rng_utils.py</a:t>
              </a:r>
            </a:p>
          </p:txBody>
        </p:sp>
        <p:sp>
          <p:nvSpPr>
            <p:cNvPr id="104" name="Rechteck 103">
              <a:extLst>
                <a:ext uri="{FF2B5EF4-FFF2-40B4-BE49-F238E27FC236}">
                  <a16:creationId xmlns:a16="http://schemas.microsoft.com/office/drawing/2014/main" id="{07368B98-5D2B-A181-3807-4D8830B2D851}"/>
                </a:ext>
              </a:extLst>
            </p:cNvPr>
            <p:cNvSpPr/>
            <p:nvPr/>
          </p:nvSpPr>
          <p:spPr>
            <a:xfrm>
              <a:off x="5919955" y="2803202"/>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05" name="Verbinder: gewinkelt 104">
              <a:extLst>
                <a:ext uri="{FF2B5EF4-FFF2-40B4-BE49-F238E27FC236}">
                  <a16:creationId xmlns:a16="http://schemas.microsoft.com/office/drawing/2014/main" id="{4D2B4271-E070-F473-5651-66A0EBC34364}"/>
                </a:ext>
              </a:extLst>
            </p:cNvPr>
            <p:cNvCxnSpPr>
              <a:cxnSpLocks/>
              <a:stCxn id="104" idx="2"/>
              <a:endCxn id="103" idx="1"/>
            </p:cNvCxnSpPr>
            <p:nvPr/>
          </p:nvCxnSpPr>
          <p:spPr>
            <a:xfrm rot="16200000" flipH="1">
              <a:off x="5918934" y="3019964"/>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06" name="Rechteck 105">
              <a:extLst>
                <a:ext uri="{FF2B5EF4-FFF2-40B4-BE49-F238E27FC236}">
                  <a16:creationId xmlns:a16="http://schemas.microsoft.com/office/drawing/2014/main" id="{B231FA55-3F09-4961-82E3-BFB4F95CAC0C}"/>
                </a:ext>
              </a:extLst>
            </p:cNvPr>
            <p:cNvSpPr/>
            <p:nvPr/>
          </p:nvSpPr>
          <p:spPr>
            <a:xfrm>
              <a:off x="6084168" y="3387155"/>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torus.py</a:t>
              </a:r>
            </a:p>
          </p:txBody>
        </p:sp>
        <p:cxnSp>
          <p:nvCxnSpPr>
            <p:cNvPr id="107" name="Verbinder: gewinkelt 106">
              <a:extLst>
                <a:ext uri="{FF2B5EF4-FFF2-40B4-BE49-F238E27FC236}">
                  <a16:creationId xmlns:a16="http://schemas.microsoft.com/office/drawing/2014/main" id="{1264C6CE-BE5A-23A9-9AAA-ED52169954C2}"/>
                </a:ext>
              </a:extLst>
            </p:cNvPr>
            <p:cNvCxnSpPr>
              <a:cxnSpLocks/>
              <a:stCxn id="104" idx="2"/>
              <a:endCxn id="106" idx="1"/>
            </p:cNvCxnSpPr>
            <p:nvPr/>
          </p:nvCxnSpPr>
          <p:spPr>
            <a:xfrm rot="16200000" flipH="1">
              <a:off x="5745948" y="3192950"/>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73" name="Rechteck 172">
              <a:extLst>
                <a:ext uri="{FF2B5EF4-FFF2-40B4-BE49-F238E27FC236}">
                  <a16:creationId xmlns:a16="http://schemas.microsoft.com/office/drawing/2014/main" id="{9DDBBA3F-9A1C-47D2-9070-EA47ECDDC51F}"/>
                </a:ext>
              </a:extLst>
            </p:cNvPr>
            <p:cNvSpPr/>
            <p:nvPr/>
          </p:nvSpPr>
          <p:spPr>
            <a:xfrm>
              <a:off x="6084168" y="373876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validaton.py</a:t>
              </a:r>
            </a:p>
          </p:txBody>
        </p:sp>
        <p:cxnSp>
          <p:nvCxnSpPr>
            <p:cNvPr id="175" name="Verbinder: gewinkelt 174">
              <a:extLst>
                <a:ext uri="{FF2B5EF4-FFF2-40B4-BE49-F238E27FC236}">
                  <a16:creationId xmlns:a16="http://schemas.microsoft.com/office/drawing/2014/main" id="{73A9C425-1A20-8834-5052-415562CFD502}"/>
                </a:ext>
              </a:extLst>
            </p:cNvPr>
            <p:cNvCxnSpPr>
              <a:cxnSpLocks/>
              <a:stCxn id="104" idx="2"/>
              <a:endCxn id="173" idx="1"/>
            </p:cNvCxnSpPr>
            <p:nvPr/>
          </p:nvCxnSpPr>
          <p:spPr>
            <a:xfrm rot="16200000" flipH="1">
              <a:off x="5570141" y="3368757"/>
              <a:ext cx="945949"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93" name="Rechteck: obere Ecken abgerundet 192">
              <a:extLst>
                <a:ext uri="{FF2B5EF4-FFF2-40B4-BE49-F238E27FC236}">
                  <a16:creationId xmlns:a16="http://schemas.microsoft.com/office/drawing/2014/main" id="{60EFBD39-99EE-B5C4-5BC1-066498742224}"/>
                </a:ext>
              </a:extLst>
            </p:cNvPr>
            <p:cNvSpPr/>
            <p:nvPr/>
          </p:nvSpPr>
          <p:spPr>
            <a:xfrm>
              <a:off x="5919953" y="4445091"/>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94" name="Rechteck 193">
              <a:extLst>
                <a:ext uri="{FF2B5EF4-FFF2-40B4-BE49-F238E27FC236}">
                  <a16:creationId xmlns:a16="http://schemas.microsoft.com/office/drawing/2014/main" id="{B0E321DC-1EB5-D39C-31FB-01235FFEF16F}"/>
                </a:ext>
              </a:extLst>
            </p:cNvPr>
            <p:cNvSpPr/>
            <p:nvPr/>
          </p:nvSpPr>
          <p:spPr>
            <a:xfrm>
              <a:off x="5919954" y="4578724"/>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tests/</a:t>
              </a:r>
            </a:p>
          </p:txBody>
        </p:sp>
        <p:sp>
          <p:nvSpPr>
            <p:cNvPr id="195" name="Rechteck 194">
              <a:extLst>
                <a:ext uri="{FF2B5EF4-FFF2-40B4-BE49-F238E27FC236}">
                  <a16:creationId xmlns:a16="http://schemas.microsoft.com/office/drawing/2014/main" id="{A381C19F-904A-2412-AC05-B16A5E9EF2A8}"/>
                </a:ext>
              </a:extLst>
            </p:cNvPr>
            <p:cNvSpPr/>
            <p:nvPr/>
          </p:nvSpPr>
          <p:spPr>
            <a:xfrm>
              <a:off x="5919954" y="4886388"/>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197" name="Gerader Verbinder 196">
              <a:extLst>
                <a:ext uri="{FF2B5EF4-FFF2-40B4-BE49-F238E27FC236}">
                  <a16:creationId xmlns:a16="http://schemas.microsoft.com/office/drawing/2014/main" id="{F63A647A-9E16-96AD-B0FE-6604C592AF72}"/>
                </a:ext>
              </a:extLst>
            </p:cNvPr>
            <p:cNvCxnSpPr>
              <a:cxnSpLocks/>
            </p:cNvCxnSpPr>
            <p:nvPr/>
          </p:nvCxnSpPr>
          <p:spPr>
            <a:xfrm flipH="1">
              <a:off x="5724128" y="2716178"/>
              <a:ext cx="195827"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98" name="Gerader Verbinder 197">
              <a:extLst>
                <a:ext uri="{FF2B5EF4-FFF2-40B4-BE49-F238E27FC236}">
                  <a16:creationId xmlns:a16="http://schemas.microsoft.com/office/drawing/2014/main" id="{3C4A9634-2B84-1A48-4B10-B1787C11CDBF}"/>
                </a:ext>
              </a:extLst>
            </p:cNvPr>
            <p:cNvCxnSpPr>
              <a:cxnSpLocks/>
              <a:stCxn id="194" idx="1"/>
            </p:cNvCxnSpPr>
            <p:nvPr/>
          </p:nvCxnSpPr>
          <p:spPr>
            <a:xfrm flipH="1">
              <a:off x="5724127" y="4799364"/>
              <a:ext cx="195827" cy="4634"/>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0" name="Gerader Verbinder 199">
              <a:extLst>
                <a:ext uri="{FF2B5EF4-FFF2-40B4-BE49-F238E27FC236}">
                  <a16:creationId xmlns:a16="http://schemas.microsoft.com/office/drawing/2014/main" id="{7125736C-A599-B181-B332-E16ABABB491E}"/>
                </a:ext>
              </a:extLst>
            </p:cNvPr>
            <p:cNvCxnSpPr>
              <a:cxnSpLocks/>
            </p:cNvCxnSpPr>
            <p:nvPr/>
          </p:nvCxnSpPr>
          <p:spPr>
            <a:xfrm>
              <a:off x="5724128" y="2200215"/>
              <a:ext cx="0" cy="2603783"/>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210" name="Gruppieren 209">
            <a:extLst>
              <a:ext uri="{FF2B5EF4-FFF2-40B4-BE49-F238E27FC236}">
                <a16:creationId xmlns:a16="http://schemas.microsoft.com/office/drawing/2014/main" id="{15718285-A852-DD45-3CCD-211D188C371B}"/>
              </a:ext>
            </a:extLst>
          </p:cNvPr>
          <p:cNvGrpSpPr/>
          <p:nvPr/>
        </p:nvGrpSpPr>
        <p:grpSpPr>
          <a:xfrm>
            <a:off x="4015772" y="2200215"/>
            <a:ext cx="1593264" cy="2172558"/>
            <a:chOff x="3795410" y="2200215"/>
            <a:chExt cx="1593264" cy="2172558"/>
          </a:xfrm>
        </p:grpSpPr>
        <p:sp>
          <p:nvSpPr>
            <p:cNvPr id="94" name="Rechteck: obere Ecken abgerundet 93">
              <a:extLst>
                <a:ext uri="{FF2B5EF4-FFF2-40B4-BE49-F238E27FC236}">
                  <a16:creationId xmlns:a16="http://schemas.microsoft.com/office/drawing/2014/main" id="{F00F5AB0-E1C7-16CC-3C75-0ECEBAC190D0}"/>
                </a:ext>
              </a:extLst>
            </p:cNvPr>
            <p:cNvSpPr/>
            <p:nvPr/>
          </p:nvSpPr>
          <p:spPr>
            <a:xfrm>
              <a:off x="3995935" y="2361905"/>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95" name="Rechteck 94">
              <a:extLst>
                <a:ext uri="{FF2B5EF4-FFF2-40B4-BE49-F238E27FC236}">
                  <a16:creationId xmlns:a16="http://schemas.microsoft.com/office/drawing/2014/main" id="{FDFFA511-2D0C-B562-B467-6EE85FDD47F5}"/>
                </a:ext>
              </a:extLst>
            </p:cNvPr>
            <p:cNvSpPr/>
            <p:nvPr/>
          </p:nvSpPr>
          <p:spPr>
            <a:xfrm>
              <a:off x="3995936" y="2495538"/>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output/</a:t>
              </a:r>
            </a:p>
          </p:txBody>
        </p:sp>
        <p:sp>
          <p:nvSpPr>
            <p:cNvPr id="96" name="Rechteck 95">
              <a:extLst>
                <a:ext uri="{FF2B5EF4-FFF2-40B4-BE49-F238E27FC236}">
                  <a16:creationId xmlns:a16="http://schemas.microsoft.com/office/drawing/2014/main" id="{BAA06962-AFA0-C4B4-8FE2-D3922A5AB989}"/>
                </a:ext>
              </a:extLst>
            </p:cNvPr>
            <p:cNvSpPr/>
            <p:nvPr/>
          </p:nvSpPr>
          <p:spPr>
            <a:xfrm>
              <a:off x="4160149" y="3041183"/>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metrics.py</a:t>
              </a:r>
            </a:p>
          </p:txBody>
        </p:sp>
        <p:sp>
          <p:nvSpPr>
            <p:cNvPr id="97" name="Rechteck 96">
              <a:extLst>
                <a:ext uri="{FF2B5EF4-FFF2-40B4-BE49-F238E27FC236}">
                  <a16:creationId xmlns:a16="http://schemas.microsoft.com/office/drawing/2014/main" id="{52C412DC-CA1F-B9B9-AF9F-087C94BBD1E0}"/>
                </a:ext>
              </a:extLst>
            </p:cNvPr>
            <p:cNvSpPr/>
            <p:nvPr/>
          </p:nvSpPr>
          <p:spPr>
            <a:xfrm>
              <a:off x="3995936" y="2803202"/>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98" name="Verbinder: gewinkelt 97">
              <a:extLst>
                <a:ext uri="{FF2B5EF4-FFF2-40B4-BE49-F238E27FC236}">
                  <a16:creationId xmlns:a16="http://schemas.microsoft.com/office/drawing/2014/main" id="{1565669E-1073-7A6A-CE60-DF80E8A550B3}"/>
                </a:ext>
              </a:extLst>
            </p:cNvPr>
            <p:cNvCxnSpPr>
              <a:cxnSpLocks/>
              <a:stCxn id="97" idx="2"/>
              <a:endCxn id="96" idx="1"/>
            </p:cNvCxnSpPr>
            <p:nvPr/>
          </p:nvCxnSpPr>
          <p:spPr>
            <a:xfrm rot="16200000" flipH="1">
              <a:off x="3994915" y="3019964"/>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99" name="Rechteck 98">
              <a:extLst>
                <a:ext uri="{FF2B5EF4-FFF2-40B4-BE49-F238E27FC236}">
                  <a16:creationId xmlns:a16="http://schemas.microsoft.com/office/drawing/2014/main" id="{46960765-E937-D2D7-7030-8C07CB4BA1BF}"/>
                </a:ext>
              </a:extLst>
            </p:cNvPr>
            <p:cNvSpPr/>
            <p:nvPr/>
          </p:nvSpPr>
          <p:spPr>
            <a:xfrm>
              <a:off x="4160149" y="3387155"/>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visualizer.py</a:t>
              </a:r>
            </a:p>
          </p:txBody>
        </p:sp>
        <p:cxnSp>
          <p:nvCxnSpPr>
            <p:cNvPr id="100" name="Verbinder: gewinkelt 99">
              <a:extLst>
                <a:ext uri="{FF2B5EF4-FFF2-40B4-BE49-F238E27FC236}">
                  <a16:creationId xmlns:a16="http://schemas.microsoft.com/office/drawing/2014/main" id="{64FC8EC4-183D-698A-E7E2-11A7C3D2AAFD}"/>
                </a:ext>
              </a:extLst>
            </p:cNvPr>
            <p:cNvCxnSpPr>
              <a:cxnSpLocks/>
              <a:stCxn id="97" idx="2"/>
              <a:endCxn id="99" idx="1"/>
            </p:cNvCxnSpPr>
            <p:nvPr/>
          </p:nvCxnSpPr>
          <p:spPr>
            <a:xfrm rot="16200000" flipH="1">
              <a:off x="3821929" y="3192950"/>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71" name="Rechteck 170">
              <a:extLst>
                <a:ext uri="{FF2B5EF4-FFF2-40B4-BE49-F238E27FC236}">
                  <a16:creationId xmlns:a16="http://schemas.microsoft.com/office/drawing/2014/main" id="{FA3AD3F9-7A0D-D409-E5C4-1C2B20707CEA}"/>
                </a:ext>
              </a:extLst>
            </p:cNvPr>
            <p:cNvSpPr/>
            <p:nvPr/>
          </p:nvSpPr>
          <p:spPr>
            <a:xfrm>
              <a:off x="4164538" y="373876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animation.py</a:t>
              </a:r>
            </a:p>
          </p:txBody>
        </p:sp>
        <p:sp>
          <p:nvSpPr>
            <p:cNvPr id="172" name="Rechteck 171">
              <a:extLst>
                <a:ext uri="{FF2B5EF4-FFF2-40B4-BE49-F238E27FC236}">
                  <a16:creationId xmlns:a16="http://schemas.microsoft.com/office/drawing/2014/main" id="{E6FEED0C-FE23-9A33-D468-FCAF714702BF}"/>
                </a:ext>
              </a:extLst>
            </p:cNvPr>
            <p:cNvSpPr/>
            <p:nvPr/>
          </p:nvSpPr>
          <p:spPr>
            <a:xfrm>
              <a:off x="4164538" y="4084741"/>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reporter.py</a:t>
              </a:r>
            </a:p>
          </p:txBody>
        </p:sp>
        <p:cxnSp>
          <p:nvCxnSpPr>
            <p:cNvPr id="178" name="Verbinder: gewinkelt 177">
              <a:extLst>
                <a:ext uri="{FF2B5EF4-FFF2-40B4-BE49-F238E27FC236}">
                  <a16:creationId xmlns:a16="http://schemas.microsoft.com/office/drawing/2014/main" id="{CCBE3C7E-2C45-C267-08EE-5119BE94287F}"/>
                </a:ext>
              </a:extLst>
            </p:cNvPr>
            <p:cNvCxnSpPr>
              <a:cxnSpLocks/>
              <a:stCxn id="97" idx="2"/>
              <a:endCxn id="171" idx="1"/>
            </p:cNvCxnSpPr>
            <p:nvPr/>
          </p:nvCxnSpPr>
          <p:spPr>
            <a:xfrm rot="16200000" flipH="1">
              <a:off x="3648316" y="3366562"/>
              <a:ext cx="945949" cy="86495"/>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81" name="Verbinder: gewinkelt 180">
              <a:extLst>
                <a:ext uri="{FF2B5EF4-FFF2-40B4-BE49-F238E27FC236}">
                  <a16:creationId xmlns:a16="http://schemas.microsoft.com/office/drawing/2014/main" id="{339CF692-098D-0832-4901-68A71334DB24}"/>
                </a:ext>
              </a:extLst>
            </p:cNvPr>
            <p:cNvCxnSpPr>
              <a:cxnSpLocks/>
              <a:stCxn id="97" idx="2"/>
              <a:endCxn id="172" idx="1"/>
            </p:cNvCxnSpPr>
            <p:nvPr/>
          </p:nvCxnSpPr>
          <p:spPr>
            <a:xfrm rot="16200000" flipH="1">
              <a:off x="3475330" y="3539548"/>
              <a:ext cx="1291921" cy="86495"/>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3" name="Gerader Verbinder 202">
              <a:extLst>
                <a:ext uri="{FF2B5EF4-FFF2-40B4-BE49-F238E27FC236}">
                  <a16:creationId xmlns:a16="http://schemas.microsoft.com/office/drawing/2014/main" id="{BAE4CE72-CB2B-7AB4-E540-82CEF65E7A80}"/>
                </a:ext>
              </a:extLst>
            </p:cNvPr>
            <p:cNvCxnSpPr>
              <a:cxnSpLocks/>
            </p:cNvCxnSpPr>
            <p:nvPr/>
          </p:nvCxnSpPr>
          <p:spPr>
            <a:xfrm flipH="1">
              <a:off x="3800108" y="2716178"/>
              <a:ext cx="195827"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4" name="Gerader Verbinder 203">
              <a:extLst>
                <a:ext uri="{FF2B5EF4-FFF2-40B4-BE49-F238E27FC236}">
                  <a16:creationId xmlns:a16="http://schemas.microsoft.com/office/drawing/2014/main" id="{3D58FA37-3DE5-4598-6185-F483E70CA4CD}"/>
                </a:ext>
              </a:extLst>
            </p:cNvPr>
            <p:cNvCxnSpPr>
              <a:cxnSpLocks/>
            </p:cNvCxnSpPr>
            <p:nvPr/>
          </p:nvCxnSpPr>
          <p:spPr>
            <a:xfrm>
              <a:off x="3795410" y="2200215"/>
              <a:ext cx="0" cy="515963"/>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grpSp>
        <p:nvGrpSpPr>
          <p:cNvPr id="211" name="Gruppieren 210">
            <a:extLst>
              <a:ext uri="{FF2B5EF4-FFF2-40B4-BE49-F238E27FC236}">
                <a16:creationId xmlns:a16="http://schemas.microsoft.com/office/drawing/2014/main" id="{F1ADEF98-0371-003C-E528-C3AD7D9FB235}"/>
              </a:ext>
            </a:extLst>
          </p:cNvPr>
          <p:cNvGrpSpPr/>
          <p:nvPr/>
        </p:nvGrpSpPr>
        <p:grpSpPr>
          <a:xfrm>
            <a:off x="2242874" y="2211710"/>
            <a:ext cx="1601942" cy="2808312"/>
            <a:chOff x="2105963" y="2211710"/>
            <a:chExt cx="1601942" cy="2808312"/>
          </a:xfrm>
        </p:grpSpPr>
        <p:sp>
          <p:nvSpPr>
            <p:cNvPr id="80" name="Rechteck: obere Ecken abgerundet 79">
              <a:extLst>
                <a:ext uri="{FF2B5EF4-FFF2-40B4-BE49-F238E27FC236}">
                  <a16:creationId xmlns:a16="http://schemas.microsoft.com/office/drawing/2014/main" id="{FF68D5FB-2EB0-C593-A5D3-DA437EF639B0}"/>
                </a:ext>
              </a:extLst>
            </p:cNvPr>
            <p:cNvSpPr/>
            <p:nvPr/>
          </p:nvSpPr>
          <p:spPr>
            <a:xfrm>
              <a:off x="2319555" y="2361905"/>
              <a:ext cx="583265" cy="133634"/>
            </a:xfrm>
            <a:prstGeom prst="round2SameRect">
              <a:avLst>
                <a:gd name="adj1" fmla="val 50000"/>
                <a:gd name="adj2" fmla="val 0"/>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81" name="Rechteck 80">
              <a:extLst>
                <a:ext uri="{FF2B5EF4-FFF2-40B4-BE49-F238E27FC236}">
                  <a16:creationId xmlns:a16="http://schemas.microsoft.com/office/drawing/2014/main" id="{29DD8AE2-1315-0AFE-5732-99DCFC36C885}"/>
                </a:ext>
              </a:extLst>
            </p:cNvPr>
            <p:cNvSpPr/>
            <p:nvPr/>
          </p:nvSpPr>
          <p:spPr>
            <a:xfrm>
              <a:off x="2319556" y="2495538"/>
              <a:ext cx="1152128" cy="441279"/>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200" noProof="0" dirty="0">
                  <a:solidFill>
                    <a:schemeClr val="tx1"/>
                  </a:solidFill>
                </a:rPr>
                <a:t>agents/</a:t>
              </a:r>
            </a:p>
          </p:txBody>
        </p:sp>
        <p:sp>
          <p:nvSpPr>
            <p:cNvPr id="82" name="Rechteck 81">
              <a:extLst>
                <a:ext uri="{FF2B5EF4-FFF2-40B4-BE49-F238E27FC236}">
                  <a16:creationId xmlns:a16="http://schemas.microsoft.com/office/drawing/2014/main" id="{5343CB28-7BEB-6765-5B74-35A11F3FBC37}"/>
                </a:ext>
              </a:extLst>
            </p:cNvPr>
            <p:cNvSpPr/>
            <p:nvPr/>
          </p:nvSpPr>
          <p:spPr>
            <a:xfrm>
              <a:off x="2483769" y="3041183"/>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base_agent.py</a:t>
              </a:r>
            </a:p>
          </p:txBody>
        </p:sp>
        <p:sp>
          <p:nvSpPr>
            <p:cNvPr id="83" name="Rechteck 82">
              <a:extLst>
                <a:ext uri="{FF2B5EF4-FFF2-40B4-BE49-F238E27FC236}">
                  <a16:creationId xmlns:a16="http://schemas.microsoft.com/office/drawing/2014/main" id="{D116D884-310B-D784-29DD-C4A6E6722941}"/>
                </a:ext>
              </a:extLst>
            </p:cNvPr>
            <p:cNvSpPr/>
            <p:nvPr/>
          </p:nvSpPr>
          <p:spPr>
            <a:xfrm>
              <a:off x="2319556" y="2803202"/>
              <a:ext cx="164213" cy="13363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cxnSp>
          <p:nvCxnSpPr>
            <p:cNvPr id="84" name="Verbinder: gewinkelt 83">
              <a:extLst>
                <a:ext uri="{FF2B5EF4-FFF2-40B4-BE49-F238E27FC236}">
                  <a16:creationId xmlns:a16="http://schemas.microsoft.com/office/drawing/2014/main" id="{A6D8D352-211C-B461-C6AE-2F22AB612E1A}"/>
                </a:ext>
              </a:extLst>
            </p:cNvPr>
            <p:cNvCxnSpPr>
              <a:cxnSpLocks/>
              <a:stCxn id="83" idx="2"/>
              <a:endCxn id="82" idx="1"/>
            </p:cNvCxnSpPr>
            <p:nvPr/>
          </p:nvCxnSpPr>
          <p:spPr>
            <a:xfrm rot="16200000" flipH="1">
              <a:off x="2318535" y="3019964"/>
              <a:ext cx="248363"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85" name="Rechteck 84">
              <a:extLst>
                <a:ext uri="{FF2B5EF4-FFF2-40B4-BE49-F238E27FC236}">
                  <a16:creationId xmlns:a16="http://schemas.microsoft.com/office/drawing/2014/main" id="{78C8E5BC-EFDF-1FA3-A7E9-FE85792F8ABD}"/>
                </a:ext>
              </a:extLst>
            </p:cNvPr>
            <p:cNvSpPr/>
            <p:nvPr/>
          </p:nvSpPr>
          <p:spPr>
            <a:xfrm>
              <a:off x="2483769" y="3387155"/>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native_trout.py</a:t>
              </a:r>
            </a:p>
          </p:txBody>
        </p:sp>
        <p:cxnSp>
          <p:nvCxnSpPr>
            <p:cNvPr id="86" name="Verbinder: gewinkelt 85">
              <a:extLst>
                <a:ext uri="{FF2B5EF4-FFF2-40B4-BE49-F238E27FC236}">
                  <a16:creationId xmlns:a16="http://schemas.microsoft.com/office/drawing/2014/main" id="{262D09AA-26DA-68BF-C7C4-DC92097FF2F2}"/>
                </a:ext>
              </a:extLst>
            </p:cNvPr>
            <p:cNvCxnSpPr>
              <a:cxnSpLocks/>
              <a:stCxn id="83" idx="2"/>
              <a:endCxn id="85" idx="1"/>
            </p:cNvCxnSpPr>
            <p:nvPr/>
          </p:nvCxnSpPr>
          <p:spPr>
            <a:xfrm rot="16200000" flipH="1">
              <a:off x="2145549" y="3192950"/>
              <a:ext cx="594335" cy="82106"/>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sp>
          <p:nvSpPr>
            <p:cNvPr id="127" name="Rechteck 126">
              <a:extLst>
                <a:ext uri="{FF2B5EF4-FFF2-40B4-BE49-F238E27FC236}">
                  <a16:creationId xmlns:a16="http://schemas.microsoft.com/office/drawing/2014/main" id="{C7FC46BC-B8FE-6EF5-ED8D-355B1DDB9CC9}"/>
                </a:ext>
              </a:extLst>
            </p:cNvPr>
            <p:cNvSpPr/>
            <p:nvPr/>
          </p:nvSpPr>
          <p:spPr>
            <a:xfrm>
              <a:off x="2473457" y="4397179"/>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bird.py</a:t>
              </a:r>
            </a:p>
          </p:txBody>
        </p:sp>
        <p:sp>
          <p:nvSpPr>
            <p:cNvPr id="128" name="Rechteck 127">
              <a:extLst>
                <a:ext uri="{FF2B5EF4-FFF2-40B4-BE49-F238E27FC236}">
                  <a16:creationId xmlns:a16="http://schemas.microsoft.com/office/drawing/2014/main" id="{C59E587F-67CB-6873-7700-F4C5D0AFF8B2}"/>
                </a:ext>
              </a:extLst>
            </p:cNvPr>
            <p:cNvSpPr/>
            <p:nvPr/>
          </p:nvSpPr>
          <p:spPr>
            <a:xfrm>
              <a:off x="2473457" y="3730057"/>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noProof="0" dirty="0">
                  <a:solidFill>
                    <a:schemeClr val="tx1"/>
                  </a:solidFill>
                </a:rPr>
                <a:t>invasive_trout.py</a:t>
              </a:r>
            </a:p>
          </p:txBody>
        </p:sp>
        <p:sp>
          <p:nvSpPr>
            <p:cNvPr id="129" name="Rechteck 128">
              <a:extLst>
                <a:ext uri="{FF2B5EF4-FFF2-40B4-BE49-F238E27FC236}">
                  <a16:creationId xmlns:a16="http://schemas.microsoft.com/office/drawing/2014/main" id="{87835712-61F3-69A7-D3C3-6722ECF222CD}"/>
                </a:ext>
              </a:extLst>
            </p:cNvPr>
            <p:cNvSpPr/>
            <p:nvPr/>
          </p:nvSpPr>
          <p:spPr>
            <a:xfrm>
              <a:off x="2473457" y="4062368"/>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bear.py</a:t>
              </a:r>
            </a:p>
          </p:txBody>
        </p:sp>
        <p:sp>
          <p:nvSpPr>
            <p:cNvPr id="130" name="Rechteck 129">
              <a:extLst>
                <a:ext uri="{FF2B5EF4-FFF2-40B4-BE49-F238E27FC236}">
                  <a16:creationId xmlns:a16="http://schemas.microsoft.com/office/drawing/2014/main" id="{3692828B-1FE8-553B-3EF9-C07DC27AE47B}"/>
                </a:ext>
              </a:extLst>
            </p:cNvPr>
            <p:cNvSpPr/>
            <p:nvPr/>
          </p:nvSpPr>
          <p:spPr>
            <a:xfrm>
              <a:off x="2473457" y="4731990"/>
              <a:ext cx="1224136" cy="288032"/>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elk.py</a:t>
              </a:r>
            </a:p>
          </p:txBody>
        </p:sp>
        <p:cxnSp>
          <p:nvCxnSpPr>
            <p:cNvPr id="131" name="Verbinder: gewinkelt 130">
              <a:extLst>
                <a:ext uri="{FF2B5EF4-FFF2-40B4-BE49-F238E27FC236}">
                  <a16:creationId xmlns:a16="http://schemas.microsoft.com/office/drawing/2014/main" id="{C6D24B1A-F7C7-9B03-16EA-3F8EC7F13707}"/>
                </a:ext>
              </a:extLst>
            </p:cNvPr>
            <p:cNvCxnSpPr>
              <a:cxnSpLocks/>
              <a:stCxn id="83" idx="2"/>
              <a:endCxn id="128" idx="1"/>
            </p:cNvCxnSpPr>
            <p:nvPr/>
          </p:nvCxnSpPr>
          <p:spPr>
            <a:xfrm rot="16200000" flipH="1">
              <a:off x="1968942" y="3369557"/>
              <a:ext cx="937237" cy="717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34" name="Verbinder: gewinkelt 133">
              <a:extLst>
                <a:ext uri="{FF2B5EF4-FFF2-40B4-BE49-F238E27FC236}">
                  <a16:creationId xmlns:a16="http://schemas.microsoft.com/office/drawing/2014/main" id="{68ADAD0A-63A1-66F3-257C-1EFDFC2C449A}"/>
                </a:ext>
              </a:extLst>
            </p:cNvPr>
            <p:cNvCxnSpPr>
              <a:cxnSpLocks/>
              <a:stCxn id="83" idx="2"/>
              <a:endCxn id="129" idx="1"/>
            </p:cNvCxnSpPr>
            <p:nvPr/>
          </p:nvCxnSpPr>
          <p:spPr>
            <a:xfrm rot="16200000" flipH="1">
              <a:off x="1802786" y="3535713"/>
              <a:ext cx="1269548" cy="717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37" name="Verbinder: gewinkelt 136">
              <a:extLst>
                <a:ext uri="{FF2B5EF4-FFF2-40B4-BE49-F238E27FC236}">
                  <a16:creationId xmlns:a16="http://schemas.microsoft.com/office/drawing/2014/main" id="{9FF2CFA8-308B-253F-5E29-EB706AD36E53}"/>
                </a:ext>
              </a:extLst>
            </p:cNvPr>
            <p:cNvCxnSpPr>
              <a:cxnSpLocks/>
              <a:stCxn id="83" idx="2"/>
              <a:endCxn id="127" idx="1"/>
            </p:cNvCxnSpPr>
            <p:nvPr/>
          </p:nvCxnSpPr>
          <p:spPr>
            <a:xfrm rot="16200000" flipH="1">
              <a:off x="1635381" y="3703118"/>
              <a:ext cx="1604359" cy="717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141" name="Verbinder: gewinkelt 140">
              <a:extLst>
                <a:ext uri="{FF2B5EF4-FFF2-40B4-BE49-F238E27FC236}">
                  <a16:creationId xmlns:a16="http://schemas.microsoft.com/office/drawing/2014/main" id="{09E0F079-6311-44A1-AD45-DD766A74837E}"/>
                </a:ext>
              </a:extLst>
            </p:cNvPr>
            <p:cNvCxnSpPr>
              <a:cxnSpLocks/>
              <a:stCxn id="83" idx="2"/>
              <a:endCxn id="130" idx="1"/>
            </p:cNvCxnSpPr>
            <p:nvPr/>
          </p:nvCxnSpPr>
          <p:spPr>
            <a:xfrm rot="16200000" flipH="1">
              <a:off x="1467975" y="3870524"/>
              <a:ext cx="1939170" cy="71794"/>
            </a:xfrm>
            <a:prstGeom prst="bentConnector2">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8" name="Gerader Verbinder 207">
              <a:extLst>
                <a:ext uri="{FF2B5EF4-FFF2-40B4-BE49-F238E27FC236}">
                  <a16:creationId xmlns:a16="http://schemas.microsoft.com/office/drawing/2014/main" id="{E8689C22-8FC7-DA2D-CC6B-D3308B5FDC9E}"/>
                </a:ext>
              </a:extLst>
            </p:cNvPr>
            <p:cNvCxnSpPr>
              <a:cxnSpLocks/>
            </p:cNvCxnSpPr>
            <p:nvPr/>
          </p:nvCxnSpPr>
          <p:spPr>
            <a:xfrm flipH="1">
              <a:off x="2110661" y="2727673"/>
              <a:ext cx="195827" cy="0"/>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cxnSp>
          <p:nvCxnSpPr>
            <p:cNvPr id="209" name="Gerader Verbinder 208">
              <a:extLst>
                <a:ext uri="{FF2B5EF4-FFF2-40B4-BE49-F238E27FC236}">
                  <a16:creationId xmlns:a16="http://schemas.microsoft.com/office/drawing/2014/main" id="{F04AEBA7-9F7B-1DB4-0647-7290B9A52E8A}"/>
                </a:ext>
              </a:extLst>
            </p:cNvPr>
            <p:cNvCxnSpPr>
              <a:cxnSpLocks/>
            </p:cNvCxnSpPr>
            <p:nvPr/>
          </p:nvCxnSpPr>
          <p:spPr>
            <a:xfrm>
              <a:off x="2105963" y="2211710"/>
              <a:ext cx="0" cy="515963"/>
            </a:xfrm>
            <a:prstGeom prst="line">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cxnSp>
      </p:grpSp>
    </p:spTree>
    <p:extLst>
      <p:ext uri="{BB962C8B-B14F-4D97-AF65-F5344CB8AC3E}">
        <p14:creationId xmlns:p14="http://schemas.microsoft.com/office/powerpoint/2010/main" val="344233627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5BA9F-24F4-2441-C5BD-6AA0F2EA31A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D15A02E8-A800-3E88-E426-DDD892574B25}"/>
              </a:ext>
            </a:extLst>
          </p:cNvPr>
          <p:cNvSpPr>
            <a:spLocks noGrp="1"/>
          </p:cNvSpPr>
          <p:nvPr>
            <p:ph type="title"/>
          </p:nvPr>
        </p:nvSpPr>
        <p:spPr/>
        <p:txBody>
          <a:bodyPr/>
          <a:lstStyle/>
          <a:p>
            <a:r>
              <a:rPr lang="en-US" noProof="0" dirty="0"/>
              <a:t>Here, the single files contain the information necessary to simulate the invasive species model (1/ 2)</a:t>
            </a:r>
          </a:p>
        </p:txBody>
      </p:sp>
      <p:sp>
        <p:nvSpPr>
          <p:cNvPr id="66" name="Rechteck 65">
            <a:extLst>
              <a:ext uri="{FF2B5EF4-FFF2-40B4-BE49-F238E27FC236}">
                <a16:creationId xmlns:a16="http://schemas.microsoft.com/office/drawing/2014/main" id="{C453B54D-3945-8BDE-935C-5E658D7F965D}"/>
              </a:ext>
            </a:extLst>
          </p:cNvPr>
          <p:cNvSpPr/>
          <p:nvPr/>
        </p:nvSpPr>
        <p:spPr>
          <a:xfrm>
            <a:off x="251520"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Main file</a:t>
            </a:r>
          </a:p>
          <a:p>
            <a:endParaRPr lang="en-US" sz="1000" noProof="0" dirty="0">
              <a:solidFill>
                <a:schemeClr val="tx1"/>
              </a:solidFill>
            </a:endParaRPr>
          </a:p>
          <a:p>
            <a:r>
              <a:rPr lang="en-US" sz="1000" noProof="0" dirty="0">
                <a:solidFill>
                  <a:schemeClr val="tx1"/>
                </a:solidFill>
              </a:rPr>
              <a:t>supported by</a:t>
            </a:r>
          </a:p>
          <a:p>
            <a:pPr marL="182563" indent="-182563">
              <a:buFont typeface="Arial" panose="020B0604020202020204" pitchFamily="34" charset="0"/>
              <a:buChar char="•"/>
            </a:pPr>
            <a:r>
              <a:rPr lang="en-US" sz="1000" noProof="0" dirty="0">
                <a:solidFill>
                  <a:schemeClr val="tx1"/>
                </a:solidFill>
              </a:rPr>
              <a:t>README.md</a:t>
            </a:r>
          </a:p>
          <a:p>
            <a:pPr marL="182563" indent="-182563">
              <a:buFont typeface="Arial" panose="020B0604020202020204" pitchFamily="34" charset="0"/>
              <a:buChar char="•"/>
            </a:pPr>
            <a:r>
              <a:rPr lang="en-US" sz="1000" noProof="0" dirty="0">
                <a:solidFill>
                  <a:schemeClr val="tx1"/>
                </a:solidFill>
              </a:rPr>
              <a:t>requirenments.txt</a:t>
            </a:r>
          </a:p>
        </p:txBody>
      </p:sp>
      <p:sp>
        <p:nvSpPr>
          <p:cNvPr id="67" name="Rechteck 66">
            <a:extLst>
              <a:ext uri="{FF2B5EF4-FFF2-40B4-BE49-F238E27FC236}">
                <a16:creationId xmlns:a16="http://schemas.microsoft.com/office/drawing/2014/main" id="{51D4158F-3EFC-2F4A-5926-A91674E2FAFD}"/>
              </a:ext>
            </a:extLst>
          </p:cNvPr>
          <p:cNvSpPr/>
          <p:nvPr/>
        </p:nvSpPr>
        <p:spPr>
          <a:xfrm>
            <a:off x="1979712" y="1419622"/>
            <a:ext cx="342121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numCol="2" spcCol="252000" rtlCol="0" anchor="t"/>
          <a:lstStyle/>
          <a:p>
            <a:r>
              <a:rPr lang="en-US" sz="1000" noProof="0" dirty="0">
                <a:solidFill>
                  <a:schemeClr val="tx1"/>
                </a:solidFill>
              </a:rPr>
              <a:t>Contains all model parameters:</a:t>
            </a:r>
          </a:p>
          <a:p>
            <a:pPr marL="177800" indent="-177800">
              <a:buFont typeface="Arial" panose="020B0604020202020204" pitchFamily="34" charset="0"/>
              <a:buChar char="•"/>
            </a:pPr>
            <a:r>
              <a:rPr lang="en-US" sz="1000" noProof="0" dirty="0">
                <a:solidFill>
                  <a:schemeClr val="tx1"/>
                </a:solidFill>
              </a:rPr>
              <a:t>grid size</a:t>
            </a:r>
          </a:p>
          <a:p>
            <a:pPr marL="177800" indent="-177800">
              <a:buFont typeface="Arial" panose="020B0604020202020204" pitchFamily="34" charset="0"/>
              <a:buChar char="•"/>
            </a:pPr>
            <a:r>
              <a:rPr lang="en-US" sz="1000" noProof="0" dirty="0">
                <a:solidFill>
                  <a:schemeClr val="tx1"/>
                </a:solidFill>
              </a:rPr>
              <a:t>number of time steps</a:t>
            </a:r>
          </a:p>
          <a:p>
            <a:pPr marL="177800" indent="-177800">
              <a:buFont typeface="Arial" panose="020B0604020202020204" pitchFamily="34" charset="0"/>
              <a:buChar char="•"/>
            </a:pPr>
            <a:r>
              <a:rPr lang="en-US" sz="1000" noProof="0" dirty="0">
                <a:solidFill>
                  <a:schemeClr val="tx1"/>
                </a:solidFill>
              </a:rPr>
              <a:t>habitat layout</a:t>
            </a:r>
          </a:p>
          <a:p>
            <a:pPr marL="177800" indent="-177800">
              <a:buFont typeface="Arial" panose="020B0604020202020204" pitchFamily="34" charset="0"/>
              <a:buChar char="•"/>
            </a:pPr>
            <a:r>
              <a:rPr lang="en-US" sz="1000" noProof="0" dirty="0">
                <a:solidFill>
                  <a:schemeClr val="tx1"/>
                </a:solidFill>
              </a:rPr>
              <a:t>initial population sizes</a:t>
            </a:r>
          </a:p>
          <a:p>
            <a:pPr marL="177800" indent="-177800">
              <a:buFont typeface="Arial" panose="020B0604020202020204" pitchFamily="34" charset="0"/>
              <a:buChar char="•"/>
            </a:pPr>
            <a:r>
              <a:rPr lang="en-US" sz="1000" noProof="0" dirty="0">
                <a:solidFill>
                  <a:schemeClr val="tx1"/>
                </a:solidFill>
              </a:rPr>
              <a:t>movement probabilities</a:t>
            </a:r>
          </a:p>
          <a:p>
            <a:pPr marL="177800" indent="-177800">
              <a:buFont typeface="Arial" panose="020B0604020202020204" pitchFamily="34" charset="0"/>
              <a:buChar char="•"/>
            </a:pPr>
            <a:r>
              <a:rPr lang="en-US" sz="1000" noProof="0" dirty="0">
                <a:solidFill>
                  <a:schemeClr val="tx1"/>
                </a:solidFill>
              </a:rPr>
              <a:t>hunting probabilities</a:t>
            </a:r>
          </a:p>
          <a:p>
            <a:pPr marL="177800" indent="-177800">
              <a:buFont typeface="Arial" panose="020B0604020202020204" pitchFamily="34" charset="0"/>
              <a:buChar char="•"/>
            </a:pPr>
            <a:r>
              <a:rPr lang="en-US" sz="1000" noProof="0" dirty="0">
                <a:solidFill>
                  <a:schemeClr val="tx1"/>
                </a:solidFill>
              </a:rPr>
              <a:t>age limits</a:t>
            </a:r>
          </a:p>
          <a:p>
            <a:pPr marL="177800" indent="-177800">
              <a:buFont typeface="Arial" panose="020B0604020202020204" pitchFamily="34" charset="0"/>
              <a:buChar char="•"/>
            </a:pPr>
            <a:r>
              <a:rPr lang="en-US" sz="1000" noProof="0" dirty="0">
                <a:solidFill>
                  <a:schemeClr val="tx1"/>
                </a:solidFill>
              </a:rPr>
              <a:t>starvation thresholds</a:t>
            </a:r>
          </a:p>
          <a:p>
            <a:pPr marL="177800" indent="-177800">
              <a:buFont typeface="Arial" panose="020B0604020202020204" pitchFamily="34" charset="0"/>
              <a:buChar char="•"/>
            </a:pPr>
            <a:r>
              <a:rPr lang="en-US" sz="1000" noProof="0" dirty="0">
                <a:solidFill>
                  <a:schemeClr val="tx1"/>
                </a:solidFill>
              </a:rPr>
              <a:t>birth rates</a:t>
            </a:r>
          </a:p>
          <a:p>
            <a:pPr marL="177800" indent="-177800">
              <a:buFont typeface="Arial" panose="020B0604020202020204" pitchFamily="34" charset="0"/>
              <a:buChar char="•"/>
            </a:pPr>
            <a:r>
              <a:rPr lang="en-US" sz="1000" noProof="0" dirty="0">
                <a:solidFill>
                  <a:schemeClr val="tx1"/>
                </a:solidFill>
              </a:rPr>
              <a:t>carrying capacities</a:t>
            </a:r>
          </a:p>
          <a:p>
            <a:pPr marL="177800" indent="-177800">
              <a:buFont typeface="Arial" panose="020B0604020202020204" pitchFamily="34" charset="0"/>
              <a:buChar char="•"/>
            </a:pPr>
            <a:r>
              <a:rPr lang="en-US" sz="1000" noProof="0" dirty="0">
                <a:solidFill>
                  <a:schemeClr val="tx1"/>
                </a:solidFill>
              </a:rPr>
              <a:t>random seed</a:t>
            </a:r>
          </a:p>
          <a:p>
            <a:pPr marL="177800" indent="-177800">
              <a:buFont typeface="Arial" panose="020B0604020202020204" pitchFamily="34" charset="0"/>
              <a:buChar char="•"/>
            </a:pPr>
            <a:r>
              <a:rPr lang="en-US" sz="1000" noProof="0" dirty="0">
                <a:solidFill>
                  <a:schemeClr val="tx1"/>
                </a:solidFill>
              </a:rPr>
              <a:t>visualization settings</a:t>
            </a:r>
          </a:p>
        </p:txBody>
      </p:sp>
      <p:sp>
        <p:nvSpPr>
          <p:cNvPr id="69" name="Rechteck 68">
            <a:extLst>
              <a:ext uri="{FF2B5EF4-FFF2-40B4-BE49-F238E27FC236}">
                <a16:creationId xmlns:a16="http://schemas.microsoft.com/office/drawing/2014/main" id="{B15E7CE5-15E9-DF69-D393-6C611481A2AA}"/>
              </a:ext>
            </a:extLst>
          </p:cNvPr>
          <p:cNvSpPr/>
          <p:nvPr/>
        </p:nvSpPr>
        <p:spPr>
          <a:xfrm>
            <a:off x="5508104"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Defines habitat constants:</a:t>
            </a:r>
          </a:p>
          <a:p>
            <a:pPr marL="171450" indent="-171450">
              <a:buFont typeface="Arial" panose="020B0604020202020204" pitchFamily="34" charset="0"/>
              <a:buChar char="•"/>
            </a:pPr>
            <a:r>
              <a:rPr lang="en-US" sz="1000" noProof="0" dirty="0">
                <a:solidFill>
                  <a:schemeClr val="tx1"/>
                </a:solidFill>
              </a:rPr>
              <a:t>lake = 0</a:t>
            </a:r>
          </a:p>
          <a:p>
            <a:pPr marL="171450" indent="-171450">
              <a:buFont typeface="Arial" panose="020B0604020202020204" pitchFamily="34" charset="0"/>
              <a:buChar char="•"/>
            </a:pPr>
            <a:r>
              <a:rPr lang="en-US" sz="1000" noProof="0" dirty="0">
                <a:solidFill>
                  <a:schemeClr val="tx1"/>
                </a:solidFill>
              </a:rPr>
              <a:t>river = 1</a:t>
            </a:r>
          </a:p>
          <a:p>
            <a:pPr marL="171450" indent="-171450">
              <a:buFont typeface="Arial" panose="020B0604020202020204" pitchFamily="34" charset="0"/>
              <a:buChar char="•"/>
            </a:pPr>
            <a:r>
              <a:rPr lang="en-US" sz="1000" noProof="0" dirty="0">
                <a:solidFill>
                  <a:schemeClr val="tx1"/>
                </a:solidFill>
              </a:rPr>
              <a:t>grassland = 2</a:t>
            </a:r>
          </a:p>
        </p:txBody>
      </p:sp>
      <p:sp>
        <p:nvSpPr>
          <p:cNvPr id="70" name="Rechteck 69">
            <a:extLst>
              <a:ext uri="{FF2B5EF4-FFF2-40B4-BE49-F238E27FC236}">
                <a16:creationId xmlns:a16="http://schemas.microsoft.com/office/drawing/2014/main" id="{6D2886B4-689C-DF6A-C278-DF42315236FC}"/>
              </a:ext>
            </a:extLst>
          </p:cNvPr>
          <p:cNvSpPr/>
          <p:nvPr/>
        </p:nvSpPr>
        <p:spPr>
          <a:xfrm>
            <a:off x="251520"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main.py</a:t>
            </a:r>
          </a:p>
        </p:txBody>
      </p:sp>
      <p:sp>
        <p:nvSpPr>
          <p:cNvPr id="71" name="Rechteck 70">
            <a:extLst>
              <a:ext uri="{FF2B5EF4-FFF2-40B4-BE49-F238E27FC236}">
                <a16:creationId xmlns:a16="http://schemas.microsoft.com/office/drawing/2014/main" id="{B61D7729-BF58-399D-9647-198253B358AA}"/>
              </a:ext>
            </a:extLst>
          </p:cNvPr>
          <p:cNvSpPr/>
          <p:nvPr/>
        </p:nvSpPr>
        <p:spPr>
          <a:xfrm>
            <a:off x="1979712" y="1131590"/>
            <a:ext cx="342121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config/config.py</a:t>
            </a:r>
          </a:p>
        </p:txBody>
      </p:sp>
      <p:sp>
        <p:nvSpPr>
          <p:cNvPr id="73" name="Rechteck 72">
            <a:extLst>
              <a:ext uri="{FF2B5EF4-FFF2-40B4-BE49-F238E27FC236}">
                <a16:creationId xmlns:a16="http://schemas.microsoft.com/office/drawing/2014/main" id="{A55246D5-ACFE-910A-1391-42236E4DBA87}"/>
              </a:ext>
            </a:extLst>
          </p:cNvPr>
          <p:cNvSpPr/>
          <p:nvPr/>
        </p:nvSpPr>
        <p:spPr>
          <a:xfrm>
            <a:off x="5508104"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noProof="0" dirty="0">
                <a:solidFill>
                  <a:schemeClr val="tx1"/>
                </a:solidFill>
              </a:rPr>
              <a:t>environment/habitat.py</a:t>
            </a:r>
          </a:p>
        </p:txBody>
      </p:sp>
      <p:sp>
        <p:nvSpPr>
          <p:cNvPr id="74" name="Rechteck 73">
            <a:extLst>
              <a:ext uri="{FF2B5EF4-FFF2-40B4-BE49-F238E27FC236}">
                <a16:creationId xmlns:a16="http://schemas.microsoft.com/office/drawing/2014/main" id="{BAD789F2-7478-3F26-CB61-5FC729521040}"/>
              </a:ext>
            </a:extLst>
          </p:cNvPr>
          <p:cNvSpPr/>
          <p:nvPr/>
        </p:nvSpPr>
        <p:spPr>
          <a:xfrm>
            <a:off x="7236296" y="1416908"/>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Creates the toroidal habitat grid and provides helpers:</a:t>
            </a:r>
          </a:p>
          <a:p>
            <a:pPr marL="171450" indent="-171450">
              <a:buFont typeface="Arial" panose="020B0604020202020204" pitchFamily="34" charset="0"/>
              <a:buChar char="•"/>
            </a:pPr>
            <a:r>
              <a:rPr lang="en-US" sz="1000" noProof="0" dirty="0">
                <a:solidFill>
                  <a:schemeClr val="tx1"/>
                </a:solidFill>
              </a:rPr>
              <a:t>wrap positions on torus</a:t>
            </a:r>
          </a:p>
          <a:p>
            <a:pPr marL="171450" indent="-171450">
              <a:buFont typeface="Arial" panose="020B0604020202020204" pitchFamily="34" charset="0"/>
              <a:buChar char="•"/>
            </a:pPr>
            <a:r>
              <a:rPr lang="en-US" sz="1000" noProof="0" dirty="0">
                <a:solidFill>
                  <a:schemeClr val="tx1"/>
                </a:solidFill>
              </a:rPr>
              <a:t>get habitat at (x, y)</a:t>
            </a:r>
          </a:p>
          <a:p>
            <a:pPr marL="171450" indent="-171450">
              <a:buFont typeface="Arial" panose="020B0604020202020204" pitchFamily="34" charset="0"/>
              <a:buChar char="•"/>
            </a:pPr>
            <a:r>
              <a:rPr lang="en-US" sz="1000" noProof="0" dirty="0">
                <a:solidFill>
                  <a:schemeClr val="tx1"/>
                </a:solidFill>
              </a:rPr>
              <a:t>neighborhood lookup</a:t>
            </a:r>
          </a:p>
          <a:p>
            <a:pPr marL="171450" indent="-171450">
              <a:buFont typeface="Arial" panose="020B0604020202020204" pitchFamily="34" charset="0"/>
              <a:buChar char="•"/>
            </a:pPr>
            <a:r>
              <a:rPr lang="en-US" sz="1000" noProof="0" dirty="0">
                <a:solidFill>
                  <a:schemeClr val="tx1"/>
                </a:solidFill>
              </a:rPr>
              <a:t>optional habitat map generator</a:t>
            </a:r>
          </a:p>
        </p:txBody>
      </p:sp>
      <p:sp>
        <p:nvSpPr>
          <p:cNvPr id="75" name="Rechteck 74">
            <a:extLst>
              <a:ext uri="{FF2B5EF4-FFF2-40B4-BE49-F238E27FC236}">
                <a16:creationId xmlns:a16="http://schemas.microsoft.com/office/drawing/2014/main" id="{88FBB4C1-654F-0B02-0C9B-C0E60735D6C3}"/>
              </a:ext>
            </a:extLst>
          </p:cNvPr>
          <p:cNvSpPr/>
          <p:nvPr/>
        </p:nvSpPr>
        <p:spPr>
          <a:xfrm>
            <a:off x="7236296" y="1128876"/>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environment/lattice.py</a:t>
            </a:r>
          </a:p>
        </p:txBody>
      </p:sp>
      <p:sp>
        <p:nvSpPr>
          <p:cNvPr id="76" name="Rechteck 75">
            <a:extLst>
              <a:ext uri="{FF2B5EF4-FFF2-40B4-BE49-F238E27FC236}">
                <a16:creationId xmlns:a16="http://schemas.microsoft.com/office/drawing/2014/main" id="{CB2A7135-C04E-289B-61AB-D017DF1D8D22}"/>
              </a:ext>
            </a:extLst>
          </p:cNvPr>
          <p:cNvSpPr/>
          <p:nvPr/>
        </p:nvSpPr>
        <p:spPr>
          <a:xfrm>
            <a:off x="251520" y="3456384"/>
            <a:ext cx="3384376"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Common fields:</a:t>
            </a:r>
          </a:p>
          <a:p>
            <a:pPr marL="171450" indent="-171450">
              <a:buFont typeface="Arial" panose="020B0604020202020204" pitchFamily="34" charset="0"/>
              <a:buChar char="•"/>
            </a:pPr>
            <a:r>
              <a:rPr lang="en-US" sz="1000" noProof="0" dirty="0">
                <a:solidFill>
                  <a:schemeClr val="tx1"/>
                </a:solidFill>
              </a:rPr>
              <a:t>id</a:t>
            </a:r>
          </a:p>
          <a:p>
            <a:pPr marL="171450" indent="-171450">
              <a:buFont typeface="Arial" panose="020B0604020202020204" pitchFamily="34" charset="0"/>
              <a:buChar char="•"/>
            </a:pPr>
            <a:r>
              <a:rPr lang="en-US" sz="1000" noProof="0" dirty="0">
                <a:solidFill>
                  <a:schemeClr val="tx1"/>
                </a:solidFill>
              </a:rPr>
              <a:t>species</a:t>
            </a:r>
          </a:p>
          <a:p>
            <a:pPr marL="171450" indent="-171450">
              <a:buFont typeface="Arial" panose="020B0604020202020204" pitchFamily="34" charset="0"/>
              <a:buChar char="•"/>
            </a:pPr>
            <a:r>
              <a:rPr lang="en-US" sz="1000" noProof="0" dirty="0">
                <a:solidFill>
                  <a:schemeClr val="tx1"/>
                </a:solidFill>
              </a:rPr>
              <a:t>x, y</a:t>
            </a:r>
          </a:p>
          <a:p>
            <a:pPr marL="171450" indent="-171450">
              <a:buFont typeface="Arial" panose="020B0604020202020204" pitchFamily="34" charset="0"/>
              <a:buChar char="•"/>
            </a:pPr>
            <a:r>
              <a:rPr lang="en-US" sz="1000" noProof="0" dirty="0">
                <a:solidFill>
                  <a:schemeClr val="tx1"/>
                </a:solidFill>
              </a:rPr>
              <a:t>age</a:t>
            </a:r>
          </a:p>
          <a:p>
            <a:pPr marL="171450" indent="-171450">
              <a:buFont typeface="Arial" panose="020B0604020202020204" pitchFamily="34" charset="0"/>
              <a:buChar char="•"/>
            </a:pPr>
            <a:r>
              <a:rPr lang="en-US" sz="1000" noProof="0" dirty="0">
                <a:solidFill>
                  <a:schemeClr val="tx1"/>
                </a:solidFill>
              </a:rPr>
              <a:t>alive</a:t>
            </a:r>
          </a:p>
          <a:p>
            <a:pPr marL="171450" indent="-171450">
              <a:buFont typeface="Arial" panose="020B0604020202020204" pitchFamily="34" charset="0"/>
              <a:buChar char="•"/>
            </a:pPr>
            <a:r>
              <a:rPr lang="en-US" sz="1000" noProof="0" dirty="0" err="1">
                <a:solidFill>
                  <a:schemeClr val="tx1"/>
                </a:solidFill>
              </a:rPr>
              <a:t>steps_since_last_meal</a:t>
            </a:r>
            <a:r>
              <a:rPr lang="en-US" sz="1000" noProof="0" dirty="0">
                <a:solidFill>
                  <a:schemeClr val="tx1"/>
                </a:solidFill>
              </a:rPr>
              <a:t>_</a:t>
            </a:r>
            <a:br>
              <a:rPr lang="en-US" sz="1000" noProof="0" dirty="0">
                <a:solidFill>
                  <a:schemeClr val="tx1"/>
                </a:solidFill>
              </a:rPr>
            </a:br>
            <a:r>
              <a:rPr lang="en-US" sz="1000" noProof="0" dirty="0" err="1">
                <a:solidFill>
                  <a:schemeClr val="tx1"/>
                </a:solidFill>
              </a:rPr>
              <a:t>native_trout</a:t>
            </a:r>
            <a:endParaRPr lang="en-US" sz="1000" noProof="0" dirty="0">
              <a:solidFill>
                <a:schemeClr val="tx1"/>
              </a:solidFill>
            </a:endParaRPr>
          </a:p>
          <a:p>
            <a:pPr marL="171450" indent="-171450">
              <a:buFont typeface="Arial" panose="020B0604020202020204" pitchFamily="34" charset="0"/>
              <a:buChar char="•"/>
            </a:pPr>
            <a:r>
              <a:rPr lang="en-US" sz="1000" noProof="0" dirty="0" err="1">
                <a:solidFill>
                  <a:schemeClr val="tx1"/>
                </a:solidFill>
              </a:rPr>
              <a:t>steps_since_last_meal</a:t>
            </a:r>
            <a:r>
              <a:rPr lang="en-US" sz="1000" noProof="0" dirty="0">
                <a:solidFill>
                  <a:schemeClr val="tx1"/>
                </a:solidFill>
              </a:rPr>
              <a:t>_</a:t>
            </a:r>
            <a:br>
              <a:rPr lang="en-US" sz="1000" noProof="0" dirty="0">
                <a:solidFill>
                  <a:schemeClr val="tx1"/>
                </a:solidFill>
              </a:rPr>
            </a:br>
            <a:r>
              <a:rPr lang="en-US" sz="1000" noProof="0" dirty="0">
                <a:solidFill>
                  <a:schemeClr val="tx1"/>
                </a:solidFill>
              </a:rPr>
              <a:t>elk</a:t>
            </a:r>
          </a:p>
        </p:txBody>
      </p:sp>
      <p:sp>
        <p:nvSpPr>
          <p:cNvPr id="77" name="Rechteck 76">
            <a:extLst>
              <a:ext uri="{FF2B5EF4-FFF2-40B4-BE49-F238E27FC236}">
                <a16:creationId xmlns:a16="http://schemas.microsoft.com/office/drawing/2014/main" id="{7C184504-B1ED-2B77-B54D-5246DA0EDE7C}"/>
              </a:ext>
            </a:extLst>
          </p:cNvPr>
          <p:cNvSpPr/>
          <p:nvPr/>
        </p:nvSpPr>
        <p:spPr>
          <a:xfrm>
            <a:off x="2051720" y="3579862"/>
            <a:ext cx="1512168" cy="136815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Each species class defines:</a:t>
            </a:r>
          </a:p>
          <a:p>
            <a:pPr marL="171450" indent="-171450">
              <a:buFont typeface="Arial" panose="020B0604020202020204" pitchFamily="34" charset="0"/>
              <a:buChar char="•"/>
            </a:pPr>
            <a:r>
              <a:rPr lang="en-US" sz="1000" noProof="0" dirty="0">
                <a:solidFill>
                  <a:schemeClr val="tx1"/>
                </a:solidFill>
              </a:rPr>
              <a:t>allowed habitats</a:t>
            </a:r>
          </a:p>
          <a:p>
            <a:pPr marL="171450" indent="-171450">
              <a:buFont typeface="Arial" panose="020B0604020202020204" pitchFamily="34" charset="0"/>
              <a:buChar char="•"/>
            </a:pPr>
            <a:r>
              <a:rPr lang="en-US" sz="1000" noProof="0" dirty="0">
                <a:solidFill>
                  <a:schemeClr val="tx1"/>
                </a:solidFill>
              </a:rPr>
              <a:t>max age</a:t>
            </a:r>
          </a:p>
          <a:p>
            <a:pPr marL="171450" indent="-171450">
              <a:buFont typeface="Arial" panose="020B0604020202020204" pitchFamily="34" charset="0"/>
              <a:buChar char="•"/>
            </a:pPr>
            <a:r>
              <a:rPr lang="en-US" sz="1000" noProof="0" dirty="0">
                <a:solidFill>
                  <a:schemeClr val="tx1"/>
                </a:solidFill>
              </a:rPr>
              <a:t>reproduction rate</a:t>
            </a:r>
          </a:p>
          <a:p>
            <a:pPr marL="171450" indent="-171450">
              <a:buFont typeface="Arial" panose="020B0604020202020204" pitchFamily="34" charset="0"/>
              <a:buChar char="•"/>
            </a:pPr>
            <a:r>
              <a:rPr lang="en-US" sz="1000" noProof="0" dirty="0">
                <a:solidFill>
                  <a:schemeClr val="tx1"/>
                </a:solidFill>
              </a:rPr>
              <a:t>movement style</a:t>
            </a:r>
          </a:p>
          <a:p>
            <a:pPr marL="171450" indent="-171450">
              <a:buFont typeface="Arial" panose="020B0604020202020204" pitchFamily="34" charset="0"/>
              <a:buChar char="•"/>
            </a:pPr>
            <a:r>
              <a:rPr lang="en-US" sz="1000" noProof="0" dirty="0">
                <a:solidFill>
                  <a:schemeClr val="tx1"/>
                </a:solidFill>
              </a:rPr>
              <a:t>hunger constraints if any</a:t>
            </a:r>
          </a:p>
        </p:txBody>
      </p:sp>
      <p:sp>
        <p:nvSpPr>
          <p:cNvPr id="78" name="Rechteck 77">
            <a:extLst>
              <a:ext uri="{FF2B5EF4-FFF2-40B4-BE49-F238E27FC236}">
                <a16:creationId xmlns:a16="http://schemas.microsoft.com/office/drawing/2014/main" id="{B97BE23B-E3C1-16F9-4B7D-DAFA356E5E37}"/>
              </a:ext>
            </a:extLst>
          </p:cNvPr>
          <p:cNvSpPr/>
          <p:nvPr/>
        </p:nvSpPr>
        <p:spPr>
          <a:xfrm>
            <a:off x="3744742" y="3456384"/>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Handles movement according to habitat permissions.</a:t>
            </a:r>
          </a:p>
        </p:txBody>
      </p:sp>
      <p:sp>
        <p:nvSpPr>
          <p:cNvPr id="80" name="Rechteck 79">
            <a:extLst>
              <a:ext uri="{FF2B5EF4-FFF2-40B4-BE49-F238E27FC236}">
                <a16:creationId xmlns:a16="http://schemas.microsoft.com/office/drawing/2014/main" id="{5F27BD06-5622-DBD4-3BCD-47F50B1F4152}"/>
              </a:ext>
            </a:extLst>
          </p:cNvPr>
          <p:cNvSpPr/>
          <p:nvPr/>
        </p:nvSpPr>
        <p:spPr>
          <a:xfrm>
            <a:off x="251520"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agents/base_agent.py</a:t>
            </a:r>
          </a:p>
        </p:txBody>
      </p:sp>
      <p:sp>
        <p:nvSpPr>
          <p:cNvPr id="82" name="Rechteck 81">
            <a:extLst>
              <a:ext uri="{FF2B5EF4-FFF2-40B4-BE49-F238E27FC236}">
                <a16:creationId xmlns:a16="http://schemas.microsoft.com/office/drawing/2014/main" id="{A7B743BB-AB45-33B6-C59E-BE9B565D6C60}"/>
              </a:ext>
            </a:extLst>
          </p:cNvPr>
          <p:cNvSpPr/>
          <p:nvPr/>
        </p:nvSpPr>
        <p:spPr>
          <a:xfrm>
            <a:off x="3744742"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core/movement.py</a:t>
            </a:r>
          </a:p>
        </p:txBody>
      </p:sp>
      <p:cxnSp>
        <p:nvCxnSpPr>
          <p:cNvPr id="4" name="Gerader Verbinder 3">
            <a:extLst>
              <a:ext uri="{FF2B5EF4-FFF2-40B4-BE49-F238E27FC236}">
                <a16:creationId xmlns:a16="http://schemas.microsoft.com/office/drawing/2014/main" id="{16EA7DA1-FEBB-9A44-5C95-EED64C0D7D3A}"/>
              </a:ext>
            </a:extLst>
          </p:cNvPr>
          <p:cNvCxnSpPr/>
          <p:nvPr/>
        </p:nvCxnSpPr>
        <p:spPr>
          <a:xfrm>
            <a:off x="971600" y="3898890"/>
            <a:ext cx="1080120" cy="0"/>
          </a:xfrm>
          <a:prstGeom prst="line">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5" name="Rechteck 4">
            <a:extLst>
              <a:ext uri="{FF2B5EF4-FFF2-40B4-BE49-F238E27FC236}">
                <a16:creationId xmlns:a16="http://schemas.microsoft.com/office/drawing/2014/main" id="{7358440D-6941-30E7-AEFB-468C825DE3BC}"/>
              </a:ext>
            </a:extLst>
          </p:cNvPr>
          <p:cNvSpPr/>
          <p:nvPr/>
        </p:nvSpPr>
        <p:spPr>
          <a:xfrm>
            <a:off x="3744742" y="4464496"/>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Handles predator-prey encounters.</a:t>
            </a:r>
          </a:p>
        </p:txBody>
      </p:sp>
      <p:sp>
        <p:nvSpPr>
          <p:cNvPr id="6" name="Rechteck 5">
            <a:extLst>
              <a:ext uri="{FF2B5EF4-FFF2-40B4-BE49-F238E27FC236}">
                <a16:creationId xmlns:a16="http://schemas.microsoft.com/office/drawing/2014/main" id="{0422CAB9-A9FA-C76C-5CAB-E6E54661EE81}"/>
              </a:ext>
            </a:extLst>
          </p:cNvPr>
          <p:cNvSpPr/>
          <p:nvPr/>
        </p:nvSpPr>
        <p:spPr>
          <a:xfrm>
            <a:off x="3744742" y="4176464"/>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core/interactions.py</a:t>
            </a:r>
          </a:p>
        </p:txBody>
      </p:sp>
      <p:sp>
        <p:nvSpPr>
          <p:cNvPr id="7" name="Rechteck 6">
            <a:extLst>
              <a:ext uri="{FF2B5EF4-FFF2-40B4-BE49-F238E27FC236}">
                <a16:creationId xmlns:a16="http://schemas.microsoft.com/office/drawing/2014/main" id="{F389750B-DCF5-A7D7-71BE-41918762C255}"/>
              </a:ext>
            </a:extLst>
          </p:cNvPr>
          <p:cNvSpPr/>
          <p:nvPr/>
        </p:nvSpPr>
        <p:spPr>
          <a:xfrm>
            <a:off x="5508104" y="3456384"/>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Creates newborn agents.</a:t>
            </a:r>
          </a:p>
        </p:txBody>
      </p:sp>
      <p:sp>
        <p:nvSpPr>
          <p:cNvPr id="8" name="Rechteck 7">
            <a:extLst>
              <a:ext uri="{FF2B5EF4-FFF2-40B4-BE49-F238E27FC236}">
                <a16:creationId xmlns:a16="http://schemas.microsoft.com/office/drawing/2014/main" id="{5791773A-A258-689F-62A7-E859D00838F7}"/>
              </a:ext>
            </a:extLst>
          </p:cNvPr>
          <p:cNvSpPr/>
          <p:nvPr/>
        </p:nvSpPr>
        <p:spPr>
          <a:xfrm>
            <a:off x="5508104"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core/reproduction.py</a:t>
            </a:r>
          </a:p>
        </p:txBody>
      </p:sp>
      <p:sp>
        <p:nvSpPr>
          <p:cNvPr id="9" name="Rechteck 8">
            <a:extLst>
              <a:ext uri="{FF2B5EF4-FFF2-40B4-BE49-F238E27FC236}">
                <a16:creationId xmlns:a16="http://schemas.microsoft.com/office/drawing/2014/main" id="{273E9D07-A29C-AC33-E782-D707360429F6}"/>
              </a:ext>
            </a:extLst>
          </p:cNvPr>
          <p:cNvSpPr/>
          <p:nvPr/>
        </p:nvSpPr>
        <p:spPr>
          <a:xfrm>
            <a:off x="7236296" y="3453670"/>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Main simulation class holding:</a:t>
            </a:r>
          </a:p>
          <a:p>
            <a:pPr marL="171450" indent="-171450">
              <a:buFont typeface="Arial" panose="020B0604020202020204" pitchFamily="34" charset="0"/>
              <a:buChar char="•"/>
            </a:pPr>
            <a:r>
              <a:rPr lang="en-US" sz="1000" noProof="0" dirty="0">
                <a:solidFill>
                  <a:schemeClr val="tx1"/>
                </a:solidFill>
              </a:rPr>
              <a:t>habitat grid</a:t>
            </a:r>
          </a:p>
          <a:p>
            <a:pPr marL="171450" indent="-171450">
              <a:buFont typeface="Arial" panose="020B0604020202020204" pitchFamily="34" charset="0"/>
              <a:buChar char="•"/>
            </a:pPr>
            <a:r>
              <a:rPr lang="en-US" sz="1000" noProof="0" dirty="0">
                <a:solidFill>
                  <a:schemeClr val="tx1"/>
                </a:solidFill>
              </a:rPr>
              <a:t>list of agents</a:t>
            </a:r>
          </a:p>
          <a:p>
            <a:pPr marL="171450" indent="-171450">
              <a:buFont typeface="Arial" panose="020B0604020202020204" pitchFamily="34" charset="0"/>
              <a:buChar char="•"/>
            </a:pPr>
            <a:r>
              <a:rPr lang="en-US" sz="1000" noProof="0" dirty="0">
                <a:solidFill>
                  <a:schemeClr val="tx1"/>
                </a:solidFill>
              </a:rPr>
              <a:t>current time step</a:t>
            </a:r>
          </a:p>
          <a:p>
            <a:pPr marL="171450" indent="-171450">
              <a:buFont typeface="Arial" panose="020B0604020202020204" pitchFamily="34" charset="0"/>
              <a:buChar char="•"/>
            </a:pPr>
            <a:r>
              <a:rPr lang="en-US" sz="1000" noProof="0" dirty="0">
                <a:solidFill>
                  <a:schemeClr val="tx1"/>
                </a:solidFill>
              </a:rPr>
              <a:t>statistics</a:t>
            </a:r>
          </a:p>
        </p:txBody>
      </p:sp>
      <p:sp>
        <p:nvSpPr>
          <p:cNvPr id="10" name="Rechteck 9">
            <a:extLst>
              <a:ext uri="{FF2B5EF4-FFF2-40B4-BE49-F238E27FC236}">
                <a16:creationId xmlns:a16="http://schemas.microsoft.com/office/drawing/2014/main" id="{1130FC2A-0365-17A9-0893-6C8A514F8502}"/>
              </a:ext>
            </a:extLst>
          </p:cNvPr>
          <p:cNvSpPr/>
          <p:nvPr/>
        </p:nvSpPr>
        <p:spPr>
          <a:xfrm>
            <a:off x="7236296" y="3165638"/>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core/simulation.py</a:t>
            </a:r>
          </a:p>
        </p:txBody>
      </p:sp>
      <p:sp>
        <p:nvSpPr>
          <p:cNvPr id="11" name="Rechteck 10">
            <a:extLst>
              <a:ext uri="{FF2B5EF4-FFF2-40B4-BE49-F238E27FC236}">
                <a16:creationId xmlns:a16="http://schemas.microsoft.com/office/drawing/2014/main" id="{8E926783-F09F-83E8-F358-56F0EDAC31FA}"/>
              </a:ext>
            </a:extLst>
          </p:cNvPr>
          <p:cNvSpPr/>
          <p:nvPr/>
        </p:nvSpPr>
        <p:spPr>
          <a:xfrm>
            <a:off x="5505426" y="4464496"/>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Removes agents due to predation, age, or starvation.</a:t>
            </a:r>
          </a:p>
        </p:txBody>
      </p:sp>
      <p:sp>
        <p:nvSpPr>
          <p:cNvPr id="12" name="Rechteck 11">
            <a:extLst>
              <a:ext uri="{FF2B5EF4-FFF2-40B4-BE49-F238E27FC236}">
                <a16:creationId xmlns:a16="http://schemas.microsoft.com/office/drawing/2014/main" id="{E3C4D792-1387-3D45-A6D4-4C33E736E51C}"/>
              </a:ext>
            </a:extLst>
          </p:cNvPr>
          <p:cNvSpPr/>
          <p:nvPr/>
        </p:nvSpPr>
        <p:spPr>
          <a:xfrm>
            <a:off x="5505426" y="4176464"/>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core/mortality.py</a:t>
            </a:r>
          </a:p>
        </p:txBody>
      </p:sp>
    </p:spTree>
    <p:extLst>
      <p:ext uri="{BB962C8B-B14F-4D97-AF65-F5344CB8AC3E}">
        <p14:creationId xmlns:p14="http://schemas.microsoft.com/office/powerpoint/2010/main" val="384681880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9BEE35-4857-911B-2ECC-A3010279E565}"/>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3379CE8-F92D-E436-6F7A-7655F0EFA536}"/>
              </a:ext>
            </a:extLst>
          </p:cNvPr>
          <p:cNvSpPr>
            <a:spLocks noGrp="1"/>
          </p:cNvSpPr>
          <p:nvPr>
            <p:ph type="title"/>
          </p:nvPr>
        </p:nvSpPr>
        <p:spPr/>
        <p:txBody>
          <a:bodyPr/>
          <a:lstStyle/>
          <a:p>
            <a:r>
              <a:rPr lang="en-US" noProof="0" dirty="0"/>
              <a:t>Here, the single files contain the information necessary to simulate the invasive species model (2/ 2)</a:t>
            </a:r>
          </a:p>
        </p:txBody>
      </p:sp>
      <p:sp>
        <p:nvSpPr>
          <p:cNvPr id="13" name="Rechteck 12">
            <a:extLst>
              <a:ext uri="{FF2B5EF4-FFF2-40B4-BE49-F238E27FC236}">
                <a16:creationId xmlns:a16="http://schemas.microsoft.com/office/drawing/2014/main" id="{B2E52CC4-EA4E-8D5A-A4F6-0EC03683F8D7}"/>
              </a:ext>
            </a:extLst>
          </p:cNvPr>
          <p:cNvSpPr/>
          <p:nvPr/>
        </p:nvSpPr>
        <p:spPr>
          <a:xfrm>
            <a:off x="1979712" y="1419622"/>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Tracks:</a:t>
            </a:r>
          </a:p>
          <a:p>
            <a:pPr marL="177800" indent="-177800">
              <a:buFont typeface="Arial" panose="020B0604020202020204" pitchFamily="34" charset="0"/>
              <a:buChar char="•"/>
            </a:pPr>
            <a:r>
              <a:rPr lang="en-US" sz="1000" noProof="0" dirty="0">
                <a:solidFill>
                  <a:schemeClr val="tx1"/>
                </a:solidFill>
              </a:rPr>
              <a:t>total counts by species</a:t>
            </a:r>
          </a:p>
          <a:p>
            <a:pPr marL="177800" indent="-177800">
              <a:buFont typeface="Arial" panose="020B0604020202020204" pitchFamily="34" charset="0"/>
              <a:buChar char="•"/>
            </a:pPr>
            <a:r>
              <a:rPr lang="en-US" sz="1000" noProof="0" dirty="0">
                <a:solidFill>
                  <a:schemeClr val="tx1"/>
                </a:solidFill>
              </a:rPr>
              <a:t>births/ deaths by species</a:t>
            </a:r>
          </a:p>
          <a:p>
            <a:pPr marL="177800" indent="-177800">
              <a:buFont typeface="Arial" panose="020B0604020202020204" pitchFamily="34" charset="0"/>
              <a:buChar char="•"/>
            </a:pPr>
            <a:r>
              <a:rPr lang="en-US" sz="1000" noProof="0" dirty="0">
                <a:solidFill>
                  <a:schemeClr val="tx1"/>
                </a:solidFill>
              </a:rPr>
              <a:t>number of predation events</a:t>
            </a:r>
          </a:p>
          <a:p>
            <a:pPr marL="177800" indent="-177800">
              <a:buFont typeface="Arial" panose="020B0604020202020204" pitchFamily="34" charset="0"/>
              <a:buChar char="•"/>
            </a:pPr>
            <a:r>
              <a:rPr lang="en-US" sz="1000" noProof="0" dirty="0">
                <a:solidFill>
                  <a:schemeClr val="tx1"/>
                </a:solidFill>
              </a:rPr>
              <a:t>spatial occupancy summaries</a:t>
            </a:r>
          </a:p>
        </p:txBody>
      </p:sp>
      <p:sp>
        <p:nvSpPr>
          <p:cNvPr id="14" name="Rechteck 13">
            <a:extLst>
              <a:ext uri="{FF2B5EF4-FFF2-40B4-BE49-F238E27FC236}">
                <a16:creationId xmlns:a16="http://schemas.microsoft.com/office/drawing/2014/main" id="{C2B2AE48-C73D-B05C-902F-73F95D49F190}"/>
              </a:ext>
            </a:extLst>
          </p:cNvPr>
          <p:cNvSpPr/>
          <p:nvPr/>
        </p:nvSpPr>
        <p:spPr>
          <a:xfrm>
            <a:off x="248842" y="3456384"/>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Static plots:</a:t>
            </a:r>
          </a:p>
          <a:p>
            <a:pPr marL="177800" indent="-177800">
              <a:buFont typeface="Arial" panose="020B0604020202020204" pitchFamily="34" charset="0"/>
              <a:buChar char="•"/>
            </a:pPr>
            <a:r>
              <a:rPr lang="en-US" sz="1000" noProof="0" dirty="0">
                <a:solidFill>
                  <a:schemeClr val="tx1"/>
                </a:solidFill>
              </a:rPr>
              <a:t>habitat map</a:t>
            </a:r>
          </a:p>
          <a:p>
            <a:pPr marL="177800" indent="-177800">
              <a:buFont typeface="Arial" panose="020B0604020202020204" pitchFamily="34" charset="0"/>
              <a:buChar char="•"/>
            </a:pPr>
            <a:r>
              <a:rPr lang="en-US" sz="1000" noProof="0" dirty="0">
                <a:solidFill>
                  <a:schemeClr val="tx1"/>
                </a:solidFill>
              </a:rPr>
              <a:t>population time series</a:t>
            </a:r>
          </a:p>
          <a:p>
            <a:pPr marL="177800" indent="-177800">
              <a:buFont typeface="Arial" panose="020B0604020202020204" pitchFamily="34" charset="0"/>
              <a:buChar char="•"/>
            </a:pPr>
            <a:r>
              <a:rPr lang="en-US" sz="1000" noProof="0" dirty="0">
                <a:solidFill>
                  <a:schemeClr val="tx1"/>
                </a:solidFill>
              </a:rPr>
              <a:t>snapshots of species positions</a:t>
            </a:r>
          </a:p>
        </p:txBody>
      </p:sp>
      <p:sp>
        <p:nvSpPr>
          <p:cNvPr id="15" name="Rechteck 14">
            <a:extLst>
              <a:ext uri="{FF2B5EF4-FFF2-40B4-BE49-F238E27FC236}">
                <a16:creationId xmlns:a16="http://schemas.microsoft.com/office/drawing/2014/main" id="{9550A2FB-D2E5-3601-1175-F1AA2A1B507B}"/>
              </a:ext>
            </a:extLst>
          </p:cNvPr>
          <p:cNvSpPr/>
          <p:nvPr/>
        </p:nvSpPr>
        <p:spPr>
          <a:xfrm>
            <a:off x="2012204" y="3456384"/>
            <a:ext cx="1656184" cy="1563638"/>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Checks for debugging:</a:t>
            </a:r>
          </a:p>
          <a:p>
            <a:pPr marL="171450" indent="-171450">
              <a:buFont typeface="Arial" panose="020B0604020202020204" pitchFamily="34" charset="0"/>
              <a:buChar char="•"/>
            </a:pPr>
            <a:r>
              <a:rPr lang="en-US" sz="1000" noProof="0" dirty="0">
                <a:solidFill>
                  <a:schemeClr val="tx1"/>
                </a:solidFill>
              </a:rPr>
              <a:t>valid habitat indices</a:t>
            </a:r>
          </a:p>
          <a:p>
            <a:pPr marL="171450" indent="-171450">
              <a:buFont typeface="Arial" panose="020B0604020202020204" pitchFamily="34" charset="0"/>
              <a:buChar char="•"/>
            </a:pPr>
            <a:r>
              <a:rPr lang="en-US" sz="1000" noProof="0" dirty="0">
                <a:solidFill>
                  <a:schemeClr val="tx1"/>
                </a:solidFill>
              </a:rPr>
              <a:t>valid agent positions</a:t>
            </a:r>
          </a:p>
          <a:p>
            <a:pPr marL="171450" indent="-171450">
              <a:buFont typeface="Arial" panose="020B0604020202020204" pitchFamily="34" charset="0"/>
              <a:buChar char="•"/>
            </a:pPr>
            <a:r>
              <a:rPr lang="en-US" sz="1000" noProof="0" dirty="0">
                <a:solidFill>
                  <a:schemeClr val="tx1"/>
                </a:solidFill>
              </a:rPr>
              <a:t>agents only on permitted habitats</a:t>
            </a:r>
          </a:p>
          <a:p>
            <a:pPr marL="171450" indent="-171450">
              <a:buFont typeface="Arial" panose="020B0604020202020204" pitchFamily="34" charset="0"/>
              <a:buChar char="•"/>
            </a:pPr>
            <a:r>
              <a:rPr lang="en-US" sz="1000" noProof="0" dirty="0">
                <a:solidFill>
                  <a:schemeClr val="tx1"/>
                </a:solidFill>
              </a:rPr>
              <a:t>no negative counts</a:t>
            </a:r>
          </a:p>
        </p:txBody>
      </p:sp>
      <p:sp>
        <p:nvSpPr>
          <p:cNvPr id="17" name="Rechteck 16">
            <a:extLst>
              <a:ext uri="{FF2B5EF4-FFF2-40B4-BE49-F238E27FC236}">
                <a16:creationId xmlns:a16="http://schemas.microsoft.com/office/drawing/2014/main" id="{2EEB1745-AB52-D4F4-9EB5-BDFC86F5E377}"/>
              </a:ext>
            </a:extLst>
          </p:cNvPr>
          <p:cNvSpPr/>
          <p:nvPr/>
        </p:nvSpPr>
        <p:spPr>
          <a:xfrm>
            <a:off x="1979712"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output/metrics.py</a:t>
            </a:r>
          </a:p>
        </p:txBody>
      </p:sp>
      <p:sp>
        <p:nvSpPr>
          <p:cNvPr id="18" name="Rechteck 17">
            <a:extLst>
              <a:ext uri="{FF2B5EF4-FFF2-40B4-BE49-F238E27FC236}">
                <a16:creationId xmlns:a16="http://schemas.microsoft.com/office/drawing/2014/main" id="{7668FEE0-4487-B80A-126E-8E5A2DD20075}"/>
              </a:ext>
            </a:extLst>
          </p:cNvPr>
          <p:cNvSpPr/>
          <p:nvPr/>
        </p:nvSpPr>
        <p:spPr>
          <a:xfrm>
            <a:off x="248842"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output/visualizer.py</a:t>
            </a:r>
          </a:p>
        </p:txBody>
      </p:sp>
      <p:sp>
        <p:nvSpPr>
          <p:cNvPr id="19" name="Rechteck 18">
            <a:extLst>
              <a:ext uri="{FF2B5EF4-FFF2-40B4-BE49-F238E27FC236}">
                <a16:creationId xmlns:a16="http://schemas.microsoft.com/office/drawing/2014/main" id="{32551E07-6546-5A17-BA17-4F28DFD75566}"/>
              </a:ext>
            </a:extLst>
          </p:cNvPr>
          <p:cNvSpPr/>
          <p:nvPr/>
        </p:nvSpPr>
        <p:spPr>
          <a:xfrm>
            <a:off x="2012204" y="316835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utils/validation.py</a:t>
            </a:r>
          </a:p>
        </p:txBody>
      </p:sp>
      <p:sp>
        <p:nvSpPr>
          <p:cNvPr id="32" name="Rechteck 31">
            <a:extLst>
              <a:ext uri="{FF2B5EF4-FFF2-40B4-BE49-F238E27FC236}">
                <a16:creationId xmlns:a16="http://schemas.microsoft.com/office/drawing/2014/main" id="{9BD24D4E-23A8-A3FD-5CFD-1C94008F6720}"/>
              </a:ext>
            </a:extLst>
          </p:cNvPr>
          <p:cNvSpPr/>
          <p:nvPr/>
        </p:nvSpPr>
        <p:spPr>
          <a:xfrm>
            <a:off x="251520" y="1419622"/>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Creates newborn agents.</a:t>
            </a:r>
          </a:p>
        </p:txBody>
      </p:sp>
      <p:sp>
        <p:nvSpPr>
          <p:cNvPr id="33" name="Rechteck 32">
            <a:extLst>
              <a:ext uri="{FF2B5EF4-FFF2-40B4-BE49-F238E27FC236}">
                <a16:creationId xmlns:a16="http://schemas.microsoft.com/office/drawing/2014/main" id="{BDA9696F-873B-2D21-26DC-BA57084AD789}"/>
              </a:ext>
            </a:extLst>
          </p:cNvPr>
          <p:cNvSpPr/>
          <p:nvPr/>
        </p:nvSpPr>
        <p:spPr>
          <a:xfrm>
            <a:off x="248842" y="2427734"/>
            <a:ext cx="1656184" cy="555526"/>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1000" noProof="0" dirty="0">
                <a:solidFill>
                  <a:schemeClr val="tx1"/>
                </a:solidFill>
              </a:rPr>
              <a:t>Animated lattice over time.</a:t>
            </a:r>
          </a:p>
        </p:txBody>
      </p:sp>
      <p:sp>
        <p:nvSpPr>
          <p:cNvPr id="34" name="Rechteck 33">
            <a:extLst>
              <a:ext uri="{FF2B5EF4-FFF2-40B4-BE49-F238E27FC236}">
                <a16:creationId xmlns:a16="http://schemas.microsoft.com/office/drawing/2014/main" id="{08AB1F14-0E1F-0296-98BC-E2579F926D97}"/>
              </a:ext>
            </a:extLst>
          </p:cNvPr>
          <p:cNvSpPr/>
          <p:nvPr/>
        </p:nvSpPr>
        <p:spPr>
          <a:xfrm>
            <a:off x="248842" y="2139702"/>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200" noProof="0" dirty="0">
                <a:solidFill>
                  <a:schemeClr val="tx1"/>
                </a:solidFill>
              </a:rPr>
              <a:t>output/animation.py</a:t>
            </a:r>
          </a:p>
        </p:txBody>
      </p:sp>
      <p:sp>
        <p:nvSpPr>
          <p:cNvPr id="16" name="Rechteck 15">
            <a:extLst>
              <a:ext uri="{FF2B5EF4-FFF2-40B4-BE49-F238E27FC236}">
                <a16:creationId xmlns:a16="http://schemas.microsoft.com/office/drawing/2014/main" id="{8A6071D1-46AB-61AF-83FC-FE1111E4403D}"/>
              </a:ext>
            </a:extLst>
          </p:cNvPr>
          <p:cNvSpPr/>
          <p:nvPr/>
        </p:nvSpPr>
        <p:spPr>
          <a:xfrm>
            <a:off x="251520" y="1131590"/>
            <a:ext cx="1656184" cy="288032"/>
          </a:xfrm>
          <a:prstGeom prst="rect">
            <a:avLst/>
          </a:prstGeom>
          <a:solidFill>
            <a:schemeClr val="tx2">
              <a:lumMod val="20000"/>
              <a:lumOff val="80000"/>
            </a:schemeClr>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r>
              <a:rPr lang="en-US" sz="1200" noProof="0" dirty="0">
                <a:solidFill>
                  <a:schemeClr val="tx1"/>
                </a:solidFill>
              </a:rPr>
              <a:t>core/carrying_capacity.py</a:t>
            </a:r>
          </a:p>
        </p:txBody>
      </p:sp>
      <p:sp>
        <p:nvSpPr>
          <p:cNvPr id="3" name="Rechteck 2">
            <a:extLst>
              <a:ext uri="{FF2B5EF4-FFF2-40B4-BE49-F238E27FC236}">
                <a16:creationId xmlns:a16="http://schemas.microsoft.com/office/drawing/2014/main" id="{A927DD4F-705B-30B9-B91B-F21486618EF5}"/>
              </a:ext>
            </a:extLst>
          </p:cNvPr>
          <p:cNvSpPr/>
          <p:nvPr/>
        </p:nvSpPr>
        <p:spPr>
          <a:xfrm>
            <a:off x="4572000" y="1131590"/>
            <a:ext cx="4320480"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spcAft>
                <a:spcPts val="600"/>
              </a:spcAft>
            </a:pPr>
            <a:r>
              <a:rPr lang="en-US" sz="1400" noProof="0" dirty="0">
                <a:solidFill>
                  <a:schemeClr val="tx1"/>
                </a:solidFill>
              </a:rPr>
              <a:t>We want these tendencies:</a:t>
            </a:r>
          </a:p>
          <a:p>
            <a:pPr marL="182563" indent="-182563">
              <a:spcAft>
                <a:spcPts val="600"/>
              </a:spcAft>
              <a:buFont typeface="Arial" panose="020B0604020202020204" pitchFamily="34" charset="0"/>
              <a:buChar char="•"/>
            </a:pPr>
            <a:r>
              <a:rPr lang="en-US" sz="1400" noProof="0" dirty="0">
                <a:solidFill>
                  <a:schemeClr val="tx1"/>
                </a:solidFill>
              </a:rPr>
              <a:t>IT: seek native trout in the lake</a:t>
            </a:r>
          </a:p>
          <a:p>
            <a:pPr marL="182563" indent="-182563">
              <a:spcAft>
                <a:spcPts val="600"/>
              </a:spcAft>
              <a:buFont typeface="Arial" panose="020B0604020202020204" pitchFamily="34" charset="0"/>
              <a:buChar char="•"/>
            </a:pPr>
            <a:r>
              <a:rPr lang="en-US" sz="1400" noProof="0" dirty="0">
                <a:solidFill>
                  <a:schemeClr val="tx1"/>
                </a:solidFill>
              </a:rPr>
              <a:t>NT: if invasive trout are nearby in the lake, move toward river cells</a:t>
            </a:r>
          </a:p>
          <a:p>
            <a:pPr marL="182563" indent="-182563">
              <a:spcAft>
                <a:spcPts val="600"/>
              </a:spcAft>
              <a:buFont typeface="Arial" panose="020B0604020202020204" pitchFamily="34" charset="0"/>
              <a:buChar char="•"/>
            </a:pPr>
            <a:r>
              <a:rPr lang="en-US" sz="1400" noProof="0" dirty="0">
                <a:solidFill>
                  <a:schemeClr val="tx1"/>
                </a:solidFill>
              </a:rPr>
              <a:t>P: strongly seek lake cells containing native trout, and stay near the lake</a:t>
            </a:r>
          </a:p>
          <a:p>
            <a:pPr marL="182563" indent="-182563">
              <a:spcAft>
                <a:spcPts val="600"/>
              </a:spcAft>
              <a:buFont typeface="Arial" panose="020B0604020202020204" pitchFamily="34" charset="0"/>
              <a:buChar char="•"/>
            </a:pPr>
            <a:r>
              <a:rPr lang="en-US" sz="1400" noProof="0" dirty="0">
                <a:solidFill>
                  <a:schemeClr val="tx1"/>
                </a:solidFill>
              </a:rPr>
              <a:t>B: first seek native trout in river cells; if river trout become scarce, seek elk in grassland</a:t>
            </a:r>
          </a:p>
          <a:p>
            <a:pPr marL="182563" indent="-182563">
              <a:spcAft>
                <a:spcPts val="600"/>
              </a:spcAft>
              <a:buFont typeface="Arial" panose="020B0604020202020204" pitchFamily="34" charset="0"/>
              <a:buChar char="•"/>
            </a:pPr>
            <a:r>
              <a:rPr lang="en-US" sz="1400" noProof="0" dirty="0">
                <a:solidFill>
                  <a:schemeClr val="tx1"/>
                </a:solidFill>
              </a:rPr>
              <a:t>E: just remain in grassland</a:t>
            </a:r>
          </a:p>
          <a:p>
            <a:pPr>
              <a:spcAft>
                <a:spcPts val="600"/>
              </a:spcAft>
            </a:pPr>
            <a:endParaRPr lang="en-US" sz="1400" noProof="0" dirty="0">
              <a:solidFill>
                <a:schemeClr val="tx1"/>
              </a:solidFill>
            </a:endParaRPr>
          </a:p>
          <a:p>
            <a:pPr>
              <a:spcAft>
                <a:spcPts val="600"/>
              </a:spcAft>
            </a:pPr>
            <a:r>
              <a:rPr lang="en-US" sz="1400" noProof="0" dirty="0">
                <a:solidFill>
                  <a:schemeClr val="tx1"/>
                </a:solidFill>
              </a:rPr>
              <a:t>Hence, our program need directed movement</a:t>
            </a:r>
          </a:p>
        </p:txBody>
      </p:sp>
    </p:spTree>
    <p:extLst>
      <p:ext uri="{BB962C8B-B14F-4D97-AF65-F5344CB8AC3E}">
        <p14:creationId xmlns:p14="http://schemas.microsoft.com/office/powerpoint/2010/main" val="156368783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555580-7744-9396-0BD1-E8BCD44CCC3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9D9AC603-E732-20D4-57F6-C2C060408F09}"/>
              </a:ext>
            </a:extLst>
          </p:cNvPr>
          <p:cNvSpPr>
            <a:spLocks noGrp="1"/>
          </p:cNvSpPr>
          <p:nvPr>
            <p:ph type="title"/>
          </p:nvPr>
        </p:nvSpPr>
        <p:spPr/>
        <p:txBody>
          <a:bodyPr/>
          <a:lstStyle/>
          <a:p>
            <a:r>
              <a:rPr lang="en-US" noProof="0" dirty="0"/>
              <a:t>Simulation 1:</a:t>
            </a:r>
            <a:br>
              <a:rPr lang="en-US" noProof="0" dirty="0"/>
            </a:br>
            <a:r>
              <a:rPr lang="en-US" noProof="0" dirty="0"/>
              <a:t>Ecosystem without invasive trout</a:t>
            </a:r>
          </a:p>
        </p:txBody>
      </p:sp>
      <p:sp>
        <p:nvSpPr>
          <p:cNvPr id="6" name="Rechteck 5">
            <a:extLst>
              <a:ext uri="{FF2B5EF4-FFF2-40B4-BE49-F238E27FC236}">
                <a16:creationId xmlns:a16="http://schemas.microsoft.com/office/drawing/2014/main" id="{D7D6A580-5943-4CC8-ACD7-BFF654CC883D}"/>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Ecosystem without Invasive Trout</a:t>
            </a:r>
          </a:p>
        </p:txBody>
      </p:sp>
      <p:grpSp>
        <p:nvGrpSpPr>
          <p:cNvPr id="7" name="Gruppieren 6">
            <a:extLst>
              <a:ext uri="{FF2B5EF4-FFF2-40B4-BE49-F238E27FC236}">
                <a16:creationId xmlns:a16="http://schemas.microsoft.com/office/drawing/2014/main" id="{5C7E247F-0A0C-E8E4-755C-74CD96C509C1}"/>
              </a:ext>
            </a:extLst>
          </p:cNvPr>
          <p:cNvGrpSpPr/>
          <p:nvPr/>
        </p:nvGrpSpPr>
        <p:grpSpPr>
          <a:xfrm>
            <a:off x="251520" y="1131588"/>
            <a:ext cx="1656184" cy="936107"/>
            <a:chOff x="251520" y="1131588"/>
            <a:chExt cx="1656184" cy="936107"/>
          </a:xfrm>
        </p:grpSpPr>
        <p:sp>
          <p:nvSpPr>
            <p:cNvPr id="8" name="Rechteck 7">
              <a:extLst>
                <a:ext uri="{FF2B5EF4-FFF2-40B4-BE49-F238E27FC236}">
                  <a16:creationId xmlns:a16="http://schemas.microsoft.com/office/drawing/2014/main" id="{5FC9606A-942E-FEBF-496C-2DF066621BDB}"/>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D66797C5-4FC7-CBF9-421D-D7BA2145C065}"/>
                </a:ext>
              </a:extLst>
            </p:cNvPr>
            <p:cNvPicPr>
              <a:picLocks noChangeAspect="1"/>
            </p:cNvPicPr>
            <p:nvPr/>
          </p:nvPicPr>
          <p:blipFill>
            <a:blip r:embed="rId2"/>
            <a:srcRect t="5700" b="15210"/>
            <a:stretch>
              <a:fillRect/>
            </a:stretch>
          </p:blipFill>
          <p:spPr>
            <a:xfrm>
              <a:off x="487821" y="1131589"/>
              <a:ext cx="1183583" cy="936106"/>
            </a:xfrm>
            <a:prstGeom prst="rect">
              <a:avLst/>
            </a:prstGeom>
          </p:spPr>
        </p:pic>
      </p:grpSp>
      <p:pic>
        <p:nvPicPr>
          <p:cNvPr id="4" name="Grafik 3">
            <a:extLst>
              <a:ext uri="{FF2B5EF4-FFF2-40B4-BE49-F238E27FC236}">
                <a16:creationId xmlns:a16="http://schemas.microsoft.com/office/drawing/2014/main" id="{6676B94A-8B4A-97AF-C40A-946ECF8D22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79712" y="1131588"/>
            <a:ext cx="3888432" cy="3888432"/>
          </a:xfrm>
          <a:prstGeom prst="rect">
            <a:avLst/>
          </a:prstGeom>
        </p:spPr>
      </p:pic>
      <p:sp>
        <p:nvSpPr>
          <p:cNvPr id="5" name="Rechteck 4">
            <a:extLst>
              <a:ext uri="{FF2B5EF4-FFF2-40B4-BE49-F238E27FC236}">
                <a16:creationId xmlns:a16="http://schemas.microsoft.com/office/drawing/2014/main" id="{CAAA77F6-86C7-CFD7-196E-3A843A0BCA4D}"/>
              </a:ext>
            </a:extLst>
          </p:cNvPr>
          <p:cNvSpPr/>
          <p:nvPr/>
        </p:nvSpPr>
        <p:spPr>
          <a:xfrm>
            <a:off x="1979712" y="1131588"/>
            <a:ext cx="3888432" cy="3888432"/>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Rechteck 12">
            <a:extLst>
              <a:ext uri="{FF2B5EF4-FFF2-40B4-BE49-F238E27FC236}">
                <a16:creationId xmlns:a16="http://schemas.microsoft.com/office/drawing/2014/main" id="{3A9F38E7-41C3-8A61-3142-C7D04158870A}"/>
              </a:ext>
            </a:extLst>
          </p:cNvPr>
          <p:cNvSpPr/>
          <p:nvPr/>
        </p:nvSpPr>
        <p:spPr>
          <a:xfrm>
            <a:off x="5933692" y="1131590"/>
            <a:ext cx="2952328" cy="388843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50" noProof="0" dirty="0">
                <a:solidFill>
                  <a:schemeClr val="tx1"/>
                </a:solidFill>
              </a:rPr>
              <a:t>GRID_WIDTH = 30,   GRID_HEIGHT = 30</a:t>
            </a:r>
          </a:p>
          <a:p>
            <a:endParaRPr lang="en-US" sz="850" noProof="0" dirty="0">
              <a:solidFill>
                <a:schemeClr val="tx1"/>
              </a:solidFill>
            </a:endParaRPr>
          </a:p>
          <a:p>
            <a:r>
              <a:rPr lang="en-US" sz="850" noProof="0" dirty="0">
                <a:solidFill>
                  <a:schemeClr val="tx1"/>
                </a:solidFill>
              </a:rPr>
              <a:t>TIME_STEPS = 100</a:t>
            </a:r>
          </a:p>
          <a:p>
            <a:r>
              <a:rPr lang="en-US" sz="850" noProof="0" dirty="0">
                <a:solidFill>
                  <a:schemeClr val="tx1"/>
                </a:solidFill>
              </a:rPr>
              <a:t>RANDOM_SEED = 42</a:t>
            </a:r>
          </a:p>
          <a:p>
            <a:endParaRPr lang="en-US" sz="850" noProof="0" dirty="0">
              <a:solidFill>
                <a:schemeClr val="tx1"/>
              </a:solidFill>
            </a:endParaRPr>
          </a:p>
          <a:p>
            <a:r>
              <a:rPr lang="en-US" sz="850" noProof="0" dirty="0">
                <a:solidFill>
                  <a:schemeClr val="tx1"/>
                </a:solidFill>
              </a:rPr>
              <a:t>NT: 60, B: 8,   P: 12,   E: 30 </a:t>
            </a:r>
          </a:p>
          <a:p>
            <a:endParaRPr lang="en-US" sz="850" noProof="0" dirty="0">
              <a:solidFill>
                <a:schemeClr val="tx1"/>
              </a:solidFill>
            </a:endParaRPr>
          </a:p>
          <a:p>
            <a:r>
              <a:rPr lang="en-US" sz="850" noProof="0" dirty="0" err="1">
                <a:solidFill>
                  <a:schemeClr val="tx1"/>
                </a:solidFill>
              </a:rPr>
              <a:t>P_on_NT</a:t>
            </a:r>
            <a:r>
              <a:rPr lang="en-US" sz="850" noProof="0" dirty="0">
                <a:solidFill>
                  <a:schemeClr val="tx1"/>
                </a:solidFill>
              </a:rPr>
              <a:t>:  0.60,    # birds on native trout in lake</a:t>
            </a:r>
          </a:p>
          <a:p>
            <a:r>
              <a:rPr lang="en-US" sz="850" noProof="0" dirty="0" err="1">
                <a:solidFill>
                  <a:schemeClr val="tx1"/>
                </a:solidFill>
              </a:rPr>
              <a:t>B_on_NT</a:t>
            </a:r>
            <a:r>
              <a:rPr lang="en-US" sz="850" noProof="0" dirty="0">
                <a:solidFill>
                  <a:schemeClr val="tx1"/>
                </a:solidFill>
              </a:rPr>
              <a:t>:  0.75,    # bears on native trout in river</a:t>
            </a:r>
          </a:p>
          <a:p>
            <a:r>
              <a:rPr lang="en-US" sz="850" noProof="0" dirty="0" err="1">
                <a:solidFill>
                  <a:schemeClr val="tx1"/>
                </a:solidFill>
              </a:rPr>
              <a:t>B_on_E</a:t>
            </a:r>
            <a:r>
              <a:rPr lang="en-US" sz="850" noProof="0" dirty="0">
                <a:solidFill>
                  <a:schemeClr val="tx1"/>
                </a:solidFill>
              </a:rPr>
              <a:t>:     0.25     # bears on elk in grassland</a:t>
            </a:r>
          </a:p>
          <a:p>
            <a:endParaRPr lang="en-US" sz="850" noProof="0" dirty="0">
              <a:solidFill>
                <a:schemeClr val="tx1"/>
              </a:solidFill>
            </a:endParaRPr>
          </a:p>
          <a:p>
            <a:r>
              <a:rPr lang="en-US" sz="850" noProof="0" dirty="0">
                <a:solidFill>
                  <a:schemeClr val="tx1"/>
                </a:solidFill>
              </a:rPr>
              <a:t># Species-specific maximum ages</a:t>
            </a:r>
          </a:p>
          <a:p>
            <a:r>
              <a:rPr lang="en-US" sz="850" noProof="0" dirty="0">
                <a:solidFill>
                  <a:schemeClr val="tx1"/>
                </a:solidFill>
              </a:rPr>
              <a:t>NT: 40,   B: 60,   P: 45,   E: 50</a:t>
            </a:r>
          </a:p>
          <a:p>
            <a:endParaRPr lang="en-US" sz="850" noProof="0" dirty="0">
              <a:solidFill>
                <a:schemeClr val="tx1"/>
              </a:solidFill>
            </a:endParaRPr>
          </a:p>
          <a:p>
            <a:r>
              <a:rPr lang="en-US" sz="850" noProof="0" dirty="0">
                <a:solidFill>
                  <a:schemeClr val="tx1"/>
                </a:solidFill>
              </a:rPr>
              <a:t># Per-step birth probabilities</a:t>
            </a:r>
          </a:p>
          <a:p>
            <a:r>
              <a:rPr lang="en-US" sz="850" noProof="0" dirty="0">
                <a:solidFill>
                  <a:schemeClr val="tx1"/>
                </a:solidFill>
              </a:rPr>
              <a:t>NT: 0.08, B: 0.03,   P: 0.04,   E: 0.05</a:t>
            </a:r>
          </a:p>
          <a:p>
            <a:endParaRPr lang="en-US" sz="850" noProof="0" dirty="0">
              <a:solidFill>
                <a:schemeClr val="tx1"/>
              </a:solidFill>
            </a:endParaRPr>
          </a:p>
          <a:p>
            <a:r>
              <a:rPr lang="en-US" sz="850" noProof="0" dirty="0">
                <a:solidFill>
                  <a:schemeClr val="tx1"/>
                </a:solidFill>
              </a:rPr>
              <a:t># Total carrying capacities</a:t>
            </a:r>
          </a:p>
          <a:p>
            <a:r>
              <a:rPr lang="en-US" sz="850" noProof="0" dirty="0">
                <a:solidFill>
                  <a:schemeClr val="tx1"/>
                </a:solidFill>
              </a:rPr>
              <a:t>NT: 140,   E: 120</a:t>
            </a:r>
          </a:p>
          <a:p>
            <a:endParaRPr lang="en-US" sz="850" noProof="0" dirty="0">
              <a:solidFill>
                <a:schemeClr val="tx1"/>
              </a:solidFill>
            </a:endParaRPr>
          </a:p>
          <a:p>
            <a:r>
              <a:rPr lang="en-US" sz="850" noProof="0" dirty="0">
                <a:solidFill>
                  <a:schemeClr val="tx1"/>
                </a:solidFill>
              </a:rPr>
              <a:t># Feeding constraints</a:t>
            </a:r>
          </a:p>
          <a:p>
            <a:r>
              <a:rPr lang="en-US" sz="850" noProof="0" dirty="0">
                <a:solidFill>
                  <a:schemeClr val="tx1"/>
                </a:solidFill>
              </a:rPr>
              <a:t>BIRD_STARVE_AFTER = 12</a:t>
            </a:r>
          </a:p>
          <a:p>
            <a:r>
              <a:rPr lang="en-US" sz="850" noProof="0" dirty="0">
                <a:solidFill>
                  <a:schemeClr val="tx1"/>
                </a:solidFill>
              </a:rPr>
              <a:t>BEAR_STARVE_NT_AFTER = 7</a:t>
            </a:r>
          </a:p>
          <a:p>
            <a:r>
              <a:rPr lang="en-US" sz="850" noProof="0" dirty="0">
                <a:solidFill>
                  <a:schemeClr val="tx1"/>
                </a:solidFill>
              </a:rPr>
              <a:t>BEAR_STARVE_E_AFTER = 12</a:t>
            </a:r>
          </a:p>
          <a:p>
            <a:endParaRPr lang="en-US" sz="850" noProof="0" dirty="0">
              <a:solidFill>
                <a:schemeClr val="tx1"/>
              </a:solidFill>
            </a:endParaRPr>
          </a:p>
          <a:p>
            <a:r>
              <a:rPr lang="en-US" sz="850" noProof="0" dirty="0">
                <a:solidFill>
                  <a:schemeClr val="tx1"/>
                </a:solidFill>
              </a:rPr>
              <a:t># Movement / sensing</a:t>
            </a:r>
          </a:p>
          <a:p>
            <a:r>
              <a:rPr lang="en-US" sz="850" noProof="0" dirty="0">
                <a:solidFill>
                  <a:schemeClr val="tx1"/>
                </a:solidFill>
              </a:rPr>
              <a:t>SENSING_RADIUS = 3</a:t>
            </a:r>
          </a:p>
        </p:txBody>
      </p:sp>
    </p:spTree>
    <p:extLst>
      <p:ext uri="{BB962C8B-B14F-4D97-AF65-F5344CB8AC3E}">
        <p14:creationId xmlns:p14="http://schemas.microsoft.com/office/powerpoint/2010/main" val="1487324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43754-0390-D41C-9A71-CC68CCBAE146}"/>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BDDC1BE-DDD1-F3CB-934F-EA1ADA90EDF7}"/>
              </a:ext>
            </a:extLst>
          </p:cNvPr>
          <p:cNvSpPr>
            <a:spLocks noGrp="1"/>
          </p:cNvSpPr>
          <p:nvPr>
            <p:ph type="title"/>
          </p:nvPr>
        </p:nvSpPr>
        <p:spPr/>
        <p:txBody>
          <a:bodyPr/>
          <a:lstStyle/>
          <a:p>
            <a:r>
              <a:rPr lang="en-US" noProof="0" dirty="0"/>
              <a:t>Simulation 1:</a:t>
            </a:r>
            <a:br>
              <a:rPr lang="en-US" noProof="0" dirty="0"/>
            </a:br>
            <a:r>
              <a:rPr lang="en-US" noProof="0" dirty="0"/>
              <a:t>Ecosystem without invasive trout</a:t>
            </a:r>
          </a:p>
        </p:txBody>
      </p:sp>
      <p:sp>
        <p:nvSpPr>
          <p:cNvPr id="3" name="Rechteck 2">
            <a:extLst>
              <a:ext uri="{FF2B5EF4-FFF2-40B4-BE49-F238E27FC236}">
                <a16:creationId xmlns:a16="http://schemas.microsoft.com/office/drawing/2014/main" id="{B60185B8-2A36-7141-E91D-A9DB55A4059C}"/>
              </a:ext>
            </a:extLst>
          </p:cNvPr>
          <p:cNvSpPr/>
          <p:nvPr/>
        </p:nvSpPr>
        <p:spPr>
          <a:xfrm>
            <a:off x="251520" y="1131590"/>
            <a:ext cx="4334883" cy="309634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4" name="Grafik 13">
            <a:extLst>
              <a:ext uri="{FF2B5EF4-FFF2-40B4-BE49-F238E27FC236}">
                <a16:creationId xmlns:a16="http://schemas.microsoft.com/office/drawing/2014/main" id="{9F38BF8E-B86C-6FF5-749E-6DB21817C8A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69278" y="1160996"/>
            <a:ext cx="4293712" cy="3066937"/>
          </a:xfrm>
          <a:prstGeom prst="rect">
            <a:avLst/>
          </a:prstGeom>
        </p:spPr>
      </p:pic>
      <p:sp>
        <p:nvSpPr>
          <p:cNvPr id="11" name="Rechteck 10">
            <a:extLst>
              <a:ext uri="{FF2B5EF4-FFF2-40B4-BE49-F238E27FC236}">
                <a16:creationId xmlns:a16="http://schemas.microsoft.com/office/drawing/2014/main" id="{3FBCB658-8FAC-F67B-B4D4-3F8326D26CA0}"/>
              </a:ext>
            </a:extLst>
          </p:cNvPr>
          <p:cNvSpPr/>
          <p:nvPr/>
        </p:nvSpPr>
        <p:spPr>
          <a:xfrm>
            <a:off x="3347864" y="1527635"/>
            <a:ext cx="5559018" cy="3528392"/>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18" name="Grafik 17">
            <a:extLst>
              <a:ext uri="{FF2B5EF4-FFF2-40B4-BE49-F238E27FC236}">
                <a16:creationId xmlns:a16="http://schemas.microsoft.com/office/drawing/2014/main" id="{6308A689-478A-E563-C69D-09469E632DD0}"/>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383685" y="1577026"/>
            <a:ext cx="5487376" cy="3429610"/>
          </a:xfrm>
          <a:prstGeom prst="rect">
            <a:avLst/>
          </a:prstGeom>
        </p:spPr>
      </p:pic>
    </p:spTree>
    <p:extLst>
      <p:ext uri="{BB962C8B-B14F-4D97-AF65-F5344CB8AC3E}">
        <p14:creationId xmlns:p14="http://schemas.microsoft.com/office/powerpoint/2010/main" val="2649960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64FF4C-B37C-6CF7-14E0-F446DB5269DF}"/>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5AC7D39D-2A7D-2A6F-F4B0-0CEFDD34E4EA}"/>
              </a:ext>
            </a:extLst>
          </p:cNvPr>
          <p:cNvSpPr>
            <a:spLocks noGrp="1"/>
          </p:cNvSpPr>
          <p:nvPr>
            <p:ph type="title"/>
          </p:nvPr>
        </p:nvSpPr>
        <p:spPr/>
        <p:txBody>
          <a:bodyPr/>
          <a:lstStyle/>
          <a:p>
            <a:r>
              <a:rPr lang="en-US" noProof="0" dirty="0"/>
              <a:t>Simulation 1:</a:t>
            </a:r>
            <a:br>
              <a:rPr lang="en-US" noProof="0" dirty="0"/>
            </a:br>
            <a:r>
              <a:rPr lang="en-US" noProof="0" dirty="0"/>
              <a:t>Ecosystem without invasive trout</a:t>
            </a:r>
          </a:p>
        </p:txBody>
      </p:sp>
      <p:pic>
        <p:nvPicPr>
          <p:cNvPr id="5" name="Grafik 4">
            <a:extLst>
              <a:ext uri="{FF2B5EF4-FFF2-40B4-BE49-F238E27FC236}">
                <a16:creationId xmlns:a16="http://schemas.microsoft.com/office/drawing/2014/main" id="{A093D4DA-DDA8-87B0-F7D0-7460FA8843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1516" y="51470"/>
            <a:ext cx="5040560" cy="5040560"/>
          </a:xfrm>
          <a:prstGeom prst="rect">
            <a:avLst/>
          </a:prstGeom>
        </p:spPr>
      </p:pic>
    </p:spTree>
    <p:extLst>
      <p:ext uri="{BB962C8B-B14F-4D97-AF65-F5344CB8AC3E}">
        <p14:creationId xmlns:p14="http://schemas.microsoft.com/office/powerpoint/2010/main" val="5481545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93193D-C378-69AC-F936-E7498AF27F18}"/>
            </a:ext>
          </a:extLst>
        </p:cNvPr>
        <p:cNvGrpSpPr/>
        <p:nvPr/>
      </p:nvGrpSpPr>
      <p:grpSpPr>
        <a:xfrm>
          <a:off x="0" y="0"/>
          <a:ext cx="0" cy="0"/>
          <a:chOff x="0" y="0"/>
          <a:chExt cx="0" cy="0"/>
        </a:xfrm>
      </p:grpSpPr>
      <p:pic>
        <p:nvPicPr>
          <p:cNvPr id="19" name="Grafik 18">
            <a:extLst>
              <a:ext uri="{FF2B5EF4-FFF2-40B4-BE49-F238E27FC236}">
                <a16:creationId xmlns:a16="http://schemas.microsoft.com/office/drawing/2014/main" id="{612A4A08-0DF2-9CD1-D35B-DD2D9100EC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0" y="1131590"/>
            <a:ext cx="3867894" cy="3867894"/>
          </a:xfrm>
          <a:prstGeom prst="rect">
            <a:avLst/>
          </a:prstGeom>
        </p:spPr>
      </p:pic>
      <p:sp>
        <p:nvSpPr>
          <p:cNvPr id="2" name="Titel 1">
            <a:extLst>
              <a:ext uri="{FF2B5EF4-FFF2-40B4-BE49-F238E27FC236}">
                <a16:creationId xmlns:a16="http://schemas.microsoft.com/office/drawing/2014/main" id="{F6EDFE43-39AF-9E5B-FBB5-8F99C096FCDB}"/>
              </a:ext>
            </a:extLst>
          </p:cNvPr>
          <p:cNvSpPr>
            <a:spLocks noGrp="1"/>
          </p:cNvSpPr>
          <p:nvPr>
            <p:ph type="title"/>
          </p:nvPr>
        </p:nvSpPr>
        <p:spPr/>
        <p:txBody>
          <a:bodyPr/>
          <a:lstStyle/>
          <a:p>
            <a:r>
              <a:rPr lang="en-US" noProof="0" dirty="0"/>
              <a:t>Simulation 2:</a:t>
            </a:r>
            <a:br>
              <a:rPr lang="en-US" noProof="0" dirty="0"/>
            </a:br>
            <a:r>
              <a:rPr lang="en-US" noProof="0" dirty="0"/>
              <a:t>Ecosystem with invasive trout</a:t>
            </a:r>
          </a:p>
        </p:txBody>
      </p:sp>
      <p:sp>
        <p:nvSpPr>
          <p:cNvPr id="6" name="Rechteck 5">
            <a:extLst>
              <a:ext uri="{FF2B5EF4-FFF2-40B4-BE49-F238E27FC236}">
                <a16:creationId xmlns:a16="http://schemas.microsoft.com/office/drawing/2014/main" id="{B8B43E2F-C67D-0DCE-D794-C10B0D6B7EEF}"/>
              </a:ext>
            </a:extLst>
          </p:cNvPr>
          <p:cNvSpPr/>
          <p:nvPr/>
        </p:nvSpPr>
        <p:spPr>
          <a:xfrm>
            <a:off x="251520" y="2139702"/>
            <a:ext cx="1656184" cy="2880320"/>
          </a:xfrm>
          <a:prstGeom prst="rect">
            <a:avLst/>
          </a:prstGeom>
          <a:no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algn="ctr">
              <a:spcAft>
                <a:spcPts val="600"/>
              </a:spcAft>
            </a:pPr>
            <a:r>
              <a:rPr lang="en-US" sz="1200" b="1" noProof="0" dirty="0">
                <a:solidFill>
                  <a:schemeClr val="tx1"/>
                </a:solidFill>
              </a:rPr>
              <a:t>Ecosystem with Invasive Trout</a:t>
            </a:r>
          </a:p>
        </p:txBody>
      </p:sp>
      <p:grpSp>
        <p:nvGrpSpPr>
          <p:cNvPr id="7" name="Gruppieren 6">
            <a:extLst>
              <a:ext uri="{FF2B5EF4-FFF2-40B4-BE49-F238E27FC236}">
                <a16:creationId xmlns:a16="http://schemas.microsoft.com/office/drawing/2014/main" id="{6BA13C35-463C-043F-6BE2-35A1EF4EE9BE}"/>
              </a:ext>
            </a:extLst>
          </p:cNvPr>
          <p:cNvGrpSpPr/>
          <p:nvPr/>
        </p:nvGrpSpPr>
        <p:grpSpPr>
          <a:xfrm>
            <a:off x="251520" y="1131588"/>
            <a:ext cx="1656184" cy="936107"/>
            <a:chOff x="251520" y="1131588"/>
            <a:chExt cx="1656184" cy="936107"/>
          </a:xfrm>
        </p:grpSpPr>
        <p:sp>
          <p:nvSpPr>
            <p:cNvPr id="8" name="Rechteck 7">
              <a:extLst>
                <a:ext uri="{FF2B5EF4-FFF2-40B4-BE49-F238E27FC236}">
                  <a16:creationId xmlns:a16="http://schemas.microsoft.com/office/drawing/2014/main" id="{545F2462-DAD4-EEA5-A03E-16E984DE3837}"/>
                </a:ext>
              </a:extLst>
            </p:cNvPr>
            <p:cNvSpPr/>
            <p:nvPr/>
          </p:nvSpPr>
          <p:spPr>
            <a:xfrm>
              <a:off x="251520" y="1131588"/>
              <a:ext cx="1656184" cy="936106"/>
            </a:xfrm>
            <a:prstGeom prst="rect">
              <a:avLst/>
            </a:prstGeom>
            <a:solidFill>
              <a:schemeClr val="tx2"/>
            </a:solidFill>
            <a:ln>
              <a:solidFill>
                <a:schemeClr val="tx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9" name="Grafik 8">
              <a:extLst>
                <a:ext uri="{FF2B5EF4-FFF2-40B4-BE49-F238E27FC236}">
                  <a16:creationId xmlns:a16="http://schemas.microsoft.com/office/drawing/2014/main" id="{94A9BB76-EFFD-2F9D-6977-F301DA4570E4}"/>
                </a:ext>
              </a:extLst>
            </p:cNvPr>
            <p:cNvPicPr>
              <a:picLocks noChangeAspect="1"/>
            </p:cNvPicPr>
            <p:nvPr/>
          </p:nvPicPr>
          <p:blipFill>
            <a:blip r:embed="rId3"/>
            <a:srcRect t="5700" b="15210"/>
            <a:stretch>
              <a:fillRect/>
            </a:stretch>
          </p:blipFill>
          <p:spPr>
            <a:xfrm>
              <a:off x="487821" y="1131589"/>
              <a:ext cx="1183583" cy="936106"/>
            </a:xfrm>
            <a:prstGeom prst="rect">
              <a:avLst/>
            </a:prstGeom>
          </p:spPr>
        </p:pic>
      </p:grpSp>
      <p:sp>
        <p:nvSpPr>
          <p:cNvPr id="17" name="Rechteck 16">
            <a:extLst>
              <a:ext uri="{FF2B5EF4-FFF2-40B4-BE49-F238E27FC236}">
                <a16:creationId xmlns:a16="http://schemas.microsoft.com/office/drawing/2014/main" id="{7D5B6BA7-3238-E36A-AF09-55D6B8C6942A}"/>
              </a:ext>
            </a:extLst>
          </p:cNvPr>
          <p:cNvSpPr/>
          <p:nvPr/>
        </p:nvSpPr>
        <p:spPr>
          <a:xfrm>
            <a:off x="1979712" y="1131588"/>
            <a:ext cx="3867894" cy="388843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20" name="Rechteck 19">
            <a:extLst>
              <a:ext uri="{FF2B5EF4-FFF2-40B4-BE49-F238E27FC236}">
                <a16:creationId xmlns:a16="http://schemas.microsoft.com/office/drawing/2014/main" id="{61D72632-4C26-F6D6-3F75-73582F3D659F}"/>
              </a:ext>
            </a:extLst>
          </p:cNvPr>
          <p:cNvSpPr/>
          <p:nvPr/>
        </p:nvSpPr>
        <p:spPr>
          <a:xfrm>
            <a:off x="5933692" y="1131590"/>
            <a:ext cx="2952328" cy="3888432"/>
          </a:xfrm>
          <a:prstGeom prst="rect">
            <a:avLst/>
          </a:prstGeom>
          <a:solidFill>
            <a:schemeClr val="tx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en-US" sz="850" noProof="0" dirty="0">
                <a:solidFill>
                  <a:schemeClr val="tx1"/>
                </a:solidFill>
              </a:rPr>
              <a:t>GRID_WIDTH = 30,   GRID_HEIGHT = 30</a:t>
            </a:r>
          </a:p>
          <a:p>
            <a:endParaRPr lang="en-US" sz="850" noProof="0" dirty="0">
              <a:solidFill>
                <a:schemeClr val="tx1"/>
              </a:solidFill>
            </a:endParaRPr>
          </a:p>
          <a:p>
            <a:r>
              <a:rPr lang="en-US" sz="850" noProof="0" dirty="0">
                <a:solidFill>
                  <a:schemeClr val="tx1"/>
                </a:solidFill>
              </a:rPr>
              <a:t>TIME_STEPS = 100</a:t>
            </a:r>
          </a:p>
          <a:p>
            <a:r>
              <a:rPr lang="en-US" sz="850" noProof="0" dirty="0">
                <a:solidFill>
                  <a:schemeClr val="tx1"/>
                </a:solidFill>
              </a:rPr>
              <a:t>RANDOM_SEED = 42</a:t>
            </a:r>
          </a:p>
          <a:p>
            <a:endParaRPr lang="en-US" sz="850" noProof="0" dirty="0">
              <a:solidFill>
                <a:schemeClr val="tx1"/>
              </a:solidFill>
            </a:endParaRPr>
          </a:p>
          <a:p>
            <a:r>
              <a:rPr lang="en-US" sz="850" noProof="0" dirty="0">
                <a:solidFill>
                  <a:schemeClr val="tx1"/>
                </a:solidFill>
              </a:rPr>
              <a:t>NT: 60,   </a:t>
            </a:r>
            <a:r>
              <a:rPr lang="en-US" sz="850" b="1" noProof="0" dirty="0">
                <a:solidFill>
                  <a:srgbClr val="C00000"/>
                </a:solidFill>
              </a:rPr>
              <a:t>IT: 18</a:t>
            </a:r>
            <a:r>
              <a:rPr lang="en-US" sz="850" noProof="0" dirty="0">
                <a:solidFill>
                  <a:schemeClr val="tx1"/>
                </a:solidFill>
              </a:rPr>
              <a:t>,   B: 8,   P: 12,   E: 30 </a:t>
            </a:r>
          </a:p>
          <a:p>
            <a:endParaRPr lang="en-US" sz="850" noProof="0" dirty="0">
              <a:solidFill>
                <a:schemeClr val="tx1"/>
              </a:solidFill>
            </a:endParaRPr>
          </a:p>
          <a:p>
            <a:r>
              <a:rPr lang="en-US" sz="850" b="1" noProof="0" dirty="0" err="1">
                <a:solidFill>
                  <a:srgbClr val="C00000"/>
                </a:solidFill>
              </a:rPr>
              <a:t>IT_on_NT</a:t>
            </a:r>
            <a:r>
              <a:rPr lang="en-US" sz="850" b="1" noProof="0" dirty="0">
                <a:solidFill>
                  <a:srgbClr val="C00000"/>
                </a:solidFill>
              </a:rPr>
              <a:t>: 0.45,    # invasive trout on native trout in lake</a:t>
            </a:r>
          </a:p>
          <a:p>
            <a:r>
              <a:rPr lang="en-US" sz="850" noProof="0" dirty="0" err="1">
                <a:solidFill>
                  <a:schemeClr val="tx1"/>
                </a:solidFill>
              </a:rPr>
              <a:t>P_on_NT</a:t>
            </a:r>
            <a:r>
              <a:rPr lang="en-US" sz="850" noProof="0" dirty="0">
                <a:solidFill>
                  <a:schemeClr val="tx1"/>
                </a:solidFill>
              </a:rPr>
              <a:t>:  0.60,    # birds on native trout in lake</a:t>
            </a:r>
          </a:p>
          <a:p>
            <a:r>
              <a:rPr lang="en-US" sz="850" noProof="0" dirty="0" err="1">
                <a:solidFill>
                  <a:schemeClr val="tx1"/>
                </a:solidFill>
              </a:rPr>
              <a:t>B_on_NT</a:t>
            </a:r>
            <a:r>
              <a:rPr lang="en-US" sz="850" noProof="0" dirty="0">
                <a:solidFill>
                  <a:schemeClr val="tx1"/>
                </a:solidFill>
              </a:rPr>
              <a:t>:  0.75,    # bears on native trout in river</a:t>
            </a:r>
          </a:p>
          <a:p>
            <a:r>
              <a:rPr lang="en-US" sz="850" noProof="0" dirty="0" err="1">
                <a:solidFill>
                  <a:schemeClr val="tx1"/>
                </a:solidFill>
              </a:rPr>
              <a:t>B_on_E</a:t>
            </a:r>
            <a:r>
              <a:rPr lang="en-US" sz="850" noProof="0" dirty="0">
                <a:solidFill>
                  <a:schemeClr val="tx1"/>
                </a:solidFill>
              </a:rPr>
              <a:t>:     0.25     # bears on elk in grassland</a:t>
            </a:r>
          </a:p>
          <a:p>
            <a:endParaRPr lang="en-US" sz="850" noProof="0" dirty="0">
              <a:solidFill>
                <a:schemeClr val="tx1"/>
              </a:solidFill>
            </a:endParaRPr>
          </a:p>
          <a:p>
            <a:r>
              <a:rPr lang="en-US" sz="850" noProof="0" dirty="0">
                <a:solidFill>
                  <a:schemeClr val="tx1"/>
                </a:solidFill>
              </a:rPr>
              <a:t># Species-specific maximum ages</a:t>
            </a:r>
          </a:p>
          <a:p>
            <a:r>
              <a:rPr lang="en-US" sz="850" noProof="0" dirty="0">
                <a:solidFill>
                  <a:schemeClr val="tx1"/>
                </a:solidFill>
              </a:rPr>
              <a:t>NT: 40,   </a:t>
            </a:r>
            <a:r>
              <a:rPr lang="en-US" sz="850" b="1" noProof="0" dirty="0">
                <a:solidFill>
                  <a:srgbClr val="C00000"/>
                </a:solidFill>
              </a:rPr>
              <a:t>IT: 35</a:t>
            </a:r>
            <a:r>
              <a:rPr lang="en-US" sz="850" noProof="0" dirty="0">
                <a:solidFill>
                  <a:schemeClr val="tx1"/>
                </a:solidFill>
              </a:rPr>
              <a:t>,   B: 60,   P: 45,   E: 50</a:t>
            </a:r>
          </a:p>
          <a:p>
            <a:endParaRPr lang="en-US" sz="850" noProof="0" dirty="0">
              <a:solidFill>
                <a:schemeClr val="tx1"/>
              </a:solidFill>
            </a:endParaRPr>
          </a:p>
          <a:p>
            <a:r>
              <a:rPr lang="en-US" sz="850" noProof="0" dirty="0">
                <a:solidFill>
                  <a:schemeClr val="tx1"/>
                </a:solidFill>
              </a:rPr>
              <a:t># Per-step birth probabilities</a:t>
            </a:r>
          </a:p>
          <a:p>
            <a:r>
              <a:rPr lang="en-US" sz="850" noProof="0" dirty="0">
                <a:solidFill>
                  <a:schemeClr val="tx1"/>
                </a:solidFill>
              </a:rPr>
              <a:t>NT: 0.08,   </a:t>
            </a:r>
            <a:r>
              <a:rPr lang="en-US" sz="850" b="1" noProof="0" dirty="0">
                <a:solidFill>
                  <a:srgbClr val="C00000"/>
                </a:solidFill>
              </a:rPr>
              <a:t>IT: 0.06</a:t>
            </a:r>
            <a:r>
              <a:rPr lang="en-US" sz="850" noProof="0" dirty="0">
                <a:solidFill>
                  <a:schemeClr val="tx1"/>
                </a:solidFill>
              </a:rPr>
              <a:t>,   B: 0.03,   P: 0.04,   E: 0.05</a:t>
            </a:r>
          </a:p>
          <a:p>
            <a:endParaRPr lang="en-US" sz="850" noProof="0" dirty="0">
              <a:solidFill>
                <a:schemeClr val="tx1"/>
              </a:solidFill>
            </a:endParaRPr>
          </a:p>
          <a:p>
            <a:r>
              <a:rPr lang="en-US" sz="850" noProof="0" dirty="0">
                <a:solidFill>
                  <a:schemeClr val="tx1"/>
                </a:solidFill>
              </a:rPr>
              <a:t># Total carrying capacities</a:t>
            </a:r>
          </a:p>
          <a:p>
            <a:r>
              <a:rPr lang="en-US" sz="850" noProof="0" dirty="0">
                <a:solidFill>
                  <a:schemeClr val="tx1"/>
                </a:solidFill>
              </a:rPr>
              <a:t>NT: 140,   </a:t>
            </a:r>
            <a:r>
              <a:rPr lang="en-US" sz="850" b="1" noProof="0" dirty="0">
                <a:solidFill>
                  <a:srgbClr val="C00000"/>
                </a:solidFill>
              </a:rPr>
              <a:t>IT: 90</a:t>
            </a:r>
            <a:r>
              <a:rPr lang="en-US" sz="850" noProof="0" dirty="0">
                <a:solidFill>
                  <a:schemeClr val="tx1"/>
                </a:solidFill>
              </a:rPr>
              <a:t>,   E: 120</a:t>
            </a:r>
          </a:p>
          <a:p>
            <a:endParaRPr lang="en-US" sz="850" noProof="0" dirty="0">
              <a:solidFill>
                <a:schemeClr val="tx1"/>
              </a:solidFill>
            </a:endParaRPr>
          </a:p>
          <a:p>
            <a:r>
              <a:rPr lang="en-US" sz="850" noProof="0" dirty="0">
                <a:solidFill>
                  <a:schemeClr val="tx1"/>
                </a:solidFill>
              </a:rPr>
              <a:t># Feeding constraints</a:t>
            </a:r>
          </a:p>
          <a:p>
            <a:r>
              <a:rPr lang="en-US" sz="850" noProof="0" dirty="0">
                <a:solidFill>
                  <a:schemeClr val="tx1"/>
                </a:solidFill>
              </a:rPr>
              <a:t>BIRD_STARVE_AFTER = 12</a:t>
            </a:r>
          </a:p>
          <a:p>
            <a:r>
              <a:rPr lang="en-US" sz="850" noProof="0" dirty="0">
                <a:solidFill>
                  <a:schemeClr val="tx1"/>
                </a:solidFill>
              </a:rPr>
              <a:t>BEAR_STARVE_NT_AFTER = 7</a:t>
            </a:r>
          </a:p>
          <a:p>
            <a:r>
              <a:rPr lang="en-US" sz="850" noProof="0" dirty="0">
                <a:solidFill>
                  <a:schemeClr val="tx1"/>
                </a:solidFill>
              </a:rPr>
              <a:t>BEAR_STARVE_E_AFTER = 12</a:t>
            </a:r>
          </a:p>
          <a:p>
            <a:endParaRPr lang="en-US" sz="850" noProof="0" dirty="0">
              <a:solidFill>
                <a:schemeClr val="tx1"/>
              </a:solidFill>
            </a:endParaRPr>
          </a:p>
          <a:p>
            <a:r>
              <a:rPr lang="en-US" sz="850" noProof="0" dirty="0">
                <a:solidFill>
                  <a:schemeClr val="tx1"/>
                </a:solidFill>
              </a:rPr>
              <a:t># Movement / sensing</a:t>
            </a:r>
          </a:p>
          <a:p>
            <a:r>
              <a:rPr lang="en-US" sz="850" noProof="0" dirty="0">
                <a:solidFill>
                  <a:schemeClr val="tx1"/>
                </a:solidFill>
              </a:rPr>
              <a:t>SENSING_RADIUS = 3</a:t>
            </a:r>
          </a:p>
        </p:txBody>
      </p:sp>
    </p:spTree>
    <p:extLst>
      <p:ext uri="{BB962C8B-B14F-4D97-AF65-F5344CB8AC3E}">
        <p14:creationId xmlns:p14="http://schemas.microsoft.com/office/powerpoint/2010/main" val="35893273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09C6B-90D0-6B0C-7262-4570D9D504A4}"/>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87BF3F3F-AE05-FC0E-2CFF-6EF8E70BC366}"/>
              </a:ext>
            </a:extLst>
          </p:cNvPr>
          <p:cNvSpPr>
            <a:spLocks noGrp="1"/>
          </p:cNvSpPr>
          <p:nvPr>
            <p:ph type="title"/>
          </p:nvPr>
        </p:nvSpPr>
        <p:spPr/>
        <p:txBody>
          <a:bodyPr/>
          <a:lstStyle/>
          <a:p>
            <a:r>
              <a:rPr lang="en-US" noProof="0" dirty="0"/>
              <a:t>Simulation 2:</a:t>
            </a:r>
            <a:br>
              <a:rPr lang="en-US" noProof="0" dirty="0"/>
            </a:br>
            <a:r>
              <a:rPr lang="en-US" noProof="0" dirty="0"/>
              <a:t>Ecosystem with invasive trout</a:t>
            </a:r>
          </a:p>
        </p:txBody>
      </p:sp>
      <p:pic>
        <p:nvPicPr>
          <p:cNvPr id="4" name="Grafik 3">
            <a:extLst>
              <a:ext uri="{FF2B5EF4-FFF2-40B4-BE49-F238E27FC236}">
                <a16:creationId xmlns:a16="http://schemas.microsoft.com/office/drawing/2014/main" id="{D4CD153D-0E8E-EFF0-D3A1-54E8319B8B4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251521" y="1131590"/>
            <a:ext cx="4334882" cy="3096344"/>
          </a:xfrm>
          <a:prstGeom prst="rect">
            <a:avLst/>
          </a:prstGeom>
        </p:spPr>
      </p:pic>
      <p:sp>
        <p:nvSpPr>
          <p:cNvPr id="5" name="Rechteck 4">
            <a:extLst>
              <a:ext uri="{FF2B5EF4-FFF2-40B4-BE49-F238E27FC236}">
                <a16:creationId xmlns:a16="http://schemas.microsoft.com/office/drawing/2014/main" id="{A2C9F1A0-829C-B981-2775-8B07A0461AA7}"/>
              </a:ext>
            </a:extLst>
          </p:cNvPr>
          <p:cNvSpPr/>
          <p:nvPr/>
        </p:nvSpPr>
        <p:spPr>
          <a:xfrm>
            <a:off x="251520" y="1131590"/>
            <a:ext cx="4334883" cy="3096344"/>
          </a:xfrm>
          <a:prstGeom prst="rect">
            <a:avLst/>
          </a:prstGeom>
          <a:no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6" name="Rechteck 5">
            <a:extLst>
              <a:ext uri="{FF2B5EF4-FFF2-40B4-BE49-F238E27FC236}">
                <a16:creationId xmlns:a16="http://schemas.microsoft.com/office/drawing/2014/main" id="{07A68B08-C924-E751-F5C5-50F43B97FC6D}"/>
              </a:ext>
            </a:extLst>
          </p:cNvPr>
          <p:cNvSpPr/>
          <p:nvPr/>
        </p:nvSpPr>
        <p:spPr>
          <a:xfrm>
            <a:off x="3635896" y="1527635"/>
            <a:ext cx="5270986" cy="3528392"/>
          </a:xfrm>
          <a:prstGeom prst="rect">
            <a:avLst/>
          </a:prstGeom>
          <a:solidFill>
            <a:schemeClr val="bg1"/>
          </a:solidFill>
          <a:ln>
            <a:solidFill>
              <a:schemeClr val="tx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pic>
        <p:nvPicPr>
          <p:cNvPr id="8" name="Grafik 7">
            <a:extLst>
              <a:ext uri="{FF2B5EF4-FFF2-40B4-BE49-F238E27FC236}">
                <a16:creationId xmlns:a16="http://schemas.microsoft.com/office/drawing/2014/main" id="{A196351F-816B-D499-E9BF-A30B1DF7955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679101" y="1563639"/>
            <a:ext cx="5184576" cy="3456384"/>
          </a:xfrm>
          <a:prstGeom prst="rect">
            <a:avLst/>
          </a:prstGeom>
        </p:spPr>
      </p:pic>
    </p:spTree>
    <p:extLst>
      <p:ext uri="{BB962C8B-B14F-4D97-AF65-F5344CB8AC3E}">
        <p14:creationId xmlns:p14="http://schemas.microsoft.com/office/powerpoint/2010/main" val="27143656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F6A741-CD2F-F67E-20D7-D2C232632B59}"/>
            </a:ext>
          </a:extLst>
        </p:cNvPr>
        <p:cNvGrpSpPr/>
        <p:nvPr/>
      </p:nvGrpSpPr>
      <p:grpSpPr>
        <a:xfrm>
          <a:off x="0" y="0"/>
          <a:ext cx="0" cy="0"/>
          <a:chOff x="0" y="0"/>
          <a:chExt cx="0" cy="0"/>
        </a:xfrm>
      </p:grpSpPr>
      <p:sp>
        <p:nvSpPr>
          <p:cNvPr id="2" name="Titel 1">
            <a:extLst>
              <a:ext uri="{FF2B5EF4-FFF2-40B4-BE49-F238E27FC236}">
                <a16:creationId xmlns:a16="http://schemas.microsoft.com/office/drawing/2014/main" id="{E41D26FD-0CA1-5123-5020-EAC2C1174E7D}"/>
              </a:ext>
            </a:extLst>
          </p:cNvPr>
          <p:cNvSpPr>
            <a:spLocks noGrp="1"/>
          </p:cNvSpPr>
          <p:nvPr>
            <p:ph type="title"/>
          </p:nvPr>
        </p:nvSpPr>
        <p:spPr/>
        <p:txBody>
          <a:bodyPr/>
          <a:lstStyle/>
          <a:p>
            <a:r>
              <a:rPr lang="en-US" noProof="0" dirty="0"/>
              <a:t>Simulation 2:</a:t>
            </a:r>
            <a:br>
              <a:rPr lang="en-US" noProof="0" dirty="0"/>
            </a:br>
            <a:r>
              <a:rPr lang="en-US" noProof="0" dirty="0"/>
              <a:t>Ecosystem with invasive trout</a:t>
            </a:r>
          </a:p>
        </p:txBody>
      </p:sp>
      <p:pic>
        <p:nvPicPr>
          <p:cNvPr id="4" name="Grafik 3">
            <a:extLst>
              <a:ext uri="{FF2B5EF4-FFF2-40B4-BE49-F238E27FC236}">
                <a16:creationId xmlns:a16="http://schemas.microsoft.com/office/drawing/2014/main" id="{FE59CD0D-8D68-9C5D-1642-CA5A40F1AD1B}"/>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403648" y="1086584"/>
            <a:ext cx="6347048" cy="3966905"/>
          </a:xfrm>
          <a:prstGeom prst="rect">
            <a:avLst/>
          </a:prstGeom>
        </p:spPr>
      </p:pic>
    </p:spTree>
    <p:extLst>
      <p:ext uri="{BB962C8B-B14F-4D97-AF65-F5344CB8AC3E}">
        <p14:creationId xmlns:p14="http://schemas.microsoft.com/office/powerpoint/2010/main" val="406465257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el 2"/>
          <p:cNvSpPr>
            <a:spLocks noGrp="1"/>
          </p:cNvSpPr>
          <p:nvPr>
            <p:ph type="ctrTitle"/>
          </p:nvPr>
        </p:nvSpPr>
        <p:spPr>
          <a:xfrm>
            <a:off x="3851920" y="1275606"/>
            <a:ext cx="5040560" cy="864095"/>
          </a:xfrm>
        </p:spPr>
        <p:txBody>
          <a:bodyPr/>
          <a:lstStyle/>
          <a:p>
            <a:r>
              <a:rPr lang="en-US" noProof="0" dirty="0"/>
              <a:t>Computational Biomathematics</a:t>
            </a:r>
          </a:p>
        </p:txBody>
      </p:sp>
      <p:sp>
        <p:nvSpPr>
          <p:cNvPr id="4" name="Textfeld 3"/>
          <p:cNvSpPr txBox="1"/>
          <p:nvPr/>
        </p:nvSpPr>
        <p:spPr>
          <a:xfrm>
            <a:off x="6917350" y="4712245"/>
            <a:ext cx="1974066" cy="307777"/>
          </a:xfrm>
          <a:prstGeom prst="rect">
            <a:avLst/>
          </a:prstGeom>
          <a:noFill/>
        </p:spPr>
        <p:txBody>
          <a:bodyPr wrap="none" rtlCol="0">
            <a:spAutoFit/>
          </a:bodyPr>
          <a:lstStyle/>
          <a:p>
            <a:pPr algn="r"/>
            <a:r>
              <a:rPr lang="en-US" sz="1400" noProof="0" dirty="0"/>
              <a:t>florian.rupp@kiu.edu.ge</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v4sBCPrLdUOGmmGtjuAVn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P5ULgxRsCUC2aETaaLLMLg"/>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ZwayLLHUoUaSByAvs2zANw"/>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6wS88IkDwk2u2UXfeYk5sQ"/>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dQrG_PT1jUaZ5G6vt.PRtg"/>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cIYaHeW61US7GVC_CvTlV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KY06EWmBMUKiWbxTgKZHj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plAlQONa1hU24NWfOu_k0Xw"/>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pn9gNzT53jU6HzP9VqlC8Bw"/>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pAV12iISWwkOOVDsSNsZR1w"/>
</p:tagLst>
</file>

<file path=ppt/theme/theme1.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2.xml><?xml version="1.0" encoding="utf-8"?>
<a:theme xmlns:a="http://schemas.openxmlformats.org/drawingml/2006/main" name="1_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rnd" cmpd="sng" algn="ctr">
          <a:solidFill>
            <a:schemeClr val="phClr">
              <a:shade val="95000"/>
              <a:satMod val="105000"/>
            </a:schemeClr>
          </a:solidFill>
          <a:prstDash val="solid"/>
        </a:ln>
        <a:ln w="25400" cap="rnd" cmpd="sng" algn="ctr">
          <a:solidFill>
            <a:schemeClr val="phClr"/>
          </a:solidFill>
          <a:prstDash val="solid"/>
        </a:ln>
        <a:ln w="38100" cap="rnd" cmpd="sng" algn="ctr">
          <a:solidFill>
            <a:schemeClr val="phClr"/>
          </a:solidFill>
          <a:prstDash val="solid"/>
        </a:ln>
      </a:lnStyleLst>
      <a:effectStyleLst>
        <a:effectStyle>
          <a:effectLst>
            <a:outerShdw blurRad="40000" dist="20000" dir="5400000">
              <a:srgbClr val="000000">
                <a:alpha val="38000"/>
              </a:srgbClr>
            </a:outerShdw>
          </a:effectLst>
        </a:effectStyle>
        <a:effectStyle>
          <a:effectLst>
            <a:outerShdw blurRad="40000" dist="23000" dir="5400000">
              <a:srgbClr val="000000">
                <a:alpha val="35000"/>
              </a:srgbClr>
            </a:outerShdw>
          </a:effectLst>
        </a:effectStyle>
        <a:effectStyle>
          <a:effectLst>
            <a:outerShdw blurRad="40000" dist="23000" dir="540000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100000" t="-60000" r="100000" b="200000"/>
          </a:path>
        </a:gradFill>
        <a:gradFill rotWithShape="1">
          <a:gsLst>
            <a:gs pos="0">
              <a:schemeClr val="phClr">
                <a:tint val="80000"/>
                <a:satMod val="300000"/>
              </a:schemeClr>
            </a:gs>
            <a:gs pos="100000">
              <a:schemeClr val="phClr">
                <a:shade val="30000"/>
                <a:satMod val="200000"/>
              </a:schemeClr>
            </a:gs>
          </a:gsLst>
          <a:path path="circle">
            <a:fillToRect l="100000" t="100000" r="100000" b="100000"/>
          </a:path>
        </a:gradFill>
      </a:bgFillStyleLst>
    </a:fmtScheme>
  </a:themeElements>
  <a:objectDefaults/>
  <a:extraClrSchemeLst/>
</a:theme>
</file>

<file path=ppt/theme/theme3.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3716</Words>
  <Application>Microsoft Office PowerPoint</Application>
  <PresentationFormat>Bildschirmpräsentation (16:9)</PresentationFormat>
  <Paragraphs>555</Paragraphs>
  <Slides>30</Slides>
  <Notes>0</Notes>
  <HiddenSlides>0</HiddenSlides>
  <MMClips>0</MMClips>
  <ScaleCrop>false</ScaleCrop>
  <HeadingPairs>
    <vt:vector size="6" baseType="variant">
      <vt:variant>
        <vt:lpstr>Verwendete Schriftarten</vt:lpstr>
      </vt:variant>
      <vt:variant>
        <vt:i4>5</vt:i4>
      </vt:variant>
      <vt:variant>
        <vt:lpstr>Design</vt:lpstr>
      </vt:variant>
      <vt:variant>
        <vt:i4>2</vt:i4>
      </vt:variant>
      <vt:variant>
        <vt:lpstr>Folientitel</vt:lpstr>
      </vt:variant>
      <vt:variant>
        <vt:i4>30</vt:i4>
      </vt:variant>
    </vt:vector>
  </HeadingPairs>
  <TitlesOfParts>
    <vt:vector size="37" baseType="lpstr">
      <vt:lpstr>Courier New</vt:lpstr>
      <vt:lpstr>Symbol</vt:lpstr>
      <vt:lpstr>Wingdings</vt:lpstr>
      <vt:lpstr>Calibri</vt:lpstr>
      <vt:lpstr>Arial</vt:lpstr>
      <vt:lpstr>Larissa-Design</vt:lpstr>
      <vt:lpstr>1_Larissa-Design</vt:lpstr>
      <vt:lpstr>Computational Biomathematics</vt:lpstr>
      <vt:lpstr>PowerPoint-Präsentation</vt:lpstr>
      <vt:lpstr>How wolves became gardeners</vt:lpstr>
      <vt:lpstr>The conceptual model: Multi-agent design (1/ 3)</vt:lpstr>
      <vt:lpstr>The conceptual model: Multi-agent design (2a/ 3)</vt:lpstr>
      <vt:lpstr>The conceptual model: Multi-agent design (2b/ 3)</vt:lpstr>
      <vt:lpstr>The conceptual model: Multi-agent design (2c/ 3)</vt:lpstr>
      <vt:lpstr>The conceptual model: Multi-agent design (3/ 3)</vt:lpstr>
      <vt:lpstr>To support AI-assisted coding, we use a very modular program structure</vt:lpstr>
      <vt:lpstr>Here, the single files contain the information necessary to simulate the Yellowstone model (1/ 2)</vt:lpstr>
      <vt:lpstr>Here, the single files contain the information necessary to simulate the Yellowstone model (2/ 2)</vt:lpstr>
      <vt:lpstr>Simulation 1: Animation of the dynamics – 1/ 2</vt:lpstr>
      <vt:lpstr>Simulation 1: Animation of the dynamics – 2/ 2</vt:lpstr>
      <vt:lpstr>Simulation 2: The wolf effect – increasing percentage of forest</vt:lpstr>
      <vt:lpstr>PowerPoint-Präsentation</vt:lpstr>
      <vt:lpstr>Based on [Peller &amp; Altermatt, 2024] we are simulating the effects of invasive species on ecosystems (1/ 2)</vt:lpstr>
      <vt:lpstr>Based on [Peller &amp; Alermatt, 2024] we are simulating the effects of invasive species on ecosystems (2a/ 2)</vt:lpstr>
      <vt:lpstr>Based on [Peller &amp; Alermatt, 2024] we are simulating the effects of invasive species on ecosystems (2b/ 2)</vt:lpstr>
      <vt:lpstr>Scenario : Invasion of lake trout and change of food webs</vt:lpstr>
      <vt:lpstr>Scenario : Invasion of lake trout and change of food webs</vt:lpstr>
      <vt:lpstr>To support AI-assisted coding, we use a very modular program structure</vt:lpstr>
      <vt:lpstr>Here, the single files contain the information necessary to simulate the invasive species model (1/ 2)</vt:lpstr>
      <vt:lpstr>Here, the single files contain the information necessary to simulate the invasive species model (2/ 2)</vt:lpstr>
      <vt:lpstr>Simulation 1: Ecosystem without invasive trout</vt:lpstr>
      <vt:lpstr>Simulation 1: Ecosystem without invasive trout</vt:lpstr>
      <vt:lpstr>Simulation 1: Ecosystem without invasive trout</vt:lpstr>
      <vt:lpstr>Simulation 2: Ecosystem with invasive trout</vt:lpstr>
      <vt:lpstr>Simulation 2: Ecosystem with invasive trout</vt:lpstr>
      <vt:lpstr>Simulation 2: Ecosystem with invasive trout</vt:lpstr>
      <vt:lpstr>Computational Biomathematics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Folie 1</dc:title>
  <dc:creator>Florian</dc:creator>
  <cp:lastModifiedBy>Florian Rupp</cp:lastModifiedBy>
  <cp:revision>253</cp:revision>
  <cp:lastPrinted>2026-04-15T15:58:09Z</cp:lastPrinted>
  <dcterms:created xsi:type="dcterms:W3CDTF">2020-04-04T18:50:50Z</dcterms:created>
  <dcterms:modified xsi:type="dcterms:W3CDTF">2026-04-17T12:31:45Z</dcterms:modified>
</cp:coreProperties>
</file>
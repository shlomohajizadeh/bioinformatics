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heme/theme2.xml" ContentType="application/vnd.openxmlformats-officedocument.them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9"/>
  </p:notesMasterIdLst>
  <p:sldIdLst>
    <p:sldId id="410" r:id="rId2"/>
    <p:sldId id="445" r:id="rId3"/>
    <p:sldId id="335" r:id="rId4"/>
    <p:sldId id="336" r:id="rId5"/>
    <p:sldId id="337" r:id="rId6"/>
    <p:sldId id="426" r:id="rId7"/>
    <p:sldId id="366" r:id="rId8"/>
    <p:sldId id="341" r:id="rId9"/>
    <p:sldId id="342" r:id="rId10"/>
    <p:sldId id="405" r:id="rId11"/>
    <p:sldId id="406" r:id="rId12"/>
    <p:sldId id="407" r:id="rId13"/>
    <p:sldId id="344" r:id="rId14"/>
    <p:sldId id="444" r:id="rId15"/>
    <p:sldId id="479" r:id="rId16"/>
    <p:sldId id="358" r:id="rId17"/>
    <p:sldId id="359" r:id="rId18"/>
    <p:sldId id="360" r:id="rId19"/>
    <p:sldId id="361" r:id="rId20"/>
    <p:sldId id="424" r:id="rId21"/>
    <p:sldId id="478" r:id="rId22"/>
    <p:sldId id="481" r:id="rId23"/>
    <p:sldId id="480" r:id="rId24"/>
    <p:sldId id="482" r:id="rId25"/>
    <p:sldId id="446" r:id="rId26"/>
    <p:sldId id="443" r:id="rId27"/>
    <p:sldId id="377" r:id="rId28"/>
    <p:sldId id="378" r:id="rId29"/>
    <p:sldId id="362" r:id="rId30"/>
    <p:sldId id="376" r:id="rId31"/>
    <p:sldId id="339" r:id="rId32"/>
    <p:sldId id="372" r:id="rId33"/>
    <p:sldId id="373" r:id="rId34"/>
    <p:sldId id="374" r:id="rId35"/>
    <p:sldId id="375" r:id="rId36"/>
    <p:sldId id="340" r:id="rId37"/>
    <p:sldId id="447" r:id="rId38"/>
    <p:sldId id="449" r:id="rId39"/>
    <p:sldId id="450" r:id="rId40"/>
    <p:sldId id="399" r:id="rId41"/>
    <p:sldId id="483" r:id="rId42"/>
    <p:sldId id="476" r:id="rId43"/>
    <p:sldId id="475" r:id="rId44"/>
    <p:sldId id="451" r:id="rId45"/>
    <p:sldId id="452" r:id="rId46"/>
    <p:sldId id="477" r:id="rId47"/>
    <p:sldId id="411" r:id="rId48"/>
  </p:sldIdLst>
  <p:sldSz cx="9144000" cy="5143500" type="screen16x9"/>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623" autoAdjust="0"/>
    <p:restoredTop sz="97356" autoAdjust="0"/>
  </p:normalViewPr>
  <p:slideViewPr>
    <p:cSldViewPr>
      <p:cViewPr varScale="1">
        <p:scale>
          <a:sx n="136" d="100"/>
          <a:sy n="136" d="100"/>
        </p:scale>
        <p:origin x="414" y="120"/>
      </p:cViewPr>
      <p:guideLst>
        <p:guide orient="horz" pos="1620"/>
        <p:guide pos="2880"/>
      </p:guideLst>
    </p:cSldViewPr>
  </p:slideViewPr>
  <p:notesTextViewPr>
    <p:cViewPr>
      <p:scale>
        <a:sx n="100" d="100"/>
        <a:sy n="100" d="100"/>
      </p:scale>
      <p:origin x="0" y="0"/>
    </p:cViewPr>
  </p:notesTextViewPr>
  <p:sorterViewPr>
    <p:cViewPr>
      <p:scale>
        <a:sx n="100" d="100"/>
        <a:sy n="100" d="100"/>
      </p:scale>
      <p:origin x="0" y="-82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95D514-7346-4F82-AE13-C6D6741739D2}" type="datetimeFigureOut">
              <a:rPr lang="en-US" smtClean="0"/>
              <a:t>4/11/2026</a:t>
            </a:fld>
            <a:endParaRPr lang="en-US"/>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6EF3066-70EE-4F3C-99F9-465CA6AFB6FD}" type="slidenum">
              <a:rPr lang="en-US" smtClean="0"/>
              <a:t>‹Nr.›</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886D9863-1F7C-4322-A504-D05019FDB20E}" type="slidenum">
              <a:rPr lang="en-US" smtClean="0"/>
              <a:pPr/>
              <a:t>39</a:t>
            </a:fld>
            <a:endParaRPr lang="en-US"/>
          </a:p>
        </p:txBody>
      </p:sp>
    </p:spTree>
    <p:extLst>
      <p:ext uri="{BB962C8B-B14F-4D97-AF65-F5344CB8AC3E}">
        <p14:creationId xmlns:p14="http://schemas.microsoft.com/office/powerpoint/2010/main" val="3313290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886D9863-1F7C-4322-A504-D05019FDB20E}" type="slidenum">
              <a:rPr lang="en-US" smtClean="0"/>
              <a:pPr/>
              <a:t>40</a:t>
            </a:fld>
            <a:endParaRPr lang="en-US"/>
          </a:p>
        </p:txBody>
      </p:sp>
    </p:spTree>
    <p:extLst>
      <p:ext uri="{BB962C8B-B14F-4D97-AF65-F5344CB8AC3E}">
        <p14:creationId xmlns:p14="http://schemas.microsoft.com/office/powerpoint/2010/main" val="25515024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1C17C-BBDA-1AF3-29E8-E78B968BF2F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E707EB2-442F-C696-6ED2-F488A1E0CFDF}"/>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61BA10FD-B7FF-7BC6-D6B4-17079E2BFE73}"/>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FEF21B99-9EA0-A892-2BF0-4D428F087B1F}"/>
              </a:ext>
            </a:extLst>
          </p:cNvPr>
          <p:cNvSpPr>
            <a:spLocks noGrp="1"/>
          </p:cNvSpPr>
          <p:nvPr>
            <p:ph type="sldNum" sz="quarter" idx="5"/>
          </p:nvPr>
        </p:nvSpPr>
        <p:spPr/>
        <p:txBody>
          <a:bodyPr/>
          <a:lstStyle/>
          <a:p>
            <a:fld id="{886D9863-1F7C-4322-A504-D05019FDB20E}" type="slidenum">
              <a:rPr lang="en-US" smtClean="0"/>
              <a:pPr/>
              <a:t>41</a:t>
            </a:fld>
            <a:endParaRPr lang="en-US"/>
          </a:p>
        </p:txBody>
      </p:sp>
    </p:spTree>
    <p:extLst>
      <p:ext uri="{BB962C8B-B14F-4D97-AF65-F5344CB8AC3E}">
        <p14:creationId xmlns:p14="http://schemas.microsoft.com/office/powerpoint/2010/main" val="4144629810"/>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image" Target="../media/image4.jpe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3.jpeg"/><Relationship Id="rId17" Type="http://schemas.openxmlformats.org/officeDocument/2006/relationships/image" Target="../media/image8.jpeg"/><Relationship Id="rId2" Type="http://schemas.openxmlformats.org/officeDocument/2006/relationships/tags" Target="../tags/tag2.xml"/><Relationship Id="rId16" Type="http://schemas.openxmlformats.org/officeDocument/2006/relationships/image" Target="../media/image7.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2.jpeg"/><Relationship Id="rId5" Type="http://schemas.openxmlformats.org/officeDocument/2006/relationships/tags" Target="../tags/tag5.xml"/><Relationship Id="rId15" Type="http://schemas.openxmlformats.org/officeDocument/2006/relationships/image" Target="../media/image6.jpeg"/><Relationship Id="rId10" Type="http://schemas.openxmlformats.org/officeDocument/2006/relationships/slideMaster" Target="../slideMasters/slideMaster1.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17.xml"/><Relationship Id="rId13" Type="http://schemas.openxmlformats.org/officeDocument/2006/relationships/image" Target="../media/image11.jpeg"/><Relationship Id="rId3" Type="http://schemas.openxmlformats.org/officeDocument/2006/relationships/tags" Target="../tags/tag12.xml"/><Relationship Id="rId7" Type="http://schemas.openxmlformats.org/officeDocument/2006/relationships/tags" Target="../tags/tag16.xml"/><Relationship Id="rId12" Type="http://schemas.openxmlformats.org/officeDocument/2006/relationships/image" Target="../media/image10.jpe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tags" Target="../tags/tag15.xml"/><Relationship Id="rId11" Type="http://schemas.openxmlformats.org/officeDocument/2006/relationships/image" Target="../media/image9.jpeg"/><Relationship Id="rId5" Type="http://schemas.openxmlformats.org/officeDocument/2006/relationships/tags" Target="../tags/tag14.xml"/><Relationship Id="rId15" Type="http://schemas.openxmlformats.org/officeDocument/2006/relationships/image" Target="../media/image13.jpeg"/><Relationship Id="rId10" Type="http://schemas.openxmlformats.org/officeDocument/2006/relationships/slideMaster" Target="../slideMasters/slideMaster1.xml"/><Relationship Id="rId4" Type="http://schemas.openxmlformats.org/officeDocument/2006/relationships/tags" Target="../tags/tag13.xml"/><Relationship Id="rId9" Type="http://schemas.openxmlformats.org/officeDocument/2006/relationships/tags" Target="../tags/tag18.xml"/><Relationship Id="rId14" Type="http://schemas.openxmlformats.org/officeDocument/2006/relationships/image" Target="../media/image12.jpeg"/></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26.xml"/><Relationship Id="rId13" Type="http://schemas.openxmlformats.org/officeDocument/2006/relationships/image" Target="../media/image3.jpeg"/><Relationship Id="rId18" Type="http://schemas.openxmlformats.org/officeDocument/2006/relationships/image" Target="../media/image8.jpeg"/><Relationship Id="rId3" Type="http://schemas.openxmlformats.org/officeDocument/2006/relationships/tags" Target="../tags/tag21.xml"/><Relationship Id="rId7" Type="http://schemas.openxmlformats.org/officeDocument/2006/relationships/tags" Target="../tags/tag25.xml"/><Relationship Id="rId12" Type="http://schemas.openxmlformats.org/officeDocument/2006/relationships/image" Target="../media/image2.jpeg"/><Relationship Id="rId17" Type="http://schemas.openxmlformats.org/officeDocument/2006/relationships/image" Target="../media/image7.png"/><Relationship Id="rId2" Type="http://schemas.openxmlformats.org/officeDocument/2006/relationships/tags" Target="../tags/tag20.xml"/><Relationship Id="rId16" Type="http://schemas.openxmlformats.org/officeDocument/2006/relationships/image" Target="../media/image6.jpeg"/><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slideMaster" Target="../slideMasters/slideMaster1.xml"/><Relationship Id="rId5" Type="http://schemas.openxmlformats.org/officeDocument/2006/relationships/tags" Target="../tags/tag23.xml"/><Relationship Id="rId15" Type="http://schemas.openxmlformats.org/officeDocument/2006/relationships/image" Target="../media/image5.jpeg"/><Relationship Id="rId10" Type="http://schemas.openxmlformats.org/officeDocument/2006/relationships/tags" Target="../tags/tag28.xml"/><Relationship Id="rId19" Type="http://schemas.openxmlformats.org/officeDocument/2006/relationships/image" Target="../media/image14.jpeg"/><Relationship Id="rId4" Type="http://schemas.openxmlformats.org/officeDocument/2006/relationships/tags" Target="../tags/tag22.xml"/><Relationship Id="rId9" Type="http://schemas.openxmlformats.org/officeDocument/2006/relationships/tags" Target="../tags/tag27.xml"/><Relationship Id="rId14" Type="http://schemas.openxmlformats.org/officeDocument/2006/relationships/image" Target="../media/image4.jpe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pic>
        <p:nvPicPr>
          <p:cNvPr id="9" name="Picture 8" descr="https://cdn.pixabay.com/photo/2016/04/13/19/23/binary-1327501_960_720.jpg"/>
          <p:cNvPicPr>
            <a:picLocks noChangeAspect="1" noChangeArrowheads="1"/>
          </p:cNvPicPr>
          <p:nvPr/>
        </p:nvPicPr>
        <p:blipFill>
          <a:blip r:embed="rId11" cstate="print"/>
          <a:srcRect/>
          <a:stretch>
            <a:fillRect/>
          </a:stretch>
        </p:blipFill>
        <p:spPr bwMode="auto">
          <a:xfrm>
            <a:off x="395536" y="0"/>
            <a:ext cx="2828754" cy="1152128"/>
          </a:xfrm>
          <a:prstGeom prst="rect">
            <a:avLst/>
          </a:prstGeom>
          <a:noFill/>
        </p:spPr>
      </p:pic>
      <p:grpSp>
        <p:nvGrpSpPr>
          <p:cNvPr id="28" name="Gruppieren 27"/>
          <p:cNvGrpSpPr/>
          <p:nvPr userDrawn="1"/>
        </p:nvGrpSpPr>
        <p:grpSpPr>
          <a:xfrm>
            <a:off x="3059832" y="0"/>
            <a:ext cx="3312368" cy="1152525"/>
            <a:chOff x="3059832" y="0"/>
            <a:chExt cx="3312368" cy="1152525"/>
          </a:xfrm>
        </p:grpSpPr>
        <p:pic>
          <p:nvPicPr>
            <p:cNvPr id="10244" name="Picture 4" descr="https://scontent-muc2-1.xx.fbcdn.net/v/t1.0-9/105047738_302269647821182_6536006559647297022_o.jpg?_nc_cat=105&amp;_nc_sid=730e14&amp;_nc_ohc=TQF0ZCkImkEAX_9ZuvG&amp;_nc_ht=scontent-muc2-1.xx&amp;oh=0be3c9382f21dded80330d22b968e298&amp;oe=5F833F90"/>
            <p:cNvPicPr>
              <a:picLocks noChangeAspect="1" noChangeArrowheads="1"/>
            </p:cNvPicPr>
            <p:nvPr userDrawn="1"/>
          </p:nvPicPr>
          <p:blipFill>
            <a:blip r:embed="rId12" cstate="print"/>
            <a:srcRect/>
            <a:stretch>
              <a:fillRect/>
            </a:stretch>
          </p:blipFill>
          <p:spPr bwMode="auto">
            <a:xfrm>
              <a:off x="3059832" y="0"/>
              <a:ext cx="1728192" cy="1152128"/>
            </a:xfrm>
            <a:prstGeom prst="rect">
              <a:avLst/>
            </a:prstGeom>
            <a:noFill/>
          </p:spPr>
        </p:pic>
        <p:grpSp>
          <p:nvGrpSpPr>
            <p:cNvPr id="27" name="Gruppieren 26"/>
            <p:cNvGrpSpPr/>
            <p:nvPr userDrawn="1"/>
          </p:nvGrpSpPr>
          <p:grpSpPr>
            <a:xfrm>
              <a:off x="4427984" y="0"/>
              <a:ext cx="1944216" cy="1152525"/>
              <a:chOff x="4427984" y="0"/>
              <a:chExt cx="1944216" cy="1152525"/>
            </a:xfrm>
          </p:grpSpPr>
          <p:pic>
            <p:nvPicPr>
              <p:cNvPr id="10242" name="Picture 2" descr="Banner, Header, Mathematik, Formel, Physik, Schule"/>
              <p:cNvPicPr>
                <a:picLocks noChangeAspect="1" noChangeArrowheads="1"/>
              </p:cNvPicPr>
              <p:nvPr userDrawn="1"/>
            </p:nvPicPr>
            <p:blipFill>
              <a:blip r:embed="rId13" cstate="print"/>
              <a:srcRect/>
              <a:stretch>
                <a:fillRect/>
              </a:stretch>
            </p:blipFill>
            <p:spPr bwMode="auto">
              <a:xfrm>
                <a:off x="4427984" y="0"/>
                <a:ext cx="1944216" cy="267494"/>
              </a:xfrm>
              <a:prstGeom prst="rect">
                <a:avLst/>
              </a:prstGeom>
              <a:noFill/>
            </p:spPr>
          </p:pic>
          <p:pic>
            <p:nvPicPr>
              <p:cNvPr id="23" name="Picture 2" descr="Banner, Header, Mathematik, Formel, Physik, Schule"/>
              <p:cNvPicPr>
                <a:picLocks noChangeAspect="1" noChangeArrowheads="1"/>
              </p:cNvPicPr>
              <p:nvPr userDrawn="1"/>
            </p:nvPicPr>
            <p:blipFill>
              <a:blip r:embed="rId14" cstate="print"/>
              <a:srcRect/>
              <a:stretch>
                <a:fillRect/>
              </a:stretch>
            </p:blipFill>
            <p:spPr bwMode="auto">
              <a:xfrm>
                <a:off x="4572000" y="267494"/>
                <a:ext cx="1656184" cy="432048"/>
              </a:xfrm>
              <a:prstGeom prst="rect">
                <a:avLst/>
              </a:prstGeom>
              <a:noFill/>
            </p:spPr>
          </p:pic>
          <p:pic>
            <p:nvPicPr>
              <p:cNvPr id="26" name="Picture 2" descr="Banner, Header, Mathematik, Formel, Physik, Schule"/>
              <p:cNvPicPr>
                <a:picLocks noChangeAspect="1" noChangeArrowheads="1"/>
              </p:cNvPicPr>
              <p:nvPr userDrawn="1"/>
            </p:nvPicPr>
            <p:blipFill>
              <a:blip r:embed="rId15" cstate="print"/>
              <a:srcRect/>
              <a:stretch>
                <a:fillRect/>
              </a:stretch>
            </p:blipFill>
            <p:spPr bwMode="auto">
              <a:xfrm>
                <a:off x="4716016" y="689073"/>
                <a:ext cx="1368152" cy="463452"/>
              </a:xfrm>
              <a:prstGeom prst="rect">
                <a:avLst/>
              </a:prstGeom>
              <a:noFill/>
            </p:spPr>
          </p:pic>
        </p:grpSp>
      </p:grpSp>
      <p:sp>
        <p:nvSpPr>
          <p:cNvPr id="2" name="Titel 1"/>
          <p:cNvSpPr>
            <a:spLocks noGrp="1"/>
          </p:cNvSpPr>
          <p:nvPr userDrawn="1">
            <p:ph type="ctrTitle"/>
          </p:nvPr>
        </p:nvSpPr>
        <p:spPr>
          <a:xfrm>
            <a:off x="685800" y="1347614"/>
            <a:ext cx="7772400" cy="864095"/>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lgn="ctr">
              <a:defRPr/>
            </a:lvl1pPr>
          </a:lstStyle>
          <a:p>
            <a:r>
              <a:rPr lang="de-DE" dirty="0"/>
              <a:t>Titelmasterformat durch Klicken bearbeiten</a:t>
            </a:r>
          </a:p>
        </p:txBody>
      </p:sp>
      <p:sp>
        <p:nvSpPr>
          <p:cNvPr id="3" name="Untertitel 2"/>
          <p:cNvSpPr>
            <a:spLocks noGrp="1"/>
          </p:cNvSpPr>
          <p:nvPr userDrawn="1">
            <p:ph type="subTitle" idx="1"/>
          </p:nvPr>
        </p:nvSpPr>
        <p:spPr>
          <a:xfrm>
            <a:off x="1371600" y="2355726"/>
            <a:ext cx="6400800" cy="1314450"/>
          </a:xfrm>
          <a:prstGeom prst="rect">
            <a:avLst/>
          </a:prstGeom>
        </p:spPr>
        <p:txBody>
          <a:bodyPr/>
          <a:lstStyle>
            <a:lvl1pPr marL="0" indent="0" algn="ctr">
              <a:buNone/>
              <a:defRPr sz="1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dirty="0"/>
              <a:t>Formatvorlage des Untertitelmasters durch Klicken bearbeiten</a:t>
            </a:r>
          </a:p>
        </p:txBody>
      </p:sp>
      <p:sp>
        <p:nvSpPr>
          <p:cNvPr id="13" name="Textfeld 12"/>
          <p:cNvSpPr txBox="1"/>
          <p:nvPr userDrawn="1">
            <p:custDataLst>
              <p:tags r:id="rId1"/>
            </p:custDataLst>
          </p:nvPr>
        </p:nvSpPr>
        <p:spPr>
          <a:xfrm>
            <a:off x="7543657" y="720080"/>
            <a:ext cx="1505540"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Florian Rupp</a:t>
            </a:r>
          </a:p>
        </p:txBody>
      </p:sp>
      <p:sp>
        <p:nvSpPr>
          <p:cNvPr id="14" name="Freihandform 13"/>
          <p:cNvSpPr/>
          <p:nvPr userDrawn="1">
            <p:custDataLst>
              <p:tags r:id="rId2"/>
            </p:custDataLst>
          </p:nvPr>
        </p:nvSpPr>
        <p:spPr>
          <a:xfrm flipH="1">
            <a:off x="6024860" y="447"/>
            <a:ext cx="313184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1955800"/>
              <a:gd name="connsiteY0" fmla="*/ 0 h 1143000"/>
              <a:gd name="connsiteX1" fmla="*/ 1641023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641023"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5" name="Parallelogramm 14"/>
          <p:cNvSpPr/>
          <p:nvPr userDrawn="1">
            <p:custDataLst>
              <p:tags r:id="rId3"/>
            </p:custDataLst>
          </p:nvPr>
        </p:nvSpPr>
        <p:spPr>
          <a:xfrm>
            <a:off x="5808836" y="1"/>
            <a:ext cx="792088" cy="1152128"/>
          </a:xfrm>
          <a:prstGeom prst="parallelogram">
            <a:avLst>
              <a:gd name="adj" fmla="val 63481"/>
            </a:avLst>
          </a:pr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6" name="Parallelogramm 15"/>
          <p:cNvSpPr/>
          <p:nvPr userDrawn="1">
            <p:custDataLst>
              <p:tags r:id="rId4"/>
            </p:custDataLst>
          </p:nvPr>
        </p:nvSpPr>
        <p:spPr>
          <a:xfrm>
            <a:off x="2568476" y="1"/>
            <a:ext cx="1152128" cy="1152128"/>
          </a:xfrm>
          <a:prstGeom prst="parallelogram">
            <a:avLst>
              <a:gd name="adj" fmla="val 52628"/>
            </a:avLst>
          </a:prstGeom>
          <a:solidFill>
            <a:srgbClr val="1F497D">
              <a:lumMod val="60000"/>
              <a:lumOff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7" name="Parallelogramm 16"/>
          <p:cNvSpPr/>
          <p:nvPr userDrawn="1">
            <p:custDataLst>
              <p:tags r:id="rId5"/>
            </p:custDataLst>
          </p:nvPr>
        </p:nvSpPr>
        <p:spPr>
          <a:xfrm flipH="1">
            <a:off x="4296668" y="1"/>
            <a:ext cx="648072" cy="1152128"/>
          </a:xfrm>
          <a:prstGeom prst="parallelogram">
            <a:avLst>
              <a:gd name="adj" fmla="val 68305"/>
            </a:avLst>
          </a:prstGeom>
          <a:solidFill>
            <a:srgbClr val="F79646"/>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8" name="Parallelogramm 17"/>
          <p:cNvSpPr/>
          <p:nvPr userDrawn="1">
            <p:custDataLst>
              <p:tags r:id="rId6"/>
            </p:custDataLst>
          </p:nvPr>
        </p:nvSpPr>
        <p:spPr>
          <a:xfrm>
            <a:off x="2568476" y="1"/>
            <a:ext cx="1008112" cy="1152128"/>
          </a:xfrm>
          <a:prstGeom prst="parallelogram">
            <a:avLst>
              <a:gd name="adj" fmla="val 88390"/>
            </a:avLst>
          </a:prstGeom>
          <a:solidFill>
            <a:srgbClr val="4F81BD">
              <a:lumMod val="20000"/>
              <a:lumOff val="8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9" name="Freihandform 18"/>
          <p:cNvSpPr/>
          <p:nvPr userDrawn="1">
            <p:custDataLst>
              <p:tags r:id="rId7"/>
            </p:custDataLst>
          </p:nvPr>
        </p:nvSpPr>
        <p:spPr>
          <a:xfrm>
            <a:off x="0" y="0"/>
            <a:ext cx="195580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485900"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0" name="Freihandform 19"/>
          <p:cNvSpPr/>
          <p:nvPr userDrawn="1">
            <p:custDataLst>
              <p:tags r:id="rId8"/>
            </p:custDataLst>
          </p:nvPr>
        </p:nvSpPr>
        <p:spPr>
          <a:xfrm>
            <a:off x="2580060" y="1"/>
            <a:ext cx="92452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0 w 2880320"/>
              <a:gd name="connsiteY4" fmla="*/ 0 h 1143000"/>
              <a:gd name="connsiteX0" fmla="*/ 216024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2160240 w 28803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132432 w 924520"/>
              <a:gd name="connsiteY3" fmla="*/ 643436 h 1143000"/>
              <a:gd name="connsiteX4" fmla="*/ 204440 w 9245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204440 w 924520"/>
              <a:gd name="connsiteY4" fmla="*/ 0 h 1143000"/>
              <a:gd name="connsiteX0" fmla="*/ 348456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348456 w 924520"/>
              <a:gd name="connsiteY4" fmla="*/ 0 h 1143000"/>
              <a:gd name="connsiteX0" fmla="*/ 348456 w 924520"/>
              <a:gd name="connsiteY0" fmla="*/ 571943 h 1143000"/>
              <a:gd name="connsiteX1" fmla="*/ 924520 w 924520"/>
              <a:gd name="connsiteY1" fmla="*/ 0 h 1143000"/>
              <a:gd name="connsiteX2" fmla="*/ 0 w 924520"/>
              <a:gd name="connsiteY2" fmla="*/ 1143000 h 1143000"/>
              <a:gd name="connsiteX3" fmla="*/ 348456 w 924520"/>
              <a:gd name="connsiteY3" fmla="*/ 571943 h 1143000"/>
              <a:gd name="connsiteX0" fmla="*/ 420464 w 924520"/>
              <a:gd name="connsiteY0" fmla="*/ 0 h 1143000"/>
              <a:gd name="connsiteX1" fmla="*/ 924520 w 924520"/>
              <a:gd name="connsiteY1" fmla="*/ 0 h 1143000"/>
              <a:gd name="connsiteX2" fmla="*/ 0 w 924520"/>
              <a:gd name="connsiteY2" fmla="*/ 1143000 h 1143000"/>
              <a:gd name="connsiteX3" fmla="*/ 420464 w 924520"/>
              <a:gd name="connsiteY3" fmla="*/ 0 h 1143000"/>
            </a:gdLst>
            <a:ahLst/>
            <a:cxnLst>
              <a:cxn ang="0">
                <a:pos x="connsiteX0" y="connsiteY0"/>
              </a:cxn>
              <a:cxn ang="0">
                <a:pos x="connsiteX1" y="connsiteY1"/>
              </a:cxn>
              <a:cxn ang="0">
                <a:pos x="connsiteX2" y="connsiteY2"/>
              </a:cxn>
              <a:cxn ang="0">
                <a:pos x="connsiteX3" y="connsiteY3"/>
              </a:cxn>
            </a:cxnLst>
            <a:rect l="l" t="t" r="r" b="b"/>
            <a:pathLst>
              <a:path w="924520" h="1143000">
                <a:moveTo>
                  <a:pt x="420464" y="0"/>
                </a:moveTo>
                <a:lnTo>
                  <a:pt x="924520" y="0"/>
                </a:lnTo>
                <a:lnTo>
                  <a:pt x="0" y="1143000"/>
                </a:lnTo>
                <a:lnTo>
                  <a:pt x="420464" y="0"/>
                </a:lnTo>
                <a:close/>
              </a:path>
            </a:pathLst>
          </a:cu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1" name="Rechteck 20"/>
          <p:cNvSpPr/>
          <p:nvPr userDrawn="1">
            <p:custDataLst>
              <p:tags r:id="rId9"/>
            </p:custDataLst>
          </p:nvPr>
        </p:nvSpPr>
        <p:spPr>
          <a:xfrm>
            <a:off x="795" y="648469"/>
            <a:ext cx="9155906" cy="504056"/>
          </a:xfrm>
          <a:prstGeom prst="rect">
            <a:avLst/>
          </a:prstGeom>
          <a:solidFill>
            <a:srgbClr val="FFFFFF">
              <a:alpha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2" name="Rectangle 3"/>
          <p:cNvSpPr txBox="1">
            <a:spLocks noChangeArrowheads="1"/>
          </p:cNvSpPr>
          <p:nvPr userDrawn="1"/>
        </p:nvSpPr>
        <p:spPr bwMode="auto">
          <a:xfrm>
            <a:off x="845840" y="4240838"/>
            <a:ext cx="7452320" cy="851192"/>
          </a:xfrm>
          <a:prstGeom prst="rect">
            <a:avLst/>
          </a:prstGeom>
          <a:noFill/>
          <a:ln>
            <a:miter lim="800000"/>
            <a:headEnd/>
            <a:tailEnd/>
          </a:ln>
        </p:spPr>
        <p:txBody>
          <a:bodyPr vert="horz" wrap="square" lIns="91440" tIns="45720" rIns="91440" bIns="45720" numCol="1" anchor="b" anchorCtr="0" compatLnSpc="1">
            <a:prstTxWarp prst="textNoShape">
              <a:avLst/>
            </a:prstTxWarp>
          </a:bodyPr>
          <a:lstStyle/>
          <a:p>
            <a:pPr lvl="0" algn="ctr">
              <a:spcBef>
                <a:spcPct val="20000"/>
              </a:spcBef>
              <a:defRPr/>
            </a:pPr>
            <a:r>
              <a:rPr lang="en-US" sz="1400" b="1" kern="0" dirty="0">
                <a:latin typeface="+mn-lt"/>
              </a:rPr>
              <a:t>Prof. Dr. Dr. </a:t>
            </a:r>
            <a:r>
              <a:rPr lang="en-US" sz="1400" b="1" kern="0" dirty="0" err="1">
                <a:latin typeface="+mn-lt"/>
              </a:rPr>
              <a:t>h.c</a:t>
            </a:r>
            <a:r>
              <a:rPr lang="en-US" sz="1400" b="1" kern="0" dirty="0">
                <a:latin typeface="+mn-lt"/>
              </a:rPr>
              <a:t>. Florian Rupp</a:t>
            </a:r>
            <a:endParaRPr kumimoji="0" lang="en-US" sz="1400" b="1" i="0" u="none" strike="noStrike" kern="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defRPr/>
            </a:pPr>
            <a:endParaRPr lang="en-US" sz="500" dirty="0"/>
          </a:p>
          <a:p>
            <a:pPr algn="ctr" eaLnBrk="1" hangingPunct="1"/>
            <a:r>
              <a:rPr lang="en-US" sz="1400" baseline="0" dirty="0"/>
              <a:t>Western Caspian University &amp; </a:t>
            </a:r>
            <a:r>
              <a:rPr lang="en-US" sz="1400" dirty="0"/>
              <a:t>Kutaisi International</a:t>
            </a:r>
            <a:r>
              <a:rPr lang="en-US" sz="1400" baseline="0" dirty="0"/>
              <a:t> University</a:t>
            </a:r>
            <a:endParaRPr lang="en-US" sz="1400" dirty="0"/>
          </a:p>
        </p:txBody>
      </p:sp>
      <p:pic>
        <p:nvPicPr>
          <p:cNvPr id="24" name="Grafik 23" descr="index.png"/>
          <p:cNvPicPr>
            <a:picLocks noChangeAspect="1"/>
          </p:cNvPicPr>
          <p:nvPr userDrawn="1"/>
        </p:nvPicPr>
        <p:blipFill>
          <a:blip r:embed="rId16" cstate="print"/>
          <a:stretch>
            <a:fillRect/>
          </a:stretch>
        </p:blipFill>
        <p:spPr>
          <a:xfrm>
            <a:off x="179513" y="4437868"/>
            <a:ext cx="1872207" cy="582154"/>
          </a:xfrm>
          <a:prstGeom prst="rect">
            <a:avLst/>
          </a:prstGeom>
        </p:spPr>
      </p:pic>
      <p:pic>
        <p:nvPicPr>
          <p:cNvPr id="27650" name="Picture 2" descr="https://www.iau-hesd.net/sites/default/files/styles/medium/public/media_logo/western_caspian_university.jpg?itok=s4WTrk6k"/>
          <p:cNvPicPr>
            <a:picLocks noChangeAspect="1" noChangeArrowheads="1"/>
          </p:cNvPicPr>
          <p:nvPr userDrawn="1"/>
        </p:nvPicPr>
        <p:blipFill>
          <a:blip r:embed="rId17" cstate="print"/>
          <a:srcRect/>
          <a:stretch>
            <a:fillRect/>
          </a:stretch>
        </p:blipFill>
        <p:spPr bwMode="auto">
          <a:xfrm>
            <a:off x="251520" y="3219822"/>
            <a:ext cx="1013731" cy="1054898"/>
          </a:xfrm>
          <a:prstGeom prst="rect">
            <a:avLst/>
          </a:prstGeom>
          <a:noFill/>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971600" y="52707"/>
            <a:ext cx="8064896" cy="7096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de-DE" dirty="0"/>
              <a:t>Titelmasterformat durch Klicken bearbeiten</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0" name="Rechteck 19"/>
          <p:cNvSpPr/>
          <p:nvPr userDrawn="1"/>
        </p:nvSpPr>
        <p:spPr>
          <a:xfrm>
            <a:off x="6084168" y="0"/>
            <a:ext cx="3059832" cy="810000"/>
          </a:xfrm>
          <a:prstGeom prst="rect">
            <a:avLst/>
          </a:prstGeom>
          <a:solidFill>
            <a:schemeClr val="tx2"/>
          </a:solidFill>
          <a:ln w="25400" cap="rnd"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9" name="Rechteck 18"/>
          <p:cNvSpPr/>
          <p:nvPr>
            <p:custDataLst>
              <p:tags r:id="rId1"/>
            </p:custDataLst>
          </p:nvPr>
        </p:nvSpPr>
        <p:spPr>
          <a:xfrm>
            <a:off x="560" y="456093"/>
            <a:ext cx="9143440" cy="354739"/>
          </a:xfrm>
          <a:prstGeom prst="rect">
            <a:avLst/>
          </a:prstGeom>
          <a:solidFill>
            <a:srgbClr val="FFFFFF">
              <a:alpha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nvGrpSpPr>
          <p:cNvPr id="43" name="Gruppieren 42"/>
          <p:cNvGrpSpPr/>
          <p:nvPr userDrawn="1"/>
        </p:nvGrpSpPr>
        <p:grpSpPr>
          <a:xfrm>
            <a:off x="0" y="0"/>
            <a:ext cx="6444207" cy="811112"/>
            <a:chOff x="0" y="0"/>
            <a:chExt cx="9156701" cy="1152525"/>
          </a:xfrm>
        </p:grpSpPr>
        <p:pic>
          <p:nvPicPr>
            <p:cNvPr id="28" name="Picture 8" descr="https://cdn.pixabay.com/photo/2016/04/13/19/23/binary-1327501_960_720.jpg"/>
            <p:cNvPicPr>
              <a:picLocks noChangeAspect="1" noChangeArrowheads="1"/>
            </p:cNvPicPr>
            <p:nvPr userDrawn="1"/>
          </p:nvPicPr>
          <p:blipFill>
            <a:blip r:embed="rId11" cstate="print"/>
            <a:srcRect/>
            <a:stretch>
              <a:fillRect/>
            </a:stretch>
          </p:blipFill>
          <p:spPr bwMode="auto">
            <a:xfrm>
              <a:off x="395536" y="0"/>
              <a:ext cx="2828754" cy="1152128"/>
            </a:xfrm>
            <a:prstGeom prst="rect">
              <a:avLst/>
            </a:prstGeom>
            <a:noFill/>
          </p:spPr>
        </p:pic>
        <p:grpSp>
          <p:nvGrpSpPr>
            <p:cNvPr id="29" name="Gruppieren 28"/>
            <p:cNvGrpSpPr/>
            <p:nvPr userDrawn="1"/>
          </p:nvGrpSpPr>
          <p:grpSpPr>
            <a:xfrm>
              <a:off x="3059832" y="0"/>
              <a:ext cx="3312368" cy="1152525"/>
              <a:chOff x="3059832" y="0"/>
              <a:chExt cx="3312368" cy="1152525"/>
            </a:xfrm>
          </p:grpSpPr>
          <p:pic>
            <p:nvPicPr>
              <p:cNvPr id="30" name="Picture 4" descr="https://scontent-muc2-1.xx.fbcdn.net/v/t1.0-9/105047738_302269647821182_6536006559647297022_o.jpg?_nc_cat=105&amp;_nc_sid=730e14&amp;_nc_ohc=TQF0ZCkImkEAX_9ZuvG&amp;_nc_ht=scontent-muc2-1.xx&amp;oh=0be3c9382f21dded80330d22b968e298&amp;oe=5F833F90"/>
              <p:cNvPicPr>
                <a:picLocks noChangeAspect="1" noChangeArrowheads="1"/>
              </p:cNvPicPr>
              <p:nvPr userDrawn="1"/>
            </p:nvPicPr>
            <p:blipFill>
              <a:blip r:embed="rId12" cstate="print"/>
              <a:srcRect/>
              <a:stretch>
                <a:fillRect/>
              </a:stretch>
            </p:blipFill>
            <p:spPr bwMode="auto">
              <a:xfrm>
                <a:off x="3059832" y="0"/>
                <a:ext cx="1728192" cy="1152128"/>
              </a:xfrm>
              <a:prstGeom prst="rect">
                <a:avLst/>
              </a:prstGeom>
              <a:noFill/>
            </p:spPr>
          </p:pic>
          <p:grpSp>
            <p:nvGrpSpPr>
              <p:cNvPr id="31" name="Gruppieren 26"/>
              <p:cNvGrpSpPr/>
              <p:nvPr userDrawn="1"/>
            </p:nvGrpSpPr>
            <p:grpSpPr>
              <a:xfrm>
                <a:off x="4427984" y="0"/>
                <a:ext cx="1944216" cy="1152525"/>
                <a:chOff x="4427984" y="0"/>
                <a:chExt cx="1944216" cy="1152525"/>
              </a:xfrm>
            </p:grpSpPr>
            <p:pic>
              <p:nvPicPr>
                <p:cNvPr id="32" name="Picture 2" descr="Banner, Header, Mathematik, Formel, Physik, Schule"/>
                <p:cNvPicPr>
                  <a:picLocks noChangeAspect="1" noChangeArrowheads="1"/>
                </p:cNvPicPr>
                <p:nvPr userDrawn="1"/>
              </p:nvPicPr>
              <p:blipFill>
                <a:blip r:embed="rId13" cstate="print"/>
                <a:srcRect/>
                <a:stretch>
                  <a:fillRect/>
                </a:stretch>
              </p:blipFill>
              <p:spPr bwMode="auto">
                <a:xfrm>
                  <a:off x="4427984" y="0"/>
                  <a:ext cx="1944216" cy="267494"/>
                </a:xfrm>
                <a:prstGeom prst="rect">
                  <a:avLst/>
                </a:prstGeom>
                <a:noFill/>
              </p:spPr>
            </p:pic>
            <p:pic>
              <p:nvPicPr>
                <p:cNvPr id="33" name="Picture 2" descr="Banner, Header, Mathematik, Formel, Physik, Schule"/>
                <p:cNvPicPr>
                  <a:picLocks noChangeAspect="1" noChangeArrowheads="1"/>
                </p:cNvPicPr>
                <p:nvPr userDrawn="1"/>
              </p:nvPicPr>
              <p:blipFill>
                <a:blip r:embed="rId14" cstate="print"/>
                <a:srcRect/>
                <a:stretch>
                  <a:fillRect/>
                </a:stretch>
              </p:blipFill>
              <p:spPr bwMode="auto">
                <a:xfrm>
                  <a:off x="4572000" y="267494"/>
                  <a:ext cx="1656184" cy="432048"/>
                </a:xfrm>
                <a:prstGeom prst="rect">
                  <a:avLst/>
                </a:prstGeom>
                <a:noFill/>
              </p:spPr>
            </p:pic>
            <p:pic>
              <p:nvPicPr>
                <p:cNvPr id="34" name="Picture 2" descr="Banner, Header, Mathematik, Formel, Physik, Schule"/>
                <p:cNvPicPr>
                  <a:picLocks noChangeAspect="1" noChangeArrowheads="1"/>
                </p:cNvPicPr>
                <p:nvPr userDrawn="1"/>
              </p:nvPicPr>
              <p:blipFill>
                <a:blip r:embed="rId15" cstate="print"/>
                <a:srcRect/>
                <a:stretch>
                  <a:fillRect/>
                </a:stretch>
              </p:blipFill>
              <p:spPr bwMode="auto">
                <a:xfrm>
                  <a:off x="4716016" y="689073"/>
                  <a:ext cx="1368152" cy="463452"/>
                </a:xfrm>
                <a:prstGeom prst="rect">
                  <a:avLst/>
                </a:prstGeom>
                <a:noFill/>
              </p:spPr>
            </p:pic>
          </p:grpSp>
        </p:grpSp>
        <p:sp>
          <p:nvSpPr>
            <p:cNvPr id="35" name="Freihandform 34"/>
            <p:cNvSpPr/>
            <p:nvPr userDrawn="1">
              <p:custDataLst>
                <p:tags r:id="rId2"/>
              </p:custDataLst>
            </p:nvPr>
          </p:nvSpPr>
          <p:spPr>
            <a:xfrm flipH="1">
              <a:off x="6024860" y="447"/>
              <a:ext cx="313184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1955800"/>
                <a:gd name="connsiteY0" fmla="*/ 0 h 1143000"/>
                <a:gd name="connsiteX1" fmla="*/ 1641023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641023"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36" name="Parallelogramm 35"/>
            <p:cNvSpPr/>
            <p:nvPr userDrawn="1">
              <p:custDataLst>
                <p:tags r:id="rId3"/>
              </p:custDataLst>
            </p:nvPr>
          </p:nvSpPr>
          <p:spPr>
            <a:xfrm>
              <a:off x="5808836" y="1"/>
              <a:ext cx="792088" cy="1152128"/>
            </a:xfrm>
            <a:prstGeom prst="parallelogram">
              <a:avLst>
                <a:gd name="adj" fmla="val 63481"/>
              </a:avLst>
            </a:pr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37" name="Parallelogramm 36"/>
            <p:cNvSpPr/>
            <p:nvPr userDrawn="1">
              <p:custDataLst>
                <p:tags r:id="rId4"/>
              </p:custDataLst>
            </p:nvPr>
          </p:nvSpPr>
          <p:spPr>
            <a:xfrm>
              <a:off x="2568476" y="1"/>
              <a:ext cx="1152128" cy="1152128"/>
            </a:xfrm>
            <a:prstGeom prst="parallelogram">
              <a:avLst>
                <a:gd name="adj" fmla="val 52628"/>
              </a:avLst>
            </a:prstGeom>
            <a:solidFill>
              <a:srgbClr val="1F497D">
                <a:lumMod val="60000"/>
                <a:lumOff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38" name="Parallelogramm 37"/>
            <p:cNvSpPr/>
            <p:nvPr userDrawn="1">
              <p:custDataLst>
                <p:tags r:id="rId5"/>
              </p:custDataLst>
            </p:nvPr>
          </p:nvSpPr>
          <p:spPr>
            <a:xfrm flipH="1">
              <a:off x="4296668" y="1"/>
              <a:ext cx="648072" cy="1152128"/>
            </a:xfrm>
            <a:prstGeom prst="parallelogram">
              <a:avLst>
                <a:gd name="adj" fmla="val 68305"/>
              </a:avLst>
            </a:prstGeom>
            <a:solidFill>
              <a:srgbClr val="F79646"/>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39" name="Parallelogramm 38"/>
            <p:cNvSpPr/>
            <p:nvPr userDrawn="1">
              <p:custDataLst>
                <p:tags r:id="rId6"/>
              </p:custDataLst>
            </p:nvPr>
          </p:nvSpPr>
          <p:spPr>
            <a:xfrm>
              <a:off x="2568476" y="1"/>
              <a:ext cx="1008112" cy="1152128"/>
            </a:xfrm>
            <a:prstGeom prst="parallelogram">
              <a:avLst>
                <a:gd name="adj" fmla="val 88390"/>
              </a:avLst>
            </a:prstGeom>
            <a:solidFill>
              <a:srgbClr val="4F81BD">
                <a:lumMod val="20000"/>
                <a:lumOff val="8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40" name="Freihandform 39"/>
            <p:cNvSpPr/>
            <p:nvPr userDrawn="1">
              <p:custDataLst>
                <p:tags r:id="rId7"/>
              </p:custDataLst>
            </p:nvPr>
          </p:nvSpPr>
          <p:spPr>
            <a:xfrm>
              <a:off x="0" y="0"/>
              <a:ext cx="195580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485900"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41" name="Freihandform 40"/>
            <p:cNvSpPr/>
            <p:nvPr userDrawn="1">
              <p:custDataLst>
                <p:tags r:id="rId8"/>
              </p:custDataLst>
            </p:nvPr>
          </p:nvSpPr>
          <p:spPr>
            <a:xfrm>
              <a:off x="2580060" y="1"/>
              <a:ext cx="92452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0 w 2880320"/>
                <a:gd name="connsiteY4" fmla="*/ 0 h 1143000"/>
                <a:gd name="connsiteX0" fmla="*/ 216024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2160240 w 28803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132432 w 924520"/>
                <a:gd name="connsiteY3" fmla="*/ 643436 h 1143000"/>
                <a:gd name="connsiteX4" fmla="*/ 204440 w 9245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204440 w 924520"/>
                <a:gd name="connsiteY4" fmla="*/ 0 h 1143000"/>
                <a:gd name="connsiteX0" fmla="*/ 348456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348456 w 924520"/>
                <a:gd name="connsiteY4" fmla="*/ 0 h 1143000"/>
                <a:gd name="connsiteX0" fmla="*/ 348456 w 924520"/>
                <a:gd name="connsiteY0" fmla="*/ 571943 h 1143000"/>
                <a:gd name="connsiteX1" fmla="*/ 924520 w 924520"/>
                <a:gd name="connsiteY1" fmla="*/ 0 h 1143000"/>
                <a:gd name="connsiteX2" fmla="*/ 0 w 924520"/>
                <a:gd name="connsiteY2" fmla="*/ 1143000 h 1143000"/>
                <a:gd name="connsiteX3" fmla="*/ 348456 w 924520"/>
                <a:gd name="connsiteY3" fmla="*/ 571943 h 1143000"/>
                <a:gd name="connsiteX0" fmla="*/ 420464 w 924520"/>
                <a:gd name="connsiteY0" fmla="*/ 0 h 1143000"/>
                <a:gd name="connsiteX1" fmla="*/ 924520 w 924520"/>
                <a:gd name="connsiteY1" fmla="*/ 0 h 1143000"/>
                <a:gd name="connsiteX2" fmla="*/ 0 w 924520"/>
                <a:gd name="connsiteY2" fmla="*/ 1143000 h 1143000"/>
                <a:gd name="connsiteX3" fmla="*/ 420464 w 924520"/>
                <a:gd name="connsiteY3" fmla="*/ 0 h 1143000"/>
              </a:gdLst>
              <a:ahLst/>
              <a:cxnLst>
                <a:cxn ang="0">
                  <a:pos x="connsiteX0" y="connsiteY0"/>
                </a:cxn>
                <a:cxn ang="0">
                  <a:pos x="connsiteX1" y="connsiteY1"/>
                </a:cxn>
                <a:cxn ang="0">
                  <a:pos x="connsiteX2" y="connsiteY2"/>
                </a:cxn>
                <a:cxn ang="0">
                  <a:pos x="connsiteX3" y="connsiteY3"/>
                </a:cxn>
              </a:cxnLst>
              <a:rect l="l" t="t" r="r" b="b"/>
              <a:pathLst>
                <a:path w="924520" h="1143000">
                  <a:moveTo>
                    <a:pt x="420464" y="0"/>
                  </a:moveTo>
                  <a:lnTo>
                    <a:pt x="924520" y="0"/>
                  </a:lnTo>
                  <a:lnTo>
                    <a:pt x="0" y="1143000"/>
                  </a:lnTo>
                  <a:lnTo>
                    <a:pt x="420464" y="0"/>
                  </a:lnTo>
                  <a:close/>
                </a:path>
              </a:pathLst>
            </a:cu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42" name="Rechteck 41"/>
            <p:cNvSpPr/>
            <p:nvPr userDrawn="1">
              <p:custDataLst>
                <p:tags r:id="rId9"/>
              </p:custDataLst>
            </p:nvPr>
          </p:nvSpPr>
          <p:spPr>
            <a:xfrm>
              <a:off x="795" y="648072"/>
              <a:ext cx="9155906" cy="504056"/>
            </a:xfrm>
            <a:prstGeom prst="rect">
              <a:avLst/>
            </a:prstGeom>
            <a:solidFill>
              <a:srgbClr val="FFFFFF">
                <a:alpha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sp>
        <p:nvSpPr>
          <p:cNvPr id="21" name="Line 12"/>
          <p:cNvSpPr>
            <a:spLocks noChangeShapeType="1"/>
          </p:cNvSpPr>
          <p:nvPr userDrawn="1"/>
        </p:nvSpPr>
        <p:spPr bwMode="auto">
          <a:xfrm>
            <a:off x="0" y="824640"/>
            <a:ext cx="9144000" cy="0"/>
          </a:xfrm>
          <a:prstGeom prst="line">
            <a:avLst/>
          </a:prstGeom>
          <a:noFill/>
          <a:ln w="38100">
            <a:solidFill>
              <a:schemeClr val="tx2">
                <a:lumMod val="20000"/>
                <a:lumOff val="80000"/>
              </a:schemeClr>
            </a:solidFill>
            <a:round/>
            <a:headEnd/>
            <a:tailEnd/>
          </a:ln>
          <a:effectLst/>
        </p:spPr>
        <p:txBody>
          <a:bodyPr/>
          <a:lstStyle/>
          <a:p>
            <a:pPr>
              <a:defRPr/>
            </a:pPr>
            <a:endParaRPr lang="de-D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Leer">
    <p:spTree>
      <p:nvGrpSpPr>
        <p:cNvPr id="1" name=""/>
        <p:cNvGrpSpPr/>
        <p:nvPr/>
      </p:nvGrpSpPr>
      <p:grpSpPr>
        <a:xfrm>
          <a:off x="0" y="0"/>
          <a:ext cx="0" cy="0"/>
          <a:chOff x="0" y="0"/>
          <a:chExt cx="0" cy="0"/>
        </a:xfrm>
      </p:grpSpPr>
      <p:pic>
        <p:nvPicPr>
          <p:cNvPr id="7" name="Picture 8" descr="https://cdn.pixabay.com/photo/2016/04/13/19/23/binary-1327501_960_720.jpg"/>
          <p:cNvPicPr>
            <a:picLocks noChangeAspect="1" noChangeArrowheads="1"/>
          </p:cNvPicPr>
          <p:nvPr/>
        </p:nvPicPr>
        <p:blipFill>
          <a:blip r:embed="rId12" cstate="print"/>
          <a:srcRect/>
          <a:stretch>
            <a:fillRect/>
          </a:stretch>
        </p:blipFill>
        <p:spPr bwMode="auto">
          <a:xfrm>
            <a:off x="395536" y="0"/>
            <a:ext cx="2828754" cy="1152128"/>
          </a:xfrm>
          <a:prstGeom prst="rect">
            <a:avLst/>
          </a:prstGeom>
          <a:noFill/>
        </p:spPr>
      </p:pic>
      <p:grpSp>
        <p:nvGrpSpPr>
          <p:cNvPr id="26" name="Gruppieren 25"/>
          <p:cNvGrpSpPr/>
          <p:nvPr userDrawn="1"/>
        </p:nvGrpSpPr>
        <p:grpSpPr>
          <a:xfrm>
            <a:off x="3059832" y="0"/>
            <a:ext cx="3312368" cy="1152525"/>
            <a:chOff x="3059832" y="0"/>
            <a:chExt cx="3312368" cy="1152525"/>
          </a:xfrm>
        </p:grpSpPr>
        <p:pic>
          <p:nvPicPr>
            <p:cNvPr id="27" name="Picture 4" descr="https://scontent-muc2-1.xx.fbcdn.net/v/t1.0-9/105047738_302269647821182_6536006559647297022_o.jpg?_nc_cat=105&amp;_nc_sid=730e14&amp;_nc_ohc=TQF0ZCkImkEAX_9ZuvG&amp;_nc_ht=scontent-muc2-1.xx&amp;oh=0be3c9382f21dded80330d22b968e298&amp;oe=5F833F90"/>
            <p:cNvPicPr>
              <a:picLocks noChangeAspect="1" noChangeArrowheads="1"/>
            </p:cNvPicPr>
            <p:nvPr userDrawn="1"/>
          </p:nvPicPr>
          <p:blipFill>
            <a:blip r:embed="rId13" cstate="print"/>
            <a:srcRect/>
            <a:stretch>
              <a:fillRect/>
            </a:stretch>
          </p:blipFill>
          <p:spPr bwMode="auto">
            <a:xfrm>
              <a:off x="3059832" y="0"/>
              <a:ext cx="1728192" cy="1152128"/>
            </a:xfrm>
            <a:prstGeom prst="rect">
              <a:avLst/>
            </a:prstGeom>
            <a:noFill/>
          </p:spPr>
        </p:pic>
        <p:grpSp>
          <p:nvGrpSpPr>
            <p:cNvPr id="28" name="Gruppieren 26"/>
            <p:cNvGrpSpPr/>
            <p:nvPr userDrawn="1"/>
          </p:nvGrpSpPr>
          <p:grpSpPr>
            <a:xfrm>
              <a:off x="4427984" y="0"/>
              <a:ext cx="1944216" cy="1152525"/>
              <a:chOff x="4427984" y="0"/>
              <a:chExt cx="1944216" cy="1152525"/>
            </a:xfrm>
          </p:grpSpPr>
          <p:pic>
            <p:nvPicPr>
              <p:cNvPr id="29" name="Picture 2" descr="Banner, Header, Mathematik, Formel, Physik, Schule"/>
              <p:cNvPicPr>
                <a:picLocks noChangeAspect="1" noChangeArrowheads="1"/>
              </p:cNvPicPr>
              <p:nvPr userDrawn="1"/>
            </p:nvPicPr>
            <p:blipFill>
              <a:blip r:embed="rId14" cstate="print"/>
              <a:srcRect/>
              <a:stretch>
                <a:fillRect/>
              </a:stretch>
            </p:blipFill>
            <p:spPr bwMode="auto">
              <a:xfrm>
                <a:off x="4427984" y="0"/>
                <a:ext cx="1944216" cy="267494"/>
              </a:xfrm>
              <a:prstGeom prst="rect">
                <a:avLst/>
              </a:prstGeom>
              <a:noFill/>
            </p:spPr>
          </p:pic>
          <p:pic>
            <p:nvPicPr>
              <p:cNvPr id="30" name="Picture 2" descr="Banner, Header, Mathematik, Formel, Physik, Schule"/>
              <p:cNvPicPr>
                <a:picLocks noChangeAspect="1" noChangeArrowheads="1"/>
              </p:cNvPicPr>
              <p:nvPr userDrawn="1"/>
            </p:nvPicPr>
            <p:blipFill>
              <a:blip r:embed="rId15" cstate="print"/>
              <a:srcRect/>
              <a:stretch>
                <a:fillRect/>
              </a:stretch>
            </p:blipFill>
            <p:spPr bwMode="auto">
              <a:xfrm>
                <a:off x="4572000" y="267494"/>
                <a:ext cx="1656184" cy="432048"/>
              </a:xfrm>
              <a:prstGeom prst="rect">
                <a:avLst/>
              </a:prstGeom>
              <a:noFill/>
            </p:spPr>
          </p:pic>
          <p:pic>
            <p:nvPicPr>
              <p:cNvPr id="31" name="Picture 2" descr="Banner, Header, Mathematik, Formel, Physik, Schule"/>
              <p:cNvPicPr>
                <a:picLocks noChangeAspect="1" noChangeArrowheads="1"/>
              </p:cNvPicPr>
              <p:nvPr userDrawn="1"/>
            </p:nvPicPr>
            <p:blipFill>
              <a:blip r:embed="rId16" cstate="print"/>
              <a:srcRect/>
              <a:stretch>
                <a:fillRect/>
              </a:stretch>
            </p:blipFill>
            <p:spPr bwMode="auto">
              <a:xfrm>
                <a:off x="4716016" y="689073"/>
                <a:ext cx="1368152" cy="463452"/>
              </a:xfrm>
              <a:prstGeom prst="rect">
                <a:avLst/>
              </a:prstGeom>
              <a:noFill/>
            </p:spPr>
          </p:pic>
        </p:grpSp>
      </p:grpSp>
      <p:sp>
        <p:nvSpPr>
          <p:cNvPr id="24" name="Rechteck 23"/>
          <p:cNvSpPr/>
          <p:nvPr userDrawn="1"/>
        </p:nvSpPr>
        <p:spPr>
          <a:xfrm>
            <a:off x="179512" y="1275606"/>
            <a:ext cx="3240360" cy="37444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feld 10"/>
          <p:cNvSpPr txBox="1"/>
          <p:nvPr>
            <p:custDataLst>
              <p:tags r:id="rId1"/>
            </p:custDataLst>
          </p:nvPr>
        </p:nvSpPr>
        <p:spPr>
          <a:xfrm>
            <a:off x="7543657" y="720080"/>
            <a:ext cx="1505540"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Florian Rupp</a:t>
            </a:r>
          </a:p>
        </p:txBody>
      </p:sp>
      <p:sp>
        <p:nvSpPr>
          <p:cNvPr id="12" name="Freihandform 11"/>
          <p:cNvSpPr/>
          <p:nvPr>
            <p:custDataLst>
              <p:tags r:id="rId2"/>
            </p:custDataLst>
          </p:nvPr>
        </p:nvSpPr>
        <p:spPr>
          <a:xfrm flipH="1">
            <a:off x="6024860" y="447"/>
            <a:ext cx="313184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1955800"/>
              <a:gd name="connsiteY0" fmla="*/ 0 h 1143000"/>
              <a:gd name="connsiteX1" fmla="*/ 1641023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641023"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3" name="Parallelogramm 12"/>
          <p:cNvSpPr/>
          <p:nvPr>
            <p:custDataLst>
              <p:tags r:id="rId3"/>
            </p:custDataLst>
          </p:nvPr>
        </p:nvSpPr>
        <p:spPr>
          <a:xfrm>
            <a:off x="5808836" y="1"/>
            <a:ext cx="792088" cy="1152128"/>
          </a:xfrm>
          <a:prstGeom prst="parallelogram">
            <a:avLst>
              <a:gd name="adj" fmla="val 63481"/>
            </a:avLst>
          </a:pr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4" name="Parallelogramm 13"/>
          <p:cNvSpPr/>
          <p:nvPr>
            <p:custDataLst>
              <p:tags r:id="rId4"/>
            </p:custDataLst>
          </p:nvPr>
        </p:nvSpPr>
        <p:spPr>
          <a:xfrm>
            <a:off x="2568476" y="1"/>
            <a:ext cx="1152128" cy="1152128"/>
          </a:xfrm>
          <a:prstGeom prst="parallelogram">
            <a:avLst>
              <a:gd name="adj" fmla="val 52628"/>
            </a:avLst>
          </a:prstGeom>
          <a:solidFill>
            <a:srgbClr val="1F497D">
              <a:lumMod val="60000"/>
              <a:lumOff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5" name="Parallelogramm 14"/>
          <p:cNvSpPr/>
          <p:nvPr>
            <p:custDataLst>
              <p:tags r:id="rId5"/>
            </p:custDataLst>
          </p:nvPr>
        </p:nvSpPr>
        <p:spPr>
          <a:xfrm flipH="1">
            <a:off x="4296668" y="1"/>
            <a:ext cx="648072" cy="1152128"/>
          </a:xfrm>
          <a:prstGeom prst="parallelogram">
            <a:avLst>
              <a:gd name="adj" fmla="val 68305"/>
            </a:avLst>
          </a:prstGeom>
          <a:solidFill>
            <a:srgbClr val="F79646"/>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6" name="Parallelogramm 15"/>
          <p:cNvSpPr/>
          <p:nvPr>
            <p:custDataLst>
              <p:tags r:id="rId6"/>
            </p:custDataLst>
          </p:nvPr>
        </p:nvSpPr>
        <p:spPr>
          <a:xfrm>
            <a:off x="2568476" y="1"/>
            <a:ext cx="1008112" cy="1152128"/>
          </a:xfrm>
          <a:prstGeom prst="parallelogram">
            <a:avLst>
              <a:gd name="adj" fmla="val 88390"/>
            </a:avLst>
          </a:prstGeom>
          <a:solidFill>
            <a:srgbClr val="4F81BD">
              <a:lumMod val="20000"/>
              <a:lumOff val="8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7" name="Freihandform 16"/>
          <p:cNvSpPr/>
          <p:nvPr>
            <p:custDataLst>
              <p:tags r:id="rId7"/>
            </p:custDataLst>
          </p:nvPr>
        </p:nvSpPr>
        <p:spPr>
          <a:xfrm>
            <a:off x="0" y="0"/>
            <a:ext cx="195580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485900"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8" name="Freihandform 17"/>
          <p:cNvSpPr/>
          <p:nvPr>
            <p:custDataLst>
              <p:tags r:id="rId8"/>
            </p:custDataLst>
          </p:nvPr>
        </p:nvSpPr>
        <p:spPr>
          <a:xfrm>
            <a:off x="2580060" y="1"/>
            <a:ext cx="92452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0 w 2880320"/>
              <a:gd name="connsiteY4" fmla="*/ 0 h 1143000"/>
              <a:gd name="connsiteX0" fmla="*/ 216024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2160240 w 28803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132432 w 924520"/>
              <a:gd name="connsiteY3" fmla="*/ 643436 h 1143000"/>
              <a:gd name="connsiteX4" fmla="*/ 204440 w 9245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204440 w 924520"/>
              <a:gd name="connsiteY4" fmla="*/ 0 h 1143000"/>
              <a:gd name="connsiteX0" fmla="*/ 348456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348456 w 924520"/>
              <a:gd name="connsiteY4" fmla="*/ 0 h 1143000"/>
              <a:gd name="connsiteX0" fmla="*/ 348456 w 924520"/>
              <a:gd name="connsiteY0" fmla="*/ 571943 h 1143000"/>
              <a:gd name="connsiteX1" fmla="*/ 924520 w 924520"/>
              <a:gd name="connsiteY1" fmla="*/ 0 h 1143000"/>
              <a:gd name="connsiteX2" fmla="*/ 0 w 924520"/>
              <a:gd name="connsiteY2" fmla="*/ 1143000 h 1143000"/>
              <a:gd name="connsiteX3" fmla="*/ 348456 w 924520"/>
              <a:gd name="connsiteY3" fmla="*/ 571943 h 1143000"/>
              <a:gd name="connsiteX0" fmla="*/ 420464 w 924520"/>
              <a:gd name="connsiteY0" fmla="*/ 0 h 1143000"/>
              <a:gd name="connsiteX1" fmla="*/ 924520 w 924520"/>
              <a:gd name="connsiteY1" fmla="*/ 0 h 1143000"/>
              <a:gd name="connsiteX2" fmla="*/ 0 w 924520"/>
              <a:gd name="connsiteY2" fmla="*/ 1143000 h 1143000"/>
              <a:gd name="connsiteX3" fmla="*/ 420464 w 924520"/>
              <a:gd name="connsiteY3" fmla="*/ 0 h 1143000"/>
            </a:gdLst>
            <a:ahLst/>
            <a:cxnLst>
              <a:cxn ang="0">
                <a:pos x="connsiteX0" y="connsiteY0"/>
              </a:cxn>
              <a:cxn ang="0">
                <a:pos x="connsiteX1" y="connsiteY1"/>
              </a:cxn>
              <a:cxn ang="0">
                <a:pos x="connsiteX2" y="connsiteY2"/>
              </a:cxn>
              <a:cxn ang="0">
                <a:pos x="connsiteX3" y="connsiteY3"/>
              </a:cxn>
            </a:cxnLst>
            <a:rect l="l" t="t" r="r" b="b"/>
            <a:pathLst>
              <a:path w="924520" h="1143000">
                <a:moveTo>
                  <a:pt x="420464" y="0"/>
                </a:moveTo>
                <a:lnTo>
                  <a:pt x="924520" y="0"/>
                </a:lnTo>
                <a:lnTo>
                  <a:pt x="0" y="1143000"/>
                </a:lnTo>
                <a:lnTo>
                  <a:pt x="420464" y="0"/>
                </a:lnTo>
                <a:close/>
              </a:path>
            </a:pathLst>
          </a:cu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9" name="Rechteck 18"/>
          <p:cNvSpPr/>
          <p:nvPr>
            <p:custDataLst>
              <p:tags r:id="rId9"/>
            </p:custDataLst>
          </p:nvPr>
        </p:nvSpPr>
        <p:spPr>
          <a:xfrm>
            <a:off x="795" y="648072"/>
            <a:ext cx="9155906" cy="504056"/>
          </a:xfrm>
          <a:prstGeom prst="rect">
            <a:avLst/>
          </a:prstGeom>
          <a:solidFill>
            <a:srgbClr val="FFFFFF">
              <a:alpha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0" name="Titel 1"/>
          <p:cNvSpPr>
            <a:spLocks noGrp="1"/>
          </p:cNvSpPr>
          <p:nvPr userDrawn="1">
            <p:ph type="ctrTitle"/>
          </p:nvPr>
        </p:nvSpPr>
        <p:spPr>
          <a:xfrm>
            <a:off x="3851920" y="1275606"/>
            <a:ext cx="5112568" cy="864095"/>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lgn="ctr">
              <a:defRPr/>
            </a:lvl1pPr>
          </a:lstStyle>
          <a:p>
            <a:r>
              <a:rPr lang="de-DE" dirty="0"/>
              <a:t>Titelmasterformat durch Klicken bearbeiten</a:t>
            </a:r>
          </a:p>
        </p:txBody>
      </p:sp>
      <p:sp>
        <p:nvSpPr>
          <p:cNvPr id="23" name="Rectangle 5"/>
          <p:cNvSpPr>
            <a:spLocks noChangeArrowheads="1"/>
          </p:cNvSpPr>
          <p:nvPr userDrawn="1">
            <p:custDataLst>
              <p:tags r:id="rId10"/>
            </p:custDataLst>
          </p:nvPr>
        </p:nvSpPr>
        <p:spPr bwMode="auto">
          <a:xfrm>
            <a:off x="4752020" y="4299942"/>
            <a:ext cx="3240360" cy="720080"/>
          </a:xfrm>
          <a:prstGeom prst="rect">
            <a:avLst/>
          </a:prstGeom>
          <a:noFill/>
          <a:ln w="9525">
            <a:noFill/>
            <a:miter lim="800000"/>
            <a:headEnd/>
            <a:tailEnd/>
          </a:ln>
        </p:spPr>
        <p:txBody>
          <a:bodyPr anchor="b"/>
          <a:lstStyle/>
          <a:p>
            <a:pPr algn="ctr">
              <a:spcBef>
                <a:spcPct val="20000"/>
              </a:spcBef>
            </a:pPr>
            <a:endParaRPr lang="en-US" sz="1400" dirty="0"/>
          </a:p>
        </p:txBody>
      </p:sp>
      <p:sp>
        <p:nvSpPr>
          <p:cNvPr id="25" name="Textfeld 24"/>
          <p:cNvSpPr txBox="1"/>
          <p:nvPr userDrawn="1"/>
        </p:nvSpPr>
        <p:spPr>
          <a:xfrm>
            <a:off x="3851920" y="2355726"/>
            <a:ext cx="5040560" cy="1631216"/>
          </a:xfrm>
          <a:prstGeom prst="rect">
            <a:avLst/>
          </a:prstGeom>
          <a:noFill/>
        </p:spPr>
        <p:txBody>
          <a:bodyPr wrap="square" rtlCol="0">
            <a:spAutoFit/>
          </a:bodyPr>
          <a:lstStyle/>
          <a:p>
            <a:pPr algn="ctr"/>
            <a:r>
              <a:rPr lang="en-US" sz="2000" dirty="0"/>
              <a:t>Questions &amp; Remarks?</a:t>
            </a:r>
          </a:p>
          <a:p>
            <a:pPr algn="ctr"/>
            <a:endParaRPr lang="en-US" sz="2000" dirty="0"/>
          </a:p>
          <a:p>
            <a:pPr algn="ctr"/>
            <a:endParaRPr lang="en-US" sz="2000" dirty="0"/>
          </a:p>
          <a:p>
            <a:pPr algn="ctr"/>
            <a:endParaRPr lang="en-US" sz="2000" dirty="0"/>
          </a:p>
          <a:p>
            <a:pPr algn="ctr"/>
            <a:r>
              <a:rPr lang="en-US" sz="2000" dirty="0"/>
              <a:t>Thank You Very Much</a:t>
            </a:r>
          </a:p>
        </p:txBody>
      </p:sp>
      <p:pic>
        <p:nvPicPr>
          <p:cNvPr id="22" name="Grafik 21" descr="index.png"/>
          <p:cNvPicPr>
            <a:picLocks noChangeAspect="1"/>
          </p:cNvPicPr>
          <p:nvPr userDrawn="1"/>
        </p:nvPicPr>
        <p:blipFill>
          <a:blip r:embed="rId17" cstate="print"/>
          <a:stretch>
            <a:fillRect/>
          </a:stretch>
        </p:blipFill>
        <p:spPr>
          <a:xfrm>
            <a:off x="3798963" y="4578133"/>
            <a:ext cx="1421109" cy="441887"/>
          </a:xfrm>
          <a:prstGeom prst="rect">
            <a:avLst/>
          </a:prstGeom>
        </p:spPr>
      </p:pic>
      <p:pic>
        <p:nvPicPr>
          <p:cNvPr id="32" name="Picture 2" descr="https://www.iau-hesd.net/sites/default/files/styles/medium/public/media_logo/western_caspian_university.jpg?itok=s4WTrk6k"/>
          <p:cNvPicPr>
            <a:picLocks noChangeAspect="1" noChangeArrowheads="1"/>
          </p:cNvPicPr>
          <p:nvPr userDrawn="1"/>
        </p:nvPicPr>
        <p:blipFill>
          <a:blip r:embed="rId18" cstate="print"/>
          <a:srcRect/>
          <a:stretch>
            <a:fillRect/>
          </a:stretch>
        </p:blipFill>
        <p:spPr bwMode="auto">
          <a:xfrm>
            <a:off x="3851920" y="3718029"/>
            <a:ext cx="720080" cy="749323"/>
          </a:xfrm>
          <a:prstGeom prst="rect">
            <a:avLst/>
          </a:prstGeom>
          <a:noFill/>
        </p:spPr>
      </p:pic>
      <p:pic>
        <p:nvPicPr>
          <p:cNvPr id="33" name="Picture 2" descr="https://avatars.mds.yandex.net/get-altay/11886651/2a0000018defa513b9203394e9330d10fd54/XXL_height"/>
          <p:cNvPicPr>
            <a:picLocks noChangeAspect="1" noChangeArrowheads="1"/>
          </p:cNvPicPr>
          <p:nvPr userDrawn="1"/>
        </p:nvPicPr>
        <p:blipFill>
          <a:blip r:embed="rId19" cstate="print"/>
          <a:srcRect l="11628" r="27907" b="6378"/>
          <a:stretch>
            <a:fillRect/>
          </a:stretch>
        </p:blipFill>
        <p:spPr bwMode="auto">
          <a:xfrm>
            <a:off x="251520" y="1347613"/>
            <a:ext cx="3096344" cy="3600401"/>
          </a:xfrm>
          <a:prstGeom prst="rect">
            <a:avLst/>
          </a:prstGeom>
          <a:noFill/>
          <a:effectLst>
            <a:softEdge rad="31750"/>
          </a:effectLst>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Line 12"/>
          <p:cNvSpPr>
            <a:spLocks noChangeShapeType="1"/>
          </p:cNvSpPr>
          <p:nvPr userDrawn="1"/>
        </p:nvSpPr>
        <p:spPr bwMode="auto">
          <a:xfrm>
            <a:off x="0" y="824640"/>
            <a:ext cx="9144000" cy="0"/>
          </a:xfrm>
          <a:prstGeom prst="line">
            <a:avLst/>
          </a:prstGeom>
          <a:noFill/>
          <a:ln w="38100">
            <a:solidFill>
              <a:schemeClr val="tx2">
                <a:lumMod val="20000"/>
                <a:lumOff val="80000"/>
              </a:schemeClr>
            </a:solidFill>
            <a:round/>
            <a:headEnd/>
            <a:tailEnd/>
          </a:ln>
          <a:effectLst/>
        </p:spPr>
        <p:txBody>
          <a:bodyPr/>
          <a:lstStyle/>
          <a:p>
            <a:pPr>
              <a:defRPr/>
            </a:pPr>
            <a:endParaRPr lang="de-DE"/>
          </a:p>
        </p:txBody>
      </p:sp>
      <p:sp>
        <p:nvSpPr>
          <p:cNvPr id="7" name="Rectangle 7"/>
          <p:cNvSpPr>
            <a:spLocks noChangeArrowheads="1"/>
          </p:cNvSpPr>
          <p:nvPr userDrawn="1"/>
        </p:nvSpPr>
        <p:spPr bwMode="invGray">
          <a:xfrm>
            <a:off x="0" y="1"/>
            <a:ext cx="9144000" cy="815024"/>
          </a:xfrm>
          <a:prstGeom prst="rect">
            <a:avLst/>
          </a:prstGeom>
          <a:solidFill>
            <a:schemeClr val="tx2"/>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prst="coolSlant"/>
          </a:sp3d>
        </p:spPr>
        <p:txBody>
          <a:bodyPr wrap="none" anchor="ctr"/>
          <a:lstStyle/>
          <a:p>
            <a:pPr>
              <a:defRPr/>
            </a:pPr>
            <a:endParaRPr lang="de-DE"/>
          </a:p>
        </p:txBody>
      </p:sp>
      <p:sp>
        <p:nvSpPr>
          <p:cNvPr id="9" name="Abgerundetes Rechteck 8"/>
          <p:cNvSpPr/>
          <p:nvPr userDrawn="1"/>
        </p:nvSpPr>
        <p:spPr>
          <a:xfrm>
            <a:off x="118693" y="105507"/>
            <a:ext cx="667317" cy="598738"/>
          </a:xfrm>
          <a:prstGeom prst="roundRect">
            <a:avLst>
              <a:gd name="adj" fmla="val 917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2"/>
          <p:cNvSpPr>
            <a:spLocks noGrp="1" noChangeArrowheads="1"/>
          </p:cNvSpPr>
          <p:nvPr userDrawn="1">
            <p:ph type="title"/>
          </p:nvPr>
        </p:nvSpPr>
        <p:spPr bwMode="auto">
          <a:xfrm>
            <a:off x="971600" y="52707"/>
            <a:ext cx="8064896" cy="7096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de-DE" dirty="0"/>
              <a:t>Titelmasterformat durch Klicken bearbeiten</a:t>
            </a:r>
          </a:p>
        </p:txBody>
      </p:sp>
      <p:pic>
        <p:nvPicPr>
          <p:cNvPr id="28674" name="Picture 2" descr="https://cdn-static.bizzabo.com/bizzabo.users.files/zG7zRd0nS5WvqOWKrgQP_Western%20Caspian%20University%20black.png"/>
          <p:cNvPicPr>
            <a:picLocks noChangeAspect="1" noChangeArrowheads="1"/>
          </p:cNvPicPr>
          <p:nvPr userDrawn="1"/>
        </p:nvPicPr>
        <p:blipFill>
          <a:blip r:embed="rId6" cstate="print"/>
          <a:srcRect r="81904"/>
          <a:stretch>
            <a:fillRect/>
          </a:stretch>
        </p:blipFill>
        <p:spPr bwMode="auto">
          <a:xfrm>
            <a:off x="200323" y="176258"/>
            <a:ext cx="504056" cy="457237"/>
          </a:xfrm>
          <a:prstGeom prst="rect">
            <a:avLst/>
          </a:prstGeom>
          <a:noFill/>
        </p:spPr>
      </p:pic>
    </p:spTree>
  </p:cSld>
  <p:clrMap bg1="lt1" tx1="dk1" bg2="lt2" tx2="dk2" accent1="accent1" accent2="accent2" accent3="accent3" accent4="accent4" accent5="accent5" accent6="accent6" hlink="hlink" folHlink="folHlink"/>
  <p:sldLayoutIdLst>
    <p:sldLayoutId id="2147483649" r:id="rId1"/>
    <p:sldLayoutId id="2147483654" r:id="rId2"/>
    <p:sldLayoutId id="2147483655" r:id="rId3"/>
    <p:sldLayoutId id="2147483656" r:id="rId4"/>
  </p:sldLayoutIdLst>
  <p:txStyles>
    <p:titleStyle>
      <a:lvl1pPr algn="l" defTabSz="914400" rtl="0" eaLnBrk="1" latinLnBrk="0" hangingPunct="1">
        <a:spcBef>
          <a:spcPct val="0"/>
        </a:spcBef>
        <a:buNone/>
        <a:defRPr sz="2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jpe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tags" Target="../tags/tag31.xml"/><Relationship Id="rId7" Type="http://schemas.openxmlformats.org/officeDocument/2006/relationships/slideLayout" Target="../slideLayouts/slideLayout2.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s>
</file>

<file path=ppt/slides/_rels/slide17.xml.rels><?xml version="1.0" encoding="UTF-8" standalone="yes"?>
<Relationships xmlns="http://schemas.openxmlformats.org/package/2006/relationships"><Relationship Id="rId3" Type="http://schemas.openxmlformats.org/officeDocument/2006/relationships/tags" Target="../tags/tag37.xml"/><Relationship Id="rId7" Type="http://schemas.openxmlformats.org/officeDocument/2006/relationships/slideLayout" Target="../slideLayouts/slideLayout2.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tags" Target="../tags/tag38.xml"/></Relationships>
</file>

<file path=ppt/slides/_rels/slide18.xml.rels><?xml version="1.0" encoding="UTF-8" standalone="yes"?>
<Relationships xmlns="http://schemas.openxmlformats.org/package/2006/relationships"><Relationship Id="rId3" Type="http://schemas.openxmlformats.org/officeDocument/2006/relationships/tags" Target="../tags/tag43.xml"/><Relationship Id="rId7" Type="http://schemas.openxmlformats.org/officeDocument/2006/relationships/slideLayout" Target="../slideLayouts/slideLayout2.xml"/><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s>
</file>

<file path=ppt/slides/_rels/slide19.xml.rels><?xml version="1.0" encoding="UTF-8" standalone="yes"?>
<Relationships xmlns="http://schemas.openxmlformats.org/package/2006/relationships"><Relationship Id="rId3" Type="http://schemas.openxmlformats.org/officeDocument/2006/relationships/tags" Target="../tags/tag49.xml"/><Relationship Id="rId7" Type="http://schemas.openxmlformats.org/officeDocument/2006/relationships/slideLayout" Target="../slideLayouts/slideLayout2.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gi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2.xml"/><Relationship Id="rId1" Type="http://schemas.openxmlformats.org/officeDocument/2006/relationships/tags" Target="../tags/tag53.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Layout" Target="../slideLayouts/slideLayout2.xml"/><Relationship Id="rId1" Type="http://schemas.openxmlformats.org/officeDocument/2006/relationships/tags" Target="../tags/tag54.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Layout" Target="../slideLayouts/slideLayout2.xml"/><Relationship Id="rId1" Type="http://schemas.openxmlformats.org/officeDocument/2006/relationships/tags" Target="../tags/tag55.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Layout" Target="../slideLayouts/slideLayout2.xml"/><Relationship Id="rId1" Type="http://schemas.openxmlformats.org/officeDocument/2006/relationships/tags" Target="../tags/tag56.xml"/><Relationship Id="rId4" Type="http://schemas.openxmlformats.org/officeDocument/2006/relationships/image" Target="../media/image29.png"/></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Layout" Target="../slideLayouts/slideLayout2.xml"/><Relationship Id="rId1" Type="http://schemas.openxmlformats.org/officeDocument/2006/relationships/tags" Target="../tags/tag57.xml"/><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slideLayout" Target="../slideLayouts/slideLayout2.xml"/><Relationship Id="rId1" Type="http://schemas.openxmlformats.org/officeDocument/2006/relationships/tags" Target="../tags/tag58.xml"/><Relationship Id="rId4" Type="http://schemas.openxmlformats.org/officeDocument/2006/relationships/image" Target="../media/image29.png"/></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Layout" Target="../slideLayouts/slideLayout2.xml"/><Relationship Id="rId1" Type="http://schemas.openxmlformats.org/officeDocument/2006/relationships/tags" Target="../tags/tag59.xml"/><Relationship Id="rId4" Type="http://schemas.openxmlformats.org/officeDocument/2006/relationships/image" Target="../media/image29.png"/></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Layout" Target="../slideLayouts/slideLayout2.xml"/><Relationship Id="rId1" Type="http://schemas.openxmlformats.org/officeDocument/2006/relationships/tags" Target="../tags/tag60.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slideLayout" Target="../slideLayouts/slideLayout2.xml"/><Relationship Id="rId1" Type="http://schemas.openxmlformats.org/officeDocument/2006/relationships/tags" Target="../tags/tag6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jpeg"/></Relationships>
</file>

<file path=ppt/slides/_rels/slide41.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en-US" noProof="0" dirty="0"/>
              <a:t>Computational Biomathematics</a:t>
            </a:r>
          </a:p>
        </p:txBody>
      </p:sp>
      <p:sp>
        <p:nvSpPr>
          <p:cNvPr id="3" name="Untertitel 2"/>
          <p:cNvSpPr>
            <a:spLocks noGrp="1"/>
          </p:cNvSpPr>
          <p:nvPr>
            <p:ph type="subTitle" idx="1"/>
          </p:nvPr>
        </p:nvSpPr>
        <p:spPr/>
        <p:txBody>
          <a:bodyPr/>
          <a:lstStyle/>
          <a:p>
            <a:endParaRPr lang="en-US" noProof="0" dirty="0"/>
          </a:p>
          <a:p>
            <a:r>
              <a:rPr lang="en-US" noProof="0" dirty="0"/>
              <a:t>Mobile Heterogeneous Ecosystems</a:t>
            </a:r>
          </a:p>
          <a:p>
            <a:endParaRPr lang="en-US" sz="500" noProof="0" dirty="0"/>
          </a:p>
          <a:p>
            <a:r>
              <a:rPr lang="en-US" noProof="0" dirty="0"/>
              <a:t>Lesson 3</a:t>
            </a:r>
          </a:p>
        </p:txBody>
      </p:sp>
      <p:sp>
        <p:nvSpPr>
          <p:cNvPr id="4" name="Rechteck 3"/>
          <p:cNvSpPr/>
          <p:nvPr/>
        </p:nvSpPr>
        <p:spPr>
          <a:xfrm>
            <a:off x="7092280" y="3291830"/>
            <a:ext cx="1800200" cy="171715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7800" lvl="1" indent="-177800">
              <a:spcAft>
                <a:spcPts val="400"/>
              </a:spcAft>
              <a:buFont typeface="Arial" pitchFamily="34" charset="0"/>
              <a:buChar char="•"/>
            </a:pPr>
            <a:r>
              <a:rPr lang="en-US" sz="1200" noProof="0" dirty="0">
                <a:solidFill>
                  <a:schemeClr val="tx1"/>
                </a:solidFill>
              </a:rPr>
              <a:t>Deep-dive modeling</a:t>
            </a:r>
          </a:p>
          <a:p>
            <a:pPr marL="177800" lvl="1" indent="-177800">
              <a:spcAft>
                <a:spcPts val="400"/>
              </a:spcAft>
              <a:buFont typeface="Arial" pitchFamily="34" charset="0"/>
              <a:buChar char="•"/>
            </a:pPr>
            <a:r>
              <a:rPr lang="en-US" sz="1200" noProof="0" dirty="0">
                <a:solidFill>
                  <a:schemeClr val="tx1"/>
                </a:solidFill>
              </a:rPr>
              <a:t>Diffusion of ideas or diseases</a:t>
            </a:r>
          </a:p>
          <a:p>
            <a:pPr marL="177800" lvl="1" indent="-177800">
              <a:spcAft>
                <a:spcPts val="400"/>
              </a:spcAft>
              <a:buFont typeface="Arial" pitchFamily="34" charset="0"/>
              <a:buChar char="•"/>
            </a:pPr>
            <a:r>
              <a:rPr lang="en-US" sz="1200" noProof="0" dirty="0">
                <a:solidFill>
                  <a:schemeClr val="tx1"/>
                </a:solidFill>
              </a:rPr>
              <a:t>Mathematical descriptions</a:t>
            </a:r>
          </a:p>
          <a:p>
            <a:pPr marL="177800" lvl="1" indent="-177800">
              <a:spcAft>
                <a:spcPts val="400"/>
              </a:spcAft>
              <a:buFont typeface="Arial" pitchFamily="34" charset="0"/>
              <a:buChar char="•"/>
            </a:pPr>
            <a:r>
              <a:rPr lang="en-US" sz="1200" noProof="0" dirty="0">
                <a:solidFill>
                  <a:schemeClr val="tx1"/>
                </a:solidFill>
              </a:rPr>
              <a:t>On the use of AI in academia and industry</a:t>
            </a:r>
          </a:p>
          <a:p>
            <a:pPr marL="177800" lvl="1" indent="-177800">
              <a:spcAft>
                <a:spcPts val="400"/>
              </a:spcAft>
              <a:buFont typeface="Arial" pitchFamily="34" charset="0"/>
              <a:buChar char="•"/>
            </a:pPr>
            <a:endParaRPr lang="en-US" sz="1200" noProof="0" dirty="0">
              <a:solidFill>
                <a:schemeClr val="tx1"/>
              </a:solidFill>
            </a:endParaRPr>
          </a:p>
        </p:txBody>
      </p:sp>
      <p:sp>
        <p:nvSpPr>
          <p:cNvPr id="5" name="Rechteck 4"/>
          <p:cNvSpPr/>
          <p:nvPr/>
        </p:nvSpPr>
        <p:spPr>
          <a:xfrm>
            <a:off x="7092280" y="2931790"/>
            <a:ext cx="1800200" cy="288032"/>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Lecture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C922B83-59BB-4AA7-4F21-5FCA1B12FDF4}"/>
              </a:ext>
            </a:extLst>
          </p:cNvPr>
          <p:cNvSpPr>
            <a:spLocks noGrp="1"/>
          </p:cNvSpPr>
          <p:nvPr>
            <p:ph type="title"/>
          </p:nvPr>
        </p:nvSpPr>
        <p:spPr/>
        <p:txBody>
          <a:bodyPr/>
          <a:lstStyle/>
          <a:p>
            <a:r>
              <a:rPr lang="en-US" noProof="0" dirty="0"/>
              <a:t>Our interdisciplinary course combines several modeling and analysis approaches to obtain tangible simulations of biological dynamics</a:t>
            </a:r>
          </a:p>
        </p:txBody>
      </p:sp>
      <p:sp>
        <p:nvSpPr>
          <p:cNvPr id="4" name="Pfeil: nach links und rechts 3">
            <a:extLst>
              <a:ext uri="{FF2B5EF4-FFF2-40B4-BE49-F238E27FC236}">
                <a16:creationId xmlns:a16="http://schemas.microsoft.com/office/drawing/2014/main" id="{9B68B194-1D40-8DAA-E818-DFDFB83703CC}"/>
              </a:ext>
            </a:extLst>
          </p:cNvPr>
          <p:cNvSpPr/>
          <p:nvPr/>
        </p:nvSpPr>
        <p:spPr>
          <a:xfrm>
            <a:off x="3109349" y="1995686"/>
            <a:ext cx="2932615" cy="216024"/>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5" name="Gruppieren 4">
            <a:extLst>
              <a:ext uri="{FF2B5EF4-FFF2-40B4-BE49-F238E27FC236}">
                <a16:creationId xmlns:a16="http://schemas.microsoft.com/office/drawing/2014/main" id="{E16A1B98-60EA-FD7B-AB7B-1B1F5436F979}"/>
              </a:ext>
            </a:extLst>
          </p:cNvPr>
          <p:cNvGrpSpPr/>
          <p:nvPr/>
        </p:nvGrpSpPr>
        <p:grpSpPr>
          <a:xfrm>
            <a:off x="2411760" y="1203598"/>
            <a:ext cx="4320480" cy="3096343"/>
            <a:chOff x="3059831" y="1635646"/>
            <a:chExt cx="3024336" cy="2304256"/>
          </a:xfrm>
          <a:solidFill>
            <a:schemeClr val="tx2">
              <a:lumMod val="20000"/>
              <a:lumOff val="80000"/>
            </a:schemeClr>
          </a:solidFill>
        </p:grpSpPr>
        <p:sp>
          <p:nvSpPr>
            <p:cNvPr id="30" name="Gleichschenkliges Dreieck 29">
              <a:extLst>
                <a:ext uri="{FF2B5EF4-FFF2-40B4-BE49-F238E27FC236}">
                  <a16:creationId xmlns:a16="http://schemas.microsoft.com/office/drawing/2014/main" id="{B5C3EE57-2BFA-CEA9-6E36-FB38F32DA857}"/>
                </a:ext>
              </a:extLst>
            </p:cNvPr>
            <p:cNvSpPr/>
            <p:nvPr/>
          </p:nvSpPr>
          <p:spPr>
            <a:xfrm>
              <a:off x="3059831" y="1635646"/>
              <a:ext cx="3024336" cy="2304256"/>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dirty="0"/>
            </a:p>
          </p:txBody>
        </p:sp>
        <p:sp>
          <p:nvSpPr>
            <p:cNvPr id="31" name="Freeform 3">
              <a:extLst>
                <a:ext uri="{FF2B5EF4-FFF2-40B4-BE49-F238E27FC236}">
                  <a16:creationId xmlns:a16="http://schemas.microsoft.com/office/drawing/2014/main" id="{CB4539A6-E3AB-D1E3-607C-6A68F3CE3F0E}"/>
                </a:ext>
              </a:extLst>
            </p:cNvPr>
            <p:cNvSpPr>
              <a:spLocks/>
            </p:cNvSpPr>
            <p:nvPr/>
          </p:nvSpPr>
          <p:spPr bwMode="auto">
            <a:xfrm>
              <a:off x="3515113" y="2196554"/>
              <a:ext cx="2113773" cy="1599332"/>
            </a:xfrm>
            <a:custGeom>
              <a:avLst/>
              <a:gdLst>
                <a:gd name="T0" fmla="*/ 0 w 1563"/>
                <a:gd name="T1" fmla="*/ 1109 h 1282"/>
                <a:gd name="T2" fmla="*/ 683 w 1563"/>
                <a:gd name="T3" fmla="*/ 0 h 1282"/>
                <a:gd name="T4" fmla="*/ 683 w 1563"/>
                <a:gd name="T5" fmla="*/ 420 h 1282"/>
                <a:gd name="T6" fmla="*/ 618 w 1563"/>
                <a:gd name="T7" fmla="*/ 420 h 1282"/>
                <a:gd name="T8" fmla="*/ 788 w 1563"/>
                <a:gd name="T9" fmla="*/ 590 h 1282"/>
                <a:gd name="T10" fmla="*/ 961 w 1563"/>
                <a:gd name="T11" fmla="*/ 424 h 1282"/>
                <a:gd name="T12" fmla="*/ 896 w 1563"/>
                <a:gd name="T13" fmla="*/ 424 h 1282"/>
                <a:gd name="T14" fmla="*/ 896 w 1563"/>
                <a:gd name="T15" fmla="*/ 0 h 1282"/>
                <a:gd name="T16" fmla="*/ 1563 w 1563"/>
                <a:gd name="T17" fmla="*/ 1097 h 1282"/>
                <a:gd name="T18" fmla="*/ 1206 w 1563"/>
                <a:gd name="T19" fmla="*/ 916 h 1282"/>
                <a:gd name="T20" fmla="*/ 1239 w 1563"/>
                <a:gd name="T21" fmla="*/ 855 h 1282"/>
                <a:gd name="T22" fmla="*/ 1017 w 1563"/>
                <a:gd name="T23" fmla="*/ 922 h 1282"/>
                <a:gd name="T24" fmla="*/ 1073 w 1563"/>
                <a:gd name="T25" fmla="*/ 1147 h 1282"/>
                <a:gd name="T26" fmla="*/ 1107 w 1563"/>
                <a:gd name="T27" fmla="*/ 1089 h 1282"/>
                <a:gd name="T28" fmla="*/ 1450 w 1563"/>
                <a:gd name="T29" fmla="*/ 1273 h 1282"/>
                <a:gd name="T30" fmla="*/ 117 w 1563"/>
                <a:gd name="T31" fmla="*/ 1282 h 1282"/>
                <a:gd name="T32" fmla="*/ 467 w 1563"/>
                <a:gd name="T33" fmla="*/ 1095 h 1282"/>
                <a:gd name="T34" fmla="*/ 499 w 1563"/>
                <a:gd name="T35" fmla="*/ 1152 h 1282"/>
                <a:gd name="T36" fmla="*/ 570 w 1563"/>
                <a:gd name="T37" fmla="*/ 925 h 1282"/>
                <a:gd name="T38" fmla="*/ 339 w 1563"/>
                <a:gd name="T39" fmla="*/ 853 h 1282"/>
                <a:gd name="T40" fmla="*/ 370 w 1563"/>
                <a:gd name="T41" fmla="*/ 914 h 1282"/>
                <a:gd name="T42" fmla="*/ 0 w 1563"/>
                <a:gd name="T43" fmla="*/ 1109 h 1282"/>
                <a:gd name="T44" fmla="*/ 0 w 1563"/>
                <a:gd name="T45" fmla="*/ 1109 h 1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63" h="1282">
                  <a:moveTo>
                    <a:pt x="0" y="1109"/>
                  </a:moveTo>
                  <a:lnTo>
                    <a:pt x="683" y="0"/>
                  </a:lnTo>
                  <a:lnTo>
                    <a:pt x="683" y="420"/>
                  </a:lnTo>
                  <a:lnTo>
                    <a:pt x="618" y="420"/>
                  </a:lnTo>
                  <a:lnTo>
                    <a:pt x="788" y="590"/>
                  </a:lnTo>
                  <a:lnTo>
                    <a:pt x="961" y="424"/>
                  </a:lnTo>
                  <a:lnTo>
                    <a:pt x="896" y="424"/>
                  </a:lnTo>
                  <a:lnTo>
                    <a:pt x="896" y="0"/>
                  </a:lnTo>
                  <a:lnTo>
                    <a:pt x="1563" y="1097"/>
                  </a:lnTo>
                  <a:lnTo>
                    <a:pt x="1206" y="916"/>
                  </a:lnTo>
                  <a:lnTo>
                    <a:pt x="1239" y="855"/>
                  </a:lnTo>
                  <a:lnTo>
                    <a:pt x="1017" y="922"/>
                  </a:lnTo>
                  <a:lnTo>
                    <a:pt x="1073" y="1147"/>
                  </a:lnTo>
                  <a:lnTo>
                    <a:pt x="1107" y="1089"/>
                  </a:lnTo>
                  <a:lnTo>
                    <a:pt x="1450" y="1273"/>
                  </a:lnTo>
                  <a:lnTo>
                    <a:pt x="117" y="1282"/>
                  </a:lnTo>
                  <a:lnTo>
                    <a:pt x="467" y="1095"/>
                  </a:lnTo>
                  <a:lnTo>
                    <a:pt x="499" y="1152"/>
                  </a:lnTo>
                  <a:lnTo>
                    <a:pt x="570" y="925"/>
                  </a:lnTo>
                  <a:lnTo>
                    <a:pt x="339" y="853"/>
                  </a:lnTo>
                  <a:lnTo>
                    <a:pt x="370" y="914"/>
                  </a:lnTo>
                  <a:lnTo>
                    <a:pt x="0" y="1109"/>
                  </a:lnTo>
                  <a:lnTo>
                    <a:pt x="0" y="1109"/>
                  </a:lnTo>
                  <a:close/>
                </a:path>
              </a:pathLst>
            </a:cu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noProof="0" dirty="0">
                <a:solidFill>
                  <a:schemeClr val="lt1"/>
                </a:solidFill>
              </a:endParaRPr>
            </a:p>
          </p:txBody>
        </p:sp>
      </p:grpSp>
      <p:sp>
        <p:nvSpPr>
          <p:cNvPr id="6" name="Rechteck 5">
            <a:extLst>
              <a:ext uri="{FF2B5EF4-FFF2-40B4-BE49-F238E27FC236}">
                <a16:creationId xmlns:a16="http://schemas.microsoft.com/office/drawing/2014/main" id="{FDF78EC9-6749-4487-EC1A-9504C309AA81}"/>
              </a:ext>
            </a:extLst>
          </p:cNvPr>
          <p:cNvSpPr/>
          <p:nvPr/>
        </p:nvSpPr>
        <p:spPr>
          <a:xfrm>
            <a:off x="3815916" y="1131590"/>
            <a:ext cx="1512168" cy="447204"/>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t>Biology</a:t>
            </a:r>
          </a:p>
        </p:txBody>
      </p:sp>
      <p:sp>
        <p:nvSpPr>
          <p:cNvPr id="7" name="Rechteck 6">
            <a:extLst>
              <a:ext uri="{FF2B5EF4-FFF2-40B4-BE49-F238E27FC236}">
                <a16:creationId xmlns:a16="http://schemas.microsoft.com/office/drawing/2014/main" id="{8BC36367-D247-0F76-EDBF-B10FAE2CD2A3}"/>
              </a:ext>
            </a:extLst>
          </p:cNvPr>
          <p:cNvSpPr/>
          <p:nvPr/>
        </p:nvSpPr>
        <p:spPr>
          <a:xfrm>
            <a:off x="1619672" y="3924746"/>
            <a:ext cx="1512168" cy="447204"/>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t>Mathematics</a:t>
            </a:r>
          </a:p>
        </p:txBody>
      </p:sp>
      <p:sp>
        <p:nvSpPr>
          <p:cNvPr id="8" name="Rechteck 7">
            <a:extLst>
              <a:ext uri="{FF2B5EF4-FFF2-40B4-BE49-F238E27FC236}">
                <a16:creationId xmlns:a16="http://schemas.microsoft.com/office/drawing/2014/main" id="{9DA870CA-D278-EE3B-E58F-BF0D80277E0F}"/>
              </a:ext>
            </a:extLst>
          </p:cNvPr>
          <p:cNvSpPr/>
          <p:nvPr/>
        </p:nvSpPr>
        <p:spPr>
          <a:xfrm>
            <a:off x="6012160" y="3924746"/>
            <a:ext cx="1512168" cy="447204"/>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t>Scientific Computing</a:t>
            </a:r>
          </a:p>
        </p:txBody>
      </p:sp>
      <p:sp>
        <p:nvSpPr>
          <p:cNvPr id="9" name="Textfeld 8">
            <a:extLst>
              <a:ext uri="{FF2B5EF4-FFF2-40B4-BE49-F238E27FC236}">
                <a16:creationId xmlns:a16="http://schemas.microsoft.com/office/drawing/2014/main" id="{029995F0-8FB3-88D0-DADA-81E4CD316D3D}"/>
              </a:ext>
            </a:extLst>
          </p:cNvPr>
          <p:cNvSpPr txBox="1"/>
          <p:nvPr/>
        </p:nvSpPr>
        <p:spPr>
          <a:xfrm>
            <a:off x="3691631" y="2963532"/>
            <a:ext cx="1760738" cy="523220"/>
          </a:xfrm>
          <a:prstGeom prst="rect">
            <a:avLst/>
          </a:prstGeom>
          <a:noFill/>
        </p:spPr>
        <p:txBody>
          <a:bodyPr wrap="none" rtlCol="0">
            <a:spAutoFit/>
          </a:bodyPr>
          <a:lstStyle/>
          <a:p>
            <a:pPr algn="ctr"/>
            <a:r>
              <a:rPr lang="en-US" sz="1400" noProof="0" dirty="0"/>
              <a:t>Modelling, Analysis &amp;</a:t>
            </a:r>
          </a:p>
          <a:p>
            <a:pPr algn="ctr"/>
            <a:r>
              <a:rPr lang="en-US" sz="1400" noProof="0" dirty="0"/>
              <a:t>Simulation</a:t>
            </a:r>
          </a:p>
        </p:txBody>
      </p:sp>
      <p:sp>
        <p:nvSpPr>
          <p:cNvPr id="10" name="Rechteck 9">
            <a:extLst>
              <a:ext uri="{FF2B5EF4-FFF2-40B4-BE49-F238E27FC236}">
                <a16:creationId xmlns:a16="http://schemas.microsoft.com/office/drawing/2014/main" id="{4F101965-9BA9-F53D-36A3-07D1ED5FE7E0}"/>
              </a:ext>
            </a:extLst>
          </p:cNvPr>
          <p:cNvSpPr/>
          <p:nvPr/>
        </p:nvSpPr>
        <p:spPr>
          <a:xfrm>
            <a:off x="251520" y="1131590"/>
            <a:ext cx="2771897" cy="1880546"/>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400" noProof="0" dirty="0">
                <a:solidFill>
                  <a:schemeClr val="tx1"/>
                </a:solidFill>
              </a:rPr>
              <a:t>Modelling</a:t>
            </a:r>
          </a:p>
        </p:txBody>
      </p:sp>
      <p:grpSp>
        <p:nvGrpSpPr>
          <p:cNvPr id="11" name="Gruppieren 10">
            <a:extLst>
              <a:ext uri="{FF2B5EF4-FFF2-40B4-BE49-F238E27FC236}">
                <a16:creationId xmlns:a16="http://schemas.microsoft.com/office/drawing/2014/main" id="{117CB582-9A22-3FD1-BCB1-5AF2B011222C}"/>
              </a:ext>
            </a:extLst>
          </p:cNvPr>
          <p:cNvGrpSpPr/>
          <p:nvPr/>
        </p:nvGrpSpPr>
        <p:grpSpPr>
          <a:xfrm>
            <a:off x="377328" y="1491630"/>
            <a:ext cx="2520281" cy="1440162"/>
            <a:chOff x="395534" y="1491630"/>
            <a:chExt cx="2520281" cy="1440162"/>
          </a:xfrm>
        </p:grpSpPr>
        <p:sp>
          <p:nvSpPr>
            <p:cNvPr id="25" name="Rechteck 24">
              <a:extLst>
                <a:ext uri="{FF2B5EF4-FFF2-40B4-BE49-F238E27FC236}">
                  <a16:creationId xmlns:a16="http://schemas.microsoft.com/office/drawing/2014/main" id="{BBF2190C-73D9-5AC1-0EA4-B4B9FF493AC0}"/>
                </a:ext>
              </a:extLst>
            </p:cNvPr>
            <p:cNvSpPr/>
            <p:nvPr/>
          </p:nvSpPr>
          <p:spPr>
            <a:xfrm rot="5400000">
              <a:off x="1362303" y="1141957"/>
              <a:ext cx="550328" cy="1589179"/>
            </a:xfrm>
            <a:prstGeom prst="rect">
              <a:avLst/>
            </a:prstGeom>
            <a:solidFill>
              <a:srgbClr val="4F81BD">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vert="vert270" rtlCol="0" anchor="t"/>
            <a:lstStyle/>
            <a:p>
              <a:pPr algn="ctr"/>
              <a:r>
                <a:rPr lang="en-US" sz="1400" noProof="0" dirty="0"/>
                <a:t>Discrete</a:t>
              </a:r>
            </a:p>
          </p:txBody>
        </p:sp>
        <p:sp>
          <p:nvSpPr>
            <p:cNvPr id="26" name="Rechteck 25">
              <a:extLst>
                <a:ext uri="{FF2B5EF4-FFF2-40B4-BE49-F238E27FC236}">
                  <a16:creationId xmlns:a16="http://schemas.microsoft.com/office/drawing/2014/main" id="{DAE581B2-650F-0053-BBCD-A349A2F2ED4C}"/>
                </a:ext>
              </a:extLst>
            </p:cNvPr>
            <p:cNvSpPr/>
            <p:nvPr/>
          </p:nvSpPr>
          <p:spPr>
            <a:xfrm rot="5400000">
              <a:off x="1362302" y="1777161"/>
              <a:ext cx="550328" cy="1589179"/>
            </a:xfrm>
            <a:prstGeom prst="rect">
              <a:avLst/>
            </a:prstGeom>
            <a:solidFill>
              <a:srgbClr val="4F81BD">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vert="vert270" rtlCol="0" anchor="b"/>
            <a:lstStyle/>
            <a:p>
              <a:pPr algn="ctr"/>
              <a:r>
                <a:rPr lang="en-US" sz="1400" noProof="0" dirty="0"/>
                <a:t>Continuous</a:t>
              </a:r>
            </a:p>
          </p:txBody>
        </p:sp>
        <p:sp>
          <p:nvSpPr>
            <p:cNvPr id="27" name="Rechteck 26">
              <a:extLst>
                <a:ext uri="{FF2B5EF4-FFF2-40B4-BE49-F238E27FC236}">
                  <a16:creationId xmlns:a16="http://schemas.microsoft.com/office/drawing/2014/main" id="{8C31F268-ED25-9E93-EB0C-EE80127E9A47}"/>
                </a:ext>
              </a:extLst>
            </p:cNvPr>
            <p:cNvSpPr/>
            <p:nvPr/>
          </p:nvSpPr>
          <p:spPr>
            <a:xfrm rot="5400000">
              <a:off x="35493" y="1851671"/>
              <a:ext cx="1440162" cy="720079"/>
            </a:xfrm>
            <a:prstGeom prst="rect">
              <a:avLst/>
            </a:prstGeom>
            <a:solidFill>
              <a:srgbClr val="4F81BD">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vert="vert270" rtlCol="0" anchor="t"/>
            <a:lstStyle/>
            <a:p>
              <a:pPr algn="ctr"/>
              <a:r>
                <a:rPr lang="en-US" sz="1400" noProof="0" dirty="0"/>
                <a:t>Deter-</a:t>
              </a:r>
              <a:r>
                <a:rPr lang="en-US" sz="1400" noProof="0" dirty="0" err="1"/>
                <a:t>ministic</a:t>
              </a:r>
              <a:endParaRPr lang="en-US" sz="1400" noProof="0" dirty="0"/>
            </a:p>
          </p:txBody>
        </p:sp>
        <p:sp>
          <p:nvSpPr>
            <p:cNvPr id="28" name="Rechteck 27">
              <a:extLst>
                <a:ext uri="{FF2B5EF4-FFF2-40B4-BE49-F238E27FC236}">
                  <a16:creationId xmlns:a16="http://schemas.microsoft.com/office/drawing/2014/main" id="{F85ABD39-3745-3EB2-1ECE-DDB2508EA0B7}"/>
                </a:ext>
              </a:extLst>
            </p:cNvPr>
            <p:cNvSpPr/>
            <p:nvPr/>
          </p:nvSpPr>
          <p:spPr>
            <a:xfrm rot="5400000">
              <a:off x="1835695" y="1851671"/>
              <a:ext cx="1440162" cy="720079"/>
            </a:xfrm>
            <a:prstGeom prst="rect">
              <a:avLst/>
            </a:prstGeom>
            <a:solidFill>
              <a:srgbClr val="4F81BD">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vert="vert270" rtlCol="0" anchor="t"/>
            <a:lstStyle/>
            <a:p>
              <a:pPr algn="ctr"/>
              <a:r>
                <a:rPr lang="en-US" sz="1400" noProof="0" dirty="0"/>
                <a:t>Random</a:t>
              </a:r>
            </a:p>
          </p:txBody>
        </p:sp>
        <p:sp>
          <p:nvSpPr>
            <p:cNvPr id="29" name="Pfeil: nach links und rechts 28">
              <a:extLst>
                <a:ext uri="{FF2B5EF4-FFF2-40B4-BE49-F238E27FC236}">
                  <a16:creationId xmlns:a16="http://schemas.microsoft.com/office/drawing/2014/main" id="{DF0C0410-4D5F-0DDA-902F-44C0BE6F82D3}"/>
                </a:ext>
              </a:extLst>
            </p:cNvPr>
            <p:cNvSpPr/>
            <p:nvPr/>
          </p:nvSpPr>
          <p:spPr>
            <a:xfrm rot="16200000">
              <a:off x="1399271" y="2146137"/>
              <a:ext cx="476390" cy="216024"/>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2" name="Rechteck 11">
            <a:extLst>
              <a:ext uri="{FF2B5EF4-FFF2-40B4-BE49-F238E27FC236}">
                <a16:creationId xmlns:a16="http://schemas.microsoft.com/office/drawing/2014/main" id="{531AA216-FDF5-5558-B82E-B8E6E88F9F0F}"/>
              </a:ext>
            </a:extLst>
          </p:cNvPr>
          <p:cNvSpPr/>
          <p:nvPr/>
        </p:nvSpPr>
        <p:spPr>
          <a:xfrm>
            <a:off x="6120583" y="1131589"/>
            <a:ext cx="2771897" cy="1880546"/>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400" noProof="0" dirty="0">
                <a:solidFill>
                  <a:schemeClr val="tx1"/>
                </a:solidFill>
              </a:rPr>
              <a:t>Simulation</a:t>
            </a:r>
          </a:p>
        </p:txBody>
      </p:sp>
      <p:sp>
        <p:nvSpPr>
          <p:cNvPr id="13" name="Rechteck 12">
            <a:extLst>
              <a:ext uri="{FF2B5EF4-FFF2-40B4-BE49-F238E27FC236}">
                <a16:creationId xmlns:a16="http://schemas.microsoft.com/office/drawing/2014/main" id="{CE636DB9-8E02-7349-F489-3495B1595799}"/>
              </a:ext>
            </a:extLst>
          </p:cNvPr>
          <p:cNvSpPr/>
          <p:nvPr/>
        </p:nvSpPr>
        <p:spPr>
          <a:xfrm>
            <a:off x="971188" y="3297301"/>
            <a:ext cx="1512168" cy="4472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t>Application Orientation</a:t>
            </a:r>
          </a:p>
        </p:txBody>
      </p:sp>
      <p:sp>
        <p:nvSpPr>
          <p:cNvPr id="14" name="Rechteck 13">
            <a:extLst>
              <a:ext uri="{FF2B5EF4-FFF2-40B4-BE49-F238E27FC236}">
                <a16:creationId xmlns:a16="http://schemas.microsoft.com/office/drawing/2014/main" id="{FB6CB76E-3F79-971A-3363-CF79441E3B0C}"/>
              </a:ext>
            </a:extLst>
          </p:cNvPr>
          <p:cNvSpPr/>
          <p:nvPr/>
        </p:nvSpPr>
        <p:spPr>
          <a:xfrm>
            <a:off x="6660644" y="3297301"/>
            <a:ext cx="1512168" cy="4472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t>AI Support</a:t>
            </a:r>
          </a:p>
        </p:txBody>
      </p:sp>
      <p:sp>
        <p:nvSpPr>
          <p:cNvPr id="15" name="Trapezoid 14">
            <a:extLst>
              <a:ext uri="{FF2B5EF4-FFF2-40B4-BE49-F238E27FC236}">
                <a16:creationId xmlns:a16="http://schemas.microsoft.com/office/drawing/2014/main" id="{85B01290-C832-EC25-FBC7-16FD9FD8A9C5}"/>
              </a:ext>
            </a:extLst>
          </p:cNvPr>
          <p:cNvSpPr/>
          <p:nvPr/>
        </p:nvSpPr>
        <p:spPr>
          <a:xfrm>
            <a:off x="4241006" y="2050458"/>
            <a:ext cx="690561" cy="104573"/>
          </a:xfrm>
          <a:prstGeom prst="trapezoid">
            <a:avLst>
              <a:gd name="adj" fmla="val 705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6" name="Gruppieren 15">
            <a:extLst>
              <a:ext uri="{FF2B5EF4-FFF2-40B4-BE49-F238E27FC236}">
                <a16:creationId xmlns:a16="http://schemas.microsoft.com/office/drawing/2014/main" id="{90EC55CC-AF7E-4E6A-9C89-2F4E50577ABB}"/>
              </a:ext>
            </a:extLst>
          </p:cNvPr>
          <p:cNvGrpSpPr/>
          <p:nvPr/>
        </p:nvGrpSpPr>
        <p:grpSpPr>
          <a:xfrm>
            <a:off x="6249602" y="1589285"/>
            <a:ext cx="2513859" cy="1198489"/>
            <a:chOff x="6252813" y="1506871"/>
            <a:chExt cx="2513859" cy="1198489"/>
          </a:xfrm>
        </p:grpSpPr>
        <p:sp>
          <p:nvSpPr>
            <p:cNvPr id="21" name="Rechteck 20">
              <a:extLst>
                <a:ext uri="{FF2B5EF4-FFF2-40B4-BE49-F238E27FC236}">
                  <a16:creationId xmlns:a16="http://schemas.microsoft.com/office/drawing/2014/main" id="{02E50F2E-4204-061C-02A5-478CA5CD855B}"/>
                </a:ext>
              </a:extLst>
            </p:cNvPr>
            <p:cNvSpPr/>
            <p:nvPr/>
          </p:nvSpPr>
          <p:spPr>
            <a:xfrm rot="5400000">
              <a:off x="6577403" y="1182282"/>
              <a:ext cx="550328" cy="1199505"/>
            </a:xfrm>
            <a:prstGeom prst="rect">
              <a:avLst/>
            </a:prstGeom>
            <a:solidFill>
              <a:srgbClr val="4F81BD">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1400" noProof="0" dirty="0"/>
                <a:t>Agent-Based</a:t>
              </a:r>
            </a:p>
          </p:txBody>
        </p:sp>
        <p:sp>
          <p:nvSpPr>
            <p:cNvPr id="22" name="Rechteck 21">
              <a:extLst>
                <a:ext uri="{FF2B5EF4-FFF2-40B4-BE49-F238E27FC236}">
                  <a16:creationId xmlns:a16="http://schemas.microsoft.com/office/drawing/2014/main" id="{7C43E1C1-2CA7-6622-ABF5-7BD1E756FEB0}"/>
                </a:ext>
              </a:extLst>
            </p:cNvPr>
            <p:cNvSpPr/>
            <p:nvPr/>
          </p:nvSpPr>
          <p:spPr>
            <a:xfrm rot="5400000">
              <a:off x="7891755" y="1182282"/>
              <a:ext cx="550328" cy="1199505"/>
            </a:xfrm>
            <a:prstGeom prst="rect">
              <a:avLst/>
            </a:prstGeom>
            <a:solidFill>
              <a:srgbClr val="4F81BD">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1400" noProof="0" dirty="0"/>
                <a:t>Monte Carlo</a:t>
              </a:r>
            </a:p>
          </p:txBody>
        </p:sp>
        <p:sp>
          <p:nvSpPr>
            <p:cNvPr id="23" name="Rechteck 22">
              <a:extLst>
                <a:ext uri="{FF2B5EF4-FFF2-40B4-BE49-F238E27FC236}">
                  <a16:creationId xmlns:a16="http://schemas.microsoft.com/office/drawing/2014/main" id="{F3C4B2A3-7D9A-9939-9959-66A5C49FFB53}"/>
                </a:ext>
              </a:extLst>
            </p:cNvPr>
            <p:cNvSpPr/>
            <p:nvPr/>
          </p:nvSpPr>
          <p:spPr>
            <a:xfrm rot="5400000">
              <a:off x="6577402" y="1830443"/>
              <a:ext cx="550328" cy="1199505"/>
            </a:xfrm>
            <a:prstGeom prst="rect">
              <a:avLst/>
            </a:prstGeom>
            <a:solidFill>
              <a:srgbClr val="4F81BD">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1400" noProof="0" dirty="0"/>
                <a:t>Ordinary Differential Eq.</a:t>
              </a:r>
            </a:p>
          </p:txBody>
        </p:sp>
        <p:sp>
          <p:nvSpPr>
            <p:cNvPr id="24" name="Rechteck 23">
              <a:extLst>
                <a:ext uri="{FF2B5EF4-FFF2-40B4-BE49-F238E27FC236}">
                  <a16:creationId xmlns:a16="http://schemas.microsoft.com/office/drawing/2014/main" id="{E9C2D5F1-3469-3EBA-D29B-1B230FF6EE3D}"/>
                </a:ext>
              </a:extLst>
            </p:cNvPr>
            <p:cNvSpPr/>
            <p:nvPr/>
          </p:nvSpPr>
          <p:spPr>
            <a:xfrm rot="5400000">
              <a:off x="7891756" y="1830443"/>
              <a:ext cx="550328" cy="1199505"/>
            </a:xfrm>
            <a:prstGeom prst="rect">
              <a:avLst/>
            </a:prstGeom>
            <a:solidFill>
              <a:srgbClr val="4F81BD">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1400" noProof="0" dirty="0"/>
                <a:t>Partial Differential Eq.</a:t>
              </a:r>
            </a:p>
          </p:txBody>
        </p:sp>
      </p:grpSp>
      <p:sp>
        <p:nvSpPr>
          <p:cNvPr id="17" name="Rechteck 16">
            <a:extLst>
              <a:ext uri="{FF2B5EF4-FFF2-40B4-BE49-F238E27FC236}">
                <a16:creationId xmlns:a16="http://schemas.microsoft.com/office/drawing/2014/main" id="{EEBEC42D-DC23-8CB2-C7B8-53935F004B3D}"/>
              </a:ext>
            </a:extLst>
          </p:cNvPr>
          <p:cNvSpPr/>
          <p:nvPr/>
        </p:nvSpPr>
        <p:spPr>
          <a:xfrm>
            <a:off x="1305828" y="4517268"/>
            <a:ext cx="6553140" cy="502754"/>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noProof="0" dirty="0">
                <a:solidFill>
                  <a:schemeClr val="tx1"/>
                </a:solidFill>
              </a:rPr>
              <a:t>Mathematical</a:t>
            </a:r>
          </a:p>
          <a:p>
            <a:r>
              <a:rPr lang="en-US" sz="1400" noProof="0" dirty="0">
                <a:solidFill>
                  <a:schemeClr val="tx1"/>
                </a:solidFill>
              </a:rPr>
              <a:t>Analysis</a:t>
            </a:r>
          </a:p>
        </p:txBody>
      </p:sp>
      <p:sp>
        <p:nvSpPr>
          <p:cNvPr id="18" name="Rechteck 17">
            <a:extLst>
              <a:ext uri="{FF2B5EF4-FFF2-40B4-BE49-F238E27FC236}">
                <a16:creationId xmlns:a16="http://schemas.microsoft.com/office/drawing/2014/main" id="{F4178800-6ABB-00E0-34EA-F4AB1D608744}"/>
              </a:ext>
            </a:extLst>
          </p:cNvPr>
          <p:cNvSpPr/>
          <p:nvPr/>
        </p:nvSpPr>
        <p:spPr>
          <a:xfrm rot="5400000">
            <a:off x="3535395" y="4013628"/>
            <a:ext cx="354843" cy="1512169"/>
          </a:xfrm>
          <a:prstGeom prst="rect">
            <a:avLst/>
          </a:prstGeom>
          <a:solidFill>
            <a:srgbClr val="4F81BD">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1400" noProof="0" dirty="0"/>
              <a:t>Markov Chains</a:t>
            </a:r>
          </a:p>
        </p:txBody>
      </p:sp>
      <p:sp>
        <p:nvSpPr>
          <p:cNvPr id="19" name="Rechteck 18">
            <a:extLst>
              <a:ext uri="{FF2B5EF4-FFF2-40B4-BE49-F238E27FC236}">
                <a16:creationId xmlns:a16="http://schemas.microsoft.com/office/drawing/2014/main" id="{36D2217F-1782-923D-7EB9-57DBC2B4D01D}"/>
              </a:ext>
            </a:extLst>
          </p:cNvPr>
          <p:cNvSpPr/>
          <p:nvPr/>
        </p:nvSpPr>
        <p:spPr>
          <a:xfrm rot="5400000">
            <a:off x="5169758" y="4013628"/>
            <a:ext cx="354843" cy="1512169"/>
          </a:xfrm>
          <a:prstGeom prst="rect">
            <a:avLst/>
          </a:prstGeom>
          <a:solidFill>
            <a:srgbClr val="4F81BD">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1400" noProof="0" dirty="0"/>
              <a:t>Dynamical Systems</a:t>
            </a:r>
          </a:p>
        </p:txBody>
      </p:sp>
      <p:sp>
        <p:nvSpPr>
          <p:cNvPr id="20" name="Rechteck 19">
            <a:extLst>
              <a:ext uri="{FF2B5EF4-FFF2-40B4-BE49-F238E27FC236}">
                <a16:creationId xmlns:a16="http://schemas.microsoft.com/office/drawing/2014/main" id="{07A3A2EC-2319-4E85-FE52-620C66A3B4D8}"/>
              </a:ext>
            </a:extLst>
          </p:cNvPr>
          <p:cNvSpPr/>
          <p:nvPr/>
        </p:nvSpPr>
        <p:spPr>
          <a:xfrm rot="5400000">
            <a:off x="6804120" y="4013628"/>
            <a:ext cx="354843" cy="1512169"/>
          </a:xfrm>
          <a:prstGeom prst="rect">
            <a:avLst/>
          </a:prstGeom>
          <a:solidFill>
            <a:srgbClr val="4F81BD">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1400" noProof="0" dirty="0"/>
              <a:t>Game Theory</a:t>
            </a:r>
          </a:p>
        </p:txBody>
      </p:sp>
    </p:spTree>
    <p:extLst>
      <p:ext uri="{BB962C8B-B14F-4D97-AF65-F5344CB8AC3E}">
        <p14:creationId xmlns:p14="http://schemas.microsoft.com/office/powerpoint/2010/main" val="238644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animBg="1"/>
      <p:bldP spid="12" grpId="0" animBg="1"/>
      <p:bldP spid="13" grpId="0" animBg="1"/>
      <p:bldP spid="14" grpId="0" animBg="1"/>
      <p:bldP spid="17" grpId="0" animBg="1"/>
      <p:bldP spid="18" grpId="0" animBg="1"/>
      <p:bldP spid="19" grpId="0" animBg="1"/>
      <p:bldP spid="2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The two standard ways of doing science are the methods of deduction and induction …</a:t>
            </a:r>
          </a:p>
        </p:txBody>
      </p:sp>
      <p:sp>
        <p:nvSpPr>
          <p:cNvPr id="3" name="Textfeld 2"/>
          <p:cNvSpPr txBox="1"/>
          <p:nvPr/>
        </p:nvSpPr>
        <p:spPr>
          <a:xfrm>
            <a:off x="251520" y="987574"/>
            <a:ext cx="8640960" cy="523220"/>
          </a:xfrm>
          <a:prstGeom prst="rect">
            <a:avLst/>
          </a:prstGeom>
          <a:noFill/>
        </p:spPr>
        <p:txBody>
          <a:bodyPr wrap="square" rtlCol="0">
            <a:spAutoFit/>
          </a:bodyPr>
          <a:lstStyle/>
          <a:p>
            <a:r>
              <a:rPr lang="en-US" sz="1400" noProof="0" dirty="0"/>
              <a:t>The two standard ways of doing science are the methods of</a:t>
            </a:r>
          </a:p>
          <a:p>
            <a:pPr algn="ctr"/>
            <a:r>
              <a:rPr lang="en-US" sz="1400" b="1" noProof="0" dirty="0"/>
              <a:t>deduction</a:t>
            </a:r>
            <a:r>
              <a:rPr lang="en-US" sz="1400" noProof="0" dirty="0"/>
              <a:t> and </a:t>
            </a:r>
            <a:r>
              <a:rPr lang="en-US" sz="1400" b="1" noProof="0" dirty="0"/>
              <a:t>induction</a:t>
            </a:r>
          </a:p>
        </p:txBody>
      </p:sp>
      <p:pic>
        <p:nvPicPr>
          <p:cNvPr id="5" name="Picture 2" descr="https://encrypted-tbn0.gstatic.com/images?q=tbn:ANd9GcR0w79VX4oxZQbSXHbxF4vh9SCs8Z8GoqRiCALfGpcrEMV8FinC"/>
          <p:cNvPicPr>
            <a:picLocks noChangeAspect="1" noChangeArrowheads="1"/>
          </p:cNvPicPr>
          <p:nvPr/>
        </p:nvPicPr>
        <p:blipFill>
          <a:blip r:embed="rId2" cstate="print"/>
          <a:srcRect/>
          <a:stretch>
            <a:fillRect/>
          </a:stretch>
        </p:blipFill>
        <p:spPr bwMode="auto">
          <a:xfrm>
            <a:off x="2121513" y="1563638"/>
            <a:ext cx="4900974" cy="2520950"/>
          </a:xfrm>
          <a:prstGeom prst="rect">
            <a:avLst/>
          </a:prstGeom>
          <a:noFill/>
        </p:spPr>
      </p:pic>
      <p:sp>
        <p:nvSpPr>
          <p:cNvPr id="6" name="Textfeld 5"/>
          <p:cNvSpPr txBox="1"/>
          <p:nvPr/>
        </p:nvSpPr>
        <p:spPr>
          <a:xfrm>
            <a:off x="720341" y="4281358"/>
            <a:ext cx="2663527" cy="738000"/>
          </a:xfrm>
          <a:prstGeom prst="rect">
            <a:avLst/>
          </a:prstGeom>
          <a:solidFill>
            <a:srgbClr val="FF0000">
              <a:alpha val="40000"/>
            </a:srgbClr>
          </a:solidFill>
        </p:spPr>
        <p:txBody>
          <a:bodyPr wrap="square" rtlCol="0" anchor="ctr">
            <a:noAutofit/>
          </a:bodyPr>
          <a:lstStyle/>
          <a:p>
            <a:pPr algn="ctr"/>
            <a:r>
              <a:rPr lang="en-US" sz="1400" noProof="0" dirty="0"/>
              <a:t>we use deduction to</a:t>
            </a:r>
          </a:p>
          <a:p>
            <a:pPr algn="ctr"/>
            <a:r>
              <a:rPr lang="en-US" sz="1400" noProof="0" dirty="0"/>
              <a:t>derive theorems</a:t>
            </a:r>
          </a:p>
          <a:p>
            <a:pPr algn="ctr"/>
            <a:r>
              <a:rPr lang="en-US" sz="1400" noProof="0" dirty="0"/>
              <a:t>from assumptions</a:t>
            </a:r>
          </a:p>
        </p:txBody>
      </p:sp>
      <p:sp>
        <p:nvSpPr>
          <p:cNvPr id="7" name="Textfeld 6"/>
          <p:cNvSpPr txBox="1"/>
          <p:nvPr/>
        </p:nvSpPr>
        <p:spPr>
          <a:xfrm>
            <a:off x="5760132" y="4281358"/>
            <a:ext cx="2663527" cy="738664"/>
          </a:xfrm>
          <a:prstGeom prst="rect">
            <a:avLst/>
          </a:prstGeom>
          <a:solidFill>
            <a:srgbClr val="0070C0">
              <a:alpha val="40000"/>
            </a:srgbClr>
          </a:solidFill>
        </p:spPr>
        <p:txBody>
          <a:bodyPr wrap="square" rtlCol="0">
            <a:spAutoFit/>
          </a:bodyPr>
          <a:lstStyle/>
          <a:p>
            <a:pPr algn="ctr"/>
            <a:r>
              <a:rPr lang="en-US" sz="1400" noProof="0" dirty="0"/>
              <a:t>we use induction to</a:t>
            </a:r>
          </a:p>
          <a:p>
            <a:pPr algn="ctr"/>
            <a:r>
              <a:rPr lang="en-US" sz="1400" noProof="0" dirty="0"/>
              <a:t>find patterns in</a:t>
            </a:r>
          </a:p>
          <a:p>
            <a:pPr algn="ctr"/>
            <a:r>
              <a:rPr lang="en-US" sz="1400" noProof="0" dirty="0"/>
              <a:t>empirical 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 and with the advent of highly performing computers, simulation adds as a third way</a:t>
            </a:r>
          </a:p>
        </p:txBody>
      </p:sp>
      <p:sp>
        <p:nvSpPr>
          <p:cNvPr id="3" name="Textfeld 2"/>
          <p:cNvSpPr txBox="1"/>
          <p:nvPr/>
        </p:nvSpPr>
        <p:spPr>
          <a:xfrm>
            <a:off x="251520" y="987574"/>
            <a:ext cx="8640960" cy="523220"/>
          </a:xfrm>
          <a:prstGeom prst="rect">
            <a:avLst/>
          </a:prstGeom>
          <a:noFill/>
        </p:spPr>
        <p:txBody>
          <a:bodyPr wrap="square" rtlCol="0">
            <a:spAutoFit/>
          </a:bodyPr>
          <a:lstStyle/>
          <a:p>
            <a:r>
              <a:rPr lang="en-US" sz="1400" noProof="0" dirty="0"/>
              <a:t>The two standard ways of doing science are the methods of</a:t>
            </a:r>
          </a:p>
          <a:p>
            <a:pPr algn="ctr"/>
            <a:r>
              <a:rPr lang="en-US" sz="1400" b="1" noProof="0" dirty="0"/>
              <a:t>deduction</a:t>
            </a:r>
            <a:r>
              <a:rPr lang="en-US" sz="1400" noProof="0" dirty="0"/>
              <a:t> and </a:t>
            </a:r>
            <a:r>
              <a:rPr lang="en-US" sz="1400" b="1" noProof="0" dirty="0"/>
              <a:t>induction</a:t>
            </a:r>
          </a:p>
        </p:txBody>
      </p:sp>
      <p:sp>
        <p:nvSpPr>
          <p:cNvPr id="6" name="Textfeld 5"/>
          <p:cNvSpPr txBox="1"/>
          <p:nvPr/>
        </p:nvSpPr>
        <p:spPr>
          <a:xfrm>
            <a:off x="720341" y="4281358"/>
            <a:ext cx="2663527" cy="738000"/>
          </a:xfrm>
          <a:prstGeom prst="rect">
            <a:avLst/>
          </a:prstGeom>
          <a:solidFill>
            <a:srgbClr val="FF0000">
              <a:alpha val="40000"/>
            </a:srgbClr>
          </a:solidFill>
        </p:spPr>
        <p:txBody>
          <a:bodyPr wrap="square" rtlCol="0" anchor="ctr">
            <a:noAutofit/>
          </a:bodyPr>
          <a:lstStyle/>
          <a:p>
            <a:pPr algn="ctr"/>
            <a:r>
              <a:rPr lang="en-US" sz="1400" noProof="0" dirty="0"/>
              <a:t>we use deduction to</a:t>
            </a:r>
          </a:p>
          <a:p>
            <a:pPr algn="ctr"/>
            <a:r>
              <a:rPr lang="en-US" sz="1400" noProof="0" dirty="0"/>
              <a:t>derive theorems</a:t>
            </a:r>
          </a:p>
          <a:p>
            <a:pPr algn="ctr"/>
            <a:r>
              <a:rPr lang="en-US" sz="1400" noProof="0" dirty="0"/>
              <a:t>from assumptions</a:t>
            </a:r>
          </a:p>
        </p:txBody>
      </p:sp>
      <p:sp>
        <p:nvSpPr>
          <p:cNvPr id="7" name="Textfeld 6"/>
          <p:cNvSpPr txBox="1"/>
          <p:nvPr/>
        </p:nvSpPr>
        <p:spPr>
          <a:xfrm>
            <a:off x="5760132" y="4281358"/>
            <a:ext cx="2663527" cy="738664"/>
          </a:xfrm>
          <a:prstGeom prst="rect">
            <a:avLst/>
          </a:prstGeom>
          <a:solidFill>
            <a:srgbClr val="0070C0">
              <a:alpha val="40000"/>
            </a:srgbClr>
          </a:solidFill>
        </p:spPr>
        <p:txBody>
          <a:bodyPr wrap="square" rtlCol="0">
            <a:spAutoFit/>
          </a:bodyPr>
          <a:lstStyle/>
          <a:p>
            <a:pPr algn="ctr"/>
            <a:r>
              <a:rPr lang="en-US" sz="1400" noProof="0" dirty="0"/>
              <a:t>we use induction to</a:t>
            </a:r>
          </a:p>
          <a:p>
            <a:pPr algn="ctr"/>
            <a:r>
              <a:rPr lang="en-US" sz="1400" noProof="0" dirty="0"/>
              <a:t>find patterns in</a:t>
            </a:r>
          </a:p>
          <a:p>
            <a:pPr algn="ctr"/>
            <a:r>
              <a:rPr lang="en-US" sz="1400" noProof="0" dirty="0"/>
              <a:t>empirical data</a:t>
            </a:r>
          </a:p>
        </p:txBody>
      </p:sp>
      <p:sp>
        <p:nvSpPr>
          <p:cNvPr id="8" name="Textfeld 7"/>
          <p:cNvSpPr txBox="1"/>
          <p:nvPr/>
        </p:nvSpPr>
        <p:spPr>
          <a:xfrm>
            <a:off x="3491880" y="4281358"/>
            <a:ext cx="2160240" cy="738000"/>
          </a:xfrm>
          <a:prstGeom prst="rect">
            <a:avLst/>
          </a:prstGeom>
          <a:solidFill>
            <a:srgbClr val="00B050">
              <a:alpha val="40000"/>
            </a:srgbClr>
          </a:solidFill>
        </p:spPr>
        <p:txBody>
          <a:bodyPr wrap="square" rtlCol="0" anchor="ctr">
            <a:noAutofit/>
          </a:bodyPr>
          <a:lstStyle/>
          <a:p>
            <a:pPr algn="ctr"/>
            <a:r>
              <a:rPr lang="en-US" sz="1400" b="1" noProof="0" dirty="0"/>
              <a:t>Simulation</a:t>
            </a:r>
          </a:p>
        </p:txBody>
      </p:sp>
      <p:grpSp>
        <p:nvGrpSpPr>
          <p:cNvPr id="4" name="Gruppieren 13"/>
          <p:cNvGrpSpPr/>
          <p:nvPr/>
        </p:nvGrpSpPr>
        <p:grpSpPr>
          <a:xfrm>
            <a:off x="720341" y="1563638"/>
            <a:ext cx="7703318" cy="2520950"/>
            <a:chOff x="720341" y="2132856"/>
            <a:chExt cx="7703318" cy="2520950"/>
          </a:xfrm>
        </p:grpSpPr>
        <p:pic>
          <p:nvPicPr>
            <p:cNvPr id="9" name="Picture 2" descr="https://encrypted-tbn0.gstatic.com/images?q=tbn:ANd9GcR0w79VX4oxZQbSXHbxF4vh9SCs8Z8GoqRiCALfGpcrEMV8FinC"/>
            <p:cNvPicPr>
              <a:picLocks noChangeAspect="1" noChangeArrowheads="1"/>
            </p:cNvPicPr>
            <p:nvPr/>
          </p:nvPicPr>
          <p:blipFill>
            <a:blip r:embed="rId2" cstate="print"/>
            <a:srcRect l="50000"/>
            <a:stretch>
              <a:fillRect/>
            </a:stretch>
          </p:blipFill>
          <p:spPr bwMode="auto">
            <a:xfrm>
              <a:off x="5973172" y="2132856"/>
              <a:ext cx="2450487" cy="2520950"/>
            </a:xfrm>
            <a:prstGeom prst="rect">
              <a:avLst/>
            </a:prstGeom>
            <a:noFill/>
          </p:spPr>
        </p:pic>
        <p:pic>
          <p:nvPicPr>
            <p:cNvPr id="10" name="Picture 2" descr="https://encrypted-tbn0.gstatic.com/images?q=tbn:ANd9GcR0w79VX4oxZQbSXHbxF4vh9SCs8Z8GoqRiCALfGpcrEMV8FinC"/>
            <p:cNvPicPr>
              <a:picLocks noChangeAspect="1" noChangeArrowheads="1"/>
            </p:cNvPicPr>
            <p:nvPr/>
          </p:nvPicPr>
          <p:blipFill>
            <a:blip r:embed="rId2" cstate="print"/>
            <a:srcRect r="50000"/>
            <a:stretch>
              <a:fillRect/>
            </a:stretch>
          </p:blipFill>
          <p:spPr bwMode="auto">
            <a:xfrm>
              <a:off x="720341" y="2132856"/>
              <a:ext cx="2450487" cy="2520950"/>
            </a:xfrm>
            <a:prstGeom prst="rect">
              <a:avLst/>
            </a:prstGeom>
            <a:noFill/>
          </p:spPr>
        </p:pic>
        <p:sp>
          <p:nvSpPr>
            <p:cNvPr id="11" name="Rechteck 10"/>
            <p:cNvSpPr/>
            <p:nvPr/>
          </p:nvSpPr>
          <p:spPr>
            <a:xfrm>
              <a:off x="3275856" y="2132856"/>
              <a:ext cx="2592288" cy="2520280"/>
            </a:xfrm>
            <a:prstGeom prst="rect">
              <a:avLst/>
            </a:prstGeom>
            <a:solidFill>
              <a:srgbClr val="00B050">
                <a:alpha val="40000"/>
              </a:srgbClr>
            </a:solidFill>
          </p:spPr>
          <p:txBody>
            <a:bodyPr wrap="square" rtlCol="0">
              <a:noAutofit/>
            </a:bodyPr>
            <a:lstStyle/>
            <a:p>
              <a:pPr algn="ctr"/>
              <a:endParaRPr lang="en-US" noProof="0" dirty="0">
                <a:solidFill>
                  <a:schemeClr val="tx1"/>
                </a:solidFill>
                <a:latin typeface="Arial" charset="0"/>
              </a:endParaRPr>
            </a:p>
          </p:txBody>
        </p:sp>
        <p:pic>
          <p:nvPicPr>
            <p:cNvPr id="12" name="Grafik 11" descr="neo-matrix_00397615.jpg"/>
            <p:cNvPicPr>
              <a:picLocks noChangeAspect="1"/>
            </p:cNvPicPr>
            <p:nvPr/>
          </p:nvPicPr>
          <p:blipFill>
            <a:blip r:embed="rId3" cstate="print"/>
            <a:srcRect/>
            <a:stretch>
              <a:fillRect/>
            </a:stretch>
          </p:blipFill>
          <p:spPr>
            <a:xfrm>
              <a:off x="3455876" y="2276872"/>
              <a:ext cx="2232248" cy="2232248"/>
            </a:xfrm>
            <a:prstGeom prst="rect">
              <a:avLst/>
            </a:prstGeom>
          </p:spPr>
        </p:pic>
        <p:pic>
          <p:nvPicPr>
            <p:cNvPr id="13" name="Grafik 12" descr="images.jpg"/>
            <p:cNvPicPr>
              <a:picLocks noChangeAspect="1"/>
            </p:cNvPicPr>
            <p:nvPr/>
          </p:nvPicPr>
          <p:blipFill>
            <a:blip r:embed="rId4" cstate="print">
              <a:duotone>
                <a:prstClr val="black"/>
                <a:schemeClr val="accent3">
                  <a:tint val="45000"/>
                  <a:satMod val="400000"/>
                </a:schemeClr>
              </a:duotone>
            </a:blip>
            <a:stretch>
              <a:fillRect/>
            </a:stretch>
          </p:blipFill>
          <p:spPr>
            <a:xfrm>
              <a:off x="4796581" y="3581573"/>
              <a:ext cx="1071563" cy="107156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One may indeed argue that simulation or agent based modeling is a third way of doing science in addition to deduction and induction</a:t>
            </a:r>
          </a:p>
        </p:txBody>
      </p:sp>
      <p:sp>
        <p:nvSpPr>
          <p:cNvPr id="3" name="Textfeld 2"/>
          <p:cNvSpPr txBox="1"/>
          <p:nvPr/>
        </p:nvSpPr>
        <p:spPr>
          <a:xfrm>
            <a:off x="179512" y="2034589"/>
            <a:ext cx="4248472" cy="2985433"/>
          </a:xfrm>
          <a:prstGeom prst="rect">
            <a:avLst/>
          </a:prstGeom>
          <a:noFill/>
        </p:spPr>
        <p:txBody>
          <a:bodyPr wrap="square" rtlCol="0">
            <a:spAutoFit/>
          </a:bodyPr>
          <a:lstStyle/>
          <a:p>
            <a:pPr>
              <a:spcAft>
                <a:spcPts val="600"/>
              </a:spcAft>
            </a:pPr>
            <a:r>
              <a:rPr lang="en-US" sz="1400" b="1" noProof="0" dirty="0"/>
              <a:t>Simulation</a:t>
            </a:r>
            <a:r>
              <a:rPr lang="en-US" sz="1400" noProof="0" dirty="0"/>
              <a:t>,</a:t>
            </a:r>
          </a:p>
          <a:p>
            <a:pPr marL="266700" indent="-174625">
              <a:spcAft>
                <a:spcPts val="600"/>
              </a:spcAft>
              <a:buFont typeface="Arial" pitchFamily="34" charset="0"/>
              <a:buChar char="•"/>
            </a:pPr>
            <a:r>
              <a:rPr lang="en-US" sz="1400" noProof="0" dirty="0"/>
              <a:t>like deduction, starts with a rigorously specified set of assumptions regarding an actual or proposed system of interest,</a:t>
            </a:r>
          </a:p>
          <a:p>
            <a:pPr marL="266700" indent="-174625">
              <a:spcAft>
                <a:spcPts val="600"/>
              </a:spcAft>
              <a:buFont typeface="Arial" pitchFamily="34" charset="0"/>
              <a:buChar char="•"/>
            </a:pPr>
            <a:r>
              <a:rPr lang="en-US" sz="1400" noProof="0" dirty="0"/>
              <a:t>but, unlike deduction, simulation does not prove theorems with generality.</a:t>
            </a:r>
          </a:p>
          <a:p>
            <a:pPr marL="266700" indent="-174625">
              <a:spcAft>
                <a:spcPts val="600"/>
              </a:spcAft>
              <a:buFont typeface="Arial" pitchFamily="34" charset="0"/>
              <a:buChar char="•"/>
            </a:pPr>
            <a:r>
              <a:rPr lang="en-US" sz="1400" noProof="0" dirty="0"/>
              <a:t>Instead, simulation generates data suitable for analysis by induction.</a:t>
            </a:r>
          </a:p>
          <a:p>
            <a:pPr marL="266700" indent="-174625">
              <a:spcAft>
                <a:spcPts val="600"/>
              </a:spcAft>
              <a:buFont typeface="Arial" pitchFamily="34" charset="0"/>
              <a:buChar char="•"/>
            </a:pPr>
            <a:r>
              <a:rPr lang="en-US" sz="1400" noProof="0" dirty="0"/>
              <a:t>In contrast to typical induction, however, the simulated data come from controlled experiments rather than from direct measurements of the real world.</a:t>
            </a:r>
          </a:p>
        </p:txBody>
      </p:sp>
      <p:sp>
        <p:nvSpPr>
          <p:cNvPr id="4" name="Textfeld 3"/>
          <p:cNvSpPr txBox="1"/>
          <p:nvPr/>
        </p:nvSpPr>
        <p:spPr>
          <a:xfrm>
            <a:off x="4716016" y="2034589"/>
            <a:ext cx="4248472" cy="2554545"/>
          </a:xfrm>
          <a:prstGeom prst="rect">
            <a:avLst/>
          </a:prstGeom>
          <a:noFill/>
        </p:spPr>
        <p:txBody>
          <a:bodyPr wrap="square" rtlCol="0">
            <a:spAutoFit/>
          </a:bodyPr>
          <a:lstStyle/>
          <a:p>
            <a:pPr>
              <a:spcAft>
                <a:spcPts val="600"/>
              </a:spcAft>
            </a:pPr>
            <a:r>
              <a:rPr lang="en-US" sz="1400" noProof="0" dirty="0"/>
              <a:t>Consequently, simulation differs from standard deduction and induction in both</a:t>
            </a:r>
          </a:p>
          <a:p>
            <a:pPr marL="266700" indent="-174625">
              <a:spcAft>
                <a:spcPts val="600"/>
              </a:spcAft>
              <a:buFont typeface="Arial" pitchFamily="34" charset="0"/>
              <a:buChar char="•"/>
            </a:pPr>
            <a:r>
              <a:rPr lang="en-US" sz="1400" noProof="0" dirty="0"/>
              <a:t>its implementation and</a:t>
            </a:r>
          </a:p>
          <a:p>
            <a:pPr marL="266700" indent="-174625">
              <a:spcAft>
                <a:spcPts val="600"/>
              </a:spcAft>
              <a:buFont typeface="Arial" pitchFamily="34" charset="0"/>
              <a:buChar char="•"/>
            </a:pPr>
            <a:r>
              <a:rPr lang="en-US" sz="1400" noProof="0" dirty="0"/>
              <a:t>its goals.</a:t>
            </a:r>
          </a:p>
          <a:p>
            <a:pPr>
              <a:spcAft>
                <a:spcPts val="600"/>
              </a:spcAft>
            </a:pPr>
            <a:r>
              <a:rPr lang="en-US" sz="1400" noProof="0" dirty="0"/>
              <a:t>Simulation permits increased understanding of systems through controlled computational experiments.</a:t>
            </a:r>
          </a:p>
          <a:p>
            <a:pPr>
              <a:spcAft>
                <a:spcPts val="600"/>
              </a:spcAft>
            </a:pPr>
            <a:r>
              <a:rPr lang="en-US" sz="1400" b="1" noProof="0" dirty="0"/>
              <a:t>In particular, agent-based modeling can be used to investigate how macro-level effects and social behaviors arise from the micro processes of interactions among many agents.</a:t>
            </a:r>
          </a:p>
        </p:txBody>
      </p:sp>
      <p:sp>
        <p:nvSpPr>
          <p:cNvPr id="5" name="Richtungspfeil 4"/>
          <p:cNvSpPr/>
          <p:nvPr/>
        </p:nvSpPr>
        <p:spPr>
          <a:xfrm>
            <a:off x="251520" y="987574"/>
            <a:ext cx="2304256" cy="648072"/>
          </a:xfrm>
          <a:prstGeom prst="homePlat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t> rigorously specified set</a:t>
            </a:r>
          </a:p>
          <a:p>
            <a:pPr algn="ctr"/>
            <a:r>
              <a:rPr lang="en-US" sz="1200" noProof="0" dirty="0"/>
              <a:t>of assumptions</a:t>
            </a:r>
          </a:p>
        </p:txBody>
      </p:sp>
      <p:sp>
        <p:nvSpPr>
          <p:cNvPr id="6" name="Eingekerbter Richtungspfeil 5"/>
          <p:cNvSpPr/>
          <p:nvPr/>
        </p:nvSpPr>
        <p:spPr>
          <a:xfrm>
            <a:off x="2363755" y="987574"/>
            <a:ext cx="2304256" cy="648072"/>
          </a:xfrm>
          <a:prstGeom prst="chevron">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t>controlled computational experiments</a:t>
            </a:r>
          </a:p>
        </p:txBody>
      </p:sp>
      <p:sp>
        <p:nvSpPr>
          <p:cNvPr id="7" name="Eingekerbter Richtungspfeil 6"/>
          <p:cNvSpPr/>
          <p:nvPr/>
        </p:nvSpPr>
        <p:spPr>
          <a:xfrm>
            <a:off x="4475990" y="987574"/>
            <a:ext cx="2304256" cy="648072"/>
          </a:xfrm>
          <a:prstGeom prst="chevron">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t>generated data by computer-simulations</a:t>
            </a:r>
          </a:p>
        </p:txBody>
      </p:sp>
      <p:sp>
        <p:nvSpPr>
          <p:cNvPr id="8" name="Eingekerbter Richtungspfeil 7"/>
          <p:cNvSpPr/>
          <p:nvPr/>
        </p:nvSpPr>
        <p:spPr>
          <a:xfrm>
            <a:off x="6588224" y="987574"/>
            <a:ext cx="2304256" cy="648072"/>
          </a:xfrm>
          <a:prstGeom prst="chevron">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t>analysis by</a:t>
            </a:r>
          </a:p>
          <a:p>
            <a:pPr algn="ctr"/>
            <a:r>
              <a:rPr lang="en-US" sz="1200" noProof="0" dirty="0"/>
              <a:t>induction</a:t>
            </a:r>
            <a:endParaRPr lang="en-US" sz="1200" noProof="0" dirty="0">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bgerundetes Rechteck 1"/>
          <p:cNvSpPr/>
          <p:nvPr/>
        </p:nvSpPr>
        <p:spPr>
          <a:xfrm>
            <a:off x="971600" y="1563638"/>
            <a:ext cx="7200800" cy="360040"/>
          </a:xfrm>
          <a:prstGeom prst="round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Textfeld 2"/>
          <p:cNvSpPr txBox="1"/>
          <p:nvPr/>
        </p:nvSpPr>
        <p:spPr>
          <a:xfrm>
            <a:off x="971600" y="1131590"/>
            <a:ext cx="4620047" cy="2739211"/>
          </a:xfrm>
          <a:prstGeom prst="rect">
            <a:avLst/>
          </a:prstGeom>
          <a:noFill/>
        </p:spPr>
        <p:txBody>
          <a:bodyPr wrap="none" rtlCol="0">
            <a:spAutoFit/>
          </a:bodyPr>
          <a:lstStyle/>
          <a:p>
            <a:r>
              <a:rPr lang="en-US" b="1" noProof="0" dirty="0"/>
              <a:t>Topics</a:t>
            </a:r>
          </a:p>
          <a:p>
            <a:endParaRPr lang="en-US" sz="1000" noProof="0" dirty="0"/>
          </a:p>
          <a:p>
            <a:pPr lvl="1"/>
            <a:r>
              <a:rPr lang="en-US" b="1" noProof="0" dirty="0"/>
              <a:t>Deep-Dive Modeling</a:t>
            </a:r>
          </a:p>
          <a:p>
            <a:pPr lvl="1"/>
            <a:endParaRPr lang="en-US" noProof="0" dirty="0"/>
          </a:p>
          <a:p>
            <a:pPr lvl="1"/>
            <a:r>
              <a:rPr lang="en-US" noProof="0" dirty="0"/>
              <a:t>Diffusion of Ideas or Diseases</a:t>
            </a:r>
          </a:p>
          <a:p>
            <a:pPr lvl="1"/>
            <a:endParaRPr lang="en-US" noProof="0" dirty="0"/>
          </a:p>
          <a:p>
            <a:pPr lvl="1"/>
            <a:r>
              <a:rPr lang="en-US" noProof="0" dirty="0"/>
              <a:t>Mathematical Descriptions</a:t>
            </a:r>
          </a:p>
          <a:p>
            <a:pPr lvl="1"/>
            <a:endParaRPr lang="en-US" noProof="0" dirty="0"/>
          </a:p>
          <a:p>
            <a:pPr lvl="1"/>
            <a:r>
              <a:rPr lang="en-US" noProof="0" dirty="0"/>
              <a:t>On the Use of AI in Academia and Industry</a:t>
            </a:r>
          </a:p>
          <a:p>
            <a:pPr lvl="1"/>
            <a:endParaRPr lang="en-US" noProof="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A successful model is accurate, predictive, reusable, and parsimonious</a:t>
            </a:r>
          </a:p>
        </p:txBody>
      </p:sp>
      <p:grpSp>
        <p:nvGrpSpPr>
          <p:cNvPr id="11" name="Gruppieren 10"/>
          <p:cNvGrpSpPr/>
          <p:nvPr/>
        </p:nvGrpSpPr>
        <p:grpSpPr>
          <a:xfrm>
            <a:off x="251520" y="1059582"/>
            <a:ext cx="5832116" cy="1296144"/>
            <a:chOff x="468312" y="1131590"/>
            <a:chExt cx="8424167" cy="1872208"/>
          </a:xfrm>
        </p:grpSpPr>
        <p:sp>
          <p:nvSpPr>
            <p:cNvPr id="3" name="Wolke 2"/>
            <p:cNvSpPr/>
            <p:nvPr/>
          </p:nvSpPr>
          <p:spPr>
            <a:xfrm>
              <a:off x="468312" y="1131590"/>
              <a:ext cx="8424167" cy="1872208"/>
            </a:xfrm>
            <a:prstGeom prst="cloud">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noProof="0" dirty="0"/>
            </a:p>
          </p:txBody>
        </p:sp>
        <p:sp>
          <p:nvSpPr>
            <p:cNvPr id="4" name="Rechteck 3"/>
            <p:cNvSpPr/>
            <p:nvPr/>
          </p:nvSpPr>
          <p:spPr>
            <a:xfrm>
              <a:off x="3131840" y="1604437"/>
              <a:ext cx="2880320" cy="864096"/>
            </a:xfrm>
            <a:prstGeom prst="rect">
              <a:avLst/>
            </a:prstGeom>
            <a:solidFill>
              <a:schemeClr val="accent1"/>
            </a:solidFill>
            <a:ln w="2857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system of interest</a:t>
              </a:r>
            </a:p>
          </p:txBody>
        </p:sp>
        <p:cxnSp>
          <p:nvCxnSpPr>
            <p:cNvPr id="5" name="Gerade Verbindung mit Pfeil 4"/>
            <p:cNvCxnSpPr/>
            <p:nvPr/>
          </p:nvCxnSpPr>
          <p:spPr>
            <a:xfrm>
              <a:off x="6012160" y="2036485"/>
              <a:ext cx="2160240" cy="0"/>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6" name="Gerade Verbindung mit Pfeil 5"/>
            <p:cNvCxnSpPr/>
            <p:nvPr/>
          </p:nvCxnSpPr>
          <p:spPr>
            <a:xfrm>
              <a:off x="971600" y="2036485"/>
              <a:ext cx="2160240" cy="0"/>
            </a:xfrm>
            <a:prstGeom prst="straightConnector1">
              <a:avLst/>
            </a:prstGeom>
            <a:ln w="28575">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7" name="Textfeld 6"/>
            <p:cNvSpPr txBox="1"/>
            <p:nvPr/>
          </p:nvSpPr>
          <p:spPr>
            <a:xfrm>
              <a:off x="1638180" y="1563638"/>
              <a:ext cx="827079" cy="400110"/>
            </a:xfrm>
            <a:prstGeom prst="rect">
              <a:avLst/>
            </a:prstGeom>
            <a:noFill/>
          </p:spPr>
          <p:txBody>
            <a:bodyPr wrap="none" rtlCol="0">
              <a:spAutoFit/>
            </a:bodyPr>
            <a:lstStyle/>
            <a:p>
              <a:pPr algn="ctr"/>
              <a:r>
                <a:rPr lang="en-US" sz="1200" noProof="0" dirty="0"/>
                <a:t>inputs</a:t>
              </a:r>
            </a:p>
          </p:txBody>
        </p:sp>
        <p:sp>
          <p:nvSpPr>
            <p:cNvPr id="8" name="Textfeld 7"/>
            <p:cNvSpPr txBox="1"/>
            <p:nvPr/>
          </p:nvSpPr>
          <p:spPr>
            <a:xfrm>
              <a:off x="6608121" y="1563638"/>
              <a:ext cx="968321" cy="400110"/>
            </a:xfrm>
            <a:prstGeom prst="rect">
              <a:avLst/>
            </a:prstGeom>
            <a:noFill/>
          </p:spPr>
          <p:txBody>
            <a:bodyPr wrap="none" rtlCol="0">
              <a:spAutoFit/>
            </a:bodyPr>
            <a:lstStyle/>
            <a:p>
              <a:pPr algn="ctr"/>
              <a:r>
                <a:rPr lang="en-US" sz="1200" noProof="0" dirty="0"/>
                <a:t>outputs</a:t>
              </a:r>
            </a:p>
          </p:txBody>
        </p:sp>
        <p:sp>
          <p:nvSpPr>
            <p:cNvPr id="9" name="Textfeld 8"/>
            <p:cNvSpPr txBox="1"/>
            <p:nvPr/>
          </p:nvSpPr>
          <p:spPr>
            <a:xfrm>
              <a:off x="1907704" y="2427733"/>
              <a:ext cx="940535" cy="400110"/>
            </a:xfrm>
            <a:prstGeom prst="rect">
              <a:avLst/>
            </a:prstGeom>
            <a:noFill/>
          </p:spPr>
          <p:txBody>
            <a:bodyPr wrap="none" rtlCol="0">
              <a:spAutoFit/>
            </a:bodyPr>
            <a:lstStyle/>
            <a:p>
              <a:r>
                <a:rPr lang="en-US" sz="1200" noProof="0" dirty="0">
                  <a:solidFill>
                    <a:srgbClr val="C00000"/>
                  </a:solidFill>
                </a:rPr>
                <a:t>outside</a:t>
              </a:r>
            </a:p>
          </p:txBody>
        </p:sp>
        <p:sp>
          <p:nvSpPr>
            <p:cNvPr id="10" name="Gewitterblitz 9"/>
            <p:cNvSpPr/>
            <p:nvPr/>
          </p:nvSpPr>
          <p:spPr>
            <a:xfrm flipV="1">
              <a:off x="2555776" y="2211710"/>
              <a:ext cx="792088" cy="288032"/>
            </a:xfrm>
            <a:prstGeom prst="lightningBolt">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noProof="0" dirty="0"/>
            </a:p>
          </p:txBody>
        </p:sp>
      </p:grpSp>
      <p:sp>
        <p:nvSpPr>
          <p:cNvPr id="12" name="Rechteck 11"/>
          <p:cNvSpPr/>
          <p:nvPr/>
        </p:nvSpPr>
        <p:spPr>
          <a:xfrm>
            <a:off x="1691680" y="2643758"/>
            <a:ext cx="7200800" cy="2376264"/>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r>
              <a:rPr lang="en-US" sz="1400" noProof="0" dirty="0">
                <a:solidFill>
                  <a:schemeClr val="tx1"/>
                </a:solidFill>
              </a:rPr>
              <a:t>The modeling process is considered successful when the obtained model possesses the following four essential characteristics:</a:t>
            </a:r>
          </a:p>
          <a:p>
            <a:pPr marL="176213" indent="-176213">
              <a:spcAft>
                <a:spcPts val="600"/>
              </a:spcAft>
              <a:buFont typeface="Arial" pitchFamily="34" charset="0"/>
              <a:buChar char="•"/>
            </a:pPr>
            <a:r>
              <a:rPr lang="en-US" sz="1400" b="1" noProof="0" dirty="0">
                <a:solidFill>
                  <a:schemeClr val="tx1"/>
                </a:solidFill>
              </a:rPr>
              <a:t>Accurate:</a:t>
            </a:r>
            <a:r>
              <a:rPr lang="en-US" sz="1400" noProof="0" dirty="0">
                <a:solidFill>
                  <a:schemeClr val="tx1"/>
                </a:solidFill>
              </a:rPr>
              <a:t> the model should attempt to accurately describe current existing observations. (Though, models need not match experimental data to be useful.)</a:t>
            </a:r>
          </a:p>
          <a:p>
            <a:pPr marL="176213" indent="-176213">
              <a:spcAft>
                <a:spcPts val="600"/>
              </a:spcAft>
              <a:buFont typeface="Arial" pitchFamily="34" charset="0"/>
              <a:buChar char="•"/>
            </a:pPr>
            <a:r>
              <a:rPr lang="en-US" sz="1400" b="1" noProof="0" dirty="0">
                <a:solidFill>
                  <a:schemeClr val="tx1"/>
                </a:solidFill>
              </a:rPr>
              <a:t>Predictive:</a:t>
            </a:r>
            <a:r>
              <a:rPr lang="en-US" sz="1400" noProof="0" dirty="0">
                <a:solidFill>
                  <a:schemeClr val="tx1"/>
                </a:solidFill>
              </a:rPr>
              <a:t> the model should allow to appropriately predict the behavior of the system (through analysis or simulation) in situations not already observed.</a:t>
            </a:r>
          </a:p>
          <a:p>
            <a:pPr marL="176213" indent="-176213">
              <a:spcAft>
                <a:spcPts val="600"/>
              </a:spcAft>
              <a:buFont typeface="Arial" pitchFamily="34" charset="0"/>
              <a:buChar char="•"/>
            </a:pPr>
            <a:r>
              <a:rPr lang="en-US" sz="1400" b="1" noProof="0" dirty="0">
                <a:solidFill>
                  <a:schemeClr val="tx1"/>
                </a:solidFill>
              </a:rPr>
              <a:t>Reusable:</a:t>
            </a:r>
            <a:r>
              <a:rPr lang="en-US" sz="1400" noProof="0" dirty="0">
                <a:solidFill>
                  <a:schemeClr val="tx1"/>
                </a:solidFill>
              </a:rPr>
              <a:t> the model can be reused in another, similar case.</a:t>
            </a:r>
          </a:p>
          <a:p>
            <a:pPr marL="176213" indent="-176213">
              <a:spcAft>
                <a:spcPts val="600"/>
              </a:spcAft>
              <a:buFont typeface="Arial" pitchFamily="34" charset="0"/>
              <a:buChar char="•"/>
            </a:pPr>
            <a:r>
              <a:rPr lang="en-US" sz="1400" b="1" noProof="0" dirty="0">
                <a:solidFill>
                  <a:schemeClr val="tx1"/>
                </a:solidFill>
              </a:rPr>
              <a:t>Parsimonious:</a:t>
            </a:r>
            <a:r>
              <a:rPr lang="en-US" sz="1400" noProof="0" dirty="0">
                <a:solidFill>
                  <a:schemeClr val="tx1"/>
                </a:solidFill>
              </a:rPr>
              <a:t> the model should be as simple as possible. That is, given competing and equally good models, the simplest is preferred.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The first step (of the iterative modeling process) is to focus on relevant aspects and formulate a conceptual model </a:t>
            </a:r>
          </a:p>
        </p:txBody>
      </p:sp>
      <p:sp>
        <p:nvSpPr>
          <p:cNvPr id="3" name="Rechteck 2"/>
          <p:cNvSpPr/>
          <p:nvPr/>
        </p:nvSpPr>
        <p:spPr>
          <a:xfrm>
            <a:off x="6516216" y="2067694"/>
            <a:ext cx="216024" cy="144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hteck 3"/>
          <p:cNvSpPr/>
          <p:nvPr/>
        </p:nvSpPr>
        <p:spPr>
          <a:xfrm>
            <a:off x="6300192" y="2067694"/>
            <a:ext cx="216024" cy="144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hteck 4"/>
          <p:cNvSpPr/>
          <p:nvPr/>
        </p:nvSpPr>
        <p:spPr>
          <a:xfrm>
            <a:off x="251520" y="1131590"/>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Reality</a:t>
            </a:r>
          </a:p>
        </p:txBody>
      </p:sp>
      <p:sp>
        <p:nvSpPr>
          <p:cNvPr id="6" name="Rechteck 5"/>
          <p:cNvSpPr/>
          <p:nvPr/>
        </p:nvSpPr>
        <p:spPr>
          <a:xfrm>
            <a:off x="2051720" y="1131590"/>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Abstraction &amp; Focus on Key Concepts</a:t>
            </a:r>
          </a:p>
        </p:txBody>
      </p:sp>
      <p:sp>
        <p:nvSpPr>
          <p:cNvPr id="7" name="Rechteck 6"/>
          <p:cNvSpPr/>
          <p:nvPr/>
        </p:nvSpPr>
        <p:spPr>
          <a:xfrm>
            <a:off x="2051720" y="1995686"/>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Preliminary Conceptual Model</a:t>
            </a:r>
          </a:p>
        </p:txBody>
      </p:sp>
      <p:sp>
        <p:nvSpPr>
          <p:cNvPr id="8" name="Rechteck 7"/>
          <p:cNvSpPr/>
          <p:nvPr/>
        </p:nvSpPr>
        <p:spPr>
          <a:xfrm>
            <a:off x="2051720" y="2859782"/>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Conceptual</a:t>
            </a:r>
          </a:p>
          <a:p>
            <a:pPr algn="ctr"/>
            <a:r>
              <a:rPr lang="en-US" sz="1200" noProof="0" dirty="0">
                <a:solidFill>
                  <a:schemeClr val="tx1"/>
                </a:solidFill>
              </a:rPr>
              <a:t>Model</a:t>
            </a:r>
          </a:p>
        </p:txBody>
      </p:sp>
      <p:cxnSp>
        <p:nvCxnSpPr>
          <p:cNvPr id="9" name="Gewinkelte Verbindung 8"/>
          <p:cNvCxnSpPr>
            <a:stCxn id="7" idx="1"/>
            <a:endCxn id="5" idx="2"/>
          </p:cNvCxnSpPr>
          <p:nvPr/>
        </p:nvCxnSpPr>
        <p:spPr>
          <a:xfrm rot="10800000">
            <a:off x="971600" y="1635646"/>
            <a:ext cx="1080120" cy="612068"/>
          </a:xfrm>
          <a:prstGeom prst="bentConnector2">
            <a:avLst/>
          </a:prstGeom>
          <a:solidFill>
            <a:schemeClr val="tx2">
              <a:lumMod val="20000"/>
              <a:lumOff val="80000"/>
            </a:schemeClr>
          </a:solidFill>
          <a:ln>
            <a:solidFill>
              <a:srgbClr val="C00000"/>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0" name="Gerade Verbindung mit Pfeil 9"/>
          <p:cNvCxnSpPr>
            <a:stCxn id="5" idx="3"/>
            <a:endCxn id="6" idx="1"/>
          </p:cNvCxnSpPr>
          <p:nvPr/>
        </p:nvCxnSpPr>
        <p:spPr>
          <a:xfrm>
            <a:off x="1691680" y="1383618"/>
            <a:ext cx="360040" cy="0"/>
          </a:xfrm>
          <a:prstGeom prst="straightConnector1">
            <a:avLst/>
          </a:prstGeom>
          <a:solidFill>
            <a:schemeClr val="tx2">
              <a:lumMod val="20000"/>
              <a:lumOff val="80000"/>
            </a:schemeClr>
          </a:solidFill>
          <a:ln>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1" name="Gerade Verbindung mit Pfeil 10"/>
          <p:cNvCxnSpPr>
            <a:stCxn id="6" idx="2"/>
            <a:endCxn id="7" idx="0"/>
          </p:cNvCxnSpPr>
          <p:nvPr/>
        </p:nvCxnSpPr>
        <p:spPr>
          <a:xfrm>
            <a:off x="2771800" y="1635646"/>
            <a:ext cx="0" cy="360040"/>
          </a:xfrm>
          <a:prstGeom prst="straightConnector1">
            <a:avLst/>
          </a:prstGeom>
          <a:solidFill>
            <a:schemeClr val="tx2">
              <a:lumMod val="20000"/>
              <a:lumOff val="80000"/>
            </a:schemeClr>
          </a:solidFill>
          <a:ln>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2" name="Gerade Verbindung mit Pfeil 11"/>
          <p:cNvCxnSpPr>
            <a:stCxn id="7" idx="2"/>
            <a:endCxn id="8" idx="0"/>
          </p:cNvCxnSpPr>
          <p:nvPr/>
        </p:nvCxnSpPr>
        <p:spPr>
          <a:xfrm>
            <a:off x="2771800" y="2499742"/>
            <a:ext cx="0" cy="360040"/>
          </a:xfrm>
          <a:prstGeom prst="straightConnector1">
            <a:avLst/>
          </a:prstGeom>
          <a:solidFill>
            <a:schemeClr val="tx2">
              <a:lumMod val="20000"/>
              <a:lumOff val="80000"/>
            </a:schemeClr>
          </a:solidFill>
          <a:ln>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13" name="Textfeld 12"/>
          <p:cNvSpPr txBox="1"/>
          <p:nvPr/>
        </p:nvSpPr>
        <p:spPr>
          <a:xfrm>
            <a:off x="323528" y="2283718"/>
            <a:ext cx="1421095" cy="276999"/>
          </a:xfrm>
          <a:prstGeom prst="rect">
            <a:avLst/>
          </a:prstGeom>
          <a:noFill/>
        </p:spPr>
        <p:txBody>
          <a:bodyPr wrap="none" rtlCol="0">
            <a:spAutoFit/>
          </a:bodyPr>
          <a:lstStyle/>
          <a:p>
            <a:r>
              <a:rPr lang="en-US" sz="1200" noProof="0" dirty="0"/>
              <a:t>Model Qualification</a:t>
            </a:r>
          </a:p>
        </p:txBody>
      </p:sp>
      <p:sp>
        <p:nvSpPr>
          <p:cNvPr id="14" name="Rechteck 13"/>
          <p:cNvSpPr/>
          <p:nvPr/>
        </p:nvSpPr>
        <p:spPr>
          <a:xfrm>
            <a:off x="3851920" y="1131590"/>
            <a:ext cx="504056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spcAft>
                <a:spcPts val="600"/>
              </a:spcAft>
            </a:pPr>
            <a:r>
              <a:rPr lang="en-US" sz="1400" noProof="0" dirty="0">
                <a:solidFill>
                  <a:schemeClr val="tx1"/>
                </a:solidFill>
              </a:rPr>
              <a:t>Modeling and simulation of reality do not aim to capture every-thing. It is about to distill the key aspects of a certain observed phenomenon and study what essential causes could be assumed or what behavior an abstracted system would yield.</a:t>
            </a:r>
          </a:p>
          <a:p>
            <a:pPr algn="just">
              <a:spcAft>
                <a:spcPts val="600"/>
              </a:spcAft>
            </a:pPr>
            <a:r>
              <a:rPr lang="en-US" sz="1400" noProof="0" dirty="0">
                <a:solidFill>
                  <a:schemeClr val="tx1"/>
                </a:solidFill>
              </a:rPr>
              <a:t>It is first to understand the real situation at hand and ask which phenomenon or sub-phenomenon is to be modeled. The question approach and general procedure for this abstraction process is very similar to the first tow steps in Georg Polya’s framework (see next slide).</a:t>
            </a:r>
          </a:p>
          <a:p>
            <a:pPr algn="just">
              <a:spcAft>
                <a:spcPts val="600"/>
              </a:spcAft>
            </a:pPr>
            <a:r>
              <a:rPr lang="en-US" sz="1400" noProof="0" dirty="0">
                <a:solidFill>
                  <a:schemeClr val="tx1"/>
                </a:solidFill>
              </a:rPr>
              <a:t>The conceptual model can and should be understood as a word problem (an abstracted description of reality) that is now to be put into a formal mathematical model: What are the known data and variables? What are the unknown variables? What names can be assigned to the variables? How are the variables connected? What restrictions are there and can they be met? What are the parameters and their admissible ranges?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The polish mathematician Georg Polya formulated a comprehensive framework for an iterative problem-solving process</a:t>
            </a:r>
          </a:p>
        </p:txBody>
      </p:sp>
      <p:sp>
        <p:nvSpPr>
          <p:cNvPr id="4" name="Textfeld 3"/>
          <p:cNvSpPr txBox="1"/>
          <p:nvPr/>
        </p:nvSpPr>
        <p:spPr>
          <a:xfrm>
            <a:off x="251520" y="3867894"/>
            <a:ext cx="2160240" cy="461665"/>
          </a:xfrm>
          <a:prstGeom prst="rect">
            <a:avLst/>
          </a:prstGeom>
          <a:noFill/>
        </p:spPr>
        <p:txBody>
          <a:bodyPr wrap="square" rtlCol="0">
            <a:spAutoFit/>
          </a:bodyPr>
          <a:lstStyle/>
          <a:p>
            <a:pPr algn="ctr"/>
            <a:r>
              <a:rPr lang="en-US" sz="1200" b="1" noProof="0" dirty="0"/>
              <a:t>Georg Polya</a:t>
            </a:r>
            <a:endParaRPr lang="en-US" sz="1200" noProof="0" dirty="0"/>
          </a:p>
          <a:p>
            <a:pPr algn="ctr"/>
            <a:r>
              <a:rPr lang="en-US" sz="1200" noProof="0" dirty="0"/>
              <a:t>(19. May 1933 – 9. June 2021)</a:t>
            </a:r>
          </a:p>
        </p:txBody>
      </p:sp>
      <p:pic>
        <p:nvPicPr>
          <p:cNvPr id="34818" name="Picture 2" descr="George Pólya – Wikipedia"/>
          <p:cNvPicPr>
            <a:picLocks noChangeAspect="1" noChangeArrowheads="1"/>
          </p:cNvPicPr>
          <p:nvPr/>
        </p:nvPicPr>
        <p:blipFill>
          <a:blip r:embed="rId2" cstate="print"/>
          <a:srcRect b="18655"/>
          <a:stretch>
            <a:fillRect/>
          </a:stretch>
        </p:blipFill>
        <p:spPr bwMode="auto">
          <a:xfrm>
            <a:off x="251520" y="1131590"/>
            <a:ext cx="2164399" cy="2736304"/>
          </a:xfrm>
          <a:prstGeom prst="rect">
            <a:avLst/>
          </a:prstGeom>
          <a:noFill/>
        </p:spPr>
      </p:pic>
      <p:sp>
        <p:nvSpPr>
          <p:cNvPr id="7" name="Rechteck 6"/>
          <p:cNvSpPr/>
          <p:nvPr/>
        </p:nvSpPr>
        <p:spPr>
          <a:xfrm>
            <a:off x="3131840" y="1131590"/>
            <a:ext cx="5760640" cy="3888432"/>
          </a:xfrm>
          <a:prstGeom prst="rect">
            <a:avLst/>
          </a:prstGeom>
          <a:no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spcAft>
                <a:spcPts val="600"/>
              </a:spcAft>
            </a:pPr>
            <a:endParaRPr lang="en-US" sz="1400" noProof="0" dirty="0">
              <a:solidFill>
                <a:schemeClr val="tx1"/>
              </a:solidFill>
            </a:endParaRPr>
          </a:p>
        </p:txBody>
      </p:sp>
      <p:sp>
        <p:nvSpPr>
          <p:cNvPr id="8" name="Rechteck 7"/>
          <p:cNvSpPr/>
          <p:nvPr/>
        </p:nvSpPr>
        <p:spPr>
          <a:xfrm>
            <a:off x="3203848" y="1203598"/>
            <a:ext cx="2736304" cy="1800200"/>
          </a:xfrm>
          <a:prstGeom prst="rect">
            <a:avLst/>
          </a:prstGeom>
          <a:solidFill>
            <a:schemeClr val="tx2">
              <a:lumMod val="20000"/>
              <a:lumOff val="8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solidFill>
                <a:schemeClr val="tx1"/>
              </a:solidFill>
            </a:endParaRPr>
          </a:p>
        </p:txBody>
      </p:sp>
      <p:sp>
        <p:nvSpPr>
          <p:cNvPr id="10" name="Rechteck 9"/>
          <p:cNvSpPr/>
          <p:nvPr/>
        </p:nvSpPr>
        <p:spPr>
          <a:xfrm>
            <a:off x="6084168" y="1203598"/>
            <a:ext cx="2736304" cy="1800200"/>
          </a:xfrm>
          <a:prstGeom prst="rect">
            <a:avLst/>
          </a:prstGeom>
          <a:solidFill>
            <a:schemeClr val="tx2">
              <a:lumMod val="20000"/>
              <a:lumOff val="8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solidFill>
                <a:schemeClr val="tx1"/>
              </a:solidFill>
            </a:endParaRPr>
          </a:p>
        </p:txBody>
      </p:sp>
      <p:sp>
        <p:nvSpPr>
          <p:cNvPr id="12" name="Rechteck 11"/>
          <p:cNvSpPr/>
          <p:nvPr/>
        </p:nvSpPr>
        <p:spPr>
          <a:xfrm>
            <a:off x="3203848" y="3147814"/>
            <a:ext cx="2736304" cy="1800200"/>
          </a:xfrm>
          <a:prstGeom prst="rect">
            <a:avLst/>
          </a:prstGeom>
          <a:solidFill>
            <a:schemeClr val="tx2">
              <a:lumMod val="20000"/>
              <a:lumOff val="8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solidFill>
                <a:schemeClr val="tx1"/>
              </a:solidFill>
            </a:endParaRPr>
          </a:p>
        </p:txBody>
      </p:sp>
      <p:sp>
        <p:nvSpPr>
          <p:cNvPr id="13" name="Rechteck 12"/>
          <p:cNvSpPr/>
          <p:nvPr/>
        </p:nvSpPr>
        <p:spPr>
          <a:xfrm>
            <a:off x="6084168" y="3147814"/>
            <a:ext cx="2736304" cy="1800200"/>
          </a:xfrm>
          <a:prstGeom prst="rect">
            <a:avLst/>
          </a:prstGeom>
          <a:solidFill>
            <a:schemeClr val="tx2">
              <a:lumMod val="20000"/>
              <a:lumOff val="8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solidFill>
                <a:schemeClr val="tx1"/>
              </a:solidFill>
            </a:endParaRPr>
          </a:p>
        </p:txBody>
      </p:sp>
      <p:sp>
        <p:nvSpPr>
          <p:cNvPr id="15" name="Gebogener Pfeil 14"/>
          <p:cNvSpPr/>
          <p:nvPr/>
        </p:nvSpPr>
        <p:spPr>
          <a:xfrm rot="13581851">
            <a:off x="5440229" y="2503875"/>
            <a:ext cx="1143863" cy="1143863"/>
          </a:xfrm>
          <a:prstGeom prst="circularArrow">
            <a:avLst>
              <a:gd name="adj1" fmla="val 12500"/>
              <a:gd name="adj2" fmla="val 1142319"/>
              <a:gd name="adj3" fmla="val 20457681"/>
              <a:gd name="adj4" fmla="val 746273"/>
              <a:gd name="adj5" fmla="val 12500"/>
            </a:avLst>
          </a:prstGeom>
          <a:solidFill>
            <a:schemeClr val="accent5">
              <a:lumMod val="20000"/>
              <a:lumOff val="8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noProof="0" dirty="0">
              <a:solidFill>
                <a:schemeClr val="tx1"/>
              </a:solidFill>
            </a:endParaRPr>
          </a:p>
        </p:txBody>
      </p:sp>
      <p:sp>
        <p:nvSpPr>
          <p:cNvPr id="17" name="Textfeld 16"/>
          <p:cNvSpPr txBox="1"/>
          <p:nvPr/>
        </p:nvSpPr>
        <p:spPr>
          <a:xfrm>
            <a:off x="3203848" y="1203598"/>
            <a:ext cx="2448272" cy="1636345"/>
          </a:xfrm>
          <a:prstGeom prst="rect">
            <a:avLst/>
          </a:prstGeom>
          <a:noFill/>
        </p:spPr>
        <p:txBody>
          <a:bodyPr wrap="square" rtlCol="0">
            <a:spAutoFit/>
          </a:bodyPr>
          <a:lstStyle/>
          <a:p>
            <a:pPr>
              <a:spcAft>
                <a:spcPts val="200"/>
              </a:spcAft>
            </a:pPr>
            <a:r>
              <a:rPr lang="en-US" sz="1200" b="1" noProof="0" dirty="0"/>
              <a:t>1. Understand the Problem</a:t>
            </a:r>
          </a:p>
          <a:p>
            <a:pPr marL="176213" indent="-176213">
              <a:spcAft>
                <a:spcPts val="200"/>
              </a:spcAft>
              <a:buFont typeface="Arial" pitchFamily="34" charset="0"/>
              <a:buChar char="•"/>
            </a:pPr>
            <a:r>
              <a:rPr lang="en-US" sz="1000" noProof="0" dirty="0"/>
              <a:t>Can you state the problem in your own words?</a:t>
            </a:r>
          </a:p>
          <a:p>
            <a:pPr marL="176213" indent="-176213">
              <a:spcAft>
                <a:spcPts val="200"/>
              </a:spcAft>
              <a:buFont typeface="Arial" pitchFamily="34" charset="0"/>
              <a:buChar char="•"/>
            </a:pPr>
            <a:r>
              <a:rPr lang="en-US" sz="1000" noProof="0" dirty="0"/>
              <a:t>What are you trying to find or do?</a:t>
            </a:r>
          </a:p>
          <a:p>
            <a:pPr marL="176213" indent="-176213">
              <a:spcAft>
                <a:spcPts val="200"/>
              </a:spcAft>
              <a:buFont typeface="Arial" pitchFamily="34" charset="0"/>
              <a:buChar char="•"/>
            </a:pPr>
            <a:r>
              <a:rPr lang="en-US" sz="1000" noProof="0" dirty="0"/>
              <a:t>What are the unknowns?</a:t>
            </a:r>
          </a:p>
          <a:p>
            <a:pPr marL="176213" indent="-176213">
              <a:spcAft>
                <a:spcPts val="200"/>
              </a:spcAft>
              <a:buFont typeface="Arial" pitchFamily="34" charset="0"/>
              <a:buChar char="•"/>
            </a:pPr>
            <a:r>
              <a:rPr lang="en-US" sz="1000" noProof="0" dirty="0"/>
              <a:t>What information do you obtain from the problem?</a:t>
            </a:r>
          </a:p>
          <a:p>
            <a:pPr marL="176213" indent="-176213">
              <a:spcAft>
                <a:spcPts val="200"/>
              </a:spcAft>
              <a:buFont typeface="Arial" pitchFamily="34" charset="0"/>
              <a:buChar char="•"/>
            </a:pPr>
            <a:r>
              <a:rPr lang="en-US" sz="1000" noProof="0" dirty="0"/>
              <a:t>What information, if any, is missing or not needed?</a:t>
            </a:r>
          </a:p>
        </p:txBody>
      </p:sp>
      <p:sp>
        <p:nvSpPr>
          <p:cNvPr id="20" name="Rechteck 19"/>
          <p:cNvSpPr/>
          <p:nvPr/>
        </p:nvSpPr>
        <p:spPr>
          <a:xfrm>
            <a:off x="5580112" y="1275606"/>
            <a:ext cx="288032" cy="288032"/>
          </a:xfrm>
          <a:prstGeom prst="rect">
            <a:avLst/>
          </a:prstGeom>
          <a:solidFill>
            <a:schemeClr val="accent5">
              <a:lumMod val="20000"/>
              <a:lumOff val="8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1</a:t>
            </a:r>
          </a:p>
        </p:txBody>
      </p:sp>
      <p:sp>
        <p:nvSpPr>
          <p:cNvPr id="21" name="Rechteck 20"/>
          <p:cNvSpPr/>
          <p:nvPr/>
        </p:nvSpPr>
        <p:spPr>
          <a:xfrm>
            <a:off x="6156176" y="1275606"/>
            <a:ext cx="288032" cy="288032"/>
          </a:xfrm>
          <a:prstGeom prst="rect">
            <a:avLst/>
          </a:prstGeom>
          <a:solidFill>
            <a:schemeClr val="accent5">
              <a:lumMod val="20000"/>
              <a:lumOff val="8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2</a:t>
            </a:r>
          </a:p>
        </p:txBody>
      </p:sp>
      <p:sp>
        <p:nvSpPr>
          <p:cNvPr id="22" name="Rechteck 21"/>
          <p:cNvSpPr/>
          <p:nvPr/>
        </p:nvSpPr>
        <p:spPr>
          <a:xfrm>
            <a:off x="5580112" y="4587974"/>
            <a:ext cx="288032" cy="288032"/>
          </a:xfrm>
          <a:prstGeom prst="rect">
            <a:avLst/>
          </a:prstGeom>
          <a:solidFill>
            <a:schemeClr val="accent5">
              <a:lumMod val="20000"/>
              <a:lumOff val="8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4</a:t>
            </a:r>
          </a:p>
        </p:txBody>
      </p:sp>
      <p:sp>
        <p:nvSpPr>
          <p:cNvPr id="23" name="Rechteck 22"/>
          <p:cNvSpPr/>
          <p:nvPr/>
        </p:nvSpPr>
        <p:spPr>
          <a:xfrm>
            <a:off x="6156176" y="4587974"/>
            <a:ext cx="288032" cy="288032"/>
          </a:xfrm>
          <a:prstGeom prst="rect">
            <a:avLst/>
          </a:prstGeom>
          <a:solidFill>
            <a:schemeClr val="accent5">
              <a:lumMod val="20000"/>
              <a:lumOff val="8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3</a:t>
            </a:r>
          </a:p>
        </p:txBody>
      </p:sp>
      <p:sp>
        <p:nvSpPr>
          <p:cNvPr id="24" name="Textfeld 23"/>
          <p:cNvSpPr txBox="1"/>
          <p:nvPr/>
        </p:nvSpPr>
        <p:spPr>
          <a:xfrm>
            <a:off x="6588224" y="1203598"/>
            <a:ext cx="2232248" cy="1841530"/>
          </a:xfrm>
          <a:prstGeom prst="rect">
            <a:avLst/>
          </a:prstGeom>
          <a:noFill/>
        </p:spPr>
        <p:txBody>
          <a:bodyPr wrap="square" rtlCol="0">
            <a:spAutoFit/>
          </a:bodyPr>
          <a:lstStyle/>
          <a:p>
            <a:pPr>
              <a:spcAft>
                <a:spcPts val="200"/>
              </a:spcAft>
            </a:pPr>
            <a:r>
              <a:rPr lang="en-US" sz="1200" b="1" noProof="0" dirty="0"/>
              <a:t>2. Plan</a:t>
            </a:r>
          </a:p>
          <a:p>
            <a:pPr marL="176213" indent="-176213">
              <a:spcAft>
                <a:spcPts val="200"/>
              </a:spcAft>
              <a:buFont typeface="Arial" pitchFamily="34" charset="0"/>
              <a:buChar char="•"/>
            </a:pPr>
            <a:r>
              <a:rPr lang="en-US" sz="1000" noProof="0" dirty="0"/>
              <a:t>Look for a pattern</a:t>
            </a:r>
          </a:p>
          <a:p>
            <a:pPr marL="176213" indent="-176213">
              <a:spcAft>
                <a:spcPts val="200"/>
              </a:spcAft>
              <a:buFont typeface="Arial" pitchFamily="34" charset="0"/>
              <a:buChar char="•"/>
            </a:pPr>
            <a:r>
              <a:rPr lang="en-US" sz="1000" noProof="0" dirty="0"/>
              <a:t>Remember related problems</a:t>
            </a:r>
          </a:p>
          <a:p>
            <a:pPr marL="176213" indent="-176213">
              <a:spcAft>
                <a:spcPts val="200"/>
              </a:spcAft>
              <a:buFont typeface="Arial" pitchFamily="34" charset="0"/>
              <a:buChar char="•"/>
            </a:pPr>
            <a:r>
              <a:rPr lang="en-US" sz="1000" noProof="0" dirty="0"/>
              <a:t>Break the problem down into different parts</a:t>
            </a:r>
          </a:p>
          <a:p>
            <a:pPr marL="176213" indent="-176213">
              <a:spcAft>
                <a:spcPts val="200"/>
              </a:spcAft>
              <a:buFont typeface="Arial" pitchFamily="34" charset="0"/>
              <a:buChar char="•"/>
            </a:pPr>
            <a:r>
              <a:rPr lang="en-US" sz="1000" noProof="0" dirty="0"/>
              <a:t>Make a table, make a diagram, write an equation</a:t>
            </a:r>
          </a:p>
          <a:p>
            <a:pPr marL="176213" indent="-176213">
              <a:spcAft>
                <a:spcPts val="200"/>
              </a:spcAft>
              <a:buFont typeface="Arial" pitchFamily="34" charset="0"/>
              <a:buChar char="•"/>
            </a:pPr>
            <a:r>
              <a:rPr lang="en-US" sz="1000" noProof="0" dirty="0"/>
              <a:t>Use a guess and check</a:t>
            </a:r>
          </a:p>
          <a:p>
            <a:pPr marL="176213" indent="-176213">
              <a:spcAft>
                <a:spcPts val="200"/>
              </a:spcAft>
              <a:buFont typeface="Arial" pitchFamily="34" charset="0"/>
              <a:buChar char="•"/>
            </a:pPr>
            <a:r>
              <a:rPr lang="en-US" sz="1000" noProof="0" dirty="0"/>
              <a:t>Work backward</a:t>
            </a:r>
          </a:p>
          <a:p>
            <a:pPr marL="176213" indent="-176213">
              <a:spcAft>
                <a:spcPts val="200"/>
              </a:spcAft>
              <a:buFont typeface="Arial" pitchFamily="34" charset="0"/>
              <a:buChar char="•"/>
            </a:pPr>
            <a:r>
              <a:rPr lang="en-US" sz="1000" noProof="0" dirty="0"/>
              <a:t>Identify a sub-goal</a:t>
            </a:r>
          </a:p>
        </p:txBody>
      </p:sp>
      <p:sp>
        <p:nvSpPr>
          <p:cNvPr id="25" name="Textfeld 24"/>
          <p:cNvSpPr txBox="1"/>
          <p:nvPr/>
        </p:nvSpPr>
        <p:spPr>
          <a:xfrm>
            <a:off x="6588224" y="3147814"/>
            <a:ext cx="2232248" cy="1764586"/>
          </a:xfrm>
          <a:prstGeom prst="rect">
            <a:avLst/>
          </a:prstGeom>
          <a:noFill/>
        </p:spPr>
        <p:txBody>
          <a:bodyPr wrap="square" rtlCol="0">
            <a:spAutoFit/>
          </a:bodyPr>
          <a:lstStyle/>
          <a:p>
            <a:pPr>
              <a:spcAft>
                <a:spcPts val="200"/>
              </a:spcAft>
            </a:pPr>
            <a:r>
              <a:rPr lang="en-US" sz="1200" b="1" noProof="0" dirty="0"/>
              <a:t>3. Execute</a:t>
            </a:r>
          </a:p>
          <a:p>
            <a:pPr marL="176213" indent="-176213">
              <a:spcAft>
                <a:spcPts val="200"/>
              </a:spcAft>
              <a:buFont typeface="Arial" pitchFamily="34" charset="0"/>
              <a:buChar char="•"/>
            </a:pPr>
            <a:r>
              <a:rPr lang="en-US" sz="1000" noProof="0" dirty="0"/>
              <a:t>Implement the strategy from step 2 and perform the necessary mathematical computations</a:t>
            </a:r>
          </a:p>
          <a:p>
            <a:pPr marL="176213" indent="-176213">
              <a:spcAft>
                <a:spcPts val="200"/>
              </a:spcAft>
              <a:buFont typeface="Arial" pitchFamily="34" charset="0"/>
              <a:buChar char="•"/>
            </a:pPr>
            <a:r>
              <a:rPr lang="en-US" sz="1000" noProof="0" dirty="0"/>
              <a:t>Check each step of the plan as you do it</a:t>
            </a:r>
          </a:p>
          <a:p>
            <a:pPr marL="176213" indent="-176213">
              <a:spcAft>
                <a:spcPts val="200"/>
              </a:spcAft>
              <a:buFont typeface="Arial" pitchFamily="34" charset="0"/>
              <a:buChar char="•"/>
            </a:pPr>
            <a:r>
              <a:rPr lang="en-US" sz="1000" noProof="0" dirty="0"/>
              <a:t>Keep an accurate record of your work and organize your work into easy-to-understand visuals</a:t>
            </a:r>
          </a:p>
          <a:p>
            <a:pPr marL="176213" indent="-176213">
              <a:spcAft>
                <a:spcPts val="200"/>
              </a:spcAft>
              <a:buFont typeface="Arial" pitchFamily="34" charset="0"/>
              <a:buChar char="•"/>
            </a:pPr>
            <a:r>
              <a:rPr lang="en-US" sz="1000" noProof="0" dirty="0"/>
              <a:t>Double check your math. work</a:t>
            </a:r>
          </a:p>
        </p:txBody>
      </p:sp>
      <p:sp>
        <p:nvSpPr>
          <p:cNvPr id="26" name="Textfeld 25"/>
          <p:cNvSpPr txBox="1"/>
          <p:nvPr/>
        </p:nvSpPr>
        <p:spPr>
          <a:xfrm>
            <a:off x="3203848" y="3147814"/>
            <a:ext cx="2520280" cy="1764586"/>
          </a:xfrm>
          <a:prstGeom prst="rect">
            <a:avLst/>
          </a:prstGeom>
          <a:noFill/>
        </p:spPr>
        <p:txBody>
          <a:bodyPr wrap="square" rtlCol="0">
            <a:spAutoFit/>
          </a:bodyPr>
          <a:lstStyle/>
          <a:p>
            <a:pPr>
              <a:spcAft>
                <a:spcPts val="200"/>
              </a:spcAft>
            </a:pPr>
            <a:r>
              <a:rPr lang="en-US" sz="1200" b="1" noProof="0" dirty="0"/>
              <a:t>4. Reflect</a:t>
            </a:r>
          </a:p>
          <a:p>
            <a:pPr marL="176213" indent="-176213">
              <a:spcAft>
                <a:spcPts val="200"/>
              </a:spcAft>
              <a:buFont typeface="Arial" pitchFamily="34" charset="0"/>
              <a:buChar char="•"/>
            </a:pPr>
            <a:r>
              <a:rPr lang="en-US" sz="1000" noProof="0" dirty="0"/>
              <a:t>Check the results in the original problem</a:t>
            </a:r>
          </a:p>
          <a:p>
            <a:pPr marL="176213" indent="-176213">
              <a:spcAft>
                <a:spcPts val="200"/>
              </a:spcAft>
              <a:buFont typeface="Arial" pitchFamily="34" charset="0"/>
              <a:buChar char="•"/>
            </a:pPr>
            <a:r>
              <a:rPr lang="en-US" sz="1000" noProof="0" dirty="0"/>
              <a:t>Interpret the solution in terms of the original problem. Do your answers make sense? Is it reasonable?</a:t>
            </a:r>
          </a:p>
          <a:p>
            <a:pPr marL="176213" indent="-176213">
              <a:spcAft>
                <a:spcPts val="200"/>
              </a:spcAft>
              <a:buFont typeface="Arial" pitchFamily="34" charset="0"/>
              <a:buChar char="•"/>
            </a:pPr>
            <a:r>
              <a:rPr lang="en-US" sz="1000" noProof="0" dirty="0"/>
              <a:t>Determine whether there is another method of finding the solution</a:t>
            </a:r>
          </a:p>
          <a:p>
            <a:pPr marL="176213" indent="-176213">
              <a:spcAft>
                <a:spcPts val="200"/>
              </a:spcAft>
              <a:buFont typeface="Arial" pitchFamily="34" charset="0"/>
              <a:buChar char="•"/>
            </a:pPr>
            <a:r>
              <a:rPr lang="en-US" sz="1000" noProof="0" dirty="0"/>
              <a:t>If possible, determine other related or more general problems for which the technique will work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223A9-98A3-37F5-3036-308E39ABDA5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1F82B8F-1248-F742-B380-AB5AA3F6F4DE}"/>
              </a:ext>
            </a:extLst>
          </p:cNvPr>
          <p:cNvSpPr>
            <a:spLocks noGrp="1"/>
          </p:cNvSpPr>
          <p:nvPr>
            <p:ph type="title"/>
          </p:nvPr>
        </p:nvSpPr>
        <p:spPr/>
        <p:txBody>
          <a:bodyPr/>
          <a:lstStyle/>
          <a:p>
            <a:r>
              <a:rPr lang="en-US" noProof="0" dirty="0"/>
              <a:t>The mathematical modeling process</a:t>
            </a:r>
            <a:br>
              <a:rPr lang="en-US" noProof="0" dirty="0"/>
            </a:br>
            <a:r>
              <a:rPr lang="en-US" noProof="0" dirty="0"/>
              <a:t>(Applied Mathematics)</a:t>
            </a:r>
          </a:p>
        </p:txBody>
      </p:sp>
      <p:sp>
        <p:nvSpPr>
          <p:cNvPr id="14" name="Rechteck 13">
            <a:extLst>
              <a:ext uri="{FF2B5EF4-FFF2-40B4-BE49-F238E27FC236}">
                <a16:creationId xmlns:a16="http://schemas.microsoft.com/office/drawing/2014/main" id="{DC0B8D8C-7EB9-C75A-D954-FDCCC4D2AD74}"/>
              </a:ext>
            </a:extLst>
          </p:cNvPr>
          <p:cNvSpPr/>
          <p:nvPr/>
        </p:nvSpPr>
        <p:spPr>
          <a:xfrm>
            <a:off x="8172400" y="2715766"/>
            <a:ext cx="216024" cy="144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hteck 14">
            <a:extLst>
              <a:ext uri="{FF2B5EF4-FFF2-40B4-BE49-F238E27FC236}">
                <a16:creationId xmlns:a16="http://schemas.microsoft.com/office/drawing/2014/main" id="{B09848CC-FA98-90C8-959E-E602CBBE5082}"/>
              </a:ext>
            </a:extLst>
          </p:cNvPr>
          <p:cNvSpPr/>
          <p:nvPr/>
        </p:nvSpPr>
        <p:spPr>
          <a:xfrm>
            <a:off x="7956376" y="2715766"/>
            <a:ext cx="216024" cy="144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echteck 16">
            <a:extLst>
              <a:ext uri="{FF2B5EF4-FFF2-40B4-BE49-F238E27FC236}">
                <a16:creationId xmlns:a16="http://schemas.microsoft.com/office/drawing/2014/main" id="{BA88F9BC-73A7-027A-D372-C411C9E89949}"/>
              </a:ext>
            </a:extLst>
          </p:cNvPr>
          <p:cNvSpPr/>
          <p:nvPr/>
        </p:nvSpPr>
        <p:spPr>
          <a:xfrm>
            <a:off x="6516216" y="1923678"/>
            <a:ext cx="216024" cy="144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echteck 18">
            <a:extLst>
              <a:ext uri="{FF2B5EF4-FFF2-40B4-BE49-F238E27FC236}">
                <a16:creationId xmlns:a16="http://schemas.microsoft.com/office/drawing/2014/main" id="{81D81C8E-8B29-9092-CC89-B37DB99C1EBF}"/>
              </a:ext>
            </a:extLst>
          </p:cNvPr>
          <p:cNvSpPr/>
          <p:nvPr/>
        </p:nvSpPr>
        <p:spPr>
          <a:xfrm>
            <a:off x="6300192" y="1923678"/>
            <a:ext cx="216024" cy="144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Rechteck 21">
            <a:extLst>
              <a:ext uri="{FF2B5EF4-FFF2-40B4-BE49-F238E27FC236}">
                <a16:creationId xmlns:a16="http://schemas.microsoft.com/office/drawing/2014/main" id="{8758FA44-13E0-0428-B860-1A42007880F9}"/>
              </a:ext>
            </a:extLst>
          </p:cNvPr>
          <p:cNvSpPr/>
          <p:nvPr/>
        </p:nvSpPr>
        <p:spPr>
          <a:xfrm>
            <a:off x="6516216" y="3147814"/>
            <a:ext cx="216024" cy="144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Rechteck 22">
            <a:extLst>
              <a:ext uri="{FF2B5EF4-FFF2-40B4-BE49-F238E27FC236}">
                <a16:creationId xmlns:a16="http://schemas.microsoft.com/office/drawing/2014/main" id="{449BCEE5-A13A-0193-1012-CCA3416BC55E}"/>
              </a:ext>
            </a:extLst>
          </p:cNvPr>
          <p:cNvSpPr/>
          <p:nvPr/>
        </p:nvSpPr>
        <p:spPr>
          <a:xfrm>
            <a:off x="6300192" y="3147814"/>
            <a:ext cx="216024" cy="144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Rechteck 24">
            <a:extLst>
              <a:ext uri="{FF2B5EF4-FFF2-40B4-BE49-F238E27FC236}">
                <a16:creationId xmlns:a16="http://schemas.microsoft.com/office/drawing/2014/main" id="{6FF46515-F911-6051-2D4E-19392F35A7E0}"/>
              </a:ext>
            </a:extLst>
          </p:cNvPr>
          <p:cNvSpPr/>
          <p:nvPr/>
        </p:nvSpPr>
        <p:spPr>
          <a:xfrm>
            <a:off x="251520" y="1563638"/>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Reality</a:t>
            </a:r>
          </a:p>
        </p:txBody>
      </p:sp>
      <p:sp>
        <p:nvSpPr>
          <p:cNvPr id="31" name="Rechteck 30">
            <a:extLst>
              <a:ext uri="{FF2B5EF4-FFF2-40B4-BE49-F238E27FC236}">
                <a16:creationId xmlns:a16="http://schemas.microsoft.com/office/drawing/2014/main" id="{F06F09D7-7FCB-E197-1FC8-90E077387ED0}"/>
              </a:ext>
            </a:extLst>
          </p:cNvPr>
          <p:cNvSpPr/>
          <p:nvPr/>
        </p:nvSpPr>
        <p:spPr>
          <a:xfrm>
            <a:off x="2051720" y="1563638"/>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Abstraction &amp; Focus on Key Concepts</a:t>
            </a:r>
          </a:p>
        </p:txBody>
      </p:sp>
      <p:sp>
        <p:nvSpPr>
          <p:cNvPr id="32" name="Rechteck 31">
            <a:extLst>
              <a:ext uri="{FF2B5EF4-FFF2-40B4-BE49-F238E27FC236}">
                <a16:creationId xmlns:a16="http://schemas.microsoft.com/office/drawing/2014/main" id="{FA62D298-F1BB-C01E-CCBD-2080808545AD}"/>
              </a:ext>
            </a:extLst>
          </p:cNvPr>
          <p:cNvSpPr/>
          <p:nvPr/>
        </p:nvSpPr>
        <p:spPr>
          <a:xfrm>
            <a:off x="3851920" y="1563638"/>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Preliminary Conceptual Model</a:t>
            </a:r>
          </a:p>
        </p:txBody>
      </p:sp>
      <p:sp>
        <p:nvSpPr>
          <p:cNvPr id="34" name="Rechteck 33">
            <a:extLst>
              <a:ext uri="{FF2B5EF4-FFF2-40B4-BE49-F238E27FC236}">
                <a16:creationId xmlns:a16="http://schemas.microsoft.com/office/drawing/2014/main" id="{A39F6588-3E43-87A6-AB7A-22A4DB3C2EF5}"/>
              </a:ext>
            </a:extLst>
          </p:cNvPr>
          <p:cNvSpPr/>
          <p:nvPr/>
        </p:nvSpPr>
        <p:spPr>
          <a:xfrm>
            <a:off x="5796136" y="1563638"/>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Conceptual</a:t>
            </a:r>
          </a:p>
          <a:p>
            <a:pPr algn="ctr"/>
            <a:r>
              <a:rPr lang="en-US" sz="1200" noProof="0" dirty="0">
                <a:solidFill>
                  <a:schemeClr val="tx1"/>
                </a:solidFill>
              </a:rPr>
              <a:t>Model</a:t>
            </a:r>
          </a:p>
        </p:txBody>
      </p:sp>
      <p:sp>
        <p:nvSpPr>
          <p:cNvPr id="35" name="Rechteck 34">
            <a:extLst>
              <a:ext uri="{FF2B5EF4-FFF2-40B4-BE49-F238E27FC236}">
                <a16:creationId xmlns:a16="http://schemas.microsoft.com/office/drawing/2014/main" id="{EF5B6C4C-DDDF-9177-FFEB-42BD83D610B2}"/>
              </a:ext>
            </a:extLst>
          </p:cNvPr>
          <p:cNvSpPr/>
          <p:nvPr/>
        </p:nvSpPr>
        <p:spPr>
          <a:xfrm>
            <a:off x="7452320" y="2355726"/>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Mathematical Model</a:t>
            </a:r>
          </a:p>
        </p:txBody>
      </p:sp>
      <p:cxnSp>
        <p:nvCxnSpPr>
          <p:cNvPr id="36" name="Gewinkelte Verbindung 9">
            <a:extLst>
              <a:ext uri="{FF2B5EF4-FFF2-40B4-BE49-F238E27FC236}">
                <a16:creationId xmlns:a16="http://schemas.microsoft.com/office/drawing/2014/main" id="{083A6F0E-5909-F3FF-71B2-C48601BEE271}"/>
              </a:ext>
            </a:extLst>
          </p:cNvPr>
          <p:cNvCxnSpPr>
            <a:stCxn id="32" idx="0"/>
            <a:endCxn id="25" idx="0"/>
          </p:cNvCxnSpPr>
          <p:nvPr/>
        </p:nvCxnSpPr>
        <p:spPr>
          <a:xfrm rot="16200000" flipV="1">
            <a:off x="2771800" y="-236562"/>
            <a:ext cx="12700" cy="3600400"/>
          </a:xfrm>
          <a:prstGeom prst="bentConnector3">
            <a:avLst>
              <a:gd name="adj1" fmla="val 1800000"/>
            </a:avLst>
          </a:prstGeom>
          <a:solidFill>
            <a:schemeClr val="tx2">
              <a:lumMod val="20000"/>
              <a:lumOff val="80000"/>
            </a:schemeClr>
          </a:solidFill>
          <a:ln>
            <a:solidFill>
              <a:srgbClr val="C00000"/>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7" name="Gerade Verbindung mit Pfeil 36">
            <a:extLst>
              <a:ext uri="{FF2B5EF4-FFF2-40B4-BE49-F238E27FC236}">
                <a16:creationId xmlns:a16="http://schemas.microsoft.com/office/drawing/2014/main" id="{76049ED2-609C-7DD3-DAC4-8A87B2A12C06}"/>
              </a:ext>
            </a:extLst>
          </p:cNvPr>
          <p:cNvCxnSpPr>
            <a:stCxn id="25" idx="3"/>
            <a:endCxn id="31" idx="1"/>
          </p:cNvCxnSpPr>
          <p:nvPr/>
        </p:nvCxnSpPr>
        <p:spPr>
          <a:xfrm>
            <a:off x="1691680" y="1815666"/>
            <a:ext cx="360040" cy="0"/>
          </a:xfrm>
          <a:prstGeom prst="straightConnector1">
            <a:avLst/>
          </a:prstGeom>
          <a:solidFill>
            <a:schemeClr val="tx2">
              <a:lumMod val="20000"/>
              <a:lumOff val="80000"/>
            </a:schemeClr>
          </a:solidFill>
          <a:ln>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8" name="Gerade Verbindung mit Pfeil 37">
            <a:extLst>
              <a:ext uri="{FF2B5EF4-FFF2-40B4-BE49-F238E27FC236}">
                <a16:creationId xmlns:a16="http://schemas.microsoft.com/office/drawing/2014/main" id="{3140605D-CDA0-426F-8C0C-61606E6D27E2}"/>
              </a:ext>
            </a:extLst>
          </p:cNvPr>
          <p:cNvCxnSpPr>
            <a:stCxn id="31" idx="3"/>
            <a:endCxn id="32" idx="1"/>
          </p:cNvCxnSpPr>
          <p:nvPr/>
        </p:nvCxnSpPr>
        <p:spPr>
          <a:xfrm>
            <a:off x="3491880" y="1815666"/>
            <a:ext cx="360040" cy="0"/>
          </a:xfrm>
          <a:prstGeom prst="straightConnector1">
            <a:avLst/>
          </a:prstGeom>
          <a:solidFill>
            <a:schemeClr val="tx2">
              <a:lumMod val="20000"/>
              <a:lumOff val="80000"/>
            </a:schemeClr>
          </a:solidFill>
          <a:ln>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40" name="Gerade Verbindung mit Pfeil 39">
            <a:extLst>
              <a:ext uri="{FF2B5EF4-FFF2-40B4-BE49-F238E27FC236}">
                <a16:creationId xmlns:a16="http://schemas.microsoft.com/office/drawing/2014/main" id="{4E31349A-0F45-6867-AB58-F77FCE5A1699}"/>
              </a:ext>
            </a:extLst>
          </p:cNvPr>
          <p:cNvCxnSpPr>
            <a:stCxn id="32" idx="3"/>
            <a:endCxn id="34" idx="1"/>
          </p:cNvCxnSpPr>
          <p:nvPr/>
        </p:nvCxnSpPr>
        <p:spPr>
          <a:xfrm>
            <a:off x="5292080" y="1815666"/>
            <a:ext cx="504056" cy="0"/>
          </a:xfrm>
          <a:prstGeom prst="straightConnector1">
            <a:avLst/>
          </a:prstGeom>
          <a:solidFill>
            <a:schemeClr val="tx2">
              <a:lumMod val="20000"/>
              <a:lumOff val="80000"/>
            </a:schemeClr>
          </a:solidFill>
          <a:ln>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41" name="Form 19">
            <a:extLst>
              <a:ext uri="{FF2B5EF4-FFF2-40B4-BE49-F238E27FC236}">
                <a16:creationId xmlns:a16="http://schemas.microsoft.com/office/drawing/2014/main" id="{61C32F54-B1BF-161E-277B-B623D214ADD4}"/>
              </a:ext>
            </a:extLst>
          </p:cNvPr>
          <p:cNvCxnSpPr>
            <a:stCxn id="34" idx="3"/>
            <a:endCxn id="35" idx="0"/>
          </p:cNvCxnSpPr>
          <p:nvPr/>
        </p:nvCxnSpPr>
        <p:spPr>
          <a:xfrm>
            <a:off x="7236296" y="1815666"/>
            <a:ext cx="936104" cy="540060"/>
          </a:xfrm>
          <a:prstGeom prst="bentConnector2">
            <a:avLst/>
          </a:prstGeom>
          <a:solidFill>
            <a:schemeClr val="tx2">
              <a:lumMod val="20000"/>
              <a:lumOff val="80000"/>
            </a:schemeClr>
          </a:solidFill>
          <a:ln>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56" name="Rechteck 55">
            <a:extLst>
              <a:ext uri="{FF2B5EF4-FFF2-40B4-BE49-F238E27FC236}">
                <a16:creationId xmlns:a16="http://schemas.microsoft.com/office/drawing/2014/main" id="{CAE981AA-C6D6-C177-C447-F39B424BF624}"/>
              </a:ext>
            </a:extLst>
          </p:cNvPr>
          <p:cNvSpPr/>
          <p:nvPr/>
        </p:nvSpPr>
        <p:spPr>
          <a:xfrm>
            <a:off x="251520" y="3147814"/>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Model Results</a:t>
            </a:r>
          </a:p>
        </p:txBody>
      </p:sp>
      <p:cxnSp>
        <p:nvCxnSpPr>
          <p:cNvPr id="64" name="Gerade Verbindung mit Pfeil 63">
            <a:extLst>
              <a:ext uri="{FF2B5EF4-FFF2-40B4-BE49-F238E27FC236}">
                <a16:creationId xmlns:a16="http://schemas.microsoft.com/office/drawing/2014/main" id="{98C00FD5-90EC-B6E1-295B-64D235D4D1FA}"/>
              </a:ext>
            </a:extLst>
          </p:cNvPr>
          <p:cNvCxnSpPr>
            <a:stCxn id="56" idx="0"/>
            <a:endCxn id="25" idx="2"/>
          </p:cNvCxnSpPr>
          <p:nvPr/>
        </p:nvCxnSpPr>
        <p:spPr>
          <a:xfrm flipV="1">
            <a:off x="971600" y="2067694"/>
            <a:ext cx="0" cy="1080120"/>
          </a:xfrm>
          <a:prstGeom prst="straightConnector1">
            <a:avLst/>
          </a:prstGeom>
          <a:solidFill>
            <a:schemeClr val="tx2">
              <a:lumMod val="20000"/>
              <a:lumOff val="80000"/>
            </a:schemeClr>
          </a:solidFill>
          <a:ln>
            <a:solidFill>
              <a:srgbClr val="C00000"/>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65" name="Form 49">
            <a:extLst>
              <a:ext uri="{FF2B5EF4-FFF2-40B4-BE49-F238E27FC236}">
                <a16:creationId xmlns:a16="http://schemas.microsoft.com/office/drawing/2014/main" id="{3329E544-4F4E-3AF0-CDD9-C7524AAA0DC4}"/>
              </a:ext>
            </a:extLst>
          </p:cNvPr>
          <p:cNvCxnSpPr>
            <a:stCxn id="17" idx="2"/>
            <a:endCxn id="35" idx="1"/>
          </p:cNvCxnSpPr>
          <p:nvPr/>
        </p:nvCxnSpPr>
        <p:spPr>
          <a:xfrm rot="16200000" flipH="1">
            <a:off x="6768244" y="1923678"/>
            <a:ext cx="540060" cy="828092"/>
          </a:xfrm>
          <a:prstGeom prst="bentConnector2">
            <a:avLst/>
          </a:prstGeom>
          <a:solidFill>
            <a:schemeClr val="tx2">
              <a:lumMod val="20000"/>
              <a:lumOff val="80000"/>
            </a:schemeClr>
          </a:solidFill>
          <a:ln>
            <a:solidFill>
              <a:srgbClr val="C00000"/>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69" name="Rechteck 68">
            <a:extLst>
              <a:ext uri="{FF2B5EF4-FFF2-40B4-BE49-F238E27FC236}">
                <a16:creationId xmlns:a16="http://schemas.microsoft.com/office/drawing/2014/main" id="{021856FA-AD86-467F-C9A0-6C6197C2B340}"/>
              </a:ext>
            </a:extLst>
          </p:cNvPr>
          <p:cNvSpPr/>
          <p:nvPr/>
        </p:nvSpPr>
        <p:spPr>
          <a:xfrm>
            <a:off x="3851920" y="4227934"/>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Interpretation</a:t>
            </a:r>
          </a:p>
        </p:txBody>
      </p:sp>
      <p:sp>
        <p:nvSpPr>
          <p:cNvPr id="70" name="Rechteck 69">
            <a:extLst>
              <a:ext uri="{FF2B5EF4-FFF2-40B4-BE49-F238E27FC236}">
                <a16:creationId xmlns:a16="http://schemas.microsoft.com/office/drawing/2014/main" id="{FE98F717-153D-FD20-2487-16CD542E0D4F}"/>
              </a:ext>
            </a:extLst>
          </p:cNvPr>
          <p:cNvSpPr/>
          <p:nvPr/>
        </p:nvSpPr>
        <p:spPr>
          <a:xfrm>
            <a:off x="2051720" y="4227934"/>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Testing against</a:t>
            </a:r>
          </a:p>
          <a:p>
            <a:pPr algn="ctr"/>
            <a:r>
              <a:rPr lang="en-US" sz="1200" noProof="0" dirty="0">
                <a:solidFill>
                  <a:schemeClr val="tx1"/>
                </a:solidFill>
              </a:rPr>
              <a:t>‘New Data’</a:t>
            </a:r>
          </a:p>
        </p:txBody>
      </p:sp>
      <p:cxnSp>
        <p:nvCxnSpPr>
          <p:cNvPr id="73" name="Gerade Verbindung mit Pfeil 72">
            <a:extLst>
              <a:ext uri="{FF2B5EF4-FFF2-40B4-BE49-F238E27FC236}">
                <a16:creationId xmlns:a16="http://schemas.microsoft.com/office/drawing/2014/main" id="{86125BC7-AC03-89BE-2E7E-C4CD4E04420F}"/>
              </a:ext>
            </a:extLst>
          </p:cNvPr>
          <p:cNvCxnSpPr>
            <a:stCxn id="69" idx="1"/>
            <a:endCxn id="70" idx="3"/>
          </p:cNvCxnSpPr>
          <p:nvPr/>
        </p:nvCxnSpPr>
        <p:spPr>
          <a:xfrm flipH="1">
            <a:off x="3491880" y="4479962"/>
            <a:ext cx="360040" cy="0"/>
          </a:xfrm>
          <a:prstGeom prst="straightConnector1">
            <a:avLst/>
          </a:prstGeom>
          <a:solidFill>
            <a:schemeClr val="tx2">
              <a:lumMod val="20000"/>
              <a:lumOff val="80000"/>
            </a:schemeClr>
          </a:solidFill>
          <a:ln>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76" name="Form 67">
            <a:extLst>
              <a:ext uri="{FF2B5EF4-FFF2-40B4-BE49-F238E27FC236}">
                <a16:creationId xmlns:a16="http://schemas.microsoft.com/office/drawing/2014/main" id="{0886FE50-8E22-BBB1-715E-3A9B18C6EB9D}"/>
              </a:ext>
            </a:extLst>
          </p:cNvPr>
          <p:cNvCxnSpPr>
            <a:stCxn id="70" idx="1"/>
            <a:endCxn id="56" idx="2"/>
          </p:cNvCxnSpPr>
          <p:nvPr/>
        </p:nvCxnSpPr>
        <p:spPr>
          <a:xfrm rot="10800000">
            <a:off x="971600" y="3651870"/>
            <a:ext cx="1080120" cy="828092"/>
          </a:xfrm>
          <a:prstGeom prst="bentConnector2">
            <a:avLst/>
          </a:prstGeom>
          <a:solidFill>
            <a:schemeClr val="tx2">
              <a:lumMod val="20000"/>
              <a:lumOff val="80000"/>
            </a:schemeClr>
          </a:solidFill>
          <a:ln>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77" name="Rechteck 76">
            <a:extLst>
              <a:ext uri="{FF2B5EF4-FFF2-40B4-BE49-F238E27FC236}">
                <a16:creationId xmlns:a16="http://schemas.microsoft.com/office/drawing/2014/main" id="{E33BCEEE-A7BD-51E1-B1E8-A4915D634451}"/>
              </a:ext>
            </a:extLst>
          </p:cNvPr>
          <p:cNvSpPr/>
          <p:nvPr/>
        </p:nvSpPr>
        <p:spPr>
          <a:xfrm>
            <a:off x="2771800" y="3507854"/>
            <a:ext cx="216024" cy="144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8" name="Rechteck 77">
            <a:extLst>
              <a:ext uri="{FF2B5EF4-FFF2-40B4-BE49-F238E27FC236}">
                <a16:creationId xmlns:a16="http://schemas.microsoft.com/office/drawing/2014/main" id="{E50DFEE8-36AC-B783-F22E-824B68E30A53}"/>
              </a:ext>
            </a:extLst>
          </p:cNvPr>
          <p:cNvSpPr/>
          <p:nvPr/>
        </p:nvSpPr>
        <p:spPr>
          <a:xfrm>
            <a:off x="2555776" y="3507854"/>
            <a:ext cx="216024" cy="144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0" name="Textfeld 79">
            <a:extLst>
              <a:ext uri="{FF2B5EF4-FFF2-40B4-BE49-F238E27FC236}">
                <a16:creationId xmlns:a16="http://schemas.microsoft.com/office/drawing/2014/main" id="{3C5607C5-D79F-1F91-4E91-A4529ADB41C8}"/>
              </a:ext>
            </a:extLst>
          </p:cNvPr>
          <p:cNvSpPr txBox="1"/>
          <p:nvPr/>
        </p:nvSpPr>
        <p:spPr>
          <a:xfrm>
            <a:off x="1027846" y="2376922"/>
            <a:ext cx="807850" cy="461665"/>
          </a:xfrm>
          <a:prstGeom prst="rect">
            <a:avLst/>
          </a:prstGeom>
          <a:noFill/>
        </p:spPr>
        <p:txBody>
          <a:bodyPr wrap="none" rtlCol="0">
            <a:spAutoFit/>
          </a:bodyPr>
          <a:lstStyle/>
          <a:p>
            <a:r>
              <a:rPr lang="en-US" sz="1200" noProof="0" dirty="0"/>
              <a:t>Model</a:t>
            </a:r>
          </a:p>
          <a:p>
            <a:r>
              <a:rPr lang="en-US" sz="1200" noProof="0" dirty="0"/>
              <a:t>Validation</a:t>
            </a:r>
          </a:p>
        </p:txBody>
      </p:sp>
      <p:sp>
        <p:nvSpPr>
          <p:cNvPr id="81" name="Textfeld 80">
            <a:extLst>
              <a:ext uri="{FF2B5EF4-FFF2-40B4-BE49-F238E27FC236}">
                <a16:creationId xmlns:a16="http://schemas.microsoft.com/office/drawing/2014/main" id="{E5B14E51-BA00-EE23-022C-6DFBFF9071A6}"/>
              </a:ext>
            </a:extLst>
          </p:cNvPr>
          <p:cNvSpPr txBox="1"/>
          <p:nvPr/>
        </p:nvSpPr>
        <p:spPr>
          <a:xfrm>
            <a:off x="6444208" y="2643758"/>
            <a:ext cx="930896" cy="461665"/>
          </a:xfrm>
          <a:prstGeom prst="rect">
            <a:avLst/>
          </a:prstGeom>
          <a:noFill/>
        </p:spPr>
        <p:txBody>
          <a:bodyPr wrap="none" rtlCol="0">
            <a:spAutoFit/>
          </a:bodyPr>
          <a:lstStyle/>
          <a:p>
            <a:r>
              <a:rPr lang="en-US" sz="1200" noProof="0" dirty="0"/>
              <a:t>Model</a:t>
            </a:r>
          </a:p>
          <a:p>
            <a:r>
              <a:rPr lang="en-US" sz="1200" noProof="0" dirty="0"/>
              <a:t>Verification</a:t>
            </a:r>
          </a:p>
        </p:txBody>
      </p:sp>
      <p:sp>
        <p:nvSpPr>
          <p:cNvPr id="83" name="Rechteck 82">
            <a:extLst>
              <a:ext uri="{FF2B5EF4-FFF2-40B4-BE49-F238E27FC236}">
                <a16:creationId xmlns:a16="http://schemas.microsoft.com/office/drawing/2014/main" id="{16A7662A-9FCE-B943-8024-58FE8DA96C90}"/>
              </a:ext>
            </a:extLst>
          </p:cNvPr>
          <p:cNvSpPr/>
          <p:nvPr/>
        </p:nvSpPr>
        <p:spPr>
          <a:xfrm>
            <a:off x="7452320" y="3723878"/>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Mathematical Analysis</a:t>
            </a:r>
          </a:p>
        </p:txBody>
      </p:sp>
      <p:cxnSp>
        <p:nvCxnSpPr>
          <p:cNvPr id="84" name="Form 54">
            <a:extLst>
              <a:ext uri="{FF2B5EF4-FFF2-40B4-BE49-F238E27FC236}">
                <a16:creationId xmlns:a16="http://schemas.microsoft.com/office/drawing/2014/main" id="{4DD002A0-EF39-D5AF-C7EE-7B22BEE83D65}"/>
              </a:ext>
            </a:extLst>
          </p:cNvPr>
          <p:cNvCxnSpPr>
            <a:cxnSpLocks/>
            <a:stCxn id="83" idx="2"/>
            <a:endCxn id="69" idx="2"/>
          </p:cNvCxnSpPr>
          <p:nvPr/>
        </p:nvCxnSpPr>
        <p:spPr>
          <a:xfrm rot="5400000">
            <a:off x="6120172" y="2679762"/>
            <a:ext cx="504056" cy="3600400"/>
          </a:xfrm>
          <a:prstGeom prst="bentConnector3">
            <a:avLst>
              <a:gd name="adj1" fmla="val 145352"/>
            </a:avLst>
          </a:prstGeom>
          <a:solidFill>
            <a:schemeClr val="tx2">
              <a:lumMod val="20000"/>
              <a:lumOff val="80000"/>
            </a:schemeClr>
          </a:solidFill>
          <a:ln>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88" name="Gerade Verbindung mit Pfeil 87">
            <a:extLst>
              <a:ext uri="{FF2B5EF4-FFF2-40B4-BE49-F238E27FC236}">
                <a16:creationId xmlns:a16="http://schemas.microsoft.com/office/drawing/2014/main" id="{93B6AD73-AC39-862C-529F-09D971829E78}"/>
              </a:ext>
            </a:extLst>
          </p:cNvPr>
          <p:cNvCxnSpPr>
            <a:cxnSpLocks/>
          </p:cNvCxnSpPr>
          <p:nvPr/>
        </p:nvCxnSpPr>
        <p:spPr>
          <a:xfrm>
            <a:off x="8388424" y="2868783"/>
            <a:ext cx="0" cy="855095"/>
          </a:xfrm>
          <a:prstGeom prst="straightConnector1">
            <a:avLst/>
          </a:prstGeom>
          <a:solidFill>
            <a:schemeClr val="tx2">
              <a:lumMod val="20000"/>
              <a:lumOff val="80000"/>
            </a:schemeClr>
          </a:solidFill>
          <a:ln>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90" name="Textfeld 89">
            <a:extLst>
              <a:ext uri="{FF2B5EF4-FFF2-40B4-BE49-F238E27FC236}">
                <a16:creationId xmlns:a16="http://schemas.microsoft.com/office/drawing/2014/main" id="{03E02F65-4338-C18A-D2CB-AC8F8F8D0305}"/>
              </a:ext>
            </a:extLst>
          </p:cNvPr>
          <p:cNvSpPr txBox="1"/>
          <p:nvPr/>
        </p:nvSpPr>
        <p:spPr>
          <a:xfrm>
            <a:off x="2067603" y="987574"/>
            <a:ext cx="1421095" cy="276999"/>
          </a:xfrm>
          <a:prstGeom prst="rect">
            <a:avLst/>
          </a:prstGeom>
          <a:noFill/>
        </p:spPr>
        <p:txBody>
          <a:bodyPr wrap="none" rtlCol="0">
            <a:spAutoFit/>
          </a:bodyPr>
          <a:lstStyle/>
          <a:p>
            <a:r>
              <a:rPr lang="en-US" sz="1200" noProof="0" dirty="0"/>
              <a:t>Model Qualification</a:t>
            </a:r>
          </a:p>
        </p:txBody>
      </p:sp>
      <p:sp>
        <p:nvSpPr>
          <p:cNvPr id="91" name="Rechteck 90">
            <a:extLst>
              <a:ext uri="{FF2B5EF4-FFF2-40B4-BE49-F238E27FC236}">
                <a16:creationId xmlns:a16="http://schemas.microsoft.com/office/drawing/2014/main" id="{8843D0CC-65ED-9A71-1C0B-C104EAFE2148}"/>
              </a:ext>
            </a:extLst>
          </p:cNvPr>
          <p:cNvSpPr/>
          <p:nvPr/>
        </p:nvSpPr>
        <p:spPr>
          <a:xfrm>
            <a:off x="7884368" y="995265"/>
            <a:ext cx="288032" cy="144016"/>
          </a:xfrm>
          <a:prstGeom prst="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solidFill>
                <a:schemeClr val="tx1"/>
              </a:solidFill>
            </a:endParaRPr>
          </a:p>
        </p:txBody>
      </p:sp>
      <p:sp>
        <p:nvSpPr>
          <p:cNvPr id="92" name="Rechteck 91">
            <a:extLst>
              <a:ext uri="{FF2B5EF4-FFF2-40B4-BE49-F238E27FC236}">
                <a16:creationId xmlns:a16="http://schemas.microsoft.com/office/drawing/2014/main" id="{C35FE8F4-07BE-2658-52F5-0056B745674B}"/>
              </a:ext>
            </a:extLst>
          </p:cNvPr>
          <p:cNvSpPr/>
          <p:nvPr/>
        </p:nvSpPr>
        <p:spPr>
          <a:xfrm>
            <a:off x="8244408" y="995265"/>
            <a:ext cx="288032" cy="144016"/>
          </a:xfrm>
          <a:prstGeom prst="rect">
            <a:avLst/>
          </a:prstGeom>
          <a:solidFill>
            <a:schemeClr val="tx2">
              <a:lumMod val="20000"/>
              <a:lumOff val="8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solidFill>
                <a:schemeClr val="tx1"/>
              </a:solidFill>
            </a:endParaRPr>
          </a:p>
        </p:txBody>
      </p:sp>
      <p:sp>
        <p:nvSpPr>
          <p:cNvPr id="93" name="Rechteck 92">
            <a:extLst>
              <a:ext uri="{FF2B5EF4-FFF2-40B4-BE49-F238E27FC236}">
                <a16:creationId xmlns:a16="http://schemas.microsoft.com/office/drawing/2014/main" id="{D38E447A-A47A-C09E-DC99-B5A774CFF735}"/>
              </a:ext>
            </a:extLst>
          </p:cNvPr>
          <p:cNvSpPr/>
          <p:nvPr/>
        </p:nvSpPr>
        <p:spPr>
          <a:xfrm>
            <a:off x="8604448" y="995265"/>
            <a:ext cx="288032" cy="144016"/>
          </a:xfrm>
          <a:prstGeom prst="rect">
            <a:avLst/>
          </a:prstGeom>
          <a:solidFill>
            <a:schemeClr val="tx2">
              <a:lumMod val="20000"/>
              <a:lumOff val="8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solidFill>
                <a:schemeClr val="tx1"/>
              </a:solidFill>
            </a:endParaRPr>
          </a:p>
        </p:txBody>
      </p:sp>
    </p:spTree>
    <p:extLst>
      <p:ext uri="{BB962C8B-B14F-4D97-AF65-F5344CB8AC3E}">
        <p14:creationId xmlns:p14="http://schemas.microsoft.com/office/powerpoint/2010/main" val="1785980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4472C-3F15-472D-C519-077792857B8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5EB7EC9-919A-64A7-0215-64F01D00CF45}"/>
              </a:ext>
            </a:extLst>
          </p:cNvPr>
          <p:cNvSpPr>
            <a:spLocks noGrp="1"/>
          </p:cNvSpPr>
          <p:nvPr>
            <p:ph type="title"/>
          </p:nvPr>
        </p:nvSpPr>
        <p:spPr/>
        <p:txBody>
          <a:bodyPr/>
          <a:lstStyle/>
          <a:p>
            <a:r>
              <a:rPr lang="en-US" noProof="0" dirty="0"/>
              <a:t>The modeling and simulation process</a:t>
            </a:r>
            <a:br>
              <a:rPr lang="en-US" noProof="0" dirty="0"/>
            </a:br>
            <a:r>
              <a:rPr lang="en-US" noProof="0" dirty="0"/>
              <a:t>(Computer Science)</a:t>
            </a:r>
          </a:p>
        </p:txBody>
      </p:sp>
      <p:sp>
        <p:nvSpPr>
          <p:cNvPr id="14" name="Rechteck 13">
            <a:extLst>
              <a:ext uri="{FF2B5EF4-FFF2-40B4-BE49-F238E27FC236}">
                <a16:creationId xmlns:a16="http://schemas.microsoft.com/office/drawing/2014/main" id="{C66B4A7D-6BF6-F8C2-193E-6139F0457CAB}"/>
              </a:ext>
            </a:extLst>
          </p:cNvPr>
          <p:cNvSpPr/>
          <p:nvPr/>
        </p:nvSpPr>
        <p:spPr>
          <a:xfrm>
            <a:off x="8172400" y="2715766"/>
            <a:ext cx="216024" cy="144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hteck 14">
            <a:extLst>
              <a:ext uri="{FF2B5EF4-FFF2-40B4-BE49-F238E27FC236}">
                <a16:creationId xmlns:a16="http://schemas.microsoft.com/office/drawing/2014/main" id="{5CFEEFF9-C8B8-874B-EC4D-CAC95C8A280C}"/>
              </a:ext>
            </a:extLst>
          </p:cNvPr>
          <p:cNvSpPr/>
          <p:nvPr/>
        </p:nvSpPr>
        <p:spPr>
          <a:xfrm>
            <a:off x="7956376" y="2715766"/>
            <a:ext cx="216024" cy="144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echteck 16">
            <a:extLst>
              <a:ext uri="{FF2B5EF4-FFF2-40B4-BE49-F238E27FC236}">
                <a16:creationId xmlns:a16="http://schemas.microsoft.com/office/drawing/2014/main" id="{C6B8901D-FACD-7CA7-0003-49D1C15BD350}"/>
              </a:ext>
            </a:extLst>
          </p:cNvPr>
          <p:cNvSpPr/>
          <p:nvPr/>
        </p:nvSpPr>
        <p:spPr>
          <a:xfrm>
            <a:off x="6516216" y="1923678"/>
            <a:ext cx="216024" cy="144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echteck 18">
            <a:extLst>
              <a:ext uri="{FF2B5EF4-FFF2-40B4-BE49-F238E27FC236}">
                <a16:creationId xmlns:a16="http://schemas.microsoft.com/office/drawing/2014/main" id="{AA80F7E1-9CCB-E39C-ED07-A8ACAC6CC569}"/>
              </a:ext>
            </a:extLst>
          </p:cNvPr>
          <p:cNvSpPr/>
          <p:nvPr/>
        </p:nvSpPr>
        <p:spPr>
          <a:xfrm>
            <a:off x="6300192" y="1923678"/>
            <a:ext cx="216024" cy="144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Rechteck 21">
            <a:extLst>
              <a:ext uri="{FF2B5EF4-FFF2-40B4-BE49-F238E27FC236}">
                <a16:creationId xmlns:a16="http://schemas.microsoft.com/office/drawing/2014/main" id="{6FAC17DA-4145-8453-AAAD-61D809D64550}"/>
              </a:ext>
            </a:extLst>
          </p:cNvPr>
          <p:cNvSpPr/>
          <p:nvPr/>
        </p:nvSpPr>
        <p:spPr>
          <a:xfrm>
            <a:off x="6516216" y="3147814"/>
            <a:ext cx="216024" cy="144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Rechteck 22">
            <a:extLst>
              <a:ext uri="{FF2B5EF4-FFF2-40B4-BE49-F238E27FC236}">
                <a16:creationId xmlns:a16="http://schemas.microsoft.com/office/drawing/2014/main" id="{978E289A-98F4-2660-18FD-0D808C72F70C}"/>
              </a:ext>
            </a:extLst>
          </p:cNvPr>
          <p:cNvSpPr/>
          <p:nvPr/>
        </p:nvSpPr>
        <p:spPr>
          <a:xfrm>
            <a:off x="6300192" y="3147814"/>
            <a:ext cx="216024" cy="144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Rechteck 24">
            <a:extLst>
              <a:ext uri="{FF2B5EF4-FFF2-40B4-BE49-F238E27FC236}">
                <a16:creationId xmlns:a16="http://schemas.microsoft.com/office/drawing/2014/main" id="{A6EABC2D-1D9D-905A-963C-D12B3C125BAD}"/>
              </a:ext>
            </a:extLst>
          </p:cNvPr>
          <p:cNvSpPr/>
          <p:nvPr/>
        </p:nvSpPr>
        <p:spPr>
          <a:xfrm>
            <a:off x="251520" y="1563638"/>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Reality</a:t>
            </a:r>
          </a:p>
        </p:txBody>
      </p:sp>
      <p:sp>
        <p:nvSpPr>
          <p:cNvPr id="31" name="Rechteck 30">
            <a:extLst>
              <a:ext uri="{FF2B5EF4-FFF2-40B4-BE49-F238E27FC236}">
                <a16:creationId xmlns:a16="http://schemas.microsoft.com/office/drawing/2014/main" id="{9967DCA3-109C-00A4-D6E3-4C1C93DEC134}"/>
              </a:ext>
            </a:extLst>
          </p:cNvPr>
          <p:cNvSpPr/>
          <p:nvPr/>
        </p:nvSpPr>
        <p:spPr>
          <a:xfrm>
            <a:off x="2051720" y="1563638"/>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Abstraction &amp; Focus on Key Concepts</a:t>
            </a:r>
          </a:p>
        </p:txBody>
      </p:sp>
      <p:sp>
        <p:nvSpPr>
          <p:cNvPr id="32" name="Rechteck 31">
            <a:extLst>
              <a:ext uri="{FF2B5EF4-FFF2-40B4-BE49-F238E27FC236}">
                <a16:creationId xmlns:a16="http://schemas.microsoft.com/office/drawing/2014/main" id="{C7B63984-BBC9-159C-C39B-7A48D3C2D9F3}"/>
              </a:ext>
            </a:extLst>
          </p:cNvPr>
          <p:cNvSpPr/>
          <p:nvPr/>
        </p:nvSpPr>
        <p:spPr>
          <a:xfrm>
            <a:off x="3851920" y="1563638"/>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Preliminary Conceptual Model</a:t>
            </a:r>
          </a:p>
        </p:txBody>
      </p:sp>
      <p:sp>
        <p:nvSpPr>
          <p:cNvPr id="34" name="Rechteck 33">
            <a:extLst>
              <a:ext uri="{FF2B5EF4-FFF2-40B4-BE49-F238E27FC236}">
                <a16:creationId xmlns:a16="http://schemas.microsoft.com/office/drawing/2014/main" id="{56D91AF6-E59B-F5C9-CFB9-2EEA9BD3FBEC}"/>
              </a:ext>
            </a:extLst>
          </p:cNvPr>
          <p:cNvSpPr/>
          <p:nvPr/>
        </p:nvSpPr>
        <p:spPr>
          <a:xfrm>
            <a:off x="5796136" y="1563638"/>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Conceptual</a:t>
            </a:r>
          </a:p>
          <a:p>
            <a:pPr algn="ctr"/>
            <a:r>
              <a:rPr lang="en-US" sz="1200" noProof="0" dirty="0">
                <a:solidFill>
                  <a:schemeClr val="tx1"/>
                </a:solidFill>
              </a:rPr>
              <a:t>Model</a:t>
            </a:r>
          </a:p>
        </p:txBody>
      </p:sp>
      <p:sp>
        <p:nvSpPr>
          <p:cNvPr id="35" name="Rechteck 34">
            <a:extLst>
              <a:ext uri="{FF2B5EF4-FFF2-40B4-BE49-F238E27FC236}">
                <a16:creationId xmlns:a16="http://schemas.microsoft.com/office/drawing/2014/main" id="{F95D614B-796F-D1FF-FE1E-0AA13974588A}"/>
              </a:ext>
            </a:extLst>
          </p:cNvPr>
          <p:cNvSpPr/>
          <p:nvPr/>
        </p:nvSpPr>
        <p:spPr>
          <a:xfrm>
            <a:off x="7452320" y="2355726"/>
            <a:ext cx="1440160" cy="504056"/>
          </a:xfrm>
          <a:prstGeom prst="rect">
            <a:avLst/>
          </a:prstGeom>
          <a:solidFill>
            <a:schemeClr val="tx2">
              <a:lumMod val="20000"/>
              <a:lumOff val="80000"/>
            </a:schemeClr>
          </a:solidFill>
          <a:ln>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Mathematical Model</a:t>
            </a:r>
          </a:p>
        </p:txBody>
      </p:sp>
      <p:cxnSp>
        <p:nvCxnSpPr>
          <p:cNvPr id="36" name="Gewinkelte Verbindung 9">
            <a:extLst>
              <a:ext uri="{FF2B5EF4-FFF2-40B4-BE49-F238E27FC236}">
                <a16:creationId xmlns:a16="http://schemas.microsoft.com/office/drawing/2014/main" id="{7BB058C2-355D-472B-7331-5E2979BEFD8D}"/>
              </a:ext>
            </a:extLst>
          </p:cNvPr>
          <p:cNvCxnSpPr>
            <a:cxnSpLocks/>
            <a:stCxn id="32" idx="0"/>
            <a:endCxn id="25" idx="0"/>
          </p:cNvCxnSpPr>
          <p:nvPr/>
        </p:nvCxnSpPr>
        <p:spPr>
          <a:xfrm rot="16200000" flipV="1">
            <a:off x="2771800" y="-236562"/>
            <a:ext cx="12700" cy="3600400"/>
          </a:xfrm>
          <a:prstGeom prst="bentConnector3">
            <a:avLst>
              <a:gd name="adj1" fmla="val 1800000"/>
            </a:avLst>
          </a:prstGeom>
          <a:solidFill>
            <a:schemeClr val="tx2">
              <a:lumMod val="20000"/>
              <a:lumOff val="80000"/>
            </a:schemeClr>
          </a:solidFill>
          <a:ln>
            <a:solidFill>
              <a:srgbClr val="C00000"/>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7" name="Gerade Verbindung mit Pfeil 36">
            <a:extLst>
              <a:ext uri="{FF2B5EF4-FFF2-40B4-BE49-F238E27FC236}">
                <a16:creationId xmlns:a16="http://schemas.microsoft.com/office/drawing/2014/main" id="{08372A44-6D16-B33A-DF62-B9F3DD714B0D}"/>
              </a:ext>
            </a:extLst>
          </p:cNvPr>
          <p:cNvCxnSpPr>
            <a:cxnSpLocks/>
            <a:stCxn id="25" idx="3"/>
            <a:endCxn id="31" idx="1"/>
          </p:cNvCxnSpPr>
          <p:nvPr/>
        </p:nvCxnSpPr>
        <p:spPr>
          <a:xfrm>
            <a:off x="1691680" y="1815666"/>
            <a:ext cx="360040" cy="0"/>
          </a:xfrm>
          <a:prstGeom prst="straightConnector1">
            <a:avLst/>
          </a:prstGeom>
          <a:solidFill>
            <a:schemeClr val="tx2">
              <a:lumMod val="20000"/>
              <a:lumOff val="80000"/>
            </a:schemeClr>
          </a:solidFill>
          <a:ln>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8" name="Gerade Verbindung mit Pfeil 37">
            <a:extLst>
              <a:ext uri="{FF2B5EF4-FFF2-40B4-BE49-F238E27FC236}">
                <a16:creationId xmlns:a16="http://schemas.microsoft.com/office/drawing/2014/main" id="{1FAB6739-2C66-B931-FEFC-69BB185FDB49}"/>
              </a:ext>
            </a:extLst>
          </p:cNvPr>
          <p:cNvCxnSpPr>
            <a:cxnSpLocks/>
            <a:stCxn id="31" idx="3"/>
            <a:endCxn id="32" idx="1"/>
          </p:cNvCxnSpPr>
          <p:nvPr/>
        </p:nvCxnSpPr>
        <p:spPr>
          <a:xfrm>
            <a:off x="3491880" y="1815666"/>
            <a:ext cx="360040" cy="0"/>
          </a:xfrm>
          <a:prstGeom prst="straightConnector1">
            <a:avLst/>
          </a:prstGeom>
          <a:solidFill>
            <a:schemeClr val="tx2">
              <a:lumMod val="20000"/>
              <a:lumOff val="80000"/>
            </a:schemeClr>
          </a:solidFill>
          <a:ln>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40" name="Gerade Verbindung mit Pfeil 39">
            <a:extLst>
              <a:ext uri="{FF2B5EF4-FFF2-40B4-BE49-F238E27FC236}">
                <a16:creationId xmlns:a16="http://schemas.microsoft.com/office/drawing/2014/main" id="{F8F45E88-831A-AA40-4157-3DC4E40F17CC}"/>
              </a:ext>
            </a:extLst>
          </p:cNvPr>
          <p:cNvCxnSpPr>
            <a:cxnSpLocks/>
            <a:stCxn id="32" idx="3"/>
            <a:endCxn id="34" idx="1"/>
          </p:cNvCxnSpPr>
          <p:nvPr/>
        </p:nvCxnSpPr>
        <p:spPr>
          <a:xfrm>
            <a:off x="5292080" y="1815666"/>
            <a:ext cx="504056" cy="0"/>
          </a:xfrm>
          <a:prstGeom prst="straightConnector1">
            <a:avLst/>
          </a:prstGeom>
          <a:solidFill>
            <a:schemeClr val="tx2">
              <a:lumMod val="20000"/>
              <a:lumOff val="80000"/>
            </a:schemeClr>
          </a:solidFill>
          <a:ln>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41" name="Form 19">
            <a:extLst>
              <a:ext uri="{FF2B5EF4-FFF2-40B4-BE49-F238E27FC236}">
                <a16:creationId xmlns:a16="http://schemas.microsoft.com/office/drawing/2014/main" id="{8851DAB9-D97A-7CAB-9798-F4DE882757F1}"/>
              </a:ext>
            </a:extLst>
          </p:cNvPr>
          <p:cNvCxnSpPr>
            <a:cxnSpLocks/>
            <a:stCxn id="34" idx="3"/>
            <a:endCxn id="35" idx="0"/>
          </p:cNvCxnSpPr>
          <p:nvPr/>
        </p:nvCxnSpPr>
        <p:spPr>
          <a:xfrm>
            <a:off x="7236296" y="1815666"/>
            <a:ext cx="936104" cy="540060"/>
          </a:xfrm>
          <a:prstGeom prst="bentConnector2">
            <a:avLst/>
          </a:prstGeom>
          <a:solidFill>
            <a:schemeClr val="tx2">
              <a:lumMod val="20000"/>
              <a:lumOff val="80000"/>
            </a:schemeClr>
          </a:solidFill>
          <a:ln>
            <a:solidFill>
              <a:schemeClr val="tx2"/>
            </a:solidFill>
            <a:prstDash val="soli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42" name="Rechteck 41">
            <a:extLst>
              <a:ext uri="{FF2B5EF4-FFF2-40B4-BE49-F238E27FC236}">
                <a16:creationId xmlns:a16="http://schemas.microsoft.com/office/drawing/2014/main" id="{95E0D091-B785-1D14-C977-4857E8C06BDD}"/>
              </a:ext>
            </a:extLst>
          </p:cNvPr>
          <p:cNvSpPr/>
          <p:nvPr/>
        </p:nvSpPr>
        <p:spPr>
          <a:xfrm>
            <a:off x="5796136" y="3147814"/>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Computerized Model</a:t>
            </a:r>
          </a:p>
        </p:txBody>
      </p:sp>
      <p:cxnSp>
        <p:nvCxnSpPr>
          <p:cNvPr id="47" name="Form 23">
            <a:extLst>
              <a:ext uri="{FF2B5EF4-FFF2-40B4-BE49-F238E27FC236}">
                <a16:creationId xmlns:a16="http://schemas.microsoft.com/office/drawing/2014/main" id="{088B3E3C-92B6-2205-36C6-794F497FCBFB}"/>
              </a:ext>
            </a:extLst>
          </p:cNvPr>
          <p:cNvCxnSpPr>
            <a:cxnSpLocks/>
            <a:stCxn id="15" idx="2"/>
            <a:endCxn id="42" idx="3"/>
          </p:cNvCxnSpPr>
          <p:nvPr/>
        </p:nvCxnSpPr>
        <p:spPr>
          <a:xfrm rot="5400000">
            <a:off x="7380312" y="2715766"/>
            <a:ext cx="540060" cy="828092"/>
          </a:xfrm>
          <a:prstGeom prst="bentConnector2">
            <a:avLst/>
          </a:prstGeom>
          <a:solidFill>
            <a:schemeClr val="tx2">
              <a:lumMod val="20000"/>
              <a:lumOff val="80000"/>
            </a:schemeClr>
          </a:solidFill>
          <a:ln>
            <a:solidFill>
              <a:schemeClr val="tx2"/>
            </a:solidFill>
            <a:prstDash val="soli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48" name="Gerade Verbindung mit Pfeil 47">
            <a:extLst>
              <a:ext uri="{FF2B5EF4-FFF2-40B4-BE49-F238E27FC236}">
                <a16:creationId xmlns:a16="http://schemas.microsoft.com/office/drawing/2014/main" id="{273CE1EB-8470-FAC2-36BC-F8E86864E45B}"/>
              </a:ext>
            </a:extLst>
          </p:cNvPr>
          <p:cNvCxnSpPr>
            <a:cxnSpLocks/>
            <a:stCxn id="23" idx="0"/>
            <a:endCxn id="19" idx="2"/>
          </p:cNvCxnSpPr>
          <p:nvPr/>
        </p:nvCxnSpPr>
        <p:spPr>
          <a:xfrm flipV="1">
            <a:off x="6408204" y="2067694"/>
            <a:ext cx="0" cy="1080120"/>
          </a:xfrm>
          <a:prstGeom prst="straightConnector1">
            <a:avLst/>
          </a:prstGeom>
          <a:solidFill>
            <a:schemeClr val="tx2">
              <a:lumMod val="20000"/>
              <a:lumOff val="80000"/>
            </a:schemeClr>
          </a:solidFill>
          <a:ln>
            <a:solidFill>
              <a:srgbClr val="C00000"/>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49" name="Rechteck 48">
            <a:extLst>
              <a:ext uri="{FF2B5EF4-FFF2-40B4-BE49-F238E27FC236}">
                <a16:creationId xmlns:a16="http://schemas.microsoft.com/office/drawing/2014/main" id="{23C50093-C4D7-323D-DC26-EF53CE32AABF}"/>
              </a:ext>
            </a:extLst>
          </p:cNvPr>
          <p:cNvSpPr/>
          <p:nvPr/>
        </p:nvSpPr>
        <p:spPr>
          <a:xfrm>
            <a:off x="3851920" y="3147814"/>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Simulation &amp; Experiment Design </a:t>
            </a:r>
          </a:p>
        </p:txBody>
      </p:sp>
      <p:sp>
        <p:nvSpPr>
          <p:cNvPr id="53" name="Rechteck 52">
            <a:extLst>
              <a:ext uri="{FF2B5EF4-FFF2-40B4-BE49-F238E27FC236}">
                <a16:creationId xmlns:a16="http://schemas.microsoft.com/office/drawing/2014/main" id="{2C8CA855-0B6F-9A18-AF74-C4FA942EEC98}"/>
              </a:ext>
            </a:extLst>
          </p:cNvPr>
          <p:cNvSpPr/>
          <p:nvPr/>
        </p:nvSpPr>
        <p:spPr>
          <a:xfrm>
            <a:off x="2051720" y="3147814"/>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Exploration</a:t>
            </a:r>
          </a:p>
        </p:txBody>
      </p:sp>
      <p:sp>
        <p:nvSpPr>
          <p:cNvPr id="56" name="Rechteck 55">
            <a:extLst>
              <a:ext uri="{FF2B5EF4-FFF2-40B4-BE49-F238E27FC236}">
                <a16:creationId xmlns:a16="http://schemas.microsoft.com/office/drawing/2014/main" id="{AEADC3DD-D503-3871-B758-0FF19807EE5F}"/>
              </a:ext>
            </a:extLst>
          </p:cNvPr>
          <p:cNvSpPr/>
          <p:nvPr/>
        </p:nvSpPr>
        <p:spPr>
          <a:xfrm>
            <a:off x="251520" y="3147814"/>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Model Results</a:t>
            </a:r>
          </a:p>
        </p:txBody>
      </p:sp>
      <p:cxnSp>
        <p:nvCxnSpPr>
          <p:cNvPr id="57" name="Gerade Verbindung mit Pfeil 56">
            <a:extLst>
              <a:ext uri="{FF2B5EF4-FFF2-40B4-BE49-F238E27FC236}">
                <a16:creationId xmlns:a16="http://schemas.microsoft.com/office/drawing/2014/main" id="{B656C9E8-0F86-D8F0-2DD2-4EBE29E56E09}"/>
              </a:ext>
            </a:extLst>
          </p:cNvPr>
          <p:cNvCxnSpPr>
            <a:cxnSpLocks/>
            <a:stCxn id="42" idx="1"/>
            <a:endCxn id="49" idx="3"/>
          </p:cNvCxnSpPr>
          <p:nvPr/>
        </p:nvCxnSpPr>
        <p:spPr>
          <a:xfrm flipH="1">
            <a:off x="5292080" y="3399842"/>
            <a:ext cx="504056" cy="0"/>
          </a:xfrm>
          <a:prstGeom prst="straightConnector1">
            <a:avLst/>
          </a:prstGeom>
          <a:solidFill>
            <a:schemeClr val="tx2">
              <a:lumMod val="20000"/>
              <a:lumOff val="80000"/>
            </a:schemeClr>
          </a:solidFill>
          <a:ln>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58" name="Gerade Verbindung mit Pfeil 57">
            <a:extLst>
              <a:ext uri="{FF2B5EF4-FFF2-40B4-BE49-F238E27FC236}">
                <a16:creationId xmlns:a16="http://schemas.microsoft.com/office/drawing/2014/main" id="{A871E98F-2651-4264-96CD-EEED0D09246D}"/>
              </a:ext>
            </a:extLst>
          </p:cNvPr>
          <p:cNvCxnSpPr>
            <a:cxnSpLocks/>
            <a:stCxn id="49" idx="1"/>
            <a:endCxn id="53" idx="3"/>
          </p:cNvCxnSpPr>
          <p:nvPr/>
        </p:nvCxnSpPr>
        <p:spPr>
          <a:xfrm flipH="1">
            <a:off x="3491880" y="3399842"/>
            <a:ext cx="360040" cy="0"/>
          </a:xfrm>
          <a:prstGeom prst="straightConnector1">
            <a:avLst/>
          </a:prstGeom>
          <a:solidFill>
            <a:schemeClr val="tx2">
              <a:lumMod val="20000"/>
              <a:lumOff val="80000"/>
            </a:schemeClr>
          </a:solidFill>
          <a:ln>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64" name="Gerade Verbindung mit Pfeil 63">
            <a:extLst>
              <a:ext uri="{FF2B5EF4-FFF2-40B4-BE49-F238E27FC236}">
                <a16:creationId xmlns:a16="http://schemas.microsoft.com/office/drawing/2014/main" id="{C39E64AC-CC8B-38AB-903D-562493821A0A}"/>
              </a:ext>
            </a:extLst>
          </p:cNvPr>
          <p:cNvCxnSpPr>
            <a:cxnSpLocks/>
            <a:stCxn id="56" idx="0"/>
            <a:endCxn id="25" idx="2"/>
          </p:cNvCxnSpPr>
          <p:nvPr/>
        </p:nvCxnSpPr>
        <p:spPr>
          <a:xfrm flipV="1">
            <a:off x="971600" y="2067694"/>
            <a:ext cx="0" cy="1080120"/>
          </a:xfrm>
          <a:prstGeom prst="straightConnector1">
            <a:avLst/>
          </a:prstGeom>
          <a:solidFill>
            <a:schemeClr val="tx2">
              <a:lumMod val="20000"/>
              <a:lumOff val="80000"/>
            </a:schemeClr>
          </a:solidFill>
          <a:ln>
            <a:solidFill>
              <a:srgbClr val="C00000"/>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65" name="Form 49">
            <a:extLst>
              <a:ext uri="{FF2B5EF4-FFF2-40B4-BE49-F238E27FC236}">
                <a16:creationId xmlns:a16="http://schemas.microsoft.com/office/drawing/2014/main" id="{0B55BB40-D6B1-77EB-3D93-7C561D1D8E3E}"/>
              </a:ext>
            </a:extLst>
          </p:cNvPr>
          <p:cNvCxnSpPr>
            <a:cxnSpLocks/>
            <a:stCxn id="17" idx="2"/>
            <a:endCxn id="35" idx="1"/>
          </p:cNvCxnSpPr>
          <p:nvPr/>
        </p:nvCxnSpPr>
        <p:spPr>
          <a:xfrm rot="16200000" flipH="1">
            <a:off x="6768244" y="1923678"/>
            <a:ext cx="540060" cy="828092"/>
          </a:xfrm>
          <a:prstGeom prst="bentConnector2">
            <a:avLst/>
          </a:prstGeom>
          <a:solidFill>
            <a:schemeClr val="tx2">
              <a:lumMod val="20000"/>
              <a:lumOff val="80000"/>
            </a:schemeClr>
          </a:solidFill>
          <a:ln>
            <a:solidFill>
              <a:srgbClr val="C00000"/>
            </a:solidFill>
            <a:prstDash val="solid"/>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69" name="Rechteck 68">
            <a:extLst>
              <a:ext uri="{FF2B5EF4-FFF2-40B4-BE49-F238E27FC236}">
                <a16:creationId xmlns:a16="http://schemas.microsoft.com/office/drawing/2014/main" id="{9B594F4B-C34F-C99A-E061-8DBE7FD1E178}"/>
              </a:ext>
            </a:extLst>
          </p:cNvPr>
          <p:cNvSpPr/>
          <p:nvPr/>
        </p:nvSpPr>
        <p:spPr>
          <a:xfrm>
            <a:off x="3851920" y="4227934"/>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Interpretation</a:t>
            </a:r>
          </a:p>
        </p:txBody>
      </p:sp>
      <p:sp>
        <p:nvSpPr>
          <p:cNvPr id="70" name="Rechteck 69">
            <a:extLst>
              <a:ext uri="{FF2B5EF4-FFF2-40B4-BE49-F238E27FC236}">
                <a16:creationId xmlns:a16="http://schemas.microsoft.com/office/drawing/2014/main" id="{E8527EF0-8AD8-7C48-03A7-10C7C0D95CE6}"/>
              </a:ext>
            </a:extLst>
          </p:cNvPr>
          <p:cNvSpPr/>
          <p:nvPr/>
        </p:nvSpPr>
        <p:spPr>
          <a:xfrm>
            <a:off x="2051720" y="4227934"/>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Testing against</a:t>
            </a:r>
          </a:p>
          <a:p>
            <a:pPr algn="ctr"/>
            <a:r>
              <a:rPr lang="en-US" sz="1200" noProof="0" dirty="0">
                <a:solidFill>
                  <a:schemeClr val="tx1"/>
                </a:solidFill>
              </a:rPr>
              <a:t>‘New Data’</a:t>
            </a:r>
          </a:p>
        </p:txBody>
      </p:sp>
      <p:cxnSp>
        <p:nvCxnSpPr>
          <p:cNvPr id="73" name="Gerade Verbindung mit Pfeil 72">
            <a:extLst>
              <a:ext uri="{FF2B5EF4-FFF2-40B4-BE49-F238E27FC236}">
                <a16:creationId xmlns:a16="http://schemas.microsoft.com/office/drawing/2014/main" id="{508C1770-EC00-3FE2-8894-FB457D185A26}"/>
              </a:ext>
            </a:extLst>
          </p:cNvPr>
          <p:cNvCxnSpPr>
            <a:cxnSpLocks/>
            <a:stCxn id="69" idx="1"/>
            <a:endCxn id="70" idx="3"/>
          </p:cNvCxnSpPr>
          <p:nvPr/>
        </p:nvCxnSpPr>
        <p:spPr>
          <a:xfrm flipH="1">
            <a:off x="3491880" y="4479962"/>
            <a:ext cx="360040" cy="0"/>
          </a:xfrm>
          <a:prstGeom prst="straightConnector1">
            <a:avLst/>
          </a:prstGeom>
          <a:solidFill>
            <a:schemeClr val="tx2">
              <a:lumMod val="20000"/>
              <a:lumOff val="80000"/>
            </a:schemeClr>
          </a:solidFill>
          <a:ln>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76" name="Form 67">
            <a:extLst>
              <a:ext uri="{FF2B5EF4-FFF2-40B4-BE49-F238E27FC236}">
                <a16:creationId xmlns:a16="http://schemas.microsoft.com/office/drawing/2014/main" id="{A7D13A21-B611-53FB-EA0E-0AD1E81F2031}"/>
              </a:ext>
            </a:extLst>
          </p:cNvPr>
          <p:cNvCxnSpPr>
            <a:cxnSpLocks/>
            <a:stCxn id="70" idx="1"/>
            <a:endCxn id="56" idx="2"/>
          </p:cNvCxnSpPr>
          <p:nvPr/>
        </p:nvCxnSpPr>
        <p:spPr>
          <a:xfrm rot="10800000">
            <a:off x="971600" y="3651870"/>
            <a:ext cx="1080120" cy="828092"/>
          </a:xfrm>
          <a:prstGeom prst="bentConnector2">
            <a:avLst/>
          </a:prstGeom>
          <a:solidFill>
            <a:schemeClr val="tx2">
              <a:lumMod val="20000"/>
              <a:lumOff val="80000"/>
            </a:schemeClr>
          </a:solidFill>
          <a:ln>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77" name="Rechteck 76">
            <a:extLst>
              <a:ext uri="{FF2B5EF4-FFF2-40B4-BE49-F238E27FC236}">
                <a16:creationId xmlns:a16="http://schemas.microsoft.com/office/drawing/2014/main" id="{3E532584-74EE-923A-B9B0-CC7C856F5760}"/>
              </a:ext>
            </a:extLst>
          </p:cNvPr>
          <p:cNvSpPr/>
          <p:nvPr/>
        </p:nvSpPr>
        <p:spPr>
          <a:xfrm>
            <a:off x="2771800" y="3507854"/>
            <a:ext cx="216024" cy="144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8" name="Rechteck 77">
            <a:extLst>
              <a:ext uri="{FF2B5EF4-FFF2-40B4-BE49-F238E27FC236}">
                <a16:creationId xmlns:a16="http://schemas.microsoft.com/office/drawing/2014/main" id="{CCD02346-85D7-6C4F-22B0-6CAFD2B5C0D6}"/>
              </a:ext>
            </a:extLst>
          </p:cNvPr>
          <p:cNvSpPr/>
          <p:nvPr/>
        </p:nvSpPr>
        <p:spPr>
          <a:xfrm>
            <a:off x="2555776" y="3507854"/>
            <a:ext cx="216024" cy="144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79" name="Gewinkelte Verbindung 73">
            <a:extLst>
              <a:ext uri="{FF2B5EF4-FFF2-40B4-BE49-F238E27FC236}">
                <a16:creationId xmlns:a16="http://schemas.microsoft.com/office/drawing/2014/main" id="{21C94F8B-A64F-8018-AF35-1A526B1FB0EF}"/>
              </a:ext>
            </a:extLst>
          </p:cNvPr>
          <p:cNvCxnSpPr>
            <a:cxnSpLocks/>
            <a:stCxn id="78" idx="2"/>
            <a:endCxn id="69" idx="0"/>
          </p:cNvCxnSpPr>
          <p:nvPr/>
        </p:nvCxnSpPr>
        <p:spPr>
          <a:xfrm rot="16200000" flipH="1">
            <a:off x="3329862" y="2985796"/>
            <a:ext cx="576064" cy="1908212"/>
          </a:xfrm>
          <a:prstGeom prst="bentConnector3">
            <a:avLst>
              <a:gd name="adj1" fmla="val 67768"/>
            </a:avLst>
          </a:prstGeom>
          <a:solidFill>
            <a:schemeClr val="tx2">
              <a:lumMod val="20000"/>
              <a:lumOff val="80000"/>
            </a:schemeClr>
          </a:solidFill>
          <a:ln>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80" name="Textfeld 79">
            <a:extLst>
              <a:ext uri="{FF2B5EF4-FFF2-40B4-BE49-F238E27FC236}">
                <a16:creationId xmlns:a16="http://schemas.microsoft.com/office/drawing/2014/main" id="{1BA6CB64-F5F0-2D35-6709-FA454C81484E}"/>
              </a:ext>
            </a:extLst>
          </p:cNvPr>
          <p:cNvSpPr txBox="1"/>
          <p:nvPr/>
        </p:nvSpPr>
        <p:spPr>
          <a:xfrm>
            <a:off x="1027846" y="2376922"/>
            <a:ext cx="807850" cy="461665"/>
          </a:xfrm>
          <a:prstGeom prst="rect">
            <a:avLst/>
          </a:prstGeom>
          <a:noFill/>
        </p:spPr>
        <p:txBody>
          <a:bodyPr wrap="none" rtlCol="0">
            <a:spAutoFit/>
          </a:bodyPr>
          <a:lstStyle/>
          <a:p>
            <a:r>
              <a:rPr lang="en-US" sz="1200" noProof="0" dirty="0"/>
              <a:t>Model</a:t>
            </a:r>
          </a:p>
          <a:p>
            <a:r>
              <a:rPr lang="en-US" sz="1200" noProof="0" dirty="0"/>
              <a:t>Validation</a:t>
            </a:r>
          </a:p>
        </p:txBody>
      </p:sp>
      <p:sp>
        <p:nvSpPr>
          <p:cNvPr id="81" name="Textfeld 80">
            <a:extLst>
              <a:ext uri="{FF2B5EF4-FFF2-40B4-BE49-F238E27FC236}">
                <a16:creationId xmlns:a16="http://schemas.microsoft.com/office/drawing/2014/main" id="{CD802575-F718-73D8-D23C-D4EBB8606831}"/>
              </a:ext>
            </a:extLst>
          </p:cNvPr>
          <p:cNvSpPr txBox="1"/>
          <p:nvPr/>
        </p:nvSpPr>
        <p:spPr>
          <a:xfrm>
            <a:off x="6444208" y="2643758"/>
            <a:ext cx="930896" cy="461665"/>
          </a:xfrm>
          <a:prstGeom prst="rect">
            <a:avLst/>
          </a:prstGeom>
          <a:noFill/>
        </p:spPr>
        <p:txBody>
          <a:bodyPr wrap="none" rtlCol="0">
            <a:spAutoFit/>
          </a:bodyPr>
          <a:lstStyle/>
          <a:p>
            <a:r>
              <a:rPr lang="en-US" sz="1200" noProof="0" dirty="0"/>
              <a:t>Model</a:t>
            </a:r>
          </a:p>
          <a:p>
            <a:r>
              <a:rPr lang="en-US" sz="1200" noProof="0" dirty="0"/>
              <a:t>Verification</a:t>
            </a:r>
          </a:p>
        </p:txBody>
      </p:sp>
      <p:sp>
        <p:nvSpPr>
          <p:cNvPr id="90" name="Textfeld 89">
            <a:extLst>
              <a:ext uri="{FF2B5EF4-FFF2-40B4-BE49-F238E27FC236}">
                <a16:creationId xmlns:a16="http://schemas.microsoft.com/office/drawing/2014/main" id="{B49CEFA7-FFC0-6718-F2EC-50D1230AAEFB}"/>
              </a:ext>
            </a:extLst>
          </p:cNvPr>
          <p:cNvSpPr txBox="1"/>
          <p:nvPr/>
        </p:nvSpPr>
        <p:spPr>
          <a:xfrm>
            <a:off x="2067603" y="987574"/>
            <a:ext cx="1421095" cy="276999"/>
          </a:xfrm>
          <a:prstGeom prst="rect">
            <a:avLst/>
          </a:prstGeom>
          <a:noFill/>
        </p:spPr>
        <p:txBody>
          <a:bodyPr wrap="none" rtlCol="0">
            <a:spAutoFit/>
          </a:bodyPr>
          <a:lstStyle/>
          <a:p>
            <a:r>
              <a:rPr lang="en-US" sz="1200" noProof="0" dirty="0"/>
              <a:t>Model Qualification</a:t>
            </a:r>
          </a:p>
        </p:txBody>
      </p:sp>
      <p:sp>
        <p:nvSpPr>
          <p:cNvPr id="3" name="Rechteck 2">
            <a:extLst>
              <a:ext uri="{FF2B5EF4-FFF2-40B4-BE49-F238E27FC236}">
                <a16:creationId xmlns:a16="http://schemas.microsoft.com/office/drawing/2014/main" id="{A3B80D11-501B-127F-3DFC-029E774B9632}"/>
              </a:ext>
            </a:extLst>
          </p:cNvPr>
          <p:cNvSpPr/>
          <p:nvPr/>
        </p:nvSpPr>
        <p:spPr>
          <a:xfrm>
            <a:off x="7884368" y="995265"/>
            <a:ext cx="288032" cy="144016"/>
          </a:xfrm>
          <a:prstGeom prst="rect">
            <a:avLst/>
          </a:prstGeom>
          <a:solidFill>
            <a:schemeClr val="tx2">
              <a:lumMod val="20000"/>
              <a:lumOff val="8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solidFill>
                <a:schemeClr val="tx1"/>
              </a:solidFill>
            </a:endParaRPr>
          </a:p>
        </p:txBody>
      </p:sp>
      <p:sp>
        <p:nvSpPr>
          <p:cNvPr id="4" name="Rechteck 3">
            <a:extLst>
              <a:ext uri="{FF2B5EF4-FFF2-40B4-BE49-F238E27FC236}">
                <a16:creationId xmlns:a16="http://schemas.microsoft.com/office/drawing/2014/main" id="{7C4A7B57-CC76-0F64-9568-7ACA56DA028A}"/>
              </a:ext>
            </a:extLst>
          </p:cNvPr>
          <p:cNvSpPr/>
          <p:nvPr/>
        </p:nvSpPr>
        <p:spPr>
          <a:xfrm>
            <a:off x="8244408" y="995265"/>
            <a:ext cx="288032" cy="144016"/>
          </a:xfrm>
          <a:prstGeom prst="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solidFill>
                <a:schemeClr val="tx1"/>
              </a:solidFill>
            </a:endParaRPr>
          </a:p>
        </p:txBody>
      </p:sp>
      <p:sp>
        <p:nvSpPr>
          <p:cNvPr id="5" name="Rechteck 4">
            <a:extLst>
              <a:ext uri="{FF2B5EF4-FFF2-40B4-BE49-F238E27FC236}">
                <a16:creationId xmlns:a16="http://schemas.microsoft.com/office/drawing/2014/main" id="{AE04DAFA-0C1D-7CE5-1134-E31E2ADBC6B8}"/>
              </a:ext>
            </a:extLst>
          </p:cNvPr>
          <p:cNvSpPr/>
          <p:nvPr/>
        </p:nvSpPr>
        <p:spPr>
          <a:xfrm>
            <a:off x="8604448" y="995265"/>
            <a:ext cx="288032" cy="144016"/>
          </a:xfrm>
          <a:prstGeom prst="rect">
            <a:avLst/>
          </a:prstGeom>
          <a:solidFill>
            <a:schemeClr val="tx2">
              <a:lumMod val="20000"/>
              <a:lumOff val="8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solidFill>
                <a:schemeClr val="tx1"/>
              </a:solidFill>
            </a:endParaRPr>
          </a:p>
        </p:txBody>
      </p:sp>
    </p:spTree>
    <p:extLst>
      <p:ext uri="{BB962C8B-B14F-4D97-AF65-F5344CB8AC3E}">
        <p14:creationId xmlns:p14="http://schemas.microsoft.com/office/powerpoint/2010/main" val="4269597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0A5F5-05BF-34AE-5DF8-4188D984BB4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4AFDCCA-8C5B-8204-0BD3-D762514173AC}"/>
              </a:ext>
            </a:extLst>
          </p:cNvPr>
          <p:cNvSpPr>
            <a:spLocks noGrp="1"/>
          </p:cNvSpPr>
          <p:nvPr>
            <p:ph type="title"/>
          </p:nvPr>
        </p:nvSpPr>
        <p:spPr/>
        <p:txBody>
          <a:bodyPr/>
          <a:lstStyle/>
          <a:p>
            <a:r>
              <a:rPr lang="en-US" noProof="0" dirty="0"/>
              <a:t>The mathematical modeling and simulation process</a:t>
            </a:r>
            <a:br>
              <a:rPr lang="en-US" noProof="0" dirty="0"/>
            </a:br>
            <a:r>
              <a:rPr lang="en-US" noProof="0" dirty="0"/>
              <a:t>(our understanding: joining forces)</a:t>
            </a:r>
          </a:p>
        </p:txBody>
      </p:sp>
      <p:grpSp>
        <p:nvGrpSpPr>
          <p:cNvPr id="11" name="Gruppieren 10">
            <a:extLst>
              <a:ext uri="{FF2B5EF4-FFF2-40B4-BE49-F238E27FC236}">
                <a16:creationId xmlns:a16="http://schemas.microsoft.com/office/drawing/2014/main" id="{4358C137-8F63-2F9E-556F-1384F8EAAB12}"/>
              </a:ext>
            </a:extLst>
          </p:cNvPr>
          <p:cNvGrpSpPr/>
          <p:nvPr/>
        </p:nvGrpSpPr>
        <p:grpSpPr>
          <a:xfrm>
            <a:off x="251520" y="987574"/>
            <a:ext cx="8640960" cy="3744416"/>
            <a:chOff x="251520" y="987574"/>
            <a:chExt cx="8640960" cy="3744416"/>
          </a:xfrm>
        </p:grpSpPr>
        <p:sp>
          <p:nvSpPr>
            <p:cNvPr id="14" name="Rechteck 13">
              <a:extLst>
                <a:ext uri="{FF2B5EF4-FFF2-40B4-BE49-F238E27FC236}">
                  <a16:creationId xmlns:a16="http://schemas.microsoft.com/office/drawing/2014/main" id="{33ECE45B-7F00-4B97-B575-ABBEA38E9485}"/>
                </a:ext>
              </a:extLst>
            </p:cNvPr>
            <p:cNvSpPr/>
            <p:nvPr/>
          </p:nvSpPr>
          <p:spPr>
            <a:xfrm>
              <a:off x="8172400" y="2715766"/>
              <a:ext cx="216024" cy="144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hteck 14">
              <a:extLst>
                <a:ext uri="{FF2B5EF4-FFF2-40B4-BE49-F238E27FC236}">
                  <a16:creationId xmlns:a16="http://schemas.microsoft.com/office/drawing/2014/main" id="{E7CDF694-18F8-4D3D-748B-AC239C02383C}"/>
                </a:ext>
              </a:extLst>
            </p:cNvPr>
            <p:cNvSpPr/>
            <p:nvPr/>
          </p:nvSpPr>
          <p:spPr>
            <a:xfrm>
              <a:off x="7956376" y="2715766"/>
              <a:ext cx="216024" cy="144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echteck 16">
              <a:extLst>
                <a:ext uri="{FF2B5EF4-FFF2-40B4-BE49-F238E27FC236}">
                  <a16:creationId xmlns:a16="http://schemas.microsoft.com/office/drawing/2014/main" id="{0C57FEB6-95BB-8F56-95E0-915EE6B79D7D}"/>
                </a:ext>
              </a:extLst>
            </p:cNvPr>
            <p:cNvSpPr/>
            <p:nvPr/>
          </p:nvSpPr>
          <p:spPr>
            <a:xfrm>
              <a:off x="6516216" y="1923678"/>
              <a:ext cx="216024" cy="144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echteck 18">
              <a:extLst>
                <a:ext uri="{FF2B5EF4-FFF2-40B4-BE49-F238E27FC236}">
                  <a16:creationId xmlns:a16="http://schemas.microsoft.com/office/drawing/2014/main" id="{FA64CDF9-122D-59AE-D1B8-7439799DADB9}"/>
                </a:ext>
              </a:extLst>
            </p:cNvPr>
            <p:cNvSpPr/>
            <p:nvPr/>
          </p:nvSpPr>
          <p:spPr>
            <a:xfrm>
              <a:off x="6300192" y="1923678"/>
              <a:ext cx="216024" cy="144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Rechteck 21">
              <a:extLst>
                <a:ext uri="{FF2B5EF4-FFF2-40B4-BE49-F238E27FC236}">
                  <a16:creationId xmlns:a16="http://schemas.microsoft.com/office/drawing/2014/main" id="{D8BCF119-6898-93C3-E33E-EE74E75CF060}"/>
                </a:ext>
              </a:extLst>
            </p:cNvPr>
            <p:cNvSpPr/>
            <p:nvPr/>
          </p:nvSpPr>
          <p:spPr>
            <a:xfrm>
              <a:off x="6516216" y="3147814"/>
              <a:ext cx="216024" cy="144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3" name="Rechteck 22">
              <a:extLst>
                <a:ext uri="{FF2B5EF4-FFF2-40B4-BE49-F238E27FC236}">
                  <a16:creationId xmlns:a16="http://schemas.microsoft.com/office/drawing/2014/main" id="{730839BD-CEE5-9D54-CBFC-45B06FDE8BC9}"/>
                </a:ext>
              </a:extLst>
            </p:cNvPr>
            <p:cNvSpPr/>
            <p:nvPr/>
          </p:nvSpPr>
          <p:spPr>
            <a:xfrm>
              <a:off x="6300192" y="3147814"/>
              <a:ext cx="216024" cy="144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Rechteck 24">
              <a:extLst>
                <a:ext uri="{FF2B5EF4-FFF2-40B4-BE49-F238E27FC236}">
                  <a16:creationId xmlns:a16="http://schemas.microsoft.com/office/drawing/2014/main" id="{44CBD2B1-8E16-9B69-031E-0F29CE660DC8}"/>
                </a:ext>
              </a:extLst>
            </p:cNvPr>
            <p:cNvSpPr/>
            <p:nvPr/>
          </p:nvSpPr>
          <p:spPr>
            <a:xfrm>
              <a:off x="251520" y="1563638"/>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Reality</a:t>
              </a:r>
            </a:p>
          </p:txBody>
        </p:sp>
        <p:sp>
          <p:nvSpPr>
            <p:cNvPr id="31" name="Rechteck 30">
              <a:extLst>
                <a:ext uri="{FF2B5EF4-FFF2-40B4-BE49-F238E27FC236}">
                  <a16:creationId xmlns:a16="http://schemas.microsoft.com/office/drawing/2014/main" id="{A50840B7-48CF-4ABA-148B-4E8A1EC1B40D}"/>
                </a:ext>
              </a:extLst>
            </p:cNvPr>
            <p:cNvSpPr/>
            <p:nvPr/>
          </p:nvSpPr>
          <p:spPr>
            <a:xfrm>
              <a:off x="2051720" y="1563638"/>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Abstraction &amp; Focus on Key Concepts</a:t>
              </a:r>
            </a:p>
          </p:txBody>
        </p:sp>
        <p:sp>
          <p:nvSpPr>
            <p:cNvPr id="32" name="Rechteck 31">
              <a:extLst>
                <a:ext uri="{FF2B5EF4-FFF2-40B4-BE49-F238E27FC236}">
                  <a16:creationId xmlns:a16="http://schemas.microsoft.com/office/drawing/2014/main" id="{53F7E8A7-B3C5-C60D-A5FC-74EB6083350B}"/>
                </a:ext>
              </a:extLst>
            </p:cNvPr>
            <p:cNvSpPr/>
            <p:nvPr/>
          </p:nvSpPr>
          <p:spPr>
            <a:xfrm>
              <a:off x="3851920" y="1563638"/>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Preliminary Conceptual Model</a:t>
              </a:r>
            </a:p>
          </p:txBody>
        </p:sp>
        <p:sp>
          <p:nvSpPr>
            <p:cNvPr id="34" name="Rechteck 33">
              <a:extLst>
                <a:ext uri="{FF2B5EF4-FFF2-40B4-BE49-F238E27FC236}">
                  <a16:creationId xmlns:a16="http://schemas.microsoft.com/office/drawing/2014/main" id="{30BBCF32-0B41-F850-C928-AFA5D6BCC540}"/>
                </a:ext>
              </a:extLst>
            </p:cNvPr>
            <p:cNvSpPr/>
            <p:nvPr/>
          </p:nvSpPr>
          <p:spPr>
            <a:xfrm>
              <a:off x="5796136" y="1563638"/>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Conceptual</a:t>
              </a:r>
            </a:p>
            <a:p>
              <a:pPr algn="ctr"/>
              <a:r>
                <a:rPr lang="en-US" sz="1200" noProof="0" dirty="0">
                  <a:solidFill>
                    <a:schemeClr val="tx1"/>
                  </a:solidFill>
                </a:rPr>
                <a:t>Model</a:t>
              </a:r>
            </a:p>
          </p:txBody>
        </p:sp>
        <p:sp>
          <p:nvSpPr>
            <p:cNvPr id="35" name="Rechteck 34">
              <a:extLst>
                <a:ext uri="{FF2B5EF4-FFF2-40B4-BE49-F238E27FC236}">
                  <a16:creationId xmlns:a16="http://schemas.microsoft.com/office/drawing/2014/main" id="{2EFBFD10-EFA8-C837-9830-53528B2EA0A1}"/>
                </a:ext>
              </a:extLst>
            </p:cNvPr>
            <p:cNvSpPr/>
            <p:nvPr/>
          </p:nvSpPr>
          <p:spPr>
            <a:xfrm>
              <a:off x="7452320" y="2355726"/>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Mathematical Model</a:t>
              </a:r>
            </a:p>
          </p:txBody>
        </p:sp>
        <p:cxnSp>
          <p:nvCxnSpPr>
            <p:cNvPr id="36" name="Gewinkelte Verbindung 9">
              <a:extLst>
                <a:ext uri="{FF2B5EF4-FFF2-40B4-BE49-F238E27FC236}">
                  <a16:creationId xmlns:a16="http://schemas.microsoft.com/office/drawing/2014/main" id="{093430BD-61FA-D903-DE7E-C933AF9C6923}"/>
                </a:ext>
              </a:extLst>
            </p:cNvPr>
            <p:cNvCxnSpPr>
              <a:stCxn id="32" idx="0"/>
              <a:endCxn id="25" idx="0"/>
            </p:cNvCxnSpPr>
            <p:nvPr/>
          </p:nvCxnSpPr>
          <p:spPr>
            <a:xfrm rot="16200000" flipV="1">
              <a:off x="2771800" y="-236562"/>
              <a:ext cx="12700" cy="3600400"/>
            </a:xfrm>
            <a:prstGeom prst="bentConnector3">
              <a:avLst>
                <a:gd name="adj1" fmla="val 1800000"/>
              </a:avLst>
            </a:prstGeom>
            <a:solidFill>
              <a:schemeClr val="tx2">
                <a:lumMod val="20000"/>
                <a:lumOff val="80000"/>
              </a:schemeClr>
            </a:solidFill>
            <a:ln>
              <a:solidFill>
                <a:srgbClr val="C00000"/>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7" name="Gerade Verbindung mit Pfeil 36">
              <a:extLst>
                <a:ext uri="{FF2B5EF4-FFF2-40B4-BE49-F238E27FC236}">
                  <a16:creationId xmlns:a16="http://schemas.microsoft.com/office/drawing/2014/main" id="{06B0592A-8762-2BBC-9F6C-12C9AF575A94}"/>
                </a:ext>
              </a:extLst>
            </p:cNvPr>
            <p:cNvCxnSpPr>
              <a:stCxn id="25" idx="3"/>
              <a:endCxn id="31" idx="1"/>
            </p:cNvCxnSpPr>
            <p:nvPr/>
          </p:nvCxnSpPr>
          <p:spPr>
            <a:xfrm>
              <a:off x="1691680" y="1815666"/>
              <a:ext cx="360040" cy="0"/>
            </a:xfrm>
            <a:prstGeom prst="straightConnector1">
              <a:avLst/>
            </a:prstGeom>
            <a:solidFill>
              <a:schemeClr val="tx2">
                <a:lumMod val="20000"/>
                <a:lumOff val="80000"/>
              </a:schemeClr>
            </a:solidFill>
            <a:ln>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8" name="Gerade Verbindung mit Pfeil 37">
              <a:extLst>
                <a:ext uri="{FF2B5EF4-FFF2-40B4-BE49-F238E27FC236}">
                  <a16:creationId xmlns:a16="http://schemas.microsoft.com/office/drawing/2014/main" id="{7A0FA0E3-32FA-004A-6E83-16C278EC91D9}"/>
                </a:ext>
              </a:extLst>
            </p:cNvPr>
            <p:cNvCxnSpPr>
              <a:stCxn id="31" idx="3"/>
              <a:endCxn id="32" idx="1"/>
            </p:cNvCxnSpPr>
            <p:nvPr/>
          </p:nvCxnSpPr>
          <p:spPr>
            <a:xfrm>
              <a:off x="3491880" y="1815666"/>
              <a:ext cx="360040" cy="0"/>
            </a:xfrm>
            <a:prstGeom prst="straightConnector1">
              <a:avLst/>
            </a:prstGeom>
            <a:solidFill>
              <a:schemeClr val="tx2">
                <a:lumMod val="20000"/>
                <a:lumOff val="80000"/>
              </a:schemeClr>
            </a:solidFill>
            <a:ln>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40" name="Gerade Verbindung mit Pfeil 39">
              <a:extLst>
                <a:ext uri="{FF2B5EF4-FFF2-40B4-BE49-F238E27FC236}">
                  <a16:creationId xmlns:a16="http://schemas.microsoft.com/office/drawing/2014/main" id="{A09CAFEB-B69D-6033-32AA-7C75A766CE05}"/>
                </a:ext>
              </a:extLst>
            </p:cNvPr>
            <p:cNvCxnSpPr>
              <a:stCxn id="32" idx="3"/>
              <a:endCxn id="34" idx="1"/>
            </p:cNvCxnSpPr>
            <p:nvPr/>
          </p:nvCxnSpPr>
          <p:spPr>
            <a:xfrm>
              <a:off x="5292080" y="1815666"/>
              <a:ext cx="504056" cy="0"/>
            </a:xfrm>
            <a:prstGeom prst="straightConnector1">
              <a:avLst/>
            </a:prstGeom>
            <a:solidFill>
              <a:schemeClr val="tx2">
                <a:lumMod val="20000"/>
                <a:lumOff val="80000"/>
              </a:schemeClr>
            </a:solidFill>
            <a:ln>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41" name="Form 19">
              <a:extLst>
                <a:ext uri="{FF2B5EF4-FFF2-40B4-BE49-F238E27FC236}">
                  <a16:creationId xmlns:a16="http://schemas.microsoft.com/office/drawing/2014/main" id="{6CAA7721-8B03-C65D-3286-2A53C281EE18}"/>
                </a:ext>
              </a:extLst>
            </p:cNvPr>
            <p:cNvCxnSpPr>
              <a:stCxn id="34" idx="3"/>
              <a:endCxn id="35" idx="0"/>
            </p:cNvCxnSpPr>
            <p:nvPr/>
          </p:nvCxnSpPr>
          <p:spPr>
            <a:xfrm>
              <a:off x="7236296" y="1815666"/>
              <a:ext cx="936104" cy="540060"/>
            </a:xfrm>
            <a:prstGeom prst="bentConnector2">
              <a:avLst/>
            </a:prstGeom>
            <a:solidFill>
              <a:schemeClr val="tx2">
                <a:lumMod val="20000"/>
                <a:lumOff val="80000"/>
              </a:schemeClr>
            </a:solidFill>
            <a:ln>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42" name="Rechteck 41">
              <a:extLst>
                <a:ext uri="{FF2B5EF4-FFF2-40B4-BE49-F238E27FC236}">
                  <a16:creationId xmlns:a16="http://schemas.microsoft.com/office/drawing/2014/main" id="{E13E46B7-BFD0-BC1A-C774-6A1AB137E6CA}"/>
                </a:ext>
              </a:extLst>
            </p:cNvPr>
            <p:cNvSpPr/>
            <p:nvPr/>
          </p:nvSpPr>
          <p:spPr>
            <a:xfrm>
              <a:off x="5796136" y="3147814"/>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Computerized Model</a:t>
              </a:r>
            </a:p>
          </p:txBody>
        </p:sp>
        <p:cxnSp>
          <p:nvCxnSpPr>
            <p:cNvPr id="47" name="Form 23">
              <a:extLst>
                <a:ext uri="{FF2B5EF4-FFF2-40B4-BE49-F238E27FC236}">
                  <a16:creationId xmlns:a16="http://schemas.microsoft.com/office/drawing/2014/main" id="{8CA624A3-34E7-C1A6-8354-3B7FEEDB403F}"/>
                </a:ext>
              </a:extLst>
            </p:cNvPr>
            <p:cNvCxnSpPr>
              <a:stCxn id="15" idx="2"/>
              <a:endCxn id="42" idx="3"/>
            </p:cNvCxnSpPr>
            <p:nvPr/>
          </p:nvCxnSpPr>
          <p:spPr>
            <a:xfrm rot="5400000">
              <a:off x="7380312" y="2715766"/>
              <a:ext cx="540060" cy="828092"/>
            </a:xfrm>
            <a:prstGeom prst="bentConnector2">
              <a:avLst/>
            </a:prstGeom>
            <a:solidFill>
              <a:schemeClr val="tx2">
                <a:lumMod val="20000"/>
                <a:lumOff val="80000"/>
              </a:schemeClr>
            </a:solidFill>
            <a:ln>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48" name="Gerade Verbindung mit Pfeil 47">
              <a:extLst>
                <a:ext uri="{FF2B5EF4-FFF2-40B4-BE49-F238E27FC236}">
                  <a16:creationId xmlns:a16="http://schemas.microsoft.com/office/drawing/2014/main" id="{155D8400-AD8D-FC3F-3A10-612F1719852B}"/>
                </a:ext>
              </a:extLst>
            </p:cNvPr>
            <p:cNvCxnSpPr>
              <a:stCxn id="23" idx="0"/>
              <a:endCxn id="19" idx="2"/>
            </p:cNvCxnSpPr>
            <p:nvPr/>
          </p:nvCxnSpPr>
          <p:spPr>
            <a:xfrm flipV="1">
              <a:off x="6408204" y="2067694"/>
              <a:ext cx="0" cy="1080120"/>
            </a:xfrm>
            <a:prstGeom prst="straightConnector1">
              <a:avLst/>
            </a:prstGeom>
            <a:solidFill>
              <a:schemeClr val="tx2">
                <a:lumMod val="20000"/>
                <a:lumOff val="80000"/>
              </a:schemeClr>
            </a:solidFill>
            <a:ln>
              <a:solidFill>
                <a:srgbClr val="C00000"/>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49" name="Rechteck 48">
              <a:extLst>
                <a:ext uri="{FF2B5EF4-FFF2-40B4-BE49-F238E27FC236}">
                  <a16:creationId xmlns:a16="http://schemas.microsoft.com/office/drawing/2014/main" id="{194FFD67-45B6-2BFB-9594-948B4CB1219B}"/>
                </a:ext>
              </a:extLst>
            </p:cNvPr>
            <p:cNvSpPr/>
            <p:nvPr/>
          </p:nvSpPr>
          <p:spPr>
            <a:xfrm>
              <a:off x="3851920" y="3147814"/>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Simulation &amp; Experiment Design </a:t>
              </a:r>
            </a:p>
          </p:txBody>
        </p:sp>
        <p:sp>
          <p:nvSpPr>
            <p:cNvPr id="53" name="Rechteck 52">
              <a:extLst>
                <a:ext uri="{FF2B5EF4-FFF2-40B4-BE49-F238E27FC236}">
                  <a16:creationId xmlns:a16="http://schemas.microsoft.com/office/drawing/2014/main" id="{9704E16E-8A35-2E0C-5E6E-C0E57635666E}"/>
                </a:ext>
              </a:extLst>
            </p:cNvPr>
            <p:cNvSpPr/>
            <p:nvPr/>
          </p:nvSpPr>
          <p:spPr>
            <a:xfrm>
              <a:off x="2051720" y="3147814"/>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Exploration</a:t>
              </a:r>
            </a:p>
          </p:txBody>
        </p:sp>
        <p:sp>
          <p:nvSpPr>
            <p:cNvPr id="56" name="Rechteck 55">
              <a:extLst>
                <a:ext uri="{FF2B5EF4-FFF2-40B4-BE49-F238E27FC236}">
                  <a16:creationId xmlns:a16="http://schemas.microsoft.com/office/drawing/2014/main" id="{9F3AF5EE-B058-03C6-85F9-FBBB76A8E29E}"/>
                </a:ext>
              </a:extLst>
            </p:cNvPr>
            <p:cNvSpPr/>
            <p:nvPr/>
          </p:nvSpPr>
          <p:spPr>
            <a:xfrm>
              <a:off x="251520" y="3147814"/>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Model Results</a:t>
              </a:r>
            </a:p>
          </p:txBody>
        </p:sp>
        <p:cxnSp>
          <p:nvCxnSpPr>
            <p:cNvPr id="57" name="Gerade Verbindung mit Pfeil 56">
              <a:extLst>
                <a:ext uri="{FF2B5EF4-FFF2-40B4-BE49-F238E27FC236}">
                  <a16:creationId xmlns:a16="http://schemas.microsoft.com/office/drawing/2014/main" id="{22A45420-DD62-D027-4555-C8A131A16B4E}"/>
                </a:ext>
              </a:extLst>
            </p:cNvPr>
            <p:cNvCxnSpPr>
              <a:stCxn id="42" idx="1"/>
              <a:endCxn id="49" idx="3"/>
            </p:cNvCxnSpPr>
            <p:nvPr/>
          </p:nvCxnSpPr>
          <p:spPr>
            <a:xfrm flipH="1">
              <a:off x="5292080" y="3399842"/>
              <a:ext cx="504056" cy="0"/>
            </a:xfrm>
            <a:prstGeom prst="straightConnector1">
              <a:avLst/>
            </a:prstGeom>
            <a:solidFill>
              <a:schemeClr val="tx2">
                <a:lumMod val="20000"/>
                <a:lumOff val="80000"/>
              </a:schemeClr>
            </a:solidFill>
            <a:ln>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58" name="Gerade Verbindung mit Pfeil 57">
              <a:extLst>
                <a:ext uri="{FF2B5EF4-FFF2-40B4-BE49-F238E27FC236}">
                  <a16:creationId xmlns:a16="http://schemas.microsoft.com/office/drawing/2014/main" id="{B130A74E-14E1-AE05-1055-707633043D8E}"/>
                </a:ext>
              </a:extLst>
            </p:cNvPr>
            <p:cNvCxnSpPr>
              <a:stCxn id="49" idx="1"/>
              <a:endCxn id="53" idx="3"/>
            </p:cNvCxnSpPr>
            <p:nvPr/>
          </p:nvCxnSpPr>
          <p:spPr>
            <a:xfrm flipH="1">
              <a:off x="3491880" y="3399842"/>
              <a:ext cx="360040" cy="0"/>
            </a:xfrm>
            <a:prstGeom prst="straightConnector1">
              <a:avLst/>
            </a:prstGeom>
            <a:solidFill>
              <a:schemeClr val="tx2">
                <a:lumMod val="20000"/>
                <a:lumOff val="80000"/>
              </a:schemeClr>
            </a:solidFill>
            <a:ln>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64" name="Gerade Verbindung mit Pfeil 63">
              <a:extLst>
                <a:ext uri="{FF2B5EF4-FFF2-40B4-BE49-F238E27FC236}">
                  <a16:creationId xmlns:a16="http://schemas.microsoft.com/office/drawing/2014/main" id="{59C8404D-0425-8FE4-60FF-B5183DFD779D}"/>
                </a:ext>
              </a:extLst>
            </p:cNvPr>
            <p:cNvCxnSpPr>
              <a:stCxn id="56" idx="0"/>
              <a:endCxn id="25" idx="2"/>
            </p:cNvCxnSpPr>
            <p:nvPr/>
          </p:nvCxnSpPr>
          <p:spPr>
            <a:xfrm flipV="1">
              <a:off x="971600" y="2067694"/>
              <a:ext cx="0" cy="1080120"/>
            </a:xfrm>
            <a:prstGeom prst="straightConnector1">
              <a:avLst/>
            </a:prstGeom>
            <a:solidFill>
              <a:schemeClr val="tx2">
                <a:lumMod val="20000"/>
                <a:lumOff val="80000"/>
              </a:schemeClr>
            </a:solidFill>
            <a:ln>
              <a:solidFill>
                <a:srgbClr val="C00000"/>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65" name="Form 49">
              <a:extLst>
                <a:ext uri="{FF2B5EF4-FFF2-40B4-BE49-F238E27FC236}">
                  <a16:creationId xmlns:a16="http://schemas.microsoft.com/office/drawing/2014/main" id="{244E4216-8CFF-B029-FEBA-9F5D4D63B273}"/>
                </a:ext>
              </a:extLst>
            </p:cNvPr>
            <p:cNvCxnSpPr>
              <a:stCxn id="17" idx="2"/>
              <a:endCxn id="35" idx="1"/>
            </p:cNvCxnSpPr>
            <p:nvPr/>
          </p:nvCxnSpPr>
          <p:spPr>
            <a:xfrm rot="16200000" flipH="1">
              <a:off x="6768244" y="1923678"/>
              <a:ext cx="540060" cy="828092"/>
            </a:xfrm>
            <a:prstGeom prst="bentConnector2">
              <a:avLst/>
            </a:prstGeom>
            <a:solidFill>
              <a:schemeClr val="tx2">
                <a:lumMod val="20000"/>
                <a:lumOff val="80000"/>
              </a:schemeClr>
            </a:solidFill>
            <a:ln>
              <a:solidFill>
                <a:srgbClr val="C00000"/>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66" name="Rechteck 65">
              <a:extLst>
                <a:ext uri="{FF2B5EF4-FFF2-40B4-BE49-F238E27FC236}">
                  <a16:creationId xmlns:a16="http://schemas.microsoft.com/office/drawing/2014/main" id="{BB64766F-93B3-FA4C-2927-F2DCAA4573A2}"/>
                </a:ext>
              </a:extLst>
            </p:cNvPr>
            <p:cNvSpPr/>
            <p:nvPr/>
          </p:nvSpPr>
          <p:spPr>
            <a:xfrm>
              <a:off x="5796136" y="4227934"/>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Design of Test</a:t>
              </a:r>
            </a:p>
            <a:p>
              <a:pPr algn="ctr"/>
              <a:r>
                <a:rPr lang="en-US" sz="1200" noProof="0" dirty="0">
                  <a:solidFill>
                    <a:schemeClr val="tx1"/>
                  </a:solidFill>
                </a:rPr>
                <a:t>Cases</a:t>
              </a:r>
            </a:p>
          </p:txBody>
        </p:sp>
        <p:cxnSp>
          <p:nvCxnSpPr>
            <p:cNvPr id="67" name="Gewinkelte Verbindung 58">
              <a:extLst>
                <a:ext uri="{FF2B5EF4-FFF2-40B4-BE49-F238E27FC236}">
                  <a16:creationId xmlns:a16="http://schemas.microsoft.com/office/drawing/2014/main" id="{DE31BDA8-7F60-B6C5-5EED-76FB74A63D4C}"/>
                </a:ext>
              </a:extLst>
            </p:cNvPr>
            <p:cNvCxnSpPr>
              <a:cxnSpLocks/>
              <a:stCxn id="49" idx="2"/>
              <a:endCxn id="66" idx="0"/>
            </p:cNvCxnSpPr>
            <p:nvPr/>
          </p:nvCxnSpPr>
          <p:spPr>
            <a:xfrm rot="16200000" flipH="1">
              <a:off x="5256076" y="2967794"/>
              <a:ext cx="576064" cy="1944216"/>
            </a:xfrm>
            <a:prstGeom prst="bentConnector3">
              <a:avLst>
                <a:gd name="adj1" fmla="val 28022"/>
              </a:avLst>
            </a:prstGeom>
            <a:solidFill>
              <a:schemeClr val="tx2">
                <a:lumMod val="20000"/>
                <a:lumOff val="80000"/>
              </a:schemeClr>
            </a:solidFill>
            <a:ln>
              <a:solidFill>
                <a:srgbClr val="C00000"/>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69" name="Rechteck 68">
              <a:extLst>
                <a:ext uri="{FF2B5EF4-FFF2-40B4-BE49-F238E27FC236}">
                  <a16:creationId xmlns:a16="http://schemas.microsoft.com/office/drawing/2014/main" id="{C2735DDA-B01E-16C0-A535-C4B8AD0D77D8}"/>
                </a:ext>
              </a:extLst>
            </p:cNvPr>
            <p:cNvSpPr/>
            <p:nvPr/>
          </p:nvSpPr>
          <p:spPr>
            <a:xfrm>
              <a:off x="3851920" y="4227934"/>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Interpretation</a:t>
              </a:r>
            </a:p>
          </p:txBody>
        </p:sp>
        <p:sp>
          <p:nvSpPr>
            <p:cNvPr id="70" name="Rechteck 69">
              <a:extLst>
                <a:ext uri="{FF2B5EF4-FFF2-40B4-BE49-F238E27FC236}">
                  <a16:creationId xmlns:a16="http://schemas.microsoft.com/office/drawing/2014/main" id="{DB8FEFF5-80C4-2E83-9A38-DD0DE661E052}"/>
                </a:ext>
              </a:extLst>
            </p:cNvPr>
            <p:cNvSpPr/>
            <p:nvPr/>
          </p:nvSpPr>
          <p:spPr>
            <a:xfrm>
              <a:off x="2051720" y="4227934"/>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Testing against</a:t>
              </a:r>
            </a:p>
            <a:p>
              <a:pPr algn="ctr"/>
              <a:r>
                <a:rPr lang="en-US" sz="1200" noProof="0" dirty="0">
                  <a:solidFill>
                    <a:schemeClr val="tx1"/>
                  </a:solidFill>
                </a:rPr>
                <a:t>‘New Data’</a:t>
              </a:r>
            </a:p>
          </p:txBody>
        </p:sp>
        <p:cxnSp>
          <p:nvCxnSpPr>
            <p:cNvPr id="73" name="Gerade Verbindung mit Pfeil 72">
              <a:extLst>
                <a:ext uri="{FF2B5EF4-FFF2-40B4-BE49-F238E27FC236}">
                  <a16:creationId xmlns:a16="http://schemas.microsoft.com/office/drawing/2014/main" id="{34D388DD-ACF6-60A7-F42E-B5AF25E15F3C}"/>
                </a:ext>
              </a:extLst>
            </p:cNvPr>
            <p:cNvCxnSpPr>
              <a:stCxn id="69" idx="1"/>
              <a:endCxn id="70" idx="3"/>
            </p:cNvCxnSpPr>
            <p:nvPr/>
          </p:nvCxnSpPr>
          <p:spPr>
            <a:xfrm flipH="1">
              <a:off x="3491880" y="4479962"/>
              <a:ext cx="360040" cy="0"/>
            </a:xfrm>
            <a:prstGeom prst="straightConnector1">
              <a:avLst/>
            </a:prstGeom>
            <a:solidFill>
              <a:schemeClr val="tx2">
                <a:lumMod val="20000"/>
                <a:lumOff val="80000"/>
              </a:schemeClr>
            </a:solidFill>
            <a:ln>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75" name="Gerade Verbindung mit Pfeil 74">
              <a:extLst>
                <a:ext uri="{FF2B5EF4-FFF2-40B4-BE49-F238E27FC236}">
                  <a16:creationId xmlns:a16="http://schemas.microsoft.com/office/drawing/2014/main" id="{B1ED5827-D2EF-21D9-496F-86D09F208349}"/>
                </a:ext>
              </a:extLst>
            </p:cNvPr>
            <p:cNvCxnSpPr>
              <a:cxnSpLocks/>
            </p:cNvCxnSpPr>
            <p:nvPr/>
          </p:nvCxnSpPr>
          <p:spPr>
            <a:xfrm>
              <a:off x="6804248" y="3669872"/>
              <a:ext cx="0" cy="558062"/>
            </a:xfrm>
            <a:prstGeom prst="straightConnector1">
              <a:avLst/>
            </a:prstGeom>
            <a:solidFill>
              <a:schemeClr val="tx2">
                <a:lumMod val="20000"/>
                <a:lumOff val="80000"/>
              </a:schemeClr>
            </a:solidFill>
            <a:ln>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76" name="Form 67">
              <a:extLst>
                <a:ext uri="{FF2B5EF4-FFF2-40B4-BE49-F238E27FC236}">
                  <a16:creationId xmlns:a16="http://schemas.microsoft.com/office/drawing/2014/main" id="{A29330EF-C933-443D-2DE3-27BBBF1209A4}"/>
                </a:ext>
              </a:extLst>
            </p:cNvPr>
            <p:cNvCxnSpPr>
              <a:stCxn id="70" idx="1"/>
              <a:endCxn id="56" idx="2"/>
            </p:cNvCxnSpPr>
            <p:nvPr/>
          </p:nvCxnSpPr>
          <p:spPr>
            <a:xfrm rot="10800000">
              <a:off x="971600" y="3651870"/>
              <a:ext cx="1080120" cy="828092"/>
            </a:xfrm>
            <a:prstGeom prst="bentConnector2">
              <a:avLst/>
            </a:prstGeom>
            <a:solidFill>
              <a:schemeClr val="tx2">
                <a:lumMod val="20000"/>
                <a:lumOff val="80000"/>
              </a:schemeClr>
            </a:solidFill>
            <a:ln>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77" name="Rechteck 76">
              <a:extLst>
                <a:ext uri="{FF2B5EF4-FFF2-40B4-BE49-F238E27FC236}">
                  <a16:creationId xmlns:a16="http://schemas.microsoft.com/office/drawing/2014/main" id="{B5D1CB74-4986-0E71-2E6A-5C1BC7258B2C}"/>
                </a:ext>
              </a:extLst>
            </p:cNvPr>
            <p:cNvSpPr/>
            <p:nvPr/>
          </p:nvSpPr>
          <p:spPr>
            <a:xfrm>
              <a:off x="2771800" y="3507854"/>
              <a:ext cx="216024" cy="144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8" name="Rechteck 77">
              <a:extLst>
                <a:ext uri="{FF2B5EF4-FFF2-40B4-BE49-F238E27FC236}">
                  <a16:creationId xmlns:a16="http://schemas.microsoft.com/office/drawing/2014/main" id="{4AD854B6-AD2A-210B-80E2-F616F3138091}"/>
                </a:ext>
              </a:extLst>
            </p:cNvPr>
            <p:cNvSpPr/>
            <p:nvPr/>
          </p:nvSpPr>
          <p:spPr>
            <a:xfrm>
              <a:off x="2555776" y="3507854"/>
              <a:ext cx="216024" cy="144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79" name="Gewinkelte Verbindung 73">
              <a:extLst>
                <a:ext uri="{FF2B5EF4-FFF2-40B4-BE49-F238E27FC236}">
                  <a16:creationId xmlns:a16="http://schemas.microsoft.com/office/drawing/2014/main" id="{6B707CAA-2407-6BE6-79DD-26A086844444}"/>
                </a:ext>
              </a:extLst>
            </p:cNvPr>
            <p:cNvCxnSpPr>
              <a:stCxn id="78" idx="2"/>
              <a:endCxn id="69" idx="0"/>
            </p:cNvCxnSpPr>
            <p:nvPr/>
          </p:nvCxnSpPr>
          <p:spPr>
            <a:xfrm rot="16200000" flipH="1">
              <a:off x="3329862" y="2985796"/>
              <a:ext cx="576064" cy="1908212"/>
            </a:xfrm>
            <a:prstGeom prst="bentConnector3">
              <a:avLst>
                <a:gd name="adj1" fmla="val 67768"/>
              </a:avLst>
            </a:prstGeom>
            <a:solidFill>
              <a:schemeClr val="tx2">
                <a:lumMod val="20000"/>
                <a:lumOff val="80000"/>
              </a:schemeClr>
            </a:solidFill>
            <a:ln>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80" name="Textfeld 79">
              <a:extLst>
                <a:ext uri="{FF2B5EF4-FFF2-40B4-BE49-F238E27FC236}">
                  <a16:creationId xmlns:a16="http://schemas.microsoft.com/office/drawing/2014/main" id="{38C9E5CA-6DB3-2167-4ED6-47393190A067}"/>
                </a:ext>
              </a:extLst>
            </p:cNvPr>
            <p:cNvSpPr txBox="1"/>
            <p:nvPr/>
          </p:nvSpPr>
          <p:spPr>
            <a:xfrm>
              <a:off x="1027846" y="2376922"/>
              <a:ext cx="807850" cy="461665"/>
            </a:xfrm>
            <a:prstGeom prst="rect">
              <a:avLst/>
            </a:prstGeom>
            <a:noFill/>
          </p:spPr>
          <p:txBody>
            <a:bodyPr wrap="none" rtlCol="0">
              <a:spAutoFit/>
            </a:bodyPr>
            <a:lstStyle/>
            <a:p>
              <a:r>
                <a:rPr lang="en-US" sz="1200" noProof="0" dirty="0"/>
                <a:t>Model</a:t>
              </a:r>
            </a:p>
            <a:p>
              <a:r>
                <a:rPr lang="en-US" sz="1200" noProof="0" dirty="0"/>
                <a:t>Validation</a:t>
              </a:r>
            </a:p>
          </p:txBody>
        </p:sp>
        <p:sp>
          <p:nvSpPr>
            <p:cNvPr id="81" name="Textfeld 80">
              <a:extLst>
                <a:ext uri="{FF2B5EF4-FFF2-40B4-BE49-F238E27FC236}">
                  <a16:creationId xmlns:a16="http://schemas.microsoft.com/office/drawing/2014/main" id="{3BBE53DE-36B0-6F98-F288-F5F7E29074F0}"/>
                </a:ext>
              </a:extLst>
            </p:cNvPr>
            <p:cNvSpPr txBox="1"/>
            <p:nvPr/>
          </p:nvSpPr>
          <p:spPr>
            <a:xfrm>
              <a:off x="6444208" y="2643758"/>
              <a:ext cx="969368" cy="461665"/>
            </a:xfrm>
            <a:prstGeom prst="rect">
              <a:avLst/>
            </a:prstGeom>
            <a:noFill/>
          </p:spPr>
          <p:txBody>
            <a:bodyPr wrap="none" rtlCol="0">
              <a:spAutoFit/>
            </a:bodyPr>
            <a:lstStyle/>
            <a:p>
              <a:r>
                <a:rPr lang="en-US" sz="1200" noProof="0" dirty="0"/>
                <a:t>Model</a:t>
              </a:r>
            </a:p>
            <a:p>
              <a:r>
                <a:rPr lang="en-US" sz="1200" noProof="0" dirty="0"/>
                <a:t>Verification I</a:t>
              </a:r>
            </a:p>
          </p:txBody>
        </p:sp>
        <p:sp>
          <p:nvSpPr>
            <p:cNvPr id="83" name="Rechteck 82">
              <a:extLst>
                <a:ext uri="{FF2B5EF4-FFF2-40B4-BE49-F238E27FC236}">
                  <a16:creationId xmlns:a16="http://schemas.microsoft.com/office/drawing/2014/main" id="{6416837E-2001-7E98-11B7-57F9457F516D}"/>
                </a:ext>
              </a:extLst>
            </p:cNvPr>
            <p:cNvSpPr/>
            <p:nvPr/>
          </p:nvSpPr>
          <p:spPr>
            <a:xfrm>
              <a:off x="7452320" y="3723878"/>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Mathematical Analysis</a:t>
              </a:r>
            </a:p>
          </p:txBody>
        </p:sp>
        <p:cxnSp>
          <p:nvCxnSpPr>
            <p:cNvPr id="84" name="Form 54">
              <a:extLst>
                <a:ext uri="{FF2B5EF4-FFF2-40B4-BE49-F238E27FC236}">
                  <a16:creationId xmlns:a16="http://schemas.microsoft.com/office/drawing/2014/main" id="{77156B75-8CD9-1BC8-73AE-5237153E63D3}"/>
                </a:ext>
              </a:extLst>
            </p:cNvPr>
            <p:cNvCxnSpPr>
              <a:cxnSpLocks/>
              <a:stCxn id="83" idx="2"/>
              <a:endCxn id="69" idx="2"/>
            </p:cNvCxnSpPr>
            <p:nvPr/>
          </p:nvCxnSpPr>
          <p:spPr>
            <a:xfrm rot="5400000">
              <a:off x="6120172" y="2679762"/>
              <a:ext cx="504056" cy="3600400"/>
            </a:xfrm>
            <a:prstGeom prst="bentConnector3">
              <a:avLst>
                <a:gd name="adj1" fmla="val 145352"/>
              </a:avLst>
            </a:prstGeom>
            <a:solidFill>
              <a:schemeClr val="tx2">
                <a:lumMod val="20000"/>
                <a:lumOff val="80000"/>
              </a:schemeClr>
            </a:solidFill>
            <a:ln>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87" name="Textfeld 86">
              <a:extLst>
                <a:ext uri="{FF2B5EF4-FFF2-40B4-BE49-F238E27FC236}">
                  <a16:creationId xmlns:a16="http://schemas.microsoft.com/office/drawing/2014/main" id="{B237EA58-1C78-B753-9EE9-638A2395B8BC}"/>
                </a:ext>
              </a:extLst>
            </p:cNvPr>
            <p:cNvSpPr txBox="1"/>
            <p:nvPr/>
          </p:nvSpPr>
          <p:spPr>
            <a:xfrm>
              <a:off x="5067550" y="3837406"/>
              <a:ext cx="1448666" cy="276999"/>
            </a:xfrm>
            <a:prstGeom prst="rect">
              <a:avLst/>
            </a:prstGeom>
            <a:noFill/>
          </p:spPr>
          <p:txBody>
            <a:bodyPr wrap="none" rtlCol="0">
              <a:spAutoFit/>
            </a:bodyPr>
            <a:lstStyle/>
            <a:p>
              <a:r>
                <a:rPr lang="en-US" sz="1200" noProof="0" dirty="0"/>
                <a:t>Model Verification II</a:t>
              </a:r>
            </a:p>
          </p:txBody>
        </p:sp>
        <p:cxnSp>
          <p:nvCxnSpPr>
            <p:cNvPr id="88" name="Gerade Verbindung mit Pfeil 87">
              <a:extLst>
                <a:ext uri="{FF2B5EF4-FFF2-40B4-BE49-F238E27FC236}">
                  <a16:creationId xmlns:a16="http://schemas.microsoft.com/office/drawing/2014/main" id="{AD4D4DF5-3849-2D6E-30AB-944ED8ADA53F}"/>
                </a:ext>
              </a:extLst>
            </p:cNvPr>
            <p:cNvCxnSpPr>
              <a:cxnSpLocks/>
            </p:cNvCxnSpPr>
            <p:nvPr/>
          </p:nvCxnSpPr>
          <p:spPr>
            <a:xfrm>
              <a:off x="8388424" y="2868783"/>
              <a:ext cx="0" cy="855095"/>
            </a:xfrm>
            <a:prstGeom prst="straightConnector1">
              <a:avLst/>
            </a:prstGeom>
            <a:solidFill>
              <a:schemeClr val="tx2">
                <a:lumMod val="20000"/>
                <a:lumOff val="80000"/>
              </a:schemeClr>
            </a:solidFill>
            <a:ln>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89" name="Form 23">
              <a:extLst>
                <a:ext uri="{FF2B5EF4-FFF2-40B4-BE49-F238E27FC236}">
                  <a16:creationId xmlns:a16="http://schemas.microsoft.com/office/drawing/2014/main" id="{DECFD23E-3931-9A4C-A3A4-635CCD250584}"/>
                </a:ext>
              </a:extLst>
            </p:cNvPr>
            <p:cNvCxnSpPr>
              <a:cxnSpLocks/>
              <a:stCxn id="83" idx="1"/>
              <a:endCxn id="66" idx="3"/>
            </p:cNvCxnSpPr>
            <p:nvPr/>
          </p:nvCxnSpPr>
          <p:spPr>
            <a:xfrm rot="10800000" flipV="1">
              <a:off x="7236296" y="3975906"/>
              <a:ext cx="216024" cy="504056"/>
            </a:xfrm>
            <a:prstGeom prst="bentConnector3">
              <a:avLst>
                <a:gd name="adj1" fmla="val 50000"/>
              </a:avLst>
            </a:prstGeom>
            <a:solidFill>
              <a:schemeClr val="tx2">
                <a:lumMod val="20000"/>
                <a:lumOff val="80000"/>
              </a:schemeClr>
            </a:solidFill>
            <a:ln>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90" name="Textfeld 89">
              <a:extLst>
                <a:ext uri="{FF2B5EF4-FFF2-40B4-BE49-F238E27FC236}">
                  <a16:creationId xmlns:a16="http://schemas.microsoft.com/office/drawing/2014/main" id="{11B9905F-614A-7B3E-1E96-3E77948B9C58}"/>
                </a:ext>
              </a:extLst>
            </p:cNvPr>
            <p:cNvSpPr txBox="1"/>
            <p:nvPr/>
          </p:nvSpPr>
          <p:spPr>
            <a:xfrm>
              <a:off x="2067603" y="987574"/>
              <a:ext cx="1421095" cy="276999"/>
            </a:xfrm>
            <a:prstGeom prst="rect">
              <a:avLst/>
            </a:prstGeom>
            <a:noFill/>
          </p:spPr>
          <p:txBody>
            <a:bodyPr wrap="none" rtlCol="0">
              <a:spAutoFit/>
            </a:bodyPr>
            <a:lstStyle/>
            <a:p>
              <a:r>
                <a:rPr lang="en-US" sz="1200" noProof="0" dirty="0"/>
                <a:t>Model Qualification</a:t>
              </a:r>
            </a:p>
          </p:txBody>
        </p:sp>
      </p:grpSp>
      <p:sp>
        <p:nvSpPr>
          <p:cNvPr id="3" name="Rechteck 2">
            <a:extLst>
              <a:ext uri="{FF2B5EF4-FFF2-40B4-BE49-F238E27FC236}">
                <a16:creationId xmlns:a16="http://schemas.microsoft.com/office/drawing/2014/main" id="{56A24291-6F50-90DC-C4A6-958AFC3803A6}"/>
              </a:ext>
            </a:extLst>
          </p:cNvPr>
          <p:cNvSpPr/>
          <p:nvPr/>
        </p:nvSpPr>
        <p:spPr>
          <a:xfrm>
            <a:off x="7884368" y="995265"/>
            <a:ext cx="288032" cy="144016"/>
          </a:xfrm>
          <a:prstGeom prst="rect">
            <a:avLst/>
          </a:prstGeom>
          <a:solidFill>
            <a:schemeClr val="tx2">
              <a:lumMod val="20000"/>
              <a:lumOff val="8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solidFill>
                <a:schemeClr val="tx1"/>
              </a:solidFill>
            </a:endParaRPr>
          </a:p>
        </p:txBody>
      </p:sp>
      <p:sp>
        <p:nvSpPr>
          <p:cNvPr id="4" name="Rechteck 3">
            <a:extLst>
              <a:ext uri="{FF2B5EF4-FFF2-40B4-BE49-F238E27FC236}">
                <a16:creationId xmlns:a16="http://schemas.microsoft.com/office/drawing/2014/main" id="{410BE6BE-C7D2-BC9D-8527-28E47AC7087F}"/>
              </a:ext>
            </a:extLst>
          </p:cNvPr>
          <p:cNvSpPr/>
          <p:nvPr/>
        </p:nvSpPr>
        <p:spPr>
          <a:xfrm>
            <a:off x="8244408" y="995265"/>
            <a:ext cx="288032" cy="144016"/>
          </a:xfrm>
          <a:prstGeom prst="rect">
            <a:avLst/>
          </a:prstGeom>
          <a:solidFill>
            <a:schemeClr val="tx2">
              <a:lumMod val="20000"/>
              <a:lumOff val="8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solidFill>
                <a:schemeClr val="tx1"/>
              </a:solidFill>
            </a:endParaRPr>
          </a:p>
        </p:txBody>
      </p:sp>
      <p:sp>
        <p:nvSpPr>
          <p:cNvPr id="5" name="Rechteck 4">
            <a:extLst>
              <a:ext uri="{FF2B5EF4-FFF2-40B4-BE49-F238E27FC236}">
                <a16:creationId xmlns:a16="http://schemas.microsoft.com/office/drawing/2014/main" id="{AEC5FD21-54F1-FF4F-1B86-01DCC2CC952C}"/>
              </a:ext>
            </a:extLst>
          </p:cNvPr>
          <p:cNvSpPr/>
          <p:nvPr/>
        </p:nvSpPr>
        <p:spPr>
          <a:xfrm>
            <a:off x="8604448" y="995265"/>
            <a:ext cx="288032" cy="144016"/>
          </a:xfrm>
          <a:prstGeom prst="rect">
            <a:avLst/>
          </a:prstGeom>
          <a:solidFill>
            <a:schemeClr val="tx2"/>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solidFill>
                <a:schemeClr val="tx1"/>
              </a:solidFill>
            </a:endParaRPr>
          </a:p>
        </p:txBody>
      </p:sp>
    </p:spTree>
    <p:extLst>
      <p:ext uri="{BB962C8B-B14F-4D97-AF65-F5344CB8AC3E}">
        <p14:creationId xmlns:p14="http://schemas.microsoft.com/office/powerpoint/2010/main" val="12390969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To ensure the credibility of the model, we use model qualification, verification, and validation</a:t>
            </a:r>
          </a:p>
        </p:txBody>
      </p:sp>
      <p:sp>
        <p:nvSpPr>
          <p:cNvPr id="3" name="Rechteck 2"/>
          <p:cNvSpPr/>
          <p:nvPr/>
        </p:nvSpPr>
        <p:spPr>
          <a:xfrm>
            <a:off x="251520" y="1131590"/>
            <a:ext cx="2736304" cy="288032"/>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Qualification</a:t>
            </a:r>
          </a:p>
        </p:txBody>
      </p:sp>
      <p:sp>
        <p:nvSpPr>
          <p:cNvPr id="4" name="Rechteck 3"/>
          <p:cNvSpPr/>
          <p:nvPr/>
        </p:nvSpPr>
        <p:spPr>
          <a:xfrm>
            <a:off x="3203848" y="1131590"/>
            <a:ext cx="2736304" cy="288032"/>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Verification</a:t>
            </a:r>
          </a:p>
        </p:txBody>
      </p:sp>
      <p:sp>
        <p:nvSpPr>
          <p:cNvPr id="5" name="Rechteck 4"/>
          <p:cNvSpPr/>
          <p:nvPr/>
        </p:nvSpPr>
        <p:spPr>
          <a:xfrm>
            <a:off x="6156176" y="1131590"/>
            <a:ext cx="2736304" cy="288032"/>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Validation</a:t>
            </a:r>
          </a:p>
        </p:txBody>
      </p:sp>
      <p:sp>
        <p:nvSpPr>
          <p:cNvPr id="6" name="Rechteck 5"/>
          <p:cNvSpPr/>
          <p:nvPr/>
        </p:nvSpPr>
        <p:spPr>
          <a:xfrm>
            <a:off x="251520" y="1491630"/>
            <a:ext cx="2736304" cy="352839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Rechteck 6"/>
          <p:cNvSpPr/>
          <p:nvPr/>
        </p:nvSpPr>
        <p:spPr>
          <a:xfrm>
            <a:off x="3203848" y="1491630"/>
            <a:ext cx="2736304" cy="352839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endParaRPr lang="en-US" sz="1200" noProof="0" dirty="0">
              <a:solidFill>
                <a:schemeClr val="tx1"/>
              </a:solidFill>
            </a:endParaRPr>
          </a:p>
          <a:p>
            <a:pPr algn="just"/>
            <a:endParaRPr lang="en-US" sz="1200" noProof="0" dirty="0">
              <a:solidFill>
                <a:schemeClr val="tx1"/>
              </a:solidFill>
            </a:endParaRPr>
          </a:p>
          <a:p>
            <a:pPr algn="just"/>
            <a:endParaRPr lang="en-US" sz="1200" noProof="0" dirty="0">
              <a:solidFill>
                <a:schemeClr val="tx1"/>
              </a:solidFill>
            </a:endParaRPr>
          </a:p>
          <a:p>
            <a:pPr algn="just"/>
            <a:endParaRPr lang="en-US" sz="1200" noProof="0" dirty="0">
              <a:solidFill>
                <a:schemeClr val="tx1"/>
              </a:solidFill>
            </a:endParaRPr>
          </a:p>
          <a:p>
            <a:pPr algn="just"/>
            <a:endParaRPr lang="en-US" sz="1200" noProof="0" dirty="0">
              <a:solidFill>
                <a:schemeClr val="tx1"/>
              </a:solidFill>
            </a:endParaRPr>
          </a:p>
          <a:p>
            <a:pPr algn="just"/>
            <a:endParaRPr lang="en-US" sz="1200" noProof="0" dirty="0">
              <a:solidFill>
                <a:schemeClr val="tx1"/>
              </a:solidFill>
            </a:endParaRPr>
          </a:p>
          <a:p>
            <a:pPr algn="just"/>
            <a:endParaRPr lang="en-US" sz="1200" noProof="0" dirty="0">
              <a:solidFill>
                <a:schemeClr val="tx1"/>
              </a:solidFill>
            </a:endParaRPr>
          </a:p>
          <a:p>
            <a:pPr algn="just"/>
            <a:endParaRPr lang="en-US" sz="1200" noProof="0" dirty="0">
              <a:solidFill>
                <a:schemeClr val="tx1"/>
              </a:solidFill>
            </a:endParaRPr>
          </a:p>
          <a:p>
            <a:pPr algn="just"/>
            <a:endParaRPr lang="en-US" sz="1200" noProof="0" dirty="0">
              <a:solidFill>
                <a:schemeClr val="tx1"/>
              </a:solidFill>
            </a:endParaRPr>
          </a:p>
          <a:p>
            <a:pPr algn="just"/>
            <a:endParaRPr lang="en-US" sz="1200" noProof="0" dirty="0">
              <a:solidFill>
                <a:schemeClr val="tx1"/>
              </a:solidFill>
            </a:endParaRPr>
          </a:p>
        </p:txBody>
      </p:sp>
      <p:sp>
        <p:nvSpPr>
          <p:cNvPr id="8" name="Rechteck 7"/>
          <p:cNvSpPr/>
          <p:nvPr/>
        </p:nvSpPr>
        <p:spPr>
          <a:xfrm>
            <a:off x="6156176" y="1491630"/>
            <a:ext cx="2736304" cy="352839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hteck 8"/>
          <p:cNvSpPr/>
          <p:nvPr/>
        </p:nvSpPr>
        <p:spPr>
          <a:xfrm>
            <a:off x="3995936" y="1563638"/>
            <a:ext cx="1152128"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Conceptual</a:t>
            </a:r>
          </a:p>
          <a:p>
            <a:pPr algn="ctr"/>
            <a:r>
              <a:rPr lang="en-US" sz="1200" noProof="0" dirty="0">
                <a:solidFill>
                  <a:schemeClr val="tx1"/>
                </a:solidFill>
              </a:rPr>
              <a:t>Model</a:t>
            </a:r>
          </a:p>
        </p:txBody>
      </p:sp>
      <p:sp>
        <p:nvSpPr>
          <p:cNvPr id="10" name="Rechteck 9"/>
          <p:cNvSpPr/>
          <p:nvPr/>
        </p:nvSpPr>
        <p:spPr>
          <a:xfrm>
            <a:off x="3275856" y="2427734"/>
            <a:ext cx="1224136"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Mathematical Model</a:t>
            </a:r>
          </a:p>
        </p:txBody>
      </p:sp>
      <p:sp>
        <p:nvSpPr>
          <p:cNvPr id="11" name="Rechteck 10"/>
          <p:cNvSpPr/>
          <p:nvPr/>
        </p:nvSpPr>
        <p:spPr>
          <a:xfrm>
            <a:off x="4644008" y="2427734"/>
            <a:ext cx="1224136"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Computerized Model</a:t>
            </a:r>
          </a:p>
        </p:txBody>
      </p:sp>
      <p:cxnSp>
        <p:nvCxnSpPr>
          <p:cNvPr id="13" name="Gewinkelte Verbindung 12"/>
          <p:cNvCxnSpPr>
            <a:stCxn id="10" idx="0"/>
            <a:endCxn id="17" idx="2"/>
          </p:cNvCxnSpPr>
          <p:nvPr/>
        </p:nvCxnSpPr>
        <p:spPr>
          <a:xfrm rot="5400000" flipH="1" flipV="1">
            <a:off x="3995936" y="1959682"/>
            <a:ext cx="360040" cy="576064"/>
          </a:xfrm>
          <a:prstGeom prst="bentConnector3">
            <a:avLst>
              <a:gd name="adj1" fmla="val 50000"/>
            </a:avLst>
          </a:prstGeom>
          <a:solidFill>
            <a:schemeClr val="tx2">
              <a:lumMod val="20000"/>
              <a:lumOff val="80000"/>
            </a:schemeClr>
          </a:solidFill>
          <a:ln>
            <a:solidFill>
              <a:srgbClr val="C00000"/>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5" name="Gewinkelte Verbindung 14"/>
          <p:cNvCxnSpPr>
            <a:stCxn id="16" idx="2"/>
            <a:endCxn id="11" idx="0"/>
          </p:cNvCxnSpPr>
          <p:nvPr/>
        </p:nvCxnSpPr>
        <p:spPr>
          <a:xfrm rot="16200000" flipH="1">
            <a:off x="4788024" y="1959682"/>
            <a:ext cx="360040" cy="576064"/>
          </a:xfrm>
          <a:prstGeom prst="bentConnector3">
            <a:avLst>
              <a:gd name="adj1" fmla="val 50000"/>
            </a:avLst>
          </a:prstGeom>
          <a:solidFill>
            <a:schemeClr val="tx2">
              <a:lumMod val="20000"/>
              <a:lumOff val="80000"/>
            </a:schemeClr>
          </a:solidFill>
          <a:ln>
            <a:solidFill>
              <a:srgbClr val="C00000"/>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16" name="Rechteck 15"/>
          <p:cNvSpPr/>
          <p:nvPr/>
        </p:nvSpPr>
        <p:spPr>
          <a:xfrm>
            <a:off x="4572000" y="1923678"/>
            <a:ext cx="216024" cy="144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echteck 16"/>
          <p:cNvSpPr/>
          <p:nvPr/>
        </p:nvSpPr>
        <p:spPr>
          <a:xfrm>
            <a:off x="4355976" y="1923678"/>
            <a:ext cx="216024" cy="1440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Rechteck 19"/>
          <p:cNvSpPr/>
          <p:nvPr/>
        </p:nvSpPr>
        <p:spPr>
          <a:xfrm>
            <a:off x="899592" y="1563638"/>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Reality</a:t>
            </a:r>
          </a:p>
        </p:txBody>
      </p:sp>
      <p:sp>
        <p:nvSpPr>
          <p:cNvPr id="21" name="Rechteck 20"/>
          <p:cNvSpPr/>
          <p:nvPr/>
        </p:nvSpPr>
        <p:spPr>
          <a:xfrm>
            <a:off x="899592" y="2427734"/>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Preliminary Conceptual Model</a:t>
            </a:r>
          </a:p>
        </p:txBody>
      </p:sp>
      <p:cxnSp>
        <p:nvCxnSpPr>
          <p:cNvPr id="23" name="Gerade Verbindung mit Pfeil 22"/>
          <p:cNvCxnSpPr>
            <a:stCxn id="20" idx="2"/>
            <a:endCxn id="21" idx="0"/>
          </p:cNvCxnSpPr>
          <p:nvPr/>
        </p:nvCxnSpPr>
        <p:spPr>
          <a:xfrm>
            <a:off x="1619672" y="2067694"/>
            <a:ext cx="0" cy="360040"/>
          </a:xfrm>
          <a:prstGeom prst="straightConnector1">
            <a:avLst/>
          </a:prstGeom>
          <a:solidFill>
            <a:schemeClr val="tx2">
              <a:lumMod val="20000"/>
              <a:lumOff val="80000"/>
            </a:schemeClr>
          </a:solidFill>
          <a:ln>
            <a:solidFill>
              <a:srgbClr val="C00000"/>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24" name="Textfeld 23"/>
          <p:cNvSpPr txBox="1"/>
          <p:nvPr/>
        </p:nvSpPr>
        <p:spPr>
          <a:xfrm>
            <a:off x="3203848" y="3291830"/>
            <a:ext cx="2736304" cy="1200329"/>
          </a:xfrm>
          <a:prstGeom prst="rect">
            <a:avLst/>
          </a:prstGeom>
          <a:noFill/>
        </p:spPr>
        <p:txBody>
          <a:bodyPr wrap="square" rtlCol="0">
            <a:spAutoFit/>
          </a:bodyPr>
          <a:lstStyle/>
          <a:p>
            <a:pPr algn="ctr"/>
            <a:r>
              <a:rPr lang="en-US" sz="1200" noProof="0" dirty="0"/>
              <a:t>The process of determining that a model implementation (either in terms of a mathematical or a computerized formulation) accurately represents the conceptual description of the model and the so-far known solution to the model.</a:t>
            </a:r>
          </a:p>
        </p:txBody>
      </p:sp>
      <p:sp>
        <p:nvSpPr>
          <p:cNvPr id="25" name="Textfeld 24"/>
          <p:cNvSpPr txBox="1"/>
          <p:nvPr/>
        </p:nvSpPr>
        <p:spPr>
          <a:xfrm>
            <a:off x="251520" y="3291830"/>
            <a:ext cx="2736304" cy="1015663"/>
          </a:xfrm>
          <a:prstGeom prst="rect">
            <a:avLst/>
          </a:prstGeom>
          <a:noFill/>
        </p:spPr>
        <p:txBody>
          <a:bodyPr wrap="square" rtlCol="0">
            <a:spAutoFit/>
          </a:bodyPr>
          <a:lstStyle/>
          <a:p>
            <a:pPr algn="ctr"/>
            <a:r>
              <a:rPr lang="en-US" sz="1200" noProof="0" dirty="0"/>
              <a:t>The process of determining the degree to which a conceptual model is an accurate representation of the real world from the perspective of the intended uses of the model.</a:t>
            </a:r>
          </a:p>
        </p:txBody>
      </p:sp>
      <p:sp>
        <p:nvSpPr>
          <p:cNvPr id="26" name="Textfeld 25"/>
          <p:cNvSpPr txBox="1"/>
          <p:nvPr/>
        </p:nvSpPr>
        <p:spPr>
          <a:xfrm>
            <a:off x="6156176" y="3291830"/>
            <a:ext cx="2736304" cy="1646605"/>
          </a:xfrm>
          <a:prstGeom prst="rect">
            <a:avLst/>
          </a:prstGeom>
          <a:noFill/>
        </p:spPr>
        <p:txBody>
          <a:bodyPr wrap="square" rtlCol="0">
            <a:spAutoFit/>
          </a:bodyPr>
          <a:lstStyle/>
          <a:p>
            <a:pPr algn="ctr">
              <a:spcAft>
                <a:spcPts val="600"/>
              </a:spcAft>
            </a:pPr>
            <a:r>
              <a:rPr lang="en-US" sz="1200" noProof="0" dirty="0"/>
              <a:t>The process of determining the degree to which a model is an accurate representation of the real world from the perspective of the intended uses of the model.</a:t>
            </a:r>
          </a:p>
          <a:p>
            <a:pPr algn="ctr">
              <a:spcAft>
                <a:spcPts val="600"/>
              </a:spcAft>
            </a:pPr>
            <a:r>
              <a:rPr lang="en-US" sz="1200" noProof="0" dirty="0"/>
              <a:t>Compared to qualification, at this stage of the modeling process, qualitative and quantitative measures can be applied.</a:t>
            </a:r>
          </a:p>
        </p:txBody>
      </p:sp>
      <p:sp>
        <p:nvSpPr>
          <p:cNvPr id="27" name="Rechteck 26"/>
          <p:cNvSpPr/>
          <p:nvPr/>
        </p:nvSpPr>
        <p:spPr>
          <a:xfrm>
            <a:off x="6804248" y="1563638"/>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Reality</a:t>
            </a:r>
          </a:p>
        </p:txBody>
      </p:sp>
      <p:sp>
        <p:nvSpPr>
          <p:cNvPr id="28" name="Rechteck 27"/>
          <p:cNvSpPr/>
          <p:nvPr/>
        </p:nvSpPr>
        <p:spPr>
          <a:xfrm>
            <a:off x="6804248" y="2427734"/>
            <a:ext cx="1440160" cy="504056"/>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Model Results</a:t>
            </a:r>
          </a:p>
        </p:txBody>
      </p:sp>
      <p:cxnSp>
        <p:nvCxnSpPr>
          <p:cNvPr id="29" name="Gerade Verbindung mit Pfeil 28"/>
          <p:cNvCxnSpPr>
            <a:stCxn id="27" idx="2"/>
            <a:endCxn id="28" idx="0"/>
          </p:cNvCxnSpPr>
          <p:nvPr/>
        </p:nvCxnSpPr>
        <p:spPr>
          <a:xfrm>
            <a:off x="7524328" y="2067694"/>
            <a:ext cx="0" cy="360040"/>
          </a:xfrm>
          <a:prstGeom prst="straightConnector1">
            <a:avLst/>
          </a:prstGeom>
          <a:solidFill>
            <a:schemeClr val="tx2">
              <a:lumMod val="20000"/>
              <a:lumOff val="80000"/>
            </a:schemeClr>
          </a:solidFill>
          <a:ln>
            <a:solidFill>
              <a:srgbClr val="C00000"/>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94138-1540-6BED-2497-7D82A4D31098}"/>
            </a:ext>
          </a:extLst>
        </p:cNvPr>
        <p:cNvGrpSpPr/>
        <p:nvPr/>
      </p:nvGrpSpPr>
      <p:grpSpPr>
        <a:xfrm>
          <a:off x="0" y="0"/>
          <a:ext cx="0" cy="0"/>
          <a:chOff x="0" y="0"/>
          <a:chExt cx="0" cy="0"/>
        </a:xfrm>
      </p:grpSpPr>
      <p:sp>
        <p:nvSpPr>
          <p:cNvPr id="2" name="Abgerundetes Rechteck 1">
            <a:extLst>
              <a:ext uri="{FF2B5EF4-FFF2-40B4-BE49-F238E27FC236}">
                <a16:creationId xmlns:a16="http://schemas.microsoft.com/office/drawing/2014/main" id="{811D2C19-0BCF-B8A7-1628-B709FCEC8084}"/>
              </a:ext>
            </a:extLst>
          </p:cNvPr>
          <p:cNvSpPr/>
          <p:nvPr/>
        </p:nvSpPr>
        <p:spPr>
          <a:xfrm>
            <a:off x="971600" y="2118600"/>
            <a:ext cx="7200800" cy="360040"/>
          </a:xfrm>
          <a:prstGeom prst="round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Textfeld 2">
            <a:extLst>
              <a:ext uri="{FF2B5EF4-FFF2-40B4-BE49-F238E27FC236}">
                <a16:creationId xmlns:a16="http://schemas.microsoft.com/office/drawing/2014/main" id="{46E2208D-9F59-E9AC-FADA-844F20F78242}"/>
              </a:ext>
            </a:extLst>
          </p:cNvPr>
          <p:cNvSpPr txBox="1"/>
          <p:nvPr/>
        </p:nvSpPr>
        <p:spPr>
          <a:xfrm>
            <a:off x="971600" y="1131590"/>
            <a:ext cx="4620047" cy="2739211"/>
          </a:xfrm>
          <a:prstGeom prst="rect">
            <a:avLst/>
          </a:prstGeom>
          <a:noFill/>
        </p:spPr>
        <p:txBody>
          <a:bodyPr wrap="none" rtlCol="0">
            <a:spAutoFit/>
          </a:bodyPr>
          <a:lstStyle/>
          <a:p>
            <a:r>
              <a:rPr lang="en-US" b="1" noProof="0" dirty="0"/>
              <a:t>Topics</a:t>
            </a:r>
          </a:p>
          <a:p>
            <a:endParaRPr lang="en-US" sz="1000" noProof="0" dirty="0"/>
          </a:p>
          <a:p>
            <a:pPr lvl="1"/>
            <a:r>
              <a:rPr lang="en-US" noProof="0" dirty="0"/>
              <a:t>Deep-Dive Modeling</a:t>
            </a:r>
          </a:p>
          <a:p>
            <a:pPr lvl="1"/>
            <a:endParaRPr lang="en-US" noProof="0" dirty="0"/>
          </a:p>
          <a:p>
            <a:pPr lvl="1"/>
            <a:r>
              <a:rPr lang="en-US" b="1" noProof="0" dirty="0"/>
              <a:t>Diffusion of Ideas or Diseases</a:t>
            </a:r>
          </a:p>
          <a:p>
            <a:pPr lvl="1"/>
            <a:endParaRPr lang="en-US" noProof="0" dirty="0"/>
          </a:p>
          <a:p>
            <a:pPr lvl="1"/>
            <a:r>
              <a:rPr lang="en-US" noProof="0" dirty="0"/>
              <a:t>Mathematical Descriptions</a:t>
            </a:r>
          </a:p>
          <a:p>
            <a:pPr lvl="1"/>
            <a:endParaRPr lang="en-US" noProof="0" dirty="0"/>
          </a:p>
          <a:p>
            <a:pPr lvl="1"/>
            <a:r>
              <a:rPr lang="en-US" noProof="0" dirty="0"/>
              <a:t>On the Use of AI in Academia and Industry</a:t>
            </a:r>
          </a:p>
          <a:p>
            <a:pPr lvl="1"/>
            <a:endParaRPr lang="en-US" noProof="0" dirty="0"/>
          </a:p>
        </p:txBody>
      </p:sp>
    </p:spTree>
    <p:extLst>
      <p:ext uri="{BB962C8B-B14F-4D97-AF65-F5344CB8AC3E}">
        <p14:creationId xmlns:p14="http://schemas.microsoft.com/office/powerpoint/2010/main" val="29815440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llipse 9">
            <a:extLst>
              <a:ext uri="{FF2B5EF4-FFF2-40B4-BE49-F238E27FC236}">
                <a16:creationId xmlns:a16="http://schemas.microsoft.com/office/drawing/2014/main" id="{5985873B-9F50-BB7D-FDAF-0CCDCF0007D0}"/>
              </a:ext>
            </a:extLst>
          </p:cNvPr>
          <p:cNvSpPr/>
          <p:nvPr/>
        </p:nvSpPr>
        <p:spPr>
          <a:xfrm>
            <a:off x="4861700" y="1563638"/>
            <a:ext cx="3816424" cy="1872208"/>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Ellipse 10">
            <a:extLst>
              <a:ext uri="{FF2B5EF4-FFF2-40B4-BE49-F238E27FC236}">
                <a16:creationId xmlns:a16="http://schemas.microsoft.com/office/drawing/2014/main" id="{6803586C-F3E3-A5A8-EC32-C3D5DDC4C4B6}"/>
              </a:ext>
            </a:extLst>
          </p:cNvPr>
          <p:cNvSpPr/>
          <p:nvPr/>
        </p:nvSpPr>
        <p:spPr>
          <a:xfrm>
            <a:off x="5841676" y="4299942"/>
            <a:ext cx="1838476" cy="691437"/>
          </a:xfrm>
          <a:prstGeom prst="ellipse">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2AD3A9C8-88A9-18D6-7694-F769423123A9}"/>
              </a:ext>
            </a:extLst>
          </p:cNvPr>
          <p:cNvSpPr>
            <a:spLocks noGrp="1"/>
          </p:cNvSpPr>
          <p:nvPr>
            <p:ph type="title"/>
          </p:nvPr>
        </p:nvSpPr>
        <p:spPr/>
        <p:txBody>
          <a:bodyPr/>
          <a:lstStyle/>
          <a:p>
            <a:r>
              <a:rPr lang="en-US" noProof="0" dirty="0"/>
              <a:t>The adoption of new ideas or the infection with a disease can be considered of resulting from an interaction between two individuals</a:t>
            </a:r>
          </a:p>
        </p:txBody>
      </p:sp>
      <p:sp>
        <p:nvSpPr>
          <p:cNvPr id="3" name="Rechteck 2">
            <a:extLst>
              <a:ext uri="{FF2B5EF4-FFF2-40B4-BE49-F238E27FC236}">
                <a16:creationId xmlns:a16="http://schemas.microsoft.com/office/drawing/2014/main" id="{7FC8A6FA-89A7-6692-BAE0-ACD3B2C5AF52}"/>
              </a:ext>
            </a:extLst>
          </p:cNvPr>
          <p:cNvSpPr/>
          <p:nvPr/>
        </p:nvSpPr>
        <p:spPr>
          <a:xfrm>
            <a:off x="251520" y="1131590"/>
            <a:ext cx="4248472" cy="288032"/>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Transmission of Ideas</a:t>
            </a:r>
          </a:p>
        </p:txBody>
      </p:sp>
      <p:sp>
        <p:nvSpPr>
          <p:cNvPr id="4" name="Rechteck 3">
            <a:extLst>
              <a:ext uri="{FF2B5EF4-FFF2-40B4-BE49-F238E27FC236}">
                <a16:creationId xmlns:a16="http://schemas.microsoft.com/office/drawing/2014/main" id="{F71D552D-6392-8CE5-267F-197160D255A0}"/>
              </a:ext>
            </a:extLst>
          </p:cNvPr>
          <p:cNvSpPr/>
          <p:nvPr/>
        </p:nvSpPr>
        <p:spPr>
          <a:xfrm>
            <a:off x="251520" y="1491630"/>
            <a:ext cx="4248472" cy="352839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hteck 4">
            <a:extLst>
              <a:ext uri="{FF2B5EF4-FFF2-40B4-BE49-F238E27FC236}">
                <a16:creationId xmlns:a16="http://schemas.microsoft.com/office/drawing/2014/main" id="{34477C11-3BB4-D94F-91C7-E536032F17EB}"/>
              </a:ext>
            </a:extLst>
          </p:cNvPr>
          <p:cNvSpPr/>
          <p:nvPr/>
        </p:nvSpPr>
        <p:spPr>
          <a:xfrm>
            <a:off x="4641736" y="1146112"/>
            <a:ext cx="4248472" cy="288032"/>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Transmission of Diseases</a:t>
            </a:r>
          </a:p>
        </p:txBody>
      </p:sp>
      <p:sp>
        <p:nvSpPr>
          <p:cNvPr id="6" name="Rechteck 5">
            <a:extLst>
              <a:ext uri="{FF2B5EF4-FFF2-40B4-BE49-F238E27FC236}">
                <a16:creationId xmlns:a16="http://schemas.microsoft.com/office/drawing/2014/main" id="{A03F5E2F-42CE-C6C2-047B-317039DF6342}"/>
              </a:ext>
            </a:extLst>
          </p:cNvPr>
          <p:cNvSpPr/>
          <p:nvPr/>
        </p:nvSpPr>
        <p:spPr>
          <a:xfrm>
            <a:off x="4641736" y="1506152"/>
            <a:ext cx="4248472" cy="3528392"/>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9" name="Grafik 8">
            <a:extLst>
              <a:ext uri="{FF2B5EF4-FFF2-40B4-BE49-F238E27FC236}">
                <a16:creationId xmlns:a16="http://schemas.microsoft.com/office/drawing/2014/main" id="{3B43E8BA-2CE0-5897-FE69-BD7829332FC4}"/>
              </a:ext>
            </a:extLst>
          </p:cNvPr>
          <p:cNvPicPr>
            <a:picLocks noChangeAspect="1"/>
          </p:cNvPicPr>
          <p:nvPr/>
        </p:nvPicPr>
        <p:blipFill>
          <a:blip r:embed="rId2"/>
          <a:srcRect l="15385" r="16239"/>
          <a:stretch>
            <a:fillRect/>
          </a:stretch>
        </p:blipFill>
        <p:spPr>
          <a:xfrm>
            <a:off x="4894296" y="1456459"/>
            <a:ext cx="3602672" cy="3512605"/>
          </a:xfrm>
          <a:prstGeom prst="rect">
            <a:avLst/>
          </a:prstGeom>
        </p:spPr>
      </p:pic>
      <p:sp>
        <p:nvSpPr>
          <p:cNvPr id="12" name="Textfeld 11">
            <a:extLst>
              <a:ext uri="{FF2B5EF4-FFF2-40B4-BE49-F238E27FC236}">
                <a16:creationId xmlns:a16="http://schemas.microsoft.com/office/drawing/2014/main" id="{5326AD13-A94E-4BCB-372D-BAE9F0C13198}"/>
              </a:ext>
            </a:extLst>
          </p:cNvPr>
          <p:cNvSpPr txBox="1"/>
          <p:nvPr/>
        </p:nvSpPr>
        <p:spPr>
          <a:xfrm>
            <a:off x="5625088" y="852642"/>
            <a:ext cx="3518912" cy="215444"/>
          </a:xfrm>
          <a:prstGeom prst="rect">
            <a:avLst/>
          </a:prstGeom>
          <a:noFill/>
        </p:spPr>
        <p:txBody>
          <a:bodyPr wrap="none" rtlCol="0">
            <a:spAutoFit/>
          </a:bodyPr>
          <a:lstStyle/>
          <a:p>
            <a:pPr algn="r"/>
            <a:r>
              <a:rPr lang="de-DE" sz="800" dirty="0"/>
              <a:t>https://www.treehugger.com/cultured-animals-that-share-knowledge-4869231</a:t>
            </a:r>
          </a:p>
        </p:txBody>
      </p:sp>
      <p:pic>
        <p:nvPicPr>
          <p:cNvPr id="15" name="Grafik 14">
            <a:extLst>
              <a:ext uri="{FF2B5EF4-FFF2-40B4-BE49-F238E27FC236}">
                <a16:creationId xmlns:a16="http://schemas.microsoft.com/office/drawing/2014/main" id="{A1291218-8A3A-BE08-1824-377DC02ED06F}"/>
              </a:ext>
            </a:extLst>
          </p:cNvPr>
          <p:cNvPicPr>
            <a:picLocks noChangeAspect="1"/>
          </p:cNvPicPr>
          <p:nvPr/>
        </p:nvPicPr>
        <p:blipFill>
          <a:blip r:embed="rId3"/>
          <a:stretch>
            <a:fillRect/>
          </a:stretch>
        </p:blipFill>
        <p:spPr>
          <a:xfrm>
            <a:off x="323528" y="1550812"/>
            <a:ext cx="2075618" cy="1380978"/>
          </a:xfrm>
          <a:prstGeom prst="rect">
            <a:avLst/>
          </a:prstGeom>
        </p:spPr>
      </p:pic>
      <p:pic>
        <p:nvPicPr>
          <p:cNvPr id="17" name="Grafik 16">
            <a:extLst>
              <a:ext uri="{FF2B5EF4-FFF2-40B4-BE49-F238E27FC236}">
                <a16:creationId xmlns:a16="http://schemas.microsoft.com/office/drawing/2014/main" id="{D57D7AC5-E10A-1586-6174-A3F4F2DC7122}"/>
              </a:ext>
            </a:extLst>
          </p:cNvPr>
          <p:cNvPicPr>
            <a:picLocks noChangeAspect="1"/>
          </p:cNvPicPr>
          <p:nvPr/>
        </p:nvPicPr>
        <p:blipFill>
          <a:blip r:embed="rId4"/>
          <a:srcRect/>
          <a:stretch>
            <a:fillRect/>
          </a:stretch>
        </p:blipFill>
        <p:spPr>
          <a:xfrm>
            <a:off x="2354034" y="3060213"/>
            <a:ext cx="2075618" cy="1383745"/>
          </a:xfrm>
          <a:prstGeom prst="rect">
            <a:avLst/>
          </a:prstGeom>
        </p:spPr>
      </p:pic>
      <p:pic>
        <p:nvPicPr>
          <p:cNvPr id="1032" name="Picture 8" descr="Endangered Hawaiian crows join elite list of animals known to use tools |  Animal behaviour | The Guardian">
            <a:extLst>
              <a:ext uri="{FF2B5EF4-FFF2-40B4-BE49-F238E27FC236}">
                <a16:creationId xmlns:a16="http://schemas.microsoft.com/office/drawing/2014/main" id="{601BF5EB-AC47-6372-FD19-2BE369B4AB5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528" y="3059414"/>
            <a:ext cx="1855574" cy="1384544"/>
          </a:xfrm>
          <a:prstGeom prst="rect">
            <a:avLst/>
          </a:prstGeom>
          <a:noFill/>
          <a:extLst>
            <a:ext uri="{909E8E84-426E-40DD-AFC4-6F175D3DCCD1}">
              <a14:hiddenFill xmlns:a14="http://schemas.microsoft.com/office/drawing/2010/main">
                <a:solidFill>
                  <a:srgbClr val="FFFFFF"/>
                </a:solidFill>
              </a14:hiddenFill>
            </a:ext>
          </a:extLst>
        </p:spPr>
      </p:pic>
      <p:pic>
        <p:nvPicPr>
          <p:cNvPr id="19" name="Grafik 18">
            <a:extLst>
              <a:ext uri="{FF2B5EF4-FFF2-40B4-BE49-F238E27FC236}">
                <a16:creationId xmlns:a16="http://schemas.microsoft.com/office/drawing/2014/main" id="{EAE84C02-71C2-61B2-42F8-0F5F814D3E8F}"/>
              </a:ext>
            </a:extLst>
          </p:cNvPr>
          <p:cNvPicPr>
            <a:picLocks noChangeAspect="1"/>
          </p:cNvPicPr>
          <p:nvPr/>
        </p:nvPicPr>
        <p:blipFill>
          <a:blip r:embed="rId6"/>
          <a:stretch>
            <a:fillRect/>
          </a:stretch>
        </p:blipFill>
        <p:spPr>
          <a:xfrm>
            <a:off x="2587713" y="1550811"/>
            <a:ext cx="1841939" cy="1380979"/>
          </a:xfrm>
          <a:prstGeom prst="rect">
            <a:avLst/>
          </a:prstGeom>
        </p:spPr>
      </p:pic>
    </p:spTree>
    <p:extLst>
      <p:ext uri="{BB962C8B-B14F-4D97-AF65-F5344CB8AC3E}">
        <p14:creationId xmlns:p14="http://schemas.microsoft.com/office/powerpoint/2010/main" val="3057019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Example:</a:t>
            </a:r>
            <a:br>
              <a:rPr lang="en-US" noProof="0" dirty="0"/>
            </a:br>
            <a:r>
              <a:rPr lang="en-US" noProof="0" dirty="0"/>
              <a:t>Agent based modelling the diffusion of ideas or diseases</a:t>
            </a:r>
          </a:p>
        </p:txBody>
      </p:sp>
      <p:grpSp>
        <p:nvGrpSpPr>
          <p:cNvPr id="3" name="Gruppieren 7"/>
          <p:cNvGrpSpPr/>
          <p:nvPr>
            <p:custDataLst>
              <p:tags r:id="rId1"/>
            </p:custDataLst>
          </p:nvPr>
        </p:nvGrpSpPr>
        <p:grpSpPr>
          <a:xfrm>
            <a:off x="8172400" y="1185722"/>
            <a:ext cx="504056" cy="720725"/>
            <a:chOff x="2267744" y="2708275"/>
            <a:chExt cx="504056" cy="720725"/>
          </a:xfrm>
          <a:solidFill>
            <a:schemeClr val="tx2"/>
          </a:solidFill>
        </p:grpSpPr>
        <p:sp>
          <p:nvSpPr>
            <p:cNvPr id="21" name="Gleichschenkliges Dreieck 20"/>
            <p:cNvSpPr/>
            <p:nvPr/>
          </p:nvSpPr>
          <p:spPr>
            <a:xfrm>
              <a:off x="2267744" y="2924944"/>
              <a:ext cx="504056" cy="504056"/>
            </a:xfrm>
            <a:prstGeom prst="triangl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Ellipse 21"/>
            <p:cNvSpPr/>
            <p:nvPr/>
          </p:nvSpPr>
          <p:spPr>
            <a:xfrm>
              <a:off x="2303426" y="2708275"/>
              <a:ext cx="432693" cy="432693"/>
            </a:xfrm>
            <a:prstGeom prst="ellips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4" name="Gruppieren 6"/>
          <p:cNvGrpSpPr/>
          <p:nvPr>
            <p:custDataLst>
              <p:tags r:id="rId2"/>
            </p:custDataLst>
          </p:nvPr>
        </p:nvGrpSpPr>
        <p:grpSpPr>
          <a:xfrm>
            <a:off x="4860032" y="1185722"/>
            <a:ext cx="504056" cy="720725"/>
            <a:chOff x="2267744" y="2708275"/>
            <a:chExt cx="504056" cy="720725"/>
          </a:xfrm>
          <a:solidFill>
            <a:schemeClr val="tx2"/>
          </a:solidFill>
        </p:grpSpPr>
        <p:sp>
          <p:nvSpPr>
            <p:cNvPr id="24" name="Gleichschenkliges Dreieck 4"/>
            <p:cNvSpPr/>
            <p:nvPr/>
          </p:nvSpPr>
          <p:spPr>
            <a:xfrm>
              <a:off x="2267744" y="2924944"/>
              <a:ext cx="504056" cy="504056"/>
            </a:xfrm>
            <a:prstGeom prst="triangl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Ellipse 24"/>
            <p:cNvSpPr/>
            <p:nvPr/>
          </p:nvSpPr>
          <p:spPr>
            <a:xfrm>
              <a:off x="2303426" y="2708275"/>
              <a:ext cx="432693" cy="432693"/>
            </a:xfrm>
            <a:prstGeom prst="ellips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5" name="Gruppieren 10"/>
          <p:cNvGrpSpPr/>
          <p:nvPr>
            <p:custDataLst>
              <p:tags r:id="rId3"/>
            </p:custDataLst>
          </p:nvPr>
        </p:nvGrpSpPr>
        <p:grpSpPr>
          <a:xfrm>
            <a:off x="6516216" y="2986394"/>
            <a:ext cx="504056" cy="720725"/>
            <a:chOff x="2267744" y="2708275"/>
            <a:chExt cx="504056" cy="720725"/>
          </a:xfrm>
          <a:solidFill>
            <a:schemeClr val="tx2"/>
          </a:solidFill>
        </p:grpSpPr>
        <p:sp>
          <p:nvSpPr>
            <p:cNvPr id="27" name="Gleichschenkliges Dreieck 26"/>
            <p:cNvSpPr/>
            <p:nvPr/>
          </p:nvSpPr>
          <p:spPr>
            <a:xfrm>
              <a:off x="2267744" y="2924944"/>
              <a:ext cx="504056" cy="504056"/>
            </a:xfrm>
            <a:prstGeom prst="triangl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8" name="Ellipse 27"/>
            <p:cNvSpPr/>
            <p:nvPr/>
          </p:nvSpPr>
          <p:spPr>
            <a:xfrm>
              <a:off x="2303426" y="2708275"/>
              <a:ext cx="432693" cy="432693"/>
            </a:xfrm>
            <a:prstGeom prst="ellips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uppieren 60"/>
          <p:cNvGrpSpPr/>
          <p:nvPr/>
        </p:nvGrpSpPr>
        <p:grpSpPr>
          <a:xfrm>
            <a:off x="6516216" y="1546085"/>
            <a:ext cx="504056" cy="720725"/>
            <a:chOff x="5380285" y="3212157"/>
            <a:chExt cx="504056" cy="720725"/>
          </a:xfrm>
        </p:grpSpPr>
        <p:sp>
          <p:nvSpPr>
            <p:cNvPr id="30" name="Gleichschenkliges Dreieck 29"/>
            <p:cNvSpPr/>
            <p:nvPr/>
          </p:nvSpPr>
          <p:spPr>
            <a:xfrm>
              <a:off x="5380285" y="3428826"/>
              <a:ext cx="504056" cy="504056"/>
            </a:xfrm>
            <a:prstGeom prst="triangl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Ellipse 30"/>
            <p:cNvSpPr/>
            <p:nvPr/>
          </p:nvSpPr>
          <p:spPr>
            <a:xfrm>
              <a:off x="5415967" y="3212157"/>
              <a:ext cx="432693" cy="432693"/>
            </a:xfrm>
            <a:prstGeom prst="ellips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7" name="Gruppieren 62"/>
          <p:cNvGrpSpPr/>
          <p:nvPr/>
        </p:nvGrpSpPr>
        <p:grpSpPr>
          <a:xfrm>
            <a:off x="5580112" y="2265669"/>
            <a:ext cx="504056" cy="720725"/>
            <a:chOff x="5004048" y="3860229"/>
            <a:chExt cx="504056" cy="720725"/>
          </a:xfrm>
        </p:grpSpPr>
        <p:sp>
          <p:nvSpPr>
            <p:cNvPr id="33" name="Gleichschenkliges Dreieck 32"/>
            <p:cNvSpPr/>
            <p:nvPr/>
          </p:nvSpPr>
          <p:spPr>
            <a:xfrm>
              <a:off x="5004048" y="4076898"/>
              <a:ext cx="504056" cy="504056"/>
            </a:xfrm>
            <a:prstGeom prst="triangl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Ellipse 33"/>
            <p:cNvSpPr/>
            <p:nvPr/>
          </p:nvSpPr>
          <p:spPr>
            <a:xfrm>
              <a:off x="5039730" y="3860229"/>
              <a:ext cx="432693" cy="432693"/>
            </a:xfrm>
            <a:prstGeom prst="ellips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8" name="Gruppieren 63"/>
          <p:cNvGrpSpPr/>
          <p:nvPr/>
        </p:nvGrpSpPr>
        <p:grpSpPr>
          <a:xfrm>
            <a:off x="7452320" y="2265669"/>
            <a:ext cx="504056" cy="720725"/>
            <a:chOff x="5651351" y="3788221"/>
            <a:chExt cx="504056" cy="720725"/>
          </a:xfrm>
        </p:grpSpPr>
        <p:sp>
          <p:nvSpPr>
            <p:cNvPr id="36" name="Gleichschenkliges Dreieck 35"/>
            <p:cNvSpPr/>
            <p:nvPr/>
          </p:nvSpPr>
          <p:spPr>
            <a:xfrm>
              <a:off x="5651351" y="4004890"/>
              <a:ext cx="504056" cy="504056"/>
            </a:xfrm>
            <a:prstGeom prst="triangl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7" name="Ellipse 36"/>
            <p:cNvSpPr/>
            <p:nvPr/>
          </p:nvSpPr>
          <p:spPr>
            <a:xfrm>
              <a:off x="5687033" y="3788221"/>
              <a:ext cx="432693" cy="432693"/>
            </a:xfrm>
            <a:prstGeom prst="ellips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8" name="Abgerundetes Rechteck 37"/>
          <p:cNvSpPr/>
          <p:nvPr/>
        </p:nvSpPr>
        <p:spPr>
          <a:xfrm>
            <a:off x="251520" y="1096826"/>
            <a:ext cx="2031985" cy="785818"/>
          </a:xfrm>
          <a:prstGeom prst="roundRect">
            <a:avLst/>
          </a:prstGeom>
          <a:solidFill>
            <a:schemeClr val="accent3">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Susceptible</a:t>
            </a:r>
          </a:p>
        </p:txBody>
      </p:sp>
      <p:sp>
        <p:nvSpPr>
          <p:cNvPr id="40" name="Textfeld 39"/>
          <p:cNvSpPr txBox="1"/>
          <p:nvPr/>
        </p:nvSpPr>
        <p:spPr>
          <a:xfrm>
            <a:off x="750646" y="4224401"/>
            <a:ext cx="752835" cy="307777"/>
          </a:xfrm>
          <a:prstGeom prst="rect">
            <a:avLst/>
          </a:prstGeom>
          <a:noFill/>
        </p:spPr>
        <p:txBody>
          <a:bodyPr wrap="none" rtlCol="0">
            <a:spAutoFit/>
          </a:bodyPr>
          <a:lstStyle/>
          <a:p>
            <a:r>
              <a:rPr lang="en-US" sz="1400" noProof="0" dirty="0"/>
              <a:t>“infect”</a:t>
            </a:r>
          </a:p>
        </p:txBody>
      </p:sp>
      <p:cxnSp>
        <p:nvCxnSpPr>
          <p:cNvPr id="39" name="Gerade Verbindung mit Pfeil 3"/>
          <p:cNvCxnSpPr/>
          <p:nvPr/>
        </p:nvCxnSpPr>
        <p:spPr>
          <a:xfrm>
            <a:off x="251520" y="4387801"/>
            <a:ext cx="356249" cy="15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Gerade Verbindung mit Pfeil 41"/>
          <p:cNvCxnSpPr/>
          <p:nvPr/>
        </p:nvCxnSpPr>
        <p:spPr>
          <a:xfrm>
            <a:off x="251520" y="4834562"/>
            <a:ext cx="356249" cy="1588"/>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43" name="Textfeld 42"/>
          <p:cNvSpPr txBox="1"/>
          <p:nvPr/>
        </p:nvSpPr>
        <p:spPr>
          <a:xfrm>
            <a:off x="750646" y="4677986"/>
            <a:ext cx="769891" cy="307777"/>
          </a:xfrm>
          <a:prstGeom prst="rect">
            <a:avLst/>
          </a:prstGeom>
          <a:noFill/>
        </p:spPr>
        <p:txBody>
          <a:bodyPr wrap="none" rtlCol="0">
            <a:spAutoFit/>
          </a:bodyPr>
          <a:lstStyle/>
          <a:p>
            <a:r>
              <a:rPr lang="en-US" sz="1400" noProof="0" dirty="0"/>
              <a:t>become</a:t>
            </a:r>
          </a:p>
        </p:txBody>
      </p:sp>
      <p:sp>
        <p:nvSpPr>
          <p:cNvPr id="44" name="Abgerundetes Rechteck 43"/>
          <p:cNvSpPr/>
          <p:nvPr/>
        </p:nvSpPr>
        <p:spPr>
          <a:xfrm>
            <a:off x="251520" y="2831958"/>
            <a:ext cx="2031985" cy="785818"/>
          </a:xfrm>
          <a:prstGeom prst="roundRect">
            <a:avLst/>
          </a:prstGeom>
          <a:solidFill>
            <a:schemeClr val="accent3">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Adopters/ Infected</a:t>
            </a:r>
          </a:p>
        </p:txBody>
      </p:sp>
      <p:cxnSp>
        <p:nvCxnSpPr>
          <p:cNvPr id="45" name="Gerade Verbindung mit Pfeil 44"/>
          <p:cNvCxnSpPr/>
          <p:nvPr/>
        </p:nvCxnSpPr>
        <p:spPr>
          <a:xfrm rot="5400000" flipH="1" flipV="1">
            <a:off x="716655" y="2357301"/>
            <a:ext cx="949314" cy="15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6" name="Gerade Verbindung mit Pfeil 45"/>
          <p:cNvCxnSpPr/>
          <p:nvPr/>
        </p:nvCxnSpPr>
        <p:spPr>
          <a:xfrm rot="5400000" flipH="1" flipV="1">
            <a:off x="869055" y="2357301"/>
            <a:ext cx="949314" cy="1588"/>
          </a:xfrm>
          <a:prstGeom prst="straightConnector1">
            <a:avLst/>
          </a:prstGeom>
          <a:ln w="28575">
            <a:solidFill>
              <a:srgbClr val="00B05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9" name="Gruppieren 42"/>
          <p:cNvGrpSpPr/>
          <p:nvPr/>
        </p:nvGrpSpPr>
        <p:grpSpPr>
          <a:xfrm>
            <a:off x="2643428" y="969823"/>
            <a:ext cx="816915" cy="909672"/>
            <a:chOff x="592522" y="1484312"/>
            <a:chExt cx="1099158" cy="1223963"/>
          </a:xfrm>
          <a:solidFill>
            <a:schemeClr val="tx2"/>
          </a:solidFill>
        </p:grpSpPr>
        <p:grpSp>
          <p:nvGrpSpPr>
            <p:cNvPr id="10" name="Gruppieren 7"/>
            <p:cNvGrpSpPr/>
            <p:nvPr>
              <p:custDataLst>
                <p:tags r:id="rId4"/>
              </p:custDataLst>
            </p:nvPr>
          </p:nvGrpSpPr>
          <p:grpSpPr>
            <a:xfrm>
              <a:off x="844550" y="1484312"/>
              <a:ext cx="504056" cy="720725"/>
              <a:chOff x="2267744" y="2708275"/>
              <a:chExt cx="504056" cy="720725"/>
            </a:xfrm>
            <a:grpFill/>
          </p:grpSpPr>
          <p:sp>
            <p:nvSpPr>
              <p:cNvPr id="55" name="Gleichschenkliges Dreieck 54"/>
              <p:cNvSpPr/>
              <p:nvPr/>
            </p:nvSpPr>
            <p:spPr>
              <a:xfrm>
                <a:off x="2267744" y="2924944"/>
                <a:ext cx="504056" cy="504056"/>
              </a:xfrm>
              <a:prstGeom prst="triangl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6" name="Ellipse 55"/>
              <p:cNvSpPr/>
              <p:nvPr/>
            </p:nvSpPr>
            <p:spPr>
              <a:xfrm>
                <a:off x="2303426" y="2708275"/>
                <a:ext cx="432693" cy="432693"/>
              </a:xfrm>
              <a:prstGeom prst="ellips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1" name="Gruppieren 6"/>
            <p:cNvGrpSpPr/>
            <p:nvPr>
              <p:custDataLst>
                <p:tags r:id="rId5"/>
              </p:custDataLst>
            </p:nvPr>
          </p:nvGrpSpPr>
          <p:grpSpPr>
            <a:xfrm>
              <a:off x="592522" y="1844675"/>
              <a:ext cx="504056" cy="720725"/>
              <a:chOff x="2267744" y="2708275"/>
              <a:chExt cx="504056" cy="720725"/>
            </a:xfrm>
            <a:grpFill/>
          </p:grpSpPr>
          <p:sp>
            <p:nvSpPr>
              <p:cNvPr id="53" name="Gleichschenkliges Dreieck 4"/>
              <p:cNvSpPr/>
              <p:nvPr/>
            </p:nvSpPr>
            <p:spPr>
              <a:xfrm>
                <a:off x="2267744" y="2924944"/>
                <a:ext cx="504056" cy="504056"/>
              </a:xfrm>
              <a:prstGeom prst="triangl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4" name="Ellipse 53"/>
              <p:cNvSpPr/>
              <p:nvPr/>
            </p:nvSpPr>
            <p:spPr>
              <a:xfrm>
                <a:off x="2303426" y="2708275"/>
                <a:ext cx="432693" cy="432693"/>
              </a:xfrm>
              <a:prstGeom prst="ellips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2" name="Gruppieren 10"/>
            <p:cNvGrpSpPr/>
            <p:nvPr>
              <p:custDataLst>
                <p:tags r:id="rId6"/>
              </p:custDataLst>
            </p:nvPr>
          </p:nvGrpSpPr>
          <p:grpSpPr>
            <a:xfrm>
              <a:off x="1187624" y="1987550"/>
              <a:ext cx="504056" cy="720725"/>
              <a:chOff x="2267744" y="2708275"/>
              <a:chExt cx="504056" cy="720725"/>
            </a:xfrm>
            <a:grpFill/>
          </p:grpSpPr>
          <p:sp>
            <p:nvSpPr>
              <p:cNvPr id="51" name="Gleichschenkliges Dreieck 50"/>
              <p:cNvSpPr/>
              <p:nvPr/>
            </p:nvSpPr>
            <p:spPr>
              <a:xfrm>
                <a:off x="2267744" y="2924944"/>
                <a:ext cx="504056" cy="504056"/>
              </a:xfrm>
              <a:prstGeom prst="triangl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2" name="Ellipse 51"/>
              <p:cNvSpPr/>
              <p:nvPr/>
            </p:nvSpPr>
            <p:spPr>
              <a:xfrm>
                <a:off x="2303426" y="2708275"/>
                <a:ext cx="432693" cy="432693"/>
              </a:xfrm>
              <a:prstGeom prst="ellips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grpSp>
        <p:nvGrpSpPr>
          <p:cNvPr id="13" name="Gruppieren 52"/>
          <p:cNvGrpSpPr/>
          <p:nvPr/>
        </p:nvGrpSpPr>
        <p:grpSpPr>
          <a:xfrm>
            <a:off x="2624029" y="2698362"/>
            <a:ext cx="855712" cy="1017316"/>
            <a:chOff x="468313" y="3429000"/>
            <a:chExt cx="1151359" cy="1368797"/>
          </a:xfrm>
        </p:grpSpPr>
        <p:sp>
          <p:nvSpPr>
            <p:cNvPr id="58" name="Gleichschenkliges Dreieck 57"/>
            <p:cNvSpPr/>
            <p:nvPr/>
          </p:nvSpPr>
          <p:spPr>
            <a:xfrm>
              <a:off x="844550" y="3645669"/>
              <a:ext cx="504056" cy="504056"/>
            </a:xfrm>
            <a:prstGeom prst="triangl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9" name="Ellipse 58"/>
            <p:cNvSpPr/>
            <p:nvPr/>
          </p:nvSpPr>
          <p:spPr>
            <a:xfrm>
              <a:off x="880232" y="3429000"/>
              <a:ext cx="432693" cy="432693"/>
            </a:xfrm>
            <a:prstGeom prst="ellips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0" name="Gleichschenkliges Dreieck 59"/>
            <p:cNvSpPr/>
            <p:nvPr/>
          </p:nvSpPr>
          <p:spPr>
            <a:xfrm>
              <a:off x="468313" y="4293741"/>
              <a:ext cx="504056" cy="504056"/>
            </a:xfrm>
            <a:prstGeom prst="triangl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1" name="Ellipse 60"/>
            <p:cNvSpPr/>
            <p:nvPr/>
          </p:nvSpPr>
          <p:spPr>
            <a:xfrm>
              <a:off x="503995" y="4077072"/>
              <a:ext cx="432693" cy="432693"/>
            </a:xfrm>
            <a:prstGeom prst="ellips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2" name="Gleichschenkliges Dreieck 61"/>
            <p:cNvSpPr/>
            <p:nvPr/>
          </p:nvSpPr>
          <p:spPr>
            <a:xfrm>
              <a:off x="1115616" y="4221733"/>
              <a:ext cx="504056" cy="504056"/>
            </a:xfrm>
            <a:prstGeom prst="triangl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3" name="Ellipse 62"/>
            <p:cNvSpPr/>
            <p:nvPr/>
          </p:nvSpPr>
          <p:spPr>
            <a:xfrm>
              <a:off x="1151298" y="4005064"/>
              <a:ext cx="432693" cy="432693"/>
            </a:xfrm>
            <a:prstGeom prst="ellips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64" name="Textfeld 63"/>
          <p:cNvSpPr txBox="1"/>
          <p:nvPr/>
        </p:nvSpPr>
        <p:spPr>
          <a:xfrm>
            <a:off x="2411760" y="4204414"/>
            <a:ext cx="6480720" cy="815608"/>
          </a:xfrm>
          <a:prstGeom prst="rect">
            <a:avLst/>
          </a:prstGeom>
          <a:solidFill>
            <a:schemeClr val="accent3">
              <a:lumMod val="40000"/>
              <a:lumOff val="60000"/>
            </a:schemeClr>
          </a:solidFill>
        </p:spPr>
        <p:txBody>
          <a:bodyPr wrap="square" rtlCol="0">
            <a:spAutoFit/>
          </a:bodyPr>
          <a:lstStyle/>
          <a:p>
            <a:pPr>
              <a:spcAft>
                <a:spcPts val="600"/>
              </a:spcAft>
              <a:tabLst>
                <a:tab pos="533400" algn="l"/>
              </a:tabLst>
            </a:pPr>
            <a:r>
              <a:rPr lang="en-US" sz="1400" noProof="0" dirty="0"/>
              <a:t>We assume that these two population classes are entirely mixed.</a:t>
            </a:r>
          </a:p>
          <a:p>
            <a:pPr>
              <a:spcAft>
                <a:spcPts val="600"/>
              </a:spcAft>
              <a:tabLst>
                <a:tab pos="533400" algn="l"/>
              </a:tabLst>
            </a:pPr>
            <a:r>
              <a:rPr lang="en-US" sz="1400" noProof="0" dirty="0"/>
              <a:t>Moreover, we assume that there is no time delay between getting in contact with the new factor and becoming an adaptor/ infected.</a:t>
            </a:r>
          </a:p>
        </p:txBody>
      </p:sp>
      <p:sp>
        <p:nvSpPr>
          <p:cNvPr id="65" name="Rechteck 64"/>
          <p:cNvSpPr/>
          <p:nvPr/>
        </p:nvSpPr>
        <p:spPr>
          <a:xfrm>
            <a:off x="4572000" y="969823"/>
            <a:ext cx="4320480" cy="2880667"/>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Example:</a:t>
            </a:r>
            <a:br>
              <a:rPr lang="en-US" noProof="0" dirty="0"/>
            </a:br>
            <a:r>
              <a:rPr lang="en-US" noProof="0" dirty="0"/>
              <a:t>Agent based modelling the diffusion of ideas or diseases</a:t>
            </a:r>
          </a:p>
        </p:txBody>
      </p:sp>
      <p:sp>
        <p:nvSpPr>
          <p:cNvPr id="38" name="Abgerundetes Rechteck 37"/>
          <p:cNvSpPr/>
          <p:nvPr/>
        </p:nvSpPr>
        <p:spPr>
          <a:xfrm>
            <a:off x="251520" y="1096826"/>
            <a:ext cx="2031985" cy="785818"/>
          </a:xfrm>
          <a:prstGeom prst="roundRect">
            <a:avLst/>
          </a:prstGeom>
          <a:solidFill>
            <a:schemeClr val="accent3">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Susceptible</a:t>
            </a:r>
          </a:p>
        </p:txBody>
      </p:sp>
      <p:sp>
        <p:nvSpPr>
          <p:cNvPr id="40" name="Textfeld 39"/>
          <p:cNvSpPr txBox="1"/>
          <p:nvPr/>
        </p:nvSpPr>
        <p:spPr>
          <a:xfrm>
            <a:off x="750646" y="4224401"/>
            <a:ext cx="752835" cy="307777"/>
          </a:xfrm>
          <a:prstGeom prst="rect">
            <a:avLst/>
          </a:prstGeom>
          <a:noFill/>
        </p:spPr>
        <p:txBody>
          <a:bodyPr wrap="none" rtlCol="0">
            <a:spAutoFit/>
          </a:bodyPr>
          <a:lstStyle/>
          <a:p>
            <a:r>
              <a:rPr lang="en-US" sz="1400" noProof="0" dirty="0"/>
              <a:t>“infect”</a:t>
            </a:r>
          </a:p>
        </p:txBody>
      </p:sp>
      <p:cxnSp>
        <p:nvCxnSpPr>
          <p:cNvPr id="39" name="Gerade Verbindung mit Pfeil 3"/>
          <p:cNvCxnSpPr/>
          <p:nvPr/>
        </p:nvCxnSpPr>
        <p:spPr>
          <a:xfrm>
            <a:off x="251520" y="4387801"/>
            <a:ext cx="356249" cy="15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Gerade Verbindung mit Pfeil 41"/>
          <p:cNvCxnSpPr/>
          <p:nvPr/>
        </p:nvCxnSpPr>
        <p:spPr>
          <a:xfrm>
            <a:off x="251520" y="4834562"/>
            <a:ext cx="356249" cy="1588"/>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43" name="Textfeld 42"/>
          <p:cNvSpPr txBox="1"/>
          <p:nvPr/>
        </p:nvSpPr>
        <p:spPr>
          <a:xfrm>
            <a:off x="750646" y="4677986"/>
            <a:ext cx="769891" cy="307777"/>
          </a:xfrm>
          <a:prstGeom prst="rect">
            <a:avLst/>
          </a:prstGeom>
          <a:noFill/>
        </p:spPr>
        <p:txBody>
          <a:bodyPr wrap="none" rtlCol="0">
            <a:spAutoFit/>
          </a:bodyPr>
          <a:lstStyle/>
          <a:p>
            <a:r>
              <a:rPr lang="en-US" sz="1400" noProof="0" dirty="0"/>
              <a:t>become</a:t>
            </a:r>
          </a:p>
        </p:txBody>
      </p:sp>
      <p:sp>
        <p:nvSpPr>
          <p:cNvPr id="44" name="Abgerundetes Rechteck 43"/>
          <p:cNvSpPr/>
          <p:nvPr/>
        </p:nvSpPr>
        <p:spPr>
          <a:xfrm>
            <a:off x="251520" y="2831958"/>
            <a:ext cx="2031985" cy="785818"/>
          </a:xfrm>
          <a:prstGeom prst="roundRect">
            <a:avLst/>
          </a:prstGeom>
          <a:solidFill>
            <a:schemeClr val="accent3">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Adopters/ Infected</a:t>
            </a:r>
          </a:p>
        </p:txBody>
      </p:sp>
      <p:cxnSp>
        <p:nvCxnSpPr>
          <p:cNvPr id="45" name="Gerade Verbindung mit Pfeil 44"/>
          <p:cNvCxnSpPr/>
          <p:nvPr/>
        </p:nvCxnSpPr>
        <p:spPr>
          <a:xfrm rot="5400000" flipH="1" flipV="1">
            <a:off x="716655" y="2357301"/>
            <a:ext cx="949314" cy="15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6" name="Gerade Verbindung mit Pfeil 45"/>
          <p:cNvCxnSpPr/>
          <p:nvPr/>
        </p:nvCxnSpPr>
        <p:spPr>
          <a:xfrm rot="5400000" flipH="1" flipV="1">
            <a:off x="869055" y="2357301"/>
            <a:ext cx="949314" cy="1588"/>
          </a:xfrm>
          <a:prstGeom prst="straightConnector1">
            <a:avLst/>
          </a:prstGeom>
          <a:ln w="28575">
            <a:solidFill>
              <a:srgbClr val="00B05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 name="Gruppieren 42"/>
          <p:cNvGrpSpPr/>
          <p:nvPr/>
        </p:nvGrpSpPr>
        <p:grpSpPr>
          <a:xfrm>
            <a:off x="2643428" y="969823"/>
            <a:ext cx="816915" cy="909672"/>
            <a:chOff x="592522" y="1484312"/>
            <a:chExt cx="1099158" cy="1223963"/>
          </a:xfrm>
          <a:solidFill>
            <a:schemeClr val="tx2"/>
          </a:solidFill>
        </p:grpSpPr>
        <p:grpSp>
          <p:nvGrpSpPr>
            <p:cNvPr id="4" name="Gruppieren 7"/>
            <p:cNvGrpSpPr/>
            <p:nvPr>
              <p:custDataLst>
                <p:tags r:id="rId4"/>
              </p:custDataLst>
            </p:nvPr>
          </p:nvGrpSpPr>
          <p:grpSpPr>
            <a:xfrm>
              <a:off x="844550" y="1484312"/>
              <a:ext cx="504056" cy="720725"/>
              <a:chOff x="2267744" y="2708275"/>
              <a:chExt cx="504056" cy="720725"/>
            </a:xfrm>
            <a:grpFill/>
          </p:grpSpPr>
          <p:sp>
            <p:nvSpPr>
              <p:cNvPr id="55" name="Gleichschenkliges Dreieck 54"/>
              <p:cNvSpPr/>
              <p:nvPr/>
            </p:nvSpPr>
            <p:spPr>
              <a:xfrm>
                <a:off x="2267744" y="2924944"/>
                <a:ext cx="504056" cy="504056"/>
              </a:xfrm>
              <a:prstGeom prst="triangl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6" name="Ellipse 55"/>
              <p:cNvSpPr/>
              <p:nvPr/>
            </p:nvSpPr>
            <p:spPr>
              <a:xfrm>
                <a:off x="2303426" y="2708275"/>
                <a:ext cx="432693" cy="432693"/>
              </a:xfrm>
              <a:prstGeom prst="ellips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5" name="Gruppieren 6"/>
            <p:cNvGrpSpPr/>
            <p:nvPr>
              <p:custDataLst>
                <p:tags r:id="rId5"/>
              </p:custDataLst>
            </p:nvPr>
          </p:nvGrpSpPr>
          <p:grpSpPr>
            <a:xfrm>
              <a:off x="592522" y="1844675"/>
              <a:ext cx="504056" cy="720725"/>
              <a:chOff x="2267744" y="2708275"/>
              <a:chExt cx="504056" cy="720725"/>
            </a:xfrm>
            <a:grpFill/>
          </p:grpSpPr>
          <p:sp>
            <p:nvSpPr>
              <p:cNvPr id="53" name="Gleichschenkliges Dreieck 4"/>
              <p:cNvSpPr/>
              <p:nvPr/>
            </p:nvSpPr>
            <p:spPr>
              <a:xfrm>
                <a:off x="2267744" y="2924944"/>
                <a:ext cx="504056" cy="504056"/>
              </a:xfrm>
              <a:prstGeom prst="triangl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4" name="Ellipse 53"/>
              <p:cNvSpPr/>
              <p:nvPr/>
            </p:nvSpPr>
            <p:spPr>
              <a:xfrm>
                <a:off x="2303426" y="2708275"/>
                <a:ext cx="432693" cy="432693"/>
              </a:xfrm>
              <a:prstGeom prst="ellips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uppieren 10"/>
            <p:cNvGrpSpPr/>
            <p:nvPr>
              <p:custDataLst>
                <p:tags r:id="rId6"/>
              </p:custDataLst>
            </p:nvPr>
          </p:nvGrpSpPr>
          <p:grpSpPr>
            <a:xfrm>
              <a:off x="1187624" y="1987550"/>
              <a:ext cx="504056" cy="720725"/>
              <a:chOff x="2267744" y="2708275"/>
              <a:chExt cx="504056" cy="720725"/>
            </a:xfrm>
            <a:grpFill/>
          </p:grpSpPr>
          <p:sp>
            <p:nvSpPr>
              <p:cNvPr id="51" name="Gleichschenkliges Dreieck 50"/>
              <p:cNvSpPr/>
              <p:nvPr/>
            </p:nvSpPr>
            <p:spPr>
              <a:xfrm>
                <a:off x="2267744" y="2924944"/>
                <a:ext cx="504056" cy="504056"/>
              </a:xfrm>
              <a:prstGeom prst="triangl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2" name="Ellipse 51"/>
              <p:cNvSpPr/>
              <p:nvPr/>
            </p:nvSpPr>
            <p:spPr>
              <a:xfrm>
                <a:off x="2303426" y="2708275"/>
                <a:ext cx="432693" cy="432693"/>
              </a:xfrm>
              <a:prstGeom prst="ellips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grpSp>
        <p:nvGrpSpPr>
          <p:cNvPr id="7" name="Gruppieren 52"/>
          <p:cNvGrpSpPr/>
          <p:nvPr/>
        </p:nvGrpSpPr>
        <p:grpSpPr>
          <a:xfrm>
            <a:off x="2624029" y="2698362"/>
            <a:ext cx="855712" cy="1017316"/>
            <a:chOff x="468313" y="3429000"/>
            <a:chExt cx="1151359" cy="1368797"/>
          </a:xfrm>
        </p:grpSpPr>
        <p:sp>
          <p:nvSpPr>
            <p:cNvPr id="58" name="Gleichschenkliges Dreieck 57"/>
            <p:cNvSpPr/>
            <p:nvPr/>
          </p:nvSpPr>
          <p:spPr>
            <a:xfrm>
              <a:off x="844550" y="3645669"/>
              <a:ext cx="504056" cy="504056"/>
            </a:xfrm>
            <a:prstGeom prst="triangl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9" name="Ellipse 58"/>
            <p:cNvSpPr/>
            <p:nvPr/>
          </p:nvSpPr>
          <p:spPr>
            <a:xfrm>
              <a:off x="880232" y="3429000"/>
              <a:ext cx="432693" cy="432693"/>
            </a:xfrm>
            <a:prstGeom prst="ellips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0" name="Gleichschenkliges Dreieck 59"/>
            <p:cNvSpPr/>
            <p:nvPr/>
          </p:nvSpPr>
          <p:spPr>
            <a:xfrm>
              <a:off x="468313" y="4293741"/>
              <a:ext cx="504056" cy="504056"/>
            </a:xfrm>
            <a:prstGeom prst="triangl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1" name="Ellipse 60"/>
            <p:cNvSpPr/>
            <p:nvPr/>
          </p:nvSpPr>
          <p:spPr>
            <a:xfrm>
              <a:off x="503995" y="4077072"/>
              <a:ext cx="432693" cy="432693"/>
            </a:xfrm>
            <a:prstGeom prst="ellips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2" name="Gleichschenkliges Dreieck 61"/>
            <p:cNvSpPr/>
            <p:nvPr/>
          </p:nvSpPr>
          <p:spPr>
            <a:xfrm>
              <a:off x="1115616" y="4221733"/>
              <a:ext cx="504056" cy="504056"/>
            </a:xfrm>
            <a:prstGeom prst="triangl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3" name="Ellipse 62"/>
            <p:cNvSpPr/>
            <p:nvPr/>
          </p:nvSpPr>
          <p:spPr>
            <a:xfrm>
              <a:off x="1151298" y="4005064"/>
              <a:ext cx="432693" cy="432693"/>
            </a:xfrm>
            <a:prstGeom prst="ellips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64" name="Textfeld 63"/>
          <p:cNvSpPr txBox="1"/>
          <p:nvPr/>
        </p:nvSpPr>
        <p:spPr>
          <a:xfrm>
            <a:off x="2411760" y="4204414"/>
            <a:ext cx="6480720" cy="815608"/>
          </a:xfrm>
          <a:prstGeom prst="rect">
            <a:avLst/>
          </a:prstGeom>
          <a:solidFill>
            <a:schemeClr val="accent3">
              <a:lumMod val="40000"/>
              <a:lumOff val="60000"/>
            </a:schemeClr>
          </a:solidFill>
        </p:spPr>
        <p:txBody>
          <a:bodyPr wrap="square" rtlCol="0">
            <a:spAutoFit/>
          </a:bodyPr>
          <a:lstStyle/>
          <a:p>
            <a:pPr>
              <a:spcAft>
                <a:spcPts val="600"/>
              </a:spcAft>
              <a:tabLst>
                <a:tab pos="533400" algn="l"/>
              </a:tabLst>
            </a:pPr>
            <a:r>
              <a:rPr lang="en-US" sz="1400" noProof="0" dirty="0"/>
              <a:t>We assume that these two population classes are entirely mixed.</a:t>
            </a:r>
          </a:p>
          <a:p>
            <a:pPr>
              <a:spcAft>
                <a:spcPts val="600"/>
              </a:spcAft>
              <a:tabLst>
                <a:tab pos="533400" algn="l"/>
              </a:tabLst>
            </a:pPr>
            <a:r>
              <a:rPr lang="en-US" sz="1400" noProof="0" dirty="0"/>
              <a:t>Moreover, we assume that there is no time delay between getting in contact with the new factor and becoming an adaptor/ infected.</a:t>
            </a:r>
          </a:p>
        </p:txBody>
      </p:sp>
      <p:sp>
        <p:nvSpPr>
          <p:cNvPr id="65" name="Rechteck 64"/>
          <p:cNvSpPr/>
          <p:nvPr/>
        </p:nvSpPr>
        <p:spPr>
          <a:xfrm>
            <a:off x="4572000" y="969823"/>
            <a:ext cx="4320480" cy="2880667"/>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8" name="Gruppieren 7"/>
          <p:cNvGrpSpPr/>
          <p:nvPr>
            <p:custDataLst>
              <p:tags r:id="rId1"/>
            </p:custDataLst>
          </p:nvPr>
        </p:nvGrpSpPr>
        <p:grpSpPr>
          <a:xfrm>
            <a:off x="8172400" y="1185722"/>
            <a:ext cx="504056" cy="720725"/>
            <a:chOff x="2267744" y="2708275"/>
            <a:chExt cx="504056" cy="720725"/>
          </a:xfrm>
          <a:solidFill>
            <a:schemeClr val="tx2"/>
          </a:solidFill>
        </p:grpSpPr>
        <p:sp>
          <p:nvSpPr>
            <p:cNvPr id="49" name="Gleichschenkliges Dreieck 48"/>
            <p:cNvSpPr/>
            <p:nvPr/>
          </p:nvSpPr>
          <p:spPr>
            <a:xfrm>
              <a:off x="2267744" y="2924944"/>
              <a:ext cx="504056" cy="504056"/>
            </a:xfrm>
            <a:prstGeom prst="triangl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0" name="Ellipse 49"/>
            <p:cNvSpPr/>
            <p:nvPr/>
          </p:nvSpPr>
          <p:spPr>
            <a:xfrm>
              <a:off x="2303426" y="2708275"/>
              <a:ext cx="432693" cy="432693"/>
            </a:xfrm>
            <a:prstGeom prst="ellips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9" name="Gruppieren 6"/>
          <p:cNvGrpSpPr/>
          <p:nvPr>
            <p:custDataLst>
              <p:tags r:id="rId2"/>
            </p:custDataLst>
          </p:nvPr>
        </p:nvGrpSpPr>
        <p:grpSpPr>
          <a:xfrm>
            <a:off x="4860032" y="1185722"/>
            <a:ext cx="504056" cy="720725"/>
            <a:chOff x="2267744" y="2708275"/>
            <a:chExt cx="504056" cy="720725"/>
          </a:xfrm>
          <a:solidFill>
            <a:schemeClr val="tx2"/>
          </a:solidFill>
        </p:grpSpPr>
        <p:sp>
          <p:nvSpPr>
            <p:cNvPr id="66" name="Gleichschenkliges Dreieck 4"/>
            <p:cNvSpPr/>
            <p:nvPr/>
          </p:nvSpPr>
          <p:spPr>
            <a:xfrm>
              <a:off x="2267744" y="2924944"/>
              <a:ext cx="504056" cy="504056"/>
            </a:xfrm>
            <a:prstGeom prst="triangl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7" name="Ellipse 66"/>
            <p:cNvSpPr/>
            <p:nvPr/>
          </p:nvSpPr>
          <p:spPr>
            <a:xfrm>
              <a:off x="2303426" y="2708275"/>
              <a:ext cx="432693" cy="432693"/>
            </a:xfrm>
            <a:prstGeom prst="ellips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0" name="Gruppieren 10"/>
          <p:cNvGrpSpPr/>
          <p:nvPr>
            <p:custDataLst>
              <p:tags r:id="rId3"/>
            </p:custDataLst>
          </p:nvPr>
        </p:nvGrpSpPr>
        <p:grpSpPr>
          <a:xfrm>
            <a:off x="6516216" y="2986394"/>
            <a:ext cx="504056" cy="720725"/>
            <a:chOff x="2267744" y="2708275"/>
            <a:chExt cx="504056" cy="720725"/>
          </a:xfrm>
          <a:solidFill>
            <a:schemeClr val="tx2"/>
          </a:solidFill>
        </p:grpSpPr>
        <p:sp>
          <p:nvSpPr>
            <p:cNvPr id="69" name="Gleichschenkliges Dreieck 68"/>
            <p:cNvSpPr/>
            <p:nvPr/>
          </p:nvSpPr>
          <p:spPr>
            <a:xfrm>
              <a:off x="2267744" y="2924944"/>
              <a:ext cx="504056" cy="504056"/>
            </a:xfrm>
            <a:prstGeom prst="triangl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0" name="Ellipse 69"/>
            <p:cNvSpPr/>
            <p:nvPr/>
          </p:nvSpPr>
          <p:spPr>
            <a:xfrm>
              <a:off x="2303426" y="2708275"/>
              <a:ext cx="432693" cy="432693"/>
            </a:xfrm>
            <a:prstGeom prst="ellips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1" name="Gruppieren 60"/>
          <p:cNvGrpSpPr/>
          <p:nvPr/>
        </p:nvGrpSpPr>
        <p:grpSpPr>
          <a:xfrm>
            <a:off x="6516216" y="1546085"/>
            <a:ext cx="504056" cy="720725"/>
            <a:chOff x="5380285" y="3212157"/>
            <a:chExt cx="504056" cy="720725"/>
          </a:xfrm>
        </p:grpSpPr>
        <p:sp>
          <p:nvSpPr>
            <p:cNvPr id="72" name="Gleichschenkliges Dreieck 71"/>
            <p:cNvSpPr/>
            <p:nvPr/>
          </p:nvSpPr>
          <p:spPr>
            <a:xfrm>
              <a:off x="5380285" y="3428826"/>
              <a:ext cx="504056" cy="504056"/>
            </a:xfrm>
            <a:prstGeom prst="triangl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3" name="Ellipse 72"/>
            <p:cNvSpPr/>
            <p:nvPr/>
          </p:nvSpPr>
          <p:spPr>
            <a:xfrm>
              <a:off x="5415967" y="3212157"/>
              <a:ext cx="432693" cy="432693"/>
            </a:xfrm>
            <a:prstGeom prst="ellips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2" name="Gruppieren 62"/>
          <p:cNvGrpSpPr/>
          <p:nvPr/>
        </p:nvGrpSpPr>
        <p:grpSpPr>
          <a:xfrm>
            <a:off x="5364088" y="1474226"/>
            <a:ext cx="504056" cy="720725"/>
            <a:chOff x="5004048" y="3860229"/>
            <a:chExt cx="504056" cy="720725"/>
          </a:xfrm>
        </p:grpSpPr>
        <p:sp>
          <p:nvSpPr>
            <p:cNvPr id="75" name="Gleichschenkliges Dreieck 74"/>
            <p:cNvSpPr/>
            <p:nvPr/>
          </p:nvSpPr>
          <p:spPr>
            <a:xfrm>
              <a:off x="5004048" y="4076898"/>
              <a:ext cx="504056" cy="504056"/>
            </a:xfrm>
            <a:prstGeom prst="triangl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6" name="Ellipse 75"/>
            <p:cNvSpPr/>
            <p:nvPr/>
          </p:nvSpPr>
          <p:spPr>
            <a:xfrm>
              <a:off x="5039730" y="3860229"/>
              <a:ext cx="432693" cy="432693"/>
            </a:xfrm>
            <a:prstGeom prst="ellips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3" name="Gruppieren 63"/>
          <p:cNvGrpSpPr/>
          <p:nvPr/>
        </p:nvGrpSpPr>
        <p:grpSpPr>
          <a:xfrm>
            <a:off x="7452320" y="2265669"/>
            <a:ext cx="504056" cy="720725"/>
            <a:chOff x="5651351" y="3788221"/>
            <a:chExt cx="504056" cy="720725"/>
          </a:xfrm>
        </p:grpSpPr>
        <p:sp>
          <p:nvSpPr>
            <p:cNvPr id="78" name="Gleichschenkliges Dreieck 77"/>
            <p:cNvSpPr/>
            <p:nvPr/>
          </p:nvSpPr>
          <p:spPr>
            <a:xfrm>
              <a:off x="5651351" y="4004890"/>
              <a:ext cx="504056" cy="504056"/>
            </a:xfrm>
            <a:prstGeom prst="triangl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9" name="Ellipse 78"/>
            <p:cNvSpPr/>
            <p:nvPr/>
          </p:nvSpPr>
          <p:spPr>
            <a:xfrm>
              <a:off x="5687033" y="3788221"/>
              <a:ext cx="432693" cy="432693"/>
            </a:xfrm>
            <a:prstGeom prst="ellips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81" name="Ellipse 80"/>
          <p:cNvSpPr/>
          <p:nvPr/>
        </p:nvSpPr>
        <p:spPr>
          <a:xfrm>
            <a:off x="4572000" y="1042476"/>
            <a:ext cx="1584176" cy="143986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2" name="Textfeld 81"/>
          <p:cNvSpPr txBox="1"/>
          <p:nvPr/>
        </p:nvSpPr>
        <p:spPr>
          <a:xfrm>
            <a:off x="4572000" y="2567120"/>
            <a:ext cx="1728192" cy="523220"/>
          </a:xfrm>
          <a:prstGeom prst="rect">
            <a:avLst/>
          </a:prstGeom>
          <a:noFill/>
        </p:spPr>
        <p:txBody>
          <a:bodyPr wrap="square" rtlCol="0">
            <a:spAutoFit/>
          </a:bodyPr>
          <a:lstStyle/>
          <a:p>
            <a:r>
              <a:rPr lang="en-US" sz="1400" noProof="0" dirty="0"/>
              <a:t>encounters on a statistical basis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Example:</a:t>
            </a:r>
            <a:br>
              <a:rPr lang="en-US" noProof="0" dirty="0"/>
            </a:br>
            <a:r>
              <a:rPr lang="en-US" noProof="0" dirty="0"/>
              <a:t>Agent based modelling the diffusion of ideas or diseases</a:t>
            </a:r>
          </a:p>
        </p:txBody>
      </p:sp>
      <p:sp>
        <p:nvSpPr>
          <p:cNvPr id="38" name="Abgerundetes Rechteck 37"/>
          <p:cNvSpPr/>
          <p:nvPr/>
        </p:nvSpPr>
        <p:spPr>
          <a:xfrm>
            <a:off x="251520" y="1096826"/>
            <a:ext cx="2031985" cy="785818"/>
          </a:xfrm>
          <a:prstGeom prst="roundRect">
            <a:avLst/>
          </a:prstGeom>
          <a:solidFill>
            <a:schemeClr val="accent3">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Susceptible</a:t>
            </a:r>
          </a:p>
        </p:txBody>
      </p:sp>
      <p:sp>
        <p:nvSpPr>
          <p:cNvPr id="40" name="Textfeld 39"/>
          <p:cNvSpPr txBox="1"/>
          <p:nvPr/>
        </p:nvSpPr>
        <p:spPr>
          <a:xfrm>
            <a:off x="750646" y="4224401"/>
            <a:ext cx="752835" cy="307777"/>
          </a:xfrm>
          <a:prstGeom prst="rect">
            <a:avLst/>
          </a:prstGeom>
          <a:noFill/>
        </p:spPr>
        <p:txBody>
          <a:bodyPr wrap="none" rtlCol="0">
            <a:spAutoFit/>
          </a:bodyPr>
          <a:lstStyle/>
          <a:p>
            <a:r>
              <a:rPr lang="en-US" sz="1400" noProof="0" dirty="0"/>
              <a:t>“infect”</a:t>
            </a:r>
          </a:p>
        </p:txBody>
      </p:sp>
      <p:cxnSp>
        <p:nvCxnSpPr>
          <p:cNvPr id="39" name="Gerade Verbindung mit Pfeil 3"/>
          <p:cNvCxnSpPr/>
          <p:nvPr/>
        </p:nvCxnSpPr>
        <p:spPr>
          <a:xfrm>
            <a:off x="251520" y="4387801"/>
            <a:ext cx="356249" cy="15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Gerade Verbindung mit Pfeil 41"/>
          <p:cNvCxnSpPr/>
          <p:nvPr/>
        </p:nvCxnSpPr>
        <p:spPr>
          <a:xfrm>
            <a:off x="251520" y="4834562"/>
            <a:ext cx="356249" cy="1588"/>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43" name="Textfeld 42"/>
          <p:cNvSpPr txBox="1"/>
          <p:nvPr/>
        </p:nvSpPr>
        <p:spPr>
          <a:xfrm>
            <a:off x="750646" y="4677986"/>
            <a:ext cx="769891" cy="307777"/>
          </a:xfrm>
          <a:prstGeom prst="rect">
            <a:avLst/>
          </a:prstGeom>
          <a:noFill/>
        </p:spPr>
        <p:txBody>
          <a:bodyPr wrap="none" rtlCol="0">
            <a:spAutoFit/>
          </a:bodyPr>
          <a:lstStyle/>
          <a:p>
            <a:r>
              <a:rPr lang="en-US" sz="1400" noProof="0" dirty="0"/>
              <a:t>become</a:t>
            </a:r>
          </a:p>
        </p:txBody>
      </p:sp>
      <p:sp>
        <p:nvSpPr>
          <p:cNvPr id="44" name="Abgerundetes Rechteck 43"/>
          <p:cNvSpPr/>
          <p:nvPr/>
        </p:nvSpPr>
        <p:spPr>
          <a:xfrm>
            <a:off x="251520" y="2831958"/>
            <a:ext cx="2031985" cy="785818"/>
          </a:xfrm>
          <a:prstGeom prst="roundRect">
            <a:avLst/>
          </a:prstGeom>
          <a:solidFill>
            <a:schemeClr val="accent3">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Adopters/ Infected</a:t>
            </a:r>
          </a:p>
        </p:txBody>
      </p:sp>
      <p:cxnSp>
        <p:nvCxnSpPr>
          <p:cNvPr id="45" name="Gerade Verbindung mit Pfeil 44"/>
          <p:cNvCxnSpPr/>
          <p:nvPr/>
        </p:nvCxnSpPr>
        <p:spPr>
          <a:xfrm rot="5400000" flipH="1" flipV="1">
            <a:off x="716655" y="2357301"/>
            <a:ext cx="949314" cy="15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6" name="Gerade Verbindung mit Pfeil 45"/>
          <p:cNvCxnSpPr/>
          <p:nvPr/>
        </p:nvCxnSpPr>
        <p:spPr>
          <a:xfrm rot="5400000" flipH="1" flipV="1">
            <a:off x="869055" y="2357301"/>
            <a:ext cx="949314" cy="1588"/>
          </a:xfrm>
          <a:prstGeom prst="straightConnector1">
            <a:avLst/>
          </a:prstGeom>
          <a:ln w="28575">
            <a:solidFill>
              <a:srgbClr val="00B05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 name="Gruppieren 42"/>
          <p:cNvGrpSpPr/>
          <p:nvPr/>
        </p:nvGrpSpPr>
        <p:grpSpPr>
          <a:xfrm>
            <a:off x="2643428" y="969823"/>
            <a:ext cx="816915" cy="909672"/>
            <a:chOff x="592522" y="1484312"/>
            <a:chExt cx="1099158" cy="1223963"/>
          </a:xfrm>
          <a:solidFill>
            <a:schemeClr val="tx2"/>
          </a:solidFill>
        </p:grpSpPr>
        <p:grpSp>
          <p:nvGrpSpPr>
            <p:cNvPr id="4" name="Gruppieren 7"/>
            <p:cNvGrpSpPr/>
            <p:nvPr>
              <p:custDataLst>
                <p:tags r:id="rId4"/>
              </p:custDataLst>
            </p:nvPr>
          </p:nvGrpSpPr>
          <p:grpSpPr>
            <a:xfrm>
              <a:off x="844550" y="1484312"/>
              <a:ext cx="504056" cy="720725"/>
              <a:chOff x="2267744" y="2708275"/>
              <a:chExt cx="504056" cy="720725"/>
            </a:xfrm>
            <a:grpFill/>
          </p:grpSpPr>
          <p:sp>
            <p:nvSpPr>
              <p:cNvPr id="55" name="Gleichschenkliges Dreieck 54"/>
              <p:cNvSpPr/>
              <p:nvPr/>
            </p:nvSpPr>
            <p:spPr>
              <a:xfrm>
                <a:off x="2267744" y="2924944"/>
                <a:ext cx="504056" cy="504056"/>
              </a:xfrm>
              <a:prstGeom prst="triangl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6" name="Ellipse 55"/>
              <p:cNvSpPr/>
              <p:nvPr/>
            </p:nvSpPr>
            <p:spPr>
              <a:xfrm>
                <a:off x="2303426" y="2708275"/>
                <a:ext cx="432693" cy="432693"/>
              </a:xfrm>
              <a:prstGeom prst="ellips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5" name="Gruppieren 6"/>
            <p:cNvGrpSpPr/>
            <p:nvPr>
              <p:custDataLst>
                <p:tags r:id="rId5"/>
              </p:custDataLst>
            </p:nvPr>
          </p:nvGrpSpPr>
          <p:grpSpPr>
            <a:xfrm>
              <a:off x="592522" y="1844675"/>
              <a:ext cx="504056" cy="720725"/>
              <a:chOff x="2267744" y="2708275"/>
              <a:chExt cx="504056" cy="720725"/>
            </a:xfrm>
            <a:grpFill/>
          </p:grpSpPr>
          <p:sp>
            <p:nvSpPr>
              <p:cNvPr id="53" name="Gleichschenkliges Dreieck 4"/>
              <p:cNvSpPr/>
              <p:nvPr/>
            </p:nvSpPr>
            <p:spPr>
              <a:xfrm>
                <a:off x="2267744" y="2924944"/>
                <a:ext cx="504056" cy="504056"/>
              </a:xfrm>
              <a:prstGeom prst="triangl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4" name="Ellipse 53"/>
              <p:cNvSpPr/>
              <p:nvPr/>
            </p:nvSpPr>
            <p:spPr>
              <a:xfrm>
                <a:off x="2303426" y="2708275"/>
                <a:ext cx="432693" cy="432693"/>
              </a:xfrm>
              <a:prstGeom prst="ellips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uppieren 10"/>
            <p:cNvGrpSpPr/>
            <p:nvPr>
              <p:custDataLst>
                <p:tags r:id="rId6"/>
              </p:custDataLst>
            </p:nvPr>
          </p:nvGrpSpPr>
          <p:grpSpPr>
            <a:xfrm>
              <a:off x="1187624" y="1987550"/>
              <a:ext cx="504056" cy="720725"/>
              <a:chOff x="2267744" y="2708275"/>
              <a:chExt cx="504056" cy="720725"/>
            </a:xfrm>
            <a:grpFill/>
          </p:grpSpPr>
          <p:sp>
            <p:nvSpPr>
              <p:cNvPr id="51" name="Gleichschenkliges Dreieck 50"/>
              <p:cNvSpPr/>
              <p:nvPr/>
            </p:nvSpPr>
            <p:spPr>
              <a:xfrm>
                <a:off x="2267744" y="2924944"/>
                <a:ext cx="504056" cy="504056"/>
              </a:xfrm>
              <a:prstGeom prst="triangl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2" name="Ellipse 51"/>
              <p:cNvSpPr/>
              <p:nvPr/>
            </p:nvSpPr>
            <p:spPr>
              <a:xfrm>
                <a:off x="2303426" y="2708275"/>
                <a:ext cx="432693" cy="432693"/>
              </a:xfrm>
              <a:prstGeom prst="ellips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grpSp>
        <p:nvGrpSpPr>
          <p:cNvPr id="7" name="Gruppieren 52"/>
          <p:cNvGrpSpPr/>
          <p:nvPr/>
        </p:nvGrpSpPr>
        <p:grpSpPr>
          <a:xfrm>
            <a:off x="2624029" y="2698362"/>
            <a:ext cx="855712" cy="1017316"/>
            <a:chOff x="468313" y="3429000"/>
            <a:chExt cx="1151359" cy="1368797"/>
          </a:xfrm>
        </p:grpSpPr>
        <p:sp>
          <p:nvSpPr>
            <p:cNvPr id="58" name="Gleichschenkliges Dreieck 57"/>
            <p:cNvSpPr/>
            <p:nvPr/>
          </p:nvSpPr>
          <p:spPr>
            <a:xfrm>
              <a:off x="844550" y="3645669"/>
              <a:ext cx="504056" cy="504056"/>
            </a:xfrm>
            <a:prstGeom prst="triangl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9" name="Ellipse 58"/>
            <p:cNvSpPr/>
            <p:nvPr/>
          </p:nvSpPr>
          <p:spPr>
            <a:xfrm>
              <a:off x="880232" y="3429000"/>
              <a:ext cx="432693" cy="432693"/>
            </a:xfrm>
            <a:prstGeom prst="ellips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0" name="Gleichschenkliges Dreieck 59"/>
            <p:cNvSpPr/>
            <p:nvPr/>
          </p:nvSpPr>
          <p:spPr>
            <a:xfrm>
              <a:off x="468313" y="4293741"/>
              <a:ext cx="504056" cy="504056"/>
            </a:xfrm>
            <a:prstGeom prst="triangl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1" name="Ellipse 60"/>
            <p:cNvSpPr/>
            <p:nvPr/>
          </p:nvSpPr>
          <p:spPr>
            <a:xfrm>
              <a:off x="503995" y="4077072"/>
              <a:ext cx="432693" cy="432693"/>
            </a:xfrm>
            <a:prstGeom prst="ellips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2" name="Gleichschenkliges Dreieck 61"/>
            <p:cNvSpPr/>
            <p:nvPr/>
          </p:nvSpPr>
          <p:spPr>
            <a:xfrm>
              <a:off x="1115616" y="4221733"/>
              <a:ext cx="504056" cy="504056"/>
            </a:xfrm>
            <a:prstGeom prst="triangl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3" name="Ellipse 62"/>
            <p:cNvSpPr/>
            <p:nvPr/>
          </p:nvSpPr>
          <p:spPr>
            <a:xfrm>
              <a:off x="1151298" y="4005064"/>
              <a:ext cx="432693" cy="432693"/>
            </a:xfrm>
            <a:prstGeom prst="ellips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64" name="Textfeld 63"/>
          <p:cNvSpPr txBox="1"/>
          <p:nvPr/>
        </p:nvSpPr>
        <p:spPr>
          <a:xfrm>
            <a:off x="2411760" y="4204414"/>
            <a:ext cx="6480720" cy="815608"/>
          </a:xfrm>
          <a:prstGeom prst="rect">
            <a:avLst/>
          </a:prstGeom>
          <a:solidFill>
            <a:schemeClr val="accent3">
              <a:lumMod val="40000"/>
              <a:lumOff val="60000"/>
            </a:schemeClr>
          </a:solidFill>
        </p:spPr>
        <p:txBody>
          <a:bodyPr wrap="square" rtlCol="0">
            <a:spAutoFit/>
          </a:bodyPr>
          <a:lstStyle/>
          <a:p>
            <a:pPr>
              <a:spcAft>
                <a:spcPts val="600"/>
              </a:spcAft>
              <a:tabLst>
                <a:tab pos="533400" algn="l"/>
              </a:tabLst>
            </a:pPr>
            <a:r>
              <a:rPr lang="en-US" sz="1400" noProof="0" dirty="0"/>
              <a:t>We assume that these two population classes are entirely mixed.</a:t>
            </a:r>
          </a:p>
          <a:p>
            <a:pPr>
              <a:spcAft>
                <a:spcPts val="600"/>
              </a:spcAft>
              <a:tabLst>
                <a:tab pos="533400" algn="l"/>
              </a:tabLst>
            </a:pPr>
            <a:r>
              <a:rPr lang="en-US" sz="1400" noProof="0" dirty="0"/>
              <a:t>Moreover, we assume that there is no time delay between getting in contact with the new factor and becoming an adaptor/ infected.</a:t>
            </a:r>
          </a:p>
        </p:txBody>
      </p:sp>
      <p:sp>
        <p:nvSpPr>
          <p:cNvPr id="65" name="Rechteck 64"/>
          <p:cNvSpPr/>
          <p:nvPr/>
        </p:nvSpPr>
        <p:spPr>
          <a:xfrm>
            <a:off x="4572000" y="969823"/>
            <a:ext cx="4320480" cy="2880667"/>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8" name="Gruppieren 7"/>
          <p:cNvGrpSpPr/>
          <p:nvPr>
            <p:custDataLst>
              <p:tags r:id="rId1"/>
            </p:custDataLst>
          </p:nvPr>
        </p:nvGrpSpPr>
        <p:grpSpPr>
          <a:xfrm>
            <a:off x="8172400" y="1185722"/>
            <a:ext cx="504056" cy="720725"/>
            <a:chOff x="2267744" y="2708275"/>
            <a:chExt cx="504056" cy="720725"/>
          </a:xfrm>
          <a:solidFill>
            <a:schemeClr val="tx2"/>
          </a:solidFill>
        </p:grpSpPr>
        <p:sp>
          <p:nvSpPr>
            <p:cNvPr id="49" name="Gleichschenkliges Dreieck 48"/>
            <p:cNvSpPr/>
            <p:nvPr/>
          </p:nvSpPr>
          <p:spPr>
            <a:xfrm>
              <a:off x="2267744" y="2924944"/>
              <a:ext cx="504056" cy="504056"/>
            </a:xfrm>
            <a:prstGeom prst="triangl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0" name="Ellipse 49"/>
            <p:cNvSpPr/>
            <p:nvPr/>
          </p:nvSpPr>
          <p:spPr>
            <a:xfrm>
              <a:off x="2303426" y="2708275"/>
              <a:ext cx="432693" cy="432693"/>
            </a:xfrm>
            <a:prstGeom prst="ellips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9" name="Gruppieren 6"/>
          <p:cNvGrpSpPr/>
          <p:nvPr>
            <p:custDataLst>
              <p:tags r:id="rId2"/>
            </p:custDataLst>
          </p:nvPr>
        </p:nvGrpSpPr>
        <p:grpSpPr>
          <a:xfrm>
            <a:off x="4860032" y="1185722"/>
            <a:ext cx="504056" cy="720725"/>
            <a:chOff x="2267744" y="2708275"/>
            <a:chExt cx="504056" cy="720725"/>
          </a:xfrm>
          <a:solidFill>
            <a:schemeClr val="tx2"/>
          </a:solidFill>
        </p:grpSpPr>
        <p:sp>
          <p:nvSpPr>
            <p:cNvPr id="66" name="Gleichschenkliges Dreieck 4"/>
            <p:cNvSpPr/>
            <p:nvPr/>
          </p:nvSpPr>
          <p:spPr>
            <a:xfrm>
              <a:off x="2267744" y="2924944"/>
              <a:ext cx="504056" cy="504056"/>
            </a:xfrm>
            <a:prstGeom prst="triangl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7" name="Ellipse 66"/>
            <p:cNvSpPr/>
            <p:nvPr/>
          </p:nvSpPr>
          <p:spPr>
            <a:xfrm>
              <a:off x="2303426" y="2708275"/>
              <a:ext cx="432693" cy="432693"/>
            </a:xfrm>
            <a:prstGeom prst="ellips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0" name="Gruppieren 10"/>
          <p:cNvGrpSpPr/>
          <p:nvPr>
            <p:custDataLst>
              <p:tags r:id="rId3"/>
            </p:custDataLst>
          </p:nvPr>
        </p:nvGrpSpPr>
        <p:grpSpPr>
          <a:xfrm>
            <a:off x="6516216" y="2986394"/>
            <a:ext cx="504056" cy="720725"/>
            <a:chOff x="2267744" y="2708275"/>
            <a:chExt cx="504056" cy="720725"/>
          </a:xfrm>
          <a:solidFill>
            <a:schemeClr val="tx2"/>
          </a:solidFill>
        </p:grpSpPr>
        <p:sp>
          <p:nvSpPr>
            <p:cNvPr id="69" name="Gleichschenkliges Dreieck 68"/>
            <p:cNvSpPr/>
            <p:nvPr/>
          </p:nvSpPr>
          <p:spPr>
            <a:xfrm>
              <a:off x="2267744" y="2924944"/>
              <a:ext cx="504056" cy="504056"/>
            </a:xfrm>
            <a:prstGeom prst="triangl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0" name="Ellipse 69"/>
            <p:cNvSpPr/>
            <p:nvPr/>
          </p:nvSpPr>
          <p:spPr>
            <a:xfrm>
              <a:off x="2303426" y="2708275"/>
              <a:ext cx="432693" cy="432693"/>
            </a:xfrm>
            <a:prstGeom prst="ellips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1" name="Gruppieren 60"/>
          <p:cNvGrpSpPr/>
          <p:nvPr/>
        </p:nvGrpSpPr>
        <p:grpSpPr>
          <a:xfrm>
            <a:off x="6516216" y="1546085"/>
            <a:ext cx="504056" cy="720725"/>
            <a:chOff x="5380285" y="3212157"/>
            <a:chExt cx="504056" cy="720725"/>
          </a:xfrm>
        </p:grpSpPr>
        <p:sp>
          <p:nvSpPr>
            <p:cNvPr id="72" name="Gleichschenkliges Dreieck 71"/>
            <p:cNvSpPr/>
            <p:nvPr/>
          </p:nvSpPr>
          <p:spPr>
            <a:xfrm>
              <a:off x="5380285" y="3428826"/>
              <a:ext cx="504056" cy="504056"/>
            </a:xfrm>
            <a:prstGeom prst="triangl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3" name="Ellipse 72"/>
            <p:cNvSpPr/>
            <p:nvPr/>
          </p:nvSpPr>
          <p:spPr>
            <a:xfrm>
              <a:off x="5415967" y="3212157"/>
              <a:ext cx="432693" cy="432693"/>
            </a:xfrm>
            <a:prstGeom prst="ellips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2" name="Gruppieren 62"/>
          <p:cNvGrpSpPr/>
          <p:nvPr/>
        </p:nvGrpSpPr>
        <p:grpSpPr>
          <a:xfrm>
            <a:off x="5364088" y="1474226"/>
            <a:ext cx="504056" cy="720725"/>
            <a:chOff x="5004048" y="3860229"/>
            <a:chExt cx="504056" cy="720725"/>
          </a:xfrm>
        </p:grpSpPr>
        <p:sp>
          <p:nvSpPr>
            <p:cNvPr id="75" name="Gleichschenkliges Dreieck 74"/>
            <p:cNvSpPr/>
            <p:nvPr/>
          </p:nvSpPr>
          <p:spPr>
            <a:xfrm>
              <a:off x="5004048" y="4076898"/>
              <a:ext cx="504056" cy="504056"/>
            </a:xfrm>
            <a:prstGeom prst="triangl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6" name="Ellipse 75"/>
            <p:cNvSpPr/>
            <p:nvPr/>
          </p:nvSpPr>
          <p:spPr>
            <a:xfrm>
              <a:off x="5039730" y="3860229"/>
              <a:ext cx="432693" cy="432693"/>
            </a:xfrm>
            <a:prstGeom prst="ellips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3" name="Gruppieren 63"/>
          <p:cNvGrpSpPr/>
          <p:nvPr/>
        </p:nvGrpSpPr>
        <p:grpSpPr>
          <a:xfrm>
            <a:off x="7452320" y="2265669"/>
            <a:ext cx="504056" cy="720725"/>
            <a:chOff x="5651351" y="3788221"/>
            <a:chExt cx="504056" cy="720725"/>
          </a:xfrm>
        </p:grpSpPr>
        <p:sp>
          <p:nvSpPr>
            <p:cNvPr id="78" name="Gleichschenkliges Dreieck 77"/>
            <p:cNvSpPr/>
            <p:nvPr/>
          </p:nvSpPr>
          <p:spPr>
            <a:xfrm>
              <a:off x="5651351" y="4004890"/>
              <a:ext cx="504056" cy="504056"/>
            </a:xfrm>
            <a:prstGeom prst="triangl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9" name="Ellipse 78"/>
            <p:cNvSpPr/>
            <p:nvPr/>
          </p:nvSpPr>
          <p:spPr>
            <a:xfrm>
              <a:off x="5687033" y="3788221"/>
              <a:ext cx="432693" cy="432693"/>
            </a:xfrm>
            <a:prstGeom prst="ellips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81" name="Ellipse 80"/>
          <p:cNvSpPr/>
          <p:nvPr/>
        </p:nvSpPr>
        <p:spPr>
          <a:xfrm>
            <a:off x="4572000" y="1042476"/>
            <a:ext cx="1584176" cy="143986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2" name="Textfeld 81"/>
          <p:cNvSpPr txBox="1"/>
          <p:nvPr/>
        </p:nvSpPr>
        <p:spPr>
          <a:xfrm>
            <a:off x="4572000" y="2567120"/>
            <a:ext cx="1728192" cy="523220"/>
          </a:xfrm>
          <a:prstGeom prst="rect">
            <a:avLst/>
          </a:prstGeom>
          <a:noFill/>
        </p:spPr>
        <p:txBody>
          <a:bodyPr wrap="square" rtlCol="0">
            <a:spAutoFit/>
          </a:bodyPr>
          <a:lstStyle/>
          <a:p>
            <a:r>
              <a:rPr lang="en-US" sz="1400" noProof="0" dirty="0"/>
              <a:t>encounters on a statistical basis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Example:</a:t>
            </a:r>
            <a:br>
              <a:rPr lang="en-US" noProof="0" dirty="0"/>
            </a:br>
            <a:r>
              <a:rPr lang="en-US" noProof="0" dirty="0"/>
              <a:t>Agent based modelling the diffusion of ideas or diseases</a:t>
            </a:r>
          </a:p>
        </p:txBody>
      </p:sp>
      <p:grpSp>
        <p:nvGrpSpPr>
          <p:cNvPr id="3" name="Gruppieren 7"/>
          <p:cNvGrpSpPr/>
          <p:nvPr>
            <p:custDataLst>
              <p:tags r:id="rId1"/>
            </p:custDataLst>
          </p:nvPr>
        </p:nvGrpSpPr>
        <p:grpSpPr>
          <a:xfrm>
            <a:off x="8172400" y="1185722"/>
            <a:ext cx="504056" cy="720725"/>
            <a:chOff x="2267744" y="2708275"/>
            <a:chExt cx="504056" cy="720725"/>
          </a:xfrm>
          <a:solidFill>
            <a:schemeClr val="tx2"/>
          </a:solidFill>
        </p:grpSpPr>
        <p:sp>
          <p:nvSpPr>
            <p:cNvPr id="21" name="Gleichschenkliges Dreieck 20"/>
            <p:cNvSpPr/>
            <p:nvPr/>
          </p:nvSpPr>
          <p:spPr>
            <a:xfrm>
              <a:off x="2267744" y="2924944"/>
              <a:ext cx="504056" cy="504056"/>
            </a:xfrm>
            <a:prstGeom prst="triangl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Ellipse 21"/>
            <p:cNvSpPr/>
            <p:nvPr/>
          </p:nvSpPr>
          <p:spPr>
            <a:xfrm>
              <a:off x="2303426" y="2708275"/>
              <a:ext cx="432693" cy="432693"/>
            </a:xfrm>
            <a:prstGeom prst="ellips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4" name="Gruppieren 6"/>
          <p:cNvGrpSpPr/>
          <p:nvPr>
            <p:custDataLst>
              <p:tags r:id="rId2"/>
            </p:custDataLst>
          </p:nvPr>
        </p:nvGrpSpPr>
        <p:grpSpPr>
          <a:xfrm>
            <a:off x="4860032" y="1185722"/>
            <a:ext cx="504056" cy="720725"/>
            <a:chOff x="2267744" y="2708275"/>
            <a:chExt cx="504056" cy="720725"/>
          </a:xfrm>
          <a:solidFill>
            <a:schemeClr val="tx2"/>
          </a:solidFill>
        </p:grpSpPr>
        <p:sp>
          <p:nvSpPr>
            <p:cNvPr id="24" name="Gleichschenkliges Dreieck 4"/>
            <p:cNvSpPr/>
            <p:nvPr/>
          </p:nvSpPr>
          <p:spPr>
            <a:xfrm>
              <a:off x="2267744" y="2924944"/>
              <a:ext cx="504056" cy="504056"/>
            </a:xfrm>
            <a:prstGeom prst="triangl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Ellipse 24"/>
            <p:cNvSpPr/>
            <p:nvPr/>
          </p:nvSpPr>
          <p:spPr>
            <a:xfrm>
              <a:off x="2303426" y="2708275"/>
              <a:ext cx="432693" cy="432693"/>
            </a:xfrm>
            <a:prstGeom prst="ellips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5" name="Gruppieren 10"/>
          <p:cNvGrpSpPr/>
          <p:nvPr>
            <p:custDataLst>
              <p:tags r:id="rId3"/>
            </p:custDataLst>
          </p:nvPr>
        </p:nvGrpSpPr>
        <p:grpSpPr>
          <a:xfrm>
            <a:off x="6516216" y="2986394"/>
            <a:ext cx="504056" cy="720725"/>
            <a:chOff x="2267744" y="2708275"/>
            <a:chExt cx="504056" cy="720725"/>
          </a:xfrm>
          <a:solidFill>
            <a:schemeClr val="tx2"/>
          </a:solidFill>
        </p:grpSpPr>
        <p:sp>
          <p:nvSpPr>
            <p:cNvPr id="27" name="Gleichschenkliges Dreieck 26"/>
            <p:cNvSpPr/>
            <p:nvPr/>
          </p:nvSpPr>
          <p:spPr>
            <a:xfrm>
              <a:off x="2267744" y="2924944"/>
              <a:ext cx="504056" cy="504056"/>
            </a:xfrm>
            <a:prstGeom prst="triangl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8" name="Ellipse 27"/>
            <p:cNvSpPr/>
            <p:nvPr/>
          </p:nvSpPr>
          <p:spPr>
            <a:xfrm>
              <a:off x="2303426" y="2708275"/>
              <a:ext cx="432693" cy="432693"/>
            </a:xfrm>
            <a:prstGeom prst="ellips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uppieren 60"/>
          <p:cNvGrpSpPr/>
          <p:nvPr/>
        </p:nvGrpSpPr>
        <p:grpSpPr>
          <a:xfrm>
            <a:off x="6516216" y="1546085"/>
            <a:ext cx="504056" cy="720725"/>
            <a:chOff x="5380285" y="3212157"/>
            <a:chExt cx="504056" cy="720725"/>
          </a:xfrm>
        </p:grpSpPr>
        <p:sp>
          <p:nvSpPr>
            <p:cNvPr id="30" name="Gleichschenkliges Dreieck 29"/>
            <p:cNvSpPr/>
            <p:nvPr/>
          </p:nvSpPr>
          <p:spPr>
            <a:xfrm>
              <a:off x="5380285" y="3428826"/>
              <a:ext cx="504056" cy="504056"/>
            </a:xfrm>
            <a:prstGeom prst="triangl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Ellipse 30"/>
            <p:cNvSpPr/>
            <p:nvPr/>
          </p:nvSpPr>
          <p:spPr>
            <a:xfrm>
              <a:off x="5415967" y="3212157"/>
              <a:ext cx="432693" cy="432693"/>
            </a:xfrm>
            <a:prstGeom prst="ellips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7" name="Gruppieren 62"/>
          <p:cNvGrpSpPr/>
          <p:nvPr/>
        </p:nvGrpSpPr>
        <p:grpSpPr>
          <a:xfrm>
            <a:off x="5580112" y="2265669"/>
            <a:ext cx="504056" cy="720725"/>
            <a:chOff x="5004048" y="3860229"/>
            <a:chExt cx="504056" cy="720725"/>
          </a:xfrm>
        </p:grpSpPr>
        <p:sp>
          <p:nvSpPr>
            <p:cNvPr id="33" name="Gleichschenkliges Dreieck 32"/>
            <p:cNvSpPr/>
            <p:nvPr/>
          </p:nvSpPr>
          <p:spPr>
            <a:xfrm>
              <a:off x="5004048" y="4076898"/>
              <a:ext cx="504056" cy="504056"/>
            </a:xfrm>
            <a:prstGeom prst="triangl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Ellipse 33"/>
            <p:cNvSpPr/>
            <p:nvPr/>
          </p:nvSpPr>
          <p:spPr>
            <a:xfrm>
              <a:off x="5039730" y="3860229"/>
              <a:ext cx="432693" cy="432693"/>
            </a:xfrm>
            <a:prstGeom prst="ellips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8" name="Gruppieren 63"/>
          <p:cNvGrpSpPr/>
          <p:nvPr/>
        </p:nvGrpSpPr>
        <p:grpSpPr>
          <a:xfrm>
            <a:off x="7452320" y="2265669"/>
            <a:ext cx="504056" cy="720725"/>
            <a:chOff x="5651351" y="3788221"/>
            <a:chExt cx="504056" cy="720725"/>
          </a:xfrm>
        </p:grpSpPr>
        <p:sp>
          <p:nvSpPr>
            <p:cNvPr id="36" name="Gleichschenkliges Dreieck 35"/>
            <p:cNvSpPr/>
            <p:nvPr/>
          </p:nvSpPr>
          <p:spPr>
            <a:xfrm>
              <a:off x="5651351" y="4004890"/>
              <a:ext cx="504056" cy="504056"/>
            </a:xfrm>
            <a:prstGeom prst="triangl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7" name="Ellipse 36"/>
            <p:cNvSpPr/>
            <p:nvPr/>
          </p:nvSpPr>
          <p:spPr>
            <a:xfrm>
              <a:off x="5687033" y="3788221"/>
              <a:ext cx="432693" cy="432693"/>
            </a:xfrm>
            <a:prstGeom prst="ellips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8" name="Abgerundetes Rechteck 37"/>
          <p:cNvSpPr/>
          <p:nvPr/>
        </p:nvSpPr>
        <p:spPr>
          <a:xfrm>
            <a:off x="251520" y="1096826"/>
            <a:ext cx="2031985" cy="785818"/>
          </a:xfrm>
          <a:prstGeom prst="roundRect">
            <a:avLst/>
          </a:prstGeom>
          <a:solidFill>
            <a:schemeClr val="accent3">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Susceptible</a:t>
            </a:r>
          </a:p>
        </p:txBody>
      </p:sp>
      <p:sp>
        <p:nvSpPr>
          <p:cNvPr id="40" name="Textfeld 39"/>
          <p:cNvSpPr txBox="1"/>
          <p:nvPr/>
        </p:nvSpPr>
        <p:spPr>
          <a:xfrm>
            <a:off x="750646" y="4224401"/>
            <a:ext cx="752835" cy="307777"/>
          </a:xfrm>
          <a:prstGeom prst="rect">
            <a:avLst/>
          </a:prstGeom>
          <a:noFill/>
        </p:spPr>
        <p:txBody>
          <a:bodyPr wrap="none" rtlCol="0">
            <a:spAutoFit/>
          </a:bodyPr>
          <a:lstStyle/>
          <a:p>
            <a:r>
              <a:rPr lang="en-US" sz="1400" noProof="0" dirty="0"/>
              <a:t>“infect”</a:t>
            </a:r>
          </a:p>
        </p:txBody>
      </p:sp>
      <p:cxnSp>
        <p:nvCxnSpPr>
          <p:cNvPr id="39" name="Gerade Verbindung mit Pfeil 3"/>
          <p:cNvCxnSpPr/>
          <p:nvPr/>
        </p:nvCxnSpPr>
        <p:spPr>
          <a:xfrm>
            <a:off x="251520" y="4387801"/>
            <a:ext cx="356249" cy="15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Gerade Verbindung mit Pfeil 41"/>
          <p:cNvCxnSpPr/>
          <p:nvPr/>
        </p:nvCxnSpPr>
        <p:spPr>
          <a:xfrm>
            <a:off x="251520" y="4834562"/>
            <a:ext cx="356249" cy="1588"/>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43" name="Textfeld 42"/>
          <p:cNvSpPr txBox="1"/>
          <p:nvPr/>
        </p:nvSpPr>
        <p:spPr>
          <a:xfrm>
            <a:off x="750646" y="4677986"/>
            <a:ext cx="769891" cy="307777"/>
          </a:xfrm>
          <a:prstGeom prst="rect">
            <a:avLst/>
          </a:prstGeom>
          <a:noFill/>
        </p:spPr>
        <p:txBody>
          <a:bodyPr wrap="none" rtlCol="0">
            <a:spAutoFit/>
          </a:bodyPr>
          <a:lstStyle/>
          <a:p>
            <a:r>
              <a:rPr lang="en-US" sz="1400" noProof="0" dirty="0"/>
              <a:t>become</a:t>
            </a:r>
          </a:p>
        </p:txBody>
      </p:sp>
      <p:sp>
        <p:nvSpPr>
          <p:cNvPr id="44" name="Abgerundetes Rechteck 43"/>
          <p:cNvSpPr/>
          <p:nvPr/>
        </p:nvSpPr>
        <p:spPr>
          <a:xfrm>
            <a:off x="251520" y="2831958"/>
            <a:ext cx="2031985" cy="785818"/>
          </a:xfrm>
          <a:prstGeom prst="roundRect">
            <a:avLst/>
          </a:prstGeom>
          <a:solidFill>
            <a:schemeClr val="accent3">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noProof="0" dirty="0">
                <a:solidFill>
                  <a:schemeClr val="tx1"/>
                </a:solidFill>
              </a:rPr>
              <a:t>Adopters/ Infected</a:t>
            </a:r>
          </a:p>
        </p:txBody>
      </p:sp>
      <p:cxnSp>
        <p:nvCxnSpPr>
          <p:cNvPr id="45" name="Gerade Verbindung mit Pfeil 44"/>
          <p:cNvCxnSpPr/>
          <p:nvPr/>
        </p:nvCxnSpPr>
        <p:spPr>
          <a:xfrm rot="5400000" flipH="1" flipV="1">
            <a:off x="716655" y="2357301"/>
            <a:ext cx="949314" cy="15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6" name="Gerade Verbindung mit Pfeil 45"/>
          <p:cNvCxnSpPr/>
          <p:nvPr/>
        </p:nvCxnSpPr>
        <p:spPr>
          <a:xfrm rot="5400000" flipH="1" flipV="1">
            <a:off x="869055" y="2357301"/>
            <a:ext cx="949314" cy="1588"/>
          </a:xfrm>
          <a:prstGeom prst="straightConnector1">
            <a:avLst/>
          </a:prstGeom>
          <a:ln w="28575">
            <a:solidFill>
              <a:srgbClr val="00B05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9" name="Gruppieren 42"/>
          <p:cNvGrpSpPr/>
          <p:nvPr/>
        </p:nvGrpSpPr>
        <p:grpSpPr>
          <a:xfrm>
            <a:off x="2643428" y="969823"/>
            <a:ext cx="816915" cy="909672"/>
            <a:chOff x="592522" y="1484312"/>
            <a:chExt cx="1099158" cy="1223963"/>
          </a:xfrm>
          <a:solidFill>
            <a:schemeClr val="tx2"/>
          </a:solidFill>
        </p:grpSpPr>
        <p:grpSp>
          <p:nvGrpSpPr>
            <p:cNvPr id="10" name="Gruppieren 7"/>
            <p:cNvGrpSpPr/>
            <p:nvPr>
              <p:custDataLst>
                <p:tags r:id="rId4"/>
              </p:custDataLst>
            </p:nvPr>
          </p:nvGrpSpPr>
          <p:grpSpPr>
            <a:xfrm>
              <a:off x="844550" y="1484312"/>
              <a:ext cx="504056" cy="720725"/>
              <a:chOff x="2267744" y="2708275"/>
              <a:chExt cx="504056" cy="720725"/>
            </a:xfrm>
            <a:grpFill/>
          </p:grpSpPr>
          <p:sp>
            <p:nvSpPr>
              <p:cNvPr id="55" name="Gleichschenkliges Dreieck 54"/>
              <p:cNvSpPr/>
              <p:nvPr/>
            </p:nvSpPr>
            <p:spPr>
              <a:xfrm>
                <a:off x="2267744" y="2924944"/>
                <a:ext cx="504056" cy="504056"/>
              </a:xfrm>
              <a:prstGeom prst="triangl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6" name="Ellipse 55"/>
              <p:cNvSpPr/>
              <p:nvPr/>
            </p:nvSpPr>
            <p:spPr>
              <a:xfrm>
                <a:off x="2303426" y="2708275"/>
                <a:ext cx="432693" cy="432693"/>
              </a:xfrm>
              <a:prstGeom prst="ellips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1" name="Gruppieren 6"/>
            <p:cNvGrpSpPr/>
            <p:nvPr>
              <p:custDataLst>
                <p:tags r:id="rId5"/>
              </p:custDataLst>
            </p:nvPr>
          </p:nvGrpSpPr>
          <p:grpSpPr>
            <a:xfrm>
              <a:off x="592522" y="1844675"/>
              <a:ext cx="504056" cy="720725"/>
              <a:chOff x="2267744" y="2708275"/>
              <a:chExt cx="504056" cy="720725"/>
            </a:xfrm>
            <a:grpFill/>
          </p:grpSpPr>
          <p:sp>
            <p:nvSpPr>
              <p:cNvPr id="53" name="Gleichschenkliges Dreieck 4"/>
              <p:cNvSpPr/>
              <p:nvPr/>
            </p:nvSpPr>
            <p:spPr>
              <a:xfrm>
                <a:off x="2267744" y="2924944"/>
                <a:ext cx="504056" cy="504056"/>
              </a:xfrm>
              <a:prstGeom prst="triangl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4" name="Ellipse 53"/>
              <p:cNvSpPr/>
              <p:nvPr/>
            </p:nvSpPr>
            <p:spPr>
              <a:xfrm>
                <a:off x="2303426" y="2708275"/>
                <a:ext cx="432693" cy="432693"/>
              </a:xfrm>
              <a:prstGeom prst="ellips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2" name="Gruppieren 10"/>
            <p:cNvGrpSpPr/>
            <p:nvPr>
              <p:custDataLst>
                <p:tags r:id="rId6"/>
              </p:custDataLst>
            </p:nvPr>
          </p:nvGrpSpPr>
          <p:grpSpPr>
            <a:xfrm>
              <a:off x="1187624" y="1987550"/>
              <a:ext cx="504056" cy="720725"/>
              <a:chOff x="2267744" y="2708275"/>
              <a:chExt cx="504056" cy="720725"/>
            </a:xfrm>
            <a:grpFill/>
          </p:grpSpPr>
          <p:sp>
            <p:nvSpPr>
              <p:cNvPr id="51" name="Gleichschenkliges Dreieck 50"/>
              <p:cNvSpPr/>
              <p:nvPr/>
            </p:nvSpPr>
            <p:spPr>
              <a:xfrm>
                <a:off x="2267744" y="2924944"/>
                <a:ext cx="504056" cy="504056"/>
              </a:xfrm>
              <a:prstGeom prst="triangl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2" name="Ellipse 51"/>
              <p:cNvSpPr/>
              <p:nvPr/>
            </p:nvSpPr>
            <p:spPr>
              <a:xfrm>
                <a:off x="2303426" y="2708275"/>
                <a:ext cx="432693" cy="432693"/>
              </a:xfrm>
              <a:prstGeom prst="ellipse">
                <a:avLst/>
              </a:prstGeom>
              <a:grp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grpSp>
        <p:nvGrpSpPr>
          <p:cNvPr id="13" name="Gruppieren 52"/>
          <p:cNvGrpSpPr/>
          <p:nvPr/>
        </p:nvGrpSpPr>
        <p:grpSpPr>
          <a:xfrm>
            <a:off x="2624029" y="2698362"/>
            <a:ext cx="855712" cy="1017316"/>
            <a:chOff x="468313" y="3429000"/>
            <a:chExt cx="1151359" cy="1368797"/>
          </a:xfrm>
        </p:grpSpPr>
        <p:sp>
          <p:nvSpPr>
            <p:cNvPr id="58" name="Gleichschenkliges Dreieck 57"/>
            <p:cNvSpPr/>
            <p:nvPr/>
          </p:nvSpPr>
          <p:spPr>
            <a:xfrm>
              <a:off x="844550" y="3645669"/>
              <a:ext cx="504056" cy="504056"/>
            </a:xfrm>
            <a:prstGeom prst="triangl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9" name="Ellipse 58"/>
            <p:cNvSpPr/>
            <p:nvPr/>
          </p:nvSpPr>
          <p:spPr>
            <a:xfrm>
              <a:off x="880232" y="3429000"/>
              <a:ext cx="432693" cy="432693"/>
            </a:xfrm>
            <a:prstGeom prst="ellips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0" name="Gleichschenkliges Dreieck 59"/>
            <p:cNvSpPr/>
            <p:nvPr/>
          </p:nvSpPr>
          <p:spPr>
            <a:xfrm>
              <a:off x="468313" y="4293741"/>
              <a:ext cx="504056" cy="504056"/>
            </a:xfrm>
            <a:prstGeom prst="triangl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1" name="Ellipse 60"/>
            <p:cNvSpPr/>
            <p:nvPr/>
          </p:nvSpPr>
          <p:spPr>
            <a:xfrm>
              <a:off x="503995" y="4077072"/>
              <a:ext cx="432693" cy="432693"/>
            </a:xfrm>
            <a:prstGeom prst="ellips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2" name="Gleichschenkliges Dreieck 61"/>
            <p:cNvSpPr/>
            <p:nvPr/>
          </p:nvSpPr>
          <p:spPr>
            <a:xfrm>
              <a:off x="1115616" y="4221733"/>
              <a:ext cx="504056" cy="504056"/>
            </a:xfrm>
            <a:prstGeom prst="triangl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3" name="Ellipse 62"/>
            <p:cNvSpPr/>
            <p:nvPr/>
          </p:nvSpPr>
          <p:spPr>
            <a:xfrm>
              <a:off x="1151298" y="4005064"/>
              <a:ext cx="432693" cy="432693"/>
            </a:xfrm>
            <a:prstGeom prst="ellipse">
              <a:avLst/>
            </a:prstGeom>
            <a:solidFill>
              <a:srgbClr val="00B050"/>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64" name="Textfeld 63"/>
          <p:cNvSpPr txBox="1"/>
          <p:nvPr/>
        </p:nvSpPr>
        <p:spPr>
          <a:xfrm>
            <a:off x="2411760" y="4204414"/>
            <a:ext cx="6480720" cy="815608"/>
          </a:xfrm>
          <a:prstGeom prst="rect">
            <a:avLst/>
          </a:prstGeom>
          <a:solidFill>
            <a:schemeClr val="accent3">
              <a:lumMod val="40000"/>
              <a:lumOff val="60000"/>
            </a:schemeClr>
          </a:solidFill>
        </p:spPr>
        <p:txBody>
          <a:bodyPr wrap="square" rtlCol="0">
            <a:spAutoFit/>
          </a:bodyPr>
          <a:lstStyle/>
          <a:p>
            <a:pPr>
              <a:spcAft>
                <a:spcPts val="600"/>
              </a:spcAft>
              <a:tabLst>
                <a:tab pos="533400" algn="l"/>
              </a:tabLst>
            </a:pPr>
            <a:r>
              <a:rPr lang="en-US" sz="1400" noProof="0" dirty="0"/>
              <a:t>We assume that these two population classes are entirely mixed.</a:t>
            </a:r>
          </a:p>
          <a:p>
            <a:pPr>
              <a:spcAft>
                <a:spcPts val="600"/>
              </a:spcAft>
              <a:tabLst>
                <a:tab pos="533400" algn="l"/>
              </a:tabLst>
            </a:pPr>
            <a:r>
              <a:rPr lang="en-US" sz="1400" noProof="0" dirty="0"/>
              <a:t>Moreover, we assume that there is no time delay between getting in contact with the new factor and becoming an adaptor/ infected.</a:t>
            </a:r>
          </a:p>
        </p:txBody>
      </p:sp>
      <p:sp>
        <p:nvSpPr>
          <p:cNvPr id="65" name="Rechteck 64"/>
          <p:cNvSpPr/>
          <p:nvPr/>
        </p:nvSpPr>
        <p:spPr>
          <a:xfrm>
            <a:off x="4572000" y="969823"/>
            <a:ext cx="4320480" cy="2880667"/>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8" name="Textfeld 47"/>
          <p:cNvSpPr txBox="1"/>
          <p:nvPr/>
        </p:nvSpPr>
        <p:spPr>
          <a:xfrm>
            <a:off x="7658141" y="3539645"/>
            <a:ext cx="1221808" cy="307777"/>
          </a:xfrm>
          <a:prstGeom prst="rect">
            <a:avLst/>
          </a:prstGeom>
          <a:noFill/>
        </p:spPr>
        <p:txBody>
          <a:bodyPr wrap="none" rtlCol="0">
            <a:spAutoFit/>
          </a:bodyPr>
          <a:lstStyle/>
          <a:p>
            <a:pPr algn="r"/>
            <a:r>
              <a:rPr lang="en-US" sz="1400" noProof="0" dirty="0"/>
              <a:t>… and so on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Example:</a:t>
            </a:r>
            <a:br>
              <a:rPr lang="en-US" noProof="0" dirty="0"/>
            </a:br>
            <a:r>
              <a:rPr lang="en-US" noProof="0" dirty="0"/>
              <a:t>Agent based modelling the diffusion of ideas or diseases</a:t>
            </a:r>
          </a:p>
        </p:txBody>
      </p:sp>
      <p:pic>
        <p:nvPicPr>
          <p:cNvPr id="3" name="Picture 2"/>
          <p:cNvPicPr>
            <a:picLocks noChangeAspect="1" noChangeArrowheads="1"/>
          </p:cNvPicPr>
          <p:nvPr/>
        </p:nvPicPr>
        <p:blipFill>
          <a:blip r:embed="rId2" cstate="print"/>
          <a:srcRect/>
          <a:stretch>
            <a:fillRect/>
          </a:stretch>
        </p:blipFill>
        <p:spPr bwMode="auto">
          <a:xfrm>
            <a:off x="2492203" y="915567"/>
            <a:ext cx="6544293" cy="4104456"/>
          </a:xfrm>
          <a:prstGeom prst="rect">
            <a:avLst/>
          </a:prstGeom>
          <a:noFill/>
          <a:ln w="9525">
            <a:noFill/>
            <a:miter lim="800000"/>
            <a:headEnd/>
            <a:tailEnd/>
          </a:ln>
        </p:spPr>
      </p:pic>
      <p:sp>
        <p:nvSpPr>
          <p:cNvPr id="4" name="Rechteck 3"/>
          <p:cNvSpPr/>
          <p:nvPr/>
        </p:nvSpPr>
        <p:spPr>
          <a:xfrm>
            <a:off x="107504" y="915566"/>
            <a:ext cx="2232248" cy="4104456"/>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300"/>
              </a:spcAft>
            </a:pPr>
            <a:r>
              <a:rPr lang="en-US" sz="1000" noProof="0" dirty="0">
                <a:solidFill>
                  <a:schemeClr val="tx1"/>
                </a:solidFill>
              </a:rPr>
              <a:t>A system consisting of interacting individuals, each with his own characteristics (e.g., cultural values, race, resources), can be simulated using a discrete dynamical system where space, time, and the states of the system are all discrete and have the following properties:</a:t>
            </a:r>
          </a:p>
          <a:p>
            <a:pPr marL="177800" indent="-177800">
              <a:spcAft>
                <a:spcPts val="300"/>
              </a:spcAft>
              <a:buFont typeface="Arial" pitchFamily="34" charset="0"/>
              <a:buChar char="•"/>
            </a:pPr>
            <a:r>
              <a:rPr lang="en-US" sz="1000" noProof="0" dirty="0">
                <a:solidFill>
                  <a:schemeClr val="tx1"/>
                </a:solidFill>
              </a:rPr>
              <a:t>Space is represented by a regular two-dimensional toroidal lattice.</a:t>
            </a:r>
          </a:p>
          <a:p>
            <a:pPr marL="177800" indent="-177800">
              <a:spcAft>
                <a:spcPts val="300"/>
              </a:spcAft>
              <a:buFont typeface="Arial" pitchFamily="34" charset="0"/>
              <a:buChar char="•"/>
            </a:pPr>
            <a:r>
              <a:rPr lang="en-US" sz="1000" noProof="0" dirty="0">
                <a:solidFill>
                  <a:schemeClr val="tx1"/>
                </a:solidFill>
              </a:rPr>
              <a:t>Each site, or cell, in the lattice is in a given state at a given instant of time. The states of lattice sites can be integers, reals, symbols, or strings, as well as </a:t>
            </a:r>
            <a:r>
              <a:rPr lang="en-US" sz="1000" noProof="0" dirty="0" err="1">
                <a:solidFill>
                  <a:schemeClr val="tx1"/>
                </a:solidFill>
              </a:rPr>
              <a:t>tuplets</a:t>
            </a:r>
            <a:r>
              <a:rPr lang="en-US" sz="1000" noProof="0" dirty="0">
                <a:solidFill>
                  <a:schemeClr val="tx1"/>
                </a:solidFill>
              </a:rPr>
              <a:t> (lists) with elements of any type.</a:t>
            </a:r>
          </a:p>
          <a:p>
            <a:pPr marL="177800" indent="-177800">
              <a:spcAft>
                <a:spcPts val="300"/>
              </a:spcAft>
              <a:buFont typeface="Arial" pitchFamily="34" charset="0"/>
              <a:buChar char="•"/>
            </a:pPr>
            <a:r>
              <a:rPr lang="en-US" sz="1000" noProof="0" dirty="0">
                <a:solidFill>
                  <a:schemeClr val="tx1"/>
                </a:solidFill>
              </a:rPr>
              <a:t>The system evolves over a succession of time steps. The values of all of the sites in the lattice are updated synchronously in each time step.</a:t>
            </a:r>
          </a:p>
          <a:p>
            <a:pPr marL="177800" indent="-177800">
              <a:spcAft>
                <a:spcPts val="300"/>
              </a:spcAft>
              <a:buFont typeface="Arial" pitchFamily="34" charset="0"/>
              <a:buChar char="•"/>
            </a:pPr>
            <a:r>
              <a:rPr lang="en-US" sz="1000" noProof="0" dirty="0">
                <a:solidFill>
                  <a:schemeClr val="tx1"/>
                </a:solidFill>
              </a:rPr>
              <a:t>A site’s value is updated using a set of rules which takes the values of the site and other sites into account.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15F2F4E-2C84-B9FD-400C-38DB77A39DB3}"/>
              </a:ext>
            </a:extLst>
          </p:cNvPr>
          <p:cNvSpPr>
            <a:spLocks noGrp="1"/>
          </p:cNvSpPr>
          <p:nvPr>
            <p:ph type="title"/>
          </p:nvPr>
        </p:nvSpPr>
        <p:spPr/>
        <p:txBody>
          <a:bodyPr/>
          <a:lstStyle/>
          <a:p>
            <a:r>
              <a:rPr lang="en-US" noProof="0" dirty="0"/>
              <a:t>Example:</a:t>
            </a:r>
            <a:br>
              <a:rPr lang="en-US" noProof="0" dirty="0"/>
            </a:br>
            <a:r>
              <a:rPr lang="en-US" noProof="0" dirty="0"/>
              <a:t>Agent based modelling the diffusion of ideas or diseases</a:t>
            </a:r>
          </a:p>
        </p:txBody>
      </p:sp>
      <p:sp>
        <p:nvSpPr>
          <p:cNvPr id="3" name="Rechteck 2">
            <a:extLst>
              <a:ext uri="{FF2B5EF4-FFF2-40B4-BE49-F238E27FC236}">
                <a16:creationId xmlns:a16="http://schemas.microsoft.com/office/drawing/2014/main" id="{94F808C5-644E-4E1B-4D73-42C3B3F580A7}"/>
              </a:ext>
            </a:extLst>
          </p:cNvPr>
          <p:cNvSpPr/>
          <p:nvPr/>
        </p:nvSpPr>
        <p:spPr>
          <a:xfrm>
            <a:off x="1691680" y="1131590"/>
            <a:ext cx="3528392" cy="3888432"/>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Idea:</a:t>
            </a:r>
          </a:p>
          <a:p>
            <a:pPr marL="182563" indent="-182563">
              <a:spcAft>
                <a:spcPts val="600"/>
              </a:spcAft>
              <a:buFont typeface="Arial" panose="020B0604020202020204" pitchFamily="34" charset="0"/>
              <a:buChar char="•"/>
            </a:pPr>
            <a:r>
              <a:rPr lang="en-US" sz="1400" noProof="0" dirty="0">
                <a:solidFill>
                  <a:schemeClr val="tx1"/>
                </a:solidFill>
              </a:rPr>
              <a:t>We re-use the movement dynamics from the </a:t>
            </a:r>
            <a:r>
              <a:rPr lang="en-US" sz="1400" noProof="0" dirty="0" err="1">
                <a:solidFill>
                  <a:schemeClr val="tx1"/>
                </a:solidFill>
              </a:rPr>
              <a:t>Wa</a:t>
            </a:r>
            <a:r>
              <a:rPr lang="en-US" sz="1400" noProof="0" dirty="0">
                <a:solidFill>
                  <a:schemeClr val="tx1"/>
                </a:solidFill>
              </a:rPr>
              <a:t>-Tor example, and</a:t>
            </a:r>
          </a:p>
          <a:p>
            <a:pPr marL="182563" indent="-182563">
              <a:spcAft>
                <a:spcPts val="600"/>
              </a:spcAft>
              <a:buFont typeface="Arial" panose="020B0604020202020204" pitchFamily="34" charset="0"/>
              <a:buChar char="•"/>
            </a:pPr>
            <a:r>
              <a:rPr lang="en-US" sz="1400" noProof="0" dirty="0">
                <a:solidFill>
                  <a:schemeClr val="tx1"/>
                </a:solidFill>
              </a:rPr>
              <a:t>add new interaction dynamics that capture the spreading of the idea or disease.</a:t>
            </a:r>
          </a:p>
          <a:p>
            <a:pPr>
              <a:spcAft>
                <a:spcPts val="600"/>
              </a:spcAft>
            </a:pPr>
            <a:endParaRPr lang="en-US" sz="1400" noProof="0" dirty="0">
              <a:solidFill>
                <a:schemeClr val="tx1"/>
              </a:solidFill>
            </a:endParaRPr>
          </a:p>
          <a:p>
            <a:pPr>
              <a:spcAft>
                <a:spcPts val="600"/>
              </a:spcAft>
            </a:pPr>
            <a:r>
              <a:rPr lang="en-US" sz="1400" noProof="0" dirty="0">
                <a:solidFill>
                  <a:schemeClr val="tx1"/>
                </a:solidFill>
              </a:rPr>
              <a:t>Hence, the code structure is basically that of the </a:t>
            </a:r>
            <a:r>
              <a:rPr lang="en-US" sz="1400" noProof="0" dirty="0" err="1">
                <a:solidFill>
                  <a:schemeClr val="tx1"/>
                </a:solidFill>
              </a:rPr>
              <a:t>Wa</a:t>
            </a:r>
            <a:r>
              <a:rPr lang="en-US" sz="1400" dirty="0">
                <a:solidFill>
                  <a:schemeClr val="tx1"/>
                </a:solidFill>
              </a:rPr>
              <a:t>-Tor example with movement of two species on a toroidal grid (up to the point where interactions are added to the model).</a:t>
            </a:r>
          </a:p>
          <a:p>
            <a:pPr>
              <a:spcAft>
                <a:spcPts val="600"/>
              </a:spcAft>
            </a:pPr>
            <a:r>
              <a:rPr lang="en-US" sz="1400" noProof="0" dirty="0">
                <a:solidFill>
                  <a:schemeClr val="tx1"/>
                </a:solidFill>
              </a:rPr>
              <a:t>T</a:t>
            </a:r>
            <a:r>
              <a:rPr lang="en-US" sz="1400" dirty="0">
                <a:solidFill>
                  <a:schemeClr val="tx1"/>
                </a:solidFill>
              </a:rPr>
              <a:t>he files corresponding to 02_WaTor.py need to be updated to the new application in terms of susceptible and infected.</a:t>
            </a:r>
          </a:p>
          <a:p>
            <a:pPr>
              <a:spcAft>
                <a:spcPts val="600"/>
              </a:spcAft>
            </a:pPr>
            <a:r>
              <a:rPr lang="en-US" sz="1400" noProof="0" dirty="0">
                <a:solidFill>
                  <a:schemeClr val="tx1"/>
                </a:solidFill>
              </a:rPr>
              <a:t>Next, the interaction routine</a:t>
            </a:r>
            <a:r>
              <a:rPr lang="en-US" sz="1400" dirty="0">
                <a:solidFill>
                  <a:schemeClr val="tx1"/>
                </a:solidFill>
              </a:rPr>
              <a:t> needs to be designed and implemented.</a:t>
            </a:r>
            <a:endParaRPr lang="en-US" sz="1400" noProof="0" dirty="0">
              <a:solidFill>
                <a:schemeClr val="tx1"/>
              </a:solidFill>
            </a:endParaRPr>
          </a:p>
        </p:txBody>
      </p:sp>
      <p:sp>
        <p:nvSpPr>
          <p:cNvPr id="4" name="Rechteck 3">
            <a:extLst>
              <a:ext uri="{FF2B5EF4-FFF2-40B4-BE49-F238E27FC236}">
                <a16:creationId xmlns:a16="http://schemas.microsoft.com/office/drawing/2014/main" id="{E1D49B19-5C3D-E580-E584-FDEBF2FD940F}"/>
              </a:ext>
            </a:extLst>
          </p:cNvPr>
          <p:cNvSpPr/>
          <p:nvPr/>
        </p:nvSpPr>
        <p:spPr>
          <a:xfrm>
            <a:off x="251520" y="1131590"/>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1. Understand the Problem</a:t>
            </a:r>
          </a:p>
        </p:txBody>
      </p:sp>
      <p:sp>
        <p:nvSpPr>
          <p:cNvPr id="5" name="Rechteck 4">
            <a:extLst>
              <a:ext uri="{FF2B5EF4-FFF2-40B4-BE49-F238E27FC236}">
                <a16:creationId xmlns:a16="http://schemas.microsoft.com/office/drawing/2014/main" id="{26DFC658-5AA7-2BDB-F97D-336A9F359E2B}"/>
              </a:ext>
            </a:extLst>
          </p:cNvPr>
          <p:cNvSpPr/>
          <p:nvPr/>
        </p:nvSpPr>
        <p:spPr>
          <a:xfrm>
            <a:off x="251520" y="1952061"/>
            <a:ext cx="1296144" cy="709613"/>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2. Plan</a:t>
            </a:r>
          </a:p>
        </p:txBody>
      </p:sp>
      <p:sp>
        <p:nvSpPr>
          <p:cNvPr id="6" name="Rechteck 5">
            <a:extLst>
              <a:ext uri="{FF2B5EF4-FFF2-40B4-BE49-F238E27FC236}">
                <a16:creationId xmlns:a16="http://schemas.microsoft.com/office/drawing/2014/main" id="{72BDFA10-E688-A9F7-0436-3F8F6278ADD8}"/>
              </a:ext>
            </a:extLst>
          </p:cNvPr>
          <p:cNvSpPr/>
          <p:nvPr/>
        </p:nvSpPr>
        <p:spPr>
          <a:xfrm>
            <a:off x="251520" y="3634389"/>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4. Look Back</a:t>
            </a:r>
          </a:p>
        </p:txBody>
      </p:sp>
      <p:sp>
        <p:nvSpPr>
          <p:cNvPr id="7" name="Rechteck 6">
            <a:extLst>
              <a:ext uri="{FF2B5EF4-FFF2-40B4-BE49-F238E27FC236}">
                <a16:creationId xmlns:a16="http://schemas.microsoft.com/office/drawing/2014/main" id="{915488B0-64BB-CF9B-04D3-9EE5827FDC44}"/>
              </a:ext>
            </a:extLst>
          </p:cNvPr>
          <p:cNvSpPr/>
          <p:nvPr/>
        </p:nvSpPr>
        <p:spPr>
          <a:xfrm>
            <a:off x="251520" y="2793225"/>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3. Execute</a:t>
            </a:r>
          </a:p>
        </p:txBody>
      </p:sp>
      <p:sp>
        <p:nvSpPr>
          <p:cNvPr id="8" name="Rechteck 7">
            <a:extLst>
              <a:ext uri="{FF2B5EF4-FFF2-40B4-BE49-F238E27FC236}">
                <a16:creationId xmlns:a16="http://schemas.microsoft.com/office/drawing/2014/main" id="{5F7328B4-E038-8829-EB54-AF3ACFCE9F0B}"/>
              </a:ext>
            </a:extLst>
          </p:cNvPr>
          <p:cNvSpPr/>
          <p:nvPr/>
        </p:nvSpPr>
        <p:spPr>
          <a:xfrm>
            <a:off x="5364088" y="1131590"/>
            <a:ext cx="1440160" cy="3888432"/>
          </a:xfrm>
          <a:prstGeom prst="rect">
            <a:avLst/>
          </a:prstGeom>
          <a:solidFill>
            <a:schemeClr val="accent3">
              <a:lumMod val="20000"/>
              <a:lumOff val="80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noProof="0" dirty="0">
                <a:solidFill>
                  <a:schemeClr val="tx1"/>
                </a:solidFill>
              </a:rPr>
              <a:t>disease.py</a:t>
            </a:r>
          </a:p>
          <a:p>
            <a:pPr algn="ctr"/>
            <a:endParaRPr lang="en-US" sz="1400" noProof="0" dirty="0">
              <a:solidFill>
                <a:schemeClr val="tx1"/>
              </a:solidFill>
            </a:endParaRPr>
          </a:p>
          <a:p>
            <a:r>
              <a:rPr lang="en-US" sz="1400" noProof="0" dirty="0">
                <a:solidFill>
                  <a:schemeClr val="tx1"/>
                </a:solidFill>
              </a:rPr>
              <a:t>parameters</a:t>
            </a:r>
          </a:p>
          <a:p>
            <a:endParaRPr lang="en-US" sz="500" noProof="0" dirty="0">
              <a:solidFill>
                <a:schemeClr val="tx1"/>
              </a:solidFill>
            </a:endParaRPr>
          </a:p>
          <a:p>
            <a:r>
              <a:rPr lang="en-US" sz="1400" noProof="0" dirty="0">
                <a:solidFill>
                  <a:schemeClr val="tx1"/>
                </a:solidFill>
              </a:rPr>
              <a:t>seed</a:t>
            </a:r>
          </a:p>
        </p:txBody>
      </p:sp>
      <p:sp>
        <p:nvSpPr>
          <p:cNvPr id="9" name="Pfeil: Fünfeck 8">
            <a:extLst>
              <a:ext uri="{FF2B5EF4-FFF2-40B4-BE49-F238E27FC236}">
                <a16:creationId xmlns:a16="http://schemas.microsoft.com/office/drawing/2014/main" id="{5F840039-5C30-28BB-1248-C08322F7F762}"/>
              </a:ext>
            </a:extLst>
          </p:cNvPr>
          <p:cNvSpPr/>
          <p:nvPr/>
        </p:nvSpPr>
        <p:spPr>
          <a:xfrm rot="10800000" flipV="1">
            <a:off x="6178232" y="2227627"/>
            <a:ext cx="2714248" cy="488139"/>
          </a:xfrm>
          <a:prstGeom prst="homePlate">
            <a:avLst/>
          </a:prstGeom>
          <a:solidFill>
            <a:schemeClr val="accent3">
              <a:lumMod val="20000"/>
              <a:lumOff val="80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noProof="0" dirty="0">
                <a:solidFill>
                  <a:schemeClr val="tx1"/>
                </a:solidFill>
              </a:rPr>
              <a:t>initialization.py</a:t>
            </a:r>
          </a:p>
        </p:txBody>
      </p:sp>
      <p:sp>
        <p:nvSpPr>
          <p:cNvPr id="10" name="Pfeil: Fünfeck 9">
            <a:extLst>
              <a:ext uri="{FF2B5EF4-FFF2-40B4-BE49-F238E27FC236}">
                <a16:creationId xmlns:a16="http://schemas.microsoft.com/office/drawing/2014/main" id="{6C6D3A69-EA36-431C-989B-176A8E20A6FB}"/>
              </a:ext>
            </a:extLst>
          </p:cNvPr>
          <p:cNvSpPr/>
          <p:nvPr/>
        </p:nvSpPr>
        <p:spPr>
          <a:xfrm rot="10800000" flipV="1">
            <a:off x="6178232" y="2947707"/>
            <a:ext cx="2714248" cy="488139"/>
          </a:xfrm>
          <a:prstGeom prst="homePlate">
            <a:avLst/>
          </a:prstGeom>
          <a:solidFill>
            <a:schemeClr val="accent3">
              <a:lumMod val="20000"/>
              <a:lumOff val="80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noProof="0" dirty="0">
                <a:solidFill>
                  <a:schemeClr val="tx1"/>
                </a:solidFill>
              </a:rPr>
              <a:t>dynamics.py</a:t>
            </a:r>
          </a:p>
        </p:txBody>
      </p:sp>
      <p:sp>
        <p:nvSpPr>
          <p:cNvPr id="11" name="Pfeil: Fünfeck 10">
            <a:extLst>
              <a:ext uri="{FF2B5EF4-FFF2-40B4-BE49-F238E27FC236}">
                <a16:creationId xmlns:a16="http://schemas.microsoft.com/office/drawing/2014/main" id="{817B5C85-5B5C-7F77-DA33-4D9E545D9A24}"/>
              </a:ext>
            </a:extLst>
          </p:cNvPr>
          <p:cNvSpPr/>
          <p:nvPr/>
        </p:nvSpPr>
        <p:spPr>
          <a:xfrm rot="10800000" flipV="1">
            <a:off x="6178232" y="4387866"/>
            <a:ext cx="2714248" cy="488139"/>
          </a:xfrm>
          <a:prstGeom prst="homePlate">
            <a:avLst/>
          </a:prstGeom>
          <a:solidFill>
            <a:schemeClr val="accent3">
              <a:lumMod val="20000"/>
              <a:lumOff val="80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noProof="0" dirty="0">
                <a:solidFill>
                  <a:schemeClr val="tx1"/>
                </a:solidFill>
              </a:rPr>
              <a:t>visualization.py</a:t>
            </a:r>
          </a:p>
        </p:txBody>
      </p:sp>
      <p:sp>
        <p:nvSpPr>
          <p:cNvPr id="12" name="Pfeil: gebogen 11">
            <a:extLst>
              <a:ext uri="{FF2B5EF4-FFF2-40B4-BE49-F238E27FC236}">
                <a16:creationId xmlns:a16="http://schemas.microsoft.com/office/drawing/2014/main" id="{BF56F29E-6DF9-75A0-C312-CE8B32C613F6}"/>
              </a:ext>
            </a:extLst>
          </p:cNvPr>
          <p:cNvSpPr/>
          <p:nvPr/>
        </p:nvSpPr>
        <p:spPr>
          <a:xfrm rot="2288521" flipV="1">
            <a:off x="5564891" y="2812935"/>
            <a:ext cx="720080" cy="720080"/>
          </a:xfrm>
          <a:prstGeom prst="circularArrow">
            <a:avLst>
              <a:gd name="adj1" fmla="val 12500"/>
              <a:gd name="adj2" fmla="val 1142319"/>
              <a:gd name="adj3" fmla="val 20457681"/>
              <a:gd name="adj4" fmla="val 4349517"/>
              <a:gd name="adj5" fmla="val 12500"/>
            </a:avLst>
          </a:prstGeom>
          <a:solidFill>
            <a:schemeClr val="accent3">
              <a:lumMod val="20000"/>
              <a:lumOff val="80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endParaRPr>
          </a:p>
        </p:txBody>
      </p:sp>
      <p:sp>
        <p:nvSpPr>
          <p:cNvPr id="13" name="Rechteck 12">
            <a:extLst>
              <a:ext uri="{FF2B5EF4-FFF2-40B4-BE49-F238E27FC236}">
                <a16:creationId xmlns:a16="http://schemas.microsoft.com/office/drawing/2014/main" id="{747359FC-47E1-4DA9-1E5B-B54ED11F8E69}"/>
              </a:ext>
            </a:extLst>
          </p:cNvPr>
          <p:cNvSpPr/>
          <p:nvPr/>
        </p:nvSpPr>
        <p:spPr>
          <a:xfrm>
            <a:off x="7020272" y="3573094"/>
            <a:ext cx="864096" cy="572114"/>
          </a:xfrm>
          <a:prstGeom prst="rect">
            <a:avLst/>
          </a:prstGeom>
          <a:solidFill>
            <a:schemeClr val="accent3">
              <a:lumMod val="20000"/>
              <a:lumOff val="80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de-DE" sz="1400" dirty="0" err="1">
                <a:solidFill>
                  <a:schemeClr val="tx1"/>
                </a:solidFill>
              </a:rPr>
              <a:t>move-ment</a:t>
            </a:r>
            <a:endParaRPr lang="de-DE" sz="1400" dirty="0">
              <a:solidFill>
                <a:schemeClr val="tx1"/>
              </a:solidFill>
            </a:endParaRPr>
          </a:p>
        </p:txBody>
      </p:sp>
      <p:sp>
        <p:nvSpPr>
          <p:cNvPr id="15" name="Rechteck 14">
            <a:extLst>
              <a:ext uri="{FF2B5EF4-FFF2-40B4-BE49-F238E27FC236}">
                <a16:creationId xmlns:a16="http://schemas.microsoft.com/office/drawing/2014/main" id="{30C43A91-442F-FCD9-337A-82BD1B0E4E7C}"/>
              </a:ext>
            </a:extLst>
          </p:cNvPr>
          <p:cNvSpPr/>
          <p:nvPr/>
        </p:nvSpPr>
        <p:spPr>
          <a:xfrm>
            <a:off x="8028384" y="3573093"/>
            <a:ext cx="864096" cy="572114"/>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de-DE" sz="1400" dirty="0">
                <a:solidFill>
                  <a:schemeClr val="tx1">
                    <a:lumMod val="50000"/>
                    <a:lumOff val="50000"/>
                  </a:schemeClr>
                </a:solidFill>
              </a:rPr>
              <a:t>inter-action</a:t>
            </a:r>
          </a:p>
        </p:txBody>
      </p:sp>
      <p:cxnSp>
        <p:nvCxnSpPr>
          <p:cNvPr id="18" name="Gerader Verbinder 17">
            <a:extLst>
              <a:ext uri="{FF2B5EF4-FFF2-40B4-BE49-F238E27FC236}">
                <a16:creationId xmlns:a16="http://schemas.microsoft.com/office/drawing/2014/main" id="{A98B03C4-56E1-45CB-FE46-83C3207F8A35}"/>
              </a:ext>
            </a:extLst>
          </p:cNvPr>
          <p:cNvCxnSpPr>
            <a:stCxn id="13" idx="0"/>
          </p:cNvCxnSpPr>
          <p:nvPr/>
        </p:nvCxnSpPr>
        <p:spPr>
          <a:xfrm flipV="1">
            <a:off x="7452320" y="3435846"/>
            <a:ext cx="0" cy="137248"/>
          </a:xfrm>
          <a:prstGeom prst="line">
            <a:avLst/>
          </a:prstGeom>
          <a:ln>
            <a:solidFill>
              <a:srgbClr val="00B050"/>
            </a:solidFill>
          </a:ln>
        </p:spPr>
        <p:style>
          <a:lnRef idx="2">
            <a:schemeClr val="accent1">
              <a:shade val="15000"/>
            </a:schemeClr>
          </a:lnRef>
          <a:fillRef idx="1">
            <a:schemeClr val="accent1"/>
          </a:fillRef>
          <a:effectRef idx="0">
            <a:schemeClr val="accent1"/>
          </a:effectRef>
          <a:fontRef idx="minor">
            <a:schemeClr val="lt1"/>
          </a:fontRef>
        </p:style>
      </p:cxnSp>
      <p:cxnSp>
        <p:nvCxnSpPr>
          <p:cNvPr id="19" name="Gerader Verbinder 18">
            <a:extLst>
              <a:ext uri="{FF2B5EF4-FFF2-40B4-BE49-F238E27FC236}">
                <a16:creationId xmlns:a16="http://schemas.microsoft.com/office/drawing/2014/main" id="{0F62ADB9-A813-A254-B548-DA5D314AB487}"/>
              </a:ext>
            </a:extLst>
          </p:cNvPr>
          <p:cNvCxnSpPr>
            <a:cxnSpLocks/>
            <a:stCxn id="15" idx="0"/>
          </p:cNvCxnSpPr>
          <p:nvPr/>
        </p:nvCxnSpPr>
        <p:spPr>
          <a:xfrm flipH="1" flipV="1">
            <a:off x="8460431" y="3435845"/>
            <a:ext cx="1" cy="137248"/>
          </a:xfrm>
          <a:prstGeom prst="line">
            <a:avLst/>
          </a:prstGeom>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40891000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C9E7D-BD75-A4B6-F88E-30FA63D3DEE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F1DFE59-19E6-F950-A048-154C21141C46}"/>
              </a:ext>
            </a:extLst>
          </p:cNvPr>
          <p:cNvSpPr>
            <a:spLocks noGrp="1"/>
          </p:cNvSpPr>
          <p:nvPr>
            <p:ph type="title"/>
          </p:nvPr>
        </p:nvSpPr>
        <p:spPr/>
        <p:txBody>
          <a:bodyPr/>
          <a:lstStyle/>
          <a:p>
            <a:r>
              <a:rPr lang="en-US" noProof="0" dirty="0"/>
              <a:t>Example:</a:t>
            </a:r>
            <a:br>
              <a:rPr lang="en-US" noProof="0" dirty="0"/>
            </a:br>
            <a:r>
              <a:rPr lang="en-US" noProof="0" dirty="0"/>
              <a:t>Agent based modelling the diffusion of ideas or diseases</a:t>
            </a:r>
          </a:p>
        </p:txBody>
      </p:sp>
      <p:sp>
        <p:nvSpPr>
          <p:cNvPr id="3" name="Rechteck 2">
            <a:extLst>
              <a:ext uri="{FF2B5EF4-FFF2-40B4-BE49-F238E27FC236}">
                <a16:creationId xmlns:a16="http://schemas.microsoft.com/office/drawing/2014/main" id="{20D7DDCB-27A7-D384-1E65-F2D28B658047}"/>
              </a:ext>
            </a:extLst>
          </p:cNvPr>
          <p:cNvSpPr/>
          <p:nvPr/>
        </p:nvSpPr>
        <p:spPr>
          <a:xfrm>
            <a:off x="1691680" y="1131590"/>
            <a:ext cx="3528392" cy="3888432"/>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noProof="0" dirty="0">
                <a:solidFill>
                  <a:schemeClr val="tx1"/>
                </a:solidFill>
              </a:rPr>
              <a:t>These interaction dynamics are as follows:</a:t>
            </a:r>
          </a:p>
          <a:p>
            <a:pPr marL="182563" indent="-182563">
              <a:spcAft>
                <a:spcPts val="600"/>
              </a:spcAft>
              <a:buFont typeface="Arial" panose="020B0604020202020204" pitchFamily="34" charset="0"/>
              <a:buChar char="•"/>
            </a:pPr>
            <a:r>
              <a:rPr lang="en-US" sz="1400" noProof="0" dirty="0">
                <a:solidFill>
                  <a:schemeClr val="tx1"/>
                </a:solidFill>
              </a:rPr>
              <a:t>If an agent wants to move to an already occupied cell, then an interaction takes place</a:t>
            </a:r>
            <a:r>
              <a:rPr lang="en-US" sz="1400" dirty="0">
                <a:solidFill>
                  <a:schemeClr val="tx1"/>
                </a:solidFill>
              </a:rPr>
              <a:t>:</a:t>
            </a:r>
          </a:p>
          <a:p>
            <a:pPr marL="450850" indent="-268288">
              <a:spcAft>
                <a:spcPts val="600"/>
              </a:spcAft>
              <a:buFont typeface="Symbol" panose="05050102010706020507" pitchFamily="18" charset="2"/>
              <a:buChar char="-"/>
            </a:pPr>
            <a:r>
              <a:rPr lang="en-US" sz="1400" noProof="0" dirty="0">
                <a:solidFill>
                  <a:schemeClr val="tx1"/>
                </a:solidFill>
              </a:rPr>
              <a:t>if both agents are infected or susceptible, nothing happens; the agents stay where they are and change their direction randomly</a:t>
            </a:r>
          </a:p>
          <a:p>
            <a:pPr marL="450850" indent="-268288">
              <a:spcAft>
                <a:spcPts val="600"/>
              </a:spcAft>
              <a:buFont typeface="Symbol" panose="05050102010706020507" pitchFamily="18" charset="2"/>
              <a:buChar char="-"/>
            </a:pPr>
            <a:r>
              <a:rPr lang="en-US" sz="1400" dirty="0">
                <a:solidFill>
                  <a:schemeClr val="tx1"/>
                </a:solidFill>
              </a:rPr>
              <a:t>if one of the agents is susceptible and the other an adapter/ infected, then by a probability </a:t>
            </a:r>
            <a:r>
              <a:rPr lang="en-US" sz="1400" i="1" dirty="0">
                <a:solidFill>
                  <a:schemeClr val="tx1"/>
                </a:solidFill>
              </a:rPr>
              <a:t>p</a:t>
            </a:r>
            <a:r>
              <a:rPr lang="en-US" sz="1400" dirty="0">
                <a:solidFill>
                  <a:schemeClr val="tx1"/>
                </a:solidFill>
              </a:rPr>
              <a:t> the susceptible gets an adopter/ infected as well; the agents stay where they are and change their direction randomly</a:t>
            </a:r>
          </a:p>
        </p:txBody>
      </p:sp>
      <p:sp>
        <p:nvSpPr>
          <p:cNvPr id="4" name="Rechteck 3">
            <a:extLst>
              <a:ext uri="{FF2B5EF4-FFF2-40B4-BE49-F238E27FC236}">
                <a16:creationId xmlns:a16="http://schemas.microsoft.com/office/drawing/2014/main" id="{515A09B0-BA15-66FD-18E5-E93E58740B9F}"/>
              </a:ext>
            </a:extLst>
          </p:cNvPr>
          <p:cNvSpPr/>
          <p:nvPr/>
        </p:nvSpPr>
        <p:spPr>
          <a:xfrm>
            <a:off x="251520" y="1131590"/>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1. Understand the Problem</a:t>
            </a:r>
          </a:p>
        </p:txBody>
      </p:sp>
      <p:sp>
        <p:nvSpPr>
          <p:cNvPr id="5" name="Rechteck 4">
            <a:extLst>
              <a:ext uri="{FF2B5EF4-FFF2-40B4-BE49-F238E27FC236}">
                <a16:creationId xmlns:a16="http://schemas.microsoft.com/office/drawing/2014/main" id="{B671A0C2-AC63-B14E-9468-21EDC2FE7DD8}"/>
              </a:ext>
            </a:extLst>
          </p:cNvPr>
          <p:cNvSpPr/>
          <p:nvPr/>
        </p:nvSpPr>
        <p:spPr>
          <a:xfrm>
            <a:off x="251520" y="1952061"/>
            <a:ext cx="1296144" cy="709613"/>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2. Plan</a:t>
            </a:r>
          </a:p>
        </p:txBody>
      </p:sp>
      <p:sp>
        <p:nvSpPr>
          <p:cNvPr id="6" name="Rechteck 5">
            <a:extLst>
              <a:ext uri="{FF2B5EF4-FFF2-40B4-BE49-F238E27FC236}">
                <a16:creationId xmlns:a16="http://schemas.microsoft.com/office/drawing/2014/main" id="{DC5A933C-6F1B-5CDC-F5A6-F18BBDF17119}"/>
              </a:ext>
            </a:extLst>
          </p:cNvPr>
          <p:cNvSpPr/>
          <p:nvPr/>
        </p:nvSpPr>
        <p:spPr>
          <a:xfrm>
            <a:off x="251520" y="3634389"/>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4. Look Back</a:t>
            </a:r>
          </a:p>
        </p:txBody>
      </p:sp>
      <p:sp>
        <p:nvSpPr>
          <p:cNvPr id="7" name="Rechteck 6">
            <a:extLst>
              <a:ext uri="{FF2B5EF4-FFF2-40B4-BE49-F238E27FC236}">
                <a16:creationId xmlns:a16="http://schemas.microsoft.com/office/drawing/2014/main" id="{19F0E04C-EAC8-7754-611F-E47A5E940834}"/>
              </a:ext>
            </a:extLst>
          </p:cNvPr>
          <p:cNvSpPr/>
          <p:nvPr/>
        </p:nvSpPr>
        <p:spPr>
          <a:xfrm>
            <a:off x="251520" y="2793225"/>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3. Execute</a:t>
            </a:r>
          </a:p>
        </p:txBody>
      </p:sp>
      <p:sp>
        <p:nvSpPr>
          <p:cNvPr id="8" name="Rechteck 7">
            <a:extLst>
              <a:ext uri="{FF2B5EF4-FFF2-40B4-BE49-F238E27FC236}">
                <a16:creationId xmlns:a16="http://schemas.microsoft.com/office/drawing/2014/main" id="{A638C8DC-9CE7-13D3-FE7A-45A035C99B51}"/>
              </a:ext>
            </a:extLst>
          </p:cNvPr>
          <p:cNvSpPr/>
          <p:nvPr/>
        </p:nvSpPr>
        <p:spPr>
          <a:xfrm>
            <a:off x="5364088" y="1131590"/>
            <a:ext cx="1440160" cy="3888432"/>
          </a:xfrm>
          <a:prstGeom prst="rect">
            <a:avLst/>
          </a:prstGeom>
          <a:solidFill>
            <a:schemeClr val="accent3">
              <a:lumMod val="20000"/>
              <a:lumOff val="80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noProof="0" dirty="0">
                <a:solidFill>
                  <a:schemeClr val="tx1"/>
                </a:solidFill>
              </a:rPr>
              <a:t>disease.py</a:t>
            </a:r>
          </a:p>
          <a:p>
            <a:pPr algn="ctr"/>
            <a:endParaRPr lang="en-US" sz="1400" noProof="0" dirty="0">
              <a:solidFill>
                <a:schemeClr val="tx1"/>
              </a:solidFill>
            </a:endParaRPr>
          </a:p>
          <a:p>
            <a:r>
              <a:rPr lang="en-US" sz="1400" noProof="0" dirty="0">
                <a:solidFill>
                  <a:schemeClr val="tx1"/>
                </a:solidFill>
              </a:rPr>
              <a:t>parameters</a:t>
            </a:r>
          </a:p>
          <a:p>
            <a:endParaRPr lang="en-US" sz="500" noProof="0" dirty="0">
              <a:solidFill>
                <a:schemeClr val="tx1"/>
              </a:solidFill>
            </a:endParaRPr>
          </a:p>
          <a:p>
            <a:r>
              <a:rPr lang="en-US" sz="1400" noProof="0" dirty="0">
                <a:solidFill>
                  <a:schemeClr val="tx1"/>
                </a:solidFill>
              </a:rPr>
              <a:t>seed</a:t>
            </a:r>
          </a:p>
        </p:txBody>
      </p:sp>
      <p:sp>
        <p:nvSpPr>
          <p:cNvPr id="9" name="Pfeil: Fünfeck 8">
            <a:extLst>
              <a:ext uri="{FF2B5EF4-FFF2-40B4-BE49-F238E27FC236}">
                <a16:creationId xmlns:a16="http://schemas.microsoft.com/office/drawing/2014/main" id="{64653D7C-91C6-1737-57CF-08C676A664DD}"/>
              </a:ext>
            </a:extLst>
          </p:cNvPr>
          <p:cNvSpPr/>
          <p:nvPr/>
        </p:nvSpPr>
        <p:spPr>
          <a:xfrm rot="10800000" flipV="1">
            <a:off x="6178232" y="2227627"/>
            <a:ext cx="2714248" cy="488139"/>
          </a:xfrm>
          <a:prstGeom prst="homePlate">
            <a:avLst/>
          </a:prstGeom>
          <a:solidFill>
            <a:schemeClr val="accent3">
              <a:lumMod val="20000"/>
              <a:lumOff val="80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noProof="0" dirty="0">
                <a:solidFill>
                  <a:schemeClr val="tx1"/>
                </a:solidFill>
              </a:rPr>
              <a:t>initialization.py</a:t>
            </a:r>
          </a:p>
        </p:txBody>
      </p:sp>
      <p:sp>
        <p:nvSpPr>
          <p:cNvPr id="10" name="Pfeil: Fünfeck 9">
            <a:extLst>
              <a:ext uri="{FF2B5EF4-FFF2-40B4-BE49-F238E27FC236}">
                <a16:creationId xmlns:a16="http://schemas.microsoft.com/office/drawing/2014/main" id="{BE3F1D25-BA1E-D5B4-1B9D-6108A1B2D27D}"/>
              </a:ext>
            </a:extLst>
          </p:cNvPr>
          <p:cNvSpPr/>
          <p:nvPr/>
        </p:nvSpPr>
        <p:spPr>
          <a:xfrm rot="10800000" flipV="1">
            <a:off x="6178232" y="2947707"/>
            <a:ext cx="2714248" cy="488139"/>
          </a:xfrm>
          <a:prstGeom prst="homePlate">
            <a:avLst/>
          </a:prstGeom>
          <a:solidFill>
            <a:schemeClr val="accent3">
              <a:lumMod val="20000"/>
              <a:lumOff val="80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noProof="0" dirty="0">
                <a:solidFill>
                  <a:schemeClr val="tx1"/>
                </a:solidFill>
              </a:rPr>
              <a:t>dynamics.py</a:t>
            </a:r>
          </a:p>
        </p:txBody>
      </p:sp>
      <p:sp>
        <p:nvSpPr>
          <p:cNvPr id="11" name="Pfeil: Fünfeck 10">
            <a:extLst>
              <a:ext uri="{FF2B5EF4-FFF2-40B4-BE49-F238E27FC236}">
                <a16:creationId xmlns:a16="http://schemas.microsoft.com/office/drawing/2014/main" id="{E241F812-F886-2E2C-A593-D1861CE27D07}"/>
              </a:ext>
            </a:extLst>
          </p:cNvPr>
          <p:cNvSpPr/>
          <p:nvPr/>
        </p:nvSpPr>
        <p:spPr>
          <a:xfrm rot="10800000" flipV="1">
            <a:off x="6178232" y="4387866"/>
            <a:ext cx="2714248" cy="488139"/>
          </a:xfrm>
          <a:prstGeom prst="homePlate">
            <a:avLst/>
          </a:prstGeom>
          <a:solidFill>
            <a:schemeClr val="accent3">
              <a:lumMod val="20000"/>
              <a:lumOff val="80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noProof="0" dirty="0">
                <a:solidFill>
                  <a:schemeClr val="tx1"/>
                </a:solidFill>
              </a:rPr>
              <a:t>visualization.py</a:t>
            </a:r>
          </a:p>
        </p:txBody>
      </p:sp>
      <p:sp>
        <p:nvSpPr>
          <p:cNvPr id="12" name="Pfeil: gebogen 11">
            <a:extLst>
              <a:ext uri="{FF2B5EF4-FFF2-40B4-BE49-F238E27FC236}">
                <a16:creationId xmlns:a16="http://schemas.microsoft.com/office/drawing/2014/main" id="{A95415A7-8C6F-5AC4-30A4-5D837D575A74}"/>
              </a:ext>
            </a:extLst>
          </p:cNvPr>
          <p:cNvSpPr/>
          <p:nvPr/>
        </p:nvSpPr>
        <p:spPr>
          <a:xfrm rot="2288521" flipV="1">
            <a:off x="5564891" y="2812935"/>
            <a:ext cx="720080" cy="720080"/>
          </a:xfrm>
          <a:prstGeom prst="circularArrow">
            <a:avLst>
              <a:gd name="adj1" fmla="val 12500"/>
              <a:gd name="adj2" fmla="val 1142319"/>
              <a:gd name="adj3" fmla="val 20457681"/>
              <a:gd name="adj4" fmla="val 4349517"/>
              <a:gd name="adj5" fmla="val 12500"/>
            </a:avLst>
          </a:prstGeom>
          <a:solidFill>
            <a:schemeClr val="accent3">
              <a:lumMod val="20000"/>
              <a:lumOff val="80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solidFill>
            </a:endParaRPr>
          </a:p>
        </p:txBody>
      </p:sp>
      <p:sp>
        <p:nvSpPr>
          <p:cNvPr id="13" name="Rechteck 12">
            <a:extLst>
              <a:ext uri="{FF2B5EF4-FFF2-40B4-BE49-F238E27FC236}">
                <a16:creationId xmlns:a16="http://schemas.microsoft.com/office/drawing/2014/main" id="{516BCA80-2D7F-47B4-241C-5E170CA263FC}"/>
              </a:ext>
            </a:extLst>
          </p:cNvPr>
          <p:cNvSpPr/>
          <p:nvPr/>
        </p:nvSpPr>
        <p:spPr>
          <a:xfrm>
            <a:off x="7020272" y="3573094"/>
            <a:ext cx="864096" cy="572114"/>
          </a:xfrm>
          <a:prstGeom prst="rect">
            <a:avLst/>
          </a:prstGeom>
          <a:solidFill>
            <a:schemeClr val="accent3">
              <a:lumMod val="20000"/>
              <a:lumOff val="80000"/>
            </a:scheme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err="1">
                <a:solidFill>
                  <a:schemeClr val="tx1"/>
                </a:solidFill>
              </a:rPr>
              <a:t>move-ment</a:t>
            </a:r>
            <a:endParaRPr lang="de-DE" sz="1400" dirty="0">
              <a:solidFill>
                <a:schemeClr val="tx1"/>
              </a:solidFill>
            </a:endParaRPr>
          </a:p>
        </p:txBody>
      </p:sp>
      <p:sp>
        <p:nvSpPr>
          <p:cNvPr id="15" name="Rechteck 14">
            <a:extLst>
              <a:ext uri="{FF2B5EF4-FFF2-40B4-BE49-F238E27FC236}">
                <a16:creationId xmlns:a16="http://schemas.microsoft.com/office/drawing/2014/main" id="{DF3AAB3F-E590-BFA5-BF5D-16BF662C7209}"/>
              </a:ext>
            </a:extLst>
          </p:cNvPr>
          <p:cNvSpPr/>
          <p:nvPr/>
        </p:nvSpPr>
        <p:spPr>
          <a:xfrm>
            <a:off x="8028384" y="3573093"/>
            <a:ext cx="864096" cy="572114"/>
          </a:xfrm>
          <a:prstGeom prst="rect">
            <a:avLst/>
          </a:prstGeom>
          <a:solidFill>
            <a:schemeClr val="accent2">
              <a:lumMod val="20000"/>
              <a:lumOff val="80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solidFill>
                  <a:schemeClr val="tx1"/>
                </a:solidFill>
              </a:rPr>
              <a:t>inter-action</a:t>
            </a:r>
          </a:p>
        </p:txBody>
      </p:sp>
      <p:cxnSp>
        <p:nvCxnSpPr>
          <p:cNvPr id="18" name="Gerader Verbinder 17">
            <a:extLst>
              <a:ext uri="{FF2B5EF4-FFF2-40B4-BE49-F238E27FC236}">
                <a16:creationId xmlns:a16="http://schemas.microsoft.com/office/drawing/2014/main" id="{786AF0BE-186D-E6A4-EA73-F98A547DCA4A}"/>
              </a:ext>
            </a:extLst>
          </p:cNvPr>
          <p:cNvCxnSpPr>
            <a:stCxn id="13" idx="0"/>
          </p:cNvCxnSpPr>
          <p:nvPr/>
        </p:nvCxnSpPr>
        <p:spPr>
          <a:xfrm flipV="1">
            <a:off x="7452320" y="3435846"/>
            <a:ext cx="0" cy="137248"/>
          </a:xfrm>
          <a:prstGeom prst="line">
            <a:avLst/>
          </a:prstGeom>
          <a:ln>
            <a:solidFill>
              <a:srgbClr val="00B050"/>
            </a:solidFill>
          </a:ln>
        </p:spPr>
        <p:style>
          <a:lnRef idx="2">
            <a:schemeClr val="accent1">
              <a:shade val="15000"/>
            </a:schemeClr>
          </a:lnRef>
          <a:fillRef idx="1">
            <a:schemeClr val="accent1"/>
          </a:fillRef>
          <a:effectRef idx="0">
            <a:schemeClr val="accent1"/>
          </a:effectRef>
          <a:fontRef idx="minor">
            <a:schemeClr val="lt1"/>
          </a:fontRef>
        </p:style>
      </p:cxnSp>
      <p:cxnSp>
        <p:nvCxnSpPr>
          <p:cNvPr id="19" name="Gerader Verbinder 18">
            <a:extLst>
              <a:ext uri="{FF2B5EF4-FFF2-40B4-BE49-F238E27FC236}">
                <a16:creationId xmlns:a16="http://schemas.microsoft.com/office/drawing/2014/main" id="{F362ED19-6068-537B-31D7-09CA9CC43E07}"/>
              </a:ext>
            </a:extLst>
          </p:cNvPr>
          <p:cNvCxnSpPr>
            <a:cxnSpLocks/>
            <a:stCxn id="15" idx="0"/>
          </p:cNvCxnSpPr>
          <p:nvPr/>
        </p:nvCxnSpPr>
        <p:spPr>
          <a:xfrm flipH="1" flipV="1">
            <a:off x="8460431" y="3435845"/>
            <a:ext cx="1" cy="137248"/>
          </a:xfrm>
          <a:prstGeom prst="line">
            <a:avLst/>
          </a:prstGeom>
          <a:ln>
            <a:solidFill>
              <a:srgbClr val="C00000"/>
            </a:solidFill>
          </a:ln>
        </p:spPr>
        <p:style>
          <a:lnRef idx="2">
            <a:schemeClr val="accent1">
              <a:shade val="15000"/>
            </a:schemeClr>
          </a:lnRef>
          <a:fillRef idx="1">
            <a:schemeClr val="accent1"/>
          </a:fillRef>
          <a:effectRef idx="0">
            <a:schemeClr val="accent1"/>
          </a:effectRef>
          <a:fontRef idx="minor">
            <a:schemeClr val="lt1"/>
          </a:fontRef>
        </p:style>
      </p:cxnSp>
      <p:sp>
        <p:nvSpPr>
          <p:cNvPr id="14" name="Textfeld 13">
            <a:extLst>
              <a:ext uri="{FF2B5EF4-FFF2-40B4-BE49-F238E27FC236}">
                <a16:creationId xmlns:a16="http://schemas.microsoft.com/office/drawing/2014/main" id="{E5E3CDFC-38BA-3EA6-CC5E-F5253EA0E915}"/>
              </a:ext>
            </a:extLst>
          </p:cNvPr>
          <p:cNvSpPr txBox="1"/>
          <p:nvPr/>
        </p:nvSpPr>
        <p:spPr>
          <a:xfrm rot="1247246">
            <a:off x="8626747" y="3501286"/>
            <a:ext cx="407484" cy="246221"/>
          </a:xfrm>
          <a:prstGeom prst="rect">
            <a:avLst/>
          </a:prstGeom>
          <a:solidFill>
            <a:srgbClr val="FFFF00"/>
          </a:solidFill>
        </p:spPr>
        <p:txBody>
          <a:bodyPr wrap="none" rtlCol="0">
            <a:spAutoFit/>
          </a:bodyPr>
          <a:lstStyle/>
          <a:p>
            <a:pPr algn="ctr"/>
            <a:r>
              <a:rPr lang="en-US" sz="1000" noProof="0" dirty="0">
                <a:solidFill>
                  <a:srgbClr val="C00000"/>
                </a:solidFill>
              </a:rPr>
              <a:t>new</a:t>
            </a:r>
          </a:p>
        </p:txBody>
      </p:sp>
    </p:spTree>
    <p:extLst>
      <p:ext uri="{BB962C8B-B14F-4D97-AF65-F5344CB8AC3E}">
        <p14:creationId xmlns:p14="http://schemas.microsoft.com/office/powerpoint/2010/main" val="20893933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Grafik 13">
            <a:extLst>
              <a:ext uri="{FF2B5EF4-FFF2-40B4-BE49-F238E27FC236}">
                <a16:creationId xmlns:a16="http://schemas.microsoft.com/office/drawing/2014/main" id="{3173C15E-8BDA-14CC-5543-9BE376EF80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520" y="1512168"/>
            <a:ext cx="3569704" cy="3569704"/>
          </a:xfrm>
          <a:prstGeom prst="rect">
            <a:avLst/>
          </a:prstGeom>
        </p:spPr>
      </p:pic>
      <p:pic>
        <p:nvPicPr>
          <p:cNvPr id="11" name="Grafik 10">
            <a:extLst>
              <a:ext uri="{FF2B5EF4-FFF2-40B4-BE49-F238E27FC236}">
                <a16:creationId xmlns:a16="http://schemas.microsoft.com/office/drawing/2014/main" id="{906D6EAC-3F9D-73CB-3F8A-C2FBB7ECF0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63989" y="1419622"/>
            <a:ext cx="3888432" cy="2916324"/>
          </a:xfrm>
          <a:prstGeom prst="rect">
            <a:avLst/>
          </a:prstGeom>
        </p:spPr>
      </p:pic>
      <p:sp>
        <p:nvSpPr>
          <p:cNvPr id="2" name="Titel 1">
            <a:extLst>
              <a:ext uri="{FF2B5EF4-FFF2-40B4-BE49-F238E27FC236}">
                <a16:creationId xmlns:a16="http://schemas.microsoft.com/office/drawing/2014/main" id="{FBD11B15-932D-A8DA-065B-3D827270942E}"/>
              </a:ext>
            </a:extLst>
          </p:cNvPr>
          <p:cNvSpPr>
            <a:spLocks noGrp="1"/>
          </p:cNvSpPr>
          <p:nvPr>
            <p:ph type="title"/>
          </p:nvPr>
        </p:nvSpPr>
        <p:spPr/>
        <p:txBody>
          <a:bodyPr/>
          <a:lstStyle/>
          <a:p>
            <a:r>
              <a:rPr lang="en-US" noProof="0" dirty="0"/>
              <a:t>Example:</a:t>
            </a:r>
            <a:br>
              <a:rPr lang="en-US" noProof="0" dirty="0"/>
            </a:br>
            <a:r>
              <a:rPr lang="en-US" noProof="0" dirty="0"/>
              <a:t>Agent based modelling the diffusion of ideas or diseases</a:t>
            </a:r>
          </a:p>
        </p:txBody>
      </p:sp>
      <p:sp>
        <p:nvSpPr>
          <p:cNvPr id="3" name="Rechteck 2">
            <a:extLst>
              <a:ext uri="{FF2B5EF4-FFF2-40B4-BE49-F238E27FC236}">
                <a16:creationId xmlns:a16="http://schemas.microsoft.com/office/drawing/2014/main" id="{39A81E9F-E030-86FC-5DD2-33A12388D8E2}"/>
              </a:ext>
            </a:extLst>
          </p:cNvPr>
          <p:cNvSpPr/>
          <p:nvPr/>
        </p:nvSpPr>
        <p:spPr>
          <a:xfrm>
            <a:off x="3923929" y="1131590"/>
            <a:ext cx="4968552" cy="288032"/>
          </a:xfrm>
          <a:prstGeom prst="rect">
            <a:avLst/>
          </a:prstGeom>
          <a:solidFill>
            <a:srgbClr val="00B050"/>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Time series</a:t>
            </a:r>
          </a:p>
        </p:txBody>
      </p:sp>
      <p:sp>
        <p:nvSpPr>
          <p:cNvPr id="4" name="Rechteck 3">
            <a:extLst>
              <a:ext uri="{FF2B5EF4-FFF2-40B4-BE49-F238E27FC236}">
                <a16:creationId xmlns:a16="http://schemas.microsoft.com/office/drawing/2014/main" id="{072AD442-1AAC-ED7B-B59A-E7ED1481F7EF}"/>
              </a:ext>
            </a:extLst>
          </p:cNvPr>
          <p:cNvSpPr/>
          <p:nvPr/>
        </p:nvSpPr>
        <p:spPr>
          <a:xfrm>
            <a:off x="251521" y="1131590"/>
            <a:ext cx="3569704" cy="288032"/>
          </a:xfrm>
          <a:prstGeom prst="rect">
            <a:avLst/>
          </a:prstGeom>
          <a:solidFill>
            <a:srgbClr val="00B050"/>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Animation (only 100 steps)</a:t>
            </a:r>
          </a:p>
        </p:txBody>
      </p:sp>
      <p:sp>
        <p:nvSpPr>
          <p:cNvPr id="5" name="Rechteck 4">
            <a:extLst>
              <a:ext uri="{FF2B5EF4-FFF2-40B4-BE49-F238E27FC236}">
                <a16:creationId xmlns:a16="http://schemas.microsoft.com/office/drawing/2014/main" id="{014D5B9B-294D-5F2D-1E1B-BA52FD19D734}"/>
              </a:ext>
            </a:extLst>
          </p:cNvPr>
          <p:cNvSpPr/>
          <p:nvPr/>
        </p:nvSpPr>
        <p:spPr>
          <a:xfrm>
            <a:off x="3923929" y="1491630"/>
            <a:ext cx="4968552" cy="3569704"/>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6213" indent="-176213">
              <a:spcAft>
                <a:spcPts val="600"/>
              </a:spcAft>
            </a:pPr>
            <a:endParaRPr lang="en-US" sz="1400" noProof="0" dirty="0">
              <a:solidFill>
                <a:schemeClr val="tx1"/>
              </a:solidFill>
            </a:endParaRPr>
          </a:p>
        </p:txBody>
      </p:sp>
      <p:sp>
        <p:nvSpPr>
          <p:cNvPr id="6" name="Rechteck 5">
            <a:extLst>
              <a:ext uri="{FF2B5EF4-FFF2-40B4-BE49-F238E27FC236}">
                <a16:creationId xmlns:a16="http://schemas.microsoft.com/office/drawing/2014/main" id="{380561C4-C507-3BD4-99AB-5198CE223C1B}"/>
              </a:ext>
            </a:extLst>
          </p:cNvPr>
          <p:cNvSpPr/>
          <p:nvPr/>
        </p:nvSpPr>
        <p:spPr>
          <a:xfrm>
            <a:off x="251520" y="1491630"/>
            <a:ext cx="3569704" cy="3569704"/>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6213" indent="-176213">
              <a:spcAft>
                <a:spcPts val="600"/>
              </a:spcAft>
            </a:pPr>
            <a:endParaRPr lang="en-US" sz="1400" noProof="0" dirty="0">
              <a:solidFill>
                <a:schemeClr val="tx1"/>
              </a:solidFill>
            </a:endParaRPr>
          </a:p>
        </p:txBody>
      </p:sp>
      <p:sp>
        <p:nvSpPr>
          <p:cNvPr id="12" name="Textfeld 11">
            <a:extLst>
              <a:ext uri="{FF2B5EF4-FFF2-40B4-BE49-F238E27FC236}">
                <a16:creationId xmlns:a16="http://schemas.microsoft.com/office/drawing/2014/main" id="{B1E885E8-D8CF-4D9A-AC95-3BEA8E2BDC79}"/>
              </a:ext>
            </a:extLst>
          </p:cNvPr>
          <p:cNvSpPr txBox="1"/>
          <p:nvPr/>
        </p:nvSpPr>
        <p:spPr>
          <a:xfrm>
            <a:off x="3923928" y="4227934"/>
            <a:ext cx="4968552" cy="830997"/>
          </a:xfrm>
          <a:prstGeom prst="rect">
            <a:avLst/>
          </a:prstGeom>
          <a:noFill/>
        </p:spPr>
        <p:txBody>
          <a:bodyPr wrap="square">
            <a:spAutoFit/>
          </a:bodyPr>
          <a:lstStyle/>
          <a:p>
            <a:r>
              <a:rPr lang="en-US" sz="800" b="1" noProof="0" dirty="0">
                <a:latin typeface="Courier New" panose="02070309020205020404" pitchFamily="49" charset="0"/>
                <a:cs typeface="Courier New" panose="02070309020205020404" pitchFamily="49" charset="0"/>
              </a:rPr>
              <a:t># Simulation parameters</a:t>
            </a:r>
          </a:p>
          <a:p>
            <a:r>
              <a:rPr lang="en-US" sz="800" noProof="0" dirty="0">
                <a:latin typeface="Courier New" panose="02070309020205020404" pitchFamily="49" charset="0"/>
                <a:cs typeface="Courier New" panose="02070309020205020404" pitchFamily="49" charset="0"/>
              </a:rPr>
              <a:t>N = 50                       # Size of the lattice</a:t>
            </a:r>
          </a:p>
          <a:p>
            <a:r>
              <a:rPr lang="en-US" sz="800" noProof="0" dirty="0">
                <a:latin typeface="Courier New" panose="02070309020205020404" pitchFamily="49" charset="0"/>
                <a:cs typeface="Courier New" panose="02070309020205020404" pitchFamily="49" charset="0"/>
              </a:rPr>
              <a:t>T = 200                      # Maximum number of time steps</a:t>
            </a:r>
          </a:p>
          <a:p>
            <a:r>
              <a:rPr lang="en-US" sz="800" dirty="0">
                <a:latin typeface="Courier New" panose="02070309020205020404" pitchFamily="49" charset="0"/>
                <a:cs typeface="Courier New" panose="02070309020205020404" pitchFamily="49" charset="0"/>
              </a:rPr>
              <a:t>NS = 100                     # Initial number of susceptible individuals</a:t>
            </a:r>
          </a:p>
          <a:p>
            <a:r>
              <a:rPr lang="en-US" sz="800" dirty="0">
                <a:latin typeface="Courier New" panose="02070309020205020404" pitchFamily="49" charset="0"/>
                <a:cs typeface="Courier New" panose="02070309020205020404" pitchFamily="49" charset="0"/>
              </a:rPr>
              <a:t>NI = 20                      # Initial number of infected individuals</a:t>
            </a:r>
          </a:p>
          <a:p>
            <a:r>
              <a:rPr lang="en-US" sz="800" dirty="0" err="1">
                <a:latin typeface="Courier New" panose="02070309020205020404" pitchFamily="49" charset="0"/>
                <a:cs typeface="Courier New" panose="02070309020205020404" pitchFamily="49" charset="0"/>
              </a:rPr>
              <a:t>infection_probability</a:t>
            </a:r>
            <a:r>
              <a:rPr lang="en-US" sz="800" dirty="0">
                <a:latin typeface="Courier New" panose="02070309020205020404" pitchFamily="49" charset="0"/>
                <a:cs typeface="Courier New" panose="02070309020205020404" pitchFamily="49" charset="0"/>
              </a:rPr>
              <a:t> = 0.9  # Probability of infection</a:t>
            </a:r>
            <a:endParaRPr lang="en-US" sz="800" noProof="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0485372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Grafik 9">
            <a:extLst>
              <a:ext uri="{FF2B5EF4-FFF2-40B4-BE49-F238E27FC236}">
                <a16:creationId xmlns:a16="http://schemas.microsoft.com/office/drawing/2014/main" id="{F900C83D-730F-2209-8BD0-B1C5899164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543" y="1419622"/>
            <a:ext cx="4536505" cy="2721903"/>
          </a:xfrm>
          <a:prstGeom prst="rect">
            <a:avLst/>
          </a:prstGeom>
        </p:spPr>
      </p:pic>
      <p:sp>
        <p:nvSpPr>
          <p:cNvPr id="2" name="Titel 1">
            <a:extLst>
              <a:ext uri="{FF2B5EF4-FFF2-40B4-BE49-F238E27FC236}">
                <a16:creationId xmlns:a16="http://schemas.microsoft.com/office/drawing/2014/main" id="{54CA18ED-B01C-BA95-0339-C7C6D7CFF206}"/>
              </a:ext>
            </a:extLst>
          </p:cNvPr>
          <p:cNvSpPr>
            <a:spLocks noGrp="1"/>
          </p:cNvSpPr>
          <p:nvPr>
            <p:ph type="title"/>
          </p:nvPr>
        </p:nvSpPr>
        <p:spPr/>
        <p:txBody>
          <a:bodyPr/>
          <a:lstStyle/>
          <a:p>
            <a:r>
              <a:rPr lang="en-US" dirty="0"/>
              <a:t>Example:</a:t>
            </a:r>
            <a:br>
              <a:rPr lang="en-US" dirty="0"/>
            </a:br>
            <a:r>
              <a:rPr lang="en-US" dirty="0"/>
              <a:t>Agent based modelling the diffusion of ideas or diseases</a:t>
            </a:r>
            <a:endParaRPr lang="de-DE" dirty="0"/>
          </a:p>
        </p:txBody>
      </p:sp>
      <p:sp>
        <p:nvSpPr>
          <p:cNvPr id="5" name="Rechteck 4">
            <a:extLst>
              <a:ext uri="{FF2B5EF4-FFF2-40B4-BE49-F238E27FC236}">
                <a16:creationId xmlns:a16="http://schemas.microsoft.com/office/drawing/2014/main" id="{4552A6E9-AA1B-E858-CFE4-5A9D2E7D125F}"/>
              </a:ext>
            </a:extLst>
          </p:cNvPr>
          <p:cNvSpPr/>
          <p:nvPr/>
        </p:nvSpPr>
        <p:spPr>
          <a:xfrm>
            <a:off x="251521" y="1131590"/>
            <a:ext cx="4968552" cy="288032"/>
          </a:xfrm>
          <a:prstGeom prst="rect">
            <a:avLst/>
          </a:prstGeom>
          <a:solidFill>
            <a:srgbClr val="00B050"/>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Time series (Monte Carlo with 10 runs)</a:t>
            </a:r>
          </a:p>
        </p:txBody>
      </p:sp>
      <p:sp>
        <p:nvSpPr>
          <p:cNvPr id="6" name="Rechteck 5">
            <a:extLst>
              <a:ext uri="{FF2B5EF4-FFF2-40B4-BE49-F238E27FC236}">
                <a16:creationId xmlns:a16="http://schemas.microsoft.com/office/drawing/2014/main" id="{01845176-53A4-77D9-AB15-49B6CA881F71}"/>
              </a:ext>
            </a:extLst>
          </p:cNvPr>
          <p:cNvSpPr/>
          <p:nvPr/>
        </p:nvSpPr>
        <p:spPr>
          <a:xfrm>
            <a:off x="251521" y="1491630"/>
            <a:ext cx="4968552" cy="3569704"/>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6213" indent="-176213">
              <a:spcAft>
                <a:spcPts val="600"/>
              </a:spcAft>
            </a:pPr>
            <a:endParaRPr lang="en-US" sz="1400" noProof="0" dirty="0">
              <a:solidFill>
                <a:schemeClr val="tx1"/>
              </a:solidFill>
            </a:endParaRPr>
          </a:p>
        </p:txBody>
      </p:sp>
      <p:sp>
        <p:nvSpPr>
          <p:cNvPr id="7" name="Textfeld 6">
            <a:extLst>
              <a:ext uri="{FF2B5EF4-FFF2-40B4-BE49-F238E27FC236}">
                <a16:creationId xmlns:a16="http://schemas.microsoft.com/office/drawing/2014/main" id="{9D136B92-7238-0F4A-04FA-CB7637B79579}"/>
              </a:ext>
            </a:extLst>
          </p:cNvPr>
          <p:cNvSpPr txBox="1"/>
          <p:nvPr/>
        </p:nvSpPr>
        <p:spPr>
          <a:xfrm>
            <a:off x="251520" y="4227934"/>
            <a:ext cx="4968552" cy="830997"/>
          </a:xfrm>
          <a:prstGeom prst="rect">
            <a:avLst/>
          </a:prstGeom>
          <a:noFill/>
        </p:spPr>
        <p:txBody>
          <a:bodyPr wrap="square">
            <a:spAutoFit/>
          </a:bodyPr>
          <a:lstStyle/>
          <a:p>
            <a:r>
              <a:rPr lang="en-US" sz="800" b="1" noProof="0" dirty="0">
                <a:latin typeface="Courier New" panose="02070309020205020404" pitchFamily="49" charset="0"/>
                <a:cs typeface="Courier New" panose="02070309020205020404" pitchFamily="49" charset="0"/>
              </a:rPr>
              <a:t># Simulation parameters (10 Monte Carlo runs)</a:t>
            </a:r>
          </a:p>
          <a:p>
            <a:r>
              <a:rPr lang="en-US" sz="800" noProof="0" dirty="0">
                <a:latin typeface="Courier New" panose="02070309020205020404" pitchFamily="49" charset="0"/>
                <a:cs typeface="Courier New" panose="02070309020205020404" pitchFamily="49" charset="0"/>
              </a:rPr>
              <a:t>N = 50                       # Size of the lattice</a:t>
            </a:r>
          </a:p>
          <a:p>
            <a:r>
              <a:rPr lang="en-US" sz="800" noProof="0" dirty="0">
                <a:latin typeface="Courier New" panose="02070309020205020404" pitchFamily="49" charset="0"/>
                <a:cs typeface="Courier New" panose="02070309020205020404" pitchFamily="49" charset="0"/>
              </a:rPr>
              <a:t>T = 200                      # Maximum number of time steps</a:t>
            </a:r>
          </a:p>
          <a:p>
            <a:r>
              <a:rPr lang="en-US" sz="800" dirty="0">
                <a:latin typeface="Courier New" panose="02070309020205020404" pitchFamily="49" charset="0"/>
                <a:cs typeface="Courier New" panose="02070309020205020404" pitchFamily="49" charset="0"/>
              </a:rPr>
              <a:t>NS = 100                     # Initial number of susceptible individuals</a:t>
            </a:r>
          </a:p>
          <a:p>
            <a:r>
              <a:rPr lang="en-US" sz="800" dirty="0">
                <a:latin typeface="Courier New" panose="02070309020205020404" pitchFamily="49" charset="0"/>
                <a:cs typeface="Courier New" panose="02070309020205020404" pitchFamily="49" charset="0"/>
              </a:rPr>
              <a:t>NI = 20                      # Initial number of infected individuals</a:t>
            </a:r>
          </a:p>
          <a:p>
            <a:r>
              <a:rPr lang="en-US" sz="800" dirty="0" err="1">
                <a:latin typeface="Courier New" panose="02070309020205020404" pitchFamily="49" charset="0"/>
                <a:cs typeface="Courier New" panose="02070309020205020404" pitchFamily="49" charset="0"/>
              </a:rPr>
              <a:t>infection_probability</a:t>
            </a:r>
            <a:r>
              <a:rPr lang="en-US" sz="800" dirty="0">
                <a:latin typeface="Courier New" panose="02070309020205020404" pitchFamily="49" charset="0"/>
                <a:cs typeface="Courier New" panose="02070309020205020404" pitchFamily="49" charset="0"/>
              </a:rPr>
              <a:t> = 0.9  # Probability of infection</a:t>
            </a:r>
            <a:endParaRPr lang="en-US" sz="800" noProof="0" dirty="0">
              <a:latin typeface="Courier New" panose="02070309020205020404" pitchFamily="49" charset="0"/>
              <a:cs typeface="Courier New" panose="02070309020205020404" pitchFamily="49" charset="0"/>
            </a:endParaRPr>
          </a:p>
        </p:txBody>
      </p:sp>
      <p:sp>
        <p:nvSpPr>
          <p:cNvPr id="8" name="Rechteck 7">
            <a:extLst>
              <a:ext uri="{FF2B5EF4-FFF2-40B4-BE49-F238E27FC236}">
                <a16:creationId xmlns:a16="http://schemas.microsoft.com/office/drawing/2014/main" id="{C10CD74D-C476-1A75-F83B-6B0BB46822E2}"/>
              </a:ext>
            </a:extLst>
          </p:cNvPr>
          <p:cNvSpPr/>
          <p:nvPr/>
        </p:nvSpPr>
        <p:spPr>
          <a:xfrm>
            <a:off x="5364087" y="1131589"/>
            <a:ext cx="3528392" cy="3927341"/>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6213" indent="-176213">
              <a:spcAft>
                <a:spcPts val="600"/>
              </a:spcAft>
            </a:pPr>
            <a:r>
              <a:rPr lang="en-US" sz="1400" b="1" noProof="0" dirty="0">
                <a:solidFill>
                  <a:schemeClr val="tx1"/>
                </a:solidFill>
              </a:rPr>
              <a:t>Remark:</a:t>
            </a:r>
          </a:p>
          <a:p>
            <a:pPr marL="182563" indent="-182563">
              <a:spcAft>
                <a:spcPts val="600"/>
              </a:spcAft>
              <a:buFont typeface="Arial" panose="020B0604020202020204" pitchFamily="34" charset="0"/>
              <a:buChar char="•"/>
            </a:pPr>
            <a:r>
              <a:rPr lang="en-US" sz="1400" dirty="0">
                <a:solidFill>
                  <a:schemeClr val="tx1"/>
                </a:solidFill>
              </a:rPr>
              <a:t>As we are dealing with stochastic processes the display of just one time series may in general not be enough.</a:t>
            </a:r>
          </a:p>
          <a:p>
            <a:pPr marL="182563" indent="-182563">
              <a:spcAft>
                <a:spcPts val="600"/>
              </a:spcAft>
              <a:buFont typeface="Arial" panose="020B0604020202020204" pitchFamily="34" charset="0"/>
              <a:buChar char="•"/>
            </a:pPr>
            <a:r>
              <a:rPr lang="en-US" sz="1400" noProof="0" dirty="0">
                <a:solidFill>
                  <a:schemeClr val="tx1"/>
                </a:solidFill>
              </a:rPr>
              <a:t>To capture the effects of randomness better, one typically performs several simulations runs (with different realizations of the involved random variables).</a:t>
            </a:r>
          </a:p>
          <a:p>
            <a:pPr marL="182563" indent="-182563">
              <a:spcAft>
                <a:spcPts val="600"/>
              </a:spcAft>
              <a:buFont typeface="Arial" panose="020B0604020202020204" pitchFamily="34" charset="0"/>
              <a:buChar char="•"/>
            </a:pPr>
            <a:r>
              <a:rPr lang="en-US" sz="1400" dirty="0">
                <a:solidFill>
                  <a:schemeClr val="tx1"/>
                </a:solidFill>
              </a:rPr>
              <a:t>This is known as </a:t>
            </a:r>
            <a:r>
              <a:rPr lang="en-US" sz="1400" b="1" dirty="0">
                <a:solidFill>
                  <a:schemeClr val="tx1"/>
                </a:solidFill>
              </a:rPr>
              <a:t>Monte Carlo Simulation</a:t>
            </a:r>
            <a:r>
              <a:rPr lang="en-US" sz="1400" dirty="0">
                <a:solidFill>
                  <a:schemeClr val="tx1"/>
                </a:solidFill>
              </a:rPr>
              <a:t>.</a:t>
            </a:r>
          </a:p>
          <a:p>
            <a:pPr marL="182563" indent="-182563">
              <a:spcAft>
                <a:spcPts val="600"/>
              </a:spcAft>
              <a:buFont typeface="Arial" panose="020B0604020202020204" pitchFamily="34" charset="0"/>
              <a:buChar char="•"/>
            </a:pPr>
            <a:r>
              <a:rPr lang="en-US" sz="1400" noProof="0" dirty="0">
                <a:solidFill>
                  <a:schemeClr val="tx1"/>
                </a:solidFill>
              </a:rPr>
              <a:t>Form </a:t>
            </a:r>
            <a:r>
              <a:rPr lang="en-US" sz="1400" dirty="0">
                <a:solidFill>
                  <a:schemeClr val="tx1"/>
                </a:solidFill>
              </a:rPr>
              <a:t>a large enough number of simulations, the mean and the variance then can be computed.</a:t>
            </a:r>
          </a:p>
          <a:p>
            <a:pPr marL="182563" indent="-182563">
              <a:spcAft>
                <a:spcPts val="600"/>
              </a:spcAft>
              <a:buFont typeface="Arial" panose="020B0604020202020204" pitchFamily="34" charset="0"/>
              <a:buChar char="•"/>
            </a:pPr>
            <a:r>
              <a:rPr lang="en-US" sz="1400" noProof="0" dirty="0">
                <a:solidFill>
                  <a:schemeClr val="tx1"/>
                </a:solidFill>
              </a:rPr>
              <a:t>For this the </a:t>
            </a:r>
            <a:r>
              <a:rPr lang="en-US" sz="1400" dirty="0">
                <a:solidFill>
                  <a:schemeClr val="tx1"/>
                </a:solidFill>
              </a:rPr>
              <a:t>plotting routines (and the main routine) need to be updated.</a:t>
            </a:r>
            <a:endParaRPr lang="en-US" sz="1400" noProof="0" dirty="0">
              <a:solidFill>
                <a:schemeClr val="tx1"/>
              </a:solidFill>
            </a:endParaRPr>
          </a:p>
        </p:txBody>
      </p:sp>
    </p:spTree>
    <p:extLst>
      <p:ext uri="{BB962C8B-B14F-4D97-AF65-F5344CB8AC3E}">
        <p14:creationId xmlns:p14="http://schemas.microsoft.com/office/powerpoint/2010/main" val="39210607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8F7A4-8374-A207-AB9F-129E48FF3DA9}"/>
            </a:ext>
          </a:extLst>
        </p:cNvPr>
        <p:cNvGrpSpPr/>
        <p:nvPr/>
      </p:nvGrpSpPr>
      <p:grpSpPr>
        <a:xfrm>
          <a:off x="0" y="0"/>
          <a:ext cx="0" cy="0"/>
          <a:chOff x="0" y="0"/>
          <a:chExt cx="0" cy="0"/>
        </a:xfrm>
      </p:grpSpPr>
      <p:sp>
        <p:nvSpPr>
          <p:cNvPr id="2" name="Abgerundetes Rechteck 1">
            <a:extLst>
              <a:ext uri="{FF2B5EF4-FFF2-40B4-BE49-F238E27FC236}">
                <a16:creationId xmlns:a16="http://schemas.microsoft.com/office/drawing/2014/main" id="{B904C5A8-50B0-C575-BB40-35DB30AA15B5}"/>
              </a:ext>
            </a:extLst>
          </p:cNvPr>
          <p:cNvSpPr/>
          <p:nvPr/>
        </p:nvSpPr>
        <p:spPr>
          <a:xfrm>
            <a:off x="971600" y="2657826"/>
            <a:ext cx="7200800" cy="360040"/>
          </a:xfrm>
          <a:prstGeom prst="round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Textfeld 2">
            <a:extLst>
              <a:ext uri="{FF2B5EF4-FFF2-40B4-BE49-F238E27FC236}">
                <a16:creationId xmlns:a16="http://schemas.microsoft.com/office/drawing/2014/main" id="{0159C536-711C-B161-CCDB-76D89979D912}"/>
              </a:ext>
            </a:extLst>
          </p:cNvPr>
          <p:cNvSpPr txBox="1"/>
          <p:nvPr/>
        </p:nvSpPr>
        <p:spPr>
          <a:xfrm>
            <a:off x="971600" y="1131590"/>
            <a:ext cx="4620047" cy="2739211"/>
          </a:xfrm>
          <a:prstGeom prst="rect">
            <a:avLst/>
          </a:prstGeom>
          <a:noFill/>
        </p:spPr>
        <p:txBody>
          <a:bodyPr wrap="none" rtlCol="0">
            <a:spAutoFit/>
          </a:bodyPr>
          <a:lstStyle/>
          <a:p>
            <a:r>
              <a:rPr lang="en-US" b="1" noProof="0" dirty="0"/>
              <a:t>Topics</a:t>
            </a:r>
          </a:p>
          <a:p>
            <a:endParaRPr lang="en-US" sz="1000" noProof="0" dirty="0"/>
          </a:p>
          <a:p>
            <a:pPr lvl="1"/>
            <a:r>
              <a:rPr lang="en-US" noProof="0" dirty="0"/>
              <a:t>Deep-Dive Modeling</a:t>
            </a:r>
          </a:p>
          <a:p>
            <a:pPr lvl="1"/>
            <a:endParaRPr lang="en-US" noProof="0" dirty="0"/>
          </a:p>
          <a:p>
            <a:pPr lvl="1"/>
            <a:r>
              <a:rPr lang="en-US" noProof="0" dirty="0"/>
              <a:t>Diffusion of Ideas or Diseases</a:t>
            </a:r>
          </a:p>
          <a:p>
            <a:pPr lvl="1"/>
            <a:endParaRPr lang="en-US" noProof="0" dirty="0"/>
          </a:p>
          <a:p>
            <a:pPr lvl="1"/>
            <a:r>
              <a:rPr lang="en-US" b="1" noProof="0" dirty="0"/>
              <a:t>Mathematical Descriptions</a:t>
            </a:r>
          </a:p>
          <a:p>
            <a:pPr lvl="1"/>
            <a:endParaRPr lang="en-US" noProof="0" dirty="0"/>
          </a:p>
          <a:p>
            <a:pPr lvl="1"/>
            <a:r>
              <a:rPr lang="en-US" noProof="0" dirty="0"/>
              <a:t>On the Use of AI in Academia and Industry</a:t>
            </a:r>
          </a:p>
          <a:p>
            <a:pPr lvl="1"/>
            <a:endParaRPr lang="en-US" b="1" noProof="0" dirty="0"/>
          </a:p>
        </p:txBody>
      </p:sp>
    </p:spTree>
    <p:extLst>
      <p:ext uri="{BB962C8B-B14F-4D97-AF65-F5344CB8AC3E}">
        <p14:creationId xmlns:p14="http://schemas.microsoft.com/office/powerpoint/2010/main" val="22670111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Ellipse 16">
            <a:extLst>
              <a:ext uri="{FF2B5EF4-FFF2-40B4-BE49-F238E27FC236}">
                <a16:creationId xmlns:a16="http://schemas.microsoft.com/office/drawing/2014/main" id="{5FC0D86B-2C71-F2B3-105C-EED048F5A76D}"/>
              </a:ext>
            </a:extLst>
          </p:cNvPr>
          <p:cNvSpPr/>
          <p:nvPr/>
        </p:nvSpPr>
        <p:spPr>
          <a:xfrm>
            <a:off x="914864" y="1693668"/>
            <a:ext cx="4392488" cy="3091588"/>
          </a:xfrm>
          <a:prstGeom prst="ellipse">
            <a:avLst/>
          </a:prstGeom>
          <a:solidFill>
            <a:schemeClr val="tx2">
              <a:lumMod val="20000"/>
              <a:lumOff val="80000"/>
            </a:schemeClr>
          </a:solidFill>
          <a:ln>
            <a:solidFill>
              <a:schemeClr val="tx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hteck 13">
            <a:extLst>
              <a:ext uri="{FF2B5EF4-FFF2-40B4-BE49-F238E27FC236}">
                <a16:creationId xmlns:a16="http://schemas.microsoft.com/office/drawing/2014/main" id="{954232AA-7DC7-F3E2-7A3F-9D58F7B794D3}"/>
              </a:ext>
            </a:extLst>
          </p:cNvPr>
          <p:cNvSpPr/>
          <p:nvPr/>
        </p:nvSpPr>
        <p:spPr>
          <a:xfrm>
            <a:off x="2787072" y="1131590"/>
            <a:ext cx="1296144" cy="3667652"/>
          </a:xfrm>
          <a:prstGeom prst="rect">
            <a:avLst/>
          </a:prstGeom>
          <a:solidFill>
            <a:srgbClr val="4F81BD">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sz="1400" noProof="0" dirty="0"/>
          </a:p>
          <a:p>
            <a:pPr algn="ctr"/>
            <a:r>
              <a:rPr lang="en-US" sz="1400" noProof="0" dirty="0"/>
              <a:t>Application Centered Mathematics</a:t>
            </a:r>
          </a:p>
        </p:txBody>
      </p:sp>
      <p:sp>
        <p:nvSpPr>
          <p:cNvPr id="2" name="Titel 1">
            <a:extLst>
              <a:ext uri="{FF2B5EF4-FFF2-40B4-BE49-F238E27FC236}">
                <a16:creationId xmlns:a16="http://schemas.microsoft.com/office/drawing/2014/main" id="{54E9F612-F5C9-82ED-5727-EF31B2D39C08}"/>
              </a:ext>
            </a:extLst>
          </p:cNvPr>
          <p:cNvSpPr>
            <a:spLocks noGrp="1"/>
          </p:cNvSpPr>
          <p:nvPr>
            <p:ph type="title"/>
          </p:nvPr>
        </p:nvSpPr>
        <p:spPr/>
        <p:txBody>
          <a:bodyPr/>
          <a:lstStyle/>
          <a:p>
            <a:r>
              <a:rPr lang="en-US" noProof="0" dirty="0"/>
              <a:t>The field of mathematics is more fragmented than we typically view it</a:t>
            </a:r>
          </a:p>
        </p:txBody>
      </p:sp>
      <p:sp>
        <p:nvSpPr>
          <p:cNvPr id="4" name="Rechteck 3">
            <a:extLst>
              <a:ext uri="{FF2B5EF4-FFF2-40B4-BE49-F238E27FC236}">
                <a16:creationId xmlns:a16="http://schemas.microsoft.com/office/drawing/2014/main" id="{45427C26-5B05-6FF0-7498-298BCB8D325B}"/>
              </a:ext>
            </a:extLst>
          </p:cNvPr>
          <p:cNvSpPr/>
          <p:nvPr/>
        </p:nvSpPr>
        <p:spPr>
          <a:xfrm rot="5400000">
            <a:off x="2463036" y="3192156"/>
            <a:ext cx="1080120" cy="2304256"/>
          </a:xfrm>
          <a:prstGeom prst="rect">
            <a:avLst/>
          </a:prstGeom>
          <a:solidFill>
            <a:srgbClr val="4F81BD">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1400" noProof="0" dirty="0"/>
              <a:t>Applied Mathematics</a:t>
            </a:r>
          </a:p>
        </p:txBody>
      </p:sp>
      <p:sp>
        <p:nvSpPr>
          <p:cNvPr id="5" name="Rechteck 4">
            <a:extLst>
              <a:ext uri="{FF2B5EF4-FFF2-40B4-BE49-F238E27FC236}">
                <a16:creationId xmlns:a16="http://schemas.microsoft.com/office/drawing/2014/main" id="{95829527-62CB-6ED0-D8CC-3FDC88A5A4E8}"/>
              </a:ext>
            </a:extLst>
          </p:cNvPr>
          <p:cNvSpPr/>
          <p:nvPr/>
        </p:nvSpPr>
        <p:spPr>
          <a:xfrm rot="5400000">
            <a:off x="2455400" y="1959682"/>
            <a:ext cx="1080120" cy="2304256"/>
          </a:xfrm>
          <a:prstGeom prst="rect">
            <a:avLst/>
          </a:prstGeom>
          <a:solidFill>
            <a:srgbClr val="4F81BD">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1400" noProof="0" dirty="0"/>
              <a:t>Application Oriented Mathematics</a:t>
            </a:r>
          </a:p>
        </p:txBody>
      </p:sp>
      <p:sp>
        <p:nvSpPr>
          <p:cNvPr id="6" name="Rechteck 5">
            <a:extLst>
              <a:ext uri="{FF2B5EF4-FFF2-40B4-BE49-F238E27FC236}">
                <a16:creationId xmlns:a16="http://schemas.microsoft.com/office/drawing/2014/main" id="{E92F6D33-E368-107C-ACFF-21756C5EA2A6}"/>
              </a:ext>
            </a:extLst>
          </p:cNvPr>
          <p:cNvSpPr/>
          <p:nvPr/>
        </p:nvSpPr>
        <p:spPr>
          <a:xfrm>
            <a:off x="251520" y="2580088"/>
            <a:ext cx="1455432" cy="2304256"/>
          </a:xfrm>
          <a:prstGeom prst="rect">
            <a:avLst/>
          </a:prstGeom>
          <a:solidFill>
            <a:srgbClr val="4F81BD">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t>Pure</a:t>
            </a:r>
          </a:p>
          <a:p>
            <a:pPr algn="ctr"/>
            <a:r>
              <a:rPr lang="en-US" sz="1400" noProof="0" dirty="0"/>
              <a:t>Mathematics</a:t>
            </a:r>
          </a:p>
        </p:txBody>
      </p:sp>
      <p:sp>
        <p:nvSpPr>
          <p:cNvPr id="7" name="Pfeil: nach links und rechts 6">
            <a:extLst>
              <a:ext uri="{FF2B5EF4-FFF2-40B4-BE49-F238E27FC236}">
                <a16:creationId xmlns:a16="http://schemas.microsoft.com/office/drawing/2014/main" id="{C14BE9DA-9563-EF9F-F888-3F981DDD9714}"/>
              </a:ext>
            </a:extLst>
          </p:cNvPr>
          <p:cNvSpPr/>
          <p:nvPr/>
        </p:nvSpPr>
        <p:spPr>
          <a:xfrm>
            <a:off x="1452420" y="2672769"/>
            <a:ext cx="648072" cy="216024"/>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feil: nach links und rechts 7">
            <a:extLst>
              <a:ext uri="{FF2B5EF4-FFF2-40B4-BE49-F238E27FC236}">
                <a16:creationId xmlns:a16="http://schemas.microsoft.com/office/drawing/2014/main" id="{5591F569-227C-4E49-543A-4DB34BFA6E46}"/>
              </a:ext>
            </a:extLst>
          </p:cNvPr>
          <p:cNvSpPr/>
          <p:nvPr/>
        </p:nvSpPr>
        <p:spPr>
          <a:xfrm>
            <a:off x="1446207" y="4583218"/>
            <a:ext cx="648072" cy="216024"/>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Pfeil: nach links und rechts 8">
            <a:extLst>
              <a:ext uri="{FF2B5EF4-FFF2-40B4-BE49-F238E27FC236}">
                <a16:creationId xmlns:a16="http://schemas.microsoft.com/office/drawing/2014/main" id="{C7E1F06A-65F8-AE39-CD59-05FFDEF09DE6}"/>
              </a:ext>
            </a:extLst>
          </p:cNvPr>
          <p:cNvSpPr/>
          <p:nvPr/>
        </p:nvSpPr>
        <p:spPr>
          <a:xfrm rot="16200000">
            <a:off x="2750231" y="2469744"/>
            <a:ext cx="476390" cy="216024"/>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hteck 9">
            <a:extLst>
              <a:ext uri="{FF2B5EF4-FFF2-40B4-BE49-F238E27FC236}">
                <a16:creationId xmlns:a16="http://schemas.microsoft.com/office/drawing/2014/main" id="{7328712F-0D61-9A2C-5625-7F3D39B7E3DD}"/>
              </a:ext>
            </a:extLst>
          </p:cNvPr>
          <p:cNvSpPr/>
          <p:nvPr/>
        </p:nvSpPr>
        <p:spPr>
          <a:xfrm>
            <a:off x="4283968" y="2580088"/>
            <a:ext cx="1455432" cy="2304256"/>
          </a:xfrm>
          <a:prstGeom prst="rect">
            <a:avLst/>
          </a:prstGeom>
          <a:solidFill>
            <a:srgbClr val="4F81BD">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t>the Sciences &amp; the Arts,</a:t>
            </a:r>
          </a:p>
          <a:p>
            <a:pPr algn="ctr"/>
            <a:r>
              <a:rPr lang="en-US" sz="1400" noProof="0" dirty="0"/>
              <a:t>Economics, Technology,</a:t>
            </a:r>
          </a:p>
          <a:p>
            <a:pPr algn="ctr"/>
            <a:r>
              <a:rPr lang="en-US" sz="1400" noProof="0" dirty="0"/>
              <a:t>…</a:t>
            </a:r>
          </a:p>
        </p:txBody>
      </p:sp>
      <p:sp>
        <p:nvSpPr>
          <p:cNvPr id="11" name="Pfeil: nach links und rechts 10">
            <a:extLst>
              <a:ext uri="{FF2B5EF4-FFF2-40B4-BE49-F238E27FC236}">
                <a16:creationId xmlns:a16="http://schemas.microsoft.com/office/drawing/2014/main" id="{37A43C64-61CE-CFEF-17BC-70786AFADDE3}"/>
              </a:ext>
            </a:extLst>
          </p:cNvPr>
          <p:cNvSpPr/>
          <p:nvPr/>
        </p:nvSpPr>
        <p:spPr>
          <a:xfrm>
            <a:off x="3891742" y="2679315"/>
            <a:ext cx="648072" cy="216024"/>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hteck 14">
            <a:extLst>
              <a:ext uri="{FF2B5EF4-FFF2-40B4-BE49-F238E27FC236}">
                <a16:creationId xmlns:a16="http://schemas.microsoft.com/office/drawing/2014/main" id="{05AA553E-06B2-6E7D-C7F8-B81B59428222}"/>
              </a:ext>
            </a:extLst>
          </p:cNvPr>
          <p:cNvSpPr/>
          <p:nvPr/>
        </p:nvSpPr>
        <p:spPr>
          <a:xfrm>
            <a:off x="4283968" y="1131590"/>
            <a:ext cx="1455432" cy="1296144"/>
          </a:xfrm>
          <a:prstGeom prst="rect">
            <a:avLst/>
          </a:prstGeom>
          <a:solidFill>
            <a:srgbClr val="4F81BD">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sz="1400" noProof="0" dirty="0"/>
          </a:p>
          <a:p>
            <a:pPr algn="ctr"/>
            <a:r>
              <a:rPr lang="en-US" sz="1400" noProof="0" dirty="0"/>
              <a:t>Business,</a:t>
            </a:r>
          </a:p>
          <a:p>
            <a:pPr algn="ctr"/>
            <a:r>
              <a:rPr lang="en-US" sz="1400" noProof="0" dirty="0"/>
              <a:t>Politics,</a:t>
            </a:r>
          </a:p>
          <a:p>
            <a:pPr algn="ctr"/>
            <a:r>
              <a:rPr lang="en-US" sz="1400" noProof="0" dirty="0"/>
              <a:t>the Crafts</a:t>
            </a:r>
          </a:p>
        </p:txBody>
      </p:sp>
      <p:sp>
        <p:nvSpPr>
          <p:cNvPr id="16" name="Pfeil: nach links und rechts 15">
            <a:extLst>
              <a:ext uri="{FF2B5EF4-FFF2-40B4-BE49-F238E27FC236}">
                <a16:creationId xmlns:a16="http://schemas.microsoft.com/office/drawing/2014/main" id="{5A090716-8A80-0DE2-5956-3E46A238CC69}"/>
              </a:ext>
            </a:extLst>
          </p:cNvPr>
          <p:cNvSpPr/>
          <p:nvPr/>
        </p:nvSpPr>
        <p:spPr>
          <a:xfrm>
            <a:off x="3891742" y="2135066"/>
            <a:ext cx="648072" cy="216024"/>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extfeld 17">
            <a:extLst>
              <a:ext uri="{FF2B5EF4-FFF2-40B4-BE49-F238E27FC236}">
                <a16:creationId xmlns:a16="http://schemas.microsoft.com/office/drawing/2014/main" id="{3433BA74-1B71-96C2-1AF8-B7CA9D0FB6D9}"/>
              </a:ext>
            </a:extLst>
          </p:cNvPr>
          <p:cNvSpPr txBox="1"/>
          <p:nvPr/>
        </p:nvSpPr>
        <p:spPr>
          <a:xfrm>
            <a:off x="251520" y="1494851"/>
            <a:ext cx="1522981" cy="307777"/>
          </a:xfrm>
          <a:prstGeom prst="rect">
            <a:avLst/>
          </a:prstGeom>
          <a:noFill/>
        </p:spPr>
        <p:txBody>
          <a:bodyPr wrap="none" rtlCol="0">
            <a:spAutoFit/>
          </a:bodyPr>
          <a:lstStyle/>
          <a:p>
            <a:r>
              <a:rPr lang="en-US" sz="1400" noProof="0" dirty="0"/>
              <a:t>computer-support</a:t>
            </a:r>
          </a:p>
        </p:txBody>
      </p:sp>
      <p:cxnSp>
        <p:nvCxnSpPr>
          <p:cNvPr id="20" name="Gerader Verbinder 19">
            <a:extLst>
              <a:ext uri="{FF2B5EF4-FFF2-40B4-BE49-F238E27FC236}">
                <a16:creationId xmlns:a16="http://schemas.microsoft.com/office/drawing/2014/main" id="{AAF007A3-3D6F-4CE2-E5BC-6A124B375732}"/>
              </a:ext>
            </a:extLst>
          </p:cNvPr>
          <p:cNvCxnSpPr>
            <a:stCxn id="18" idx="2"/>
          </p:cNvCxnSpPr>
          <p:nvPr/>
        </p:nvCxnSpPr>
        <p:spPr>
          <a:xfrm>
            <a:off x="1013011" y="1802628"/>
            <a:ext cx="837957" cy="440450"/>
          </a:xfrm>
          <a:prstGeom prst="line">
            <a:avLst/>
          </a:prstGeom>
        </p:spPr>
        <p:style>
          <a:lnRef idx="2">
            <a:schemeClr val="accent1">
              <a:shade val="15000"/>
            </a:schemeClr>
          </a:lnRef>
          <a:fillRef idx="1">
            <a:schemeClr val="accent1"/>
          </a:fillRef>
          <a:effectRef idx="0">
            <a:schemeClr val="accent1"/>
          </a:effectRef>
          <a:fontRef idx="minor">
            <a:schemeClr val="lt1"/>
          </a:fontRef>
        </p:style>
      </p:cxnSp>
      <p:sp>
        <p:nvSpPr>
          <p:cNvPr id="21" name="Ellipse 20">
            <a:extLst>
              <a:ext uri="{FF2B5EF4-FFF2-40B4-BE49-F238E27FC236}">
                <a16:creationId xmlns:a16="http://schemas.microsoft.com/office/drawing/2014/main" id="{523972EE-EA2D-14CD-437E-C919C0107A16}"/>
              </a:ext>
            </a:extLst>
          </p:cNvPr>
          <p:cNvSpPr/>
          <p:nvPr/>
        </p:nvSpPr>
        <p:spPr>
          <a:xfrm>
            <a:off x="3419872" y="3363838"/>
            <a:ext cx="1080120" cy="657302"/>
          </a:xfrm>
          <a:prstGeom prst="ellipse">
            <a:avLst/>
          </a:prstGeom>
          <a:solidFill>
            <a:srgbClr val="92D050"/>
          </a:solidFill>
          <a:ln>
            <a:solidFill>
              <a:srgbClr val="00B050"/>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noProof="0" dirty="0"/>
          </a:p>
        </p:txBody>
      </p:sp>
      <p:cxnSp>
        <p:nvCxnSpPr>
          <p:cNvPr id="23" name="Gerader Verbinder 22">
            <a:extLst>
              <a:ext uri="{FF2B5EF4-FFF2-40B4-BE49-F238E27FC236}">
                <a16:creationId xmlns:a16="http://schemas.microsoft.com/office/drawing/2014/main" id="{6CD8652F-7CCC-59D8-6F52-033B12890358}"/>
              </a:ext>
            </a:extLst>
          </p:cNvPr>
          <p:cNvCxnSpPr>
            <a:cxnSpLocks/>
          </p:cNvCxnSpPr>
          <p:nvPr/>
        </p:nvCxnSpPr>
        <p:spPr>
          <a:xfrm flipV="1">
            <a:off x="3891742" y="3075806"/>
            <a:ext cx="520874" cy="648072"/>
          </a:xfrm>
          <a:prstGeom prst="line">
            <a:avLst/>
          </a:prstGeom>
          <a:ln>
            <a:solidFill>
              <a:srgbClr val="00B050"/>
            </a:solidFill>
          </a:ln>
        </p:spPr>
        <p:style>
          <a:lnRef idx="2">
            <a:schemeClr val="accent1">
              <a:shade val="15000"/>
            </a:schemeClr>
          </a:lnRef>
          <a:fillRef idx="1">
            <a:schemeClr val="accent1"/>
          </a:fillRef>
          <a:effectRef idx="0">
            <a:schemeClr val="accent1"/>
          </a:effectRef>
          <a:fontRef idx="minor">
            <a:schemeClr val="lt1"/>
          </a:fontRef>
        </p:style>
      </p:cxnSp>
      <p:cxnSp>
        <p:nvCxnSpPr>
          <p:cNvPr id="24" name="Gerader Verbinder 23">
            <a:extLst>
              <a:ext uri="{FF2B5EF4-FFF2-40B4-BE49-F238E27FC236}">
                <a16:creationId xmlns:a16="http://schemas.microsoft.com/office/drawing/2014/main" id="{3A302630-8EBD-FD21-A296-2F6A9AFE4260}"/>
              </a:ext>
            </a:extLst>
          </p:cNvPr>
          <p:cNvCxnSpPr>
            <a:cxnSpLocks/>
            <a:endCxn id="30" idx="1"/>
          </p:cNvCxnSpPr>
          <p:nvPr/>
        </p:nvCxnSpPr>
        <p:spPr>
          <a:xfrm flipV="1">
            <a:off x="4412616" y="2580088"/>
            <a:ext cx="1579319" cy="495718"/>
          </a:xfrm>
          <a:prstGeom prst="line">
            <a:avLst/>
          </a:prstGeom>
          <a:ln>
            <a:solidFill>
              <a:srgbClr val="00B050"/>
            </a:solidFill>
          </a:ln>
        </p:spPr>
        <p:style>
          <a:lnRef idx="2">
            <a:schemeClr val="accent1">
              <a:shade val="15000"/>
            </a:schemeClr>
          </a:lnRef>
          <a:fillRef idx="1">
            <a:schemeClr val="accent1"/>
          </a:fillRef>
          <a:effectRef idx="0">
            <a:schemeClr val="accent1"/>
          </a:effectRef>
          <a:fontRef idx="minor">
            <a:schemeClr val="lt1"/>
          </a:fontRef>
        </p:style>
      </p:cxnSp>
      <p:sp>
        <p:nvSpPr>
          <p:cNvPr id="30" name="Textfeld 29">
            <a:extLst>
              <a:ext uri="{FF2B5EF4-FFF2-40B4-BE49-F238E27FC236}">
                <a16:creationId xmlns:a16="http://schemas.microsoft.com/office/drawing/2014/main" id="{518C2E64-BBE1-6DD3-26EA-A87301C2438F}"/>
              </a:ext>
            </a:extLst>
          </p:cNvPr>
          <p:cNvSpPr txBox="1"/>
          <p:nvPr/>
        </p:nvSpPr>
        <p:spPr>
          <a:xfrm>
            <a:off x="5991935" y="2318478"/>
            <a:ext cx="1432524" cy="523220"/>
          </a:xfrm>
          <a:prstGeom prst="rect">
            <a:avLst/>
          </a:prstGeom>
          <a:noFill/>
        </p:spPr>
        <p:txBody>
          <a:bodyPr wrap="square" rtlCol="0">
            <a:spAutoFit/>
          </a:bodyPr>
          <a:lstStyle/>
          <a:p>
            <a:pPr algn="ctr"/>
            <a:r>
              <a:rPr lang="en-US" sz="1400" noProof="0" dirty="0"/>
              <a:t>Computational</a:t>
            </a:r>
          </a:p>
          <a:p>
            <a:pPr algn="ctr"/>
            <a:r>
              <a:rPr lang="en-US" sz="1400" noProof="0" dirty="0"/>
              <a:t>Biomathematics</a:t>
            </a:r>
          </a:p>
        </p:txBody>
      </p:sp>
      <p:sp>
        <p:nvSpPr>
          <p:cNvPr id="32" name="Pfeil: nach links und rechts 31">
            <a:extLst>
              <a:ext uri="{FF2B5EF4-FFF2-40B4-BE49-F238E27FC236}">
                <a16:creationId xmlns:a16="http://schemas.microsoft.com/office/drawing/2014/main" id="{616D18CC-23BC-19BA-4D86-6055867AB034}"/>
              </a:ext>
            </a:extLst>
          </p:cNvPr>
          <p:cNvSpPr/>
          <p:nvPr/>
        </p:nvSpPr>
        <p:spPr>
          <a:xfrm>
            <a:off x="3887924" y="4567826"/>
            <a:ext cx="648072" cy="216024"/>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Pfeil: nach links und rechts 33">
            <a:extLst>
              <a:ext uri="{FF2B5EF4-FFF2-40B4-BE49-F238E27FC236}">
                <a16:creationId xmlns:a16="http://schemas.microsoft.com/office/drawing/2014/main" id="{C3901FAA-D237-B504-5A99-D49356CB51A0}"/>
              </a:ext>
            </a:extLst>
          </p:cNvPr>
          <p:cNvSpPr/>
          <p:nvPr/>
        </p:nvSpPr>
        <p:spPr>
          <a:xfrm rot="5400000">
            <a:off x="1737853" y="3620869"/>
            <a:ext cx="648072" cy="216024"/>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7" name="Rechteck 26">
            <a:extLst>
              <a:ext uri="{FF2B5EF4-FFF2-40B4-BE49-F238E27FC236}">
                <a16:creationId xmlns:a16="http://schemas.microsoft.com/office/drawing/2014/main" id="{615D10C6-9143-460C-F593-43A11FD250AD}"/>
              </a:ext>
            </a:extLst>
          </p:cNvPr>
          <p:cNvSpPr/>
          <p:nvPr/>
        </p:nvSpPr>
        <p:spPr>
          <a:xfrm>
            <a:off x="6120583" y="3003798"/>
            <a:ext cx="2771897" cy="1880546"/>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400" noProof="0" dirty="0">
                <a:solidFill>
                  <a:schemeClr val="tx1"/>
                </a:solidFill>
              </a:rPr>
              <a:t>Modelling &amp; Simulation</a:t>
            </a:r>
          </a:p>
        </p:txBody>
      </p:sp>
      <p:grpSp>
        <p:nvGrpSpPr>
          <p:cNvPr id="19" name="Gruppieren 18">
            <a:extLst>
              <a:ext uri="{FF2B5EF4-FFF2-40B4-BE49-F238E27FC236}">
                <a16:creationId xmlns:a16="http://schemas.microsoft.com/office/drawing/2014/main" id="{C752C829-5082-1E7D-D5C8-C7DD4E7F2C67}"/>
              </a:ext>
            </a:extLst>
          </p:cNvPr>
          <p:cNvGrpSpPr/>
          <p:nvPr/>
        </p:nvGrpSpPr>
        <p:grpSpPr>
          <a:xfrm>
            <a:off x="6246391" y="3363838"/>
            <a:ext cx="2520281" cy="1440162"/>
            <a:chOff x="6264597" y="3363838"/>
            <a:chExt cx="2520281" cy="1440162"/>
          </a:xfrm>
        </p:grpSpPr>
        <p:sp>
          <p:nvSpPr>
            <p:cNvPr id="28" name="Rechteck 27">
              <a:extLst>
                <a:ext uri="{FF2B5EF4-FFF2-40B4-BE49-F238E27FC236}">
                  <a16:creationId xmlns:a16="http://schemas.microsoft.com/office/drawing/2014/main" id="{7B6779B2-0AA2-1F42-7207-BBB55E0EF728}"/>
                </a:ext>
              </a:extLst>
            </p:cNvPr>
            <p:cNvSpPr/>
            <p:nvPr/>
          </p:nvSpPr>
          <p:spPr>
            <a:xfrm rot="5400000">
              <a:off x="7231366" y="3014165"/>
              <a:ext cx="550328" cy="1589179"/>
            </a:xfrm>
            <a:prstGeom prst="rect">
              <a:avLst/>
            </a:prstGeom>
            <a:solidFill>
              <a:srgbClr val="4F81BD">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vert="vert270" rtlCol="0" anchor="t"/>
            <a:lstStyle/>
            <a:p>
              <a:pPr algn="ctr"/>
              <a:r>
                <a:rPr lang="en-US" sz="1400" noProof="0" dirty="0"/>
                <a:t>Discrete</a:t>
              </a:r>
            </a:p>
          </p:txBody>
        </p:sp>
        <p:sp>
          <p:nvSpPr>
            <p:cNvPr id="29" name="Rechteck 28">
              <a:extLst>
                <a:ext uri="{FF2B5EF4-FFF2-40B4-BE49-F238E27FC236}">
                  <a16:creationId xmlns:a16="http://schemas.microsoft.com/office/drawing/2014/main" id="{8EA8BA5A-A082-9141-4ADE-5CC6CCBC8CFE}"/>
                </a:ext>
              </a:extLst>
            </p:cNvPr>
            <p:cNvSpPr/>
            <p:nvPr/>
          </p:nvSpPr>
          <p:spPr>
            <a:xfrm rot="5400000">
              <a:off x="7231365" y="3649369"/>
              <a:ext cx="550328" cy="1589179"/>
            </a:xfrm>
            <a:prstGeom prst="rect">
              <a:avLst/>
            </a:prstGeom>
            <a:solidFill>
              <a:srgbClr val="4F81BD">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vert="vert270" rtlCol="0" anchor="b"/>
            <a:lstStyle/>
            <a:p>
              <a:pPr algn="ctr"/>
              <a:r>
                <a:rPr lang="en-US" sz="1400" noProof="0" dirty="0"/>
                <a:t>Continuous</a:t>
              </a:r>
            </a:p>
          </p:txBody>
        </p:sp>
        <p:sp>
          <p:nvSpPr>
            <p:cNvPr id="31" name="Rechteck 30">
              <a:extLst>
                <a:ext uri="{FF2B5EF4-FFF2-40B4-BE49-F238E27FC236}">
                  <a16:creationId xmlns:a16="http://schemas.microsoft.com/office/drawing/2014/main" id="{031EF89A-1B50-E45E-86A7-7305071ED31E}"/>
                </a:ext>
              </a:extLst>
            </p:cNvPr>
            <p:cNvSpPr/>
            <p:nvPr/>
          </p:nvSpPr>
          <p:spPr>
            <a:xfrm rot="5400000">
              <a:off x="5904556" y="3723879"/>
              <a:ext cx="1440162" cy="720079"/>
            </a:xfrm>
            <a:prstGeom prst="rect">
              <a:avLst/>
            </a:prstGeom>
            <a:solidFill>
              <a:srgbClr val="4F81BD">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vert="vert270" rtlCol="0" anchor="t"/>
            <a:lstStyle/>
            <a:p>
              <a:pPr algn="ctr"/>
              <a:r>
                <a:rPr lang="en-US" sz="1400" noProof="0" dirty="0"/>
                <a:t>Deter-</a:t>
              </a:r>
              <a:r>
                <a:rPr lang="en-US" sz="1400" noProof="0" dirty="0" err="1"/>
                <a:t>ministic</a:t>
              </a:r>
              <a:endParaRPr lang="en-US" sz="1400" noProof="0" dirty="0"/>
            </a:p>
          </p:txBody>
        </p:sp>
        <p:sp>
          <p:nvSpPr>
            <p:cNvPr id="33" name="Rechteck 32">
              <a:extLst>
                <a:ext uri="{FF2B5EF4-FFF2-40B4-BE49-F238E27FC236}">
                  <a16:creationId xmlns:a16="http://schemas.microsoft.com/office/drawing/2014/main" id="{7FDCF6F4-2A87-AEFE-CAFA-4C6B25EF7358}"/>
                </a:ext>
              </a:extLst>
            </p:cNvPr>
            <p:cNvSpPr/>
            <p:nvPr/>
          </p:nvSpPr>
          <p:spPr>
            <a:xfrm rot="5400000">
              <a:off x="7704758" y="3723879"/>
              <a:ext cx="1440162" cy="720079"/>
            </a:xfrm>
            <a:prstGeom prst="rect">
              <a:avLst/>
            </a:prstGeom>
            <a:solidFill>
              <a:srgbClr val="4F81BD">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vert="vert270" rtlCol="0" anchor="t"/>
            <a:lstStyle/>
            <a:p>
              <a:pPr algn="ctr"/>
              <a:r>
                <a:rPr lang="en-US" sz="1400" noProof="0" dirty="0"/>
                <a:t>Random</a:t>
              </a:r>
            </a:p>
          </p:txBody>
        </p:sp>
        <p:sp>
          <p:nvSpPr>
            <p:cNvPr id="35" name="Pfeil: nach links und rechts 34">
              <a:extLst>
                <a:ext uri="{FF2B5EF4-FFF2-40B4-BE49-F238E27FC236}">
                  <a16:creationId xmlns:a16="http://schemas.microsoft.com/office/drawing/2014/main" id="{B16221B8-2E28-EB19-961A-82E1464D53D4}"/>
                </a:ext>
              </a:extLst>
            </p:cNvPr>
            <p:cNvSpPr/>
            <p:nvPr/>
          </p:nvSpPr>
          <p:spPr>
            <a:xfrm rot="16200000">
              <a:off x="7268334" y="4018345"/>
              <a:ext cx="476390" cy="216024"/>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Rechteck 2">
            <a:extLst>
              <a:ext uri="{FF2B5EF4-FFF2-40B4-BE49-F238E27FC236}">
                <a16:creationId xmlns:a16="http://schemas.microsoft.com/office/drawing/2014/main" id="{25FAF1B9-783F-0040-4018-0D92D306C61A}"/>
              </a:ext>
            </a:extLst>
          </p:cNvPr>
          <p:cNvSpPr/>
          <p:nvPr/>
        </p:nvSpPr>
        <p:spPr>
          <a:xfrm>
            <a:off x="6120580" y="1131590"/>
            <a:ext cx="2771897" cy="952780"/>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400" noProof="0" dirty="0">
                <a:solidFill>
                  <a:schemeClr val="tx1"/>
                </a:solidFill>
              </a:rPr>
              <a:t>Hypothesis-Diven Elicitation</a:t>
            </a:r>
          </a:p>
        </p:txBody>
      </p:sp>
      <p:sp>
        <p:nvSpPr>
          <p:cNvPr id="12" name="Pfeil: nach links und rechts 11">
            <a:extLst>
              <a:ext uri="{FF2B5EF4-FFF2-40B4-BE49-F238E27FC236}">
                <a16:creationId xmlns:a16="http://schemas.microsoft.com/office/drawing/2014/main" id="{75A7498F-232E-10C4-891F-C87A3112D2C5}"/>
              </a:ext>
            </a:extLst>
          </p:cNvPr>
          <p:cNvSpPr/>
          <p:nvPr/>
        </p:nvSpPr>
        <p:spPr>
          <a:xfrm rot="5400000">
            <a:off x="7883513" y="2318456"/>
            <a:ext cx="1586707" cy="216024"/>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Rechteck 12">
            <a:extLst>
              <a:ext uri="{FF2B5EF4-FFF2-40B4-BE49-F238E27FC236}">
                <a16:creationId xmlns:a16="http://schemas.microsoft.com/office/drawing/2014/main" id="{448BFC84-73E6-E521-496B-E7DD579F08B4}"/>
              </a:ext>
            </a:extLst>
          </p:cNvPr>
          <p:cNvSpPr/>
          <p:nvPr/>
        </p:nvSpPr>
        <p:spPr>
          <a:xfrm rot="5400000">
            <a:off x="7231364" y="925932"/>
            <a:ext cx="550328" cy="1589179"/>
          </a:xfrm>
          <a:prstGeom prst="rect">
            <a:avLst/>
          </a:prstGeom>
          <a:solidFill>
            <a:srgbClr val="4F81BD">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vert="vert270" rtlCol="0" anchor="t"/>
          <a:lstStyle/>
          <a:p>
            <a:pPr algn="ctr"/>
            <a:r>
              <a:rPr lang="en-US" sz="1400" noProof="0" dirty="0"/>
              <a:t>Conceptual Understanding</a:t>
            </a:r>
          </a:p>
        </p:txBody>
      </p:sp>
    </p:spTree>
    <p:extLst>
      <p:ext uri="{BB962C8B-B14F-4D97-AF65-F5344CB8AC3E}">
        <p14:creationId xmlns:p14="http://schemas.microsoft.com/office/powerpoint/2010/main" val="4819928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2737A-79AE-38F8-BE98-FCC4C2B0D40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F7FB436-E367-A954-4EAB-6647BCD2ACCC}"/>
              </a:ext>
            </a:extLst>
          </p:cNvPr>
          <p:cNvSpPr>
            <a:spLocks noGrp="1"/>
          </p:cNvSpPr>
          <p:nvPr>
            <p:ph type="title"/>
          </p:nvPr>
        </p:nvSpPr>
        <p:spPr/>
        <p:txBody>
          <a:bodyPr/>
          <a:lstStyle/>
          <a:p>
            <a:r>
              <a:rPr lang="en-US" noProof="0" dirty="0"/>
              <a:t>The diffusion of ideas or pandemics can be described in terms of different modeling approaches</a:t>
            </a:r>
          </a:p>
        </p:txBody>
      </p:sp>
      <p:sp>
        <p:nvSpPr>
          <p:cNvPr id="8" name="Rechteck 7">
            <a:extLst>
              <a:ext uri="{FF2B5EF4-FFF2-40B4-BE49-F238E27FC236}">
                <a16:creationId xmlns:a16="http://schemas.microsoft.com/office/drawing/2014/main" id="{70D282BB-6C14-D8DE-9E7D-8588382691D3}"/>
              </a:ext>
            </a:extLst>
          </p:cNvPr>
          <p:cNvSpPr/>
          <p:nvPr/>
        </p:nvSpPr>
        <p:spPr>
          <a:xfrm>
            <a:off x="251520" y="1635646"/>
            <a:ext cx="2736304" cy="3384376"/>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solidFill>
                <a:schemeClr val="tx1"/>
              </a:solidFill>
            </a:endParaRPr>
          </a:p>
        </p:txBody>
      </p:sp>
      <p:sp>
        <p:nvSpPr>
          <p:cNvPr id="9" name="Rechteck 8">
            <a:extLst>
              <a:ext uri="{FF2B5EF4-FFF2-40B4-BE49-F238E27FC236}">
                <a16:creationId xmlns:a16="http://schemas.microsoft.com/office/drawing/2014/main" id="{E61AB20E-216F-AAED-F552-165E4BB08CE4}"/>
              </a:ext>
            </a:extLst>
          </p:cNvPr>
          <p:cNvSpPr/>
          <p:nvPr/>
        </p:nvSpPr>
        <p:spPr>
          <a:xfrm>
            <a:off x="3203848" y="1635646"/>
            <a:ext cx="2736304" cy="3384376"/>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solidFill>
                <a:schemeClr val="tx1"/>
              </a:solidFill>
            </a:endParaRPr>
          </a:p>
        </p:txBody>
      </p:sp>
      <p:sp>
        <p:nvSpPr>
          <p:cNvPr id="11" name="Rechteck 10">
            <a:extLst>
              <a:ext uri="{FF2B5EF4-FFF2-40B4-BE49-F238E27FC236}">
                <a16:creationId xmlns:a16="http://schemas.microsoft.com/office/drawing/2014/main" id="{A01B99FD-FA9C-6682-548A-0F19B92640B3}"/>
              </a:ext>
            </a:extLst>
          </p:cNvPr>
          <p:cNvSpPr/>
          <p:nvPr/>
        </p:nvSpPr>
        <p:spPr>
          <a:xfrm>
            <a:off x="6156176" y="1635646"/>
            <a:ext cx="2736304" cy="3384376"/>
          </a:xfrm>
          <a:prstGeom prst="rect">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solidFill>
                <a:schemeClr val="tx1"/>
              </a:solidFill>
            </a:endParaRPr>
          </a:p>
        </p:txBody>
      </p:sp>
      <p:sp>
        <p:nvSpPr>
          <p:cNvPr id="12" name="Rechteck 11">
            <a:extLst>
              <a:ext uri="{FF2B5EF4-FFF2-40B4-BE49-F238E27FC236}">
                <a16:creationId xmlns:a16="http://schemas.microsoft.com/office/drawing/2014/main" id="{BC3C442C-BDBE-31D3-CA82-C4D6BDD7FE16}"/>
              </a:ext>
            </a:extLst>
          </p:cNvPr>
          <p:cNvSpPr/>
          <p:nvPr/>
        </p:nvSpPr>
        <p:spPr>
          <a:xfrm>
            <a:off x="251520" y="1131590"/>
            <a:ext cx="2736304" cy="432048"/>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Word Descriptions</a:t>
            </a:r>
          </a:p>
        </p:txBody>
      </p:sp>
      <p:sp>
        <p:nvSpPr>
          <p:cNvPr id="13" name="Rechteck 12">
            <a:extLst>
              <a:ext uri="{FF2B5EF4-FFF2-40B4-BE49-F238E27FC236}">
                <a16:creationId xmlns:a16="http://schemas.microsoft.com/office/drawing/2014/main" id="{51DE3D56-F39F-7262-A3A7-9A5108C13025}"/>
              </a:ext>
            </a:extLst>
          </p:cNvPr>
          <p:cNvSpPr/>
          <p:nvPr/>
        </p:nvSpPr>
        <p:spPr>
          <a:xfrm>
            <a:off x="3203848" y="1131590"/>
            <a:ext cx="2736304" cy="432048"/>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Stochastic Markov Chain Model</a:t>
            </a:r>
          </a:p>
        </p:txBody>
      </p:sp>
      <p:sp>
        <p:nvSpPr>
          <p:cNvPr id="15" name="Rechteck 14">
            <a:extLst>
              <a:ext uri="{FF2B5EF4-FFF2-40B4-BE49-F238E27FC236}">
                <a16:creationId xmlns:a16="http://schemas.microsoft.com/office/drawing/2014/main" id="{4659D747-BC28-F20C-5256-C47EC2E94A87}"/>
              </a:ext>
            </a:extLst>
          </p:cNvPr>
          <p:cNvSpPr/>
          <p:nvPr/>
        </p:nvSpPr>
        <p:spPr>
          <a:xfrm>
            <a:off x="6156176" y="1131590"/>
            <a:ext cx="2736304" cy="432048"/>
          </a:xfrm>
          <a:prstGeom prst="rect">
            <a:avLst/>
          </a:prstGeom>
          <a:solidFill>
            <a:schemeClr val="tx2"/>
          </a:solidFill>
          <a:ln w="1905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Averaged Macro-Scale ODE Model</a:t>
            </a:r>
          </a:p>
        </p:txBody>
      </p:sp>
      <p:sp>
        <p:nvSpPr>
          <p:cNvPr id="16" name="Rechteck 15">
            <a:extLst>
              <a:ext uri="{FF2B5EF4-FFF2-40B4-BE49-F238E27FC236}">
                <a16:creationId xmlns:a16="http://schemas.microsoft.com/office/drawing/2014/main" id="{54A11DA4-7555-F627-32F2-97D1BEFA3603}"/>
              </a:ext>
            </a:extLst>
          </p:cNvPr>
          <p:cNvSpPr/>
          <p:nvPr/>
        </p:nvSpPr>
        <p:spPr>
          <a:xfrm>
            <a:off x="323528" y="1707654"/>
            <a:ext cx="2592288" cy="720080"/>
          </a:xfrm>
          <a:prstGeom prst="rect">
            <a:avLst/>
          </a:prstGeom>
          <a:solidFill>
            <a:schemeClr val="tx2">
              <a:lumMod val="20000"/>
              <a:lumOff val="8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rPr>
              <a:t>Agent-Based Modeling</a:t>
            </a:r>
          </a:p>
        </p:txBody>
      </p:sp>
      <p:sp>
        <p:nvSpPr>
          <p:cNvPr id="17" name="Rechteck 16">
            <a:extLst>
              <a:ext uri="{FF2B5EF4-FFF2-40B4-BE49-F238E27FC236}">
                <a16:creationId xmlns:a16="http://schemas.microsoft.com/office/drawing/2014/main" id="{30F4B72C-E4F5-7691-D4F0-EEAFF91668B3}"/>
              </a:ext>
            </a:extLst>
          </p:cNvPr>
          <p:cNvSpPr/>
          <p:nvPr/>
        </p:nvSpPr>
        <p:spPr>
          <a:xfrm>
            <a:off x="323528" y="2516510"/>
            <a:ext cx="2592288" cy="720080"/>
          </a:xfrm>
          <a:prstGeom prst="rect">
            <a:avLst/>
          </a:prstGeom>
          <a:solidFill>
            <a:schemeClr val="tx2">
              <a:lumMod val="20000"/>
              <a:lumOff val="8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rPr>
              <a:t>Chemical Reaction Kinetics</a:t>
            </a:r>
          </a:p>
        </p:txBody>
      </p:sp>
      <p:sp>
        <p:nvSpPr>
          <p:cNvPr id="18" name="Rechteck 17">
            <a:extLst>
              <a:ext uri="{FF2B5EF4-FFF2-40B4-BE49-F238E27FC236}">
                <a16:creationId xmlns:a16="http://schemas.microsoft.com/office/drawing/2014/main" id="{D6A8050A-C1B0-D1EE-CEAE-64A77B744EB1}"/>
              </a:ext>
            </a:extLst>
          </p:cNvPr>
          <p:cNvSpPr/>
          <p:nvPr/>
        </p:nvSpPr>
        <p:spPr>
          <a:xfrm>
            <a:off x="3275856" y="1707654"/>
            <a:ext cx="2592288" cy="720080"/>
          </a:xfrm>
          <a:prstGeom prst="rect">
            <a:avLst/>
          </a:prstGeom>
          <a:solidFill>
            <a:schemeClr val="tx2">
              <a:lumMod val="20000"/>
              <a:lumOff val="8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rPr>
              <a:t>Markovian Birth &amp; Death Processes</a:t>
            </a:r>
          </a:p>
        </p:txBody>
      </p:sp>
      <p:sp>
        <p:nvSpPr>
          <p:cNvPr id="19" name="Pfeil: nach unten 18">
            <a:extLst>
              <a:ext uri="{FF2B5EF4-FFF2-40B4-BE49-F238E27FC236}">
                <a16:creationId xmlns:a16="http://schemas.microsoft.com/office/drawing/2014/main" id="{46F6D575-8B7E-050F-0C8D-7D22782712EE}"/>
              </a:ext>
            </a:extLst>
          </p:cNvPr>
          <p:cNvSpPr/>
          <p:nvPr/>
        </p:nvSpPr>
        <p:spPr>
          <a:xfrm>
            <a:off x="3527884" y="2571750"/>
            <a:ext cx="288032" cy="720080"/>
          </a:xfrm>
          <a:prstGeom prst="downArrow">
            <a:avLst/>
          </a:prstGeom>
          <a:solidFill>
            <a:schemeClr val="tx2">
              <a:lumMod val="20000"/>
              <a:lumOff val="8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noProof="0" dirty="0">
              <a:solidFill>
                <a:schemeClr val="tx1"/>
              </a:solidFill>
            </a:endParaRPr>
          </a:p>
        </p:txBody>
      </p:sp>
      <p:sp>
        <p:nvSpPr>
          <p:cNvPr id="20" name="Rechteck 19">
            <a:extLst>
              <a:ext uri="{FF2B5EF4-FFF2-40B4-BE49-F238E27FC236}">
                <a16:creationId xmlns:a16="http://schemas.microsoft.com/office/drawing/2014/main" id="{A3C500FE-0486-D58D-0B3F-4F1E9D8438D2}"/>
              </a:ext>
            </a:extLst>
          </p:cNvPr>
          <p:cNvSpPr/>
          <p:nvPr/>
        </p:nvSpPr>
        <p:spPr>
          <a:xfrm>
            <a:off x="3275856" y="3419078"/>
            <a:ext cx="2592288" cy="720080"/>
          </a:xfrm>
          <a:prstGeom prst="rect">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Density Descriptions</a:t>
            </a:r>
          </a:p>
        </p:txBody>
      </p:sp>
      <p:sp>
        <p:nvSpPr>
          <p:cNvPr id="21" name="Rechteck 20">
            <a:extLst>
              <a:ext uri="{FF2B5EF4-FFF2-40B4-BE49-F238E27FC236}">
                <a16:creationId xmlns:a16="http://schemas.microsoft.com/office/drawing/2014/main" id="{503C54E6-0012-ECA3-D3B8-E3CFE1A08876}"/>
              </a:ext>
            </a:extLst>
          </p:cNvPr>
          <p:cNvSpPr/>
          <p:nvPr/>
        </p:nvSpPr>
        <p:spPr>
          <a:xfrm>
            <a:off x="3275856" y="4227934"/>
            <a:ext cx="2592288" cy="720080"/>
          </a:xfrm>
          <a:prstGeom prst="rect">
            <a:avLst/>
          </a:prstGeom>
          <a:solidFill>
            <a:schemeClr val="bg1">
              <a:lumMod val="85000"/>
            </a:schemeClr>
          </a:solidFill>
          <a:ln w="190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Stochastic Differential Equations</a:t>
            </a:r>
          </a:p>
        </p:txBody>
      </p:sp>
      <p:sp>
        <p:nvSpPr>
          <p:cNvPr id="22" name="Rechteck 21">
            <a:extLst>
              <a:ext uri="{FF2B5EF4-FFF2-40B4-BE49-F238E27FC236}">
                <a16:creationId xmlns:a16="http://schemas.microsoft.com/office/drawing/2014/main" id="{52D68B50-E137-79E0-5F76-F6D532844648}"/>
              </a:ext>
            </a:extLst>
          </p:cNvPr>
          <p:cNvSpPr/>
          <p:nvPr/>
        </p:nvSpPr>
        <p:spPr>
          <a:xfrm>
            <a:off x="6228184" y="1707654"/>
            <a:ext cx="2592288" cy="720080"/>
          </a:xfrm>
          <a:prstGeom prst="rect">
            <a:avLst/>
          </a:prstGeom>
          <a:solidFill>
            <a:schemeClr val="tx2">
              <a:lumMod val="20000"/>
              <a:lumOff val="8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solidFill>
              </a:rPr>
              <a:t>Rate of Change Equations</a:t>
            </a:r>
          </a:p>
          <a:p>
            <a:pPr algn="ctr"/>
            <a:r>
              <a:rPr lang="en-US" sz="1400" noProof="0" dirty="0">
                <a:solidFill>
                  <a:schemeClr val="tx1"/>
                </a:solidFill>
              </a:rPr>
              <a:t>(ODE Model)</a:t>
            </a:r>
          </a:p>
        </p:txBody>
      </p:sp>
    </p:spTree>
    <p:extLst>
      <p:ext uri="{BB962C8B-B14F-4D97-AF65-F5344CB8AC3E}">
        <p14:creationId xmlns:p14="http://schemas.microsoft.com/office/powerpoint/2010/main" val="20125757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D1658-9838-2B3D-3446-B00BF1AA130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6F1F12D-9B08-B7C5-225C-B5E2FECFF42B}"/>
              </a:ext>
            </a:extLst>
          </p:cNvPr>
          <p:cNvSpPr>
            <a:spLocks noGrp="1"/>
          </p:cNvSpPr>
          <p:nvPr>
            <p:ph type="title"/>
          </p:nvPr>
        </p:nvSpPr>
        <p:spPr/>
        <p:txBody>
          <a:bodyPr/>
          <a:lstStyle/>
          <a:p>
            <a:r>
              <a:rPr lang="en-US" noProof="0" dirty="0"/>
              <a:t>First, we have agent-based modeling (our standard way so far)</a:t>
            </a:r>
          </a:p>
        </p:txBody>
      </p:sp>
      <p:sp>
        <p:nvSpPr>
          <p:cNvPr id="3" name="Rechteck 2">
            <a:extLst>
              <a:ext uri="{FF2B5EF4-FFF2-40B4-BE49-F238E27FC236}">
                <a16:creationId xmlns:a16="http://schemas.microsoft.com/office/drawing/2014/main" id="{07AD578D-0C31-42E2-7D2B-5C33EC19975B}"/>
              </a:ext>
            </a:extLst>
          </p:cNvPr>
          <p:cNvSpPr/>
          <p:nvPr/>
        </p:nvSpPr>
        <p:spPr>
          <a:xfrm>
            <a:off x="1691680" y="915566"/>
            <a:ext cx="7344816" cy="4104456"/>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ichtungspfeil 4">
            <a:extLst>
              <a:ext uri="{FF2B5EF4-FFF2-40B4-BE49-F238E27FC236}">
                <a16:creationId xmlns:a16="http://schemas.microsoft.com/office/drawing/2014/main" id="{3D2DEF16-3BC2-8866-A428-216E9C90011E}"/>
              </a:ext>
            </a:extLst>
          </p:cNvPr>
          <p:cNvSpPr/>
          <p:nvPr/>
        </p:nvSpPr>
        <p:spPr>
          <a:xfrm>
            <a:off x="107504" y="3507854"/>
            <a:ext cx="1800200" cy="792088"/>
          </a:xfrm>
          <a:prstGeom prst="homePlate">
            <a:avLst>
              <a:gd name="adj" fmla="val 41441"/>
            </a:avLst>
          </a:prstGeom>
          <a:solidFill>
            <a:schemeClr val="bg1">
              <a:lumMod val="85000"/>
            </a:schemeClr>
          </a:solidFill>
          <a:ln>
            <a:solidFill>
              <a:schemeClr val="tx1">
                <a:lumMod val="50000"/>
                <a:lumOff val="50000"/>
              </a:schemeClr>
            </a:solidFill>
          </a:ln>
          <a:effectLst>
            <a:outerShdw blurRad="44450" dist="27940" dir="5400000" algn="ctr">
              <a:srgbClr val="000000">
                <a:alpha val="3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Rate of Change Equations</a:t>
            </a:r>
          </a:p>
        </p:txBody>
      </p:sp>
      <p:sp>
        <p:nvSpPr>
          <p:cNvPr id="7" name="Richtungspfeil 6">
            <a:extLst>
              <a:ext uri="{FF2B5EF4-FFF2-40B4-BE49-F238E27FC236}">
                <a16:creationId xmlns:a16="http://schemas.microsoft.com/office/drawing/2014/main" id="{888553DC-18E1-1813-032E-BFEC529130CB}"/>
              </a:ext>
            </a:extLst>
          </p:cNvPr>
          <p:cNvSpPr/>
          <p:nvPr/>
        </p:nvSpPr>
        <p:spPr>
          <a:xfrm>
            <a:off x="107504" y="2643758"/>
            <a:ext cx="1800200" cy="792088"/>
          </a:xfrm>
          <a:prstGeom prst="homePlate">
            <a:avLst>
              <a:gd name="adj" fmla="val 41441"/>
            </a:avLst>
          </a:prstGeom>
          <a:solidFill>
            <a:schemeClr val="bg1">
              <a:lumMod val="85000"/>
            </a:schemeClr>
          </a:solidFill>
          <a:ln>
            <a:solidFill>
              <a:schemeClr val="tx1">
                <a:lumMod val="50000"/>
                <a:lumOff val="50000"/>
              </a:schemeClr>
            </a:solidFill>
          </a:ln>
          <a:effectLst>
            <a:outerShdw blurRad="44450" dist="27940" dir="5400000" algn="ctr">
              <a:srgbClr val="000000">
                <a:alpha val="3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Markovian Birth &amp; Death Processes</a:t>
            </a:r>
          </a:p>
        </p:txBody>
      </p:sp>
      <p:pic>
        <p:nvPicPr>
          <p:cNvPr id="11" name="Grafik 10" descr="IguanaTex_tmp.png">
            <a:extLst>
              <a:ext uri="{FF2B5EF4-FFF2-40B4-BE49-F238E27FC236}">
                <a16:creationId xmlns:a16="http://schemas.microsoft.com/office/drawing/2014/main" id="{E0DDCB05-63C0-88E3-8E0E-52DD1C0100C0}"/>
              </a:ext>
            </a:extLst>
          </p:cNvPr>
          <p:cNvPicPr>
            <a:picLocks noChangeAspect="1"/>
          </p:cNvPicPr>
          <p:nvPr>
            <p:custDataLst>
              <p:tags r:id="rId1"/>
            </p:custDataLst>
          </p:nvPr>
        </p:nvPicPr>
        <p:blipFill>
          <a:blip r:embed="rId3" cstate="print"/>
          <a:stretch>
            <a:fillRect/>
          </a:stretch>
        </p:blipFill>
        <p:spPr>
          <a:xfrm>
            <a:off x="2051718" y="987566"/>
            <a:ext cx="6839581" cy="2834415"/>
          </a:xfrm>
          <a:prstGeom prst="rect">
            <a:avLst/>
          </a:prstGeom>
        </p:spPr>
      </p:pic>
      <p:sp>
        <p:nvSpPr>
          <p:cNvPr id="10" name="Rechteck 9">
            <a:extLst>
              <a:ext uri="{FF2B5EF4-FFF2-40B4-BE49-F238E27FC236}">
                <a16:creationId xmlns:a16="http://schemas.microsoft.com/office/drawing/2014/main" id="{A7DDE1BB-985B-CE60-35BF-0C104C3CF1D7}"/>
              </a:ext>
            </a:extLst>
          </p:cNvPr>
          <p:cNvSpPr/>
          <p:nvPr/>
        </p:nvSpPr>
        <p:spPr>
          <a:xfrm>
            <a:off x="2950775" y="1275606"/>
            <a:ext cx="5040560" cy="108012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ichtungspfeil 5">
            <a:extLst>
              <a:ext uri="{FF2B5EF4-FFF2-40B4-BE49-F238E27FC236}">
                <a16:creationId xmlns:a16="http://schemas.microsoft.com/office/drawing/2014/main" id="{78BC289D-E240-E706-038A-9B58FB67D8AF}"/>
              </a:ext>
            </a:extLst>
          </p:cNvPr>
          <p:cNvSpPr/>
          <p:nvPr/>
        </p:nvSpPr>
        <p:spPr>
          <a:xfrm>
            <a:off x="107504" y="915566"/>
            <a:ext cx="1800200" cy="792088"/>
          </a:xfrm>
          <a:prstGeom prst="homePlate">
            <a:avLst>
              <a:gd name="adj" fmla="val 41441"/>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noProof="0" dirty="0">
                <a:solidFill>
                  <a:schemeClr val="bg1"/>
                </a:solidFill>
              </a:rPr>
              <a:t>Agent-Based Modeling</a:t>
            </a:r>
          </a:p>
        </p:txBody>
      </p:sp>
      <p:sp>
        <p:nvSpPr>
          <p:cNvPr id="9" name="Richtungspfeil 3">
            <a:extLst>
              <a:ext uri="{FF2B5EF4-FFF2-40B4-BE49-F238E27FC236}">
                <a16:creationId xmlns:a16="http://schemas.microsoft.com/office/drawing/2014/main" id="{232C46D2-55ED-7223-7AAC-3B9D427508B3}"/>
              </a:ext>
            </a:extLst>
          </p:cNvPr>
          <p:cNvSpPr/>
          <p:nvPr/>
        </p:nvSpPr>
        <p:spPr>
          <a:xfrm>
            <a:off x="107504" y="1779662"/>
            <a:ext cx="1800200" cy="792088"/>
          </a:xfrm>
          <a:prstGeom prst="homePlate">
            <a:avLst>
              <a:gd name="adj" fmla="val 41441"/>
            </a:avLst>
          </a:prstGeom>
          <a:solidFill>
            <a:schemeClr val="bg1">
              <a:lumMod val="85000"/>
            </a:schemeClr>
          </a:solidFill>
          <a:ln>
            <a:solidFill>
              <a:schemeClr val="tx1">
                <a:lumMod val="50000"/>
                <a:lumOff val="50000"/>
              </a:schemeClr>
            </a:solidFill>
          </a:ln>
          <a:effectLst>
            <a:outerShdw blurRad="44450" dist="27940" dir="5400000" algn="ctr">
              <a:srgbClr val="000000">
                <a:alpha val="3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Chemical</a:t>
            </a:r>
          </a:p>
          <a:p>
            <a:pPr algn="ctr"/>
            <a:r>
              <a:rPr lang="en-US" sz="1400" noProof="0" dirty="0">
                <a:solidFill>
                  <a:schemeClr val="tx1">
                    <a:lumMod val="50000"/>
                    <a:lumOff val="50000"/>
                  </a:schemeClr>
                </a:solidFill>
              </a:rPr>
              <a:t>Reaction-Kinetics</a:t>
            </a:r>
          </a:p>
        </p:txBody>
      </p:sp>
    </p:spTree>
    <p:extLst>
      <p:ext uri="{BB962C8B-B14F-4D97-AF65-F5344CB8AC3E}">
        <p14:creationId xmlns:p14="http://schemas.microsoft.com/office/powerpoint/2010/main" val="24296339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Example:</a:t>
            </a:r>
            <a:br>
              <a:rPr lang="en-US" noProof="0" dirty="0"/>
            </a:br>
            <a:r>
              <a:rPr lang="en-US" noProof="0" dirty="0"/>
              <a:t>Agent based modeling for the diffusion of ideas or diseases </a:t>
            </a:r>
          </a:p>
        </p:txBody>
      </p:sp>
      <p:pic>
        <p:nvPicPr>
          <p:cNvPr id="3" name="Picture 2"/>
          <p:cNvPicPr>
            <a:picLocks noChangeAspect="1" noChangeArrowheads="1"/>
          </p:cNvPicPr>
          <p:nvPr/>
        </p:nvPicPr>
        <p:blipFill>
          <a:blip r:embed="rId2" cstate="print"/>
          <a:srcRect/>
          <a:stretch>
            <a:fillRect/>
          </a:stretch>
        </p:blipFill>
        <p:spPr bwMode="auto">
          <a:xfrm>
            <a:off x="107504" y="1005781"/>
            <a:ext cx="3528392" cy="2212940"/>
          </a:xfrm>
          <a:prstGeom prst="rect">
            <a:avLst/>
          </a:prstGeom>
          <a:noFill/>
          <a:ln w="9525">
            <a:noFill/>
            <a:miter lim="800000"/>
            <a:headEnd/>
            <a:tailEnd/>
          </a:ln>
        </p:spPr>
      </p:pic>
      <p:pic>
        <p:nvPicPr>
          <p:cNvPr id="9" name="Grafik 8">
            <a:extLst>
              <a:ext uri="{FF2B5EF4-FFF2-40B4-BE49-F238E27FC236}">
                <a16:creationId xmlns:a16="http://schemas.microsoft.com/office/drawing/2014/main" id="{5A157D85-BA7E-547F-91D3-56B185FE768F}"/>
              </a:ext>
            </a:extLst>
          </p:cNvPr>
          <p:cNvPicPr>
            <a:picLocks noChangeAspect="1"/>
          </p:cNvPicPr>
          <p:nvPr/>
        </p:nvPicPr>
        <p:blipFill>
          <a:blip r:embed="rId3">
            <a:extLst>
              <a:ext uri="{28A0092B-C50C-407E-A947-70E740481C1C}">
                <a14:useLocalDpi xmlns:a14="http://schemas.microsoft.com/office/drawing/2010/main" val="0"/>
              </a:ext>
            </a:extLst>
          </a:blip>
          <a:srcRect r="6031"/>
          <a:stretch>
            <a:fillRect/>
          </a:stretch>
        </p:blipFill>
        <p:spPr>
          <a:xfrm>
            <a:off x="4067944" y="911483"/>
            <a:ext cx="4968553" cy="3172435"/>
          </a:xfrm>
          <a:prstGeom prst="rect">
            <a:avLst/>
          </a:prstGeom>
        </p:spPr>
      </p:pic>
      <p:sp>
        <p:nvSpPr>
          <p:cNvPr id="6" name="Freeform 37"/>
          <p:cNvSpPr>
            <a:spLocks/>
          </p:cNvSpPr>
          <p:nvPr/>
        </p:nvSpPr>
        <p:spPr bwMode="auto">
          <a:xfrm rot="14267150" flipH="1">
            <a:off x="3649199" y="2657187"/>
            <a:ext cx="990754" cy="1429308"/>
          </a:xfrm>
          <a:custGeom>
            <a:avLst/>
            <a:gdLst/>
            <a:ahLst/>
            <a:cxnLst>
              <a:cxn ang="0">
                <a:pos x="75" y="36"/>
              </a:cxn>
              <a:cxn ang="0">
                <a:pos x="174" y="87"/>
              </a:cxn>
              <a:cxn ang="0">
                <a:pos x="285" y="162"/>
              </a:cxn>
              <a:cxn ang="0">
                <a:pos x="417" y="282"/>
              </a:cxn>
              <a:cxn ang="0">
                <a:pos x="513" y="405"/>
              </a:cxn>
              <a:cxn ang="0">
                <a:pos x="591" y="528"/>
              </a:cxn>
              <a:cxn ang="0">
                <a:pos x="657" y="666"/>
              </a:cxn>
              <a:cxn ang="0">
                <a:pos x="717" y="813"/>
              </a:cxn>
              <a:cxn ang="0">
                <a:pos x="762" y="969"/>
              </a:cxn>
              <a:cxn ang="0">
                <a:pos x="792" y="1149"/>
              </a:cxn>
              <a:cxn ang="0">
                <a:pos x="813" y="1332"/>
              </a:cxn>
              <a:cxn ang="0">
                <a:pos x="813" y="1479"/>
              </a:cxn>
              <a:cxn ang="0">
                <a:pos x="804" y="1635"/>
              </a:cxn>
              <a:cxn ang="0">
                <a:pos x="780" y="1785"/>
              </a:cxn>
              <a:cxn ang="0">
                <a:pos x="591" y="1830"/>
              </a:cxn>
              <a:cxn ang="0">
                <a:pos x="1149" y="1971"/>
              </a:cxn>
              <a:cxn ang="0">
                <a:pos x="1008" y="1869"/>
              </a:cxn>
              <a:cxn ang="0">
                <a:pos x="1038" y="1716"/>
              </a:cxn>
              <a:cxn ang="0">
                <a:pos x="1050" y="1566"/>
              </a:cxn>
              <a:cxn ang="0">
                <a:pos x="1053" y="1395"/>
              </a:cxn>
              <a:cxn ang="0">
                <a:pos x="1035" y="1206"/>
              </a:cxn>
              <a:cxn ang="0">
                <a:pos x="1005" y="1050"/>
              </a:cxn>
              <a:cxn ang="0">
                <a:pos x="963" y="900"/>
              </a:cxn>
              <a:cxn ang="0">
                <a:pos x="912" y="762"/>
              </a:cxn>
              <a:cxn ang="0">
                <a:pos x="837" y="603"/>
              </a:cxn>
              <a:cxn ang="0">
                <a:pos x="750" y="462"/>
              </a:cxn>
              <a:cxn ang="0">
                <a:pos x="669" y="363"/>
              </a:cxn>
              <a:cxn ang="0">
                <a:pos x="558" y="249"/>
              </a:cxn>
              <a:cxn ang="0">
                <a:pos x="433" y="157"/>
              </a:cxn>
              <a:cxn ang="0">
                <a:pos x="297" y="81"/>
              </a:cxn>
              <a:cxn ang="0">
                <a:pos x="153" y="24"/>
              </a:cxn>
              <a:cxn ang="0">
                <a:pos x="0" y="0"/>
              </a:cxn>
            </a:cxnLst>
            <a:rect l="0" t="0" r="r" b="b"/>
            <a:pathLst>
              <a:path w="1149" h="2226">
                <a:moveTo>
                  <a:pt x="6" y="6"/>
                </a:moveTo>
                <a:lnTo>
                  <a:pt x="75" y="36"/>
                </a:lnTo>
                <a:lnTo>
                  <a:pt x="129" y="60"/>
                </a:lnTo>
                <a:lnTo>
                  <a:pt x="174" y="87"/>
                </a:lnTo>
                <a:lnTo>
                  <a:pt x="228" y="120"/>
                </a:lnTo>
                <a:lnTo>
                  <a:pt x="285" y="162"/>
                </a:lnTo>
                <a:lnTo>
                  <a:pt x="342" y="210"/>
                </a:lnTo>
                <a:lnTo>
                  <a:pt x="417" y="282"/>
                </a:lnTo>
                <a:lnTo>
                  <a:pt x="465" y="345"/>
                </a:lnTo>
                <a:lnTo>
                  <a:pt x="513" y="405"/>
                </a:lnTo>
                <a:lnTo>
                  <a:pt x="549" y="462"/>
                </a:lnTo>
                <a:lnTo>
                  <a:pt x="591" y="528"/>
                </a:lnTo>
                <a:lnTo>
                  <a:pt x="627" y="603"/>
                </a:lnTo>
                <a:lnTo>
                  <a:pt x="657" y="666"/>
                </a:lnTo>
                <a:lnTo>
                  <a:pt x="684" y="723"/>
                </a:lnTo>
                <a:lnTo>
                  <a:pt x="717" y="813"/>
                </a:lnTo>
                <a:lnTo>
                  <a:pt x="738" y="894"/>
                </a:lnTo>
                <a:lnTo>
                  <a:pt x="762" y="969"/>
                </a:lnTo>
                <a:lnTo>
                  <a:pt x="777" y="1056"/>
                </a:lnTo>
                <a:lnTo>
                  <a:pt x="792" y="1149"/>
                </a:lnTo>
                <a:lnTo>
                  <a:pt x="807" y="1239"/>
                </a:lnTo>
                <a:lnTo>
                  <a:pt x="813" y="1332"/>
                </a:lnTo>
                <a:lnTo>
                  <a:pt x="813" y="1410"/>
                </a:lnTo>
                <a:lnTo>
                  <a:pt x="813" y="1479"/>
                </a:lnTo>
                <a:lnTo>
                  <a:pt x="810" y="1560"/>
                </a:lnTo>
                <a:lnTo>
                  <a:pt x="804" y="1635"/>
                </a:lnTo>
                <a:lnTo>
                  <a:pt x="792" y="1710"/>
                </a:lnTo>
                <a:lnTo>
                  <a:pt x="780" y="1785"/>
                </a:lnTo>
                <a:lnTo>
                  <a:pt x="762" y="1869"/>
                </a:lnTo>
                <a:lnTo>
                  <a:pt x="591" y="1830"/>
                </a:lnTo>
                <a:lnTo>
                  <a:pt x="786" y="2226"/>
                </a:lnTo>
                <a:lnTo>
                  <a:pt x="1149" y="1971"/>
                </a:lnTo>
                <a:lnTo>
                  <a:pt x="990" y="1932"/>
                </a:lnTo>
                <a:lnTo>
                  <a:pt x="1008" y="1869"/>
                </a:lnTo>
                <a:lnTo>
                  <a:pt x="1023" y="1797"/>
                </a:lnTo>
                <a:lnTo>
                  <a:pt x="1038" y="1716"/>
                </a:lnTo>
                <a:lnTo>
                  <a:pt x="1047" y="1644"/>
                </a:lnTo>
                <a:lnTo>
                  <a:pt x="1050" y="1566"/>
                </a:lnTo>
                <a:lnTo>
                  <a:pt x="1053" y="1482"/>
                </a:lnTo>
                <a:lnTo>
                  <a:pt x="1053" y="1395"/>
                </a:lnTo>
                <a:lnTo>
                  <a:pt x="1047" y="1299"/>
                </a:lnTo>
                <a:lnTo>
                  <a:pt x="1035" y="1206"/>
                </a:lnTo>
                <a:lnTo>
                  <a:pt x="1020" y="1113"/>
                </a:lnTo>
                <a:lnTo>
                  <a:pt x="1005" y="1050"/>
                </a:lnTo>
                <a:lnTo>
                  <a:pt x="987" y="975"/>
                </a:lnTo>
                <a:lnTo>
                  <a:pt x="963" y="900"/>
                </a:lnTo>
                <a:lnTo>
                  <a:pt x="942" y="831"/>
                </a:lnTo>
                <a:lnTo>
                  <a:pt x="912" y="762"/>
                </a:lnTo>
                <a:lnTo>
                  <a:pt x="879" y="684"/>
                </a:lnTo>
                <a:lnTo>
                  <a:pt x="837" y="603"/>
                </a:lnTo>
                <a:lnTo>
                  <a:pt x="798" y="534"/>
                </a:lnTo>
                <a:lnTo>
                  <a:pt x="750" y="462"/>
                </a:lnTo>
                <a:lnTo>
                  <a:pt x="711" y="408"/>
                </a:lnTo>
                <a:lnTo>
                  <a:pt x="669" y="363"/>
                </a:lnTo>
                <a:lnTo>
                  <a:pt x="615" y="309"/>
                </a:lnTo>
                <a:lnTo>
                  <a:pt x="558" y="249"/>
                </a:lnTo>
                <a:lnTo>
                  <a:pt x="501" y="201"/>
                </a:lnTo>
                <a:lnTo>
                  <a:pt x="433" y="157"/>
                </a:lnTo>
                <a:lnTo>
                  <a:pt x="366" y="114"/>
                </a:lnTo>
                <a:lnTo>
                  <a:pt x="297" y="81"/>
                </a:lnTo>
                <a:lnTo>
                  <a:pt x="225" y="51"/>
                </a:lnTo>
                <a:lnTo>
                  <a:pt x="153" y="24"/>
                </a:lnTo>
                <a:lnTo>
                  <a:pt x="81" y="9"/>
                </a:lnTo>
                <a:lnTo>
                  <a:pt x="0" y="0"/>
                </a:lnTo>
              </a:path>
            </a:pathLst>
          </a:custGeom>
          <a:solidFill>
            <a:schemeClr val="bg1">
              <a:lumMod val="95000"/>
            </a:schemeClr>
          </a:solidFill>
          <a:ln w="12700" cap="flat" cmpd="sng">
            <a:solidFill>
              <a:schemeClr val="tx1">
                <a:lumMod val="50000"/>
                <a:lumOff val="50000"/>
              </a:schemeClr>
            </a:solidFill>
            <a:prstDash val="solid"/>
            <a:round/>
            <a:headEnd type="none" w="med" len="med"/>
            <a:tailEnd type="none" w="med" len="med"/>
          </a:ln>
          <a:effectLst/>
        </p:spPr>
        <p:txBody>
          <a:bodyPr wrap="none" anchor="ctr"/>
          <a:lstStyle/>
          <a:p>
            <a:endParaRPr lang="en-US" noProof="0" dirty="0"/>
          </a:p>
        </p:txBody>
      </p:sp>
      <p:pic>
        <p:nvPicPr>
          <p:cNvPr id="7" name="Picture 3"/>
          <p:cNvPicPr>
            <a:picLocks noChangeAspect="1" noChangeArrowheads="1"/>
          </p:cNvPicPr>
          <p:nvPr/>
        </p:nvPicPr>
        <p:blipFill>
          <a:blip r:embed="rId4" cstate="print"/>
          <a:srcRect/>
          <a:stretch>
            <a:fillRect/>
          </a:stretch>
        </p:blipFill>
        <p:spPr bwMode="auto">
          <a:xfrm>
            <a:off x="7452320" y="2355726"/>
            <a:ext cx="1340371" cy="1340371"/>
          </a:xfrm>
          <a:prstGeom prst="rect">
            <a:avLst/>
          </a:prstGeom>
          <a:noFill/>
          <a:ln w="9525">
            <a:noFill/>
            <a:miter lim="800000"/>
            <a:headEnd/>
            <a:tailEnd/>
          </a:ln>
        </p:spPr>
      </p:pic>
      <p:sp>
        <p:nvSpPr>
          <p:cNvPr id="4" name="Textfeld 3"/>
          <p:cNvSpPr txBox="1"/>
          <p:nvPr/>
        </p:nvSpPr>
        <p:spPr>
          <a:xfrm>
            <a:off x="4581249" y="4150553"/>
            <a:ext cx="4311231" cy="869469"/>
          </a:xfrm>
          <a:prstGeom prst="rect">
            <a:avLst/>
          </a:prstGeom>
          <a:noFill/>
        </p:spPr>
        <p:txBody>
          <a:bodyPr wrap="square" rtlCol="0">
            <a:spAutoFit/>
          </a:bodyPr>
          <a:lstStyle/>
          <a:p>
            <a:pPr algn="just">
              <a:spcAft>
                <a:spcPts val="300"/>
              </a:spcAft>
            </a:pPr>
            <a:r>
              <a:rPr lang="en-US" sz="1200" noProof="0" dirty="0"/>
              <a:t>Ten simulation runs of the diffusion of ideas within a society of 120 agents on a 50x50 toroidal lattice.</a:t>
            </a:r>
          </a:p>
          <a:p>
            <a:pPr algn="just">
              <a:spcAft>
                <a:spcPts val="300"/>
              </a:spcAft>
            </a:pPr>
            <a:r>
              <a:rPr lang="en-US" sz="1200" noProof="0" dirty="0"/>
              <a:t>We assume a random initial distribution of the agents and initially 100 susceptible and 20 adopters/ infected.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FF831-B2E5-5C06-1B9A-76D3B52FAE0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F2EC3AD-5A4A-7A59-469E-DC4D169468F6}"/>
              </a:ext>
            </a:extLst>
          </p:cNvPr>
          <p:cNvSpPr>
            <a:spLocks noGrp="1"/>
          </p:cNvSpPr>
          <p:nvPr>
            <p:ph type="title"/>
          </p:nvPr>
        </p:nvSpPr>
        <p:spPr/>
        <p:txBody>
          <a:bodyPr/>
          <a:lstStyle/>
          <a:p>
            <a:r>
              <a:rPr lang="en-US" noProof="0" dirty="0"/>
              <a:t>Moreover, we have chemical reaction kinetics, …</a:t>
            </a:r>
          </a:p>
        </p:txBody>
      </p:sp>
      <p:sp>
        <p:nvSpPr>
          <p:cNvPr id="3" name="Rechteck 2">
            <a:extLst>
              <a:ext uri="{FF2B5EF4-FFF2-40B4-BE49-F238E27FC236}">
                <a16:creationId xmlns:a16="http://schemas.microsoft.com/office/drawing/2014/main" id="{3F3FBE5C-B6F8-BFC3-8057-EF6EEFF5F79F}"/>
              </a:ext>
            </a:extLst>
          </p:cNvPr>
          <p:cNvSpPr/>
          <p:nvPr/>
        </p:nvSpPr>
        <p:spPr>
          <a:xfrm>
            <a:off x="1691680" y="915566"/>
            <a:ext cx="7344816" cy="4104456"/>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0" name="Grafik 9" descr="IguanaTex_tmp.png">
            <a:extLst>
              <a:ext uri="{FF2B5EF4-FFF2-40B4-BE49-F238E27FC236}">
                <a16:creationId xmlns:a16="http://schemas.microsoft.com/office/drawing/2014/main" id="{71500744-FD9D-9815-2A28-3B0F1D7DEBA1}"/>
              </a:ext>
            </a:extLst>
          </p:cNvPr>
          <p:cNvPicPr>
            <a:picLocks noChangeAspect="1"/>
          </p:cNvPicPr>
          <p:nvPr>
            <p:custDataLst>
              <p:tags r:id="rId1"/>
            </p:custDataLst>
          </p:nvPr>
        </p:nvPicPr>
        <p:blipFill>
          <a:blip r:embed="rId3" cstate="print"/>
          <a:stretch>
            <a:fillRect/>
          </a:stretch>
        </p:blipFill>
        <p:spPr>
          <a:xfrm>
            <a:off x="2051718" y="987564"/>
            <a:ext cx="6840913" cy="3758103"/>
          </a:xfrm>
          <a:prstGeom prst="rect">
            <a:avLst/>
          </a:prstGeom>
        </p:spPr>
      </p:pic>
      <p:sp>
        <p:nvSpPr>
          <p:cNvPr id="14" name="Rechteck 13">
            <a:extLst>
              <a:ext uri="{FF2B5EF4-FFF2-40B4-BE49-F238E27FC236}">
                <a16:creationId xmlns:a16="http://schemas.microsoft.com/office/drawing/2014/main" id="{04AB4BB3-84D2-7772-11D8-36CE3E0ED2E1}"/>
              </a:ext>
            </a:extLst>
          </p:cNvPr>
          <p:cNvSpPr/>
          <p:nvPr/>
        </p:nvSpPr>
        <p:spPr>
          <a:xfrm>
            <a:off x="2950775" y="1275606"/>
            <a:ext cx="5040560" cy="5760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ichtungspfeil 4">
            <a:extLst>
              <a:ext uri="{FF2B5EF4-FFF2-40B4-BE49-F238E27FC236}">
                <a16:creationId xmlns:a16="http://schemas.microsoft.com/office/drawing/2014/main" id="{5BBEFF95-3564-7451-B757-B3377D089E94}"/>
              </a:ext>
            </a:extLst>
          </p:cNvPr>
          <p:cNvSpPr/>
          <p:nvPr/>
        </p:nvSpPr>
        <p:spPr>
          <a:xfrm>
            <a:off x="107504" y="3507854"/>
            <a:ext cx="1800200" cy="792088"/>
          </a:xfrm>
          <a:prstGeom prst="homePlate">
            <a:avLst>
              <a:gd name="adj" fmla="val 41441"/>
            </a:avLst>
          </a:prstGeom>
          <a:solidFill>
            <a:schemeClr val="bg1">
              <a:lumMod val="85000"/>
            </a:schemeClr>
          </a:solidFill>
          <a:ln>
            <a:solidFill>
              <a:schemeClr val="tx1">
                <a:lumMod val="50000"/>
                <a:lumOff val="50000"/>
              </a:schemeClr>
            </a:solidFill>
          </a:ln>
          <a:effectLst>
            <a:outerShdw blurRad="44450" dist="27940" dir="5400000" algn="ctr">
              <a:srgbClr val="000000">
                <a:alpha val="3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Rate of Change Equations</a:t>
            </a:r>
          </a:p>
        </p:txBody>
      </p:sp>
      <p:sp>
        <p:nvSpPr>
          <p:cNvPr id="5" name="Richtungspfeil 6">
            <a:extLst>
              <a:ext uri="{FF2B5EF4-FFF2-40B4-BE49-F238E27FC236}">
                <a16:creationId xmlns:a16="http://schemas.microsoft.com/office/drawing/2014/main" id="{B519E43E-DAEC-E30E-A53F-EA2098AD4F1A}"/>
              </a:ext>
            </a:extLst>
          </p:cNvPr>
          <p:cNvSpPr/>
          <p:nvPr/>
        </p:nvSpPr>
        <p:spPr>
          <a:xfrm>
            <a:off x="107504" y="2643758"/>
            <a:ext cx="1800200" cy="792088"/>
          </a:xfrm>
          <a:prstGeom prst="homePlate">
            <a:avLst>
              <a:gd name="adj" fmla="val 41441"/>
            </a:avLst>
          </a:prstGeom>
          <a:solidFill>
            <a:schemeClr val="bg1">
              <a:lumMod val="85000"/>
            </a:schemeClr>
          </a:solidFill>
          <a:ln>
            <a:solidFill>
              <a:schemeClr val="tx1">
                <a:lumMod val="50000"/>
                <a:lumOff val="50000"/>
              </a:schemeClr>
            </a:solidFill>
          </a:ln>
          <a:effectLst>
            <a:outerShdw blurRad="44450" dist="27940" dir="5400000" algn="ctr">
              <a:srgbClr val="000000">
                <a:alpha val="3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Markovian Birth &amp; Death Processes</a:t>
            </a:r>
          </a:p>
        </p:txBody>
      </p:sp>
      <p:sp>
        <p:nvSpPr>
          <p:cNvPr id="6" name="Richtungspfeil 5">
            <a:extLst>
              <a:ext uri="{FF2B5EF4-FFF2-40B4-BE49-F238E27FC236}">
                <a16:creationId xmlns:a16="http://schemas.microsoft.com/office/drawing/2014/main" id="{96869A14-48FE-0DA5-CD06-021D44DAE0CB}"/>
              </a:ext>
            </a:extLst>
          </p:cNvPr>
          <p:cNvSpPr/>
          <p:nvPr/>
        </p:nvSpPr>
        <p:spPr>
          <a:xfrm>
            <a:off x="107504" y="915566"/>
            <a:ext cx="1800200" cy="792088"/>
          </a:xfrm>
          <a:prstGeom prst="homePlate">
            <a:avLst>
              <a:gd name="adj" fmla="val 41441"/>
            </a:avLst>
          </a:prstGeom>
          <a:solidFill>
            <a:schemeClr val="bg1">
              <a:lumMod val="85000"/>
            </a:schemeClr>
          </a:solidFill>
          <a:ln>
            <a:solidFill>
              <a:schemeClr val="tx1">
                <a:lumMod val="50000"/>
                <a:lumOff val="50000"/>
              </a:schemeClr>
            </a:solidFill>
          </a:ln>
          <a:effectLst>
            <a:outerShdw blurRad="44450" dist="27940" dir="5400000" algn="ctr">
              <a:srgbClr val="000000">
                <a:alpha val="3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Agent-Based Modeling</a:t>
            </a:r>
          </a:p>
        </p:txBody>
      </p:sp>
      <p:sp>
        <p:nvSpPr>
          <p:cNvPr id="7" name="Richtungspfeil 3">
            <a:extLst>
              <a:ext uri="{FF2B5EF4-FFF2-40B4-BE49-F238E27FC236}">
                <a16:creationId xmlns:a16="http://schemas.microsoft.com/office/drawing/2014/main" id="{2A1AF845-5D9A-E58D-60E8-44F37AD5C705}"/>
              </a:ext>
            </a:extLst>
          </p:cNvPr>
          <p:cNvSpPr/>
          <p:nvPr/>
        </p:nvSpPr>
        <p:spPr>
          <a:xfrm>
            <a:off x="107504" y="1779662"/>
            <a:ext cx="1800200" cy="792088"/>
          </a:xfrm>
          <a:prstGeom prst="homePlate">
            <a:avLst>
              <a:gd name="adj" fmla="val 41441"/>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noProof="0" dirty="0">
                <a:solidFill>
                  <a:schemeClr val="bg1"/>
                </a:solidFill>
              </a:rPr>
              <a:t>Chemical</a:t>
            </a:r>
          </a:p>
          <a:p>
            <a:pPr algn="ctr"/>
            <a:r>
              <a:rPr lang="en-US" sz="1400" b="1" noProof="0" dirty="0">
                <a:solidFill>
                  <a:schemeClr val="bg1"/>
                </a:solidFill>
              </a:rPr>
              <a:t>Reaction-Kinetics</a:t>
            </a:r>
          </a:p>
        </p:txBody>
      </p:sp>
    </p:spTree>
    <p:extLst>
      <p:ext uri="{BB962C8B-B14F-4D97-AF65-F5344CB8AC3E}">
        <p14:creationId xmlns:p14="http://schemas.microsoft.com/office/powerpoint/2010/main" val="33264168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 or Markovian birth and death processes that describe the transitions between discrete states by means of transfer operators </a:t>
            </a:r>
          </a:p>
        </p:txBody>
      </p:sp>
      <p:sp>
        <p:nvSpPr>
          <p:cNvPr id="3" name="Rechteck 2"/>
          <p:cNvSpPr/>
          <p:nvPr/>
        </p:nvSpPr>
        <p:spPr>
          <a:xfrm>
            <a:off x="1691680" y="915566"/>
            <a:ext cx="7344816" cy="4104456"/>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1" name="Grafik 10" descr="IguanaTex_tmp.png"/>
          <p:cNvPicPr>
            <a:picLocks noChangeAspect="1"/>
          </p:cNvPicPr>
          <p:nvPr>
            <p:custDataLst>
              <p:tags r:id="rId1"/>
            </p:custDataLst>
          </p:nvPr>
        </p:nvPicPr>
        <p:blipFill>
          <a:blip r:embed="rId3" cstate="print"/>
          <a:stretch>
            <a:fillRect/>
          </a:stretch>
        </p:blipFill>
        <p:spPr>
          <a:xfrm>
            <a:off x="2051718" y="987566"/>
            <a:ext cx="6840000" cy="2540887"/>
          </a:xfrm>
          <a:prstGeom prst="rect">
            <a:avLst/>
          </a:prstGeom>
        </p:spPr>
      </p:pic>
      <p:sp>
        <p:nvSpPr>
          <p:cNvPr id="10" name="Rechteck 9"/>
          <p:cNvSpPr/>
          <p:nvPr/>
        </p:nvSpPr>
        <p:spPr>
          <a:xfrm>
            <a:off x="2950775" y="1275606"/>
            <a:ext cx="5040560" cy="100811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8" name="Gruppieren 28"/>
          <p:cNvGrpSpPr/>
          <p:nvPr/>
        </p:nvGrpSpPr>
        <p:grpSpPr>
          <a:xfrm>
            <a:off x="5148065" y="3781806"/>
            <a:ext cx="3744415" cy="1094200"/>
            <a:chOff x="4293516" y="4221088"/>
            <a:chExt cx="4661548" cy="1362206"/>
          </a:xfrm>
        </p:grpSpPr>
        <p:sp>
          <p:nvSpPr>
            <p:cNvPr id="13" name="Rechteck 12"/>
            <p:cNvSpPr/>
            <p:nvPr/>
          </p:nvSpPr>
          <p:spPr>
            <a:xfrm>
              <a:off x="4427984" y="4293096"/>
              <a:ext cx="1440160" cy="720080"/>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noProof="0" dirty="0">
                  <a:solidFill>
                    <a:schemeClr val="tx2"/>
                  </a:solidFill>
                </a:rPr>
                <a:t>state n’</a:t>
              </a:r>
            </a:p>
          </p:txBody>
        </p:sp>
        <p:sp>
          <p:nvSpPr>
            <p:cNvPr id="14" name="Rechteck 13"/>
            <p:cNvSpPr/>
            <p:nvPr/>
          </p:nvSpPr>
          <p:spPr>
            <a:xfrm>
              <a:off x="7380437" y="4293096"/>
              <a:ext cx="1440160" cy="720080"/>
            </a:xfrm>
            <a:prstGeom prst="rect">
              <a:avLst/>
            </a:prstGeom>
            <a:solidFill>
              <a:schemeClr val="tx2">
                <a:lumMod val="20000"/>
                <a:lumOff val="80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noProof="0" dirty="0">
                  <a:solidFill>
                    <a:schemeClr val="tx2"/>
                  </a:solidFill>
                </a:rPr>
                <a:t>state n</a:t>
              </a:r>
            </a:p>
          </p:txBody>
        </p:sp>
        <p:cxnSp>
          <p:nvCxnSpPr>
            <p:cNvPr id="15" name="Gerade Verbindung mit Pfeil 14"/>
            <p:cNvCxnSpPr>
              <a:stCxn id="13" idx="3"/>
              <a:endCxn id="14" idx="1"/>
            </p:cNvCxnSpPr>
            <p:nvPr/>
          </p:nvCxnSpPr>
          <p:spPr>
            <a:xfrm>
              <a:off x="5868144" y="4653136"/>
              <a:ext cx="1512293" cy="0"/>
            </a:xfrm>
            <a:prstGeom prst="straightConnector1">
              <a:avLst/>
            </a:prstGeom>
            <a:ln w="28575">
              <a:solidFill>
                <a:schemeClr val="tx2"/>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16" name="Textfeld 15"/>
            <p:cNvSpPr txBox="1"/>
            <p:nvPr/>
          </p:nvSpPr>
          <p:spPr>
            <a:xfrm>
              <a:off x="6084167" y="4221088"/>
              <a:ext cx="1105980" cy="421477"/>
            </a:xfrm>
            <a:prstGeom prst="rect">
              <a:avLst/>
            </a:prstGeom>
            <a:noFill/>
          </p:spPr>
          <p:txBody>
            <a:bodyPr wrap="none" rtlCol="0">
              <a:spAutoFit/>
            </a:bodyPr>
            <a:lstStyle/>
            <a:p>
              <a:r>
                <a:rPr lang="en-US" sz="1600" noProof="0" dirty="0">
                  <a:solidFill>
                    <a:schemeClr val="tx2"/>
                  </a:solidFill>
                </a:rPr>
                <a:t>T(n | n’)</a:t>
              </a:r>
            </a:p>
          </p:txBody>
        </p:sp>
        <p:sp>
          <p:nvSpPr>
            <p:cNvPr id="17" name="Textfeld 16"/>
            <p:cNvSpPr txBox="1"/>
            <p:nvPr/>
          </p:nvSpPr>
          <p:spPr>
            <a:xfrm>
              <a:off x="4293516" y="5085184"/>
              <a:ext cx="1703258" cy="498110"/>
            </a:xfrm>
            <a:prstGeom prst="rect">
              <a:avLst/>
            </a:prstGeom>
            <a:noFill/>
          </p:spPr>
          <p:txBody>
            <a:bodyPr wrap="square" rtlCol="0">
              <a:spAutoFit/>
            </a:bodyPr>
            <a:lstStyle/>
            <a:p>
              <a:pPr algn="ctr"/>
              <a:r>
                <a:rPr lang="en-US" sz="1000" noProof="0" dirty="0"/>
                <a:t>(with a certain population density)</a:t>
              </a:r>
            </a:p>
          </p:txBody>
        </p:sp>
        <p:sp>
          <p:nvSpPr>
            <p:cNvPr id="18" name="Textfeld 17"/>
            <p:cNvSpPr txBox="1"/>
            <p:nvPr/>
          </p:nvSpPr>
          <p:spPr>
            <a:xfrm>
              <a:off x="7251807" y="5085180"/>
              <a:ext cx="1703257" cy="498110"/>
            </a:xfrm>
            <a:prstGeom prst="rect">
              <a:avLst/>
            </a:prstGeom>
            <a:noFill/>
          </p:spPr>
          <p:txBody>
            <a:bodyPr wrap="square" rtlCol="0">
              <a:spAutoFit/>
            </a:bodyPr>
            <a:lstStyle/>
            <a:p>
              <a:pPr algn="ctr"/>
              <a:r>
                <a:rPr lang="en-US" sz="1000" noProof="0" dirty="0"/>
                <a:t>(with a certain population density)</a:t>
              </a:r>
            </a:p>
          </p:txBody>
        </p:sp>
      </p:grpSp>
      <p:sp>
        <p:nvSpPr>
          <p:cNvPr id="9" name="Richtungspfeil 4">
            <a:extLst>
              <a:ext uri="{FF2B5EF4-FFF2-40B4-BE49-F238E27FC236}">
                <a16:creationId xmlns:a16="http://schemas.microsoft.com/office/drawing/2014/main" id="{893A2B25-5E61-6E6D-F1E4-859146CC32E5}"/>
              </a:ext>
            </a:extLst>
          </p:cNvPr>
          <p:cNvSpPr/>
          <p:nvPr/>
        </p:nvSpPr>
        <p:spPr>
          <a:xfrm>
            <a:off x="107504" y="3507854"/>
            <a:ext cx="1800200" cy="792088"/>
          </a:xfrm>
          <a:prstGeom prst="homePlate">
            <a:avLst>
              <a:gd name="adj" fmla="val 41441"/>
            </a:avLst>
          </a:prstGeom>
          <a:solidFill>
            <a:schemeClr val="bg1">
              <a:lumMod val="85000"/>
            </a:schemeClr>
          </a:solidFill>
          <a:ln>
            <a:solidFill>
              <a:schemeClr val="tx1">
                <a:lumMod val="50000"/>
                <a:lumOff val="50000"/>
              </a:schemeClr>
            </a:solidFill>
          </a:ln>
          <a:effectLst>
            <a:outerShdw blurRad="44450" dist="27940" dir="5400000" algn="ctr">
              <a:srgbClr val="000000">
                <a:alpha val="3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Rate of Change Equations</a:t>
            </a:r>
          </a:p>
        </p:txBody>
      </p:sp>
      <p:sp>
        <p:nvSpPr>
          <p:cNvPr id="12" name="Richtungspfeil 6">
            <a:extLst>
              <a:ext uri="{FF2B5EF4-FFF2-40B4-BE49-F238E27FC236}">
                <a16:creationId xmlns:a16="http://schemas.microsoft.com/office/drawing/2014/main" id="{CCD7516F-F629-6E41-3B1F-6204161F11F2}"/>
              </a:ext>
            </a:extLst>
          </p:cNvPr>
          <p:cNvSpPr/>
          <p:nvPr/>
        </p:nvSpPr>
        <p:spPr>
          <a:xfrm>
            <a:off x="107504" y="2643758"/>
            <a:ext cx="1800200" cy="792088"/>
          </a:xfrm>
          <a:prstGeom prst="homePlate">
            <a:avLst>
              <a:gd name="adj" fmla="val 41441"/>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noProof="0" dirty="0">
                <a:solidFill>
                  <a:schemeClr val="bg1"/>
                </a:solidFill>
              </a:rPr>
              <a:t>Markovian Birth &amp; Death Processes</a:t>
            </a:r>
          </a:p>
        </p:txBody>
      </p:sp>
      <p:sp>
        <p:nvSpPr>
          <p:cNvPr id="19" name="Richtungspfeil 5">
            <a:extLst>
              <a:ext uri="{FF2B5EF4-FFF2-40B4-BE49-F238E27FC236}">
                <a16:creationId xmlns:a16="http://schemas.microsoft.com/office/drawing/2014/main" id="{A2F17D12-40DB-C82E-1BDB-B56A70458BD2}"/>
              </a:ext>
            </a:extLst>
          </p:cNvPr>
          <p:cNvSpPr/>
          <p:nvPr/>
        </p:nvSpPr>
        <p:spPr>
          <a:xfrm>
            <a:off x="107504" y="915566"/>
            <a:ext cx="1800200" cy="792088"/>
          </a:xfrm>
          <a:prstGeom prst="homePlate">
            <a:avLst>
              <a:gd name="adj" fmla="val 41441"/>
            </a:avLst>
          </a:prstGeom>
          <a:solidFill>
            <a:schemeClr val="bg1">
              <a:lumMod val="85000"/>
            </a:schemeClr>
          </a:solidFill>
          <a:ln>
            <a:solidFill>
              <a:schemeClr val="tx1">
                <a:lumMod val="50000"/>
                <a:lumOff val="50000"/>
              </a:schemeClr>
            </a:solidFill>
          </a:ln>
          <a:effectLst>
            <a:outerShdw blurRad="44450" dist="27940" dir="5400000" algn="ctr">
              <a:srgbClr val="000000">
                <a:alpha val="3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Agent-Based Modeling</a:t>
            </a:r>
          </a:p>
        </p:txBody>
      </p:sp>
      <p:sp>
        <p:nvSpPr>
          <p:cNvPr id="20" name="Richtungspfeil 3">
            <a:extLst>
              <a:ext uri="{FF2B5EF4-FFF2-40B4-BE49-F238E27FC236}">
                <a16:creationId xmlns:a16="http://schemas.microsoft.com/office/drawing/2014/main" id="{77842485-6FAC-4F01-33C2-699292715156}"/>
              </a:ext>
            </a:extLst>
          </p:cNvPr>
          <p:cNvSpPr/>
          <p:nvPr/>
        </p:nvSpPr>
        <p:spPr>
          <a:xfrm>
            <a:off x="107504" y="1779662"/>
            <a:ext cx="1800200" cy="792088"/>
          </a:xfrm>
          <a:prstGeom prst="homePlate">
            <a:avLst>
              <a:gd name="adj" fmla="val 41441"/>
            </a:avLst>
          </a:prstGeom>
          <a:solidFill>
            <a:schemeClr val="bg1">
              <a:lumMod val="85000"/>
            </a:schemeClr>
          </a:solidFill>
          <a:ln>
            <a:solidFill>
              <a:schemeClr val="tx1">
                <a:lumMod val="50000"/>
                <a:lumOff val="50000"/>
              </a:schemeClr>
            </a:solidFill>
          </a:ln>
          <a:effectLst>
            <a:outerShdw blurRad="44450" dist="27940" dir="5400000" algn="ctr">
              <a:srgbClr val="000000">
                <a:alpha val="3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Chemical</a:t>
            </a:r>
          </a:p>
          <a:p>
            <a:pPr algn="ctr"/>
            <a:r>
              <a:rPr lang="en-US" sz="1400" noProof="0" dirty="0">
                <a:solidFill>
                  <a:schemeClr val="tx1">
                    <a:lumMod val="50000"/>
                    <a:lumOff val="50000"/>
                  </a:schemeClr>
                </a:solidFill>
              </a:rPr>
              <a:t>Reaction-Kinetics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Example:</a:t>
            </a:r>
            <a:br>
              <a:rPr lang="en-US" noProof="0" dirty="0"/>
            </a:br>
            <a:r>
              <a:rPr lang="en-US" noProof="0" dirty="0"/>
              <a:t>The previous diffusion of ideas example interpreted as a Markov chain</a:t>
            </a:r>
          </a:p>
        </p:txBody>
      </p:sp>
      <p:sp>
        <p:nvSpPr>
          <p:cNvPr id="3" name="Rechteck 2"/>
          <p:cNvSpPr/>
          <p:nvPr/>
        </p:nvSpPr>
        <p:spPr>
          <a:xfrm>
            <a:off x="1691680" y="1131590"/>
            <a:ext cx="7200800" cy="3888432"/>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3" name="Grafik 12">
            <a:extLst>
              <a:ext uri="{FF2B5EF4-FFF2-40B4-BE49-F238E27FC236}">
                <a16:creationId xmlns:a16="http://schemas.microsoft.com/office/drawing/2014/main" id="{58158772-940D-AC9A-FC4E-76E582B6F59F}"/>
              </a:ext>
            </a:extLst>
          </p:cNvPr>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1763690" y="1203554"/>
            <a:ext cx="7078590" cy="3741297"/>
          </a:xfrm>
          <a:prstGeom prst="rect">
            <a:avLst/>
          </a:prstGeom>
          <a:noFill/>
          <a:ln/>
          <a:effectLst/>
        </p:spPr>
      </p:pic>
      <p:pic>
        <p:nvPicPr>
          <p:cNvPr id="12" name="Picture 3"/>
          <p:cNvPicPr>
            <a:picLocks noChangeAspect="1" noChangeArrowheads="1"/>
          </p:cNvPicPr>
          <p:nvPr/>
        </p:nvPicPr>
        <p:blipFill>
          <a:blip r:embed="rId4" cstate="print"/>
          <a:srcRect/>
          <a:stretch>
            <a:fillRect/>
          </a:stretch>
        </p:blipFill>
        <p:spPr bwMode="auto">
          <a:xfrm>
            <a:off x="251521" y="1131591"/>
            <a:ext cx="1296144" cy="1296144"/>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Example:</a:t>
            </a:r>
            <a:br>
              <a:rPr lang="en-US" noProof="0" dirty="0"/>
            </a:br>
            <a:r>
              <a:rPr lang="en-US" noProof="0" dirty="0"/>
              <a:t>The previous diffusion of ideas example interpreted as a Markov chain</a:t>
            </a:r>
          </a:p>
        </p:txBody>
      </p:sp>
      <p:sp>
        <p:nvSpPr>
          <p:cNvPr id="3" name="Rechteck 2"/>
          <p:cNvSpPr/>
          <p:nvPr/>
        </p:nvSpPr>
        <p:spPr>
          <a:xfrm>
            <a:off x="1691680" y="1131590"/>
            <a:ext cx="7200800" cy="3888432"/>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0" name="Grafik 9" descr="IguanaTex_tmp.png"/>
          <p:cNvPicPr>
            <a:picLocks noChangeAspect="1"/>
          </p:cNvPicPr>
          <p:nvPr>
            <p:custDataLst>
              <p:tags r:id="rId1"/>
            </p:custDataLst>
          </p:nvPr>
        </p:nvPicPr>
        <p:blipFill>
          <a:blip r:embed="rId3" cstate="print"/>
          <a:stretch>
            <a:fillRect/>
          </a:stretch>
        </p:blipFill>
        <p:spPr>
          <a:xfrm>
            <a:off x="1763690" y="1203554"/>
            <a:ext cx="7075759" cy="3743972"/>
          </a:xfrm>
          <a:prstGeom prst="rect">
            <a:avLst/>
          </a:prstGeom>
          <a:noFill/>
          <a:ln/>
          <a:effectLst/>
        </p:spPr>
      </p:pic>
      <p:pic>
        <p:nvPicPr>
          <p:cNvPr id="7" name="Picture 3"/>
          <p:cNvPicPr>
            <a:picLocks noChangeAspect="1" noChangeArrowheads="1"/>
          </p:cNvPicPr>
          <p:nvPr/>
        </p:nvPicPr>
        <p:blipFill>
          <a:blip r:embed="rId4" cstate="print"/>
          <a:srcRect/>
          <a:stretch>
            <a:fillRect/>
          </a:stretch>
        </p:blipFill>
        <p:spPr bwMode="auto">
          <a:xfrm>
            <a:off x="251521" y="1131591"/>
            <a:ext cx="1296144" cy="1296144"/>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Example:</a:t>
            </a:r>
            <a:br>
              <a:rPr lang="en-US" noProof="0" dirty="0"/>
            </a:br>
            <a:r>
              <a:rPr lang="en-US" noProof="0" dirty="0"/>
              <a:t>The previous diffusion of ideas example interpreted as a Markov chain</a:t>
            </a:r>
          </a:p>
        </p:txBody>
      </p:sp>
      <p:sp>
        <p:nvSpPr>
          <p:cNvPr id="3" name="Rechteck 2"/>
          <p:cNvSpPr/>
          <p:nvPr/>
        </p:nvSpPr>
        <p:spPr>
          <a:xfrm>
            <a:off x="1691680" y="1131590"/>
            <a:ext cx="7200800" cy="3888432"/>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5" name="Grafik 4">
            <a:extLst>
              <a:ext uri="{FF2B5EF4-FFF2-40B4-BE49-F238E27FC236}">
                <a16:creationId xmlns:a16="http://schemas.microsoft.com/office/drawing/2014/main" id="{31D1C473-4F3E-08A1-79EB-3BD23ED73703}"/>
              </a:ext>
            </a:extLst>
          </p:cNvPr>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1763690" y="1203552"/>
            <a:ext cx="7067871" cy="2871167"/>
          </a:xfrm>
          <a:prstGeom prst="rect">
            <a:avLst/>
          </a:prstGeom>
          <a:noFill/>
          <a:ln/>
          <a:effectLst/>
        </p:spPr>
      </p:pic>
      <p:pic>
        <p:nvPicPr>
          <p:cNvPr id="7" name="Picture 3"/>
          <p:cNvPicPr>
            <a:picLocks noChangeAspect="1" noChangeArrowheads="1"/>
          </p:cNvPicPr>
          <p:nvPr/>
        </p:nvPicPr>
        <p:blipFill>
          <a:blip r:embed="rId4" cstate="print"/>
          <a:srcRect/>
          <a:stretch>
            <a:fillRect/>
          </a:stretch>
        </p:blipFill>
        <p:spPr bwMode="auto">
          <a:xfrm>
            <a:off x="251521" y="1131591"/>
            <a:ext cx="1296144" cy="1296144"/>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Example:</a:t>
            </a:r>
            <a:br>
              <a:rPr lang="en-US" noProof="0" dirty="0"/>
            </a:br>
            <a:r>
              <a:rPr lang="en-US" noProof="0" dirty="0"/>
              <a:t>The previous diffusion of ideas example interpreted as a Markov chain</a:t>
            </a:r>
          </a:p>
        </p:txBody>
      </p:sp>
      <p:sp>
        <p:nvSpPr>
          <p:cNvPr id="3" name="Rechteck 2"/>
          <p:cNvSpPr/>
          <p:nvPr/>
        </p:nvSpPr>
        <p:spPr>
          <a:xfrm>
            <a:off x="1691680" y="1131590"/>
            <a:ext cx="7200800" cy="3888432"/>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1" name="Grafik 10" descr="IguanaTex_tmp.png"/>
          <p:cNvPicPr>
            <a:picLocks noChangeAspect="1"/>
          </p:cNvPicPr>
          <p:nvPr>
            <p:custDataLst>
              <p:tags r:id="rId1"/>
            </p:custDataLst>
          </p:nvPr>
        </p:nvPicPr>
        <p:blipFill>
          <a:blip r:embed="rId3" cstate="print"/>
          <a:stretch>
            <a:fillRect/>
          </a:stretch>
        </p:blipFill>
        <p:spPr>
          <a:xfrm>
            <a:off x="1763690" y="1203549"/>
            <a:ext cx="7075156" cy="3733539"/>
          </a:xfrm>
          <a:prstGeom prst="rect">
            <a:avLst/>
          </a:prstGeom>
          <a:noFill/>
          <a:ln/>
          <a:effectLst/>
        </p:spPr>
      </p:pic>
      <p:pic>
        <p:nvPicPr>
          <p:cNvPr id="7" name="Picture 3"/>
          <p:cNvPicPr>
            <a:picLocks noChangeAspect="1" noChangeArrowheads="1"/>
          </p:cNvPicPr>
          <p:nvPr/>
        </p:nvPicPr>
        <p:blipFill>
          <a:blip r:embed="rId4" cstate="print"/>
          <a:srcRect/>
          <a:stretch>
            <a:fillRect/>
          </a:stretch>
        </p:blipFill>
        <p:spPr bwMode="auto">
          <a:xfrm>
            <a:off x="251521" y="1131591"/>
            <a:ext cx="1296144" cy="1296144"/>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dirty="0"/>
              <a:t>Finally, we have rate of change equations </a:t>
            </a:r>
          </a:p>
        </p:txBody>
      </p:sp>
      <p:sp>
        <p:nvSpPr>
          <p:cNvPr id="3" name="Rechteck 2"/>
          <p:cNvSpPr/>
          <p:nvPr/>
        </p:nvSpPr>
        <p:spPr>
          <a:xfrm>
            <a:off x="1691680" y="915566"/>
            <a:ext cx="7344816" cy="4104456"/>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9" name="Grafik 18">
            <a:extLst>
              <a:ext uri="{FF2B5EF4-FFF2-40B4-BE49-F238E27FC236}">
                <a16:creationId xmlns:a16="http://schemas.microsoft.com/office/drawing/2014/main" id="{EF5EF452-4DAA-8208-F5B1-D3DC898B2557}"/>
              </a:ext>
            </a:extLst>
          </p:cNvPr>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2051719" y="987561"/>
            <a:ext cx="6846101" cy="3981082"/>
          </a:xfrm>
          <a:prstGeom prst="rect">
            <a:avLst/>
          </a:prstGeom>
        </p:spPr>
      </p:pic>
      <p:sp>
        <p:nvSpPr>
          <p:cNvPr id="10" name="Rechteck 9"/>
          <p:cNvSpPr/>
          <p:nvPr/>
        </p:nvSpPr>
        <p:spPr>
          <a:xfrm>
            <a:off x="2950775" y="1491630"/>
            <a:ext cx="5040560" cy="11521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ichtungspfeil 4">
            <a:extLst>
              <a:ext uri="{FF2B5EF4-FFF2-40B4-BE49-F238E27FC236}">
                <a16:creationId xmlns:a16="http://schemas.microsoft.com/office/drawing/2014/main" id="{A3FC9B28-E00D-D7F0-8B12-01142E68C6DC}"/>
              </a:ext>
            </a:extLst>
          </p:cNvPr>
          <p:cNvSpPr/>
          <p:nvPr/>
        </p:nvSpPr>
        <p:spPr>
          <a:xfrm>
            <a:off x="107504" y="3507854"/>
            <a:ext cx="1800200" cy="792088"/>
          </a:xfrm>
          <a:prstGeom prst="homePlate">
            <a:avLst>
              <a:gd name="adj" fmla="val 41441"/>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noProof="0" dirty="0">
                <a:solidFill>
                  <a:schemeClr val="bg1"/>
                </a:solidFill>
              </a:rPr>
              <a:t>Rate of Change Equations</a:t>
            </a:r>
          </a:p>
        </p:txBody>
      </p:sp>
      <p:sp>
        <p:nvSpPr>
          <p:cNvPr id="9" name="Richtungspfeil 6">
            <a:extLst>
              <a:ext uri="{FF2B5EF4-FFF2-40B4-BE49-F238E27FC236}">
                <a16:creationId xmlns:a16="http://schemas.microsoft.com/office/drawing/2014/main" id="{E50AEF54-F74B-5999-346C-F5BE551CC43A}"/>
              </a:ext>
            </a:extLst>
          </p:cNvPr>
          <p:cNvSpPr/>
          <p:nvPr/>
        </p:nvSpPr>
        <p:spPr>
          <a:xfrm>
            <a:off x="107504" y="2643758"/>
            <a:ext cx="1800200" cy="792088"/>
          </a:xfrm>
          <a:prstGeom prst="homePlate">
            <a:avLst>
              <a:gd name="adj" fmla="val 41441"/>
            </a:avLst>
          </a:prstGeom>
          <a:solidFill>
            <a:schemeClr val="bg1">
              <a:lumMod val="85000"/>
            </a:schemeClr>
          </a:solidFill>
          <a:ln>
            <a:solidFill>
              <a:schemeClr val="tx1">
                <a:lumMod val="50000"/>
                <a:lumOff val="50000"/>
              </a:schemeClr>
            </a:solidFill>
          </a:ln>
          <a:effectLst>
            <a:outerShdw blurRad="44450" dist="27940" dir="5400000" algn="ctr">
              <a:srgbClr val="000000">
                <a:alpha val="3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Markovian Birth &amp; Death Processes</a:t>
            </a:r>
          </a:p>
        </p:txBody>
      </p:sp>
      <p:sp>
        <p:nvSpPr>
          <p:cNvPr id="12" name="Richtungspfeil 5">
            <a:extLst>
              <a:ext uri="{FF2B5EF4-FFF2-40B4-BE49-F238E27FC236}">
                <a16:creationId xmlns:a16="http://schemas.microsoft.com/office/drawing/2014/main" id="{81AD2375-8968-12BD-A720-E8E606158FB2}"/>
              </a:ext>
            </a:extLst>
          </p:cNvPr>
          <p:cNvSpPr/>
          <p:nvPr/>
        </p:nvSpPr>
        <p:spPr>
          <a:xfrm>
            <a:off x="107504" y="915566"/>
            <a:ext cx="1800200" cy="792088"/>
          </a:xfrm>
          <a:prstGeom prst="homePlate">
            <a:avLst>
              <a:gd name="adj" fmla="val 41441"/>
            </a:avLst>
          </a:prstGeom>
          <a:solidFill>
            <a:schemeClr val="bg1">
              <a:lumMod val="85000"/>
            </a:schemeClr>
          </a:solidFill>
          <a:ln>
            <a:solidFill>
              <a:schemeClr val="tx1">
                <a:lumMod val="50000"/>
                <a:lumOff val="50000"/>
              </a:schemeClr>
            </a:solidFill>
          </a:ln>
          <a:effectLst>
            <a:outerShdw blurRad="44450" dist="27940" dir="5400000" algn="ctr">
              <a:srgbClr val="000000">
                <a:alpha val="3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Agent-Based Modeling</a:t>
            </a:r>
          </a:p>
        </p:txBody>
      </p:sp>
      <p:sp>
        <p:nvSpPr>
          <p:cNvPr id="13" name="Richtungspfeil 3">
            <a:extLst>
              <a:ext uri="{FF2B5EF4-FFF2-40B4-BE49-F238E27FC236}">
                <a16:creationId xmlns:a16="http://schemas.microsoft.com/office/drawing/2014/main" id="{342504D5-EA92-F5EC-5567-D2DB78656238}"/>
              </a:ext>
            </a:extLst>
          </p:cNvPr>
          <p:cNvSpPr/>
          <p:nvPr/>
        </p:nvSpPr>
        <p:spPr>
          <a:xfrm>
            <a:off x="107504" y="1779662"/>
            <a:ext cx="1800200" cy="792088"/>
          </a:xfrm>
          <a:prstGeom prst="homePlate">
            <a:avLst>
              <a:gd name="adj" fmla="val 41441"/>
            </a:avLst>
          </a:prstGeom>
          <a:solidFill>
            <a:schemeClr val="bg1">
              <a:lumMod val="85000"/>
            </a:schemeClr>
          </a:solidFill>
          <a:ln>
            <a:solidFill>
              <a:schemeClr val="tx1">
                <a:lumMod val="50000"/>
                <a:lumOff val="50000"/>
              </a:schemeClr>
            </a:solidFill>
          </a:ln>
          <a:effectLst>
            <a:outerShdw blurRad="44450" dist="27940" dir="5400000" algn="ctr">
              <a:srgbClr val="000000">
                <a:alpha val="3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Chemical</a:t>
            </a:r>
          </a:p>
          <a:p>
            <a:pPr algn="ctr"/>
            <a:r>
              <a:rPr lang="en-US" sz="1400" noProof="0" dirty="0">
                <a:solidFill>
                  <a:schemeClr val="tx1">
                    <a:lumMod val="50000"/>
                    <a:lumOff val="50000"/>
                  </a:schemeClr>
                </a:solidFill>
              </a:rPr>
              <a:t>Reaction-Kinetics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F0C678-0FF1-380D-D06D-6A37A3D1015C}"/>
              </a:ext>
            </a:extLst>
          </p:cNvPr>
          <p:cNvSpPr>
            <a:spLocks noGrp="1"/>
          </p:cNvSpPr>
          <p:nvPr>
            <p:ph type="title"/>
          </p:nvPr>
        </p:nvSpPr>
        <p:spPr/>
        <p:txBody>
          <a:bodyPr/>
          <a:lstStyle/>
          <a:p>
            <a:r>
              <a:rPr lang="en-US" noProof="0" dirty="0"/>
              <a:t>Example:</a:t>
            </a:r>
            <a:br>
              <a:rPr lang="en-US" noProof="0" dirty="0"/>
            </a:br>
            <a:r>
              <a:rPr lang="en-US" noProof="0" dirty="0"/>
              <a:t>SI-dynamics by ODEs</a:t>
            </a:r>
          </a:p>
        </p:txBody>
      </p:sp>
      <p:sp>
        <p:nvSpPr>
          <p:cNvPr id="4" name="Rechteck 3">
            <a:extLst>
              <a:ext uri="{FF2B5EF4-FFF2-40B4-BE49-F238E27FC236}">
                <a16:creationId xmlns:a16="http://schemas.microsoft.com/office/drawing/2014/main" id="{4AEC7813-7734-F6D0-54D0-BACA3AA592D9}"/>
              </a:ext>
            </a:extLst>
          </p:cNvPr>
          <p:cNvSpPr/>
          <p:nvPr/>
        </p:nvSpPr>
        <p:spPr>
          <a:xfrm>
            <a:off x="1691680" y="1131590"/>
            <a:ext cx="7200800" cy="3888432"/>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9" name="Grafik 8">
            <a:extLst>
              <a:ext uri="{FF2B5EF4-FFF2-40B4-BE49-F238E27FC236}">
                <a16:creationId xmlns:a16="http://schemas.microsoft.com/office/drawing/2014/main" id="{06892577-175F-9B87-3AB5-786B2FA4E900}"/>
              </a:ext>
            </a:extLst>
          </p:cNvPr>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1763691" y="1203554"/>
            <a:ext cx="7069563" cy="3598471"/>
          </a:xfrm>
          <a:prstGeom prst="rect">
            <a:avLst/>
          </a:prstGeom>
          <a:noFill/>
          <a:ln/>
          <a:effectLst/>
        </p:spPr>
      </p:pic>
    </p:spTree>
    <p:extLst>
      <p:ext uri="{BB962C8B-B14F-4D97-AF65-F5344CB8AC3E}">
        <p14:creationId xmlns:p14="http://schemas.microsoft.com/office/powerpoint/2010/main" val="251984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19FA1-80A5-50E9-51B4-6A660B4A804D}"/>
            </a:ext>
          </a:extLst>
        </p:cNvPr>
        <p:cNvGrpSpPr/>
        <p:nvPr/>
      </p:nvGrpSpPr>
      <p:grpSpPr>
        <a:xfrm>
          <a:off x="0" y="0"/>
          <a:ext cx="0" cy="0"/>
          <a:chOff x="0" y="0"/>
          <a:chExt cx="0" cy="0"/>
        </a:xfrm>
      </p:grpSpPr>
      <p:sp>
        <p:nvSpPr>
          <p:cNvPr id="2" name="Abgerundetes Rechteck 1">
            <a:extLst>
              <a:ext uri="{FF2B5EF4-FFF2-40B4-BE49-F238E27FC236}">
                <a16:creationId xmlns:a16="http://schemas.microsoft.com/office/drawing/2014/main" id="{37ED156B-480B-40DF-C673-7E5B1CA6BFC1}"/>
              </a:ext>
            </a:extLst>
          </p:cNvPr>
          <p:cNvSpPr/>
          <p:nvPr/>
        </p:nvSpPr>
        <p:spPr>
          <a:xfrm>
            <a:off x="971600" y="3212788"/>
            <a:ext cx="7200800" cy="360040"/>
          </a:xfrm>
          <a:prstGeom prst="round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Textfeld 2">
            <a:extLst>
              <a:ext uri="{FF2B5EF4-FFF2-40B4-BE49-F238E27FC236}">
                <a16:creationId xmlns:a16="http://schemas.microsoft.com/office/drawing/2014/main" id="{B999DC2D-4D95-84A1-59E8-0A9E6E50A424}"/>
              </a:ext>
            </a:extLst>
          </p:cNvPr>
          <p:cNvSpPr txBox="1"/>
          <p:nvPr/>
        </p:nvSpPr>
        <p:spPr>
          <a:xfrm>
            <a:off x="971600" y="1131590"/>
            <a:ext cx="4699043" cy="2739211"/>
          </a:xfrm>
          <a:prstGeom prst="rect">
            <a:avLst/>
          </a:prstGeom>
          <a:noFill/>
        </p:spPr>
        <p:txBody>
          <a:bodyPr wrap="none" rtlCol="0">
            <a:spAutoFit/>
          </a:bodyPr>
          <a:lstStyle/>
          <a:p>
            <a:r>
              <a:rPr lang="en-US" b="1" noProof="0" dirty="0"/>
              <a:t>Topics</a:t>
            </a:r>
          </a:p>
          <a:p>
            <a:endParaRPr lang="en-US" sz="1000" noProof="0" dirty="0"/>
          </a:p>
          <a:p>
            <a:pPr lvl="1"/>
            <a:r>
              <a:rPr lang="en-US" noProof="0" dirty="0"/>
              <a:t>Deep-Dive Modeling</a:t>
            </a:r>
          </a:p>
          <a:p>
            <a:pPr lvl="1"/>
            <a:endParaRPr lang="en-US" noProof="0" dirty="0"/>
          </a:p>
          <a:p>
            <a:pPr lvl="1"/>
            <a:r>
              <a:rPr lang="en-US" noProof="0" dirty="0"/>
              <a:t>Diffusion of Ideas or Diseases</a:t>
            </a:r>
          </a:p>
          <a:p>
            <a:pPr lvl="1"/>
            <a:endParaRPr lang="en-US" noProof="0" dirty="0"/>
          </a:p>
          <a:p>
            <a:pPr lvl="1"/>
            <a:r>
              <a:rPr lang="en-US" noProof="0" dirty="0"/>
              <a:t>Mathematical Descriptions</a:t>
            </a:r>
          </a:p>
          <a:p>
            <a:pPr lvl="1"/>
            <a:endParaRPr lang="en-US" noProof="0" dirty="0"/>
          </a:p>
          <a:p>
            <a:pPr lvl="1"/>
            <a:r>
              <a:rPr lang="en-US" b="1" noProof="0" dirty="0"/>
              <a:t>On the Use of AI in Academia and Industry</a:t>
            </a:r>
          </a:p>
          <a:p>
            <a:pPr lvl="1"/>
            <a:endParaRPr lang="en-US" b="1" noProof="0" dirty="0"/>
          </a:p>
        </p:txBody>
      </p:sp>
    </p:spTree>
    <p:extLst>
      <p:ext uri="{BB962C8B-B14F-4D97-AF65-F5344CB8AC3E}">
        <p14:creationId xmlns:p14="http://schemas.microsoft.com/office/powerpoint/2010/main" val="28501493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EE2EE81-92A3-DB9C-E09B-CDFE689E5BA5}"/>
              </a:ext>
            </a:extLst>
          </p:cNvPr>
          <p:cNvSpPr>
            <a:spLocks noGrp="1"/>
          </p:cNvSpPr>
          <p:nvPr>
            <p:ph type="title"/>
          </p:nvPr>
        </p:nvSpPr>
        <p:spPr/>
        <p:txBody>
          <a:bodyPr/>
          <a:lstStyle/>
          <a:p>
            <a:r>
              <a:rPr lang="en-US" noProof="0" dirty="0"/>
              <a:t>How trustworthy are AI tools?</a:t>
            </a:r>
            <a:br>
              <a:rPr lang="en-US" noProof="0" dirty="0"/>
            </a:br>
            <a:r>
              <a:rPr lang="en-US" noProof="0" dirty="0"/>
              <a:t>1) AI is not learning data as we do</a:t>
            </a:r>
          </a:p>
        </p:txBody>
      </p:sp>
      <p:pic>
        <p:nvPicPr>
          <p:cNvPr id="3" name="Picture 2" descr="https://www.extremetech.com/wp-content/uploads/2014/12/computer-optical-illusions-640x741.jpg">
            <a:extLst>
              <a:ext uri="{FF2B5EF4-FFF2-40B4-BE49-F238E27FC236}">
                <a16:creationId xmlns:a16="http://schemas.microsoft.com/office/drawing/2014/main" id="{96303833-223E-2FE8-0FC5-050662BCA830}"/>
              </a:ext>
            </a:extLst>
          </p:cNvPr>
          <p:cNvPicPr>
            <a:picLocks noChangeAspect="1" noChangeArrowheads="1"/>
          </p:cNvPicPr>
          <p:nvPr/>
        </p:nvPicPr>
        <p:blipFill>
          <a:blip r:embed="rId3"/>
          <a:srcRect/>
          <a:stretch>
            <a:fillRect/>
          </a:stretch>
        </p:blipFill>
        <p:spPr bwMode="auto">
          <a:xfrm>
            <a:off x="209316" y="1124556"/>
            <a:ext cx="3377946" cy="3911030"/>
          </a:xfrm>
          <a:prstGeom prst="rect">
            <a:avLst/>
          </a:prstGeom>
          <a:noFill/>
        </p:spPr>
      </p:pic>
      <p:sp>
        <p:nvSpPr>
          <p:cNvPr id="4" name="Rechteck 3">
            <a:extLst>
              <a:ext uri="{FF2B5EF4-FFF2-40B4-BE49-F238E27FC236}">
                <a16:creationId xmlns:a16="http://schemas.microsoft.com/office/drawing/2014/main" id="{B73A95FD-FAA9-B482-BA2A-993F11F91FD6}"/>
              </a:ext>
            </a:extLst>
          </p:cNvPr>
          <p:cNvSpPr/>
          <p:nvPr/>
        </p:nvSpPr>
        <p:spPr>
          <a:xfrm>
            <a:off x="3851920" y="1124556"/>
            <a:ext cx="5040560" cy="2887354"/>
          </a:xfrm>
          <a:prstGeom prst="rect">
            <a:avLst/>
          </a:prstGeom>
          <a:no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spcAft>
                <a:spcPts val="600"/>
              </a:spcAft>
            </a:pPr>
            <a:r>
              <a:rPr lang="en-US" sz="1400" noProof="0" dirty="0">
                <a:solidFill>
                  <a:schemeClr val="tx1"/>
                </a:solidFill>
              </a:rPr>
              <a:t>A study, carried out by researchers at the University of Wyoming, took one of the best deep neural networks (DNN) – </a:t>
            </a:r>
            <a:r>
              <a:rPr lang="en-US" sz="1400" noProof="0" dirty="0" err="1">
                <a:solidFill>
                  <a:schemeClr val="tx1"/>
                </a:solidFill>
              </a:rPr>
              <a:t>AlexNet</a:t>
            </a:r>
            <a:r>
              <a:rPr lang="en-US" sz="1400" noProof="0" dirty="0">
                <a:solidFill>
                  <a:schemeClr val="tx1"/>
                </a:solidFill>
              </a:rPr>
              <a:t> – and proceeded to trick it into incorrectly identifying all sorts of weird patterns.</a:t>
            </a:r>
          </a:p>
          <a:p>
            <a:pPr algn="just">
              <a:spcAft>
                <a:spcPts val="600"/>
              </a:spcAft>
            </a:pPr>
            <a:r>
              <a:rPr lang="en-US" sz="1400" noProof="0" dirty="0">
                <a:solidFill>
                  <a:schemeClr val="tx1"/>
                </a:solidFill>
              </a:rPr>
              <a:t>The point of the study was to prove that we really shouldn’t rely on these modern – and seemingly very accurate – computer vision systems.</a:t>
            </a:r>
          </a:p>
          <a:p>
            <a:pPr algn="just">
              <a:spcAft>
                <a:spcPts val="600"/>
              </a:spcAft>
            </a:pPr>
            <a:r>
              <a:rPr lang="en-US" sz="1400" noProof="0" dirty="0">
                <a:solidFill>
                  <a:schemeClr val="tx1"/>
                </a:solidFill>
              </a:rPr>
              <a:t>Humans and computers see things in very different ways, and it’s clearly very easy to fool a computer into seeing something that isn’t actually there.</a:t>
            </a:r>
          </a:p>
        </p:txBody>
      </p:sp>
      <p:sp>
        <p:nvSpPr>
          <p:cNvPr id="5" name="Textfeld 4">
            <a:extLst>
              <a:ext uri="{FF2B5EF4-FFF2-40B4-BE49-F238E27FC236}">
                <a16:creationId xmlns:a16="http://schemas.microsoft.com/office/drawing/2014/main" id="{C684250F-7443-3D70-3679-93CB0C10C2E1}"/>
              </a:ext>
            </a:extLst>
          </p:cNvPr>
          <p:cNvSpPr txBox="1"/>
          <p:nvPr/>
        </p:nvSpPr>
        <p:spPr>
          <a:xfrm>
            <a:off x="3851920" y="4681468"/>
            <a:ext cx="5040560" cy="338554"/>
          </a:xfrm>
          <a:prstGeom prst="rect">
            <a:avLst/>
          </a:prstGeom>
          <a:noFill/>
        </p:spPr>
        <p:txBody>
          <a:bodyPr wrap="square" rtlCol="0">
            <a:spAutoFit/>
          </a:bodyPr>
          <a:lstStyle/>
          <a:p>
            <a:r>
              <a:rPr lang="en-US" sz="800" noProof="0" dirty="0"/>
              <a:t>https://www.extremetech.com/extreme/195789-bad-news-future-computers-are-easily-tricked-by-optical-illusions-too</a:t>
            </a:r>
          </a:p>
        </p:txBody>
      </p:sp>
      <p:sp>
        <p:nvSpPr>
          <p:cNvPr id="6" name="Textfeld 5">
            <a:extLst>
              <a:ext uri="{FF2B5EF4-FFF2-40B4-BE49-F238E27FC236}">
                <a16:creationId xmlns:a16="http://schemas.microsoft.com/office/drawing/2014/main" id="{692FB059-E5A8-9760-18C3-9D9406F24D1A}"/>
              </a:ext>
            </a:extLst>
          </p:cNvPr>
          <p:cNvSpPr txBox="1"/>
          <p:nvPr/>
        </p:nvSpPr>
        <p:spPr>
          <a:xfrm>
            <a:off x="3851920" y="4321428"/>
            <a:ext cx="5040560" cy="338554"/>
          </a:xfrm>
          <a:prstGeom prst="rect">
            <a:avLst/>
          </a:prstGeom>
          <a:noFill/>
        </p:spPr>
        <p:txBody>
          <a:bodyPr wrap="square" rtlCol="0">
            <a:spAutoFit/>
          </a:bodyPr>
          <a:lstStyle/>
          <a:p>
            <a:r>
              <a:rPr lang="en-US" sz="800" noProof="0" dirty="0"/>
              <a:t>A. Nguyen, J. </a:t>
            </a:r>
            <a:r>
              <a:rPr lang="en-US" sz="800" noProof="0" dirty="0" err="1"/>
              <a:t>Yosinski</a:t>
            </a:r>
            <a:r>
              <a:rPr lang="en-US" sz="800" noProof="0" dirty="0"/>
              <a:t> &amp; J. Clune (2015): Deep Neural Networks are Easily Fooled: High Confidence Predictions for Unrecognizable Images, arXiv:1412.1897, https://arxiv.org/abs/1412.1897</a:t>
            </a:r>
          </a:p>
        </p:txBody>
      </p:sp>
    </p:spTree>
    <p:extLst>
      <p:ext uri="{BB962C8B-B14F-4D97-AF65-F5344CB8AC3E}">
        <p14:creationId xmlns:p14="http://schemas.microsoft.com/office/powerpoint/2010/main" val="23500727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B12867F-BD48-BAD9-1B9A-3161CE342449}"/>
              </a:ext>
            </a:extLst>
          </p:cNvPr>
          <p:cNvSpPr>
            <a:spLocks noGrp="1"/>
          </p:cNvSpPr>
          <p:nvPr>
            <p:ph type="title"/>
          </p:nvPr>
        </p:nvSpPr>
        <p:spPr/>
        <p:txBody>
          <a:bodyPr/>
          <a:lstStyle/>
          <a:p>
            <a:r>
              <a:rPr lang="en-US" noProof="0" dirty="0"/>
              <a:t>How trustworthy are AI tools?</a:t>
            </a:r>
            <a:br>
              <a:rPr lang="en-US" noProof="0" dirty="0"/>
            </a:br>
            <a:r>
              <a:rPr lang="en-US" noProof="0" dirty="0"/>
              <a:t>2a) False information based on (uncontrolled) input data</a:t>
            </a:r>
          </a:p>
        </p:txBody>
      </p:sp>
      <p:pic>
        <p:nvPicPr>
          <p:cNvPr id="4" name="Grafik 3">
            <a:extLst>
              <a:ext uri="{FF2B5EF4-FFF2-40B4-BE49-F238E27FC236}">
                <a16:creationId xmlns:a16="http://schemas.microsoft.com/office/drawing/2014/main" id="{A8581DD4-D424-47A2-5032-48883B368A59}"/>
              </a:ext>
            </a:extLst>
          </p:cNvPr>
          <p:cNvPicPr>
            <a:picLocks noChangeAspect="1"/>
          </p:cNvPicPr>
          <p:nvPr/>
        </p:nvPicPr>
        <p:blipFill>
          <a:blip r:embed="rId3"/>
          <a:stretch>
            <a:fillRect/>
          </a:stretch>
        </p:blipFill>
        <p:spPr>
          <a:xfrm>
            <a:off x="2014537" y="1140292"/>
            <a:ext cx="5114925" cy="2100263"/>
          </a:xfrm>
          <a:prstGeom prst="rect">
            <a:avLst/>
          </a:prstGeom>
          <a:ln>
            <a:solidFill>
              <a:schemeClr val="tx2"/>
            </a:solidFill>
          </a:ln>
        </p:spPr>
      </p:pic>
      <p:sp>
        <p:nvSpPr>
          <p:cNvPr id="7" name="Textfeld 6">
            <a:extLst>
              <a:ext uri="{FF2B5EF4-FFF2-40B4-BE49-F238E27FC236}">
                <a16:creationId xmlns:a16="http://schemas.microsoft.com/office/drawing/2014/main" id="{10DAA772-929C-E8A9-09B1-1FB6A6BD6564}"/>
              </a:ext>
            </a:extLst>
          </p:cNvPr>
          <p:cNvSpPr txBox="1"/>
          <p:nvPr/>
        </p:nvSpPr>
        <p:spPr>
          <a:xfrm>
            <a:off x="7452320" y="2211710"/>
            <a:ext cx="1440160" cy="707886"/>
          </a:xfrm>
          <a:prstGeom prst="rect">
            <a:avLst/>
          </a:prstGeom>
          <a:noFill/>
        </p:spPr>
        <p:txBody>
          <a:bodyPr wrap="square" rtlCol="0">
            <a:spAutoFit/>
          </a:bodyPr>
          <a:lstStyle/>
          <a:p>
            <a:r>
              <a:rPr lang="en-US" sz="1000" noProof="0" dirty="0"/>
              <a:t>NewsGuard (2025): </a:t>
            </a:r>
            <a:r>
              <a:rPr lang="en-US" sz="1000" i="1" noProof="0" dirty="0"/>
              <a:t>AI False Claims Monitor One Year Progress Report</a:t>
            </a:r>
            <a:r>
              <a:rPr lang="en-US" sz="1000" noProof="0" dirty="0"/>
              <a:t>, Sept. 4, 2025</a:t>
            </a:r>
          </a:p>
        </p:txBody>
      </p:sp>
      <p:pic>
        <p:nvPicPr>
          <p:cNvPr id="1026" name="Picture 2" descr="Toledo Lucas County Installs News Literacy Browser Extension | Library  Journal">
            <a:extLst>
              <a:ext uri="{FF2B5EF4-FFF2-40B4-BE49-F238E27FC236}">
                <a16:creationId xmlns:a16="http://schemas.microsoft.com/office/drawing/2014/main" id="{661E24A2-EACB-CE94-BC04-5197C7EEB9F1}"/>
              </a:ext>
            </a:extLst>
          </p:cNvPr>
          <p:cNvPicPr>
            <a:picLocks noChangeAspect="1" noChangeArrowheads="1"/>
          </p:cNvPicPr>
          <p:nvPr/>
        </p:nvPicPr>
        <p:blipFill>
          <a:blip r:embed="rId4"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51521" y="1133258"/>
            <a:ext cx="1656184" cy="1104123"/>
          </a:xfrm>
          <a:prstGeom prst="rect">
            <a:avLst/>
          </a:prstGeom>
          <a:noFill/>
          <a:extLst>
            <a:ext uri="{909E8E84-426E-40DD-AFC4-6F175D3DCCD1}">
              <a14:hiddenFill xmlns:a14="http://schemas.microsoft.com/office/drawing/2010/main">
                <a:solidFill>
                  <a:srgbClr val="FFFFFF"/>
                </a:solidFill>
              </a14:hiddenFill>
            </a:ext>
          </a:extLst>
        </p:spPr>
      </p:pic>
      <p:sp>
        <p:nvSpPr>
          <p:cNvPr id="8" name="Rechteck 7">
            <a:extLst>
              <a:ext uri="{FF2B5EF4-FFF2-40B4-BE49-F238E27FC236}">
                <a16:creationId xmlns:a16="http://schemas.microsoft.com/office/drawing/2014/main" id="{43649A19-BAA8-A97D-C32D-10613DF91774}"/>
              </a:ext>
            </a:extLst>
          </p:cNvPr>
          <p:cNvSpPr/>
          <p:nvPr/>
        </p:nvSpPr>
        <p:spPr>
          <a:xfrm>
            <a:off x="971600" y="3435846"/>
            <a:ext cx="7200800" cy="1584176"/>
          </a:xfrm>
          <a:prstGeom prst="rect">
            <a:avLst/>
          </a:prstGeom>
          <a:noFill/>
          <a:ln w="1905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just">
              <a:spcAft>
                <a:spcPts val="600"/>
              </a:spcAft>
            </a:pPr>
            <a:r>
              <a:rPr lang="en-US" sz="1400" noProof="0" dirty="0">
                <a:solidFill>
                  <a:schemeClr val="tx1"/>
                </a:solidFill>
              </a:rPr>
              <a:t>“The 10 leading [generative] AI tools repeated false information on topics in the news[, i.e., were unable to distinguishing facts from falsehoods]. When it comes to providing reliable information about current affairs, the industry’s promises of safer, more reliable systems have not translated into real-world progress. […] Instead of citing data cutoffs or refusing to weigh in on sensitive topics, the LLMs now pull from a polluted online information ecosystem — sometimes deliberately seeded by vast networks of malign actors, including Russian disinformation operations — and treat unreliable sources as credible.”</a:t>
            </a:r>
          </a:p>
        </p:txBody>
      </p:sp>
      <p:pic>
        <p:nvPicPr>
          <p:cNvPr id="5" name="Grafik 4">
            <a:extLst>
              <a:ext uri="{FF2B5EF4-FFF2-40B4-BE49-F238E27FC236}">
                <a16:creationId xmlns:a16="http://schemas.microsoft.com/office/drawing/2014/main" id="{0281ED7E-64B3-6533-9EDB-06D9B7FC0DC1}"/>
              </a:ext>
            </a:extLst>
          </p:cNvPr>
          <p:cNvPicPr>
            <a:picLocks noChangeAspect="1"/>
          </p:cNvPicPr>
          <p:nvPr/>
        </p:nvPicPr>
        <p:blipFill>
          <a:blip r:embed="rId5"/>
          <a:stretch>
            <a:fillRect/>
          </a:stretch>
        </p:blipFill>
        <p:spPr>
          <a:xfrm>
            <a:off x="7452320" y="1133258"/>
            <a:ext cx="760187" cy="987574"/>
          </a:xfrm>
          <a:prstGeom prst="rect">
            <a:avLst/>
          </a:prstGeom>
        </p:spPr>
      </p:pic>
    </p:spTree>
    <p:extLst>
      <p:ext uri="{BB962C8B-B14F-4D97-AF65-F5344CB8AC3E}">
        <p14:creationId xmlns:p14="http://schemas.microsoft.com/office/powerpoint/2010/main" val="17785820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BF5F4-1B27-B239-11C4-D8B86816E10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0DB7DB9-6AE9-0C1C-E7A0-EE77D48BB2C9}"/>
              </a:ext>
            </a:extLst>
          </p:cNvPr>
          <p:cNvSpPr>
            <a:spLocks noGrp="1"/>
          </p:cNvSpPr>
          <p:nvPr>
            <p:ph type="title"/>
          </p:nvPr>
        </p:nvSpPr>
        <p:spPr/>
        <p:txBody>
          <a:bodyPr/>
          <a:lstStyle/>
          <a:p>
            <a:r>
              <a:rPr lang="en-US" noProof="0" dirty="0"/>
              <a:t>How trustworthy are AI tools?</a:t>
            </a:r>
            <a:br>
              <a:rPr lang="en-US" noProof="0" dirty="0"/>
            </a:br>
            <a:r>
              <a:rPr lang="en-US" noProof="0" dirty="0"/>
              <a:t>2b) False information and toxicity</a:t>
            </a:r>
          </a:p>
        </p:txBody>
      </p:sp>
      <p:pic>
        <p:nvPicPr>
          <p:cNvPr id="3" name="Picture 2">
            <a:extLst>
              <a:ext uri="{FF2B5EF4-FFF2-40B4-BE49-F238E27FC236}">
                <a16:creationId xmlns:a16="http://schemas.microsoft.com/office/drawing/2014/main" id="{53081EDB-E357-AC58-E410-9310DEDC19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5776" y="1026129"/>
            <a:ext cx="6515890" cy="3726652"/>
          </a:xfrm>
          <a:prstGeom prst="rect">
            <a:avLst/>
          </a:prstGeom>
          <a:noFill/>
          <a:extLst>
            <a:ext uri="{909E8E84-426E-40DD-AFC4-6F175D3DCCD1}">
              <a14:hiddenFill xmlns:a14="http://schemas.microsoft.com/office/drawing/2010/main">
                <a:solidFill>
                  <a:srgbClr val="FFFFFF"/>
                </a:solidFill>
              </a14:hiddenFill>
            </a:ext>
          </a:extLst>
        </p:spPr>
      </p:pic>
      <p:sp>
        <p:nvSpPr>
          <p:cNvPr id="6" name="Textfeld 5">
            <a:extLst>
              <a:ext uri="{FF2B5EF4-FFF2-40B4-BE49-F238E27FC236}">
                <a16:creationId xmlns:a16="http://schemas.microsoft.com/office/drawing/2014/main" id="{06C3A3CE-96C4-0036-081D-9315A0AEFD8A}"/>
              </a:ext>
            </a:extLst>
          </p:cNvPr>
          <p:cNvSpPr txBox="1"/>
          <p:nvPr/>
        </p:nvSpPr>
        <p:spPr>
          <a:xfrm>
            <a:off x="0" y="4928056"/>
            <a:ext cx="6638356" cy="215444"/>
          </a:xfrm>
          <a:prstGeom prst="rect">
            <a:avLst/>
          </a:prstGeom>
          <a:noFill/>
        </p:spPr>
        <p:txBody>
          <a:bodyPr wrap="none" rtlCol="0">
            <a:spAutoFit/>
          </a:bodyPr>
          <a:lstStyle/>
          <a:p>
            <a:r>
              <a:rPr lang="de-DE" sz="800" dirty="0"/>
              <a:t>https://stratcomcoe.org/publications/beyond-spam-bots-the-rise-of-ai-powered-disinformation-machines-and-the-imperative-for-strategic-response/342</a:t>
            </a:r>
          </a:p>
        </p:txBody>
      </p:sp>
      <p:pic>
        <p:nvPicPr>
          <p:cNvPr id="10" name="Grafik 9">
            <a:extLst>
              <a:ext uri="{FF2B5EF4-FFF2-40B4-BE49-F238E27FC236}">
                <a16:creationId xmlns:a16="http://schemas.microsoft.com/office/drawing/2014/main" id="{FCA771D6-D518-155D-C29C-266A9CC47280}"/>
              </a:ext>
            </a:extLst>
          </p:cNvPr>
          <p:cNvPicPr>
            <a:picLocks noChangeAspect="1"/>
          </p:cNvPicPr>
          <p:nvPr/>
        </p:nvPicPr>
        <p:blipFill>
          <a:blip r:embed="rId4"/>
          <a:stretch>
            <a:fillRect/>
          </a:stretch>
        </p:blipFill>
        <p:spPr>
          <a:xfrm>
            <a:off x="258554" y="1142527"/>
            <a:ext cx="2153206" cy="2409541"/>
          </a:xfrm>
          <a:prstGeom prst="rect">
            <a:avLst/>
          </a:prstGeom>
          <a:ln>
            <a:solidFill>
              <a:schemeClr val="accent1"/>
            </a:solidFill>
          </a:ln>
        </p:spPr>
      </p:pic>
    </p:spTree>
    <p:extLst>
      <p:ext uri="{BB962C8B-B14F-4D97-AF65-F5344CB8AC3E}">
        <p14:creationId xmlns:p14="http://schemas.microsoft.com/office/powerpoint/2010/main" val="2530062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4DE23-E9E7-F029-1CBD-F22035A353B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612F037-4427-938A-584D-A71A1152429D}"/>
              </a:ext>
            </a:extLst>
          </p:cNvPr>
          <p:cNvSpPr>
            <a:spLocks noGrp="1"/>
          </p:cNvSpPr>
          <p:nvPr>
            <p:ph type="title"/>
          </p:nvPr>
        </p:nvSpPr>
        <p:spPr/>
        <p:txBody>
          <a:bodyPr/>
          <a:lstStyle/>
          <a:p>
            <a:r>
              <a:rPr lang="en-US" noProof="0" dirty="0"/>
              <a:t>When using AI, there are some rules of conduct that need to be kept in mind (1/ 2)</a:t>
            </a:r>
          </a:p>
        </p:txBody>
      </p:sp>
      <p:sp>
        <p:nvSpPr>
          <p:cNvPr id="3" name="Rechteck 2">
            <a:extLst>
              <a:ext uri="{FF2B5EF4-FFF2-40B4-BE49-F238E27FC236}">
                <a16:creationId xmlns:a16="http://schemas.microsoft.com/office/drawing/2014/main" id="{4399F685-982C-103A-E279-FB79BE814CF8}"/>
              </a:ext>
            </a:extLst>
          </p:cNvPr>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spcAft>
                <a:spcPts val="600"/>
              </a:spcAft>
            </a:pPr>
            <a:r>
              <a:rPr lang="en-US" sz="1400" noProof="0" dirty="0">
                <a:solidFill>
                  <a:schemeClr val="tx1"/>
                </a:solidFill>
              </a:rPr>
              <a:t>Just because a text is generated in your ChatGPT feed doesn’t mean it belongs to you. Legally speaking, that’s not how authorship works. From a legal perspective, copyright requires human authorship.</a:t>
            </a:r>
          </a:p>
          <a:p>
            <a:pPr algn="just">
              <a:spcAft>
                <a:spcPts val="600"/>
              </a:spcAft>
            </a:pPr>
            <a:r>
              <a:rPr lang="en-US" sz="1400" noProof="0" dirty="0">
                <a:solidFill>
                  <a:schemeClr val="tx1"/>
                </a:solidFill>
              </a:rPr>
              <a:t>Hence, if a text is produced entirely by AI, without meaningful human involvement, you cannot claim copyright over it (i.e., you’re not supposed to submit it as your own work.</a:t>
            </a:r>
          </a:p>
          <a:p>
            <a:pPr algn="just">
              <a:spcAft>
                <a:spcPts val="600"/>
              </a:spcAft>
            </a:pPr>
            <a:endParaRPr lang="en-US" sz="1400" noProof="0" dirty="0">
              <a:solidFill>
                <a:schemeClr val="tx1"/>
              </a:solidFill>
            </a:endParaRPr>
          </a:p>
          <a:p>
            <a:pPr algn="just">
              <a:spcAft>
                <a:spcPts val="600"/>
              </a:spcAft>
            </a:pPr>
            <a:r>
              <a:rPr lang="en-US" sz="1400" noProof="0" dirty="0">
                <a:solidFill>
                  <a:schemeClr val="tx1"/>
                </a:solidFill>
              </a:rPr>
              <a:t>Though, what does “meaningful human involvement”? Unfortunately, there’s no clear answer.</a:t>
            </a:r>
          </a:p>
          <a:p>
            <a:pPr algn="just">
              <a:spcAft>
                <a:spcPts val="600"/>
              </a:spcAft>
            </a:pPr>
            <a:r>
              <a:rPr lang="en-US" sz="1400" noProof="0" dirty="0">
                <a:solidFill>
                  <a:schemeClr val="tx1"/>
                </a:solidFill>
              </a:rPr>
              <a:t>But two situations are very clear:</a:t>
            </a:r>
          </a:p>
          <a:p>
            <a:pPr marL="182563" indent="-182563" algn="just">
              <a:spcAft>
                <a:spcPts val="600"/>
              </a:spcAft>
              <a:buFont typeface="Arial" panose="020B0604020202020204" pitchFamily="34" charset="0"/>
              <a:buChar char="•"/>
            </a:pPr>
            <a:r>
              <a:rPr lang="en-US" sz="1400" noProof="0" dirty="0">
                <a:solidFill>
                  <a:schemeClr val="tx1"/>
                </a:solidFill>
              </a:rPr>
              <a:t>You wrote everything yourself then you own the copyright</a:t>
            </a:r>
          </a:p>
          <a:p>
            <a:pPr marL="182563" indent="-182563" algn="just">
              <a:spcAft>
                <a:spcPts val="600"/>
              </a:spcAft>
              <a:buFont typeface="Arial" panose="020B0604020202020204" pitchFamily="34" charset="0"/>
              <a:buChar char="•"/>
            </a:pPr>
            <a:r>
              <a:rPr lang="en-US" sz="1400" noProof="0" dirty="0">
                <a:solidFill>
                  <a:schemeClr val="tx1"/>
                </a:solidFill>
              </a:rPr>
              <a:t>The AI wrote everything and you just checked it then the work doesn’t belong to you, and you’re not allowed to submit it as yours</a:t>
            </a:r>
          </a:p>
          <a:p>
            <a:pPr algn="just">
              <a:spcAft>
                <a:spcPts val="600"/>
              </a:spcAft>
            </a:pPr>
            <a:endParaRPr lang="en-US" sz="1400" noProof="0" dirty="0">
              <a:solidFill>
                <a:schemeClr val="tx1"/>
              </a:solidFill>
            </a:endParaRPr>
          </a:p>
          <a:p>
            <a:pPr algn="just">
              <a:spcAft>
                <a:spcPts val="600"/>
              </a:spcAft>
            </a:pPr>
            <a:r>
              <a:rPr lang="en-US" sz="1400" noProof="0" dirty="0">
                <a:solidFill>
                  <a:schemeClr val="tx1"/>
                </a:solidFill>
              </a:rPr>
              <a:t>And in between, there is a grey zone.</a:t>
            </a:r>
          </a:p>
        </p:txBody>
      </p:sp>
    </p:spTree>
    <p:extLst>
      <p:ext uri="{BB962C8B-B14F-4D97-AF65-F5344CB8AC3E}">
        <p14:creationId xmlns:p14="http://schemas.microsoft.com/office/powerpoint/2010/main" val="24752550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64162D5-1895-8103-1F65-EE324F1D29DE}"/>
              </a:ext>
            </a:extLst>
          </p:cNvPr>
          <p:cNvSpPr>
            <a:spLocks noGrp="1"/>
          </p:cNvSpPr>
          <p:nvPr>
            <p:ph type="title"/>
          </p:nvPr>
        </p:nvSpPr>
        <p:spPr/>
        <p:txBody>
          <a:bodyPr/>
          <a:lstStyle/>
          <a:p>
            <a:r>
              <a:rPr lang="en-US" noProof="0" dirty="0"/>
              <a:t>When using AI, there are some rules of conduct that need to be kept in mind (2/ 2)</a:t>
            </a:r>
          </a:p>
        </p:txBody>
      </p:sp>
      <p:sp>
        <p:nvSpPr>
          <p:cNvPr id="3" name="Rechteck 2">
            <a:extLst>
              <a:ext uri="{FF2B5EF4-FFF2-40B4-BE49-F238E27FC236}">
                <a16:creationId xmlns:a16="http://schemas.microsoft.com/office/drawing/2014/main" id="{9AC65531-3516-3CBE-27BF-15555FD48E7E}"/>
              </a:ext>
            </a:extLst>
          </p:cNvPr>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noProof="0" dirty="0">
                <a:solidFill>
                  <a:schemeClr val="tx1"/>
                </a:solidFill>
              </a:rPr>
              <a:t>The following practices are (currently) generally acceptable:</a:t>
            </a:r>
          </a:p>
          <a:p>
            <a:pPr marL="182563" indent="-182563">
              <a:spcAft>
                <a:spcPts val="600"/>
              </a:spcAft>
              <a:buFont typeface="Arial" panose="020B0604020202020204" pitchFamily="34" charset="0"/>
              <a:buChar char="•"/>
            </a:pPr>
            <a:r>
              <a:rPr lang="en-US" sz="1400" noProof="0" dirty="0">
                <a:solidFill>
                  <a:schemeClr val="tx1"/>
                </a:solidFill>
              </a:rPr>
              <a:t>Writing your own draft and using AI to improve clarity or style</a:t>
            </a:r>
          </a:p>
          <a:p>
            <a:pPr marL="182563" indent="-182563">
              <a:spcAft>
                <a:spcPts val="600"/>
              </a:spcAft>
              <a:buFont typeface="Arial" panose="020B0604020202020204" pitchFamily="34" charset="0"/>
              <a:buChar char="•"/>
            </a:pPr>
            <a:r>
              <a:rPr lang="en-US" sz="1400" noProof="0" dirty="0">
                <a:solidFill>
                  <a:schemeClr val="tx1"/>
                </a:solidFill>
              </a:rPr>
              <a:t>Using AI for grammar and copy editing</a:t>
            </a:r>
          </a:p>
          <a:p>
            <a:pPr marL="182563" indent="-182563">
              <a:spcAft>
                <a:spcPts val="600"/>
              </a:spcAft>
              <a:buFont typeface="Arial" panose="020B0604020202020204" pitchFamily="34" charset="0"/>
              <a:buChar char="•"/>
            </a:pPr>
            <a:r>
              <a:rPr lang="en-US" sz="1400" noProof="0" dirty="0">
                <a:solidFill>
                  <a:schemeClr val="tx1"/>
                </a:solidFill>
              </a:rPr>
              <a:t>Asking AI for feedback or alternative phrasings</a:t>
            </a:r>
          </a:p>
          <a:p>
            <a:pPr marL="182563" indent="-182563">
              <a:spcAft>
                <a:spcPts val="600"/>
              </a:spcAft>
              <a:buFont typeface="Arial" panose="020B0604020202020204" pitchFamily="34" charset="0"/>
              <a:buChar char="•"/>
            </a:pPr>
            <a:r>
              <a:rPr lang="en-US" sz="1400" noProof="0" dirty="0">
                <a:solidFill>
                  <a:schemeClr val="tx1"/>
                </a:solidFill>
              </a:rPr>
              <a:t>Using AI to brainstorm ideas or as a conversational partner</a:t>
            </a:r>
          </a:p>
          <a:p>
            <a:pPr>
              <a:spcAft>
                <a:spcPts val="600"/>
              </a:spcAft>
            </a:pPr>
            <a:endParaRPr lang="en-US" sz="1400" noProof="0" dirty="0">
              <a:solidFill>
                <a:schemeClr val="tx1"/>
              </a:solidFill>
            </a:endParaRPr>
          </a:p>
          <a:p>
            <a:pPr>
              <a:spcAft>
                <a:spcPts val="600"/>
              </a:spcAft>
            </a:pPr>
            <a:r>
              <a:rPr lang="en-US" sz="1400" b="1" noProof="0" dirty="0">
                <a:solidFill>
                  <a:schemeClr val="tx1"/>
                </a:solidFill>
              </a:rPr>
              <a:t>The following situations are more problematic (your contribution becomes questionable):</a:t>
            </a:r>
          </a:p>
          <a:p>
            <a:pPr marL="182563" indent="-182563">
              <a:spcAft>
                <a:spcPts val="600"/>
              </a:spcAft>
              <a:buFont typeface="Arial" panose="020B0604020202020204" pitchFamily="34" charset="0"/>
              <a:buChar char="•"/>
            </a:pPr>
            <a:r>
              <a:rPr lang="en-US" sz="1400" noProof="0" dirty="0">
                <a:solidFill>
                  <a:schemeClr val="tx1"/>
                </a:solidFill>
              </a:rPr>
              <a:t>Letting AI generate entire sections or a full paper</a:t>
            </a:r>
          </a:p>
          <a:p>
            <a:pPr marL="182563" indent="-182563">
              <a:spcAft>
                <a:spcPts val="600"/>
              </a:spcAft>
              <a:buFont typeface="Arial" panose="020B0604020202020204" pitchFamily="34" charset="0"/>
              <a:buChar char="•"/>
            </a:pPr>
            <a:r>
              <a:rPr lang="en-US" sz="1400" noProof="0" dirty="0">
                <a:solidFill>
                  <a:schemeClr val="tx1"/>
                </a:solidFill>
              </a:rPr>
              <a:t>Only lightly editing AI-generated text</a:t>
            </a:r>
          </a:p>
          <a:p>
            <a:pPr marL="182563" indent="-182563">
              <a:spcAft>
                <a:spcPts val="600"/>
              </a:spcAft>
              <a:buFont typeface="Arial" panose="020B0604020202020204" pitchFamily="34" charset="0"/>
              <a:buChar char="•"/>
            </a:pPr>
            <a:r>
              <a:rPr lang="en-US" sz="1400" noProof="0" dirty="0">
                <a:solidFill>
                  <a:schemeClr val="tx1"/>
                </a:solidFill>
              </a:rPr>
              <a:t>Letting AI figure out your argument for you</a:t>
            </a:r>
          </a:p>
          <a:p>
            <a:pPr>
              <a:spcAft>
                <a:spcPts val="600"/>
              </a:spcAft>
            </a:pPr>
            <a:endParaRPr lang="en-US" sz="1400" noProof="0" dirty="0">
              <a:solidFill>
                <a:schemeClr val="tx1"/>
              </a:solidFill>
            </a:endParaRPr>
          </a:p>
        </p:txBody>
      </p:sp>
    </p:spTree>
    <p:extLst>
      <p:ext uri="{BB962C8B-B14F-4D97-AF65-F5344CB8AC3E}">
        <p14:creationId xmlns:p14="http://schemas.microsoft.com/office/powerpoint/2010/main" val="26378879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77303-1A0B-3DEB-34B1-C3585956012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278CAF3-2953-3805-11E3-17A110AED520}"/>
              </a:ext>
            </a:extLst>
          </p:cNvPr>
          <p:cNvSpPr>
            <a:spLocks noGrp="1"/>
          </p:cNvSpPr>
          <p:nvPr>
            <p:ph type="title"/>
          </p:nvPr>
        </p:nvSpPr>
        <p:spPr/>
        <p:txBody>
          <a:bodyPr/>
          <a:lstStyle/>
          <a:p>
            <a:r>
              <a:rPr lang="en-US" noProof="0" dirty="0"/>
              <a:t>Generating text:</a:t>
            </a:r>
            <a:br>
              <a:rPr lang="en-US" noProof="0" dirty="0"/>
            </a:br>
            <a:r>
              <a:rPr lang="en-US" noProof="0" dirty="0"/>
              <a:t>Some acceptable applications of AI in academia and industry …</a:t>
            </a:r>
          </a:p>
        </p:txBody>
      </p:sp>
      <p:sp>
        <p:nvSpPr>
          <p:cNvPr id="3" name="Rechteck 2">
            <a:extLst>
              <a:ext uri="{FF2B5EF4-FFF2-40B4-BE49-F238E27FC236}">
                <a16:creationId xmlns:a16="http://schemas.microsoft.com/office/drawing/2014/main" id="{09882E0A-356F-19FD-D2FA-C7A81299364C}"/>
              </a:ext>
            </a:extLst>
          </p:cNvPr>
          <p:cNvSpPr/>
          <p:nvPr/>
        </p:nvSpPr>
        <p:spPr>
          <a:xfrm>
            <a:off x="251520" y="1131590"/>
            <a:ext cx="2304256" cy="3888432"/>
          </a:xfrm>
          <a:prstGeom prst="rect">
            <a:avLst/>
          </a:prstGeom>
          <a:solidFill>
            <a:schemeClr val="tx2">
              <a:lumMod val="20000"/>
              <a:lumOff val="8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u="sng" noProof="0" dirty="0">
                <a:solidFill>
                  <a:schemeClr val="tx1"/>
                </a:solidFill>
              </a:rPr>
              <a:t>Remarks:</a:t>
            </a:r>
          </a:p>
          <a:p>
            <a:pPr marL="182563" indent="-182563">
              <a:spcAft>
                <a:spcPts val="600"/>
              </a:spcAft>
              <a:buFont typeface="Arial" panose="020B0604020202020204" pitchFamily="34" charset="0"/>
              <a:buChar char="•"/>
            </a:pPr>
            <a:r>
              <a:rPr lang="en-US" sz="1400" noProof="0" dirty="0">
                <a:solidFill>
                  <a:schemeClr val="tx1"/>
                </a:solidFill>
              </a:rPr>
              <a:t>AI should support your thinking process, not replace it, which keeps your work original and honest.</a:t>
            </a:r>
          </a:p>
          <a:p>
            <a:pPr marL="182563" indent="-182563">
              <a:spcAft>
                <a:spcPts val="600"/>
              </a:spcAft>
              <a:buFont typeface="Arial" panose="020B0604020202020204" pitchFamily="34" charset="0"/>
              <a:buChar char="•"/>
            </a:pPr>
            <a:r>
              <a:rPr lang="en-US" sz="1400" noProof="0" dirty="0">
                <a:solidFill>
                  <a:schemeClr val="tx1"/>
                </a:solidFill>
              </a:rPr>
              <a:t>Choose tools that give you the most control over the writing.</a:t>
            </a:r>
          </a:p>
          <a:p>
            <a:pPr marL="182563" indent="-182563">
              <a:spcAft>
                <a:spcPts val="600"/>
              </a:spcAft>
              <a:buFont typeface="Arial" panose="020B0604020202020204" pitchFamily="34" charset="0"/>
              <a:buChar char="•"/>
            </a:pPr>
            <a:r>
              <a:rPr lang="en-US" sz="1400" noProof="0" dirty="0">
                <a:solidFill>
                  <a:schemeClr val="tx1"/>
                </a:solidFill>
              </a:rPr>
              <a:t>If an AI tool creates content, always disclose it. </a:t>
            </a:r>
          </a:p>
          <a:p>
            <a:pPr marL="182563" indent="-182563">
              <a:spcAft>
                <a:spcPts val="600"/>
              </a:spcAft>
              <a:buFont typeface="Arial" panose="020B0604020202020204" pitchFamily="34" charset="0"/>
              <a:buChar char="•"/>
            </a:pPr>
            <a:r>
              <a:rPr lang="en-US" sz="1400" noProof="0" dirty="0">
                <a:solidFill>
                  <a:schemeClr val="tx1"/>
                </a:solidFill>
              </a:rPr>
              <a:t>If it checks or organizes, you are generally safe. </a:t>
            </a:r>
          </a:p>
          <a:p>
            <a:pPr marL="182563" indent="-182563">
              <a:spcAft>
                <a:spcPts val="600"/>
              </a:spcAft>
              <a:buFont typeface="Arial" panose="020B0604020202020204" pitchFamily="34" charset="0"/>
              <a:buChar char="•"/>
            </a:pPr>
            <a:r>
              <a:rPr lang="en-US" sz="1400" noProof="0" dirty="0">
                <a:solidFill>
                  <a:schemeClr val="tx1"/>
                </a:solidFill>
              </a:rPr>
              <a:t>When uncertain, err on the side of caution.</a:t>
            </a:r>
          </a:p>
        </p:txBody>
      </p:sp>
      <p:sp>
        <p:nvSpPr>
          <p:cNvPr id="7" name="Rechteck 6">
            <a:extLst>
              <a:ext uri="{FF2B5EF4-FFF2-40B4-BE49-F238E27FC236}">
                <a16:creationId xmlns:a16="http://schemas.microsoft.com/office/drawing/2014/main" id="{105EFBB5-AF65-2CCE-A101-658F0B0C4560}"/>
              </a:ext>
            </a:extLst>
          </p:cNvPr>
          <p:cNvSpPr/>
          <p:nvPr/>
        </p:nvSpPr>
        <p:spPr>
          <a:xfrm>
            <a:off x="2702190" y="1131590"/>
            <a:ext cx="2018622" cy="1679942"/>
          </a:xfrm>
          <a:prstGeom prst="rect">
            <a:avLst/>
          </a:prstGeom>
          <a:noFill/>
          <a:ln w="1905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300"/>
              </a:spcAft>
            </a:pPr>
            <a:r>
              <a:rPr lang="en-US" sz="1200" b="1" noProof="0" dirty="0">
                <a:solidFill>
                  <a:schemeClr val="tx1"/>
                </a:solidFill>
              </a:rPr>
              <a:t>Elicit</a:t>
            </a:r>
            <a:r>
              <a:rPr lang="en-US" sz="1200" noProof="0" dirty="0">
                <a:solidFill>
                  <a:schemeClr val="tx1"/>
                </a:solidFill>
              </a:rPr>
              <a:t> (for upfront literature research):</a:t>
            </a:r>
          </a:p>
          <a:p>
            <a:pPr marL="171450" indent="-171450">
              <a:spcAft>
                <a:spcPts val="300"/>
              </a:spcAft>
              <a:buFont typeface="Arial" panose="020B0604020202020204" pitchFamily="34" charset="0"/>
              <a:buChar char="•"/>
            </a:pPr>
            <a:r>
              <a:rPr lang="en-US" sz="1200" noProof="0" dirty="0">
                <a:solidFill>
                  <a:schemeClr val="tx1"/>
                </a:solidFill>
              </a:rPr>
              <a:t>Provides systematic literature review</a:t>
            </a:r>
          </a:p>
          <a:p>
            <a:pPr marL="171450" indent="-171450">
              <a:spcAft>
                <a:spcPts val="300"/>
              </a:spcAft>
              <a:buFont typeface="Arial" panose="020B0604020202020204" pitchFamily="34" charset="0"/>
              <a:buChar char="•"/>
            </a:pPr>
            <a:r>
              <a:rPr lang="en-US" sz="1200" noProof="0" dirty="0">
                <a:solidFill>
                  <a:schemeClr val="tx1"/>
                </a:solidFill>
              </a:rPr>
              <a:t>Can work with sources that you find</a:t>
            </a:r>
          </a:p>
          <a:p>
            <a:pPr marL="171450" indent="-171450">
              <a:spcAft>
                <a:spcPts val="300"/>
              </a:spcAft>
              <a:buFont typeface="Arial" panose="020B0604020202020204" pitchFamily="34" charset="0"/>
              <a:buChar char="•"/>
            </a:pPr>
            <a:r>
              <a:rPr lang="en-US" sz="1200" noProof="0" dirty="0">
                <a:solidFill>
                  <a:schemeClr val="tx1"/>
                </a:solidFill>
              </a:rPr>
              <a:t>Screens web for new research on a topic</a:t>
            </a:r>
          </a:p>
        </p:txBody>
      </p:sp>
      <p:sp>
        <p:nvSpPr>
          <p:cNvPr id="17" name="Textfeld 16">
            <a:extLst>
              <a:ext uri="{FF2B5EF4-FFF2-40B4-BE49-F238E27FC236}">
                <a16:creationId xmlns:a16="http://schemas.microsoft.com/office/drawing/2014/main" id="{209C307F-0255-90A1-E7A6-B891B24DD367}"/>
              </a:ext>
            </a:extLst>
          </p:cNvPr>
          <p:cNvSpPr txBox="1"/>
          <p:nvPr/>
        </p:nvSpPr>
        <p:spPr>
          <a:xfrm>
            <a:off x="3059832" y="4803998"/>
            <a:ext cx="5892960" cy="338554"/>
          </a:xfrm>
          <a:prstGeom prst="rect">
            <a:avLst/>
          </a:prstGeom>
          <a:noFill/>
        </p:spPr>
        <p:txBody>
          <a:bodyPr wrap="none" rtlCol="0">
            <a:spAutoFit/>
          </a:bodyPr>
          <a:lstStyle/>
          <a:p>
            <a:pPr algn="r"/>
            <a:r>
              <a:rPr lang="en-US" sz="800" noProof="0" dirty="0"/>
              <a:t>https://www.linkedin.com/posts/emmanueltsekleves_i-tested-12-ai-writing-tools-over-3-months-activity-7380218818280824832-eN8_/</a:t>
            </a:r>
          </a:p>
          <a:p>
            <a:pPr algn="r"/>
            <a:r>
              <a:rPr lang="en-US" sz="800" noProof="0" dirty="0"/>
              <a:t>?</a:t>
            </a:r>
            <a:r>
              <a:rPr lang="en-US" sz="800" noProof="0" dirty="0" err="1"/>
              <a:t>utm_source</a:t>
            </a:r>
            <a:r>
              <a:rPr lang="en-US" sz="800" noProof="0" dirty="0"/>
              <a:t>=</a:t>
            </a:r>
            <a:r>
              <a:rPr lang="en-US" sz="800" noProof="0" dirty="0" err="1"/>
              <a:t>share&amp;utm_medium</a:t>
            </a:r>
            <a:r>
              <a:rPr lang="en-US" sz="800" noProof="0" dirty="0"/>
              <a:t>=</a:t>
            </a:r>
            <a:r>
              <a:rPr lang="en-US" sz="800" noProof="0" dirty="0" err="1"/>
              <a:t>member_android&amp;rcm</a:t>
            </a:r>
            <a:r>
              <a:rPr lang="en-US" sz="800" noProof="0" dirty="0"/>
              <a:t>=ACoAAA93DcoBVk4d6pjq_0qnUcbHddt0OTf4VtI</a:t>
            </a:r>
          </a:p>
        </p:txBody>
      </p:sp>
      <p:sp>
        <p:nvSpPr>
          <p:cNvPr id="11" name="Rechteck 10">
            <a:extLst>
              <a:ext uri="{FF2B5EF4-FFF2-40B4-BE49-F238E27FC236}">
                <a16:creationId xmlns:a16="http://schemas.microsoft.com/office/drawing/2014/main" id="{6F7A75EE-7B00-43E8-0A10-B352B9B357C2}"/>
              </a:ext>
            </a:extLst>
          </p:cNvPr>
          <p:cNvSpPr/>
          <p:nvPr/>
        </p:nvSpPr>
        <p:spPr>
          <a:xfrm>
            <a:off x="6873858" y="1131590"/>
            <a:ext cx="2018622" cy="1679942"/>
          </a:xfrm>
          <a:prstGeom prst="rect">
            <a:avLst/>
          </a:prstGeom>
          <a:noFill/>
          <a:ln w="1905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300"/>
              </a:spcAft>
            </a:pPr>
            <a:r>
              <a:rPr lang="en-US" sz="1200" b="1" noProof="0" dirty="0" err="1">
                <a:solidFill>
                  <a:schemeClr val="tx1"/>
                </a:solidFill>
              </a:rPr>
              <a:t>DeepL</a:t>
            </a:r>
            <a:r>
              <a:rPr lang="en-US" sz="1200" noProof="0" dirty="0">
                <a:solidFill>
                  <a:schemeClr val="tx1"/>
                </a:solidFill>
              </a:rPr>
              <a:t> (for translation):</a:t>
            </a:r>
          </a:p>
          <a:p>
            <a:pPr marL="171450" indent="-171450">
              <a:spcAft>
                <a:spcPts val="300"/>
              </a:spcAft>
              <a:buFont typeface="Arial" panose="020B0604020202020204" pitchFamily="34" charset="0"/>
              <a:buChar char="•"/>
            </a:pPr>
            <a:r>
              <a:rPr lang="en-US" sz="1200" noProof="0" dirty="0">
                <a:solidFill>
                  <a:schemeClr val="tx1"/>
                </a:solidFill>
              </a:rPr>
              <a:t>Maintains academic tone</a:t>
            </a:r>
          </a:p>
          <a:p>
            <a:pPr marL="171450" indent="-171450">
              <a:spcAft>
                <a:spcPts val="300"/>
              </a:spcAft>
              <a:buFont typeface="Arial" panose="020B0604020202020204" pitchFamily="34" charset="0"/>
              <a:buChar char="•"/>
            </a:pPr>
            <a:r>
              <a:rPr lang="en-US" sz="1200" noProof="0" dirty="0">
                <a:solidFill>
                  <a:schemeClr val="tx1"/>
                </a:solidFill>
              </a:rPr>
              <a:t>Outperforms standard translation tools</a:t>
            </a:r>
          </a:p>
          <a:p>
            <a:pPr marL="171450" indent="-171450">
              <a:spcAft>
                <a:spcPts val="300"/>
              </a:spcAft>
              <a:buFont typeface="Arial" panose="020B0604020202020204" pitchFamily="34" charset="0"/>
              <a:buChar char="•"/>
            </a:pPr>
            <a:r>
              <a:rPr lang="en-US" sz="1200" noProof="0" dirty="0">
                <a:solidFill>
                  <a:schemeClr val="tx1"/>
                </a:solidFill>
              </a:rPr>
              <a:t>Essential for non-native English speakers</a:t>
            </a:r>
          </a:p>
        </p:txBody>
      </p:sp>
      <p:sp>
        <p:nvSpPr>
          <p:cNvPr id="12" name="Rechteck 11">
            <a:extLst>
              <a:ext uri="{FF2B5EF4-FFF2-40B4-BE49-F238E27FC236}">
                <a16:creationId xmlns:a16="http://schemas.microsoft.com/office/drawing/2014/main" id="{C0265287-1704-2700-B144-B4696A961887}"/>
              </a:ext>
            </a:extLst>
          </p:cNvPr>
          <p:cNvSpPr/>
          <p:nvPr/>
        </p:nvSpPr>
        <p:spPr>
          <a:xfrm>
            <a:off x="4788024" y="1131590"/>
            <a:ext cx="2018622" cy="1679942"/>
          </a:xfrm>
          <a:prstGeom prst="rect">
            <a:avLst/>
          </a:prstGeom>
          <a:noFill/>
          <a:ln w="1905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300"/>
              </a:spcAft>
            </a:pPr>
            <a:r>
              <a:rPr lang="en-US" sz="1200" b="1" noProof="0" dirty="0">
                <a:solidFill>
                  <a:schemeClr val="tx1"/>
                </a:solidFill>
              </a:rPr>
              <a:t>Notion AI </a:t>
            </a:r>
            <a:r>
              <a:rPr lang="en-US" sz="1200" noProof="0" dirty="0">
                <a:solidFill>
                  <a:schemeClr val="tx1"/>
                </a:solidFill>
              </a:rPr>
              <a:t>(for planning and structure):</a:t>
            </a:r>
          </a:p>
          <a:p>
            <a:pPr marL="171450" indent="-171450">
              <a:spcAft>
                <a:spcPts val="300"/>
              </a:spcAft>
              <a:buFont typeface="Arial" panose="020B0604020202020204" pitchFamily="34" charset="0"/>
              <a:buChar char="•"/>
            </a:pPr>
            <a:r>
              <a:rPr lang="en-US" sz="1200" noProof="0" dirty="0">
                <a:solidFill>
                  <a:schemeClr val="tx1"/>
                </a:solidFill>
              </a:rPr>
              <a:t>Helps organize research (progress monitoring), arguments and sections</a:t>
            </a:r>
          </a:p>
          <a:p>
            <a:pPr marL="171450" indent="-171450">
              <a:spcAft>
                <a:spcPts val="300"/>
              </a:spcAft>
              <a:buFont typeface="Arial" panose="020B0604020202020204" pitchFamily="34" charset="0"/>
              <a:buChar char="•"/>
            </a:pPr>
            <a:r>
              <a:rPr lang="en-US" sz="1200" noProof="0" dirty="0">
                <a:solidFill>
                  <a:schemeClr val="tx1"/>
                </a:solidFill>
              </a:rPr>
              <a:t>Should never draft your content</a:t>
            </a:r>
          </a:p>
          <a:p>
            <a:pPr marL="171450" indent="-171450">
              <a:spcAft>
                <a:spcPts val="300"/>
              </a:spcAft>
              <a:buFont typeface="Arial" panose="020B0604020202020204" pitchFamily="34" charset="0"/>
              <a:buChar char="•"/>
            </a:pPr>
            <a:r>
              <a:rPr lang="en-US" sz="1200" noProof="0" dirty="0">
                <a:solidFill>
                  <a:schemeClr val="tx1"/>
                </a:solidFill>
              </a:rPr>
              <a:t>Use for outlining only</a:t>
            </a:r>
          </a:p>
        </p:txBody>
      </p:sp>
      <p:sp>
        <p:nvSpPr>
          <p:cNvPr id="13" name="Rechteck 12">
            <a:extLst>
              <a:ext uri="{FF2B5EF4-FFF2-40B4-BE49-F238E27FC236}">
                <a16:creationId xmlns:a16="http://schemas.microsoft.com/office/drawing/2014/main" id="{4B2DF940-6F7A-F94B-B250-6BE535D1E35C}"/>
              </a:ext>
            </a:extLst>
          </p:cNvPr>
          <p:cNvSpPr/>
          <p:nvPr/>
        </p:nvSpPr>
        <p:spPr>
          <a:xfrm>
            <a:off x="2702190" y="2866816"/>
            <a:ext cx="2018622" cy="1679942"/>
          </a:xfrm>
          <a:prstGeom prst="rect">
            <a:avLst/>
          </a:prstGeom>
          <a:noFill/>
          <a:ln w="1905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300"/>
              </a:spcAft>
            </a:pPr>
            <a:r>
              <a:rPr lang="en-US" sz="1200" b="1" noProof="0" dirty="0" err="1">
                <a:solidFill>
                  <a:schemeClr val="tx1"/>
                </a:solidFill>
              </a:rPr>
              <a:t>Quillbot</a:t>
            </a:r>
            <a:r>
              <a:rPr lang="en-US" sz="1200" noProof="0" dirty="0">
                <a:solidFill>
                  <a:schemeClr val="tx1"/>
                </a:solidFill>
              </a:rPr>
              <a:t> (for light paraphrasing only):</a:t>
            </a:r>
          </a:p>
          <a:p>
            <a:pPr marL="171450" indent="-171450">
              <a:spcAft>
                <a:spcPts val="300"/>
              </a:spcAft>
              <a:buFont typeface="Arial" panose="020B0604020202020204" pitchFamily="34" charset="0"/>
              <a:buChar char="•"/>
            </a:pPr>
            <a:r>
              <a:rPr lang="en-US" sz="1200" noProof="0" dirty="0">
                <a:solidFill>
                  <a:schemeClr val="tx1"/>
                </a:solidFill>
              </a:rPr>
              <a:t>Refines awkward sentences</a:t>
            </a:r>
          </a:p>
          <a:p>
            <a:pPr marL="171450" indent="-171450">
              <a:spcAft>
                <a:spcPts val="300"/>
              </a:spcAft>
              <a:buFont typeface="Arial" panose="020B0604020202020204" pitchFamily="34" charset="0"/>
              <a:buChar char="•"/>
            </a:pPr>
            <a:r>
              <a:rPr lang="en-US" sz="1200" noProof="0" dirty="0">
                <a:solidFill>
                  <a:schemeClr val="tx1"/>
                </a:solidFill>
              </a:rPr>
              <a:t>Avoids unintentional plagiarism</a:t>
            </a:r>
          </a:p>
          <a:p>
            <a:pPr marL="171450" indent="-171450">
              <a:spcAft>
                <a:spcPts val="300"/>
              </a:spcAft>
              <a:buFont typeface="Arial" panose="020B0604020202020204" pitchFamily="34" charset="0"/>
              <a:buChar char="•"/>
            </a:pPr>
            <a:r>
              <a:rPr lang="en-US" sz="1200" noProof="0" dirty="0">
                <a:solidFill>
                  <a:schemeClr val="tx1"/>
                </a:solidFill>
              </a:rPr>
              <a:t>Never use for entire paragraphs</a:t>
            </a:r>
          </a:p>
        </p:txBody>
      </p:sp>
      <p:sp>
        <p:nvSpPr>
          <p:cNvPr id="19" name="Rechteck 18">
            <a:extLst>
              <a:ext uri="{FF2B5EF4-FFF2-40B4-BE49-F238E27FC236}">
                <a16:creationId xmlns:a16="http://schemas.microsoft.com/office/drawing/2014/main" id="{3FD8F9F2-ED33-63BC-DD91-2ACE651562D5}"/>
              </a:ext>
            </a:extLst>
          </p:cNvPr>
          <p:cNvSpPr/>
          <p:nvPr/>
        </p:nvSpPr>
        <p:spPr>
          <a:xfrm>
            <a:off x="6873858" y="2866816"/>
            <a:ext cx="2018622" cy="1679942"/>
          </a:xfrm>
          <a:prstGeom prst="rect">
            <a:avLst/>
          </a:prstGeom>
          <a:noFill/>
          <a:ln w="1905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300"/>
              </a:spcAft>
            </a:pPr>
            <a:r>
              <a:rPr lang="en-US" sz="1200" b="1" noProof="0" dirty="0">
                <a:solidFill>
                  <a:schemeClr val="tx1"/>
                </a:solidFill>
              </a:rPr>
              <a:t>Hemingway Editor</a:t>
            </a:r>
            <a:r>
              <a:rPr lang="en-US" sz="1200" noProof="0" dirty="0">
                <a:solidFill>
                  <a:schemeClr val="tx1"/>
                </a:solidFill>
              </a:rPr>
              <a:t>:</a:t>
            </a:r>
          </a:p>
          <a:p>
            <a:pPr marL="171450" indent="-171450">
              <a:spcAft>
                <a:spcPts val="300"/>
              </a:spcAft>
              <a:buFont typeface="Arial" panose="020B0604020202020204" pitchFamily="34" charset="0"/>
              <a:buChar char="•"/>
            </a:pPr>
            <a:r>
              <a:rPr lang="en-US" sz="1200" noProof="0" dirty="0">
                <a:solidFill>
                  <a:schemeClr val="tx1"/>
                </a:solidFill>
              </a:rPr>
              <a:t>Enhances clarity and readability</a:t>
            </a:r>
          </a:p>
          <a:p>
            <a:pPr marL="171450" indent="-171450">
              <a:spcAft>
                <a:spcPts val="300"/>
              </a:spcAft>
              <a:buFont typeface="Arial" panose="020B0604020202020204" pitchFamily="34" charset="0"/>
              <a:buChar char="•"/>
            </a:pPr>
            <a:r>
              <a:rPr lang="en-US" sz="1200" noProof="0" dirty="0">
                <a:solidFill>
                  <a:schemeClr val="tx1"/>
                </a:solidFill>
              </a:rPr>
              <a:t>Especially scientific editors appreciate concise writing</a:t>
            </a:r>
          </a:p>
          <a:p>
            <a:pPr marL="171450" indent="-171450">
              <a:spcAft>
                <a:spcPts val="300"/>
              </a:spcAft>
              <a:buFont typeface="Arial" panose="020B0604020202020204" pitchFamily="34" charset="0"/>
              <a:buChar char="•"/>
            </a:pPr>
            <a:r>
              <a:rPr lang="en-US" sz="1200" noProof="0" dirty="0">
                <a:solidFill>
                  <a:schemeClr val="tx1"/>
                </a:solidFill>
              </a:rPr>
              <a:t>No risk of detection</a:t>
            </a:r>
          </a:p>
        </p:txBody>
      </p:sp>
      <p:sp>
        <p:nvSpPr>
          <p:cNvPr id="20" name="Rechteck 19">
            <a:extLst>
              <a:ext uri="{FF2B5EF4-FFF2-40B4-BE49-F238E27FC236}">
                <a16:creationId xmlns:a16="http://schemas.microsoft.com/office/drawing/2014/main" id="{DAF5158C-F2BF-C940-4A31-C2C211D90B0C}"/>
              </a:ext>
            </a:extLst>
          </p:cNvPr>
          <p:cNvSpPr/>
          <p:nvPr/>
        </p:nvSpPr>
        <p:spPr>
          <a:xfrm>
            <a:off x="4788024" y="2866816"/>
            <a:ext cx="2018622" cy="1679942"/>
          </a:xfrm>
          <a:prstGeom prst="rect">
            <a:avLst/>
          </a:prstGeom>
          <a:noFill/>
          <a:ln w="1905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300"/>
              </a:spcAft>
            </a:pPr>
            <a:r>
              <a:rPr lang="en-US" sz="1200" b="1" noProof="0" dirty="0">
                <a:solidFill>
                  <a:schemeClr val="tx1"/>
                </a:solidFill>
              </a:rPr>
              <a:t>Grammarly</a:t>
            </a:r>
            <a:r>
              <a:rPr lang="en-US" sz="1200" noProof="0" dirty="0">
                <a:solidFill>
                  <a:schemeClr val="tx1"/>
                </a:solidFill>
              </a:rPr>
              <a:t> (with full disclosure):</a:t>
            </a:r>
          </a:p>
          <a:p>
            <a:pPr marL="171450" indent="-171450">
              <a:spcAft>
                <a:spcPts val="300"/>
              </a:spcAft>
              <a:buFont typeface="Arial" panose="020B0604020202020204" pitchFamily="34" charset="0"/>
              <a:buChar char="•"/>
            </a:pPr>
            <a:r>
              <a:rPr lang="en-US" sz="1200" noProof="0" dirty="0">
                <a:solidFill>
                  <a:schemeClr val="tx1"/>
                </a:solidFill>
              </a:rPr>
              <a:t>Polishes language to professional standards</a:t>
            </a:r>
          </a:p>
          <a:p>
            <a:pPr marL="171450" indent="-171450">
              <a:spcAft>
                <a:spcPts val="300"/>
              </a:spcAft>
              <a:buFont typeface="Arial" panose="020B0604020202020204" pitchFamily="34" charset="0"/>
              <a:buChar char="•"/>
            </a:pPr>
            <a:r>
              <a:rPr lang="en-US" sz="1200" noProof="0" dirty="0">
                <a:solidFill>
                  <a:schemeClr val="tx1"/>
                </a:solidFill>
              </a:rPr>
              <a:t>Detects subtle errors</a:t>
            </a:r>
          </a:p>
          <a:p>
            <a:pPr marL="171450" indent="-171450">
              <a:spcAft>
                <a:spcPts val="300"/>
              </a:spcAft>
              <a:buFont typeface="Arial" panose="020B0604020202020204" pitchFamily="34" charset="0"/>
              <a:buChar char="•"/>
            </a:pPr>
            <a:r>
              <a:rPr lang="en-US" sz="1200" noProof="0" dirty="0">
                <a:solidFill>
                  <a:schemeClr val="tx1"/>
                </a:solidFill>
              </a:rPr>
              <a:t>Must be acknowledged in your paper</a:t>
            </a:r>
          </a:p>
        </p:txBody>
      </p:sp>
      <p:sp>
        <p:nvSpPr>
          <p:cNvPr id="15" name="Textfeld 14">
            <a:extLst>
              <a:ext uri="{FF2B5EF4-FFF2-40B4-BE49-F238E27FC236}">
                <a16:creationId xmlns:a16="http://schemas.microsoft.com/office/drawing/2014/main" id="{8C6D3E48-79C0-7254-8786-FAC57346457D}"/>
              </a:ext>
            </a:extLst>
          </p:cNvPr>
          <p:cNvSpPr txBox="1"/>
          <p:nvPr/>
        </p:nvSpPr>
        <p:spPr>
          <a:xfrm>
            <a:off x="8061677" y="830085"/>
            <a:ext cx="902811" cy="246221"/>
          </a:xfrm>
          <a:prstGeom prst="rect">
            <a:avLst/>
          </a:prstGeom>
          <a:noFill/>
        </p:spPr>
        <p:txBody>
          <a:bodyPr wrap="none" rtlCol="0">
            <a:spAutoFit/>
          </a:bodyPr>
          <a:lstStyle/>
          <a:p>
            <a:pPr algn="r"/>
            <a:r>
              <a:rPr lang="en-US" sz="1000" noProof="0" dirty="0"/>
              <a:t>October 2025</a:t>
            </a:r>
          </a:p>
        </p:txBody>
      </p:sp>
    </p:spTree>
    <p:extLst>
      <p:ext uri="{BB962C8B-B14F-4D97-AF65-F5344CB8AC3E}">
        <p14:creationId xmlns:p14="http://schemas.microsoft.com/office/powerpoint/2010/main" val="3352973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E64E462-7687-E4AA-BD72-6E963972E0E0}"/>
              </a:ext>
            </a:extLst>
          </p:cNvPr>
          <p:cNvSpPr>
            <a:spLocks noGrp="1"/>
          </p:cNvSpPr>
          <p:nvPr>
            <p:ph type="title"/>
          </p:nvPr>
        </p:nvSpPr>
        <p:spPr/>
        <p:txBody>
          <a:bodyPr/>
          <a:lstStyle/>
          <a:p>
            <a:r>
              <a:rPr lang="en-US" noProof="0" dirty="0"/>
              <a:t>… and some not acceptable ones</a:t>
            </a:r>
            <a:br>
              <a:rPr lang="en-US" noProof="0" dirty="0"/>
            </a:br>
            <a:r>
              <a:rPr lang="en-US" noProof="0" dirty="0"/>
              <a:t>(i.e., AI tools that put your academic reputation and career at risk)</a:t>
            </a:r>
          </a:p>
        </p:txBody>
      </p:sp>
      <p:sp>
        <p:nvSpPr>
          <p:cNvPr id="3" name="Rechteck 2">
            <a:extLst>
              <a:ext uri="{FF2B5EF4-FFF2-40B4-BE49-F238E27FC236}">
                <a16:creationId xmlns:a16="http://schemas.microsoft.com/office/drawing/2014/main" id="{051197D4-CCD8-2B21-1F85-E46CBCAA9089}"/>
              </a:ext>
            </a:extLst>
          </p:cNvPr>
          <p:cNvSpPr/>
          <p:nvPr/>
        </p:nvSpPr>
        <p:spPr>
          <a:xfrm>
            <a:off x="251520" y="1131590"/>
            <a:ext cx="2304256" cy="3888432"/>
          </a:xfrm>
          <a:prstGeom prst="rect">
            <a:avLst/>
          </a:prstGeom>
          <a:solidFill>
            <a:schemeClr val="tx2">
              <a:lumMod val="20000"/>
              <a:lumOff val="80000"/>
            </a:schemeClr>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600"/>
              </a:spcAft>
            </a:pPr>
            <a:r>
              <a:rPr lang="en-US" sz="1400" b="1" u="sng" noProof="0" dirty="0">
                <a:solidFill>
                  <a:schemeClr val="tx1"/>
                </a:solidFill>
              </a:rPr>
              <a:t>Remarks:</a:t>
            </a:r>
          </a:p>
          <a:p>
            <a:pPr marL="182563" indent="-182563">
              <a:spcAft>
                <a:spcPts val="600"/>
              </a:spcAft>
              <a:buFont typeface="Arial" panose="020B0604020202020204" pitchFamily="34" charset="0"/>
              <a:buChar char="•"/>
            </a:pPr>
            <a:r>
              <a:rPr lang="en-US" sz="1400" noProof="0" dirty="0">
                <a:solidFill>
                  <a:schemeClr val="tx1"/>
                </a:solidFill>
              </a:rPr>
              <a:t>AI is a collaborator, not a ghostwriter. The distinction between assisting and authorship defines academic integrity.</a:t>
            </a:r>
          </a:p>
          <a:p>
            <a:pPr marL="182563" indent="-182563">
              <a:spcAft>
                <a:spcPts val="600"/>
              </a:spcAft>
              <a:buFont typeface="Arial" panose="020B0604020202020204" pitchFamily="34" charset="0"/>
              <a:buChar char="•"/>
            </a:pPr>
            <a:r>
              <a:rPr lang="en-US" sz="1400" noProof="0" dirty="0">
                <a:solidFill>
                  <a:schemeClr val="tx1"/>
                </a:solidFill>
              </a:rPr>
              <a:t>Don’t touch LLMs. Use these tools only for editing and structure, never for writing the actual content or ideas.</a:t>
            </a:r>
          </a:p>
        </p:txBody>
      </p:sp>
      <p:sp>
        <p:nvSpPr>
          <p:cNvPr id="4" name="Rechteck 3">
            <a:extLst>
              <a:ext uri="{FF2B5EF4-FFF2-40B4-BE49-F238E27FC236}">
                <a16:creationId xmlns:a16="http://schemas.microsoft.com/office/drawing/2014/main" id="{406C90C5-0A2D-61F3-5737-CE9311B6471F}"/>
              </a:ext>
            </a:extLst>
          </p:cNvPr>
          <p:cNvSpPr/>
          <p:nvPr/>
        </p:nvSpPr>
        <p:spPr>
          <a:xfrm>
            <a:off x="2702190" y="1131590"/>
            <a:ext cx="2018622" cy="1679942"/>
          </a:xfrm>
          <a:prstGeom prst="rect">
            <a:avLst/>
          </a:prstGeom>
          <a:no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300"/>
              </a:spcAft>
            </a:pPr>
            <a:r>
              <a:rPr lang="en-US" sz="1200" b="1" noProof="0" dirty="0">
                <a:solidFill>
                  <a:schemeClr val="tx1"/>
                </a:solidFill>
              </a:rPr>
              <a:t>ChatGPT</a:t>
            </a:r>
            <a:r>
              <a:rPr lang="en-US" sz="1200" noProof="0" dirty="0">
                <a:solidFill>
                  <a:schemeClr val="tx1"/>
                </a:solidFill>
              </a:rPr>
              <a:t> (or similar for full text generation):</a:t>
            </a:r>
          </a:p>
          <a:p>
            <a:pPr marL="171450" indent="-171450">
              <a:spcAft>
                <a:spcPts val="300"/>
              </a:spcAft>
              <a:buFont typeface="Arial" panose="020B0604020202020204" pitchFamily="34" charset="0"/>
              <a:buChar char="•"/>
            </a:pPr>
            <a:r>
              <a:rPr lang="en-US" sz="1200" noProof="0" dirty="0">
                <a:solidFill>
                  <a:schemeClr val="tx1"/>
                </a:solidFill>
              </a:rPr>
              <a:t>Editors and your super-visors spot AI-generated prose instantly</a:t>
            </a:r>
          </a:p>
          <a:p>
            <a:pPr marL="171450" indent="-171450">
              <a:spcAft>
                <a:spcPts val="300"/>
              </a:spcAft>
              <a:buFont typeface="Arial" panose="020B0604020202020204" pitchFamily="34" charset="0"/>
              <a:buChar char="•"/>
            </a:pPr>
            <a:r>
              <a:rPr lang="en-US" sz="1200" noProof="0" dirty="0">
                <a:solidFill>
                  <a:schemeClr val="tx1"/>
                </a:solidFill>
              </a:rPr>
              <a:t>Immediate grounds for rejection</a:t>
            </a:r>
          </a:p>
        </p:txBody>
      </p:sp>
      <p:sp>
        <p:nvSpPr>
          <p:cNvPr id="5" name="Textfeld 4">
            <a:extLst>
              <a:ext uri="{FF2B5EF4-FFF2-40B4-BE49-F238E27FC236}">
                <a16:creationId xmlns:a16="http://schemas.microsoft.com/office/drawing/2014/main" id="{C9B2B5D8-B426-2979-0535-A88B1D9CBFB7}"/>
              </a:ext>
            </a:extLst>
          </p:cNvPr>
          <p:cNvSpPr txBox="1"/>
          <p:nvPr/>
        </p:nvSpPr>
        <p:spPr>
          <a:xfrm>
            <a:off x="3059832" y="4803998"/>
            <a:ext cx="5892960" cy="338554"/>
          </a:xfrm>
          <a:prstGeom prst="rect">
            <a:avLst/>
          </a:prstGeom>
          <a:noFill/>
        </p:spPr>
        <p:txBody>
          <a:bodyPr wrap="none" rtlCol="0">
            <a:spAutoFit/>
          </a:bodyPr>
          <a:lstStyle/>
          <a:p>
            <a:pPr algn="r"/>
            <a:r>
              <a:rPr lang="en-US" sz="800" noProof="0" dirty="0"/>
              <a:t>https://www.linkedin.com/posts/emmanueltsekleves_i-tested-12-ai-writing-tools-over-3-months-activity-7380218818280824832-eN8_/</a:t>
            </a:r>
          </a:p>
          <a:p>
            <a:pPr algn="r"/>
            <a:r>
              <a:rPr lang="en-US" sz="800" noProof="0" dirty="0"/>
              <a:t>?</a:t>
            </a:r>
            <a:r>
              <a:rPr lang="en-US" sz="800" noProof="0" dirty="0" err="1"/>
              <a:t>utm_source</a:t>
            </a:r>
            <a:r>
              <a:rPr lang="en-US" sz="800" noProof="0" dirty="0"/>
              <a:t>=</a:t>
            </a:r>
            <a:r>
              <a:rPr lang="en-US" sz="800" noProof="0" dirty="0" err="1"/>
              <a:t>share&amp;utm_medium</a:t>
            </a:r>
            <a:r>
              <a:rPr lang="en-US" sz="800" noProof="0" dirty="0"/>
              <a:t>=</a:t>
            </a:r>
            <a:r>
              <a:rPr lang="en-US" sz="800" noProof="0" dirty="0" err="1"/>
              <a:t>member_android&amp;rcm</a:t>
            </a:r>
            <a:r>
              <a:rPr lang="en-US" sz="800" noProof="0" dirty="0"/>
              <a:t>=ACoAAA93DcoBVk4d6pjq_0qnUcbHddt0OTf4VtI</a:t>
            </a:r>
          </a:p>
        </p:txBody>
      </p:sp>
      <p:sp>
        <p:nvSpPr>
          <p:cNvPr id="6" name="Rechteck 5">
            <a:extLst>
              <a:ext uri="{FF2B5EF4-FFF2-40B4-BE49-F238E27FC236}">
                <a16:creationId xmlns:a16="http://schemas.microsoft.com/office/drawing/2014/main" id="{57AA52D7-FCE9-117E-902A-F224FF9F2B9E}"/>
              </a:ext>
            </a:extLst>
          </p:cNvPr>
          <p:cNvSpPr/>
          <p:nvPr/>
        </p:nvSpPr>
        <p:spPr>
          <a:xfrm>
            <a:off x="6873858" y="1131590"/>
            <a:ext cx="2018622" cy="1679942"/>
          </a:xfrm>
          <a:prstGeom prst="rect">
            <a:avLst/>
          </a:prstGeom>
          <a:no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300"/>
              </a:spcAft>
            </a:pPr>
            <a:r>
              <a:rPr lang="en-US" sz="1200" b="1" noProof="0" dirty="0">
                <a:solidFill>
                  <a:schemeClr val="tx1"/>
                </a:solidFill>
              </a:rPr>
              <a:t>Perplexity</a:t>
            </a:r>
            <a:r>
              <a:rPr lang="en-US" sz="1200" noProof="0" dirty="0">
                <a:solidFill>
                  <a:schemeClr val="tx1"/>
                </a:solidFill>
              </a:rPr>
              <a:t> (without transparency):</a:t>
            </a:r>
          </a:p>
          <a:p>
            <a:pPr marL="171450" indent="-171450">
              <a:spcAft>
                <a:spcPts val="300"/>
              </a:spcAft>
              <a:buFont typeface="Arial" panose="020B0604020202020204" pitchFamily="34" charset="0"/>
              <a:buChar char="•"/>
            </a:pPr>
            <a:r>
              <a:rPr lang="en-US" sz="1200" noProof="0" dirty="0">
                <a:solidFill>
                  <a:schemeClr val="tx1"/>
                </a:solidFill>
              </a:rPr>
              <a:t>Lacks proper referencing</a:t>
            </a:r>
          </a:p>
          <a:p>
            <a:pPr marL="171450" indent="-171450">
              <a:spcAft>
                <a:spcPts val="300"/>
              </a:spcAft>
              <a:buFont typeface="Arial" panose="020B0604020202020204" pitchFamily="34" charset="0"/>
              <a:buChar char="•"/>
            </a:pPr>
            <a:r>
              <a:rPr lang="en-US" sz="1200" noProof="0" dirty="0">
                <a:solidFill>
                  <a:schemeClr val="tx1"/>
                </a:solidFill>
              </a:rPr>
              <a:t>Raises ethical red flags</a:t>
            </a:r>
          </a:p>
        </p:txBody>
      </p:sp>
      <p:sp>
        <p:nvSpPr>
          <p:cNvPr id="7" name="Rechteck 6">
            <a:extLst>
              <a:ext uri="{FF2B5EF4-FFF2-40B4-BE49-F238E27FC236}">
                <a16:creationId xmlns:a16="http://schemas.microsoft.com/office/drawing/2014/main" id="{99E498A6-AAF1-CAE0-9A8B-4F3758F66D01}"/>
              </a:ext>
            </a:extLst>
          </p:cNvPr>
          <p:cNvSpPr/>
          <p:nvPr/>
        </p:nvSpPr>
        <p:spPr>
          <a:xfrm>
            <a:off x="4788024" y="1131590"/>
            <a:ext cx="2018622" cy="1679942"/>
          </a:xfrm>
          <a:prstGeom prst="rect">
            <a:avLst/>
          </a:prstGeom>
          <a:no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300"/>
              </a:spcAft>
            </a:pPr>
            <a:r>
              <a:rPr lang="en-US" sz="1200" b="1" noProof="0" dirty="0">
                <a:solidFill>
                  <a:schemeClr val="tx1"/>
                </a:solidFill>
              </a:rPr>
              <a:t>Claude</a:t>
            </a:r>
            <a:r>
              <a:rPr lang="en-US" sz="1200" noProof="0" dirty="0">
                <a:solidFill>
                  <a:schemeClr val="tx1"/>
                </a:solidFill>
              </a:rPr>
              <a:t> (for academic writing):</a:t>
            </a:r>
          </a:p>
          <a:p>
            <a:pPr marL="171450" indent="-171450">
              <a:spcAft>
                <a:spcPts val="300"/>
              </a:spcAft>
              <a:buFont typeface="Arial" panose="020B0604020202020204" pitchFamily="34" charset="0"/>
              <a:buChar char="•"/>
            </a:pPr>
            <a:r>
              <a:rPr lang="en-US" sz="1200" noProof="0" dirty="0">
                <a:solidFill>
                  <a:schemeClr val="tx1"/>
                </a:solidFill>
              </a:rPr>
              <a:t>Text may appear polished, but patterns are detectable</a:t>
            </a:r>
          </a:p>
          <a:p>
            <a:pPr marL="171450" indent="-171450">
              <a:spcAft>
                <a:spcPts val="300"/>
              </a:spcAft>
              <a:buFont typeface="Arial" panose="020B0604020202020204" pitchFamily="34" charset="0"/>
              <a:buChar char="•"/>
            </a:pPr>
            <a:r>
              <a:rPr lang="en-US" sz="1200" noProof="0" dirty="0">
                <a:solidFill>
                  <a:schemeClr val="tx1"/>
                </a:solidFill>
              </a:rPr>
              <a:t>Editors and your super-visors are trained to notice</a:t>
            </a:r>
          </a:p>
        </p:txBody>
      </p:sp>
      <p:sp>
        <p:nvSpPr>
          <p:cNvPr id="8" name="Rechteck 7">
            <a:extLst>
              <a:ext uri="{FF2B5EF4-FFF2-40B4-BE49-F238E27FC236}">
                <a16:creationId xmlns:a16="http://schemas.microsoft.com/office/drawing/2014/main" id="{77E117F5-DD5A-8BE7-6F76-543CA2F474CA}"/>
              </a:ext>
            </a:extLst>
          </p:cNvPr>
          <p:cNvSpPr/>
          <p:nvPr/>
        </p:nvSpPr>
        <p:spPr>
          <a:xfrm>
            <a:off x="2702190" y="2866816"/>
            <a:ext cx="2018622" cy="1679942"/>
          </a:xfrm>
          <a:prstGeom prst="rect">
            <a:avLst/>
          </a:prstGeom>
          <a:noFill/>
          <a:ln w="190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300"/>
              </a:spcAft>
            </a:pPr>
            <a:r>
              <a:rPr lang="en-US" sz="1200" b="1" noProof="0" dirty="0">
                <a:solidFill>
                  <a:schemeClr val="tx1"/>
                </a:solidFill>
              </a:rPr>
              <a:t>Any undisclosed AI-generated content:</a:t>
            </a:r>
          </a:p>
          <a:p>
            <a:pPr marL="171450" indent="-171450">
              <a:spcAft>
                <a:spcPts val="300"/>
              </a:spcAft>
              <a:buFont typeface="Arial" panose="020B0604020202020204" pitchFamily="34" charset="0"/>
              <a:buChar char="•"/>
            </a:pPr>
            <a:r>
              <a:rPr lang="en-US" sz="1200" noProof="0" dirty="0">
                <a:solidFill>
                  <a:schemeClr val="tx1"/>
                </a:solidFill>
              </a:rPr>
              <a:t>Breaches publication ethics</a:t>
            </a:r>
          </a:p>
          <a:p>
            <a:pPr marL="171450" indent="-171450">
              <a:spcAft>
                <a:spcPts val="300"/>
              </a:spcAft>
              <a:buFont typeface="Arial" panose="020B0604020202020204" pitchFamily="34" charset="0"/>
              <a:buChar char="•"/>
            </a:pPr>
            <a:r>
              <a:rPr lang="en-US" sz="1200" noProof="0" dirty="0">
                <a:solidFill>
                  <a:schemeClr val="tx1"/>
                </a:solidFill>
              </a:rPr>
              <a:t>Can result in permanent blacklisting</a:t>
            </a:r>
          </a:p>
        </p:txBody>
      </p:sp>
      <p:sp>
        <p:nvSpPr>
          <p:cNvPr id="9" name="Rechteck 8">
            <a:extLst>
              <a:ext uri="{FF2B5EF4-FFF2-40B4-BE49-F238E27FC236}">
                <a16:creationId xmlns:a16="http://schemas.microsoft.com/office/drawing/2014/main" id="{40563CC2-37DA-D696-F932-60B0C6DC35B0}"/>
              </a:ext>
            </a:extLst>
          </p:cNvPr>
          <p:cNvSpPr/>
          <p:nvPr/>
        </p:nvSpPr>
        <p:spPr>
          <a:xfrm>
            <a:off x="6873858" y="2866816"/>
            <a:ext cx="2018622" cy="1679942"/>
          </a:xfrm>
          <a:prstGeom prst="rect">
            <a:avLst/>
          </a:prstGeom>
          <a:no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300"/>
              </a:spcAft>
            </a:pPr>
            <a:endParaRPr lang="en-US" sz="1200" noProof="0" dirty="0">
              <a:solidFill>
                <a:schemeClr val="tx1"/>
              </a:solidFill>
            </a:endParaRPr>
          </a:p>
        </p:txBody>
      </p:sp>
      <p:sp>
        <p:nvSpPr>
          <p:cNvPr id="10" name="Rechteck 9">
            <a:extLst>
              <a:ext uri="{FF2B5EF4-FFF2-40B4-BE49-F238E27FC236}">
                <a16:creationId xmlns:a16="http://schemas.microsoft.com/office/drawing/2014/main" id="{3CA65E14-1884-0F24-2E7C-E5242AC308AB}"/>
              </a:ext>
            </a:extLst>
          </p:cNvPr>
          <p:cNvSpPr/>
          <p:nvPr/>
        </p:nvSpPr>
        <p:spPr>
          <a:xfrm>
            <a:off x="4788024" y="2866816"/>
            <a:ext cx="2018622" cy="1679942"/>
          </a:xfrm>
          <a:prstGeom prst="rect">
            <a:avLst/>
          </a:prstGeom>
          <a:noFill/>
          <a:ln w="190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Aft>
                <a:spcPts val="300"/>
              </a:spcAft>
            </a:pPr>
            <a:endParaRPr lang="en-US" sz="1200" noProof="0" dirty="0">
              <a:solidFill>
                <a:schemeClr val="tx1"/>
              </a:solidFill>
            </a:endParaRPr>
          </a:p>
        </p:txBody>
      </p:sp>
      <p:sp>
        <p:nvSpPr>
          <p:cNvPr id="12" name="Textfeld 11">
            <a:extLst>
              <a:ext uri="{FF2B5EF4-FFF2-40B4-BE49-F238E27FC236}">
                <a16:creationId xmlns:a16="http://schemas.microsoft.com/office/drawing/2014/main" id="{1E88EF45-7219-843C-C64F-8B5460541FA8}"/>
              </a:ext>
            </a:extLst>
          </p:cNvPr>
          <p:cNvSpPr txBox="1"/>
          <p:nvPr/>
        </p:nvSpPr>
        <p:spPr>
          <a:xfrm>
            <a:off x="8061677" y="830085"/>
            <a:ext cx="902811" cy="246221"/>
          </a:xfrm>
          <a:prstGeom prst="rect">
            <a:avLst/>
          </a:prstGeom>
          <a:noFill/>
        </p:spPr>
        <p:txBody>
          <a:bodyPr wrap="none" rtlCol="0">
            <a:spAutoFit/>
          </a:bodyPr>
          <a:lstStyle/>
          <a:p>
            <a:pPr algn="r"/>
            <a:r>
              <a:rPr lang="en-US" sz="1000" noProof="0" dirty="0"/>
              <a:t>October 2025</a:t>
            </a:r>
          </a:p>
        </p:txBody>
      </p:sp>
    </p:spTree>
    <p:extLst>
      <p:ext uri="{BB962C8B-B14F-4D97-AF65-F5344CB8AC3E}">
        <p14:creationId xmlns:p14="http://schemas.microsoft.com/office/powerpoint/2010/main" val="39020071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4F8AF48-AEC1-203A-7BC4-1AFF84677E2F}"/>
              </a:ext>
            </a:extLst>
          </p:cNvPr>
          <p:cNvSpPr>
            <a:spLocks noGrp="1"/>
          </p:cNvSpPr>
          <p:nvPr>
            <p:ph type="title"/>
          </p:nvPr>
        </p:nvSpPr>
        <p:spPr/>
        <p:txBody>
          <a:bodyPr/>
          <a:lstStyle/>
          <a:p>
            <a:r>
              <a:rPr lang="en-US" noProof="0" dirty="0"/>
              <a:t>Two aspects to avoid legal issues: checking for plagiarism and being transparent in AI use</a:t>
            </a:r>
          </a:p>
        </p:txBody>
      </p:sp>
      <p:sp>
        <p:nvSpPr>
          <p:cNvPr id="3" name="Rechteck 2">
            <a:extLst>
              <a:ext uri="{FF2B5EF4-FFF2-40B4-BE49-F238E27FC236}">
                <a16:creationId xmlns:a16="http://schemas.microsoft.com/office/drawing/2014/main" id="{886FE6A1-FA48-795B-5D6F-C712EEF3349E}"/>
              </a:ext>
            </a:extLst>
          </p:cNvPr>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spcAft>
                <a:spcPts val="600"/>
              </a:spcAft>
            </a:pPr>
            <a:r>
              <a:rPr lang="en-US" sz="1400" noProof="0" dirty="0">
                <a:solidFill>
                  <a:schemeClr val="tx1"/>
                </a:solidFill>
              </a:rPr>
              <a:t>If you use AI for writing academic papers, here are two things you should definitely do to avoid legal issues:</a:t>
            </a:r>
          </a:p>
          <a:p>
            <a:pPr algn="just">
              <a:spcAft>
                <a:spcPts val="600"/>
              </a:spcAft>
            </a:pPr>
            <a:endParaRPr lang="en-US" sz="1400" noProof="0" dirty="0">
              <a:solidFill>
                <a:schemeClr val="tx1"/>
              </a:solidFill>
            </a:endParaRPr>
          </a:p>
          <a:p>
            <a:pPr marL="182563" indent="-182563" algn="just">
              <a:spcAft>
                <a:spcPts val="600"/>
              </a:spcAft>
              <a:buFont typeface="Arial" panose="020B0604020202020204" pitchFamily="34" charset="0"/>
              <a:buChar char="•"/>
            </a:pPr>
            <a:r>
              <a:rPr lang="en-US" sz="1400" b="1" noProof="0" dirty="0">
                <a:solidFill>
                  <a:schemeClr val="tx1"/>
                </a:solidFill>
              </a:rPr>
              <a:t>Check for plagiarism:</a:t>
            </a:r>
          </a:p>
          <a:p>
            <a:pPr marL="182563" lvl="1" algn="just">
              <a:spcAft>
                <a:spcPts val="600"/>
              </a:spcAft>
            </a:pPr>
            <a:r>
              <a:rPr lang="en-US" sz="1400" noProof="0" dirty="0">
                <a:solidFill>
                  <a:schemeClr val="tx1"/>
                </a:solidFill>
              </a:rPr>
              <a:t>AI models are trained on existing texts. They can reproduce phrases or structures that are too close to existing work. If you don’t check carefully, you may unintentionally infringe someone else’s copyright and face legal consequences.</a:t>
            </a:r>
          </a:p>
          <a:p>
            <a:pPr algn="just">
              <a:spcAft>
                <a:spcPts val="600"/>
              </a:spcAft>
            </a:pPr>
            <a:endParaRPr lang="en-US" sz="1400" noProof="0" dirty="0">
              <a:solidFill>
                <a:schemeClr val="tx1"/>
              </a:solidFill>
            </a:endParaRPr>
          </a:p>
          <a:p>
            <a:pPr marL="182563" indent="-182563" algn="just">
              <a:spcAft>
                <a:spcPts val="600"/>
              </a:spcAft>
              <a:buFont typeface="Arial" panose="020B0604020202020204" pitchFamily="34" charset="0"/>
              <a:buChar char="•"/>
            </a:pPr>
            <a:r>
              <a:rPr lang="en-US" sz="1400" b="1" noProof="0" dirty="0">
                <a:solidFill>
                  <a:schemeClr val="tx1"/>
                </a:solidFill>
              </a:rPr>
              <a:t>Be transparent about AI use:</a:t>
            </a:r>
          </a:p>
          <a:p>
            <a:pPr marL="182563" algn="just">
              <a:spcAft>
                <a:spcPts val="600"/>
              </a:spcAft>
            </a:pPr>
            <a:r>
              <a:rPr lang="en-US" sz="1400" noProof="0" dirty="0">
                <a:solidFill>
                  <a:schemeClr val="tx1"/>
                </a:solidFill>
              </a:rPr>
              <a:t>Most journals now expect disclosure. Policies vary, and some editors (especially for books) may prohibit AI use entirely. So before submitting anything, make sure to check the journal’s guidelines.</a:t>
            </a:r>
          </a:p>
          <a:p>
            <a:pPr marL="182563" algn="just">
              <a:spcAft>
                <a:spcPts val="600"/>
              </a:spcAft>
            </a:pPr>
            <a:r>
              <a:rPr lang="en-US" sz="1400" noProof="0" dirty="0">
                <a:solidFill>
                  <a:schemeClr val="tx1"/>
                </a:solidFill>
              </a:rPr>
              <a:t>The same holds when submitting project, B.Sc., M.Sc., PhD theses or any other university exam related work.</a:t>
            </a:r>
          </a:p>
          <a:p>
            <a:pPr algn="just">
              <a:spcAft>
                <a:spcPts val="600"/>
              </a:spcAft>
            </a:pPr>
            <a:endParaRPr lang="en-US" sz="1400" noProof="0" dirty="0">
              <a:solidFill>
                <a:schemeClr val="tx1"/>
              </a:solidFill>
            </a:endParaRPr>
          </a:p>
        </p:txBody>
      </p:sp>
    </p:spTree>
    <p:extLst>
      <p:ext uri="{BB962C8B-B14F-4D97-AF65-F5344CB8AC3E}">
        <p14:creationId xmlns:p14="http://schemas.microsoft.com/office/powerpoint/2010/main" val="40157833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ctrTitle"/>
          </p:nvPr>
        </p:nvSpPr>
        <p:spPr>
          <a:xfrm>
            <a:off x="3851920" y="1275606"/>
            <a:ext cx="5040560" cy="864095"/>
          </a:xfrm>
        </p:spPr>
        <p:txBody>
          <a:bodyPr/>
          <a:lstStyle/>
          <a:p>
            <a:r>
              <a:rPr lang="en-US" noProof="0" dirty="0"/>
              <a:t>Computational Biomathematics</a:t>
            </a:r>
          </a:p>
        </p:txBody>
      </p:sp>
      <p:sp>
        <p:nvSpPr>
          <p:cNvPr id="4" name="Textfeld 3"/>
          <p:cNvSpPr txBox="1"/>
          <p:nvPr/>
        </p:nvSpPr>
        <p:spPr>
          <a:xfrm>
            <a:off x="6917350" y="4712245"/>
            <a:ext cx="1974066" cy="307777"/>
          </a:xfrm>
          <a:prstGeom prst="rect">
            <a:avLst/>
          </a:prstGeom>
          <a:noFill/>
        </p:spPr>
        <p:txBody>
          <a:bodyPr wrap="none" rtlCol="0">
            <a:spAutoFit/>
          </a:bodyPr>
          <a:lstStyle/>
          <a:p>
            <a:pPr algn="r"/>
            <a:r>
              <a:rPr lang="en-US" sz="1400" noProof="0" dirty="0"/>
              <a:t>florian.rupp@kiu.edu.ge</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v4sBCPrLdUOGmmGtjuAVn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P5ULgxRsCUC2aETaaLLML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ZwayLLHUoUaSByAvs2zAN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6wS88IkDwk2u2UXfeYk5s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dQrG_PT1jUaZ5G6vt.PRt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cIYaHeW61US7GVC_CvTl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KY06EWmBMUKiWbxTgKZHj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lAlQONa1hU24NWfOu_k0X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n9gNzT53jU6HzP9VqlC8B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n9gNzT53jU6HzP9VqlC8B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P5ULgxRsCUC2aETaaLLML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ZwayLLHUoUaSByAvs2zAN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6wS88IkDwk2u2UXfeYk5s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dQrG_PT1jUaZ5G6vt.PRt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cIYaHeW61US7GVC_CvTlVA"/>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KY06EWmBMUKiWbxTgKZHj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lAlQONa1hU24NWfOu_k0X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n9gNzT53jU6HzP9VqlC8B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v4sBCPrLdUOGmmGtjuAVn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P5ULgxRsCUC2aETaaLLML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ZwayLLHUoUaSByAvs2zAN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6wS88IkDwk2u2UXfeYk5s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dQrG_PT1jUaZ5G6vt.PRt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cIYaHeW61US7GVC_CvTlV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KY06EWmBMUKiWbxTgKZHj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lAlQONa1hU24NWfOu_k0Xw"/>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n9gNzT53jU6HzP9VqlC8B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AV12iISWwkOOVDsSNsZR1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CtTgbOSEZkm5OsVCazYCuA"/>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GzJYHOe5i0GLveCEHJkieA"/>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W7PwWLeJa0mg5HLpGAbhl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CtTgbOSEZkm5OsVCazYCuA"/>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GzJYHOe5i0GLveCEHJkieA"/>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W7PwWLeJa0mg5HLpGAbhlQ"/>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CtTgbOSEZkm5OsVCazYCuA"/>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GzJYHOe5i0GLveCEHJkieA"/>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W7PwWLeJa0mg5HLpGAbhlQ"/>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CtTgbOSEZkm5OsVCazYCuA"/>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GzJYHOe5i0GLveCEHJkieA"/>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W7PwWLeJa0mg5HLpGAbhlQ"/>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CtTgbOSEZkm5OsVCazYCuA"/>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GzJYHOe5i0GLveCEHJkieA"/>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pW7PwWLeJa0mg5HLpGAbhlQ"/>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pCtTgbOSEZkm5OsVCazYCuA"/>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pGzJYHOe5i0GLveCEHJkieA"/>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pW7PwWLeJa0mg5HLpGAbhlQ"/>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pCtTgbOSEZkm5OsVCazYCuA"/>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pGzJYHOe5i0GLveCEHJkieA"/>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pW7PwWLeJa0mg5HLpGAbhlQ"/>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CtTgbOSEZkm5OsVCazYCuA"/>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pGzJYHOe5i0GLveCEHJkieA"/>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pW7PwWLeJa0mg5HLpGAbhlQ"/>
</p:tagLst>
</file>

<file path=ppt/tags/tag53.xml><?xml version="1.0" encoding="utf-8"?>
<p:tagLst xmlns:a="http://schemas.openxmlformats.org/drawingml/2006/main" xmlns:r="http://schemas.openxmlformats.org/officeDocument/2006/relationships" xmlns:p="http://schemas.openxmlformats.org/presentationml/2006/main">
  <p:tag name="OUTPUTDPI" val="1200"/>
  <p:tag name="ORIGINALHEIGHT" val="1934,008"/>
  <p:tag name="ORIGINALWIDTH" val="4846,645"/>
  <p:tag name="LATEXADDIN" val="\documentclass{article}&#10;\usepackage{amsmath}&#10;\usepackage{amssymb}&#10;\usepackage{mhchem}&#10;\pagestyle{empty}&#10;\begin{document}&#10;\begin{minipage}{13.7 cm}&#10;{\sffamily{&#10;{\bf{Hard-Coding of the (Interaction) Effects:}}&#10;\begin{center}&#10;\begin{tabular}{l}&#10;{\bf{if}} \, \{ encounter between agents of type $S$ and $I$ \} \, {\bf{then}}\\[1mm]&#10;\begin{tabular}{c l l}&#10;$\bullet$ &amp; $S \to I$ &amp; with probability $\alpha$\\[1mm]&#10;$\bullet$ &amp; $S \to S$ &amp; with probability $1-\alpha$\\&#10;\end{tabular}\\&#10;{\bf{end}}&#10;\end{tabular}&#10;\end{center}&#10;\begin{itemize}&#10;\item There is a (finite) number of states and the agents (cellular automata) can be in exactly one of these states.&#10;\item At an encounter the single agents may change their state with a certain probability.&#10;\item Due to these state transitions such systems can, for instance, be interpreted and analyzed in terms of Markov chains.&#10;\end{itemize}&#10;}}&#10;\end{minipage}&#10;\end{document}"/>
  <p:tag name="IGUANATEXSIZE" val="20"/>
  <p:tag name="IGUANATEXCURSOR" val="738"/>
  <p:tag name="TRANSPARENCY" val="Wahr"/>
  <p:tag name="FILENAME" val=""/>
  <p:tag name="LATEXENGINEID" val="0"/>
  <p:tag name="TEMPFOLDER" val="D:\iguana_temp\"/>
  <p:tag name="LATEXFORMHEIGHT" val="591,75"/>
  <p:tag name="LATEXFORMWIDTH" val="594,75"/>
  <p:tag name="LATEXFORMWRAP" val="Wahr"/>
  <p:tag name="BITMAPVECTOR" val="0"/>
</p:tagLst>
</file>

<file path=ppt/tags/tag54.xml><?xml version="1.0" encoding="utf-8"?>
<p:tagLst xmlns:a="http://schemas.openxmlformats.org/drawingml/2006/main" xmlns:r="http://schemas.openxmlformats.org/officeDocument/2006/relationships" xmlns:p="http://schemas.openxmlformats.org/presentationml/2006/main">
  <p:tag name="OUTPUTDPI" val="1200"/>
  <p:tag name="ORIGINALHEIGHT" val="2558,68"/>
  <p:tag name="ORIGINALWIDTH" val="4837,646"/>
  <p:tag name="LATEXADDIN" val="\documentclass{article}&#10;\usepackage{amsmath}&#10;\usepackage{amssymb}&#10;\usepackage{mhchem}&#10;\pagestyle{empty}&#10;\begin{document}&#10;\begin{minipage}{13.7 cm}&#10;{\sffamily{&#10;{\bf{(Reversible) Reaction-Kinetics:}}&#10;$$&#10;\ce{ S \, + \, I \, \, &lt;=&gt;[\ce{k_1}][\ce{k_{-1}}] \, \, SI \, \, &lt;=&gt;&gt;[\ce{k_2}][\ce{k_{-2}}] \, \, 2 I}&#10;$$&#10;\begin{itemize}&#10;\item Like atoms or molecules, two agents of type $S$ and $I$ come close enough to each other to form an intermediate state $SI$. The intermediate state can then decay into two agents of type $I$.&#10;\item The reaction is controlled by the reaction rates $k_1$, $k_{-1}$, $k_2$, and $k_{-2}$, that govern the speed by which certain results are obtained.&#10;\item Typically, chemical reactions are always reversible. Though, the reverse reaction rates may be extremely small compared to the (forward) reaction rates, e.g. $k_{-2} \ll k_2$ (this is also often indicated by a larger arrow pointing in the direction of the faster reaction).&#10;\item Taking slow-fast reactions into account the above reaction-kinetics may as well represented as&#10;$$&#10;\ce{ S \, + \, I \, \, -&gt;[\ce{k_2}] \, \, 2 I}&#10;$$&#10;\end{itemize}&#10;}}&#10;\end{minipage}&#10;\end{document}"/>
  <p:tag name="IGUANATEXSIZE" val="20"/>
  <p:tag name="IGUANATEXCURSOR" val="785"/>
  <p:tag name="TRANSPARENCY" val="Wahr"/>
  <p:tag name="FILENAME" val=""/>
  <p:tag name="LATEXENGINEID" val="0"/>
  <p:tag name="TEMPFOLDER" val="D:\iguana_temp\"/>
  <p:tag name="LATEXFORMHEIGHT" val="591,75"/>
  <p:tag name="LATEXFORMWIDTH" val="594,75"/>
  <p:tag name="LATEXFORMWRAP" val="Wahr"/>
  <p:tag name="BITMAPVECTOR" val="0"/>
</p:tagLst>
</file>

<file path=ppt/tags/tag55.xml><?xml version="1.0" encoding="utf-8"?>
<p:tagLst xmlns:a="http://schemas.openxmlformats.org/drawingml/2006/main" xmlns:r="http://schemas.openxmlformats.org/officeDocument/2006/relationships" xmlns:p="http://schemas.openxmlformats.org/presentationml/2006/main">
  <p:tag name="OUTPUTDPI" val="1200"/>
  <p:tag name="ORIGINALHEIGHT" val="1736,033"/>
  <p:tag name="ORIGINALWIDTH" val="4853,394"/>
  <p:tag name="LATEXADDIN" val="\documentclass{article}&#10;\usepackage{amsmath}&#10;\usepackage{amssymb}&#10;\usepackage{mhchem}&#10;\pagestyle{empty}&#10;\begin{document}&#10;\begin{minipage}{13.7 cm}&#10;{\sffamily{&#10;{\bf{Transitions between Discrete States:}}&#10;$$&#10;\begin{array}{c}&#10;T(s-1,i+1 | s, i) \, \, = \, \, \alpha \cdot s \cdot i\\[2mm]&#10;\begin{array}{r c l}&#10;T(s+1,i | s, i) \, \, = \, \, \beta_S \cdot s &amp; \text{and} &amp;&#10;T(s,i+1 | s, i) \, \, = \, \, \beta_I \cdot i \\[2mm]&#10;T(s-1,i | s, i) \, \, = \, \, \gamma_S \cdot s &amp; \text{and} &amp;&#10;T(s,i-1 | s, i) \, \, = \, \, \gamma_I \cdot i&#10;\end{array}&#10;\end{array}&#10;$$&#10;\begin{itemize}&#10;\item Discrete state changes conditioned on the present state and without involvement of past stages (Markovian principle: the future depends on the present and is independent of the past).&#10;\item We consider time increments $\Delta t$ that are small enough such that only one transition can occur.&#10;\end{itemize}&#10;}}&#10;\end{minipage}&#10;\end{document}"/>
  <p:tag name="IGUANATEXSIZE" val="20"/>
  <p:tag name="IGUANATEXCURSOR" val="870"/>
  <p:tag name="TRANSPARENCY" val="Wahr"/>
  <p:tag name="FILENAME" val=""/>
  <p:tag name="LATEXENGINEID" val="0"/>
  <p:tag name="TEMPFOLDER" val="D:\iguana_temp\"/>
  <p:tag name="LATEXFORMHEIGHT" val="591,75"/>
  <p:tag name="LATEXFORMWIDTH" val="594,75"/>
  <p:tag name="LATEXFORMWRAP" val="Wahr"/>
  <p:tag name="BITMAPVECTOR" val="0"/>
</p:tagLst>
</file>

<file path=ppt/tags/tag56.xml><?xml version="1.0" encoding="utf-8"?>
<p:tagLst xmlns:a="http://schemas.openxmlformats.org/drawingml/2006/main" xmlns:r="http://schemas.openxmlformats.org/officeDocument/2006/relationships" xmlns:p="http://schemas.openxmlformats.org/presentationml/2006/main">
  <p:tag name="OUTPUTDPI" val="1200"/>
  <p:tag name="ORIGINALHEIGHT" val="2018,748"/>
  <p:tag name="ORIGINALWIDTH" val="4388,451"/>
  <p:tag name="LATEXADDIN" val="\documentclass{article}\pagestyle{empty}&#10;\usepackage{amsmath}&#10;\usepackage{amsfonts}&#10;\usepackage{amssymb}&#10;\begin{document}&#10;\begin{minipage}{12.4 cm}&#10;{\sffamily{&#10;{\bf{Example:}}\\[1mm]&#10;For instance, in our diffusion of ideas example, the states are whether the information is possessed or not, leading to the $I$ and $S$ populations. The one-step transition probabilities within and between the states are\footnote{&#10; Where we applied a slight abuse of the symbols $I$ and $S$ denoting the population numbers&#10; (instead of the populations) in the expressions of the probabilities.}&#10;\begin{itemize}&#10;\item $t_S := \mathbb{P}\left( S \, | \, S \right)$ as the transition probability for staying within the $S$ population (due to interaction between members of the $S$ population),&#10;\item $t_I := \mathbb{P}\left( I \, | \,  I \right)$ as the transition probability for staying within the $I$ population (due to interaction between members of the $I$ population),&#10;\vspace{0.8cm}&#10;\end{itemize}&#10;}}&#10;\end{minipage}&#10;\end{document}"/>
  <p:tag name="IGUANATEXSIZE" val="20"/>
  <p:tag name="IGUANATEXCURSOR" val="203"/>
  <p:tag name="TRANSPARENCY" val="Wahr"/>
  <p:tag name="LATEXENGINEID" val="0"/>
  <p:tag name="TEMPFOLDER" val="c:\temp\"/>
  <p:tag name="LATEXFORMHEIGHT" val="482,25"/>
  <p:tag name="LATEXFORMWIDTH" val="1030,5"/>
  <p:tag name="LATEXFORMWRAP" val="Wahr"/>
  <p:tag name="BITMAPVECTOR" val="0"/>
</p:tagLst>
</file>

<file path=ppt/tags/tag57.xml><?xml version="1.0" encoding="utf-8"?>
<p:tagLst xmlns:a="http://schemas.openxmlformats.org/drawingml/2006/main" xmlns:r="http://schemas.openxmlformats.org/officeDocument/2006/relationships" xmlns:p="http://schemas.openxmlformats.org/presentationml/2006/main">
  <p:tag name="OUTPUTDPI" val="1200"/>
  <p:tag name="ORIGINALHEIGHT" val="2021,747"/>
  <p:tag name="ORIGINALWIDTH" val="4387,702"/>
  <p:tag name="LATEXADDIN" val="\documentclass{article}\pagestyle{empty}&#10;\usepackage{amsmath}&#10;\usepackage{amsfonts}&#10;\usepackage{amssymb}&#10;\begin{document}&#10;\begin{minipage}{12.4 cm}&#10;{\sffamily{&#10;\begin{itemize}&#10;\item $t_{S,I} := \mathbb{P}\left( I+1, S-1 \, | \, I, S \right)$ as the transition probability from the $S$ population to the $I$ population (due to interaction between members of different populations), and&#10;\item $t_{I,S} := \mathbb{P}\left( I-1, S+1 \, | \, I, S \right) = 0$ as there are no transitions from the $I$ population to the $S$ population (no arrow in the corresponding diagram).&#10;\end{itemize}&#10;Note $t_I = 1$ as there are no transitions from $I$ to $S$ and every agent in $I$ stays in this state forever.\\[1mm]&#10;For non-vanishing agent numbers of the populations $S$ and $I$ we have $t_{S,I} &gt; 0$ and as there is no transition from $I$ to $S$ this results in a continuous drain from population $S$ to $I$ eventually leading to all agents belonging to population $I$. Note, the movement rules and the arbitrarily occurring collisions in the agent-based $SI$-model serve as a generator for the transition probabilities.}}&#10;\end{minipage}&#10;\end{document}"/>
  <p:tag name="IGUANATEXSIZE" val="20"/>
  <p:tag name="IGUANATEXCURSOR" val="698"/>
  <p:tag name="TRANSPARENCY" val="Wahr"/>
  <p:tag name="FILENAME" val=""/>
  <p:tag name="LATEXENGINEID" val="0"/>
  <p:tag name="TEMPFOLDER" val="D:\iguana_temp\"/>
  <p:tag name="LATEXFORMHEIGHT" val="482,25"/>
  <p:tag name="LATEXFORMWIDTH" val="1030,5"/>
  <p:tag name="LATEXFORMWRAP" val="Wahr"/>
  <p:tag name="BITMAPVECTOR" val="0"/>
</p:tagLst>
</file>

<file path=ppt/tags/tag58.xml><?xml version="1.0" encoding="utf-8"?>
<p:tagLst xmlns:a="http://schemas.openxmlformats.org/drawingml/2006/main" xmlns:r="http://schemas.openxmlformats.org/officeDocument/2006/relationships" xmlns:p="http://schemas.openxmlformats.org/presentationml/2006/main">
  <p:tag name="OUTPUTDPI" val="1200"/>
  <p:tag name="ORIGINALHEIGHT" val="1549,306"/>
  <p:tag name="ORIGINALWIDTH" val="4380,203"/>
  <p:tag name="LATEXADDIN" val="\documentclass{article}\pagestyle{empty}&#10;\usepackage{amsmath}&#10;\usepackage{amsfonts}&#10;\usepackage{amssymb}&#10;\begin{document}&#10;\begin{minipage}{12.4 cm}&#10;{\sffamily{&#10;Let us assume that the values of the transition probabilities are $t_S = 0.8$, $t_{S,I} = 0.2$, $t_{I,S} = 0$, and $t_I = 1$ as well as initial&#10;distributions $S_0 = s_0$ and $I_0 = i_0$with $s_0 + i_0 = 1$. Then, the transition matrix reads as&#10;$$&#10;P \, \, = \, \, \begin{pmatrix} t_S &amp; t_{I,S} \\ t_{S, I} &amp; t_{I} \end{pmatrix} \, \, = \, \, \begin{pmatrix} 0.8 &amp; 0 \\ 0.2 &amp; 1 \end{pmatrix}&#10;$$&#10;and the distributions of the states $(s_1, i_1)^T$ at the first time step are gained as&#10;$$&#10;\begin{pmatrix} s_1 \\ i_1 \end{pmatrix} \, \, = \, \, \begin{pmatrix} t_S &amp; t_{I,S} \\ t_{S, I} &amp; t_{I} \end{pmatrix} \begin{pmatrix} s_0 \\ i_0 \end{pmatrix}&#10;\, \, = \, \, \begin{pmatrix} 0.8 s_0 \\ 0.2 s_0 + i_0 \end{pmatrix} \, .&#10;$$&#10;}}&#10;\end{minipage}&#10;\end{document}"/>
  <p:tag name="IGUANATEXSIZE" val="20"/>
  <p:tag name="IGUANATEXCURSOR" val="406"/>
  <p:tag name="TRANSPARENCY" val="Wahr"/>
  <p:tag name="LATEXENGINEID" val="0"/>
  <p:tag name="TEMPFOLDER" val="c:\temp\"/>
  <p:tag name="LATEXFORMHEIGHT" val="482,25"/>
  <p:tag name="LATEXFORMWIDTH" val="1030,5"/>
  <p:tag name="LATEXFORMWRAP" val="Wahr"/>
  <p:tag name="BITMAPVECTOR" val="0"/>
</p:tagLst>
</file>

<file path=ppt/tags/tag59.xml><?xml version="1.0" encoding="utf-8"?>
<p:tagLst xmlns:a="http://schemas.openxmlformats.org/drawingml/2006/main" xmlns:r="http://schemas.openxmlformats.org/officeDocument/2006/relationships" xmlns:p="http://schemas.openxmlformats.org/presentationml/2006/main">
  <p:tag name="OUTPUTDPI" val="1200"/>
  <p:tag name="ORIGINALHEIGHT" val="2011,999"/>
  <p:tag name="ORIGINALWIDTH" val="4383,952"/>
  <p:tag name="LATEXADDIN" val="\documentclass{article}\pagestyle{empty}&#10;\usepackage{amsmath}&#10;\usepackage{amsfonts}&#10;\usepackage{amssymb}&#10;\begin{document}&#10;\begin{minipage}{12.4 cm}&#10;{\sffamily{&#10;The distributions $(s_n, i_n)^T$ at the $n$th time step are thus\\[-5mm]&#10;\begin{eqnarray*}&#10;\begin{pmatrix} s_n \\ i_n \end{pmatrix} &amp; = &amp; \begin{pmatrix} t_S &amp; t_{I,S} \\ t_{S, I} &amp; t_{I} \end{pmatrix}^n \begin{pmatrix} s_0 \\ i_0 \end{pmatrix}&#10;\, \, = \, \, \begin{pmatrix} 0.8 &amp; 0 \\ 0.2 &amp; 1 \end{pmatrix}^n \begin{pmatrix} s_0 \\ i_0 \end{pmatrix} \\[1mm]&#10;&amp; = &amp; \begin{pmatrix} 0.8^n &amp; 0 \\ 0.2 \left(1 + 0.8 + 0.8^2 + \dots + 0.8^{n-1} \right) &amp; 1 \end{pmatrix} \begin{pmatrix} s_0 \\ i_0 \end{pmatrix} \, .&#10;\end{eqnarray*}&#10;For $n \to \infty$ we have $0.8^n = 0$ and the value of the geometric series $0.2 \cdot \sum_{k=0}^{\infty} 0.8^k = 0.2 \cdot 0.2^{-1}$. Therefore, the limit distribution $(s_{\infty}, i_{\infty})^T$ becomes&#10;$$&#10;\begin{pmatrix} s_{\infty} \\ i_{\infty} \end{pmatrix} \, \, = \, \, \begin{pmatrix} 0 &amp; 0 \\ 1 &amp; 1 \end{pmatrix} \begin{pmatrix} s_0 \\ i_0 \end{pmatrix}&#10;\, \, = \, \, \begin{pmatrix} 0 \\ 1 \end{pmatrix}&#10;$$&#10;which shows that eventually to all agents belong to population $I$.&#10;}}&#10;\end{minipage}&#10;\end{document}"/>
  <p:tag name="IGUANATEXSIZE" val="20"/>
  <p:tag name="IGUANATEXCURSOR" val="895"/>
  <p:tag name="TRANSPARENCY" val="Wahr"/>
  <p:tag name="FILENAME" val=""/>
  <p:tag name="LATEXENGINEID" val="0"/>
  <p:tag name="TEMPFOLDER" val="D:\iguana_temp\"/>
  <p:tag name="LATEXFORMHEIGHT" val="482,25"/>
  <p:tag name="LATEXFORMWIDTH" val="1030,5"/>
  <p:tag name="LATEXFORMWRAP" val="Wahr"/>
  <p:tag name="BITMAPVECTOR" val="0"/>
</p:tagLst>
</file>

<file path=ppt/tags/tag60.xml><?xml version="1.0" encoding="utf-8"?>
<p:tagLst xmlns:a="http://schemas.openxmlformats.org/drawingml/2006/main" xmlns:r="http://schemas.openxmlformats.org/officeDocument/2006/relationships" xmlns:p="http://schemas.openxmlformats.org/presentationml/2006/main">
  <p:tag name="OUTPUTDPI" val="1200"/>
  <p:tag name="ORIGINALHEIGHT" val="2713,161"/>
  <p:tag name="ORIGINALWIDTH" val="4845,894"/>
  <p:tag name="LATEXADDIN" val="\documentclass{article}&#10;\usepackage{amsmath}&#10;\usepackage{amssymb}&#10;%\usepackage{mhchem}&#10;\pagestyle{empty}&#10;\begin{document}&#10;\begin{minipage}{13.7 cm}&#10;{\sffamily{&#10;{\bf{Space Averaged Makroscopic Description in Terms of Ordinary Differential Equations (ODEs):}}&#10;\begin{eqnarray*}&#10;\frac{\textrm{d}}{\textrm{d} t} [S] \, \, = \, \, - \alpha [S] [I] + \beta_S [S] - \gamma_S [S] \, \, = \, \, - \alpha [S] [I] + \beta^*_S [S] \\[2mm]&#10;\frac{\textrm{d}}{\textrm{d} t} [I] \, \, = \, \, + \alpha [S] [I] + \beta_I [I] - \gamma_I [I] \, \, = \, \, + \alpha [S] [I] + \beta^*_I [I]\\[-2mm]&#10;\end{eqnarray*}&#10;\begin{itemize}&#10;\item {\bf{Prerequisite:}} The agent types are completely mixed at every time instance.&#10;\item We consider the rate of change of time-dependent concentrations $[S] = [S(t)]$ and $[I]=[I(t)]$ of agent types $S$ and $I$ with initial conditions $[S(0)] =: s_0$ and $[I(0)] = i_0$.&#10;\item The law of mass action holds such that there is a 1-to-1 transfer from $S$ to $I$. This transfer is proportional to the product of the two concentrations with a proportionality factor $\alpha$.&#10;\item Proportional to the respective concentrations are birth/&#10;death or net-birth events&#10;with proportionality factors $\beta^* := \beta-\gamma$. &#10;\end{itemize}&#10;}}&#10;\end{minipage}&#10;\end{document}"/>
  <p:tag name="IGUANATEXSIZE" val="20"/>
  <p:tag name="IGUANATEXCURSOR" val="886"/>
  <p:tag name="TRANSPARENCY" val="Wahr"/>
  <p:tag name="LATEXENGINEID" val="0"/>
  <p:tag name="TEMPFOLDER" val="c:\temp\"/>
  <p:tag name="LATEXFORMHEIGHT" val="591,75"/>
  <p:tag name="LATEXFORMWIDTH" val="594,75"/>
  <p:tag name="LATEXFORMWRAP" val="Wahr"/>
  <p:tag name="BITMAPVECTOR" val="0"/>
</p:tagLst>
</file>

<file path=ppt/tags/tag61.xml><?xml version="1.0" encoding="utf-8"?>
<p:tagLst xmlns:a="http://schemas.openxmlformats.org/drawingml/2006/main" xmlns:r="http://schemas.openxmlformats.org/officeDocument/2006/relationships" xmlns:p="http://schemas.openxmlformats.org/presentationml/2006/main">
  <p:tag name="OUTPUTDPI" val="1200"/>
  <p:tag name="ORIGINALHEIGHT" val="1940,008"/>
  <p:tag name="ORIGINALWIDTH" val="4381,702"/>
  <p:tag name="LATEXADDIN" val="\documentclass{article}\pagestyle{empty}&#10;\usepackage{amsmath}&#10;\usepackage{amsfonts}&#10;\usepackage{amssymb}&#10;\begin{document}&#10;\begin{minipage}{12.4 cm}&#10;{\sffamily{&#10;{\bf{Example:}}\\[1mm]&#10;One typically assumes that the epidemic is on faster time-scales than birth-/ death processes such that by ignoring these effects, the dynamics become:&#10;\begin{eqnarray*}&#10;\dot{x} &amp; = &amp; - \alpha x y \qquad \text{with proportionality constant $\alpha &gt; 0$},\\[1mm]&#10;\dot{y} &amp; = &amp; \beta x y \qquad \text{with proportionality constant $\beta &gt; 0$},&#10;\end{eqnarray*}&#10;where $x \geq 0$ denots the susceptible population and $y \geq 0$ the infected population.\\[2mm]&#10;We have that $\dot{x} \leq 0$ and $\dot{y} \geq 0$ such that&#10;\begin{itemize}&#10;\item the $x$ population declines until $x = 0$ or $y = 0$, and&#10;\item the $y$ population increases until $x = 0$ or $y = 0$ (which cannot happen).&#10;\end{itemize}&#10;}}&#10;\end{minipage}&#10;\end{document}"/>
  <p:tag name="IGUANATEXSIZE" val="20"/>
  <p:tag name="IGUANATEXCURSOR" val="863"/>
  <p:tag name="TRANSPARENCY" val="Wahr"/>
  <p:tag name="LATEXENGINEID" val="0"/>
  <p:tag name="TEMPFOLDER" val="c:\temp\"/>
  <p:tag name="LATEXFORMHEIGHT" val="482,25"/>
  <p:tag name="LATEXFORMWIDTH" val="1030,5"/>
  <p:tag name="LATEXFORMWRAP" val="Wahr"/>
  <p:tag name="BITMAPVECTOR" val="0"/>
</p:tagLst>
</file>

<file path=ppt/theme/theme1.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rnd" cmpd="sng" algn="ctr">
          <a:solidFill>
            <a:schemeClr val="phClr">
              <a:shade val="95000"/>
              <a:satMod val="105000"/>
            </a:schemeClr>
          </a:solidFill>
          <a:prstDash val="solid"/>
        </a:ln>
        <a:ln w="25400" cap="rnd" cmpd="sng" algn="ctr">
          <a:solidFill>
            <a:schemeClr val="phClr"/>
          </a:solidFill>
          <a:prstDash val="solid"/>
        </a:ln>
        <a:ln w="38100" cap="rnd" cmpd="sng" algn="ctr">
          <a:solidFill>
            <a:schemeClr val="phClr"/>
          </a:solidFill>
          <a:prstDash val="solid"/>
        </a:ln>
      </a:lnStyleLst>
      <a:effectStyleLst>
        <a:effectStyle>
          <a:effectLst>
            <a:outerShdw blurRad="40000" dist="20000" dir="5400000">
              <a:srgbClr val="000000">
                <a:alpha val="38000"/>
              </a:srgbClr>
            </a:outerShdw>
          </a:effectLst>
        </a:effectStyle>
        <a:effectStyle>
          <a:effectLst>
            <a:outerShdw blurRad="40000" dist="23000" dir="5400000">
              <a:srgbClr val="000000">
                <a:alpha val="35000"/>
              </a:srgbClr>
            </a:outerShdw>
          </a:effectLst>
        </a:effectStyle>
        <a:effectStyle>
          <a:effectLst>
            <a:outerShdw blurRad="40000" dist="23000" dir="540000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60000" r="100000" b="200000"/>
          </a:path>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2.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3723</Words>
  <Application>Microsoft Office PowerPoint</Application>
  <PresentationFormat>Bildschirmpräsentation (16:9)</PresentationFormat>
  <Paragraphs>516</Paragraphs>
  <Slides>47</Slides>
  <Notes>3</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47</vt:i4>
      </vt:variant>
    </vt:vector>
  </HeadingPairs>
  <TitlesOfParts>
    <vt:vector size="52" baseType="lpstr">
      <vt:lpstr>Arial</vt:lpstr>
      <vt:lpstr>Courier New</vt:lpstr>
      <vt:lpstr>Symbol</vt:lpstr>
      <vt:lpstr>Calibri</vt:lpstr>
      <vt:lpstr>Larissa-Design</vt:lpstr>
      <vt:lpstr>Computational Biomathematics</vt:lpstr>
      <vt:lpstr>Our interdisciplinary course combines several modeling and analysis approaches to obtain tangible simulations of biological dynamics</vt:lpstr>
      <vt:lpstr>The two standard ways of doing science are the methods of deduction and induction …</vt:lpstr>
      <vt:lpstr>… and with the advent of highly performing computers, simulation adds as a third way</vt:lpstr>
      <vt:lpstr>One may indeed argue that simulation or agent based modeling is a third way of doing science in addition to deduction and induction</vt:lpstr>
      <vt:lpstr>PowerPoint-Präsentation</vt:lpstr>
      <vt:lpstr>A successful model is accurate, predictive, reusable, and parsimonious</vt:lpstr>
      <vt:lpstr>The first step (of the iterative modeling process) is to focus on relevant aspects and formulate a conceptual model </vt:lpstr>
      <vt:lpstr>The polish mathematician Georg Polya formulated a comprehensive framework for an iterative problem-solving process</vt:lpstr>
      <vt:lpstr>The mathematical modeling process (Applied Mathematics)</vt:lpstr>
      <vt:lpstr>The modeling and simulation process (Computer Science)</vt:lpstr>
      <vt:lpstr>The mathematical modeling and simulation process (our understanding: joining forces)</vt:lpstr>
      <vt:lpstr>To ensure the credibility of the model, we use model qualification, verification, and validation</vt:lpstr>
      <vt:lpstr>PowerPoint-Präsentation</vt:lpstr>
      <vt:lpstr>The adoption of new ideas or the infection with a disease can be considered of resulting from an interaction between two individuals</vt:lpstr>
      <vt:lpstr>Example: Agent based modelling the diffusion of ideas or diseases</vt:lpstr>
      <vt:lpstr>Example: Agent based modelling the diffusion of ideas or diseases</vt:lpstr>
      <vt:lpstr>Example: Agent based modelling the diffusion of ideas or diseases</vt:lpstr>
      <vt:lpstr>Example: Agent based modelling the diffusion of ideas or diseases</vt:lpstr>
      <vt:lpstr>Example: Agent based modelling the diffusion of ideas or diseases</vt:lpstr>
      <vt:lpstr>Example: Agent based modelling the diffusion of ideas or diseases</vt:lpstr>
      <vt:lpstr>Example: Agent based modelling the diffusion of ideas or diseases</vt:lpstr>
      <vt:lpstr>Example: Agent based modelling the diffusion of ideas or diseases</vt:lpstr>
      <vt:lpstr>Example: Agent based modelling the diffusion of ideas or diseases</vt:lpstr>
      <vt:lpstr>PowerPoint-Präsentation</vt:lpstr>
      <vt:lpstr>The field of mathematics is more fragmented than we typically view it</vt:lpstr>
      <vt:lpstr>The diffusion of ideas or pandemics can be described in terms of different modeling approaches</vt:lpstr>
      <vt:lpstr>First, we have agent-based modeling (our standard way so far)</vt:lpstr>
      <vt:lpstr>Example: Agent based modeling for the diffusion of ideas or diseases </vt:lpstr>
      <vt:lpstr>Moreover, we have chemical reaction kinetics, …</vt:lpstr>
      <vt:lpstr>… or Markovian birth and death processes that describe the transitions between discrete states by means of transfer operators </vt:lpstr>
      <vt:lpstr>Example: The previous diffusion of ideas example interpreted as a Markov chain</vt:lpstr>
      <vt:lpstr>Example: The previous diffusion of ideas example interpreted as a Markov chain</vt:lpstr>
      <vt:lpstr>Example: The previous diffusion of ideas example interpreted as a Markov chain</vt:lpstr>
      <vt:lpstr>Example: The previous diffusion of ideas example interpreted as a Markov chain</vt:lpstr>
      <vt:lpstr>Finally, we have rate of change equations </vt:lpstr>
      <vt:lpstr>Example: SI-dynamics by ODEs</vt:lpstr>
      <vt:lpstr>PowerPoint-Präsentation</vt:lpstr>
      <vt:lpstr>How trustworthy are AI tools? 1) AI is not learning data as we do</vt:lpstr>
      <vt:lpstr>How trustworthy are AI tools? 2a) False information based on (uncontrolled) input data</vt:lpstr>
      <vt:lpstr>How trustworthy are AI tools? 2b) False information and toxicity</vt:lpstr>
      <vt:lpstr>When using AI, there are some rules of conduct that need to be kept in mind (1/ 2)</vt:lpstr>
      <vt:lpstr>When using AI, there are some rules of conduct that need to be kept in mind (2/ 2)</vt:lpstr>
      <vt:lpstr>Generating text: Some acceptable applications of AI in academia and industry …</vt:lpstr>
      <vt:lpstr>… and some not acceptable ones (i.e., AI tools that put your academic reputation and career at risk)</vt:lpstr>
      <vt:lpstr>Two aspects to avoid legal issues: checking for plagiarism and being transparent in AI use</vt:lpstr>
      <vt:lpstr>Computational Biomathematics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creator>Florian</dc:creator>
  <cp:lastModifiedBy>Florian Rupp</cp:lastModifiedBy>
  <cp:revision>227</cp:revision>
  <dcterms:created xsi:type="dcterms:W3CDTF">2020-04-04T18:50:50Z</dcterms:created>
  <dcterms:modified xsi:type="dcterms:W3CDTF">2026-04-11T16:50:47Z</dcterms:modified>
</cp:coreProperties>
</file>
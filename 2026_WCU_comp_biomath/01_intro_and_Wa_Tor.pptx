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2.xml" ContentType="application/vnd.openxmlformats-officedocument.theme+xml"/>
  <Override PartName="/ppt/tags/tag29.xml" ContentType="application/vnd.openxmlformats-officedocument.presentationml.tags+xml"/>
  <Override PartName="/ppt/tags/tag30.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0"/>
  </p:notesMasterIdLst>
  <p:sldIdLst>
    <p:sldId id="410" r:id="rId2"/>
    <p:sldId id="444" r:id="rId3"/>
    <p:sldId id="445" r:id="rId4"/>
    <p:sldId id="348" r:id="rId5"/>
    <p:sldId id="349" r:id="rId6"/>
    <p:sldId id="426" r:id="rId7"/>
    <p:sldId id="493" r:id="rId8"/>
    <p:sldId id="459" r:id="rId9"/>
    <p:sldId id="492" r:id="rId10"/>
    <p:sldId id="452" r:id="rId11"/>
    <p:sldId id="427" r:id="rId12"/>
    <p:sldId id="387" r:id="rId13"/>
    <p:sldId id="478" r:id="rId14"/>
    <p:sldId id="479" r:id="rId15"/>
    <p:sldId id="320" r:id="rId16"/>
    <p:sldId id="480" r:id="rId17"/>
    <p:sldId id="456" r:id="rId18"/>
    <p:sldId id="476" r:id="rId19"/>
    <p:sldId id="384" r:id="rId20"/>
    <p:sldId id="481" r:id="rId21"/>
    <p:sldId id="469" r:id="rId22"/>
    <p:sldId id="472" r:id="rId23"/>
    <p:sldId id="471" r:id="rId24"/>
    <p:sldId id="482" r:id="rId25"/>
    <p:sldId id="483" r:id="rId26"/>
    <p:sldId id="474" r:id="rId27"/>
    <p:sldId id="477" r:id="rId28"/>
    <p:sldId id="460" r:id="rId29"/>
    <p:sldId id="462" r:id="rId30"/>
    <p:sldId id="464" r:id="rId31"/>
    <p:sldId id="455" r:id="rId32"/>
    <p:sldId id="401" r:id="rId33"/>
    <p:sldId id="345" r:id="rId34"/>
    <p:sldId id="391" r:id="rId35"/>
    <p:sldId id="347" r:id="rId36"/>
    <p:sldId id="392" r:id="rId37"/>
    <p:sldId id="402" r:id="rId38"/>
    <p:sldId id="393" r:id="rId39"/>
    <p:sldId id="488" r:id="rId40"/>
    <p:sldId id="484" r:id="rId41"/>
    <p:sldId id="485" r:id="rId42"/>
    <p:sldId id="457" r:id="rId43"/>
    <p:sldId id="486" r:id="rId44"/>
    <p:sldId id="487" r:id="rId45"/>
    <p:sldId id="489" r:id="rId46"/>
    <p:sldId id="490" r:id="rId47"/>
    <p:sldId id="491" r:id="rId48"/>
    <p:sldId id="411" r:id="rId49"/>
  </p:sldIdLst>
  <p:sldSz cx="9144000" cy="5143500" type="screen16x9"/>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2017" autoAdjust="0"/>
    <p:restoredTop sz="97356" autoAdjust="0"/>
  </p:normalViewPr>
  <p:slideViewPr>
    <p:cSldViewPr>
      <p:cViewPr varScale="1">
        <p:scale>
          <a:sx n="86" d="100"/>
          <a:sy n="86" d="100"/>
        </p:scale>
        <p:origin x="366" y="84"/>
      </p:cViewPr>
      <p:guideLst>
        <p:guide orient="horz" pos="162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95D514-7346-4F82-AE13-C6D6741739D2}" type="datetimeFigureOut">
              <a:rPr lang="en-US" smtClean="0"/>
              <a:t>4/6/2026</a:t>
            </a:fld>
            <a:endParaRPr lang="en-US"/>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EF3066-70EE-4F3C-99F9-465CA6AFB6FD}" type="slidenum">
              <a:rPr lang="en-US" smtClean="0"/>
              <a:t>‹Nr.›</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A6EF3066-70EE-4F3C-99F9-465CA6AFB6FD}" type="slidenum">
              <a:rPr lang="en-US" smtClean="0"/>
              <a:t>41</a:t>
            </a:fld>
            <a:endParaRPr lang="en-US"/>
          </a:p>
        </p:txBody>
      </p:sp>
    </p:spTree>
    <p:extLst>
      <p:ext uri="{BB962C8B-B14F-4D97-AF65-F5344CB8AC3E}">
        <p14:creationId xmlns:p14="http://schemas.microsoft.com/office/powerpoint/2010/main" val="154639217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4.jpe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3.jpeg"/><Relationship Id="rId17" Type="http://schemas.openxmlformats.org/officeDocument/2006/relationships/image" Target="../media/image8.jpeg"/><Relationship Id="rId2" Type="http://schemas.openxmlformats.org/officeDocument/2006/relationships/tags" Target="../tags/tag2.xml"/><Relationship Id="rId16" Type="http://schemas.openxmlformats.org/officeDocument/2006/relationships/image" Target="../media/image7.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2.jpeg"/><Relationship Id="rId5" Type="http://schemas.openxmlformats.org/officeDocument/2006/relationships/tags" Target="../tags/tag5.xml"/><Relationship Id="rId15" Type="http://schemas.openxmlformats.org/officeDocument/2006/relationships/image" Target="../media/image6.jpeg"/><Relationship Id="rId10"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image" Target="../media/image11.jpeg"/><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image" Target="../media/image10.jpe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9.jpeg"/><Relationship Id="rId5" Type="http://schemas.openxmlformats.org/officeDocument/2006/relationships/tags" Target="../tags/tag14.xml"/><Relationship Id="rId15" Type="http://schemas.openxmlformats.org/officeDocument/2006/relationships/image" Target="../media/image13.jpeg"/><Relationship Id="rId10"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image" Target="../media/image12.jpeg"/></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image" Target="../media/image3.jpeg"/><Relationship Id="rId18" Type="http://schemas.openxmlformats.org/officeDocument/2006/relationships/image" Target="../media/image8.jpe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media/image2.jpeg"/><Relationship Id="rId17" Type="http://schemas.openxmlformats.org/officeDocument/2006/relationships/image" Target="../media/image7.png"/><Relationship Id="rId2" Type="http://schemas.openxmlformats.org/officeDocument/2006/relationships/tags" Target="../tags/tag20.xml"/><Relationship Id="rId16" Type="http://schemas.openxmlformats.org/officeDocument/2006/relationships/image" Target="../media/image6.jpe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slideMaster" Target="../slideMasters/slideMaster1.xml"/><Relationship Id="rId5" Type="http://schemas.openxmlformats.org/officeDocument/2006/relationships/tags" Target="../tags/tag23.xml"/><Relationship Id="rId15" Type="http://schemas.openxmlformats.org/officeDocument/2006/relationships/image" Target="../media/image5.jpeg"/><Relationship Id="rId10" Type="http://schemas.openxmlformats.org/officeDocument/2006/relationships/tags" Target="../tags/tag28.xml"/><Relationship Id="rId19" Type="http://schemas.openxmlformats.org/officeDocument/2006/relationships/image" Target="../media/image14.jpeg"/><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pic>
        <p:nvPicPr>
          <p:cNvPr id="9" name="Picture 8" descr="https://cdn.pixabay.com/photo/2016/04/13/19/23/binary-1327501_960_720.jpg"/>
          <p:cNvPicPr>
            <a:picLocks noChangeAspect="1" noChangeArrowheads="1"/>
          </p:cNvPicPr>
          <p:nvPr/>
        </p:nvPicPr>
        <p:blipFill>
          <a:blip r:embed="rId11" cstate="print"/>
          <a:srcRect/>
          <a:stretch>
            <a:fillRect/>
          </a:stretch>
        </p:blipFill>
        <p:spPr bwMode="auto">
          <a:xfrm>
            <a:off x="395536" y="0"/>
            <a:ext cx="2828754" cy="1152128"/>
          </a:xfrm>
          <a:prstGeom prst="rect">
            <a:avLst/>
          </a:prstGeom>
          <a:noFill/>
        </p:spPr>
      </p:pic>
      <p:grpSp>
        <p:nvGrpSpPr>
          <p:cNvPr id="28" name="Gruppieren 27"/>
          <p:cNvGrpSpPr/>
          <p:nvPr userDrawn="1"/>
        </p:nvGrpSpPr>
        <p:grpSpPr>
          <a:xfrm>
            <a:off x="3059832" y="0"/>
            <a:ext cx="3312368" cy="1152525"/>
            <a:chOff x="3059832" y="0"/>
            <a:chExt cx="3312368" cy="1152525"/>
          </a:xfrm>
        </p:grpSpPr>
        <p:pic>
          <p:nvPicPr>
            <p:cNvPr id="10244"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27" name="Gruppieren 26"/>
            <p:cNvGrpSpPr/>
            <p:nvPr userDrawn="1"/>
          </p:nvGrpSpPr>
          <p:grpSpPr>
            <a:xfrm>
              <a:off x="4427984" y="0"/>
              <a:ext cx="1944216" cy="1152525"/>
              <a:chOff x="4427984" y="0"/>
              <a:chExt cx="1944216" cy="1152525"/>
            </a:xfrm>
          </p:grpSpPr>
          <p:pic>
            <p:nvPicPr>
              <p:cNvPr id="1024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2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26"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2" name="Titel 1"/>
          <p:cNvSpPr>
            <a:spLocks noGrp="1"/>
          </p:cNvSpPr>
          <p:nvPr userDrawn="1">
            <p:ph type="ctrTitle"/>
          </p:nvPr>
        </p:nvSpPr>
        <p:spPr>
          <a:xfrm>
            <a:off x="685800" y="1347614"/>
            <a:ext cx="7772400"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3" name="Untertitel 2"/>
          <p:cNvSpPr>
            <a:spLocks noGrp="1"/>
          </p:cNvSpPr>
          <p:nvPr userDrawn="1">
            <p:ph type="subTitle" idx="1"/>
          </p:nvPr>
        </p:nvSpPr>
        <p:spPr>
          <a:xfrm>
            <a:off x="1371600" y="2355726"/>
            <a:ext cx="6400800" cy="1314450"/>
          </a:xfrm>
          <a:prstGeom prst="rect">
            <a:avLst/>
          </a:prstGeom>
        </p:spPr>
        <p:txBody>
          <a:bodyPr/>
          <a:lstStyle>
            <a:lvl1pPr marL="0" indent="0" algn="ctr">
              <a:buNone/>
              <a:defRPr sz="1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Formatvorlage des Untertitelmasters durch Klicken bearbeiten</a:t>
            </a:r>
          </a:p>
        </p:txBody>
      </p:sp>
      <p:sp>
        <p:nvSpPr>
          <p:cNvPr id="13" name="Textfeld 12"/>
          <p:cNvSpPr txBox="1"/>
          <p:nvPr userDrawn="1">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4" name="Freihandform 13"/>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Parallelogramm 16"/>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Parallelogramm 17"/>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Freihandform 18"/>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Freihandform 19"/>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1" name="Rechteck 20"/>
          <p:cNvSpPr/>
          <p:nvPr userDrawn="1">
            <p:custDataLst>
              <p:tags r:id="rId9"/>
            </p:custDataLst>
          </p:nvPr>
        </p:nvSpPr>
        <p:spPr>
          <a:xfrm>
            <a:off x="795" y="648469"/>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2" name="Rectangle 3"/>
          <p:cNvSpPr txBox="1">
            <a:spLocks noChangeArrowheads="1"/>
          </p:cNvSpPr>
          <p:nvPr userDrawn="1"/>
        </p:nvSpPr>
        <p:spPr bwMode="auto">
          <a:xfrm>
            <a:off x="845840" y="4240838"/>
            <a:ext cx="7452320" cy="851192"/>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p>
            <a:pPr lvl="0" algn="ctr">
              <a:spcBef>
                <a:spcPct val="20000"/>
              </a:spcBef>
              <a:defRPr/>
            </a:pPr>
            <a:r>
              <a:rPr lang="en-US" sz="1400" b="1" kern="0" dirty="0">
                <a:latin typeface="+mn-lt"/>
              </a:rPr>
              <a:t>Prof. Dr. Dr. </a:t>
            </a:r>
            <a:r>
              <a:rPr lang="en-US" sz="1400" b="1" kern="0" dirty="0" err="1">
                <a:latin typeface="+mn-lt"/>
              </a:rPr>
              <a:t>h.c</a:t>
            </a:r>
            <a:r>
              <a:rPr lang="en-US" sz="1400" b="1" kern="0" dirty="0">
                <a:latin typeface="+mn-lt"/>
              </a:rPr>
              <a:t>. Florian Rupp</a:t>
            </a:r>
            <a:endParaRPr kumimoji="0" lang="en-US" sz="1400" b="1" i="0" u="none" strike="noStrike" kern="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endParaRPr lang="en-US" sz="500" dirty="0"/>
          </a:p>
          <a:p>
            <a:pPr algn="ctr" eaLnBrk="1" hangingPunct="1"/>
            <a:r>
              <a:rPr lang="en-US" sz="1400" baseline="0" dirty="0"/>
              <a:t>Western Caspian University &amp; </a:t>
            </a:r>
            <a:r>
              <a:rPr lang="en-US" sz="1400" dirty="0"/>
              <a:t>Kutaisi International</a:t>
            </a:r>
            <a:r>
              <a:rPr lang="en-US" sz="1400" baseline="0" dirty="0"/>
              <a:t> University</a:t>
            </a:r>
            <a:endParaRPr lang="en-US" sz="1400" dirty="0"/>
          </a:p>
        </p:txBody>
      </p:sp>
      <p:pic>
        <p:nvPicPr>
          <p:cNvPr id="24" name="Grafik 23" descr="index.png"/>
          <p:cNvPicPr>
            <a:picLocks noChangeAspect="1"/>
          </p:cNvPicPr>
          <p:nvPr userDrawn="1"/>
        </p:nvPicPr>
        <p:blipFill>
          <a:blip r:embed="rId16" cstate="print"/>
          <a:stretch>
            <a:fillRect/>
          </a:stretch>
        </p:blipFill>
        <p:spPr>
          <a:xfrm>
            <a:off x="179513" y="4437868"/>
            <a:ext cx="1872207" cy="582154"/>
          </a:xfrm>
          <a:prstGeom prst="rect">
            <a:avLst/>
          </a:prstGeom>
        </p:spPr>
      </p:pic>
      <p:pic>
        <p:nvPicPr>
          <p:cNvPr id="27650" name="Picture 2" descr="https://www.iau-hesd.net/sites/default/files/styles/medium/public/media_logo/western_caspian_university.jpg?itok=s4WTrk6k"/>
          <p:cNvPicPr>
            <a:picLocks noChangeAspect="1" noChangeArrowheads="1"/>
          </p:cNvPicPr>
          <p:nvPr userDrawn="1"/>
        </p:nvPicPr>
        <p:blipFill>
          <a:blip r:embed="rId17" cstate="print"/>
          <a:srcRect/>
          <a:stretch>
            <a:fillRect/>
          </a:stretch>
        </p:blipFill>
        <p:spPr bwMode="auto">
          <a:xfrm>
            <a:off x="251520" y="3219822"/>
            <a:ext cx="1013731" cy="1054898"/>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0" name="Rechteck 19"/>
          <p:cNvSpPr/>
          <p:nvPr userDrawn="1"/>
        </p:nvSpPr>
        <p:spPr>
          <a:xfrm>
            <a:off x="6084168" y="0"/>
            <a:ext cx="3059832" cy="810000"/>
          </a:xfrm>
          <a:prstGeom prst="rect">
            <a:avLst/>
          </a:prstGeom>
          <a:solidFill>
            <a:schemeClr val="tx2"/>
          </a:solidFill>
          <a:ln w="25400" cap="rnd"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1"/>
            </p:custDataLst>
          </p:nvPr>
        </p:nvSpPr>
        <p:spPr>
          <a:xfrm>
            <a:off x="560" y="456093"/>
            <a:ext cx="9143440" cy="354739"/>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nvGrpSpPr>
          <p:cNvPr id="43" name="Gruppieren 42"/>
          <p:cNvGrpSpPr/>
          <p:nvPr userDrawn="1"/>
        </p:nvGrpSpPr>
        <p:grpSpPr>
          <a:xfrm>
            <a:off x="0" y="0"/>
            <a:ext cx="6444207" cy="811112"/>
            <a:chOff x="0" y="0"/>
            <a:chExt cx="9156701" cy="1152525"/>
          </a:xfrm>
        </p:grpSpPr>
        <p:pic>
          <p:nvPicPr>
            <p:cNvPr id="28" name="Picture 8" descr="https://cdn.pixabay.com/photo/2016/04/13/19/23/binary-1327501_960_720.jpg"/>
            <p:cNvPicPr>
              <a:picLocks noChangeAspect="1" noChangeArrowheads="1"/>
            </p:cNvPicPr>
            <p:nvPr userDrawn="1"/>
          </p:nvPicPr>
          <p:blipFill>
            <a:blip r:embed="rId11" cstate="print"/>
            <a:srcRect/>
            <a:stretch>
              <a:fillRect/>
            </a:stretch>
          </p:blipFill>
          <p:spPr bwMode="auto">
            <a:xfrm>
              <a:off x="395536" y="0"/>
              <a:ext cx="2828754" cy="1152128"/>
            </a:xfrm>
            <a:prstGeom prst="rect">
              <a:avLst/>
            </a:prstGeom>
            <a:noFill/>
          </p:spPr>
        </p:pic>
        <p:grpSp>
          <p:nvGrpSpPr>
            <p:cNvPr id="29" name="Gruppieren 28"/>
            <p:cNvGrpSpPr/>
            <p:nvPr userDrawn="1"/>
          </p:nvGrpSpPr>
          <p:grpSpPr>
            <a:xfrm>
              <a:off x="3059832" y="0"/>
              <a:ext cx="3312368" cy="1152525"/>
              <a:chOff x="3059832" y="0"/>
              <a:chExt cx="3312368" cy="1152525"/>
            </a:xfrm>
          </p:grpSpPr>
          <p:pic>
            <p:nvPicPr>
              <p:cNvPr id="30"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31" name="Gruppieren 26"/>
              <p:cNvGrpSpPr/>
              <p:nvPr userDrawn="1"/>
            </p:nvGrpSpPr>
            <p:grpSpPr>
              <a:xfrm>
                <a:off x="4427984" y="0"/>
                <a:ext cx="1944216" cy="1152525"/>
                <a:chOff x="4427984" y="0"/>
                <a:chExt cx="1944216" cy="1152525"/>
              </a:xfrm>
            </p:grpSpPr>
            <p:pic>
              <p:nvPicPr>
                <p:cNvPr id="3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3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34"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35" name="Freihandform 34"/>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6" name="Parallelogramm 35"/>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7" name="Parallelogramm 36"/>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8" name="Parallelogramm 37"/>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9" name="Parallelogramm 38"/>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0" name="Freihandform 39"/>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1" name="Freihandform 40"/>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2" name="Rechteck 41"/>
            <p:cNvSpPr/>
            <p:nvPr userDrawn="1">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21"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Leer">
    <p:spTree>
      <p:nvGrpSpPr>
        <p:cNvPr id="1" name=""/>
        <p:cNvGrpSpPr/>
        <p:nvPr/>
      </p:nvGrpSpPr>
      <p:grpSpPr>
        <a:xfrm>
          <a:off x="0" y="0"/>
          <a:ext cx="0" cy="0"/>
          <a:chOff x="0" y="0"/>
          <a:chExt cx="0" cy="0"/>
        </a:xfrm>
      </p:grpSpPr>
      <p:pic>
        <p:nvPicPr>
          <p:cNvPr id="7" name="Picture 8" descr="https://cdn.pixabay.com/photo/2016/04/13/19/23/binary-1327501_960_720.jpg"/>
          <p:cNvPicPr>
            <a:picLocks noChangeAspect="1" noChangeArrowheads="1"/>
          </p:cNvPicPr>
          <p:nvPr/>
        </p:nvPicPr>
        <p:blipFill>
          <a:blip r:embed="rId12" cstate="print"/>
          <a:srcRect/>
          <a:stretch>
            <a:fillRect/>
          </a:stretch>
        </p:blipFill>
        <p:spPr bwMode="auto">
          <a:xfrm>
            <a:off x="395536" y="0"/>
            <a:ext cx="2828754" cy="1152128"/>
          </a:xfrm>
          <a:prstGeom prst="rect">
            <a:avLst/>
          </a:prstGeom>
          <a:noFill/>
        </p:spPr>
      </p:pic>
      <p:grpSp>
        <p:nvGrpSpPr>
          <p:cNvPr id="26" name="Gruppieren 25"/>
          <p:cNvGrpSpPr/>
          <p:nvPr userDrawn="1"/>
        </p:nvGrpSpPr>
        <p:grpSpPr>
          <a:xfrm>
            <a:off x="3059832" y="0"/>
            <a:ext cx="3312368" cy="1152525"/>
            <a:chOff x="3059832" y="0"/>
            <a:chExt cx="3312368" cy="1152525"/>
          </a:xfrm>
        </p:grpSpPr>
        <p:pic>
          <p:nvPicPr>
            <p:cNvPr id="27"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3" cstate="print"/>
            <a:srcRect/>
            <a:stretch>
              <a:fillRect/>
            </a:stretch>
          </p:blipFill>
          <p:spPr bwMode="auto">
            <a:xfrm>
              <a:off x="3059832" y="0"/>
              <a:ext cx="1728192" cy="1152128"/>
            </a:xfrm>
            <a:prstGeom prst="rect">
              <a:avLst/>
            </a:prstGeom>
            <a:noFill/>
          </p:spPr>
        </p:pic>
        <p:grpSp>
          <p:nvGrpSpPr>
            <p:cNvPr id="28" name="Gruppieren 26"/>
            <p:cNvGrpSpPr/>
            <p:nvPr userDrawn="1"/>
          </p:nvGrpSpPr>
          <p:grpSpPr>
            <a:xfrm>
              <a:off x="4427984" y="0"/>
              <a:ext cx="1944216" cy="1152525"/>
              <a:chOff x="4427984" y="0"/>
              <a:chExt cx="1944216" cy="1152525"/>
            </a:xfrm>
          </p:grpSpPr>
          <p:pic>
            <p:nvPicPr>
              <p:cNvPr id="29" name="Picture 2" descr="Banner, Header, Mathematik, Formel, Physik, Schule"/>
              <p:cNvPicPr>
                <a:picLocks noChangeAspect="1" noChangeArrowheads="1"/>
              </p:cNvPicPr>
              <p:nvPr userDrawn="1"/>
            </p:nvPicPr>
            <p:blipFill>
              <a:blip r:embed="rId14" cstate="print"/>
              <a:srcRect/>
              <a:stretch>
                <a:fillRect/>
              </a:stretch>
            </p:blipFill>
            <p:spPr bwMode="auto">
              <a:xfrm>
                <a:off x="4427984" y="0"/>
                <a:ext cx="1944216" cy="267494"/>
              </a:xfrm>
              <a:prstGeom prst="rect">
                <a:avLst/>
              </a:prstGeom>
              <a:noFill/>
            </p:spPr>
          </p:pic>
          <p:pic>
            <p:nvPicPr>
              <p:cNvPr id="30" name="Picture 2" descr="Banner, Header, Mathematik, Formel, Physik, Schule"/>
              <p:cNvPicPr>
                <a:picLocks noChangeAspect="1" noChangeArrowheads="1"/>
              </p:cNvPicPr>
              <p:nvPr userDrawn="1"/>
            </p:nvPicPr>
            <p:blipFill>
              <a:blip r:embed="rId15" cstate="print"/>
              <a:srcRect/>
              <a:stretch>
                <a:fillRect/>
              </a:stretch>
            </p:blipFill>
            <p:spPr bwMode="auto">
              <a:xfrm>
                <a:off x="4572000" y="267494"/>
                <a:ext cx="1656184" cy="432048"/>
              </a:xfrm>
              <a:prstGeom prst="rect">
                <a:avLst/>
              </a:prstGeom>
              <a:noFill/>
            </p:spPr>
          </p:pic>
          <p:pic>
            <p:nvPicPr>
              <p:cNvPr id="31" name="Picture 2" descr="Banner, Header, Mathematik, Formel, Physik, Schule"/>
              <p:cNvPicPr>
                <a:picLocks noChangeAspect="1" noChangeArrowheads="1"/>
              </p:cNvPicPr>
              <p:nvPr userDrawn="1"/>
            </p:nvPicPr>
            <p:blipFill>
              <a:blip r:embed="rId16" cstate="print"/>
              <a:srcRect/>
              <a:stretch>
                <a:fillRect/>
              </a:stretch>
            </p:blipFill>
            <p:spPr bwMode="auto">
              <a:xfrm>
                <a:off x="4716016" y="689073"/>
                <a:ext cx="1368152" cy="463452"/>
              </a:xfrm>
              <a:prstGeom prst="rect">
                <a:avLst/>
              </a:prstGeom>
              <a:noFill/>
            </p:spPr>
          </p:pic>
        </p:grpSp>
      </p:grpSp>
      <p:sp>
        <p:nvSpPr>
          <p:cNvPr id="24" name="Rechteck 23"/>
          <p:cNvSpPr/>
          <p:nvPr userDrawn="1"/>
        </p:nvSpPr>
        <p:spPr>
          <a:xfrm>
            <a:off x="179512" y="1275606"/>
            <a:ext cx="3240360" cy="37444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feld 10"/>
          <p:cNvSpPr txBox="1"/>
          <p:nvPr>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2" name="Freihandform 11"/>
          <p:cNvSpPr/>
          <p:nvPr>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3" name="Parallelogramm 12"/>
          <p:cNvSpPr/>
          <p:nvPr>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Parallelogramm 13"/>
          <p:cNvSpPr/>
          <p:nvPr>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Freihandform 16"/>
          <p:cNvSpPr/>
          <p:nvPr>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Freihandform 17"/>
          <p:cNvSpPr/>
          <p:nvPr>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Titel 1"/>
          <p:cNvSpPr>
            <a:spLocks noGrp="1"/>
          </p:cNvSpPr>
          <p:nvPr userDrawn="1">
            <p:ph type="ctrTitle"/>
          </p:nvPr>
        </p:nvSpPr>
        <p:spPr>
          <a:xfrm>
            <a:off x="3851920" y="1275606"/>
            <a:ext cx="5112568"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23" name="Rectangle 5"/>
          <p:cNvSpPr>
            <a:spLocks noChangeArrowheads="1"/>
          </p:cNvSpPr>
          <p:nvPr userDrawn="1">
            <p:custDataLst>
              <p:tags r:id="rId10"/>
            </p:custDataLst>
          </p:nvPr>
        </p:nvSpPr>
        <p:spPr bwMode="auto">
          <a:xfrm>
            <a:off x="4752020" y="4299942"/>
            <a:ext cx="3240360" cy="720080"/>
          </a:xfrm>
          <a:prstGeom prst="rect">
            <a:avLst/>
          </a:prstGeom>
          <a:noFill/>
          <a:ln w="9525">
            <a:noFill/>
            <a:miter lim="800000"/>
            <a:headEnd/>
            <a:tailEnd/>
          </a:ln>
        </p:spPr>
        <p:txBody>
          <a:bodyPr anchor="b"/>
          <a:lstStyle/>
          <a:p>
            <a:pPr algn="ctr">
              <a:spcBef>
                <a:spcPct val="20000"/>
              </a:spcBef>
            </a:pPr>
            <a:endParaRPr lang="en-US" sz="1400" dirty="0"/>
          </a:p>
        </p:txBody>
      </p:sp>
      <p:sp>
        <p:nvSpPr>
          <p:cNvPr id="25" name="Textfeld 24"/>
          <p:cNvSpPr txBox="1"/>
          <p:nvPr userDrawn="1"/>
        </p:nvSpPr>
        <p:spPr>
          <a:xfrm>
            <a:off x="3851920" y="2355726"/>
            <a:ext cx="5040560" cy="1631216"/>
          </a:xfrm>
          <a:prstGeom prst="rect">
            <a:avLst/>
          </a:prstGeom>
          <a:noFill/>
        </p:spPr>
        <p:txBody>
          <a:bodyPr wrap="square" rtlCol="0">
            <a:spAutoFit/>
          </a:bodyPr>
          <a:lstStyle/>
          <a:p>
            <a:pPr algn="ctr"/>
            <a:r>
              <a:rPr lang="en-US" sz="2000" dirty="0"/>
              <a:t>Questions &amp; Remarks?</a:t>
            </a:r>
          </a:p>
          <a:p>
            <a:pPr algn="ctr"/>
            <a:endParaRPr lang="en-US" sz="2000" dirty="0"/>
          </a:p>
          <a:p>
            <a:pPr algn="ctr"/>
            <a:endParaRPr lang="en-US" sz="2000" dirty="0"/>
          </a:p>
          <a:p>
            <a:pPr algn="ctr"/>
            <a:endParaRPr lang="en-US" sz="2000" dirty="0"/>
          </a:p>
          <a:p>
            <a:pPr algn="ctr"/>
            <a:r>
              <a:rPr lang="en-US" sz="2000" dirty="0"/>
              <a:t>Thank You Very Much</a:t>
            </a:r>
          </a:p>
        </p:txBody>
      </p:sp>
      <p:pic>
        <p:nvPicPr>
          <p:cNvPr id="22" name="Grafik 21" descr="index.png"/>
          <p:cNvPicPr>
            <a:picLocks noChangeAspect="1"/>
          </p:cNvPicPr>
          <p:nvPr userDrawn="1"/>
        </p:nvPicPr>
        <p:blipFill>
          <a:blip r:embed="rId17" cstate="print"/>
          <a:stretch>
            <a:fillRect/>
          </a:stretch>
        </p:blipFill>
        <p:spPr>
          <a:xfrm>
            <a:off x="3798963" y="4578133"/>
            <a:ext cx="1421109" cy="441887"/>
          </a:xfrm>
          <a:prstGeom prst="rect">
            <a:avLst/>
          </a:prstGeom>
        </p:spPr>
      </p:pic>
      <p:pic>
        <p:nvPicPr>
          <p:cNvPr id="32" name="Picture 2" descr="https://www.iau-hesd.net/sites/default/files/styles/medium/public/media_logo/western_caspian_university.jpg?itok=s4WTrk6k"/>
          <p:cNvPicPr>
            <a:picLocks noChangeAspect="1" noChangeArrowheads="1"/>
          </p:cNvPicPr>
          <p:nvPr userDrawn="1"/>
        </p:nvPicPr>
        <p:blipFill>
          <a:blip r:embed="rId18" cstate="print"/>
          <a:srcRect/>
          <a:stretch>
            <a:fillRect/>
          </a:stretch>
        </p:blipFill>
        <p:spPr bwMode="auto">
          <a:xfrm>
            <a:off x="3851920" y="3718029"/>
            <a:ext cx="720080" cy="749323"/>
          </a:xfrm>
          <a:prstGeom prst="rect">
            <a:avLst/>
          </a:prstGeom>
          <a:noFill/>
        </p:spPr>
      </p:pic>
      <p:pic>
        <p:nvPicPr>
          <p:cNvPr id="33" name="Picture 2" descr="https://avatars.mds.yandex.net/get-altay/11886651/2a0000018defa513b9203394e9330d10fd54/XXL_height"/>
          <p:cNvPicPr>
            <a:picLocks noChangeAspect="1" noChangeArrowheads="1"/>
          </p:cNvPicPr>
          <p:nvPr userDrawn="1"/>
        </p:nvPicPr>
        <p:blipFill>
          <a:blip r:embed="rId19" cstate="print"/>
          <a:srcRect l="11628" r="27907" b="6378"/>
          <a:stretch>
            <a:fillRect/>
          </a:stretch>
        </p:blipFill>
        <p:spPr bwMode="auto">
          <a:xfrm>
            <a:off x="251520" y="1347613"/>
            <a:ext cx="3096344" cy="3600401"/>
          </a:xfrm>
          <a:prstGeom prst="rect">
            <a:avLst/>
          </a:prstGeom>
          <a:noFill/>
          <a:effectLst>
            <a:softEdge rad="31750"/>
          </a:effec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
        <p:nvSpPr>
          <p:cNvPr id="7" name="Rectangle 7"/>
          <p:cNvSpPr>
            <a:spLocks noChangeArrowheads="1"/>
          </p:cNvSpPr>
          <p:nvPr userDrawn="1"/>
        </p:nvSpPr>
        <p:spPr bwMode="invGray">
          <a:xfrm>
            <a:off x="0" y="1"/>
            <a:ext cx="9144000" cy="815024"/>
          </a:xfrm>
          <a:prstGeom prst="rect">
            <a:avLst/>
          </a:prstGeom>
          <a:solidFill>
            <a:schemeClr val="tx2"/>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prst="coolSlant"/>
          </a:sp3d>
        </p:spPr>
        <p:txBody>
          <a:bodyPr wrap="none" anchor="ctr"/>
          <a:lstStyle/>
          <a:p>
            <a:pPr>
              <a:defRPr/>
            </a:pPr>
            <a:endParaRPr lang="de-DE"/>
          </a:p>
        </p:txBody>
      </p:sp>
      <p:sp>
        <p:nvSpPr>
          <p:cNvPr id="9" name="Abgerundetes Rechteck 8"/>
          <p:cNvSpPr/>
          <p:nvPr userDrawn="1"/>
        </p:nvSpPr>
        <p:spPr>
          <a:xfrm>
            <a:off x="118693" y="105507"/>
            <a:ext cx="667317" cy="598738"/>
          </a:xfrm>
          <a:prstGeom prst="roundRect">
            <a:avLst>
              <a:gd name="adj" fmla="val 917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2"/>
          <p:cNvSpPr>
            <a:spLocks noGrp="1" noChangeArrowheads="1"/>
          </p:cNvSpPr>
          <p:nvPr userDrawn="1">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pic>
        <p:nvPicPr>
          <p:cNvPr id="28674" name="Picture 2" descr="https://cdn-static.bizzabo.com/bizzabo.users.files/zG7zRd0nS5WvqOWKrgQP_Western%20Caspian%20University%20black.png"/>
          <p:cNvPicPr>
            <a:picLocks noChangeAspect="1" noChangeArrowheads="1"/>
          </p:cNvPicPr>
          <p:nvPr userDrawn="1"/>
        </p:nvPicPr>
        <p:blipFill>
          <a:blip r:embed="rId6" cstate="print"/>
          <a:srcRect r="81904"/>
          <a:stretch>
            <a:fillRect/>
          </a:stretch>
        </p:blipFill>
        <p:spPr bwMode="auto">
          <a:xfrm>
            <a:off x="200323" y="176258"/>
            <a:ext cx="504056" cy="457237"/>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Lst>
  <p:txStyles>
    <p:titleStyle>
      <a:lvl1pPr algn="l" defTabSz="914400" rtl="0" eaLnBrk="1" latinLnBrk="0" hangingPunct="1">
        <a:spcBef>
          <a:spcPct val="0"/>
        </a:spcBef>
        <a:buNone/>
        <a:defRPr sz="2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jpeg"/><Relationship Id="rId1" Type="http://schemas.openxmlformats.org/officeDocument/2006/relationships/slideLayout" Target="../slideLayouts/slideLayout3.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chat.chaton.ai/" TargetMode="External"/><Relationship Id="rId2" Type="http://schemas.openxmlformats.org/officeDocument/2006/relationships/hyperlink" Target="https://thonny.or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gi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noProof="0" dirty="0"/>
              <a:t>Computational Biomathematics</a:t>
            </a:r>
          </a:p>
        </p:txBody>
      </p:sp>
      <p:sp>
        <p:nvSpPr>
          <p:cNvPr id="3" name="Untertitel 2"/>
          <p:cNvSpPr>
            <a:spLocks noGrp="1"/>
          </p:cNvSpPr>
          <p:nvPr>
            <p:ph type="subTitle" idx="1"/>
          </p:nvPr>
        </p:nvSpPr>
        <p:spPr/>
        <p:txBody>
          <a:bodyPr/>
          <a:lstStyle/>
          <a:p>
            <a:endParaRPr lang="en-US" noProof="0" dirty="0"/>
          </a:p>
          <a:p>
            <a:r>
              <a:rPr lang="en-US" noProof="0" dirty="0"/>
              <a:t>Introduction &amp; The </a:t>
            </a:r>
            <a:r>
              <a:rPr lang="en-US" noProof="0" dirty="0" err="1"/>
              <a:t>Wa</a:t>
            </a:r>
            <a:r>
              <a:rPr lang="en-US" noProof="0" dirty="0"/>
              <a:t>-Tor World</a:t>
            </a:r>
          </a:p>
          <a:p>
            <a:endParaRPr lang="en-US" sz="500" noProof="0" dirty="0"/>
          </a:p>
          <a:p>
            <a:r>
              <a:rPr lang="en-US" noProof="0" dirty="0"/>
              <a:t>Lesson 1</a:t>
            </a:r>
          </a:p>
        </p:txBody>
      </p:sp>
      <p:sp>
        <p:nvSpPr>
          <p:cNvPr id="4" name="Rechteck 3"/>
          <p:cNvSpPr/>
          <p:nvPr/>
        </p:nvSpPr>
        <p:spPr>
          <a:xfrm>
            <a:off x="7092280" y="3291830"/>
            <a:ext cx="1800200" cy="17171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7800" lvl="1" indent="-177800">
              <a:spcAft>
                <a:spcPts val="600"/>
              </a:spcAft>
              <a:buFont typeface="Arial" pitchFamily="34" charset="0"/>
              <a:buChar char="•"/>
            </a:pPr>
            <a:r>
              <a:rPr lang="en-US" sz="1200" noProof="0" dirty="0">
                <a:solidFill>
                  <a:schemeClr val="tx1"/>
                </a:solidFill>
              </a:rPr>
              <a:t>Course overview</a:t>
            </a:r>
          </a:p>
          <a:p>
            <a:pPr marL="177800" lvl="1" indent="-177800">
              <a:spcAft>
                <a:spcPts val="600"/>
              </a:spcAft>
              <a:buFont typeface="Arial" pitchFamily="34" charset="0"/>
              <a:buChar char="•"/>
            </a:pPr>
            <a:r>
              <a:rPr lang="en-US" sz="1200" noProof="0" dirty="0">
                <a:solidFill>
                  <a:schemeClr val="tx1"/>
                </a:solidFill>
              </a:rPr>
              <a:t>The water planet </a:t>
            </a:r>
            <a:r>
              <a:rPr lang="en-US" sz="1200" noProof="0" dirty="0" err="1">
                <a:solidFill>
                  <a:schemeClr val="tx1"/>
                </a:solidFill>
              </a:rPr>
              <a:t>Wa</a:t>
            </a:r>
            <a:r>
              <a:rPr lang="en-US" sz="1200" noProof="0" dirty="0">
                <a:solidFill>
                  <a:schemeClr val="tx1"/>
                </a:solidFill>
              </a:rPr>
              <a:t>-Tor</a:t>
            </a:r>
          </a:p>
          <a:p>
            <a:pPr marL="177800" lvl="1" indent="-177800">
              <a:spcAft>
                <a:spcPts val="600"/>
              </a:spcAft>
              <a:buFont typeface="Arial" pitchFamily="34" charset="0"/>
              <a:buChar char="•"/>
            </a:pPr>
            <a:r>
              <a:rPr lang="en-US" sz="1200" noProof="0" dirty="0">
                <a:solidFill>
                  <a:schemeClr val="tx1"/>
                </a:solidFill>
              </a:rPr>
              <a:t>Verification &amp; validation</a:t>
            </a:r>
          </a:p>
          <a:p>
            <a:pPr marL="177800" lvl="1" indent="-177800">
              <a:spcAft>
                <a:spcPts val="600"/>
              </a:spcAft>
              <a:buFont typeface="Arial" pitchFamily="34" charset="0"/>
              <a:buChar char="•"/>
            </a:pPr>
            <a:r>
              <a:rPr lang="en-US" sz="1200" noProof="0" dirty="0">
                <a:solidFill>
                  <a:schemeClr val="tx1"/>
                </a:solidFill>
              </a:rPr>
              <a:t>Strategy evolution on </a:t>
            </a:r>
            <a:r>
              <a:rPr lang="en-US" sz="1200" noProof="0" dirty="0" err="1">
                <a:solidFill>
                  <a:schemeClr val="tx1"/>
                </a:solidFill>
              </a:rPr>
              <a:t>Wa</a:t>
            </a:r>
            <a:r>
              <a:rPr lang="en-US" sz="1200" noProof="0" dirty="0">
                <a:solidFill>
                  <a:schemeClr val="tx1"/>
                </a:solidFill>
              </a:rPr>
              <a:t>-Tor</a:t>
            </a:r>
          </a:p>
        </p:txBody>
      </p:sp>
      <p:sp>
        <p:nvSpPr>
          <p:cNvPr id="5" name="Rechteck 4"/>
          <p:cNvSpPr/>
          <p:nvPr/>
        </p:nvSpPr>
        <p:spPr>
          <a:xfrm>
            <a:off x="7092280" y="2931790"/>
            <a:ext cx="1800200" cy="288032"/>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Lecture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922B83-59BB-4AA7-4F21-5FCA1B12FDF4}"/>
              </a:ext>
            </a:extLst>
          </p:cNvPr>
          <p:cNvSpPr>
            <a:spLocks noGrp="1"/>
          </p:cNvSpPr>
          <p:nvPr>
            <p:ph type="title"/>
          </p:nvPr>
        </p:nvSpPr>
        <p:spPr/>
        <p:txBody>
          <a:bodyPr/>
          <a:lstStyle/>
          <a:p>
            <a:r>
              <a:rPr lang="en-US" noProof="0" dirty="0"/>
              <a:t>The aim of our course is to combine modelling, analysis, and simulation by focusing on biological phenomena</a:t>
            </a:r>
          </a:p>
        </p:txBody>
      </p:sp>
      <p:sp>
        <p:nvSpPr>
          <p:cNvPr id="3" name="Rechteck 2">
            <a:extLst>
              <a:ext uri="{FF2B5EF4-FFF2-40B4-BE49-F238E27FC236}">
                <a16:creationId xmlns:a16="http://schemas.microsoft.com/office/drawing/2014/main" id="{882D38AE-40A4-ADB7-4DE4-DC538C05788B}"/>
              </a:ext>
            </a:extLst>
          </p:cNvPr>
          <p:cNvSpPr/>
          <p:nvPr/>
        </p:nvSpPr>
        <p:spPr>
          <a:xfrm>
            <a:off x="251520" y="1131590"/>
            <a:ext cx="1368152" cy="3384373"/>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Biology</a:t>
            </a:r>
          </a:p>
        </p:txBody>
      </p:sp>
      <p:sp>
        <p:nvSpPr>
          <p:cNvPr id="5" name="Rechteck 4">
            <a:extLst>
              <a:ext uri="{FF2B5EF4-FFF2-40B4-BE49-F238E27FC236}">
                <a16:creationId xmlns:a16="http://schemas.microsoft.com/office/drawing/2014/main" id="{9E946773-CCC1-EDF6-AA45-0F403F8F231E}"/>
              </a:ext>
            </a:extLst>
          </p:cNvPr>
          <p:cNvSpPr/>
          <p:nvPr/>
        </p:nvSpPr>
        <p:spPr>
          <a:xfrm rot="16200000">
            <a:off x="4067944" y="1722139"/>
            <a:ext cx="1008112" cy="5587653"/>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sz="1400" noProof="0" dirty="0">
                <a:solidFill>
                  <a:schemeClr val="tx1"/>
                </a:solidFill>
              </a:rPr>
              <a:t>Computer Science</a:t>
            </a:r>
          </a:p>
          <a:p>
            <a:pPr algn="ctr"/>
            <a:endParaRPr lang="en-US" sz="800" noProof="0" dirty="0">
              <a:solidFill>
                <a:schemeClr val="tx1"/>
              </a:solidFill>
            </a:endParaRPr>
          </a:p>
          <a:p>
            <a:pPr algn="ctr"/>
            <a:r>
              <a:rPr lang="en-US" sz="1400" noProof="0" dirty="0">
                <a:solidFill>
                  <a:schemeClr val="tx1"/>
                </a:solidFill>
              </a:rPr>
              <a:t>(AI-enhanced Coding)</a:t>
            </a:r>
          </a:p>
        </p:txBody>
      </p:sp>
      <p:sp>
        <p:nvSpPr>
          <p:cNvPr id="6" name="Rechteck 5">
            <a:extLst>
              <a:ext uri="{FF2B5EF4-FFF2-40B4-BE49-F238E27FC236}">
                <a16:creationId xmlns:a16="http://schemas.microsoft.com/office/drawing/2014/main" id="{E9F3420F-24E0-62AC-2F33-DB3969B8BB3D}"/>
              </a:ext>
            </a:extLst>
          </p:cNvPr>
          <p:cNvSpPr/>
          <p:nvPr/>
        </p:nvSpPr>
        <p:spPr>
          <a:xfrm>
            <a:off x="7524328" y="1131590"/>
            <a:ext cx="1368152" cy="338437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1400" noProof="0" dirty="0">
              <a:solidFill>
                <a:schemeClr val="tx1"/>
              </a:solidFill>
            </a:endParaRPr>
          </a:p>
          <a:p>
            <a:pPr algn="ctr"/>
            <a:endParaRPr lang="en-US" sz="1400" noProof="0" dirty="0">
              <a:solidFill>
                <a:schemeClr val="tx1"/>
              </a:solidFill>
            </a:endParaRPr>
          </a:p>
          <a:p>
            <a:pPr algn="ctr"/>
            <a:endParaRPr lang="en-US" sz="1400" noProof="0" dirty="0">
              <a:solidFill>
                <a:schemeClr val="tx1"/>
              </a:solidFill>
            </a:endParaRPr>
          </a:p>
          <a:p>
            <a:pPr algn="ctr"/>
            <a:r>
              <a:rPr lang="en-US" sz="1400" noProof="0" dirty="0">
                <a:solidFill>
                  <a:schemeClr val="tx1"/>
                </a:solidFill>
              </a:rPr>
              <a:t>Mathematics</a:t>
            </a:r>
          </a:p>
        </p:txBody>
      </p:sp>
      <p:sp>
        <p:nvSpPr>
          <p:cNvPr id="7" name="Rechteck 6">
            <a:extLst>
              <a:ext uri="{FF2B5EF4-FFF2-40B4-BE49-F238E27FC236}">
                <a16:creationId xmlns:a16="http://schemas.microsoft.com/office/drawing/2014/main" id="{C6301949-608D-5FDF-964D-AF962F9B083F}"/>
              </a:ext>
            </a:extLst>
          </p:cNvPr>
          <p:cNvSpPr/>
          <p:nvPr/>
        </p:nvSpPr>
        <p:spPr>
          <a:xfrm>
            <a:off x="1979712" y="1347614"/>
            <a:ext cx="1368152" cy="13681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t>Conceptual Model</a:t>
            </a:r>
          </a:p>
        </p:txBody>
      </p:sp>
      <p:sp>
        <p:nvSpPr>
          <p:cNvPr id="8" name="Rechteck 7">
            <a:extLst>
              <a:ext uri="{FF2B5EF4-FFF2-40B4-BE49-F238E27FC236}">
                <a16:creationId xmlns:a16="http://schemas.microsoft.com/office/drawing/2014/main" id="{3975EDBD-7388-AC95-3868-A81F76B09905}"/>
              </a:ext>
            </a:extLst>
          </p:cNvPr>
          <p:cNvSpPr/>
          <p:nvPr/>
        </p:nvSpPr>
        <p:spPr>
          <a:xfrm>
            <a:off x="5796136" y="1347614"/>
            <a:ext cx="1368152" cy="13681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t>Mathematical Model</a:t>
            </a:r>
          </a:p>
        </p:txBody>
      </p:sp>
      <p:sp>
        <p:nvSpPr>
          <p:cNvPr id="9" name="Rechteck 8">
            <a:extLst>
              <a:ext uri="{FF2B5EF4-FFF2-40B4-BE49-F238E27FC236}">
                <a16:creationId xmlns:a16="http://schemas.microsoft.com/office/drawing/2014/main" id="{6429EA1A-4144-F115-B3FD-F66A85C741FC}"/>
              </a:ext>
            </a:extLst>
          </p:cNvPr>
          <p:cNvSpPr/>
          <p:nvPr/>
        </p:nvSpPr>
        <p:spPr>
          <a:xfrm>
            <a:off x="3891292" y="2499742"/>
            <a:ext cx="1368152" cy="13681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t>Computerized Model</a:t>
            </a:r>
          </a:p>
        </p:txBody>
      </p:sp>
      <p:sp>
        <p:nvSpPr>
          <p:cNvPr id="12" name="Gleichschenkliges Dreieck 11">
            <a:extLst>
              <a:ext uri="{FF2B5EF4-FFF2-40B4-BE49-F238E27FC236}">
                <a16:creationId xmlns:a16="http://schemas.microsoft.com/office/drawing/2014/main" id="{65300129-EBBD-728F-1AA7-3CE46F115F3E}"/>
              </a:ext>
            </a:extLst>
          </p:cNvPr>
          <p:cNvSpPr/>
          <p:nvPr/>
        </p:nvSpPr>
        <p:spPr>
          <a:xfrm rot="5400000">
            <a:off x="1288601" y="1951028"/>
            <a:ext cx="1008112" cy="161325"/>
          </a:xfrm>
          <a:prstGeom prst="triangle">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4" name="Gerader Verbinder 13">
            <a:extLst>
              <a:ext uri="{FF2B5EF4-FFF2-40B4-BE49-F238E27FC236}">
                <a16:creationId xmlns:a16="http://schemas.microsoft.com/office/drawing/2014/main" id="{F2E4FFCC-25B9-DD78-4475-7C0EDEE25505}"/>
              </a:ext>
            </a:extLst>
          </p:cNvPr>
          <p:cNvCxnSpPr/>
          <p:nvPr/>
        </p:nvCxnSpPr>
        <p:spPr>
          <a:xfrm>
            <a:off x="1792657" y="2499742"/>
            <a:ext cx="0" cy="684076"/>
          </a:xfrm>
          <a:prstGeom prst="lin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cxnSp>
      <p:sp>
        <p:nvSpPr>
          <p:cNvPr id="15" name="Textfeld 14">
            <a:extLst>
              <a:ext uri="{FF2B5EF4-FFF2-40B4-BE49-F238E27FC236}">
                <a16:creationId xmlns:a16="http://schemas.microsoft.com/office/drawing/2014/main" id="{5DFCBE07-D65A-7286-63A3-EE946118E4C2}"/>
              </a:ext>
            </a:extLst>
          </p:cNvPr>
          <p:cNvSpPr txBox="1"/>
          <p:nvPr/>
        </p:nvSpPr>
        <p:spPr>
          <a:xfrm>
            <a:off x="1792657" y="2904586"/>
            <a:ext cx="1224136" cy="523220"/>
          </a:xfrm>
          <a:prstGeom prst="rect">
            <a:avLst/>
          </a:prstGeom>
          <a:noFill/>
        </p:spPr>
        <p:txBody>
          <a:bodyPr wrap="square" rtlCol="0">
            <a:spAutoFit/>
          </a:bodyPr>
          <a:lstStyle/>
          <a:p>
            <a:r>
              <a:rPr lang="en-US" sz="1400" noProof="0" dirty="0"/>
              <a:t>simplified description</a:t>
            </a:r>
          </a:p>
        </p:txBody>
      </p:sp>
      <p:cxnSp>
        <p:nvCxnSpPr>
          <p:cNvPr id="17" name="Gerade Verbindung mit Pfeil 16">
            <a:extLst>
              <a:ext uri="{FF2B5EF4-FFF2-40B4-BE49-F238E27FC236}">
                <a16:creationId xmlns:a16="http://schemas.microsoft.com/office/drawing/2014/main" id="{819A199D-40FD-FDF6-C895-FFF496099405}"/>
              </a:ext>
            </a:extLst>
          </p:cNvPr>
          <p:cNvCxnSpPr/>
          <p:nvPr/>
        </p:nvCxnSpPr>
        <p:spPr>
          <a:xfrm>
            <a:off x="3347864" y="1851670"/>
            <a:ext cx="2376264" cy="0"/>
          </a:xfrm>
          <a:prstGeom prst="straightConnector1">
            <a:avLst/>
          </a:prstGeom>
          <a:solidFill>
            <a:schemeClr val="tx2">
              <a:lumMod val="20000"/>
              <a:lumOff val="80000"/>
            </a:schemeClr>
          </a:solid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cxnSp>
        <p:nvCxnSpPr>
          <p:cNvPr id="19" name="Gerade Verbindung mit Pfeil 18">
            <a:extLst>
              <a:ext uri="{FF2B5EF4-FFF2-40B4-BE49-F238E27FC236}">
                <a16:creationId xmlns:a16="http://schemas.microsoft.com/office/drawing/2014/main" id="{4E804ABA-33E8-0EFF-42D3-095DAF7EEB52}"/>
              </a:ext>
            </a:extLst>
          </p:cNvPr>
          <p:cNvCxnSpPr/>
          <p:nvPr/>
        </p:nvCxnSpPr>
        <p:spPr>
          <a:xfrm flipH="1">
            <a:off x="5004048" y="1923678"/>
            <a:ext cx="720080" cy="504056"/>
          </a:xfrm>
          <a:prstGeom prst="straightConnector1">
            <a:avLst/>
          </a:prstGeom>
          <a:solidFill>
            <a:schemeClr val="tx2">
              <a:lumMod val="20000"/>
              <a:lumOff val="80000"/>
            </a:schemeClr>
          </a:solid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cxnSp>
        <p:nvCxnSpPr>
          <p:cNvPr id="21" name="Gerade Verbindung mit Pfeil 20">
            <a:extLst>
              <a:ext uri="{FF2B5EF4-FFF2-40B4-BE49-F238E27FC236}">
                <a16:creationId xmlns:a16="http://schemas.microsoft.com/office/drawing/2014/main" id="{54F09F06-7D67-CA2C-273A-9724D2825B64}"/>
              </a:ext>
            </a:extLst>
          </p:cNvPr>
          <p:cNvCxnSpPr>
            <a:cxnSpLocks/>
          </p:cNvCxnSpPr>
          <p:nvPr/>
        </p:nvCxnSpPr>
        <p:spPr>
          <a:xfrm flipH="1">
            <a:off x="4139952" y="1203598"/>
            <a:ext cx="3312368" cy="0"/>
          </a:xfrm>
          <a:prstGeom prst="straightConnector1">
            <a:avLst/>
          </a:prstGeom>
          <a:solidFill>
            <a:schemeClr val="tx2">
              <a:lumMod val="20000"/>
              <a:lumOff val="80000"/>
            </a:schemeClr>
          </a:solidFill>
          <a:ln>
            <a:solidFill>
              <a:srgbClr val="00B050"/>
            </a:solidFill>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cxnSp>
        <p:nvCxnSpPr>
          <p:cNvPr id="24" name="Gerade Verbindung mit Pfeil 23">
            <a:extLst>
              <a:ext uri="{FF2B5EF4-FFF2-40B4-BE49-F238E27FC236}">
                <a16:creationId xmlns:a16="http://schemas.microsoft.com/office/drawing/2014/main" id="{E54077B4-A19F-8B91-1682-56CA49AB4B0F}"/>
              </a:ext>
            </a:extLst>
          </p:cNvPr>
          <p:cNvCxnSpPr>
            <a:cxnSpLocks/>
          </p:cNvCxnSpPr>
          <p:nvPr/>
        </p:nvCxnSpPr>
        <p:spPr>
          <a:xfrm flipH="1" flipV="1">
            <a:off x="3069115" y="2796220"/>
            <a:ext cx="720080" cy="504056"/>
          </a:xfrm>
          <a:prstGeom prst="straightConnector1">
            <a:avLst/>
          </a:prstGeom>
          <a:solidFill>
            <a:schemeClr val="tx2">
              <a:lumMod val="20000"/>
              <a:lumOff val="80000"/>
            </a:schemeClr>
          </a:solidFill>
          <a:ln>
            <a:solidFill>
              <a:srgbClr val="C0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cxnSp>
        <p:nvCxnSpPr>
          <p:cNvPr id="26" name="Gerade Verbindung mit Pfeil 25">
            <a:extLst>
              <a:ext uri="{FF2B5EF4-FFF2-40B4-BE49-F238E27FC236}">
                <a16:creationId xmlns:a16="http://schemas.microsoft.com/office/drawing/2014/main" id="{7D76F09E-530C-BCC0-7FB5-DF72C5951AA5}"/>
              </a:ext>
            </a:extLst>
          </p:cNvPr>
          <p:cNvCxnSpPr/>
          <p:nvPr/>
        </p:nvCxnSpPr>
        <p:spPr>
          <a:xfrm flipH="1">
            <a:off x="3419872" y="1203598"/>
            <a:ext cx="720080" cy="504056"/>
          </a:xfrm>
          <a:prstGeom prst="straightConnector1">
            <a:avLst/>
          </a:prstGeom>
          <a:solidFill>
            <a:schemeClr val="tx2">
              <a:lumMod val="20000"/>
              <a:lumOff val="80000"/>
            </a:schemeClr>
          </a:solidFill>
          <a:ln>
            <a:solidFill>
              <a:srgbClr val="00B05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sp>
        <p:nvSpPr>
          <p:cNvPr id="28" name="Textfeld 27">
            <a:extLst>
              <a:ext uri="{FF2B5EF4-FFF2-40B4-BE49-F238E27FC236}">
                <a16:creationId xmlns:a16="http://schemas.microsoft.com/office/drawing/2014/main" id="{09F6BABA-01CA-01F7-BC37-CDD6C3082488}"/>
              </a:ext>
            </a:extLst>
          </p:cNvPr>
          <p:cNvSpPr txBox="1"/>
          <p:nvPr/>
        </p:nvSpPr>
        <p:spPr>
          <a:xfrm>
            <a:off x="4121357" y="1903933"/>
            <a:ext cx="910827" cy="307777"/>
          </a:xfrm>
          <a:prstGeom prst="rect">
            <a:avLst/>
          </a:prstGeom>
          <a:noFill/>
        </p:spPr>
        <p:txBody>
          <a:bodyPr wrap="none" rtlCol="0">
            <a:spAutoFit/>
          </a:bodyPr>
          <a:lstStyle/>
          <a:p>
            <a:r>
              <a:rPr lang="en-US" sz="1400" noProof="0" dirty="0">
                <a:solidFill>
                  <a:schemeClr val="tx2"/>
                </a:solidFill>
              </a:rPr>
              <a:t>modelling</a:t>
            </a:r>
          </a:p>
        </p:txBody>
      </p:sp>
      <p:sp>
        <p:nvSpPr>
          <p:cNvPr id="29" name="Textfeld 28">
            <a:extLst>
              <a:ext uri="{FF2B5EF4-FFF2-40B4-BE49-F238E27FC236}">
                <a16:creationId xmlns:a16="http://schemas.microsoft.com/office/drawing/2014/main" id="{3E277849-8DFF-38AE-85DE-E77A55C7BB35}"/>
              </a:ext>
            </a:extLst>
          </p:cNvPr>
          <p:cNvSpPr txBox="1"/>
          <p:nvPr/>
        </p:nvSpPr>
        <p:spPr>
          <a:xfrm>
            <a:off x="4139952" y="1275606"/>
            <a:ext cx="756874" cy="307777"/>
          </a:xfrm>
          <a:prstGeom prst="rect">
            <a:avLst/>
          </a:prstGeom>
          <a:noFill/>
        </p:spPr>
        <p:txBody>
          <a:bodyPr wrap="none" rtlCol="0">
            <a:spAutoFit/>
          </a:bodyPr>
          <a:lstStyle/>
          <a:p>
            <a:r>
              <a:rPr lang="en-US" sz="1400" noProof="0" dirty="0">
                <a:solidFill>
                  <a:srgbClr val="00B050"/>
                </a:solidFill>
              </a:rPr>
              <a:t>analysis</a:t>
            </a:r>
          </a:p>
        </p:txBody>
      </p:sp>
      <p:cxnSp>
        <p:nvCxnSpPr>
          <p:cNvPr id="34" name="Gerade Verbindung mit Pfeil 33">
            <a:extLst>
              <a:ext uri="{FF2B5EF4-FFF2-40B4-BE49-F238E27FC236}">
                <a16:creationId xmlns:a16="http://schemas.microsoft.com/office/drawing/2014/main" id="{AD1785AA-16D9-898F-5AE6-17256823E989}"/>
              </a:ext>
            </a:extLst>
          </p:cNvPr>
          <p:cNvCxnSpPr>
            <a:cxnSpLocks/>
          </p:cNvCxnSpPr>
          <p:nvPr/>
        </p:nvCxnSpPr>
        <p:spPr>
          <a:xfrm flipV="1">
            <a:off x="5348076" y="2859782"/>
            <a:ext cx="720080" cy="504056"/>
          </a:xfrm>
          <a:prstGeom prst="straightConnector1">
            <a:avLst/>
          </a:prstGeom>
          <a:solidFill>
            <a:schemeClr val="tx2">
              <a:lumMod val="20000"/>
              <a:lumOff val="80000"/>
            </a:schemeClr>
          </a:solidFill>
          <a:ln>
            <a:solidFill>
              <a:srgbClr val="00B050"/>
            </a:solidFill>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cxnSp>
        <p:nvCxnSpPr>
          <p:cNvPr id="35" name="Gerade Verbindung mit Pfeil 34">
            <a:extLst>
              <a:ext uri="{FF2B5EF4-FFF2-40B4-BE49-F238E27FC236}">
                <a16:creationId xmlns:a16="http://schemas.microsoft.com/office/drawing/2014/main" id="{E7CEAB47-B466-4047-F367-E5C09C153F9A}"/>
              </a:ext>
            </a:extLst>
          </p:cNvPr>
          <p:cNvCxnSpPr>
            <a:cxnSpLocks/>
          </p:cNvCxnSpPr>
          <p:nvPr/>
        </p:nvCxnSpPr>
        <p:spPr>
          <a:xfrm flipH="1">
            <a:off x="6068156" y="2859782"/>
            <a:ext cx="1384164" cy="0"/>
          </a:xfrm>
          <a:prstGeom prst="straightConnector1">
            <a:avLst/>
          </a:prstGeom>
          <a:solidFill>
            <a:schemeClr val="tx2">
              <a:lumMod val="20000"/>
              <a:lumOff val="80000"/>
            </a:schemeClr>
          </a:solidFill>
          <a:ln>
            <a:solidFill>
              <a:srgbClr val="00B050"/>
            </a:solidFill>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cxnSp>
        <p:nvCxnSpPr>
          <p:cNvPr id="37" name="Gerade Verbindung mit Pfeil 36">
            <a:extLst>
              <a:ext uri="{FF2B5EF4-FFF2-40B4-BE49-F238E27FC236}">
                <a16:creationId xmlns:a16="http://schemas.microsoft.com/office/drawing/2014/main" id="{AF720543-84B8-5BF4-B4A5-A48671FD67A5}"/>
              </a:ext>
            </a:extLst>
          </p:cNvPr>
          <p:cNvCxnSpPr>
            <a:cxnSpLocks/>
          </p:cNvCxnSpPr>
          <p:nvPr/>
        </p:nvCxnSpPr>
        <p:spPr>
          <a:xfrm flipV="1">
            <a:off x="7452320" y="2859782"/>
            <a:ext cx="0" cy="360040"/>
          </a:xfrm>
          <a:prstGeom prst="straightConnector1">
            <a:avLst/>
          </a:prstGeom>
          <a:solidFill>
            <a:schemeClr val="tx2">
              <a:lumMod val="20000"/>
              <a:lumOff val="80000"/>
            </a:schemeClr>
          </a:solidFill>
          <a:ln>
            <a:solidFill>
              <a:srgbClr val="00B050"/>
            </a:solidFill>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cxnSp>
        <p:nvCxnSpPr>
          <p:cNvPr id="40" name="Gerade Verbindung mit Pfeil 39">
            <a:extLst>
              <a:ext uri="{FF2B5EF4-FFF2-40B4-BE49-F238E27FC236}">
                <a16:creationId xmlns:a16="http://schemas.microsoft.com/office/drawing/2014/main" id="{E0CE7110-47CB-3927-4D29-ACBA4BCFCBCE}"/>
              </a:ext>
            </a:extLst>
          </p:cNvPr>
          <p:cNvCxnSpPr/>
          <p:nvPr/>
        </p:nvCxnSpPr>
        <p:spPr>
          <a:xfrm flipH="1">
            <a:off x="6732240" y="3219822"/>
            <a:ext cx="720080" cy="504056"/>
          </a:xfrm>
          <a:prstGeom prst="straightConnector1">
            <a:avLst/>
          </a:prstGeom>
          <a:solidFill>
            <a:schemeClr val="tx2">
              <a:lumMod val="20000"/>
              <a:lumOff val="80000"/>
            </a:schemeClr>
          </a:solidFill>
          <a:ln>
            <a:solidFill>
              <a:srgbClr val="00B050"/>
            </a:solidFill>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cxnSp>
        <p:nvCxnSpPr>
          <p:cNvPr id="41" name="Gerade Verbindung mit Pfeil 40">
            <a:extLst>
              <a:ext uri="{FF2B5EF4-FFF2-40B4-BE49-F238E27FC236}">
                <a16:creationId xmlns:a16="http://schemas.microsoft.com/office/drawing/2014/main" id="{6C57ADC5-6854-0233-5924-96E810DE40D3}"/>
              </a:ext>
            </a:extLst>
          </p:cNvPr>
          <p:cNvCxnSpPr>
            <a:cxnSpLocks/>
          </p:cNvCxnSpPr>
          <p:nvPr/>
        </p:nvCxnSpPr>
        <p:spPr>
          <a:xfrm flipH="1">
            <a:off x="5364088" y="3723878"/>
            <a:ext cx="1368152" cy="0"/>
          </a:xfrm>
          <a:prstGeom prst="straightConnector1">
            <a:avLst/>
          </a:prstGeom>
          <a:solidFill>
            <a:schemeClr val="tx2">
              <a:lumMod val="20000"/>
              <a:lumOff val="80000"/>
            </a:schemeClr>
          </a:solidFill>
          <a:ln>
            <a:solidFill>
              <a:srgbClr val="00B05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sp>
        <p:nvSpPr>
          <p:cNvPr id="48" name="Textfeld 47">
            <a:extLst>
              <a:ext uri="{FF2B5EF4-FFF2-40B4-BE49-F238E27FC236}">
                <a16:creationId xmlns:a16="http://schemas.microsoft.com/office/drawing/2014/main" id="{1110FD5B-BED5-A8DC-793D-E95D8C431C03}"/>
              </a:ext>
            </a:extLst>
          </p:cNvPr>
          <p:cNvSpPr txBox="1"/>
          <p:nvPr/>
        </p:nvSpPr>
        <p:spPr>
          <a:xfrm>
            <a:off x="5686800" y="2917969"/>
            <a:ext cx="1515159" cy="738664"/>
          </a:xfrm>
          <a:prstGeom prst="rect">
            <a:avLst/>
          </a:prstGeom>
          <a:noFill/>
        </p:spPr>
        <p:txBody>
          <a:bodyPr wrap="none" rtlCol="0">
            <a:spAutoFit/>
          </a:bodyPr>
          <a:lstStyle/>
          <a:p>
            <a:pPr algn="ctr"/>
            <a:r>
              <a:rPr lang="en-US" sz="1400" noProof="0" dirty="0">
                <a:solidFill>
                  <a:srgbClr val="00B050"/>
                </a:solidFill>
              </a:rPr>
              <a:t>analysis &amp;</a:t>
            </a:r>
          </a:p>
          <a:p>
            <a:pPr algn="ctr"/>
            <a:r>
              <a:rPr lang="en-US" sz="1400" noProof="0" dirty="0">
                <a:solidFill>
                  <a:srgbClr val="00B050"/>
                </a:solidFill>
              </a:rPr>
              <a:t>checking of model</a:t>
            </a:r>
          </a:p>
          <a:p>
            <a:pPr algn="ctr"/>
            <a:r>
              <a:rPr lang="en-US" sz="1400" noProof="0" dirty="0">
                <a:solidFill>
                  <a:srgbClr val="00B050"/>
                </a:solidFill>
              </a:rPr>
              <a:t>quality</a:t>
            </a:r>
          </a:p>
        </p:txBody>
      </p:sp>
      <p:sp>
        <p:nvSpPr>
          <p:cNvPr id="49" name="Textfeld 48">
            <a:extLst>
              <a:ext uri="{FF2B5EF4-FFF2-40B4-BE49-F238E27FC236}">
                <a16:creationId xmlns:a16="http://schemas.microsoft.com/office/drawing/2014/main" id="{2EAFD8DC-D40D-1E21-F304-8802CB0AE9C5}"/>
              </a:ext>
            </a:extLst>
          </p:cNvPr>
          <p:cNvSpPr txBox="1"/>
          <p:nvPr/>
        </p:nvSpPr>
        <p:spPr>
          <a:xfrm>
            <a:off x="2915816" y="3344093"/>
            <a:ext cx="952440" cy="307777"/>
          </a:xfrm>
          <a:prstGeom prst="rect">
            <a:avLst/>
          </a:prstGeom>
          <a:noFill/>
        </p:spPr>
        <p:txBody>
          <a:bodyPr wrap="none" rtlCol="0">
            <a:spAutoFit/>
          </a:bodyPr>
          <a:lstStyle/>
          <a:p>
            <a:r>
              <a:rPr lang="en-US" sz="1400" noProof="0" dirty="0">
                <a:solidFill>
                  <a:srgbClr val="C00000"/>
                </a:solidFill>
              </a:rPr>
              <a:t>simulation</a:t>
            </a:r>
          </a:p>
        </p:txBody>
      </p:sp>
      <p:sp>
        <p:nvSpPr>
          <p:cNvPr id="4" name="Rechteck 3">
            <a:extLst>
              <a:ext uri="{FF2B5EF4-FFF2-40B4-BE49-F238E27FC236}">
                <a16:creationId xmlns:a16="http://schemas.microsoft.com/office/drawing/2014/main" id="{44ECFDE7-9932-E35D-BA9E-199833069866}"/>
              </a:ext>
            </a:extLst>
          </p:cNvPr>
          <p:cNvSpPr/>
          <p:nvPr/>
        </p:nvSpPr>
        <p:spPr>
          <a:xfrm>
            <a:off x="7596336" y="2795828"/>
            <a:ext cx="1224136" cy="5040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Markov Chains</a:t>
            </a:r>
          </a:p>
        </p:txBody>
      </p:sp>
      <p:sp>
        <p:nvSpPr>
          <p:cNvPr id="10" name="Rechteck 9">
            <a:extLst>
              <a:ext uri="{FF2B5EF4-FFF2-40B4-BE49-F238E27FC236}">
                <a16:creationId xmlns:a16="http://schemas.microsoft.com/office/drawing/2014/main" id="{C70E9C30-82B4-A893-7B50-097F5F1C33E4}"/>
              </a:ext>
            </a:extLst>
          </p:cNvPr>
          <p:cNvSpPr/>
          <p:nvPr/>
        </p:nvSpPr>
        <p:spPr>
          <a:xfrm>
            <a:off x="7596336" y="3373882"/>
            <a:ext cx="1224136" cy="5040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Dynamical Systems</a:t>
            </a:r>
          </a:p>
        </p:txBody>
      </p:sp>
      <p:sp>
        <p:nvSpPr>
          <p:cNvPr id="11" name="Rechteck 10">
            <a:extLst>
              <a:ext uri="{FF2B5EF4-FFF2-40B4-BE49-F238E27FC236}">
                <a16:creationId xmlns:a16="http://schemas.microsoft.com/office/drawing/2014/main" id="{8FD21854-A17B-541D-5BBB-3139D8AFED71}"/>
              </a:ext>
            </a:extLst>
          </p:cNvPr>
          <p:cNvSpPr/>
          <p:nvPr/>
        </p:nvSpPr>
        <p:spPr>
          <a:xfrm>
            <a:off x="7596336" y="3944093"/>
            <a:ext cx="1224136" cy="5040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Game Theory</a:t>
            </a:r>
          </a:p>
        </p:txBody>
      </p:sp>
      <p:sp>
        <p:nvSpPr>
          <p:cNvPr id="13" name="Rechteck 12">
            <a:extLst>
              <a:ext uri="{FF2B5EF4-FFF2-40B4-BE49-F238E27FC236}">
                <a16:creationId xmlns:a16="http://schemas.microsoft.com/office/drawing/2014/main" id="{C36C83AA-397F-7B84-850C-D4CB59136047}"/>
              </a:ext>
            </a:extLst>
          </p:cNvPr>
          <p:cNvSpPr/>
          <p:nvPr/>
        </p:nvSpPr>
        <p:spPr>
          <a:xfrm>
            <a:off x="6012160" y="4425144"/>
            <a:ext cx="1224136" cy="5040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Scientific Computing</a:t>
            </a:r>
          </a:p>
        </p:txBody>
      </p:sp>
      <p:sp>
        <p:nvSpPr>
          <p:cNvPr id="16" name="Rechteck 15">
            <a:extLst>
              <a:ext uri="{FF2B5EF4-FFF2-40B4-BE49-F238E27FC236}">
                <a16:creationId xmlns:a16="http://schemas.microsoft.com/office/drawing/2014/main" id="{5E051956-5F8A-34DC-AF6E-82252661D8B6}"/>
              </a:ext>
            </a:extLst>
          </p:cNvPr>
          <p:cNvSpPr/>
          <p:nvPr/>
        </p:nvSpPr>
        <p:spPr>
          <a:xfrm>
            <a:off x="1907704" y="4443958"/>
            <a:ext cx="1224136" cy="5040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Machine Learning</a:t>
            </a:r>
          </a:p>
        </p:txBody>
      </p:sp>
    </p:spTree>
    <p:extLst>
      <p:ext uri="{BB962C8B-B14F-4D97-AF65-F5344CB8AC3E}">
        <p14:creationId xmlns:p14="http://schemas.microsoft.com/office/powerpoint/2010/main" val="238644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28" grpId="0"/>
      <p:bldP spid="29" grpId="0"/>
      <p:bldP spid="48" grpId="0"/>
      <p:bldP spid="4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323826-4BB4-CCC2-4E97-05EC223273A6}"/>
              </a:ext>
            </a:extLst>
          </p:cNvPr>
          <p:cNvSpPr>
            <a:spLocks noGrp="1"/>
          </p:cNvSpPr>
          <p:nvPr>
            <p:ph type="title"/>
          </p:nvPr>
        </p:nvSpPr>
        <p:spPr/>
        <p:txBody>
          <a:bodyPr/>
          <a:lstStyle/>
          <a:p>
            <a:r>
              <a:rPr lang="en-US" noProof="0" dirty="0"/>
              <a:t>For the most part, we will be using Agent Based Modeling (ABM) to base our considerations on first principles</a:t>
            </a:r>
          </a:p>
        </p:txBody>
      </p:sp>
      <p:pic>
        <p:nvPicPr>
          <p:cNvPr id="5" name="Grafik 4">
            <a:extLst>
              <a:ext uri="{FF2B5EF4-FFF2-40B4-BE49-F238E27FC236}">
                <a16:creationId xmlns:a16="http://schemas.microsoft.com/office/drawing/2014/main" id="{2F6E97B0-E2AD-0A96-6587-B0B0EF59A718}"/>
              </a:ext>
            </a:extLst>
          </p:cNvPr>
          <p:cNvPicPr>
            <a:picLocks noChangeAspect="1"/>
          </p:cNvPicPr>
          <p:nvPr/>
        </p:nvPicPr>
        <p:blipFill>
          <a:blip r:embed="rId2"/>
          <a:stretch>
            <a:fillRect/>
          </a:stretch>
        </p:blipFill>
        <p:spPr>
          <a:xfrm>
            <a:off x="35496" y="1030972"/>
            <a:ext cx="4937745" cy="3291830"/>
          </a:xfrm>
          <a:prstGeom prst="rect">
            <a:avLst/>
          </a:prstGeom>
        </p:spPr>
      </p:pic>
      <p:sp>
        <p:nvSpPr>
          <p:cNvPr id="6" name="Rechteck 5">
            <a:extLst>
              <a:ext uri="{FF2B5EF4-FFF2-40B4-BE49-F238E27FC236}">
                <a16:creationId xmlns:a16="http://schemas.microsoft.com/office/drawing/2014/main" id="{07D7E996-915F-1E48-E052-DC4F7F680FC5}"/>
              </a:ext>
            </a:extLst>
          </p:cNvPr>
          <p:cNvSpPr/>
          <p:nvPr/>
        </p:nvSpPr>
        <p:spPr>
          <a:xfrm>
            <a:off x="5292080" y="1131590"/>
            <a:ext cx="3600399"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Many of the scenarios and models we will discuss assume the use of first principles and that these first principles are acting on individuals or whole populations.</a:t>
            </a:r>
          </a:p>
          <a:p>
            <a:pPr algn="just">
              <a:spcAft>
                <a:spcPts val="600"/>
              </a:spcAft>
            </a:pPr>
            <a:r>
              <a:rPr lang="en-US" sz="1400" noProof="0" dirty="0">
                <a:solidFill>
                  <a:schemeClr val="tx1"/>
                </a:solidFill>
              </a:rPr>
              <a:t>By this the individuals or populations become agents that act according to specific rules.</a:t>
            </a:r>
          </a:p>
          <a:p>
            <a:pPr algn="just">
              <a:spcAft>
                <a:spcPts val="600"/>
              </a:spcAft>
            </a:pPr>
            <a:r>
              <a:rPr lang="en-US" sz="1400" noProof="0" dirty="0">
                <a:solidFill>
                  <a:schemeClr val="tx1"/>
                </a:solidFill>
              </a:rPr>
              <a:t>These rules can be rather explicit, was we will see in the upcoming </a:t>
            </a:r>
            <a:r>
              <a:rPr lang="en-US" sz="1400" noProof="0" dirty="0" err="1">
                <a:solidFill>
                  <a:schemeClr val="tx1"/>
                </a:solidFill>
              </a:rPr>
              <a:t>Wa</a:t>
            </a:r>
            <a:r>
              <a:rPr lang="en-US" sz="1400" noProof="0" dirty="0">
                <a:solidFill>
                  <a:schemeClr val="tx1"/>
                </a:solidFill>
              </a:rPr>
              <a:t>-Tor dynamics, such that they describe very detailed movement and life-choices and interactions of each involved individual agent.</a:t>
            </a:r>
          </a:p>
          <a:p>
            <a:pPr algn="just">
              <a:spcAft>
                <a:spcPts val="600"/>
              </a:spcAft>
            </a:pPr>
            <a:r>
              <a:rPr lang="en-US" sz="1400" noProof="0" dirty="0">
                <a:solidFill>
                  <a:schemeClr val="tx1"/>
                </a:solidFill>
              </a:rPr>
              <a:t>They can also be rather general, as we will see in ODE/ PDE dynamics, such that they describe average tendencies and overall behavioral frames.</a:t>
            </a:r>
          </a:p>
        </p:txBody>
      </p:sp>
      <p:sp>
        <p:nvSpPr>
          <p:cNvPr id="7" name="Textfeld 6">
            <a:extLst>
              <a:ext uri="{FF2B5EF4-FFF2-40B4-BE49-F238E27FC236}">
                <a16:creationId xmlns:a16="http://schemas.microsoft.com/office/drawing/2014/main" id="{CC577C73-CF5E-2087-2BE3-AE9D1E83FCD6}"/>
              </a:ext>
            </a:extLst>
          </p:cNvPr>
          <p:cNvSpPr txBox="1"/>
          <p:nvPr/>
        </p:nvSpPr>
        <p:spPr>
          <a:xfrm>
            <a:off x="251520" y="4681468"/>
            <a:ext cx="891591" cy="338554"/>
          </a:xfrm>
          <a:prstGeom prst="rect">
            <a:avLst/>
          </a:prstGeom>
          <a:noFill/>
        </p:spPr>
        <p:txBody>
          <a:bodyPr wrap="none" rtlCol="0">
            <a:spAutoFit/>
          </a:bodyPr>
          <a:lstStyle/>
          <a:p>
            <a:r>
              <a:rPr lang="en-US" sz="800" noProof="0" dirty="0">
                <a:solidFill>
                  <a:schemeClr val="tx1">
                    <a:lumMod val="50000"/>
                    <a:lumOff val="50000"/>
                  </a:schemeClr>
                </a:solidFill>
              </a:rPr>
              <a:t>image generated</a:t>
            </a:r>
          </a:p>
          <a:p>
            <a:r>
              <a:rPr lang="en-US" sz="800" noProof="0" dirty="0">
                <a:solidFill>
                  <a:schemeClr val="tx1">
                    <a:lumMod val="50000"/>
                    <a:lumOff val="50000"/>
                  </a:schemeClr>
                </a:solidFill>
              </a:rPr>
              <a:t>with ChatGPT</a:t>
            </a:r>
          </a:p>
        </p:txBody>
      </p:sp>
    </p:spTree>
    <p:extLst>
      <p:ext uri="{BB962C8B-B14F-4D97-AF65-F5344CB8AC3E}">
        <p14:creationId xmlns:p14="http://schemas.microsoft.com/office/powerpoint/2010/main" val="426610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What is Agent Based Modeling? (1/ 2)</a:t>
            </a:r>
          </a:p>
        </p:txBody>
      </p:sp>
      <p:sp>
        <p:nvSpPr>
          <p:cNvPr id="3" name="Rechteck 2"/>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 name="Grafik 5">
            <a:extLst>
              <a:ext uri="{FF2B5EF4-FFF2-40B4-BE49-F238E27FC236}">
                <a16:creationId xmlns:a16="http://schemas.microsoft.com/office/drawing/2014/main" id="{4E34F4F1-D048-4ED1-407B-7FFDF48B2258}"/>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763690" y="1203555"/>
            <a:ext cx="7067283" cy="3743951"/>
          </a:xfrm>
          <a:prstGeom prst="rect">
            <a:avLst/>
          </a:prstGeom>
          <a:noFill/>
          <a:ln/>
          <a:effectLst/>
        </p:spPr>
      </p:pic>
    </p:spTree>
    <p:extLst>
      <p:ext uri="{BB962C8B-B14F-4D97-AF65-F5344CB8AC3E}">
        <p14:creationId xmlns:p14="http://schemas.microsoft.com/office/powerpoint/2010/main" val="2004797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What is Agent Based Modeling? (2/ 2)</a:t>
            </a:r>
          </a:p>
        </p:txBody>
      </p:sp>
      <p:sp>
        <p:nvSpPr>
          <p:cNvPr id="3" name="Rechteck 2"/>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 name="Grafik 4" descr="IguanaTex_tmp.png"/>
          <p:cNvPicPr>
            <a:picLocks noChangeAspect="1"/>
          </p:cNvPicPr>
          <p:nvPr>
            <p:custDataLst>
              <p:tags r:id="rId1"/>
            </p:custDataLst>
          </p:nvPr>
        </p:nvPicPr>
        <p:blipFill>
          <a:blip r:embed="rId3" cstate="print"/>
          <a:stretch>
            <a:fillRect/>
          </a:stretch>
        </p:blipFill>
        <p:spPr>
          <a:xfrm>
            <a:off x="1763691" y="1203555"/>
            <a:ext cx="7062607" cy="3041075"/>
          </a:xfrm>
          <a:prstGeom prst="rect">
            <a:avLst/>
          </a:prstGeom>
          <a:noFill/>
          <a:ln/>
          <a:effectLst/>
        </p:spPr>
      </p:pic>
    </p:spTree>
    <p:extLst>
      <p:ext uri="{BB962C8B-B14F-4D97-AF65-F5344CB8AC3E}">
        <p14:creationId xmlns:p14="http://schemas.microsoft.com/office/powerpoint/2010/main" val="3501305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bgerundetes Rechteck 1"/>
          <p:cNvSpPr/>
          <p:nvPr/>
        </p:nvSpPr>
        <p:spPr>
          <a:xfrm>
            <a:off x="971600" y="1563638"/>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p:cNvSpPr txBox="1"/>
          <p:nvPr/>
        </p:nvSpPr>
        <p:spPr>
          <a:xfrm>
            <a:off x="971600" y="1131590"/>
            <a:ext cx="3369320" cy="2462213"/>
          </a:xfrm>
          <a:prstGeom prst="rect">
            <a:avLst/>
          </a:prstGeom>
          <a:noFill/>
        </p:spPr>
        <p:txBody>
          <a:bodyPr wrap="none" rtlCol="0">
            <a:spAutoFit/>
          </a:bodyPr>
          <a:lstStyle/>
          <a:p>
            <a:r>
              <a:rPr lang="en-US" b="1" noProof="0" dirty="0"/>
              <a:t>Topics</a:t>
            </a:r>
          </a:p>
          <a:p>
            <a:endParaRPr lang="en-US" sz="1000" noProof="0" dirty="0"/>
          </a:p>
          <a:p>
            <a:pPr lvl="1"/>
            <a:r>
              <a:rPr lang="en-US" b="1" noProof="0" dirty="0"/>
              <a:t>Course Overview</a:t>
            </a:r>
          </a:p>
          <a:p>
            <a:pPr lvl="1"/>
            <a:endParaRPr lang="en-US" noProof="0" dirty="0"/>
          </a:p>
          <a:p>
            <a:pPr lvl="1"/>
            <a:r>
              <a:rPr lang="en-US" noProof="0" dirty="0"/>
              <a:t>The Water Planet </a:t>
            </a:r>
            <a:r>
              <a:rPr lang="en-US" noProof="0" dirty="0" err="1"/>
              <a:t>Wa</a:t>
            </a:r>
            <a:r>
              <a:rPr lang="en-US" noProof="0" dirty="0"/>
              <a:t>-Tor</a:t>
            </a:r>
          </a:p>
          <a:p>
            <a:pPr lvl="1"/>
            <a:endParaRPr lang="en-US" b="1" noProof="0" dirty="0"/>
          </a:p>
          <a:p>
            <a:pPr lvl="1"/>
            <a:r>
              <a:rPr lang="en-US" noProof="0" dirty="0"/>
              <a:t>Verification &amp; Validation</a:t>
            </a:r>
          </a:p>
          <a:p>
            <a:pPr lvl="1"/>
            <a:endParaRPr lang="en-US" noProof="0" dirty="0"/>
          </a:p>
          <a:p>
            <a:pPr lvl="1"/>
            <a:r>
              <a:rPr lang="en-US" noProof="0" dirty="0"/>
              <a:t>Strategy Evolution on </a:t>
            </a:r>
            <a:r>
              <a:rPr lang="en-US" noProof="0" dirty="0" err="1"/>
              <a:t>Wa</a:t>
            </a:r>
            <a:r>
              <a:rPr lang="en-US" noProof="0" dirty="0"/>
              <a:t>-Tor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uppieren 13">
            <a:extLst>
              <a:ext uri="{FF2B5EF4-FFF2-40B4-BE49-F238E27FC236}">
                <a16:creationId xmlns:a16="http://schemas.microsoft.com/office/drawing/2014/main" id="{8E2F5EDE-791A-0F86-70E1-C604FDC3C3C6}"/>
              </a:ext>
            </a:extLst>
          </p:cNvPr>
          <p:cNvGrpSpPr/>
          <p:nvPr/>
        </p:nvGrpSpPr>
        <p:grpSpPr>
          <a:xfrm>
            <a:off x="251520" y="1126569"/>
            <a:ext cx="4248768" cy="2165261"/>
            <a:chOff x="303691" y="1126569"/>
            <a:chExt cx="4248768" cy="2165261"/>
          </a:xfrm>
        </p:grpSpPr>
        <p:pic>
          <p:nvPicPr>
            <p:cNvPr id="2" name="Picture 4" descr="Ökosystem | Politik für Kinder, einfach erklärt - HanisauLand.de">
              <a:extLst>
                <a:ext uri="{FF2B5EF4-FFF2-40B4-BE49-F238E27FC236}">
                  <a16:creationId xmlns:a16="http://schemas.microsoft.com/office/drawing/2014/main" id="{F2FEE01D-CE4B-202B-9557-AC02573D83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590"/>
            <a:stretch>
              <a:fillRect/>
            </a:stretch>
          </p:blipFill>
          <p:spPr bwMode="auto">
            <a:xfrm>
              <a:off x="303691" y="1126569"/>
              <a:ext cx="4248470" cy="2160241"/>
            </a:xfrm>
            <a:prstGeom prst="rect">
              <a:avLst/>
            </a:prstGeom>
            <a:noFill/>
            <a:extLst>
              <a:ext uri="{909E8E84-426E-40DD-AFC4-6F175D3DCCD1}">
                <a14:hiddenFill xmlns:a14="http://schemas.microsoft.com/office/drawing/2010/main">
                  <a:solidFill>
                    <a:srgbClr val="FFFFFF"/>
                  </a:solidFill>
                </a14:hiddenFill>
              </a:ext>
            </a:extLst>
          </p:spPr>
        </p:pic>
        <p:sp>
          <p:nvSpPr>
            <p:cNvPr id="3" name="Rechteck 2">
              <a:extLst>
                <a:ext uri="{FF2B5EF4-FFF2-40B4-BE49-F238E27FC236}">
                  <a16:creationId xmlns:a16="http://schemas.microsoft.com/office/drawing/2014/main" id="{83736715-47FD-0EE7-4C34-EFFCA84F4076}"/>
                </a:ext>
              </a:extLst>
            </p:cNvPr>
            <p:cNvSpPr/>
            <p:nvPr/>
          </p:nvSpPr>
          <p:spPr>
            <a:xfrm>
              <a:off x="303987" y="1131590"/>
              <a:ext cx="4248472" cy="2160240"/>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u="sng" noProof="0" dirty="0">
                <a:solidFill>
                  <a:schemeClr val="tx1"/>
                </a:solidFill>
              </a:endParaRPr>
            </a:p>
          </p:txBody>
        </p:sp>
        <p:grpSp>
          <p:nvGrpSpPr>
            <p:cNvPr id="4" name="Gruppieren 3">
              <a:extLst>
                <a:ext uri="{FF2B5EF4-FFF2-40B4-BE49-F238E27FC236}">
                  <a16:creationId xmlns:a16="http://schemas.microsoft.com/office/drawing/2014/main" id="{5CE3D8D2-8E56-5E12-F7A6-7AC6C6F8AA5D}"/>
                </a:ext>
              </a:extLst>
            </p:cNvPr>
            <p:cNvGrpSpPr/>
            <p:nvPr/>
          </p:nvGrpSpPr>
          <p:grpSpPr>
            <a:xfrm>
              <a:off x="375697" y="1202256"/>
              <a:ext cx="4104747" cy="2022016"/>
              <a:chOff x="3994530" y="848190"/>
              <a:chExt cx="4826243" cy="2377429"/>
            </a:xfrm>
          </p:grpSpPr>
          <p:pic>
            <p:nvPicPr>
              <p:cNvPr id="5" name="Picture 2">
                <a:extLst>
                  <a:ext uri="{FF2B5EF4-FFF2-40B4-BE49-F238E27FC236}">
                    <a16:creationId xmlns:a16="http://schemas.microsoft.com/office/drawing/2014/main" id="{A338B15B-97DD-75C0-F976-F2A4440848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0929"/>
              <a:stretch>
                <a:fillRect/>
              </a:stretch>
            </p:blipFill>
            <p:spPr bwMode="auto">
              <a:xfrm>
                <a:off x="3994530" y="848190"/>
                <a:ext cx="2343151" cy="145829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AC4D4922-36FC-8BF2-981B-A4F92358AF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6693"/>
              <a:stretch>
                <a:fillRect/>
              </a:stretch>
            </p:blipFill>
            <p:spPr bwMode="auto">
              <a:xfrm>
                <a:off x="6477623" y="1641443"/>
                <a:ext cx="2343150" cy="158417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5" name="Gruppieren 14">
            <a:extLst>
              <a:ext uri="{FF2B5EF4-FFF2-40B4-BE49-F238E27FC236}">
                <a16:creationId xmlns:a16="http://schemas.microsoft.com/office/drawing/2014/main" id="{129B969D-66F0-2495-2396-F2DE208FE8F3}"/>
              </a:ext>
            </a:extLst>
          </p:cNvPr>
          <p:cNvGrpSpPr/>
          <p:nvPr/>
        </p:nvGrpSpPr>
        <p:grpSpPr>
          <a:xfrm>
            <a:off x="4644008" y="1131589"/>
            <a:ext cx="4248770" cy="2161583"/>
            <a:chOff x="4644008" y="1131589"/>
            <a:chExt cx="4248770" cy="2161583"/>
          </a:xfrm>
        </p:grpSpPr>
        <p:pic>
          <p:nvPicPr>
            <p:cNvPr id="7" name="Picture 8" descr="https://www.formedium.com/wp-content/uploads/2018/03/Aggregating-cells-phase-contrast1.jpg">
              <a:extLst>
                <a:ext uri="{FF2B5EF4-FFF2-40B4-BE49-F238E27FC236}">
                  <a16:creationId xmlns:a16="http://schemas.microsoft.com/office/drawing/2014/main" id="{D1386208-1036-8FDA-784A-9016245A1208}"/>
                </a:ext>
              </a:extLst>
            </p:cNvPr>
            <p:cNvPicPr>
              <a:picLocks noChangeAspect="1" noChangeArrowheads="1"/>
            </p:cNvPicPr>
            <p:nvPr/>
          </p:nvPicPr>
          <p:blipFill>
            <a:blip r:embed="rId4" cstate="print"/>
            <a:srcRect l="6618" r="15201" b="53120"/>
            <a:stretch>
              <a:fillRect/>
            </a:stretch>
          </p:blipFill>
          <p:spPr bwMode="auto">
            <a:xfrm>
              <a:off x="4644008" y="1131589"/>
              <a:ext cx="4248472" cy="2160241"/>
            </a:xfrm>
            <a:prstGeom prst="rect">
              <a:avLst/>
            </a:prstGeom>
            <a:noFill/>
          </p:spPr>
        </p:pic>
        <p:sp>
          <p:nvSpPr>
            <p:cNvPr id="8" name="Rechteck 7">
              <a:extLst>
                <a:ext uri="{FF2B5EF4-FFF2-40B4-BE49-F238E27FC236}">
                  <a16:creationId xmlns:a16="http://schemas.microsoft.com/office/drawing/2014/main" id="{30C773C2-7465-519A-418E-96655A764C52}"/>
                </a:ext>
              </a:extLst>
            </p:cNvPr>
            <p:cNvSpPr/>
            <p:nvPr/>
          </p:nvSpPr>
          <p:spPr>
            <a:xfrm>
              <a:off x="4644306" y="1132932"/>
              <a:ext cx="4248472" cy="2160240"/>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u="sng" noProof="0" dirty="0">
                <a:solidFill>
                  <a:schemeClr val="tx1"/>
                </a:solidFill>
              </a:endParaRPr>
            </a:p>
          </p:txBody>
        </p:sp>
        <p:pic>
          <p:nvPicPr>
            <p:cNvPr id="9" name="Picture 4" descr="https://scienceandbelief.files.wordpress.com/2015/08/d-discoideum.jpg?w=636">
              <a:extLst>
                <a:ext uri="{FF2B5EF4-FFF2-40B4-BE49-F238E27FC236}">
                  <a16:creationId xmlns:a16="http://schemas.microsoft.com/office/drawing/2014/main" id="{DCF8F79B-2E2D-D120-6EFA-6B799D7439B0}"/>
                </a:ext>
              </a:extLst>
            </p:cNvPr>
            <p:cNvPicPr>
              <a:picLocks noChangeAspect="1" noChangeArrowheads="1"/>
            </p:cNvPicPr>
            <p:nvPr/>
          </p:nvPicPr>
          <p:blipFill>
            <a:blip r:embed="rId5"/>
            <a:srcRect/>
            <a:stretch>
              <a:fillRect/>
            </a:stretch>
          </p:blipFill>
          <p:spPr bwMode="auto">
            <a:xfrm>
              <a:off x="7185389" y="1184016"/>
              <a:ext cx="1656485" cy="1198191"/>
            </a:xfrm>
            <a:prstGeom prst="rect">
              <a:avLst/>
            </a:prstGeom>
            <a:noFill/>
          </p:spPr>
        </p:pic>
      </p:grpSp>
      <p:sp>
        <p:nvSpPr>
          <p:cNvPr id="16" name="Rechteck 15">
            <a:extLst>
              <a:ext uri="{FF2B5EF4-FFF2-40B4-BE49-F238E27FC236}">
                <a16:creationId xmlns:a16="http://schemas.microsoft.com/office/drawing/2014/main" id="{9C73212D-BA6A-E409-4E77-6F1B94AE441D}"/>
              </a:ext>
            </a:extLst>
          </p:cNvPr>
          <p:cNvSpPr/>
          <p:nvPr/>
        </p:nvSpPr>
        <p:spPr>
          <a:xfrm>
            <a:off x="6876256" y="3507854"/>
            <a:ext cx="2016224" cy="1512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1400" dirty="0"/>
              <a:t>Flocking,</a:t>
            </a:r>
            <a:br>
              <a:rPr lang="en-US" sz="1400" dirty="0"/>
            </a:br>
            <a:r>
              <a:rPr lang="en-US" sz="1400" dirty="0"/>
              <a:t>Chase &amp; Escape</a:t>
            </a:r>
          </a:p>
        </p:txBody>
      </p:sp>
      <p:sp>
        <p:nvSpPr>
          <p:cNvPr id="17" name="Rechteck 16">
            <a:extLst>
              <a:ext uri="{FF2B5EF4-FFF2-40B4-BE49-F238E27FC236}">
                <a16:creationId xmlns:a16="http://schemas.microsoft.com/office/drawing/2014/main" id="{5FDC9383-0BD5-171F-D551-98B8386A2984}"/>
              </a:ext>
            </a:extLst>
          </p:cNvPr>
          <p:cNvSpPr/>
          <p:nvPr/>
        </p:nvSpPr>
        <p:spPr>
          <a:xfrm>
            <a:off x="251520" y="3507854"/>
            <a:ext cx="2016224" cy="1512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1400" dirty="0"/>
              <a:t>Agent-Based Modeling &amp; Simulation in Biology</a:t>
            </a:r>
          </a:p>
          <a:p>
            <a:pPr algn="ctr">
              <a:spcAft>
                <a:spcPts val="600"/>
              </a:spcAft>
            </a:pPr>
            <a:endParaRPr lang="en-US" sz="200" dirty="0">
              <a:solidFill>
                <a:schemeClr val="bg1"/>
              </a:solidFill>
            </a:endParaRPr>
          </a:p>
          <a:p>
            <a:pPr algn="ctr">
              <a:spcAft>
                <a:spcPts val="600"/>
              </a:spcAft>
            </a:pPr>
            <a:r>
              <a:rPr lang="en-US" sz="1400" dirty="0">
                <a:solidFill>
                  <a:schemeClr val="bg1"/>
                </a:solidFill>
              </a:rPr>
              <a:t>Evolution &amp; Cell Differentiation</a:t>
            </a:r>
            <a:endParaRPr lang="en-US" sz="1400" dirty="0"/>
          </a:p>
        </p:txBody>
      </p:sp>
      <p:sp>
        <p:nvSpPr>
          <p:cNvPr id="18" name="Rechteck 17">
            <a:extLst>
              <a:ext uri="{FF2B5EF4-FFF2-40B4-BE49-F238E27FC236}">
                <a16:creationId xmlns:a16="http://schemas.microsoft.com/office/drawing/2014/main" id="{1ABCAA5D-4AF2-F88A-E9D7-D21BA741CD7F}"/>
              </a:ext>
            </a:extLst>
          </p:cNvPr>
          <p:cNvSpPr/>
          <p:nvPr/>
        </p:nvSpPr>
        <p:spPr>
          <a:xfrm>
            <a:off x="2330457" y="2736132"/>
            <a:ext cx="4487859" cy="6628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3" name="Gruppieren 12">
            <a:extLst>
              <a:ext uri="{FF2B5EF4-FFF2-40B4-BE49-F238E27FC236}">
                <a16:creationId xmlns:a16="http://schemas.microsoft.com/office/drawing/2014/main" id="{3AED7343-1559-DF71-6A1D-A68F941375AA}"/>
              </a:ext>
            </a:extLst>
          </p:cNvPr>
          <p:cNvGrpSpPr/>
          <p:nvPr/>
        </p:nvGrpSpPr>
        <p:grpSpPr>
          <a:xfrm>
            <a:off x="2447830" y="2858439"/>
            <a:ext cx="4249240" cy="2161583"/>
            <a:chOff x="2447830" y="2858439"/>
            <a:chExt cx="4249240" cy="2161583"/>
          </a:xfrm>
        </p:grpSpPr>
        <p:pic>
          <p:nvPicPr>
            <p:cNvPr id="10" name="Picture 2" descr="https://www.rsb.org.uk/images/biologist/2021/69.1.FebMar/LionHyena.jpg?1639393003113">
              <a:extLst>
                <a:ext uri="{FF2B5EF4-FFF2-40B4-BE49-F238E27FC236}">
                  <a16:creationId xmlns:a16="http://schemas.microsoft.com/office/drawing/2014/main" id="{CAD0109E-C74B-A928-8912-0B9AC4647C9E}"/>
                </a:ext>
              </a:extLst>
            </p:cNvPr>
            <p:cNvPicPr>
              <a:picLocks noChangeAspect="1" noChangeArrowheads="1"/>
            </p:cNvPicPr>
            <p:nvPr/>
          </p:nvPicPr>
          <p:blipFill>
            <a:blip r:embed="rId6" cstate="print"/>
            <a:srcRect l="21315" t="18540" r="1" b="13816"/>
            <a:stretch>
              <a:fillRect/>
            </a:stretch>
          </p:blipFill>
          <p:spPr bwMode="auto">
            <a:xfrm>
              <a:off x="2447830" y="2858439"/>
              <a:ext cx="4248472" cy="2161583"/>
            </a:xfrm>
            <a:prstGeom prst="rect">
              <a:avLst/>
            </a:prstGeom>
            <a:noFill/>
          </p:spPr>
        </p:pic>
        <p:sp>
          <p:nvSpPr>
            <p:cNvPr id="11" name="Rechteck 10">
              <a:extLst>
                <a:ext uri="{FF2B5EF4-FFF2-40B4-BE49-F238E27FC236}">
                  <a16:creationId xmlns:a16="http://schemas.microsoft.com/office/drawing/2014/main" id="{5E2C460F-9960-56DF-9999-FE8BC6B640CF}"/>
                </a:ext>
              </a:extLst>
            </p:cNvPr>
            <p:cNvSpPr/>
            <p:nvPr/>
          </p:nvSpPr>
          <p:spPr>
            <a:xfrm>
              <a:off x="2448598" y="2859782"/>
              <a:ext cx="4248472" cy="2160240"/>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u="sng" noProof="0" dirty="0">
                <a:solidFill>
                  <a:schemeClr val="tx1"/>
                </a:solidFill>
              </a:endParaRPr>
            </a:p>
          </p:txBody>
        </p:sp>
        <p:pic>
          <p:nvPicPr>
            <p:cNvPr id="12" name="Picture 2">
              <a:extLst>
                <a:ext uri="{FF2B5EF4-FFF2-40B4-BE49-F238E27FC236}">
                  <a16:creationId xmlns:a16="http://schemas.microsoft.com/office/drawing/2014/main" id="{1296958E-6597-A97D-0544-9079C26D923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47928" y="2906390"/>
              <a:ext cx="1593172" cy="124819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41744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D3953-6F66-6ED2-236F-87EA9A09B18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1291C84-B5AF-B716-76E3-C9CE48A6C0E8}"/>
              </a:ext>
            </a:extLst>
          </p:cNvPr>
          <p:cNvSpPr>
            <a:spLocks noGrp="1"/>
          </p:cNvSpPr>
          <p:nvPr>
            <p:ph type="title"/>
          </p:nvPr>
        </p:nvSpPr>
        <p:spPr/>
        <p:txBody>
          <a:bodyPr/>
          <a:lstStyle/>
          <a:p>
            <a:r>
              <a:rPr lang="en-US" noProof="0" dirty="0"/>
              <a:t>The course roadmap</a:t>
            </a:r>
            <a:r>
              <a:rPr lang="en-US" dirty="0"/>
              <a:t> </a:t>
            </a:r>
            <a:r>
              <a:rPr lang="en-US" noProof="0" dirty="0"/>
              <a:t>(1/ 2)</a:t>
            </a:r>
          </a:p>
        </p:txBody>
      </p:sp>
      <p:graphicFrame>
        <p:nvGraphicFramePr>
          <p:cNvPr id="3" name="Tabelle 2">
            <a:extLst>
              <a:ext uri="{FF2B5EF4-FFF2-40B4-BE49-F238E27FC236}">
                <a16:creationId xmlns:a16="http://schemas.microsoft.com/office/drawing/2014/main" id="{8251C142-BC89-96CA-FDBC-C14C653AC116}"/>
              </a:ext>
            </a:extLst>
          </p:cNvPr>
          <p:cNvGraphicFramePr>
            <a:graphicFrameLocks noGrp="1"/>
          </p:cNvGraphicFramePr>
          <p:nvPr/>
        </p:nvGraphicFramePr>
        <p:xfrm>
          <a:off x="251522" y="2283718"/>
          <a:ext cx="2160242" cy="1066800"/>
        </p:xfrm>
        <a:graphic>
          <a:graphicData uri="http://schemas.openxmlformats.org/drawingml/2006/table">
            <a:tbl>
              <a:tblPr firstRow="1" bandRow="1">
                <a:tableStyleId>{2D5ABB26-0587-4C30-8999-92F81FD0307C}</a:tableStyleId>
              </a:tblPr>
              <a:tblGrid>
                <a:gridCol w="308606">
                  <a:extLst>
                    <a:ext uri="{9D8B030D-6E8A-4147-A177-3AD203B41FA5}">
                      <a16:colId xmlns:a16="http://schemas.microsoft.com/office/drawing/2014/main" val="20000"/>
                    </a:ext>
                  </a:extLst>
                </a:gridCol>
                <a:gridCol w="308606">
                  <a:extLst>
                    <a:ext uri="{9D8B030D-6E8A-4147-A177-3AD203B41FA5}">
                      <a16:colId xmlns:a16="http://schemas.microsoft.com/office/drawing/2014/main" val="20001"/>
                    </a:ext>
                  </a:extLst>
                </a:gridCol>
                <a:gridCol w="308606">
                  <a:extLst>
                    <a:ext uri="{9D8B030D-6E8A-4147-A177-3AD203B41FA5}">
                      <a16:colId xmlns:a16="http://schemas.microsoft.com/office/drawing/2014/main" val="20002"/>
                    </a:ext>
                  </a:extLst>
                </a:gridCol>
                <a:gridCol w="308606">
                  <a:extLst>
                    <a:ext uri="{9D8B030D-6E8A-4147-A177-3AD203B41FA5}">
                      <a16:colId xmlns:a16="http://schemas.microsoft.com/office/drawing/2014/main" val="20003"/>
                    </a:ext>
                  </a:extLst>
                </a:gridCol>
                <a:gridCol w="308606">
                  <a:extLst>
                    <a:ext uri="{9D8B030D-6E8A-4147-A177-3AD203B41FA5}">
                      <a16:colId xmlns:a16="http://schemas.microsoft.com/office/drawing/2014/main" val="20004"/>
                    </a:ext>
                  </a:extLst>
                </a:gridCol>
                <a:gridCol w="308606">
                  <a:extLst>
                    <a:ext uri="{9D8B030D-6E8A-4147-A177-3AD203B41FA5}">
                      <a16:colId xmlns:a16="http://schemas.microsoft.com/office/drawing/2014/main" val="20005"/>
                    </a:ext>
                  </a:extLst>
                </a:gridCol>
                <a:gridCol w="308606">
                  <a:extLst>
                    <a:ext uri="{9D8B030D-6E8A-4147-A177-3AD203B41FA5}">
                      <a16:colId xmlns:a16="http://schemas.microsoft.com/office/drawing/2014/main" val="20006"/>
                    </a:ext>
                  </a:extLst>
                </a:gridCol>
              </a:tblGrid>
              <a:tr h="0">
                <a:tc gridSpan="7">
                  <a:txBody>
                    <a:bodyPr/>
                    <a:lstStyle/>
                    <a:p>
                      <a:pPr algn="ctr">
                        <a:spcBef>
                          <a:spcPts val="200"/>
                        </a:spcBef>
                        <a:spcAft>
                          <a:spcPts val="0"/>
                        </a:spcAft>
                      </a:pPr>
                      <a:r>
                        <a:rPr lang="en-US" sz="1000" b="1" noProof="0" dirty="0">
                          <a:solidFill>
                            <a:schemeClr val="bg1"/>
                          </a:solidFill>
                          <a:latin typeface="+mn-lt"/>
                          <a:ea typeface="MS Gothic"/>
                          <a:cs typeface="Times New Roman"/>
                        </a:rPr>
                        <a:t>May 206</a:t>
                      </a:r>
                    </a:p>
                  </a:txBody>
                  <a:tcPr marL="0" marR="0" marT="0" marB="0">
                    <a:solidFill>
                      <a:schemeClr val="tx2"/>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extLst>
                  <a:ext uri="{0D108BD9-81ED-4DB2-BD59-A6C34878D82A}">
                    <a16:rowId xmlns:a16="http://schemas.microsoft.com/office/drawing/2014/main" val="10000"/>
                  </a:ext>
                </a:extLst>
              </a:tr>
              <a:tr h="30861">
                <a:tc>
                  <a:txBody>
                    <a:bodyPr/>
                    <a:lstStyle/>
                    <a:p>
                      <a:pPr algn="ctr">
                        <a:spcBef>
                          <a:spcPts val="200"/>
                        </a:spcBef>
                        <a:spcAft>
                          <a:spcPts val="0"/>
                        </a:spcAft>
                      </a:pPr>
                      <a:r>
                        <a:rPr lang="en-US" sz="1000" noProof="0" dirty="0">
                          <a:solidFill>
                            <a:schemeClr val="bg1"/>
                          </a:solidFill>
                          <a:latin typeface="+mn-lt"/>
                          <a:ea typeface="MS Gothic"/>
                          <a:cs typeface="Times New Roman"/>
                        </a:rPr>
                        <a:t>Mo</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Tu</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We</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Th</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Fr</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Sa</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Su</a:t>
                      </a:r>
                    </a:p>
                  </a:txBody>
                  <a:tcPr marL="0" marR="0" marT="0" marB="0">
                    <a:solidFill>
                      <a:schemeClr val="tx2"/>
                    </a:solidFill>
                  </a:tcPr>
                </a:tc>
                <a:extLst>
                  <a:ext uri="{0D108BD9-81ED-4DB2-BD59-A6C34878D82A}">
                    <a16:rowId xmlns:a16="http://schemas.microsoft.com/office/drawing/2014/main" val="10001"/>
                  </a:ext>
                </a:extLst>
              </a:tr>
              <a:tr h="30861">
                <a:tc>
                  <a:txBody>
                    <a:bodyPr/>
                    <a:lstStyle/>
                    <a:p>
                      <a:pPr algn="ctr">
                        <a:spcBef>
                          <a:spcPts val="200"/>
                        </a:spcBef>
                        <a:spcAft>
                          <a:spcPts val="200"/>
                        </a:spcAft>
                      </a:pPr>
                      <a:endParaRPr lang="en-US" sz="1000" noProof="0" dirty="0">
                        <a:solidFill>
                          <a:schemeClr val="tx1"/>
                        </a:solidFill>
                        <a:latin typeface="+mn-lt"/>
                        <a:ea typeface="MS Mincho"/>
                        <a:cs typeface="Times New Roman"/>
                      </a:endParaRPr>
                    </a:p>
                  </a:txBody>
                  <a:tcPr marL="0" marR="0" marT="0" marB="0">
                    <a:solidFill>
                      <a:schemeClr val="accent1">
                        <a:lumMod val="20000"/>
                        <a:lumOff val="80000"/>
                      </a:schemeClr>
                    </a:solidFill>
                  </a:tcPr>
                </a:tc>
                <a:tc>
                  <a:txBody>
                    <a:bodyPr/>
                    <a:lstStyle/>
                    <a:p>
                      <a:pPr algn="ctr">
                        <a:spcBef>
                          <a:spcPts val="200"/>
                        </a:spcBef>
                        <a:spcAft>
                          <a:spcPts val="200"/>
                        </a:spcAft>
                      </a:pPr>
                      <a:endParaRPr lang="en-US" sz="1000" noProof="0" dirty="0">
                        <a:solidFill>
                          <a:schemeClr val="tx1"/>
                        </a:solidFill>
                        <a:latin typeface="+mn-lt"/>
                        <a:ea typeface="MS Mincho"/>
                        <a:cs typeface="Times New Roman"/>
                      </a:endParaRPr>
                    </a:p>
                  </a:txBody>
                  <a:tcPr marL="0" marR="0" marT="0" marB="0">
                    <a:solidFill>
                      <a:schemeClr val="accent1">
                        <a:lumMod val="20000"/>
                        <a:lumOff val="80000"/>
                      </a:schemeClr>
                    </a:solidFill>
                  </a:tcPr>
                </a:tc>
                <a:tc>
                  <a:txBody>
                    <a:bodyPr/>
                    <a:lstStyle/>
                    <a:p>
                      <a:pPr algn="ctr">
                        <a:spcBef>
                          <a:spcPts val="200"/>
                        </a:spcBef>
                        <a:spcAft>
                          <a:spcPts val="200"/>
                        </a:spcAft>
                      </a:pPr>
                      <a:endParaRPr lang="en-US" sz="1000" noProof="0" dirty="0">
                        <a:solidFill>
                          <a:schemeClr val="tx1"/>
                        </a:solidFill>
                        <a:latin typeface="+mn-lt"/>
                        <a:ea typeface="MS Mincho"/>
                        <a:cs typeface="Times New Roman"/>
                      </a:endParaRPr>
                    </a:p>
                  </a:txBody>
                  <a:tcPr marL="0" marR="0" marT="0" marB="0">
                    <a:solidFill>
                      <a:schemeClr val="accent1">
                        <a:lumMod val="20000"/>
                        <a:lumOff val="80000"/>
                      </a:schemeClr>
                    </a:solidFill>
                  </a:tcPr>
                </a:tc>
                <a:tc>
                  <a:txBody>
                    <a:bodyPr/>
                    <a:lstStyle/>
                    <a:p>
                      <a:pPr algn="ctr">
                        <a:spcBef>
                          <a:spcPts val="200"/>
                        </a:spcBef>
                        <a:spcAft>
                          <a:spcPts val="200"/>
                        </a:spcAft>
                      </a:pPr>
                      <a:endParaRPr lang="en-US" sz="1000" noProof="0" dirty="0">
                        <a:solidFill>
                          <a:schemeClr val="tx1"/>
                        </a:solidFill>
                        <a:latin typeface="+mn-lt"/>
                        <a:ea typeface="MS Mincho"/>
                        <a:cs typeface="Times New Roman"/>
                      </a:endParaRPr>
                    </a:p>
                  </a:txBody>
                  <a:tcPr marL="0" marR="0" marT="0" marB="0">
                    <a:solidFill>
                      <a:schemeClr val="accent1">
                        <a:lumMod val="20000"/>
                        <a:lumOff val="8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a:t>
                      </a:r>
                    </a:p>
                  </a:txBody>
                  <a:tcPr marL="0" marR="0" marT="0" marB="0">
                    <a:solidFill>
                      <a:srgbClr val="FFC000"/>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2</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3</a:t>
                      </a:r>
                    </a:p>
                  </a:txBody>
                  <a:tcPr marL="0" marR="0" marT="0" marB="0">
                    <a:solidFill>
                      <a:schemeClr val="tx2">
                        <a:lumMod val="40000"/>
                        <a:lumOff val="60000"/>
                      </a:schemeClr>
                    </a:solidFill>
                  </a:tcPr>
                </a:tc>
                <a:extLst>
                  <a:ext uri="{0D108BD9-81ED-4DB2-BD59-A6C34878D82A}">
                    <a16:rowId xmlns:a16="http://schemas.microsoft.com/office/drawing/2014/main" val="10002"/>
                  </a:ext>
                </a:extLst>
              </a:tr>
              <a:tr h="30861">
                <a:tc>
                  <a:txBody>
                    <a:bodyPr/>
                    <a:lstStyle/>
                    <a:p>
                      <a:pPr algn="ctr">
                        <a:spcBef>
                          <a:spcPts val="200"/>
                        </a:spcBef>
                        <a:spcAft>
                          <a:spcPts val="200"/>
                        </a:spcAft>
                      </a:pPr>
                      <a:r>
                        <a:rPr lang="en-US" sz="1000" noProof="0" dirty="0">
                          <a:solidFill>
                            <a:schemeClr val="tx1"/>
                          </a:solidFill>
                          <a:latin typeface="+mn-lt"/>
                          <a:ea typeface="MS Mincho"/>
                          <a:cs typeface="Times New Roman"/>
                        </a:rPr>
                        <a:t>4</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5</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6</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7</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8</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9</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10</a:t>
                      </a:r>
                    </a:p>
                  </a:txBody>
                  <a:tcPr marL="0" marR="0" marT="0" marB="0">
                    <a:solidFill>
                      <a:schemeClr val="tx2">
                        <a:lumMod val="40000"/>
                        <a:lumOff val="60000"/>
                      </a:schemeClr>
                    </a:solidFill>
                  </a:tcPr>
                </a:tc>
                <a:extLst>
                  <a:ext uri="{0D108BD9-81ED-4DB2-BD59-A6C34878D82A}">
                    <a16:rowId xmlns:a16="http://schemas.microsoft.com/office/drawing/2014/main" val="10003"/>
                  </a:ext>
                </a:extLst>
              </a:tr>
              <a:tr h="30861">
                <a:tc>
                  <a:txBody>
                    <a:bodyPr/>
                    <a:lstStyle/>
                    <a:p>
                      <a:pPr algn="ctr">
                        <a:spcBef>
                          <a:spcPts val="200"/>
                        </a:spcBef>
                        <a:spcAft>
                          <a:spcPts val="200"/>
                        </a:spcAft>
                      </a:pPr>
                      <a:r>
                        <a:rPr lang="en-US" sz="1000" noProof="0" dirty="0">
                          <a:solidFill>
                            <a:schemeClr val="tx1"/>
                          </a:solidFill>
                          <a:latin typeface="+mn-lt"/>
                          <a:ea typeface="MS Mincho"/>
                          <a:cs typeface="Times New Roman"/>
                        </a:rPr>
                        <a:t>11</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12</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13</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14</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15</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16</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17</a:t>
                      </a:r>
                    </a:p>
                  </a:txBody>
                  <a:tcPr marL="0" marR="0" marT="0" marB="0">
                    <a:solidFill>
                      <a:schemeClr val="tx2">
                        <a:lumMod val="40000"/>
                        <a:lumOff val="60000"/>
                      </a:schemeClr>
                    </a:solidFill>
                  </a:tcPr>
                </a:tc>
                <a:extLst>
                  <a:ext uri="{0D108BD9-81ED-4DB2-BD59-A6C34878D82A}">
                    <a16:rowId xmlns:a16="http://schemas.microsoft.com/office/drawing/2014/main" val="10004"/>
                  </a:ext>
                </a:extLst>
              </a:tr>
              <a:tr h="30861">
                <a:tc>
                  <a:txBody>
                    <a:bodyPr/>
                    <a:lstStyle/>
                    <a:p>
                      <a:pPr algn="ctr">
                        <a:spcBef>
                          <a:spcPts val="200"/>
                        </a:spcBef>
                        <a:spcAft>
                          <a:spcPts val="200"/>
                        </a:spcAft>
                      </a:pPr>
                      <a:r>
                        <a:rPr lang="en-US" sz="1000" noProof="0" dirty="0">
                          <a:solidFill>
                            <a:schemeClr val="tx1"/>
                          </a:solidFill>
                          <a:latin typeface="+mn-lt"/>
                          <a:ea typeface="MS Mincho"/>
                          <a:cs typeface="Times New Roman"/>
                        </a:rPr>
                        <a:t>18</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19</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20</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21</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22</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23</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24</a:t>
                      </a:r>
                    </a:p>
                  </a:txBody>
                  <a:tcPr marL="0" marR="0" marT="0" marB="0">
                    <a:solidFill>
                      <a:schemeClr val="tx2">
                        <a:lumMod val="40000"/>
                        <a:lumOff val="60000"/>
                      </a:schemeClr>
                    </a:solidFill>
                  </a:tcPr>
                </a:tc>
                <a:extLst>
                  <a:ext uri="{0D108BD9-81ED-4DB2-BD59-A6C34878D82A}">
                    <a16:rowId xmlns:a16="http://schemas.microsoft.com/office/drawing/2014/main" val="10005"/>
                  </a:ext>
                </a:extLst>
              </a:tr>
              <a:tr h="30861">
                <a:tc>
                  <a:txBody>
                    <a:bodyPr/>
                    <a:lstStyle/>
                    <a:p>
                      <a:pPr algn="ctr">
                        <a:spcBef>
                          <a:spcPts val="200"/>
                        </a:spcBef>
                        <a:spcAft>
                          <a:spcPts val="200"/>
                        </a:spcAft>
                      </a:pPr>
                      <a:r>
                        <a:rPr lang="en-US" sz="1000" noProof="0" dirty="0">
                          <a:solidFill>
                            <a:schemeClr val="tx1"/>
                          </a:solidFill>
                          <a:latin typeface="+mn-lt"/>
                          <a:ea typeface="MS Mincho"/>
                          <a:cs typeface="Times New Roman"/>
                        </a:rPr>
                        <a:t>25</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26</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27</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28</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29</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30</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31</a:t>
                      </a:r>
                    </a:p>
                  </a:txBody>
                  <a:tcPr marL="0" marR="0" marT="0" marB="0">
                    <a:solidFill>
                      <a:schemeClr val="tx2">
                        <a:lumMod val="40000"/>
                        <a:lumOff val="60000"/>
                      </a:schemeClr>
                    </a:solidFill>
                  </a:tcPr>
                </a:tc>
                <a:extLst>
                  <a:ext uri="{0D108BD9-81ED-4DB2-BD59-A6C34878D82A}">
                    <a16:rowId xmlns:a16="http://schemas.microsoft.com/office/drawing/2014/main" val="10006"/>
                  </a:ext>
                </a:extLst>
              </a:tr>
            </a:tbl>
          </a:graphicData>
        </a:graphic>
      </p:graphicFrame>
      <p:graphicFrame>
        <p:nvGraphicFramePr>
          <p:cNvPr id="4" name="Tabelle 3">
            <a:extLst>
              <a:ext uri="{FF2B5EF4-FFF2-40B4-BE49-F238E27FC236}">
                <a16:creationId xmlns:a16="http://schemas.microsoft.com/office/drawing/2014/main" id="{93465119-03E0-4E63-996B-9804E1E459AB}"/>
              </a:ext>
            </a:extLst>
          </p:cNvPr>
          <p:cNvGraphicFramePr>
            <a:graphicFrameLocks noGrp="1"/>
          </p:cNvGraphicFramePr>
          <p:nvPr/>
        </p:nvGraphicFramePr>
        <p:xfrm>
          <a:off x="251520" y="1131590"/>
          <a:ext cx="2160242" cy="1066800"/>
        </p:xfrm>
        <a:graphic>
          <a:graphicData uri="http://schemas.openxmlformats.org/drawingml/2006/table">
            <a:tbl>
              <a:tblPr firstRow="1" bandRow="1">
                <a:tableStyleId>{2D5ABB26-0587-4C30-8999-92F81FD0307C}</a:tableStyleId>
              </a:tblPr>
              <a:tblGrid>
                <a:gridCol w="308606">
                  <a:extLst>
                    <a:ext uri="{9D8B030D-6E8A-4147-A177-3AD203B41FA5}">
                      <a16:colId xmlns:a16="http://schemas.microsoft.com/office/drawing/2014/main" val="20000"/>
                    </a:ext>
                  </a:extLst>
                </a:gridCol>
                <a:gridCol w="308606">
                  <a:extLst>
                    <a:ext uri="{9D8B030D-6E8A-4147-A177-3AD203B41FA5}">
                      <a16:colId xmlns:a16="http://schemas.microsoft.com/office/drawing/2014/main" val="20001"/>
                    </a:ext>
                  </a:extLst>
                </a:gridCol>
                <a:gridCol w="308606">
                  <a:extLst>
                    <a:ext uri="{9D8B030D-6E8A-4147-A177-3AD203B41FA5}">
                      <a16:colId xmlns:a16="http://schemas.microsoft.com/office/drawing/2014/main" val="20002"/>
                    </a:ext>
                  </a:extLst>
                </a:gridCol>
                <a:gridCol w="308606">
                  <a:extLst>
                    <a:ext uri="{9D8B030D-6E8A-4147-A177-3AD203B41FA5}">
                      <a16:colId xmlns:a16="http://schemas.microsoft.com/office/drawing/2014/main" val="20003"/>
                    </a:ext>
                  </a:extLst>
                </a:gridCol>
                <a:gridCol w="308606">
                  <a:extLst>
                    <a:ext uri="{9D8B030D-6E8A-4147-A177-3AD203B41FA5}">
                      <a16:colId xmlns:a16="http://schemas.microsoft.com/office/drawing/2014/main" val="20004"/>
                    </a:ext>
                  </a:extLst>
                </a:gridCol>
                <a:gridCol w="308606">
                  <a:extLst>
                    <a:ext uri="{9D8B030D-6E8A-4147-A177-3AD203B41FA5}">
                      <a16:colId xmlns:a16="http://schemas.microsoft.com/office/drawing/2014/main" val="20005"/>
                    </a:ext>
                  </a:extLst>
                </a:gridCol>
                <a:gridCol w="308606">
                  <a:extLst>
                    <a:ext uri="{9D8B030D-6E8A-4147-A177-3AD203B41FA5}">
                      <a16:colId xmlns:a16="http://schemas.microsoft.com/office/drawing/2014/main" val="20006"/>
                    </a:ext>
                  </a:extLst>
                </a:gridCol>
              </a:tblGrid>
              <a:tr h="0">
                <a:tc gridSpan="7">
                  <a:txBody>
                    <a:bodyPr/>
                    <a:lstStyle/>
                    <a:p>
                      <a:pPr algn="ctr">
                        <a:spcBef>
                          <a:spcPts val="200"/>
                        </a:spcBef>
                        <a:spcAft>
                          <a:spcPts val="0"/>
                        </a:spcAft>
                      </a:pPr>
                      <a:r>
                        <a:rPr lang="en-US" sz="1000" b="1" noProof="0" dirty="0">
                          <a:solidFill>
                            <a:schemeClr val="bg1"/>
                          </a:solidFill>
                          <a:latin typeface="+mn-lt"/>
                          <a:ea typeface="MS Gothic"/>
                          <a:cs typeface="Times New Roman"/>
                        </a:rPr>
                        <a:t>April 2026</a:t>
                      </a:r>
                    </a:p>
                  </a:txBody>
                  <a:tcPr marL="0" marR="0" marT="0" marB="0">
                    <a:solidFill>
                      <a:schemeClr val="tx2"/>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extLst>
                  <a:ext uri="{0D108BD9-81ED-4DB2-BD59-A6C34878D82A}">
                    <a16:rowId xmlns:a16="http://schemas.microsoft.com/office/drawing/2014/main" val="10000"/>
                  </a:ext>
                </a:extLst>
              </a:tr>
              <a:tr h="30861">
                <a:tc>
                  <a:txBody>
                    <a:bodyPr/>
                    <a:lstStyle/>
                    <a:p>
                      <a:pPr algn="ctr">
                        <a:spcBef>
                          <a:spcPts val="200"/>
                        </a:spcBef>
                        <a:spcAft>
                          <a:spcPts val="0"/>
                        </a:spcAft>
                      </a:pPr>
                      <a:r>
                        <a:rPr lang="en-US" sz="1000" noProof="0" dirty="0">
                          <a:solidFill>
                            <a:schemeClr val="bg1"/>
                          </a:solidFill>
                          <a:latin typeface="+mn-lt"/>
                          <a:ea typeface="MS Gothic"/>
                          <a:cs typeface="Times New Roman"/>
                        </a:rPr>
                        <a:t>Mo</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Tu</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We</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Th</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Fr</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Sa</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Su</a:t>
                      </a:r>
                    </a:p>
                  </a:txBody>
                  <a:tcPr marL="0" marR="0" marT="0" marB="0">
                    <a:solidFill>
                      <a:schemeClr val="tx2"/>
                    </a:solidFill>
                  </a:tcPr>
                </a:tc>
                <a:extLst>
                  <a:ext uri="{0D108BD9-81ED-4DB2-BD59-A6C34878D82A}">
                    <a16:rowId xmlns:a16="http://schemas.microsoft.com/office/drawing/2014/main" val="10001"/>
                  </a:ext>
                </a:extLst>
              </a:tr>
              <a:tr h="30861">
                <a:tc>
                  <a:txBody>
                    <a:bodyPr/>
                    <a:lstStyle/>
                    <a:p>
                      <a:pPr algn="ctr">
                        <a:spcBef>
                          <a:spcPts val="200"/>
                        </a:spcBef>
                        <a:spcAft>
                          <a:spcPts val="200"/>
                        </a:spcAft>
                      </a:pPr>
                      <a:endParaRPr lang="en-US" sz="1000" noProof="0" dirty="0">
                        <a:solidFill>
                          <a:schemeClr val="tx1"/>
                        </a:solidFill>
                        <a:latin typeface="+mn-lt"/>
                        <a:ea typeface="MS Mincho"/>
                        <a:cs typeface="Times New Roman"/>
                      </a:endParaRPr>
                    </a:p>
                  </a:txBody>
                  <a:tcPr marL="0" marR="0" marT="0" marB="0">
                    <a:solidFill>
                      <a:schemeClr val="tx2">
                        <a:lumMod val="40000"/>
                        <a:lumOff val="60000"/>
                      </a:schemeClr>
                    </a:solidFill>
                  </a:tcPr>
                </a:tc>
                <a:tc>
                  <a:txBody>
                    <a:bodyPr/>
                    <a:lstStyle/>
                    <a:p>
                      <a:pPr algn="ctr">
                        <a:spcBef>
                          <a:spcPts val="200"/>
                        </a:spcBef>
                        <a:spcAft>
                          <a:spcPts val="200"/>
                        </a:spcAft>
                      </a:pPr>
                      <a:endParaRPr lang="en-US" sz="1000" noProof="0" dirty="0">
                        <a:solidFill>
                          <a:schemeClr val="tx1"/>
                        </a:solidFill>
                        <a:latin typeface="+mn-lt"/>
                        <a:ea typeface="MS Mincho"/>
                        <a:cs typeface="Times New Roman"/>
                      </a:endParaRP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3</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4</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5</a:t>
                      </a:r>
                    </a:p>
                  </a:txBody>
                  <a:tcPr marL="0" marR="0" marT="0" marB="0">
                    <a:solidFill>
                      <a:schemeClr val="tx2">
                        <a:lumMod val="40000"/>
                        <a:lumOff val="60000"/>
                      </a:schemeClr>
                    </a:solidFill>
                  </a:tcPr>
                </a:tc>
                <a:extLst>
                  <a:ext uri="{0D108BD9-81ED-4DB2-BD59-A6C34878D82A}">
                    <a16:rowId xmlns:a16="http://schemas.microsoft.com/office/drawing/2014/main" val="10002"/>
                  </a:ext>
                </a:extLst>
              </a:tr>
              <a:tr h="30861">
                <a:tc>
                  <a:txBody>
                    <a:bodyPr/>
                    <a:lstStyle/>
                    <a:p>
                      <a:pPr algn="ctr">
                        <a:spcBef>
                          <a:spcPts val="200"/>
                        </a:spcBef>
                        <a:spcAft>
                          <a:spcPts val="200"/>
                        </a:spcAft>
                      </a:pPr>
                      <a:r>
                        <a:rPr lang="en-US" sz="1000" noProof="0" dirty="0">
                          <a:solidFill>
                            <a:schemeClr val="tx1"/>
                          </a:solidFill>
                          <a:latin typeface="+mn-lt"/>
                          <a:ea typeface="MS Mincho"/>
                          <a:cs typeface="Times New Roman"/>
                        </a:rPr>
                        <a:t>6</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7</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8</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9</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10</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11</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12</a:t>
                      </a:r>
                    </a:p>
                  </a:txBody>
                  <a:tcPr marL="0" marR="0" marT="0" marB="0">
                    <a:solidFill>
                      <a:schemeClr val="tx2">
                        <a:lumMod val="40000"/>
                        <a:lumOff val="60000"/>
                      </a:schemeClr>
                    </a:solidFill>
                  </a:tcPr>
                </a:tc>
                <a:extLst>
                  <a:ext uri="{0D108BD9-81ED-4DB2-BD59-A6C34878D82A}">
                    <a16:rowId xmlns:a16="http://schemas.microsoft.com/office/drawing/2014/main" val="10003"/>
                  </a:ext>
                </a:extLst>
              </a:tr>
              <a:tr h="30861">
                <a:tc>
                  <a:txBody>
                    <a:bodyPr/>
                    <a:lstStyle/>
                    <a:p>
                      <a:pPr algn="ctr">
                        <a:spcBef>
                          <a:spcPts val="200"/>
                        </a:spcBef>
                        <a:spcAft>
                          <a:spcPts val="200"/>
                        </a:spcAft>
                      </a:pPr>
                      <a:r>
                        <a:rPr lang="en-US" sz="1000" noProof="0" dirty="0">
                          <a:solidFill>
                            <a:schemeClr val="tx1"/>
                          </a:solidFill>
                          <a:latin typeface="+mn-lt"/>
                          <a:ea typeface="MS Mincho"/>
                          <a:cs typeface="Times New Roman"/>
                        </a:rPr>
                        <a:t>13</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14</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15</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16</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17</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18</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19</a:t>
                      </a:r>
                    </a:p>
                  </a:txBody>
                  <a:tcPr marL="0" marR="0" marT="0" marB="0">
                    <a:solidFill>
                      <a:schemeClr val="tx2">
                        <a:lumMod val="40000"/>
                        <a:lumOff val="60000"/>
                      </a:schemeClr>
                    </a:solidFill>
                  </a:tcPr>
                </a:tc>
                <a:extLst>
                  <a:ext uri="{0D108BD9-81ED-4DB2-BD59-A6C34878D82A}">
                    <a16:rowId xmlns:a16="http://schemas.microsoft.com/office/drawing/2014/main" val="10004"/>
                  </a:ext>
                </a:extLst>
              </a:tr>
              <a:tr h="30861">
                <a:tc>
                  <a:txBody>
                    <a:bodyPr/>
                    <a:lstStyle/>
                    <a:p>
                      <a:pPr algn="ctr">
                        <a:spcBef>
                          <a:spcPts val="200"/>
                        </a:spcBef>
                        <a:spcAft>
                          <a:spcPts val="200"/>
                        </a:spcAft>
                      </a:pPr>
                      <a:r>
                        <a:rPr lang="en-US" sz="1000" noProof="0" dirty="0">
                          <a:solidFill>
                            <a:schemeClr val="tx1"/>
                          </a:solidFill>
                          <a:latin typeface="+mn-lt"/>
                          <a:ea typeface="MS Mincho"/>
                          <a:cs typeface="Times New Roman"/>
                        </a:rPr>
                        <a:t>20</a:t>
                      </a:r>
                    </a:p>
                  </a:txBody>
                  <a:tcPr marL="0" marR="0" marT="0" marB="0">
                    <a:solidFill>
                      <a:srgbClr val="FFC000"/>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21</a:t>
                      </a:r>
                    </a:p>
                  </a:txBody>
                  <a:tcPr marL="0" marR="0" marT="0" marB="0">
                    <a:solidFill>
                      <a:srgbClr val="FFC000"/>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22</a:t>
                      </a:r>
                    </a:p>
                  </a:txBody>
                  <a:tcPr marL="0" marR="0" marT="0" marB="0">
                    <a:solidFill>
                      <a:srgbClr val="FFC000"/>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23</a:t>
                      </a:r>
                    </a:p>
                  </a:txBody>
                  <a:tcPr marL="0" marR="0" marT="0" marB="0">
                    <a:solidFill>
                      <a:srgbClr val="FFC000"/>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24</a:t>
                      </a:r>
                    </a:p>
                  </a:txBody>
                  <a:tcPr marL="0" marR="0" marT="0" marB="0">
                    <a:solidFill>
                      <a:srgbClr val="FFC000"/>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25</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26</a:t>
                      </a:r>
                    </a:p>
                  </a:txBody>
                  <a:tcPr marL="0" marR="0" marT="0" marB="0">
                    <a:solidFill>
                      <a:schemeClr val="tx2">
                        <a:lumMod val="40000"/>
                        <a:lumOff val="60000"/>
                      </a:schemeClr>
                    </a:solidFill>
                  </a:tcPr>
                </a:tc>
                <a:extLst>
                  <a:ext uri="{0D108BD9-81ED-4DB2-BD59-A6C34878D82A}">
                    <a16:rowId xmlns:a16="http://schemas.microsoft.com/office/drawing/2014/main" val="10005"/>
                  </a:ext>
                </a:extLst>
              </a:tr>
              <a:tr h="30861">
                <a:tc>
                  <a:txBody>
                    <a:bodyPr/>
                    <a:lstStyle/>
                    <a:p>
                      <a:pPr algn="ctr">
                        <a:spcBef>
                          <a:spcPts val="200"/>
                        </a:spcBef>
                        <a:spcAft>
                          <a:spcPts val="200"/>
                        </a:spcAft>
                      </a:pPr>
                      <a:r>
                        <a:rPr lang="en-US" sz="1000" noProof="0" dirty="0">
                          <a:solidFill>
                            <a:schemeClr val="tx1"/>
                          </a:solidFill>
                          <a:latin typeface="+mn-lt"/>
                          <a:ea typeface="MS Mincho"/>
                          <a:cs typeface="Times New Roman"/>
                        </a:rPr>
                        <a:t>27</a:t>
                      </a:r>
                    </a:p>
                  </a:txBody>
                  <a:tcPr marL="0" marR="0" marT="0" marB="0">
                    <a:solidFill>
                      <a:srgbClr val="FFC000"/>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28</a:t>
                      </a:r>
                    </a:p>
                  </a:txBody>
                  <a:tcPr marL="0" marR="0" marT="0" marB="0">
                    <a:solidFill>
                      <a:srgbClr val="FFC000"/>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29</a:t>
                      </a:r>
                    </a:p>
                  </a:txBody>
                  <a:tcPr marL="0" marR="0" marT="0" marB="0">
                    <a:solidFill>
                      <a:srgbClr val="FFC000"/>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30</a:t>
                      </a:r>
                    </a:p>
                  </a:txBody>
                  <a:tcPr marL="0" marR="0" marT="0" marB="0">
                    <a:solidFill>
                      <a:srgbClr val="FFC000"/>
                    </a:solidFill>
                  </a:tcPr>
                </a:tc>
                <a:tc>
                  <a:txBody>
                    <a:bodyPr/>
                    <a:lstStyle/>
                    <a:p>
                      <a:pPr algn="ctr">
                        <a:spcBef>
                          <a:spcPts val="200"/>
                        </a:spcBef>
                        <a:spcAft>
                          <a:spcPts val="200"/>
                        </a:spcAft>
                      </a:pPr>
                      <a:endParaRPr lang="en-US" sz="1000" noProof="0" dirty="0">
                        <a:solidFill>
                          <a:schemeClr val="tx1"/>
                        </a:solidFill>
                        <a:latin typeface="+mn-lt"/>
                        <a:ea typeface="MS Mincho"/>
                        <a:cs typeface="Times New Roman"/>
                      </a:endParaRPr>
                    </a:p>
                  </a:txBody>
                  <a:tcPr marL="0" marR="0" marT="0" marB="0">
                    <a:solidFill>
                      <a:schemeClr val="tx2">
                        <a:lumMod val="40000"/>
                        <a:lumOff val="60000"/>
                      </a:schemeClr>
                    </a:solidFill>
                  </a:tcPr>
                </a:tc>
                <a:tc>
                  <a:txBody>
                    <a:bodyPr/>
                    <a:lstStyle/>
                    <a:p>
                      <a:pPr algn="ctr">
                        <a:spcBef>
                          <a:spcPts val="200"/>
                        </a:spcBef>
                        <a:spcAft>
                          <a:spcPts val="200"/>
                        </a:spcAft>
                      </a:pPr>
                      <a:endParaRPr lang="en-US" sz="1000" noProof="0" dirty="0">
                        <a:solidFill>
                          <a:schemeClr val="bg1"/>
                        </a:solidFill>
                        <a:latin typeface="+mn-lt"/>
                        <a:ea typeface="MS Mincho"/>
                        <a:cs typeface="Times New Roman"/>
                      </a:endParaRPr>
                    </a:p>
                  </a:txBody>
                  <a:tcPr marL="0" marR="0" marT="0" marB="0">
                    <a:solidFill>
                      <a:schemeClr val="tx2">
                        <a:lumMod val="40000"/>
                        <a:lumOff val="60000"/>
                      </a:schemeClr>
                    </a:solidFill>
                  </a:tcPr>
                </a:tc>
                <a:tc>
                  <a:txBody>
                    <a:bodyPr/>
                    <a:lstStyle/>
                    <a:p>
                      <a:pPr algn="ctr">
                        <a:spcBef>
                          <a:spcPts val="200"/>
                        </a:spcBef>
                        <a:spcAft>
                          <a:spcPts val="200"/>
                        </a:spcAft>
                      </a:pPr>
                      <a:endParaRPr lang="en-US" sz="1000" noProof="0" dirty="0">
                        <a:solidFill>
                          <a:schemeClr val="bg1"/>
                        </a:solidFill>
                        <a:latin typeface="+mn-lt"/>
                        <a:ea typeface="MS Mincho"/>
                        <a:cs typeface="Times New Roman"/>
                      </a:endParaRPr>
                    </a:p>
                  </a:txBody>
                  <a:tcPr marL="0" marR="0" marT="0" marB="0">
                    <a:solidFill>
                      <a:schemeClr val="tx2">
                        <a:lumMod val="40000"/>
                        <a:lumOff val="60000"/>
                      </a:schemeClr>
                    </a:solidFill>
                  </a:tcPr>
                </a:tc>
                <a:extLst>
                  <a:ext uri="{0D108BD9-81ED-4DB2-BD59-A6C34878D82A}">
                    <a16:rowId xmlns:a16="http://schemas.microsoft.com/office/drawing/2014/main" val="10006"/>
                  </a:ext>
                </a:extLst>
              </a:tr>
            </a:tbl>
          </a:graphicData>
        </a:graphic>
      </p:graphicFrame>
      <p:sp>
        <p:nvSpPr>
          <p:cNvPr id="5" name="Rechteck 4">
            <a:extLst>
              <a:ext uri="{FF2B5EF4-FFF2-40B4-BE49-F238E27FC236}">
                <a16:creationId xmlns:a16="http://schemas.microsoft.com/office/drawing/2014/main" id="{E4390C94-6ABA-9537-7208-6C6A0B4D34D5}"/>
              </a:ext>
            </a:extLst>
          </p:cNvPr>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aphicFrame>
        <p:nvGraphicFramePr>
          <p:cNvPr id="6" name="Tabelle 5">
            <a:extLst>
              <a:ext uri="{FF2B5EF4-FFF2-40B4-BE49-F238E27FC236}">
                <a16:creationId xmlns:a16="http://schemas.microsoft.com/office/drawing/2014/main" id="{7723074A-7FEB-0FAA-6959-670D4168DEB8}"/>
              </a:ext>
            </a:extLst>
          </p:cNvPr>
          <p:cNvGraphicFramePr>
            <a:graphicFrameLocks noGrp="1"/>
          </p:cNvGraphicFramePr>
          <p:nvPr/>
        </p:nvGraphicFramePr>
        <p:xfrm>
          <a:off x="3203848" y="1190982"/>
          <a:ext cx="5616624" cy="3535680"/>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3709467775"/>
                    </a:ext>
                  </a:extLst>
                </a:gridCol>
                <a:gridCol w="4248472">
                  <a:extLst>
                    <a:ext uri="{9D8B030D-6E8A-4147-A177-3AD203B41FA5}">
                      <a16:colId xmlns:a16="http://schemas.microsoft.com/office/drawing/2014/main" val="1221599256"/>
                    </a:ext>
                  </a:extLst>
                </a:gridCol>
              </a:tblGrid>
              <a:tr h="0">
                <a:tc>
                  <a:txBody>
                    <a:bodyPr/>
                    <a:lstStyle/>
                    <a:p>
                      <a:r>
                        <a:rPr lang="en-US" sz="1400" noProof="0" dirty="0"/>
                        <a:t>Day</a:t>
                      </a:r>
                    </a:p>
                  </a:txBody>
                  <a:tcPr>
                    <a:solidFill>
                      <a:schemeClr val="tx2">
                        <a:lumMod val="60000"/>
                        <a:lumOff val="40000"/>
                      </a:schemeClr>
                    </a:solidFill>
                  </a:tcPr>
                </a:tc>
                <a:tc>
                  <a:txBody>
                    <a:bodyPr/>
                    <a:lstStyle/>
                    <a:p>
                      <a:r>
                        <a:rPr lang="en-US" sz="1400" noProof="0" dirty="0"/>
                        <a:t>Topic</a:t>
                      </a:r>
                    </a:p>
                  </a:txBody>
                  <a:tcPr>
                    <a:solidFill>
                      <a:schemeClr val="tx2">
                        <a:lumMod val="60000"/>
                        <a:lumOff val="40000"/>
                      </a:schemeClr>
                    </a:solidFill>
                  </a:tcPr>
                </a:tc>
                <a:extLst>
                  <a:ext uri="{0D108BD9-81ED-4DB2-BD59-A6C34878D82A}">
                    <a16:rowId xmlns:a16="http://schemas.microsoft.com/office/drawing/2014/main" val="2809885509"/>
                  </a:ext>
                </a:extLst>
              </a:tr>
              <a:tr h="0">
                <a:tc>
                  <a:txBody>
                    <a:bodyPr/>
                    <a:lstStyle/>
                    <a:p>
                      <a:r>
                        <a:rPr lang="en-US" sz="1400" noProof="0" dirty="0"/>
                        <a:t>Monday:</a:t>
                      </a:r>
                    </a:p>
                    <a:p>
                      <a:r>
                        <a:rPr lang="en-US" sz="1400" noProof="0" dirty="0"/>
                        <a:t>13:35 – 15:05</a:t>
                      </a:r>
                    </a:p>
                  </a:txBody>
                  <a:tcPr>
                    <a:solidFill>
                      <a:schemeClr val="tx2">
                        <a:lumMod val="20000"/>
                        <a:lumOff val="80000"/>
                      </a:schemeClr>
                    </a:solidFill>
                  </a:tcPr>
                </a:tc>
                <a:tc>
                  <a:txBody>
                    <a:bodyPr/>
                    <a:lstStyle/>
                    <a:p>
                      <a:pPr marL="182563" indent="-182563">
                        <a:buFont typeface="Arial" panose="020B0604020202020204" pitchFamily="34" charset="0"/>
                        <a:buChar char="•"/>
                      </a:pPr>
                      <a:r>
                        <a:rPr lang="en-US" sz="1400" noProof="0" dirty="0">
                          <a:solidFill>
                            <a:schemeClr val="tx1"/>
                          </a:solidFill>
                        </a:rPr>
                        <a:t>Introduction &amp; the </a:t>
                      </a:r>
                      <a:r>
                        <a:rPr lang="en-US" sz="1400" noProof="0" dirty="0" err="1">
                          <a:solidFill>
                            <a:schemeClr val="tx1"/>
                          </a:solidFill>
                        </a:rPr>
                        <a:t>Wa</a:t>
                      </a:r>
                      <a:r>
                        <a:rPr lang="en-US" sz="1400" noProof="0" dirty="0">
                          <a:solidFill>
                            <a:schemeClr val="tx1"/>
                          </a:solidFill>
                        </a:rPr>
                        <a:t>-Tor world</a:t>
                      </a:r>
                    </a:p>
                  </a:txBody>
                  <a:tcPr>
                    <a:solidFill>
                      <a:schemeClr val="tx2">
                        <a:lumMod val="20000"/>
                        <a:lumOff val="80000"/>
                      </a:schemeClr>
                    </a:solidFill>
                  </a:tcPr>
                </a:tc>
                <a:extLst>
                  <a:ext uri="{0D108BD9-81ED-4DB2-BD59-A6C34878D82A}">
                    <a16:rowId xmlns:a16="http://schemas.microsoft.com/office/drawing/2014/main" val="479272180"/>
                  </a:ext>
                </a:extLst>
              </a:tr>
              <a:tr h="0">
                <a:tc>
                  <a:txBody>
                    <a:bodyPr/>
                    <a:lstStyle/>
                    <a:p>
                      <a:r>
                        <a:rPr lang="en-US" sz="1400" noProof="0" dirty="0"/>
                        <a:t>Tuesday: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13:35 – 15:05</a:t>
                      </a:r>
                    </a:p>
                  </a:txBody>
                  <a:tcPr>
                    <a:solidFill>
                      <a:schemeClr val="accent1">
                        <a:lumMod val="20000"/>
                        <a:lumOff val="80000"/>
                      </a:schemeClr>
                    </a:solidFill>
                  </a:tcPr>
                </a:tc>
                <a:tc>
                  <a:txBody>
                    <a:body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noProof="0" dirty="0">
                          <a:solidFill>
                            <a:schemeClr val="tx1"/>
                          </a:solidFill>
                        </a:rPr>
                        <a:t>Rejuvenating forests &amp; Markov-chains</a:t>
                      </a:r>
                    </a:p>
                  </a:txBody>
                  <a:tcPr>
                    <a:solidFill>
                      <a:schemeClr val="accent1">
                        <a:lumMod val="20000"/>
                        <a:lumOff val="80000"/>
                      </a:schemeClr>
                    </a:solidFill>
                  </a:tcPr>
                </a:tc>
                <a:extLst>
                  <a:ext uri="{0D108BD9-81ED-4DB2-BD59-A6C34878D82A}">
                    <a16:rowId xmlns:a16="http://schemas.microsoft.com/office/drawing/2014/main" val="1843550425"/>
                  </a:ext>
                </a:extLst>
              </a:tr>
              <a:tr h="0">
                <a:tc>
                  <a:txBody>
                    <a:bodyPr/>
                    <a:lstStyle/>
                    <a:p>
                      <a:r>
                        <a:rPr lang="en-US" sz="1400" noProof="0" dirty="0"/>
                        <a:t>Wednesday:</a:t>
                      </a:r>
                    </a:p>
                    <a:p>
                      <a:r>
                        <a:rPr lang="en-US" sz="1400" noProof="0" dirty="0"/>
                        <a:t>11:50 – 13:20 &amp;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13:35 – 15:05</a:t>
                      </a:r>
                    </a:p>
                  </a:txBody>
                  <a:tcPr>
                    <a:solidFill>
                      <a:schemeClr val="tx2">
                        <a:lumMod val="20000"/>
                        <a:lumOff val="80000"/>
                      </a:schemeClr>
                    </a:solidFill>
                  </a:tcPr>
                </a:tc>
                <a:tc>
                  <a:txBody>
                    <a:body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noProof="0" dirty="0">
                          <a:solidFill>
                            <a:schemeClr val="tx1"/>
                          </a:solidFill>
                        </a:rPr>
                        <a:t>Mobile heterogeneous ecosystems</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noProof="0" dirty="0">
                          <a:solidFill>
                            <a:schemeClr val="tx1"/>
                          </a:solidFill>
                        </a:rPr>
                        <a:t>Applications of multi-agent ecosystem modeling &amp; simulation</a:t>
                      </a:r>
                    </a:p>
                  </a:txBody>
                  <a:tcPr>
                    <a:solidFill>
                      <a:schemeClr val="tx2">
                        <a:lumMod val="20000"/>
                        <a:lumOff val="80000"/>
                      </a:schemeClr>
                    </a:solidFill>
                  </a:tcPr>
                </a:tc>
                <a:extLst>
                  <a:ext uri="{0D108BD9-81ED-4DB2-BD59-A6C34878D82A}">
                    <a16:rowId xmlns:a16="http://schemas.microsoft.com/office/drawing/2014/main" val="2063268009"/>
                  </a:ext>
                </a:extLst>
              </a:tr>
              <a:tr h="0">
                <a:tc>
                  <a:txBody>
                    <a:bodyPr/>
                    <a:lstStyle/>
                    <a:p>
                      <a:r>
                        <a:rPr lang="en-US" sz="1400" noProof="0" dirty="0"/>
                        <a:t>Thursday:</a:t>
                      </a:r>
                    </a:p>
                    <a:p>
                      <a:r>
                        <a:rPr lang="en-US" sz="1400" noProof="0" dirty="0"/>
                        <a:t>11:50 – 13:20 &amp;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13:35 – 15:05</a:t>
                      </a:r>
                    </a:p>
                  </a:txBody>
                  <a:tcPr>
                    <a:solidFill>
                      <a:schemeClr val="accent1">
                        <a:lumMod val="20000"/>
                        <a:lumOff val="80000"/>
                      </a:schemeClr>
                    </a:solidFill>
                  </a:tcPr>
                </a:tc>
                <a:tc>
                  <a:txBody>
                    <a:bodyPr/>
                    <a:lstStyle/>
                    <a:p>
                      <a:pPr marL="182563" indent="-182563">
                        <a:buFont typeface="Arial" panose="020B0604020202020204" pitchFamily="34" charset="0"/>
                        <a:buChar char="•"/>
                      </a:pPr>
                      <a:r>
                        <a:rPr lang="en-US" sz="1400" noProof="0" dirty="0">
                          <a:solidFill>
                            <a:schemeClr val="tx1"/>
                          </a:solidFill>
                        </a:rPr>
                        <a:t>Coding lab – pt. 1</a:t>
                      </a:r>
                    </a:p>
                    <a:p>
                      <a:pPr marL="182563" indent="-182563">
                        <a:buFont typeface="Arial" panose="020B0604020202020204" pitchFamily="34" charset="0"/>
                        <a:buChar char="•"/>
                      </a:pPr>
                      <a:r>
                        <a:rPr lang="en-US" sz="1400" noProof="0" dirty="0">
                          <a:solidFill>
                            <a:schemeClr val="tx1"/>
                          </a:solidFill>
                        </a:rPr>
                        <a:t>Coding lab – pt. 2</a:t>
                      </a:r>
                    </a:p>
                  </a:txBody>
                  <a:tcPr>
                    <a:solidFill>
                      <a:schemeClr val="accent1">
                        <a:lumMod val="20000"/>
                        <a:lumOff val="80000"/>
                      </a:schemeClr>
                    </a:solidFill>
                  </a:tcPr>
                </a:tc>
                <a:extLst>
                  <a:ext uri="{0D108BD9-81ED-4DB2-BD59-A6C34878D82A}">
                    <a16:rowId xmlns:a16="http://schemas.microsoft.com/office/drawing/2014/main" val="2712185913"/>
                  </a:ext>
                </a:extLst>
              </a:tr>
              <a:tr h="0">
                <a:tc>
                  <a:txBody>
                    <a:bodyPr/>
                    <a:lstStyle/>
                    <a:p>
                      <a:r>
                        <a:rPr lang="en-US" sz="1400" noProof="0" dirty="0"/>
                        <a:t>Friday:</a:t>
                      </a:r>
                    </a:p>
                    <a:p>
                      <a:r>
                        <a:rPr lang="en-US" sz="1400" noProof="0" dirty="0"/>
                        <a:t>8:30 – 10:00</a:t>
                      </a:r>
                    </a:p>
                    <a:p>
                      <a:r>
                        <a:rPr lang="en-US" sz="1400" noProof="0" dirty="0"/>
                        <a:t>10:10 – 11:40</a:t>
                      </a:r>
                    </a:p>
                  </a:txBody>
                  <a:tcPr>
                    <a:solidFill>
                      <a:schemeClr val="tx2">
                        <a:lumMod val="20000"/>
                        <a:lumOff val="80000"/>
                      </a:schemeClr>
                    </a:solidFill>
                  </a:tcPr>
                </a:tc>
                <a:tc>
                  <a:txBody>
                    <a:body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noProof="0" dirty="0">
                          <a:solidFill>
                            <a:schemeClr val="tx1"/>
                          </a:solidFill>
                        </a:rPr>
                        <a:t>The evolution of cooperation</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noProof="0" dirty="0">
                          <a:solidFill>
                            <a:schemeClr val="tx1"/>
                          </a:solidFill>
                        </a:rPr>
                        <a:t>Ritualistic battels</a:t>
                      </a:r>
                    </a:p>
                  </a:txBody>
                  <a:tcPr>
                    <a:solidFill>
                      <a:schemeClr val="tx2">
                        <a:lumMod val="20000"/>
                        <a:lumOff val="80000"/>
                      </a:schemeClr>
                    </a:solidFill>
                  </a:tcPr>
                </a:tc>
                <a:extLst>
                  <a:ext uri="{0D108BD9-81ED-4DB2-BD59-A6C34878D82A}">
                    <a16:rowId xmlns:a16="http://schemas.microsoft.com/office/drawing/2014/main" val="3289917281"/>
                  </a:ext>
                </a:extLst>
              </a:tr>
            </a:tbl>
          </a:graphicData>
        </a:graphic>
      </p:graphicFrame>
      <p:grpSp>
        <p:nvGrpSpPr>
          <p:cNvPr id="7" name="Gruppieren 6">
            <a:extLst>
              <a:ext uri="{FF2B5EF4-FFF2-40B4-BE49-F238E27FC236}">
                <a16:creationId xmlns:a16="http://schemas.microsoft.com/office/drawing/2014/main" id="{876B19CF-6248-7CE4-1E3A-A53A970E20E3}"/>
              </a:ext>
            </a:extLst>
          </p:cNvPr>
          <p:cNvGrpSpPr/>
          <p:nvPr/>
        </p:nvGrpSpPr>
        <p:grpSpPr>
          <a:xfrm rot="1411379">
            <a:off x="7806125" y="1265616"/>
            <a:ext cx="1152128" cy="271126"/>
            <a:chOff x="971600" y="4532872"/>
            <a:chExt cx="1152128" cy="271126"/>
          </a:xfrm>
        </p:grpSpPr>
        <p:sp>
          <p:nvSpPr>
            <p:cNvPr id="8" name="Rechteck 7">
              <a:extLst>
                <a:ext uri="{FF2B5EF4-FFF2-40B4-BE49-F238E27FC236}">
                  <a16:creationId xmlns:a16="http://schemas.microsoft.com/office/drawing/2014/main" id="{ADB686A6-14FB-7C18-254A-7226FED20503}"/>
                </a:ext>
              </a:extLst>
            </p:cNvPr>
            <p:cNvSpPr/>
            <p:nvPr/>
          </p:nvSpPr>
          <p:spPr>
            <a:xfrm>
              <a:off x="971600" y="4532872"/>
              <a:ext cx="1152128" cy="271126"/>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Week 1</a:t>
              </a:r>
            </a:p>
          </p:txBody>
        </p:sp>
        <p:cxnSp>
          <p:nvCxnSpPr>
            <p:cNvPr id="9" name="Gerader Verbinder 8">
              <a:extLst>
                <a:ext uri="{FF2B5EF4-FFF2-40B4-BE49-F238E27FC236}">
                  <a16:creationId xmlns:a16="http://schemas.microsoft.com/office/drawing/2014/main" id="{3E39B802-F8F2-B451-12BA-B6D5625BB1C8}"/>
                </a:ext>
              </a:extLst>
            </p:cNvPr>
            <p:cNvCxnSpPr>
              <a:cxnSpLocks/>
            </p:cNvCxnSpPr>
            <p:nvPr/>
          </p:nvCxnSpPr>
          <p:spPr>
            <a:xfrm>
              <a:off x="971600" y="4803998"/>
              <a:ext cx="115212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B7A76224-5A29-45B8-E809-45B26188ABDE}"/>
                </a:ext>
              </a:extLst>
            </p:cNvPr>
            <p:cNvCxnSpPr/>
            <p:nvPr/>
          </p:nvCxnSpPr>
          <p:spPr>
            <a:xfrm>
              <a:off x="971600" y="4532872"/>
              <a:ext cx="115212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05235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AB59B-4B3F-89C1-E6FE-BAE127B3AA14}"/>
            </a:ext>
          </a:extLst>
        </p:cNvPr>
        <p:cNvGrpSpPr/>
        <p:nvPr/>
      </p:nvGrpSpPr>
      <p:grpSpPr>
        <a:xfrm>
          <a:off x="0" y="0"/>
          <a:ext cx="0" cy="0"/>
          <a:chOff x="0" y="0"/>
          <a:chExt cx="0" cy="0"/>
        </a:xfrm>
      </p:grpSpPr>
      <p:graphicFrame>
        <p:nvGraphicFramePr>
          <p:cNvPr id="6" name="Tabelle 5">
            <a:extLst>
              <a:ext uri="{FF2B5EF4-FFF2-40B4-BE49-F238E27FC236}">
                <a16:creationId xmlns:a16="http://schemas.microsoft.com/office/drawing/2014/main" id="{E7478A26-C316-EC3B-21BF-3660B4F38B84}"/>
              </a:ext>
            </a:extLst>
          </p:cNvPr>
          <p:cNvGraphicFramePr>
            <a:graphicFrameLocks noGrp="1"/>
          </p:cNvGraphicFramePr>
          <p:nvPr/>
        </p:nvGraphicFramePr>
        <p:xfrm>
          <a:off x="251520" y="4197062"/>
          <a:ext cx="2160242" cy="822960"/>
        </p:xfrm>
        <a:graphic>
          <a:graphicData uri="http://schemas.openxmlformats.org/drawingml/2006/table">
            <a:tbl>
              <a:tblPr firstRow="1" bandRow="1">
                <a:tableStyleId>{5C22544A-7EE6-4342-B048-85BDC9FD1C3A}</a:tableStyleId>
              </a:tblPr>
              <a:tblGrid>
                <a:gridCol w="2160242">
                  <a:extLst>
                    <a:ext uri="{9D8B030D-6E8A-4147-A177-3AD203B41FA5}">
                      <a16:colId xmlns:a16="http://schemas.microsoft.com/office/drawing/2014/main" val="2028456725"/>
                    </a:ext>
                  </a:extLst>
                </a:gridCol>
              </a:tblGrid>
              <a:tr h="171622">
                <a:tc>
                  <a:txBody>
                    <a:bodyPr/>
                    <a:lstStyle/>
                    <a:p>
                      <a:r>
                        <a:rPr lang="en-US" sz="1400" noProof="0" dirty="0"/>
                        <a:t>Final Presentation</a:t>
                      </a:r>
                    </a:p>
                  </a:txBody>
                  <a:tcPr>
                    <a:solidFill>
                      <a:schemeClr val="tx2">
                        <a:lumMod val="60000"/>
                        <a:lumOff val="40000"/>
                      </a:schemeClr>
                    </a:solidFill>
                  </a:tcPr>
                </a:tc>
                <a:extLst>
                  <a:ext uri="{0D108BD9-81ED-4DB2-BD59-A6C34878D82A}">
                    <a16:rowId xmlns:a16="http://schemas.microsoft.com/office/drawing/2014/main" val="649497963"/>
                  </a:ext>
                </a:extLst>
              </a:tr>
              <a:tr h="171622">
                <a:tc>
                  <a:txBody>
                    <a:bodyPr/>
                    <a:lstStyle/>
                    <a:p>
                      <a:r>
                        <a:rPr lang="en-US" sz="1400" noProof="0" dirty="0"/>
                        <a:t>we need to find a well-suiting date</a:t>
                      </a:r>
                    </a:p>
                  </a:txBody>
                  <a:tcPr>
                    <a:solidFill>
                      <a:schemeClr val="tx2">
                        <a:lumMod val="20000"/>
                        <a:lumOff val="80000"/>
                      </a:schemeClr>
                    </a:solidFill>
                  </a:tcPr>
                </a:tc>
                <a:extLst>
                  <a:ext uri="{0D108BD9-81ED-4DB2-BD59-A6C34878D82A}">
                    <a16:rowId xmlns:a16="http://schemas.microsoft.com/office/drawing/2014/main" val="4016723236"/>
                  </a:ext>
                </a:extLst>
              </a:tr>
            </a:tbl>
          </a:graphicData>
        </a:graphic>
      </p:graphicFrame>
      <p:sp>
        <p:nvSpPr>
          <p:cNvPr id="2" name="Titel 1">
            <a:extLst>
              <a:ext uri="{FF2B5EF4-FFF2-40B4-BE49-F238E27FC236}">
                <a16:creationId xmlns:a16="http://schemas.microsoft.com/office/drawing/2014/main" id="{BA0DB539-11B4-7212-BD08-6B04E4ED936D}"/>
              </a:ext>
            </a:extLst>
          </p:cNvPr>
          <p:cNvSpPr>
            <a:spLocks noGrp="1"/>
          </p:cNvSpPr>
          <p:nvPr>
            <p:ph type="title"/>
          </p:nvPr>
        </p:nvSpPr>
        <p:spPr/>
        <p:txBody>
          <a:bodyPr/>
          <a:lstStyle/>
          <a:p>
            <a:r>
              <a:rPr lang="en-US" noProof="0" dirty="0"/>
              <a:t>The course roadmap (2/ 2)</a:t>
            </a:r>
          </a:p>
        </p:txBody>
      </p:sp>
      <p:graphicFrame>
        <p:nvGraphicFramePr>
          <p:cNvPr id="3" name="Tabelle 2">
            <a:extLst>
              <a:ext uri="{FF2B5EF4-FFF2-40B4-BE49-F238E27FC236}">
                <a16:creationId xmlns:a16="http://schemas.microsoft.com/office/drawing/2014/main" id="{C5CBACF1-AC98-FC41-C1A4-E7E134F432D0}"/>
              </a:ext>
            </a:extLst>
          </p:cNvPr>
          <p:cNvGraphicFramePr>
            <a:graphicFrameLocks noGrp="1"/>
          </p:cNvGraphicFramePr>
          <p:nvPr/>
        </p:nvGraphicFramePr>
        <p:xfrm>
          <a:off x="251522" y="2283718"/>
          <a:ext cx="2160242" cy="1066800"/>
        </p:xfrm>
        <a:graphic>
          <a:graphicData uri="http://schemas.openxmlformats.org/drawingml/2006/table">
            <a:tbl>
              <a:tblPr firstRow="1" bandRow="1">
                <a:tableStyleId>{2D5ABB26-0587-4C30-8999-92F81FD0307C}</a:tableStyleId>
              </a:tblPr>
              <a:tblGrid>
                <a:gridCol w="308606">
                  <a:extLst>
                    <a:ext uri="{9D8B030D-6E8A-4147-A177-3AD203B41FA5}">
                      <a16:colId xmlns:a16="http://schemas.microsoft.com/office/drawing/2014/main" val="20000"/>
                    </a:ext>
                  </a:extLst>
                </a:gridCol>
                <a:gridCol w="308606">
                  <a:extLst>
                    <a:ext uri="{9D8B030D-6E8A-4147-A177-3AD203B41FA5}">
                      <a16:colId xmlns:a16="http://schemas.microsoft.com/office/drawing/2014/main" val="20001"/>
                    </a:ext>
                  </a:extLst>
                </a:gridCol>
                <a:gridCol w="308606">
                  <a:extLst>
                    <a:ext uri="{9D8B030D-6E8A-4147-A177-3AD203B41FA5}">
                      <a16:colId xmlns:a16="http://schemas.microsoft.com/office/drawing/2014/main" val="20002"/>
                    </a:ext>
                  </a:extLst>
                </a:gridCol>
                <a:gridCol w="308606">
                  <a:extLst>
                    <a:ext uri="{9D8B030D-6E8A-4147-A177-3AD203B41FA5}">
                      <a16:colId xmlns:a16="http://schemas.microsoft.com/office/drawing/2014/main" val="20003"/>
                    </a:ext>
                  </a:extLst>
                </a:gridCol>
                <a:gridCol w="308606">
                  <a:extLst>
                    <a:ext uri="{9D8B030D-6E8A-4147-A177-3AD203B41FA5}">
                      <a16:colId xmlns:a16="http://schemas.microsoft.com/office/drawing/2014/main" val="20004"/>
                    </a:ext>
                  </a:extLst>
                </a:gridCol>
                <a:gridCol w="308606">
                  <a:extLst>
                    <a:ext uri="{9D8B030D-6E8A-4147-A177-3AD203B41FA5}">
                      <a16:colId xmlns:a16="http://schemas.microsoft.com/office/drawing/2014/main" val="20005"/>
                    </a:ext>
                  </a:extLst>
                </a:gridCol>
                <a:gridCol w="308606">
                  <a:extLst>
                    <a:ext uri="{9D8B030D-6E8A-4147-A177-3AD203B41FA5}">
                      <a16:colId xmlns:a16="http://schemas.microsoft.com/office/drawing/2014/main" val="20006"/>
                    </a:ext>
                  </a:extLst>
                </a:gridCol>
              </a:tblGrid>
              <a:tr h="0">
                <a:tc gridSpan="7">
                  <a:txBody>
                    <a:bodyPr/>
                    <a:lstStyle/>
                    <a:p>
                      <a:pPr algn="ctr">
                        <a:spcBef>
                          <a:spcPts val="200"/>
                        </a:spcBef>
                        <a:spcAft>
                          <a:spcPts val="0"/>
                        </a:spcAft>
                      </a:pPr>
                      <a:r>
                        <a:rPr lang="en-US" sz="1000" b="1" noProof="0" dirty="0">
                          <a:solidFill>
                            <a:schemeClr val="bg1"/>
                          </a:solidFill>
                          <a:latin typeface="+mn-lt"/>
                          <a:ea typeface="MS Gothic"/>
                          <a:cs typeface="Times New Roman"/>
                        </a:rPr>
                        <a:t>May 206</a:t>
                      </a:r>
                    </a:p>
                  </a:txBody>
                  <a:tcPr marL="0" marR="0" marT="0" marB="0">
                    <a:solidFill>
                      <a:schemeClr val="tx2"/>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extLst>
                  <a:ext uri="{0D108BD9-81ED-4DB2-BD59-A6C34878D82A}">
                    <a16:rowId xmlns:a16="http://schemas.microsoft.com/office/drawing/2014/main" val="10000"/>
                  </a:ext>
                </a:extLst>
              </a:tr>
              <a:tr h="30861">
                <a:tc>
                  <a:txBody>
                    <a:bodyPr/>
                    <a:lstStyle/>
                    <a:p>
                      <a:pPr algn="ctr">
                        <a:spcBef>
                          <a:spcPts val="200"/>
                        </a:spcBef>
                        <a:spcAft>
                          <a:spcPts val="0"/>
                        </a:spcAft>
                      </a:pPr>
                      <a:r>
                        <a:rPr lang="en-US" sz="1000" noProof="0" dirty="0">
                          <a:solidFill>
                            <a:schemeClr val="bg1"/>
                          </a:solidFill>
                          <a:latin typeface="+mn-lt"/>
                          <a:ea typeface="MS Gothic"/>
                          <a:cs typeface="Times New Roman"/>
                        </a:rPr>
                        <a:t>Mo</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Tu</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We</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Th</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Fr</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Sa</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Su</a:t>
                      </a:r>
                    </a:p>
                  </a:txBody>
                  <a:tcPr marL="0" marR="0" marT="0" marB="0">
                    <a:solidFill>
                      <a:schemeClr val="tx2"/>
                    </a:solidFill>
                  </a:tcPr>
                </a:tc>
                <a:extLst>
                  <a:ext uri="{0D108BD9-81ED-4DB2-BD59-A6C34878D82A}">
                    <a16:rowId xmlns:a16="http://schemas.microsoft.com/office/drawing/2014/main" val="10001"/>
                  </a:ext>
                </a:extLst>
              </a:tr>
              <a:tr h="30861">
                <a:tc>
                  <a:txBody>
                    <a:bodyPr/>
                    <a:lstStyle/>
                    <a:p>
                      <a:pPr algn="ctr">
                        <a:spcBef>
                          <a:spcPts val="200"/>
                        </a:spcBef>
                        <a:spcAft>
                          <a:spcPts val="200"/>
                        </a:spcAft>
                      </a:pPr>
                      <a:endParaRPr lang="en-US" sz="1000" noProof="0" dirty="0">
                        <a:solidFill>
                          <a:schemeClr val="tx1"/>
                        </a:solidFill>
                        <a:latin typeface="+mn-lt"/>
                        <a:ea typeface="MS Mincho"/>
                        <a:cs typeface="Times New Roman"/>
                      </a:endParaRPr>
                    </a:p>
                  </a:txBody>
                  <a:tcPr marL="0" marR="0" marT="0" marB="0">
                    <a:solidFill>
                      <a:schemeClr val="accent1">
                        <a:lumMod val="20000"/>
                        <a:lumOff val="80000"/>
                      </a:schemeClr>
                    </a:solidFill>
                  </a:tcPr>
                </a:tc>
                <a:tc>
                  <a:txBody>
                    <a:bodyPr/>
                    <a:lstStyle/>
                    <a:p>
                      <a:pPr algn="ctr">
                        <a:spcBef>
                          <a:spcPts val="200"/>
                        </a:spcBef>
                        <a:spcAft>
                          <a:spcPts val="200"/>
                        </a:spcAft>
                      </a:pPr>
                      <a:endParaRPr lang="en-US" sz="1000" noProof="0" dirty="0">
                        <a:solidFill>
                          <a:schemeClr val="tx1"/>
                        </a:solidFill>
                        <a:latin typeface="+mn-lt"/>
                        <a:ea typeface="MS Mincho"/>
                        <a:cs typeface="Times New Roman"/>
                      </a:endParaRPr>
                    </a:p>
                  </a:txBody>
                  <a:tcPr marL="0" marR="0" marT="0" marB="0">
                    <a:solidFill>
                      <a:schemeClr val="accent1">
                        <a:lumMod val="20000"/>
                        <a:lumOff val="80000"/>
                      </a:schemeClr>
                    </a:solidFill>
                  </a:tcPr>
                </a:tc>
                <a:tc>
                  <a:txBody>
                    <a:bodyPr/>
                    <a:lstStyle/>
                    <a:p>
                      <a:pPr algn="ctr">
                        <a:spcBef>
                          <a:spcPts val="200"/>
                        </a:spcBef>
                        <a:spcAft>
                          <a:spcPts val="200"/>
                        </a:spcAft>
                      </a:pPr>
                      <a:endParaRPr lang="en-US" sz="1000" noProof="0" dirty="0">
                        <a:solidFill>
                          <a:schemeClr val="tx1"/>
                        </a:solidFill>
                        <a:latin typeface="+mn-lt"/>
                        <a:ea typeface="MS Mincho"/>
                        <a:cs typeface="Times New Roman"/>
                      </a:endParaRPr>
                    </a:p>
                  </a:txBody>
                  <a:tcPr marL="0" marR="0" marT="0" marB="0">
                    <a:solidFill>
                      <a:schemeClr val="accent1">
                        <a:lumMod val="20000"/>
                        <a:lumOff val="80000"/>
                      </a:schemeClr>
                    </a:solidFill>
                  </a:tcPr>
                </a:tc>
                <a:tc>
                  <a:txBody>
                    <a:bodyPr/>
                    <a:lstStyle/>
                    <a:p>
                      <a:pPr algn="ctr">
                        <a:spcBef>
                          <a:spcPts val="200"/>
                        </a:spcBef>
                        <a:spcAft>
                          <a:spcPts val="200"/>
                        </a:spcAft>
                      </a:pPr>
                      <a:endParaRPr lang="en-US" sz="1000" noProof="0" dirty="0">
                        <a:solidFill>
                          <a:schemeClr val="tx1"/>
                        </a:solidFill>
                        <a:latin typeface="+mn-lt"/>
                        <a:ea typeface="MS Mincho"/>
                        <a:cs typeface="Times New Roman"/>
                      </a:endParaRPr>
                    </a:p>
                  </a:txBody>
                  <a:tcPr marL="0" marR="0" marT="0" marB="0">
                    <a:solidFill>
                      <a:schemeClr val="accent1">
                        <a:lumMod val="20000"/>
                        <a:lumOff val="8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a:t>
                      </a:r>
                    </a:p>
                  </a:txBody>
                  <a:tcPr marL="0" marR="0" marT="0" marB="0">
                    <a:solidFill>
                      <a:srgbClr val="FFC000"/>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2</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3</a:t>
                      </a:r>
                    </a:p>
                  </a:txBody>
                  <a:tcPr marL="0" marR="0" marT="0" marB="0">
                    <a:solidFill>
                      <a:schemeClr val="tx2">
                        <a:lumMod val="40000"/>
                        <a:lumOff val="60000"/>
                      </a:schemeClr>
                    </a:solidFill>
                  </a:tcPr>
                </a:tc>
                <a:extLst>
                  <a:ext uri="{0D108BD9-81ED-4DB2-BD59-A6C34878D82A}">
                    <a16:rowId xmlns:a16="http://schemas.microsoft.com/office/drawing/2014/main" val="10002"/>
                  </a:ext>
                </a:extLst>
              </a:tr>
              <a:tr h="30861">
                <a:tc>
                  <a:txBody>
                    <a:bodyPr/>
                    <a:lstStyle/>
                    <a:p>
                      <a:pPr algn="ctr">
                        <a:spcBef>
                          <a:spcPts val="200"/>
                        </a:spcBef>
                        <a:spcAft>
                          <a:spcPts val="200"/>
                        </a:spcAft>
                      </a:pPr>
                      <a:r>
                        <a:rPr lang="en-US" sz="1000" noProof="0" dirty="0">
                          <a:solidFill>
                            <a:schemeClr val="tx1"/>
                          </a:solidFill>
                          <a:latin typeface="+mn-lt"/>
                          <a:ea typeface="MS Mincho"/>
                          <a:cs typeface="Times New Roman"/>
                        </a:rPr>
                        <a:t>4</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5</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6</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7</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8</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9</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10</a:t>
                      </a:r>
                    </a:p>
                  </a:txBody>
                  <a:tcPr marL="0" marR="0" marT="0" marB="0">
                    <a:solidFill>
                      <a:schemeClr val="tx2">
                        <a:lumMod val="40000"/>
                        <a:lumOff val="60000"/>
                      </a:schemeClr>
                    </a:solidFill>
                  </a:tcPr>
                </a:tc>
                <a:extLst>
                  <a:ext uri="{0D108BD9-81ED-4DB2-BD59-A6C34878D82A}">
                    <a16:rowId xmlns:a16="http://schemas.microsoft.com/office/drawing/2014/main" val="10003"/>
                  </a:ext>
                </a:extLst>
              </a:tr>
              <a:tr h="30861">
                <a:tc>
                  <a:txBody>
                    <a:bodyPr/>
                    <a:lstStyle/>
                    <a:p>
                      <a:pPr algn="ctr">
                        <a:spcBef>
                          <a:spcPts val="200"/>
                        </a:spcBef>
                        <a:spcAft>
                          <a:spcPts val="200"/>
                        </a:spcAft>
                      </a:pPr>
                      <a:r>
                        <a:rPr lang="en-US" sz="1000" noProof="0" dirty="0">
                          <a:solidFill>
                            <a:schemeClr val="tx1"/>
                          </a:solidFill>
                          <a:latin typeface="+mn-lt"/>
                          <a:ea typeface="MS Mincho"/>
                          <a:cs typeface="Times New Roman"/>
                        </a:rPr>
                        <a:t>11</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12</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13</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14</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15</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16</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17</a:t>
                      </a:r>
                    </a:p>
                  </a:txBody>
                  <a:tcPr marL="0" marR="0" marT="0" marB="0">
                    <a:solidFill>
                      <a:schemeClr val="tx2">
                        <a:lumMod val="40000"/>
                        <a:lumOff val="60000"/>
                      </a:schemeClr>
                    </a:solidFill>
                  </a:tcPr>
                </a:tc>
                <a:extLst>
                  <a:ext uri="{0D108BD9-81ED-4DB2-BD59-A6C34878D82A}">
                    <a16:rowId xmlns:a16="http://schemas.microsoft.com/office/drawing/2014/main" val="10004"/>
                  </a:ext>
                </a:extLst>
              </a:tr>
              <a:tr h="30861">
                <a:tc>
                  <a:txBody>
                    <a:bodyPr/>
                    <a:lstStyle/>
                    <a:p>
                      <a:pPr algn="ctr">
                        <a:spcBef>
                          <a:spcPts val="200"/>
                        </a:spcBef>
                        <a:spcAft>
                          <a:spcPts val="200"/>
                        </a:spcAft>
                      </a:pPr>
                      <a:r>
                        <a:rPr lang="en-US" sz="1000" noProof="0" dirty="0">
                          <a:solidFill>
                            <a:schemeClr val="tx1"/>
                          </a:solidFill>
                          <a:latin typeface="+mn-lt"/>
                          <a:ea typeface="MS Mincho"/>
                          <a:cs typeface="Times New Roman"/>
                        </a:rPr>
                        <a:t>18</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19</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20</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21</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22</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23</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24</a:t>
                      </a:r>
                    </a:p>
                  </a:txBody>
                  <a:tcPr marL="0" marR="0" marT="0" marB="0">
                    <a:solidFill>
                      <a:schemeClr val="tx2">
                        <a:lumMod val="40000"/>
                        <a:lumOff val="60000"/>
                      </a:schemeClr>
                    </a:solidFill>
                  </a:tcPr>
                </a:tc>
                <a:extLst>
                  <a:ext uri="{0D108BD9-81ED-4DB2-BD59-A6C34878D82A}">
                    <a16:rowId xmlns:a16="http://schemas.microsoft.com/office/drawing/2014/main" val="10005"/>
                  </a:ext>
                </a:extLst>
              </a:tr>
              <a:tr h="30861">
                <a:tc>
                  <a:txBody>
                    <a:bodyPr/>
                    <a:lstStyle/>
                    <a:p>
                      <a:pPr algn="ctr">
                        <a:spcBef>
                          <a:spcPts val="200"/>
                        </a:spcBef>
                        <a:spcAft>
                          <a:spcPts val="200"/>
                        </a:spcAft>
                      </a:pPr>
                      <a:r>
                        <a:rPr lang="en-US" sz="1000" noProof="0" dirty="0">
                          <a:solidFill>
                            <a:schemeClr val="tx1"/>
                          </a:solidFill>
                          <a:latin typeface="+mn-lt"/>
                          <a:ea typeface="MS Mincho"/>
                          <a:cs typeface="Times New Roman"/>
                        </a:rPr>
                        <a:t>25</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26</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27</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28</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29</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30</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31</a:t>
                      </a:r>
                    </a:p>
                  </a:txBody>
                  <a:tcPr marL="0" marR="0" marT="0" marB="0">
                    <a:solidFill>
                      <a:schemeClr val="tx2">
                        <a:lumMod val="40000"/>
                        <a:lumOff val="60000"/>
                      </a:schemeClr>
                    </a:solidFill>
                  </a:tcPr>
                </a:tc>
                <a:extLst>
                  <a:ext uri="{0D108BD9-81ED-4DB2-BD59-A6C34878D82A}">
                    <a16:rowId xmlns:a16="http://schemas.microsoft.com/office/drawing/2014/main" val="10006"/>
                  </a:ext>
                </a:extLst>
              </a:tr>
            </a:tbl>
          </a:graphicData>
        </a:graphic>
      </p:graphicFrame>
      <p:graphicFrame>
        <p:nvGraphicFramePr>
          <p:cNvPr id="4" name="Tabelle 3">
            <a:extLst>
              <a:ext uri="{FF2B5EF4-FFF2-40B4-BE49-F238E27FC236}">
                <a16:creationId xmlns:a16="http://schemas.microsoft.com/office/drawing/2014/main" id="{5CE9C7D7-CFBF-AE95-3C66-4D21D1AC47B9}"/>
              </a:ext>
            </a:extLst>
          </p:cNvPr>
          <p:cNvGraphicFramePr>
            <a:graphicFrameLocks noGrp="1"/>
          </p:cNvGraphicFramePr>
          <p:nvPr/>
        </p:nvGraphicFramePr>
        <p:xfrm>
          <a:off x="251520" y="1131590"/>
          <a:ext cx="2160242" cy="1066800"/>
        </p:xfrm>
        <a:graphic>
          <a:graphicData uri="http://schemas.openxmlformats.org/drawingml/2006/table">
            <a:tbl>
              <a:tblPr firstRow="1" bandRow="1">
                <a:tableStyleId>{2D5ABB26-0587-4C30-8999-92F81FD0307C}</a:tableStyleId>
              </a:tblPr>
              <a:tblGrid>
                <a:gridCol w="308606">
                  <a:extLst>
                    <a:ext uri="{9D8B030D-6E8A-4147-A177-3AD203B41FA5}">
                      <a16:colId xmlns:a16="http://schemas.microsoft.com/office/drawing/2014/main" val="20000"/>
                    </a:ext>
                  </a:extLst>
                </a:gridCol>
                <a:gridCol w="308606">
                  <a:extLst>
                    <a:ext uri="{9D8B030D-6E8A-4147-A177-3AD203B41FA5}">
                      <a16:colId xmlns:a16="http://schemas.microsoft.com/office/drawing/2014/main" val="20001"/>
                    </a:ext>
                  </a:extLst>
                </a:gridCol>
                <a:gridCol w="308606">
                  <a:extLst>
                    <a:ext uri="{9D8B030D-6E8A-4147-A177-3AD203B41FA5}">
                      <a16:colId xmlns:a16="http://schemas.microsoft.com/office/drawing/2014/main" val="20002"/>
                    </a:ext>
                  </a:extLst>
                </a:gridCol>
                <a:gridCol w="308606">
                  <a:extLst>
                    <a:ext uri="{9D8B030D-6E8A-4147-A177-3AD203B41FA5}">
                      <a16:colId xmlns:a16="http://schemas.microsoft.com/office/drawing/2014/main" val="20003"/>
                    </a:ext>
                  </a:extLst>
                </a:gridCol>
                <a:gridCol w="308606">
                  <a:extLst>
                    <a:ext uri="{9D8B030D-6E8A-4147-A177-3AD203B41FA5}">
                      <a16:colId xmlns:a16="http://schemas.microsoft.com/office/drawing/2014/main" val="20004"/>
                    </a:ext>
                  </a:extLst>
                </a:gridCol>
                <a:gridCol w="308606">
                  <a:extLst>
                    <a:ext uri="{9D8B030D-6E8A-4147-A177-3AD203B41FA5}">
                      <a16:colId xmlns:a16="http://schemas.microsoft.com/office/drawing/2014/main" val="20005"/>
                    </a:ext>
                  </a:extLst>
                </a:gridCol>
                <a:gridCol w="308606">
                  <a:extLst>
                    <a:ext uri="{9D8B030D-6E8A-4147-A177-3AD203B41FA5}">
                      <a16:colId xmlns:a16="http://schemas.microsoft.com/office/drawing/2014/main" val="20006"/>
                    </a:ext>
                  </a:extLst>
                </a:gridCol>
              </a:tblGrid>
              <a:tr h="0">
                <a:tc gridSpan="7">
                  <a:txBody>
                    <a:bodyPr/>
                    <a:lstStyle/>
                    <a:p>
                      <a:pPr algn="ctr">
                        <a:spcBef>
                          <a:spcPts val="200"/>
                        </a:spcBef>
                        <a:spcAft>
                          <a:spcPts val="0"/>
                        </a:spcAft>
                      </a:pPr>
                      <a:r>
                        <a:rPr lang="en-US" sz="1000" b="1" noProof="0" dirty="0">
                          <a:solidFill>
                            <a:schemeClr val="bg1"/>
                          </a:solidFill>
                          <a:latin typeface="+mn-lt"/>
                          <a:ea typeface="MS Gothic"/>
                          <a:cs typeface="Times New Roman"/>
                        </a:rPr>
                        <a:t>April 2026</a:t>
                      </a:r>
                    </a:p>
                  </a:txBody>
                  <a:tcPr marL="0" marR="0" marT="0" marB="0">
                    <a:solidFill>
                      <a:schemeClr val="tx2"/>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tc hMerge="1">
                  <a:txBody>
                    <a:bodyPr/>
                    <a:lstStyle/>
                    <a:p>
                      <a:pPr algn="ctr">
                        <a:spcBef>
                          <a:spcPts val="200"/>
                        </a:spcBef>
                        <a:spcAft>
                          <a:spcPts val="0"/>
                        </a:spcAft>
                      </a:pPr>
                      <a:endParaRPr lang="de-DE" sz="1000" dirty="0">
                        <a:solidFill>
                          <a:srgbClr val="603B17"/>
                        </a:solidFill>
                        <a:latin typeface="+mn-lt"/>
                        <a:ea typeface="MS Gothic"/>
                        <a:cs typeface="Times New Roman"/>
                      </a:endParaRPr>
                    </a:p>
                  </a:txBody>
                  <a:tcPr marL="0" marR="0" marT="0" marB="0">
                    <a:solidFill>
                      <a:schemeClr val="accent6"/>
                    </a:solidFill>
                  </a:tcPr>
                </a:tc>
                <a:extLst>
                  <a:ext uri="{0D108BD9-81ED-4DB2-BD59-A6C34878D82A}">
                    <a16:rowId xmlns:a16="http://schemas.microsoft.com/office/drawing/2014/main" val="10000"/>
                  </a:ext>
                </a:extLst>
              </a:tr>
              <a:tr h="30861">
                <a:tc>
                  <a:txBody>
                    <a:bodyPr/>
                    <a:lstStyle/>
                    <a:p>
                      <a:pPr algn="ctr">
                        <a:spcBef>
                          <a:spcPts val="200"/>
                        </a:spcBef>
                        <a:spcAft>
                          <a:spcPts val="0"/>
                        </a:spcAft>
                      </a:pPr>
                      <a:r>
                        <a:rPr lang="en-US" sz="1000" noProof="0" dirty="0">
                          <a:solidFill>
                            <a:schemeClr val="bg1"/>
                          </a:solidFill>
                          <a:latin typeface="+mn-lt"/>
                          <a:ea typeface="MS Gothic"/>
                          <a:cs typeface="Times New Roman"/>
                        </a:rPr>
                        <a:t>Mo</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Tu</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We</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Th</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Fr</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Sa</a:t>
                      </a:r>
                    </a:p>
                  </a:txBody>
                  <a:tcPr marL="0" marR="0" marT="0" marB="0">
                    <a:solidFill>
                      <a:schemeClr val="tx2"/>
                    </a:solidFill>
                  </a:tcPr>
                </a:tc>
                <a:tc>
                  <a:txBody>
                    <a:bodyPr/>
                    <a:lstStyle/>
                    <a:p>
                      <a:pPr algn="ctr">
                        <a:spcBef>
                          <a:spcPts val="200"/>
                        </a:spcBef>
                        <a:spcAft>
                          <a:spcPts val="0"/>
                        </a:spcAft>
                      </a:pPr>
                      <a:r>
                        <a:rPr lang="en-US" sz="1000" noProof="0" dirty="0">
                          <a:solidFill>
                            <a:schemeClr val="bg1"/>
                          </a:solidFill>
                          <a:latin typeface="+mn-lt"/>
                          <a:ea typeface="MS Gothic"/>
                          <a:cs typeface="Times New Roman"/>
                        </a:rPr>
                        <a:t>Su</a:t>
                      </a:r>
                    </a:p>
                  </a:txBody>
                  <a:tcPr marL="0" marR="0" marT="0" marB="0">
                    <a:solidFill>
                      <a:schemeClr val="tx2"/>
                    </a:solidFill>
                  </a:tcPr>
                </a:tc>
                <a:extLst>
                  <a:ext uri="{0D108BD9-81ED-4DB2-BD59-A6C34878D82A}">
                    <a16:rowId xmlns:a16="http://schemas.microsoft.com/office/drawing/2014/main" val="10001"/>
                  </a:ext>
                </a:extLst>
              </a:tr>
              <a:tr h="30861">
                <a:tc>
                  <a:txBody>
                    <a:bodyPr/>
                    <a:lstStyle/>
                    <a:p>
                      <a:pPr algn="ctr">
                        <a:spcBef>
                          <a:spcPts val="200"/>
                        </a:spcBef>
                        <a:spcAft>
                          <a:spcPts val="200"/>
                        </a:spcAft>
                      </a:pPr>
                      <a:endParaRPr lang="en-US" sz="1000" noProof="0" dirty="0">
                        <a:solidFill>
                          <a:schemeClr val="tx1"/>
                        </a:solidFill>
                        <a:latin typeface="+mn-lt"/>
                        <a:ea typeface="MS Mincho"/>
                        <a:cs typeface="Times New Roman"/>
                      </a:endParaRPr>
                    </a:p>
                  </a:txBody>
                  <a:tcPr marL="0" marR="0" marT="0" marB="0">
                    <a:solidFill>
                      <a:schemeClr val="tx2">
                        <a:lumMod val="40000"/>
                        <a:lumOff val="60000"/>
                      </a:schemeClr>
                    </a:solidFill>
                  </a:tcPr>
                </a:tc>
                <a:tc>
                  <a:txBody>
                    <a:bodyPr/>
                    <a:lstStyle/>
                    <a:p>
                      <a:pPr algn="ctr">
                        <a:spcBef>
                          <a:spcPts val="200"/>
                        </a:spcBef>
                        <a:spcAft>
                          <a:spcPts val="200"/>
                        </a:spcAft>
                      </a:pPr>
                      <a:endParaRPr lang="en-US" sz="1000" noProof="0" dirty="0">
                        <a:solidFill>
                          <a:schemeClr val="tx1"/>
                        </a:solidFill>
                        <a:latin typeface="+mn-lt"/>
                        <a:ea typeface="MS Mincho"/>
                        <a:cs typeface="Times New Roman"/>
                      </a:endParaRP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3</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4</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5</a:t>
                      </a:r>
                    </a:p>
                  </a:txBody>
                  <a:tcPr marL="0" marR="0" marT="0" marB="0">
                    <a:solidFill>
                      <a:schemeClr val="tx2">
                        <a:lumMod val="40000"/>
                        <a:lumOff val="60000"/>
                      </a:schemeClr>
                    </a:solidFill>
                  </a:tcPr>
                </a:tc>
                <a:extLst>
                  <a:ext uri="{0D108BD9-81ED-4DB2-BD59-A6C34878D82A}">
                    <a16:rowId xmlns:a16="http://schemas.microsoft.com/office/drawing/2014/main" val="10002"/>
                  </a:ext>
                </a:extLst>
              </a:tr>
              <a:tr h="30861">
                <a:tc>
                  <a:txBody>
                    <a:bodyPr/>
                    <a:lstStyle/>
                    <a:p>
                      <a:pPr algn="ctr">
                        <a:spcBef>
                          <a:spcPts val="200"/>
                        </a:spcBef>
                        <a:spcAft>
                          <a:spcPts val="200"/>
                        </a:spcAft>
                      </a:pPr>
                      <a:r>
                        <a:rPr lang="en-US" sz="1000" noProof="0" dirty="0">
                          <a:solidFill>
                            <a:schemeClr val="tx1"/>
                          </a:solidFill>
                          <a:latin typeface="+mn-lt"/>
                          <a:ea typeface="MS Mincho"/>
                          <a:cs typeface="Times New Roman"/>
                        </a:rPr>
                        <a:t>6</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7</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8</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9</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10</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11</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12</a:t>
                      </a:r>
                    </a:p>
                  </a:txBody>
                  <a:tcPr marL="0" marR="0" marT="0" marB="0">
                    <a:solidFill>
                      <a:schemeClr val="tx2">
                        <a:lumMod val="40000"/>
                        <a:lumOff val="60000"/>
                      </a:schemeClr>
                    </a:solidFill>
                  </a:tcPr>
                </a:tc>
                <a:extLst>
                  <a:ext uri="{0D108BD9-81ED-4DB2-BD59-A6C34878D82A}">
                    <a16:rowId xmlns:a16="http://schemas.microsoft.com/office/drawing/2014/main" val="10003"/>
                  </a:ext>
                </a:extLst>
              </a:tr>
              <a:tr h="30861">
                <a:tc>
                  <a:txBody>
                    <a:bodyPr/>
                    <a:lstStyle/>
                    <a:p>
                      <a:pPr algn="ctr">
                        <a:spcBef>
                          <a:spcPts val="200"/>
                        </a:spcBef>
                        <a:spcAft>
                          <a:spcPts val="200"/>
                        </a:spcAft>
                      </a:pPr>
                      <a:r>
                        <a:rPr lang="en-US" sz="1000" noProof="0" dirty="0">
                          <a:solidFill>
                            <a:schemeClr val="tx1"/>
                          </a:solidFill>
                          <a:latin typeface="+mn-lt"/>
                          <a:ea typeface="MS Mincho"/>
                          <a:cs typeface="Times New Roman"/>
                        </a:rPr>
                        <a:t>13</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14</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15</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16</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17</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18</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19</a:t>
                      </a:r>
                    </a:p>
                  </a:txBody>
                  <a:tcPr marL="0" marR="0" marT="0" marB="0">
                    <a:solidFill>
                      <a:schemeClr val="tx2">
                        <a:lumMod val="40000"/>
                        <a:lumOff val="60000"/>
                      </a:schemeClr>
                    </a:solidFill>
                  </a:tcPr>
                </a:tc>
                <a:extLst>
                  <a:ext uri="{0D108BD9-81ED-4DB2-BD59-A6C34878D82A}">
                    <a16:rowId xmlns:a16="http://schemas.microsoft.com/office/drawing/2014/main" val="10004"/>
                  </a:ext>
                </a:extLst>
              </a:tr>
              <a:tr h="30861">
                <a:tc>
                  <a:txBody>
                    <a:bodyPr/>
                    <a:lstStyle/>
                    <a:p>
                      <a:pPr algn="ctr">
                        <a:spcBef>
                          <a:spcPts val="200"/>
                        </a:spcBef>
                        <a:spcAft>
                          <a:spcPts val="200"/>
                        </a:spcAft>
                      </a:pPr>
                      <a:r>
                        <a:rPr lang="en-US" sz="1000" noProof="0" dirty="0">
                          <a:solidFill>
                            <a:schemeClr val="tx1"/>
                          </a:solidFill>
                          <a:latin typeface="+mn-lt"/>
                          <a:ea typeface="MS Mincho"/>
                          <a:cs typeface="Times New Roman"/>
                        </a:rPr>
                        <a:t>20</a:t>
                      </a:r>
                    </a:p>
                  </a:txBody>
                  <a:tcPr marL="0" marR="0" marT="0" marB="0">
                    <a:solidFill>
                      <a:srgbClr val="FFC000"/>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21</a:t>
                      </a:r>
                    </a:p>
                  </a:txBody>
                  <a:tcPr marL="0" marR="0" marT="0" marB="0">
                    <a:solidFill>
                      <a:srgbClr val="FFC000"/>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22</a:t>
                      </a:r>
                    </a:p>
                  </a:txBody>
                  <a:tcPr marL="0" marR="0" marT="0" marB="0">
                    <a:solidFill>
                      <a:srgbClr val="FFC000"/>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23</a:t>
                      </a:r>
                    </a:p>
                  </a:txBody>
                  <a:tcPr marL="0" marR="0" marT="0" marB="0">
                    <a:solidFill>
                      <a:srgbClr val="FFC000"/>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24</a:t>
                      </a:r>
                    </a:p>
                  </a:txBody>
                  <a:tcPr marL="0" marR="0" marT="0" marB="0">
                    <a:solidFill>
                      <a:srgbClr val="FFC000"/>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25</a:t>
                      </a:r>
                    </a:p>
                  </a:txBody>
                  <a:tcPr marL="0" marR="0" marT="0" marB="0">
                    <a:solidFill>
                      <a:schemeClr val="tx2">
                        <a:lumMod val="40000"/>
                        <a:lumOff val="60000"/>
                      </a:schemeClr>
                    </a:solidFill>
                  </a:tcPr>
                </a:tc>
                <a:tc>
                  <a:txBody>
                    <a:bodyPr/>
                    <a:lstStyle/>
                    <a:p>
                      <a:pPr algn="ctr">
                        <a:spcBef>
                          <a:spcPts val="200"/>
                        </a:spcBef>
                        <a:spcAft>
                          <a:spcPts val="200"/>
                        </a:spcAft>
                      </a:pPr>
                      <a:r>
                        <a:rPr lang="en-US" sz="1000" noProof="0" dirty="0">
                          <a:solidFill>
                            <a:schemeClr val="bg1"/>
                          </a:solidFill>
                          <a:latin typeface="+mn-lt"/>
                          <a:ea typeface="MS Mincho"/>
                          <a:cs typeface="Times New Roman"/>
                        </a:rPr>
                        <a:t>26</a:t>
                      </a:r>
                    </a:p>
                  </a:txBody>
                  <a:tcPr marL="0" marR="0" marT="0" marB="0">
                    <a:solidFill>
                      <a:schemeClr val="tx2">
                        <a:lumMod val="40000"/>
                        <a:lumOff val="60000"/>
                      </a:schemeClr>
                    </a:solidFill>
                  </a:tcPr>
                </a:tc>
                <a:extLst>
                  <a:ext uri="{0D108BD9-81ED-4DB2-BD59-A6C34878D82A}">
                    <a16:rowId xmlns:a16="http://schemas.microsoft.com/office/drawing/2014/main" val="10005"/>
                  </a:ext>
                </a:extLst>
              </a:tr>
              <a:tr h="30861">
                <a:tc>
                  <a:txBody>
                    <a:bodyPr/>
                    <a:lstStyle/>
                    <a:p>
                      <a:pPr algn="ctr">
                        <a:spcBef>
                          <a:spcPts val="200"/>
                        </a:spcBef>
                        <a:spcAft>
                          <a:spcPts val="200"/>
                        </a:spcAft>
                      </a:pPr>
                      <a:r>
                        <a:rPr lang="en-US" sz="1000" noProof="0" dirty="0">
                          <a:solidFill>
                            <a:schemeClr val="tx1"/>
                          </a:solidFill>
                          <a:latin typeface="+mn-lt"/>
                          <a:ea typeface="MS Mincho"/>
                          <a:cs typeface="Times New Roman"/>
                        </a:rPr>
                        <a:t>27</a:t>
                      </a:r>
                    </a:p>
                  </a:txBody>
                  <a:tcPr marL="0" marR="0" marT="0" marB="0">
                    <a:solidFill>
                      <a:srgbClr val="FFC000"/>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28</a:t>
                      </a:r>
                    </a:p>
                  </a:txBody>
                  <a:tcPr marL="0" marR="0" marT="0" marB="0">
                    <a:solidFill>
                      <a:srgbClr val="FFC000"/>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29</a:t>
                      </a:r>
                    </a:p>
                  </a:txBody>
                  <a:tcPr marL="0" marR="0" marT="0" marB="0">
                    <a:solidFill>
                      <a:srgbClr val="FFC000"/>
                    </a:solidFill>
                  </a:tcPr>
                </a:tc>
                <a:tc>
                  <a:txBody>
                    <a:bodyPr/>
                    <a:lstStyle/>
                    <a:p>
                      <a:pPr algn="ctr">
                        <a:spcBef>
                          <a:spcPts val="200"/>
                        </a:spcBef>
                        <a:spcAft>
                          <a:spcPts val="200"/>
                        </a:spcAft>
                      </a:pPr>
                      <a:r>
                        <a:rPr lang="en-US" sz="1000" noProof="0" dirty="0">
                          <a:solidFill>
                            <a:schemeClr val="tx1"/>
                          </a:solidFill>
                          <a:latin typeface="+mn-lt"/>
                          <a:ea typeface="MS Mincho"/>
                          <a:cs typeface="Times New Roman"/>
                        </a:rPr>
                        <a:t>30</a:t>
                      </a:r>
                    </a:p>
                  </a:txBody>
                  <a:tcPr marL="0" marR="0" marT="0" marB="0">
                    <a:solidFill>
                      <a:srgbClr val="FFC000"/>
                    </a:solidFill>
                  </a:tcPr>
                </a:tc>
                <a:tc>
                  <a:txBody>
                    <a:bodyPr/>
                    <a:lstStyle/>
                    <a:p>
                      <a:pPr algn="ctr">
                        <a:spcBef>
                          <a:spcPts val="200"/>
                        </a:spcBef>
                        <a:spcAft>
                          <a:spcPts val="200"/>
                        </a:spcAft>
                      </a:pPr>
                      <a:endParaRPr lang="en-US" sz="1000" noProof="0" dirty="0">
                        <a:solidFill>
                          <a:schemeClr val="tx1"/>
                        </a:solidFill>
                        <a:latin typeface="+mn-lt"/>
                        <a:ea typeface="MS Mincho"/>
                        <a:cs typeface="Times New Roman"/>
                      </a:endParaRPr>
                    </a:p>
                  </a:txBody>
                  <a:tcPr marL="0" marR="0" marT="0" marB="0">
                    <a:solidFill>
                      <a:schemeClr val="tx2">
                        <a:lumMod val="40000"/>
                        <a:lumOff val="60000"/>
                      </a:schemeClr>
                    </a:solidFill>
                  </a:tcPr>
                </a:tc>
                <a:tc>
                  <a:txBody>
                    <a:bodyPr/>
                    <a:lstStyle/>
                    <a:p>
                      <a:pPr algn="ctr">
                        <a:spcBef>
                          <a:spcPts val="200"/>
                        </a:spcBef>
                        <a:spcAft>
                          <a:spcPts val="200"/>
                        </a:spcAft>
                      </a:pPr>
                      <a:endParaRPr lang="en-US" sz="1000" noProof="0" dirty="0">
                        <a:solidFill>
                          <a:schemeClr val="bg1"/>
                        </a:solidFill>
                        <a:latin typeface="+mn-lt"/>
                        <a:ea typeface="MS Mincho"/>
                        <a:cs typeface="Times New Roman"/>
                      </a:endParaRPr>
                    </a:p>
                  </a:txBody>
                  <a:tcPr marL="0" marR="0" marT="0" marB="0">
                    <a:solidFill>
                      <a:schemeClr val="tx2">
                        <a:lumMod val="40000"/>
                        <a:lumOff val="60000"/>
                      </a:schemeClr>
                    </a:solidFill>
                  </a:tcPr>
                </a:tc>
                <a:tc>
                  <a:txBody>
                    <a:bodyPr/>
                    <a:lstStyle/>
                    <a:p>
                      <a:pPr algn="ctr">
                        <a:spcBef>
                          <a:spcPts val="200"/>
                        </a:spcBef>
                        <a:spcAft>
                          <a:spcPts val="200"/>
                        </a:spcAft>
                      </a:pPr>
                      <a:endParaRPr lang="en-US" sz="1000" noProof="0" dirty="0">
                        <a:solidFill>
                          <a:schemeClr val="bg1"/>
                        </a:solidFill>
                        <a:latin typeface="+mn-lt"/>
                        <a:ea typeface="MS Mincho"/>
                        <a:cs typeface="Times New Roman"/>
                      </a:endParaRPr>
                    </a:p>
                  </a:txBody>
                  <a:tcPr marL="0" marR="0" marT="0" marB="0">
                    <a:solidFill>
                      <a:schemeClr val="tx2">
                        <a:lumMod val="40000"/>
                        <a:lumOff val="60000"/>
                      </a:schemeClr>
                    </a:solidFill>
                  </a:tcPr>
                </a:tc>
                <a:extLst>
                  <a:ext uri="{0D108BD9-81ED-4DB2-BD59-A6C34878D82A}">
                    <a16:rowId xmlns:a16="http://schemas.microsoft.com/office/drawing/2014/main" val="10006"/>
                  </a:ext>
                </a:extLst>
              </a:tr>
            </a:tbl>
          </a:graphicData>
        </a:graphic>
      </p:graphicFrame>
      <p:sp>
        <p:nvSpPr>
          <p:cNvPr id="5" name="Rechteck 4">
            <a:extLst>
              <a:ext uri="{FF2B5EF4-FFF2-40B4-BE49-F238E27FC236}">
                <a16:creationId xmlns:a16="http://schemas.microsoft.com/office/drawing/2014/main" id="{238B6FD4-1EF4-70B8-FE4E-2F92C42F71AE}"/>
              </a:ext>
            </a:extLst>
          </p:cNvPr>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aphicFrame>
        <p:nvGraphicFramePr>
          <p:cNvPr id="11" name="Tabelle 10">
            <a:extLst>
              <a:ext uri="{FF2B5EF4-FFF2-40B4-BE49-F238E27FC236}">
                <a16:creationId xmlns:a16="http://schemas.microsoft.com/office/drawing/2014/main" id="{33BBF2C6-A23A-F786-298E-73EA0DDE87F3}"/>
              </a:ext>
            </a:extLst>
          </p:cNvPr>
          <p:cNvGraphicFramePr>
            <a:graphicFrameLocks noGrp="1"/>
          </p:cNvGraphicFramePr>
          <p:nvPr>
            <p:extLst>
              <p:ext uri="{D42A27DB-BD31-4B8C-83A1-F6EECF244321}">
                <p14:modId xmlns:p14="http://schemas.microsoft.com/office/powerpoint/2010/main" val="1806279957"/>
              </p:ext>
            </p:extLst>
          </p:nvPr>
        </p:nvGraphicFramePr>
        <p:xfrm>
          <a:off x="3203848" y="1188318"/>
          <a:ext cx="5616624" cy="3322320"/>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3709467775"/>
                    </a:ext>
                  </a:extLst>
                </a:gridCol>
                <a:gridCol w="4248472">
                  <a:extLst>
                    <a:ext uri="{9D8B030D-6E8A-4147-A177-3AD203B41FA5}">
                      <a16:colId xmlns:a16="http://schemas.microsoft.com/office/drawing/2014/main" val="1221599256"/>
                    </a:ext>
                  </a:extLst>
                </a:gridCol>
              </a:tblGrid>
              <a:tr h="0">
                <a:tc>
                  <a:txBody>
                    <a:bodyPr/>
                    <a:lstStyle/>
                    <a:p>
                      <a:r>
                        <a:rPr lang="en-US" sz="1400" noProof="0" dirty="0"/>
                        <a:t>Day</a:t>
                      </a:r>
                    </a:p>
                  </a:txBody>
                  <a:tcPr>
                    <a:solidFill>
                      <a:schemeClr val="tx2">
                        <a:lumMod val="60000"/>
                        <a:lumOff val="40000"/>
                      </a:schemeClr>
                    </a:solidFill>
                  </a:tcPr>
                </a:tc>
                <a:tc>
                  <a:txBody>
                    <a:bodyPr/>
                    <a:lstStyle/>
                    <a:p>
                      <a:r>
                        <a:rPr lang="en-US" sz="1400" noProof="0" dirty="0"/>
                        <a:t>Topic</a:t>
                      </a:r>
                    </a:p>
                  </a:txBody>
                  <a:tcPr>
                    <a:solidFill>
                      <a:schemeClr val="tx2">
                        <a:lumMod val="60000"/>
                        <a:lumOff val="40000"/>
                      </a:schemeClr>
                    </a:solidFill>
                  </a:tcPr>
                </a:tc>
                <a:extLst>
                  <a:ext uri="{0D108BD9-81ED-4DB2-BD59-A6C34878D82A}">
                    <a16:rowId xmlns:a16="http://schemas.microsoft.com/office/drawing/2014/main" val="2809885509"/>
                  </a:ext>
                </a:extLst>
              </a:tr>
              <a:tr h="0">
                <a:tc>
                  <a:txBody>
                    <a:bodyPr/>
                    <a:lstStyle/>
                    <a:p>
                      <a:r>
                        <a:rPr lang="en-US" sz="1400" noProof="0" dirty="0"/>
                        <a:t>Monday:</a:t>
                      </a:r>
                    </a:p>
                    <a:p>
                      <a:r>
                        <a:rPr lang="en-US" sz="1400" noProof="0" dirty="0"/>
                        <a:t>13:35 – 15:05</a:t>
                      </a:r>
                    </a:p>
                  </a:txBody>
                  <a:tcPr>
                    <a:solidFill>
                      <a:schemeClr val="tx2">
                        <a:lumMod val="20000"/>
                        <a:lumOff val="80000"/>
                      </a:schemeClr>
                    </a:solidFill>
                  </a:tcPr>
                </a:tc>
                <a:tc>
                  <a:txBody>
                    <a:bodyPr/>
                    <a:lstStyle/>
                    <a:p>
                      <a:pPr marL="182563" indent="-182563">
                        <a:buFont typeface="Arial" panose="020B0604020202020204" pitchFamily="34" charset="0"/>
                        <a:buChar char="•"/>
                      </a:pPr>
                      <a:r>
                        <a:rPr lang="en-US" sz="1400" noProof="0" dirty="0">
                          <a:solidFill>
                            <a:schemeClr val="tx1"/>
                          </a:solidFill>
                        </a:rPr>
                        <a:t>The secret life of slime molds: aggregation</a:t>
                      </a:r>
                    </a:p>
                  </a:txBody>
                  <a:tcPr>
                    <a:solidFill>
                      <a:schemeClr val="tx2">
                        <a:lumMod val="20000"/>
                        <a:lumOff val="80000"/>
                      </a:schemeClr>
                    </a:solidFill>
                  </a:tcPr>
                </a:tc>
                <a:extLst>
                  <a:ext uri="{0D108BD9-81ED-4DB2-BD59-A6C34878D82A}">
                    <a16:rowId xmlns:a16="http://schemas.microsoft.com/office/drawing/2014/main" val="479272180"/>
                  </a:ext>
                </a:extLst>
              </a:tr>
              <a:tr h="0">
                <a:tc>
                  <a:txBody>
                    <a:bodyPr/>
                    <a:lstStyle/>
                    <a:p>
                      <a:r>
                        <a:rPr lang="en-US" sz="1400" noProof="0" dirty="0"/>
                        <a:t>Tuesday: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13:35 – 15:05</a:t>
                      </a:r>
                    </a:p>
                  </a:txBody>
                  <a:tcPr>
                    <a:solidFill>
                      <a:schemeClr val="accent1">
                        <a:lumMod val="20000"/>
                        <a:lumOff val="80000"/>
                      </a:schemeClr>
                    </a:solidFill>
                  </a:tcPr>
                </a:tc>
                <a:tc>
                  <a:txBody>
                    <a:bodyPr/>
                    <a:lstStyle/>
                    <a:p>
                      <a:pPr marL="182563" indent="-182563">
                        <a:buFont typeface="Arial" panose="020B0604020202020204" pitchFamily="34" charset="0"/>
                        <a:buChar char="•"/>
                      </a:pPr>
                      <a:r>
                        <a:rPr lang="en-US" sz="1400" noProof="0" dirty="0">
                          <a:solidFill>
                            <a:schemeClr val="tx1"/>
                          </a:solidFill>
                        </a:rPr>
                        <a:t>The secret life of slime molds: pattern formation</a:t>
                      </a:r>
                    </a:p>
                  </a:txBody>
                  <a:tcPr>
                    <a:solidFill>
                      <a:schemeClr val="accent1">
                        <a:lumMod val="20000"/>
                        <a:lumOff val="80000"/>
                      </a:schemeClr>
                    </a:solidFill>
                  </a:tcPr>
                </a:tc>
                <a:extLst>
                  <a:ext uri="{0D108BD9-81ED-4DB2-BD59-A6C34878D82A}">
                    <a16:rowId xmlns:a16="http://schemas.microsoft.com/office/drawing/2014/main" val="1843550425"/>
                  </a:ext>
                </a:extLst>
              </a:tr>
              <a:tr h="0">
                <a:tc>
                  <a:txBody>
                    <a:bodyPr/>
                    <a:lstStyle/>
                    <a:p>
                      <a:r>
                        <a:rPr lang="en-US" sz="1400" noProof="0" dirty="0"/>
                        <a:t>Wednesday: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13:35 – 15:05</a:t>
                      </a:r>
                    </a:p>
                  </a:txBody>
                  <a:tcPr>
                    <a:solidFill>
                      <a:schemeClr val="tx2">
                        <a:lumMod val="20000"/>
                        <a:lumOff val="80000"/>
                      </a:schemeClr>
                    </a:solidFill>
                  </a:tcPr>
                </a:tc>
                <a:tc>
                  <a:txBody>
                    <a:body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noProof="0" dirty="0">
                          <a:solidFill>
                            <a:schemeClr val="tx1"/>
                          </a:solidFill>
                        </a:rPr>
                        <a:t>Flocking: The Vicsek model</a:t>
                      </a:r>
                    </a:p>
                    <a:p>
                      <a:pPr marL="0" indent="0">
                        <a:buFont typeface="Arial" panose="020B0604020202020204" pitchFamily="34" charset="0"/>
                        <a:buNone/>
                      </a:pPr>
                      <a:endParaRPr lang="en-US" sz="1400" noProof="0" dirty="0">
                        <a:solidFill>
                          <a:schemeClr val="tx1"/>
                        </a:solidFill>
                      </a:endParaRPr>
                    </a:p>
                  </a:txBody>
                  <a:tcPr>
                    <a:solidFill>
                      <a:schemeClr val="tx2">
                        <a:lumMod val="20000"/>
                        <a:lumOff val="80000"/>
                      </a:schemeClr>
                    </a:solidFill>
                  </a:tcPr>
                </a:tc>
                <a:extLst>
                  <a:ext uri="{0D108BD9-81ED-4DB2-BD59-A6C34878D82A}">
                    <a16:rowId xmlns:a16="http://schemas.microsoft.com/office/drawing/2014/main" val="2063268009"/>
                  </a:ext>
                </a:extLst>
              </a:tr>
              <a:tr h="0">
                <a:tc>
                  <a:txBody>
                    <a:bodyPr/>
                    <a:lstStyle/>
                    <a:p>
                      <a:r>
                        <a:rPr lang="en-US" sz="1400" noProof="0" dirty="0"/>
                        <a:t>Thursday:</a:t>
                      </a:r>
                    </a:p>
                    <a:p>
                      <a:r>
                        <a:rPr lang="en-US" sz="1400" noProof="0" dirty="0"/>
                        <a:t>11:50 – 13:20 &amp;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13:35 – 15:05</a:t>
                      </a:r>
                    </a:p>
                  </a:txBody>
                  <a:tcPr>
                    <a:solidFill>
                      <a:schemeClr val="accent1">
                        <a:lumMod val="20000"/>
                        <a:lumOff val="80000"/>
                      </a:schemeClr>
                    </a:solidFill>
                  </a:tcPr>
                </a:tc>
                <a:tc>
                  <a:txBody>
                    <a:body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noProof="0" dirty="0">
                          <a:solidFill>
                            <a:schemeClr val="tx1"/>
                          </a:solidFill>
                        </a:rPr>
                        <a:t>Coding lab – pt. 1</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noProof="0" dirty="0">
                          <a:solidFill>
                            <a:schemeClr val="tx1"/>
                          </a:solidFill>
                        </a:rPr>
                        <a:t>Coding lab – pt. 2</a:t>
                      </a:r>
                    </a:p>
                  </a:txBody>
                  <a:tcPr>
                    <a:solidFill>
                      <a:schemeClr val="accent1">
                        <a:lumMod val="20000"/>
                        <a:lumOff val="80000"/>
                      </a:schemeClr>
                    </a:solidFill>
                  </a:tcPr>
                </a:tc>
                <a:extLst>
                  <a:ext uri="{0D108BD9-81ED-4DB2-BD59-A6C34878D82A}">
                    <a16:rowId xmlns:a16="http://schemas.microsoft.com/office/drawing/2014/main" val="2712185913"/>
                  </a:ext>
                </a:extLst>
              </a:tr>
              <a:tr h="0">
                <a:tc>
                  <a:txBody>
                    <a:bodyPr/>
                    <a:lstStyle/>
                    <a:p>
                      <a:r>
                        <a:rPr lang="en-US" sz="1400" noProof="0" dirty="0"/>
                        <a:t>Friday:</a:t>
                      </a:r>
                    </a:p>
                    <a:p>
                      <a:r>
                        <a:rPr lang="en-US" sz="1400" noProof="0" dirty="0"/>
                        <a:t>11:50 – 13:20 &amp;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13:35 – 15:05</a:t>
                      </a:r>
                    </a:p>
                  </a:txBody>
                  <a:tcPr>
                    <a:solidFill>
                      <a:schemeClr val="tx2">
                        <a:lumMod val="20000"/>
                        <a:lumOff val="80000"/>
                      </a:schemeClr>
                    </a:solidFill>
                  </a:tcPr>
                </a:tc>
                <a:tc>
                  <a:txBody>
                    <a:bodyPr/>
                    <a:lstStyle/>
                    <a:p>
                      <a:pPr marL="182563" indent="-182563">
                        <a:buFont typeface="Arial" panose="020B0604020202020204" pitchFamily="34" charset="0"/>
                        <a:buChar char="•"/>
                      </a:pPr>
                      <a:r>
                        <a:rPr lang="en-US" sz="1400" noProof="0" dirty="0">
                          <a:solidFill>
                            <a:schemeClr val="tx1"/>
                          </a:solidFill>
                        </a:rPr>
                        <a:t>Swarms of locusts &amp; introduction to chase &amp; escape</a:t>
                      </a:r>
                    </a:p>
                    <a:p>
                      <a:pPr marL="182563" indent="-182563">
                        <a:buFont typeface="Arial" panose="020B0604020202020204" pitchFamily="34" charset="0"/>
                        <a:buChar char="•"/>
                      </a:pPr>
                      <a:r>
                        <a:rPr lang="en-US" sz="1400" noProof="0" dirty="0">
                          <a:solidFill>
                            <a:schemeClr val="tx1"/>
                          </a:solidFill>
                        </a:rPr>
                        <a:t>Intermediate result presentation </a:t>
                      </a:r>
                    </a:p>
                  </a:txBody>
                  <a:tcPr>
                    <a:solidFill>
                      <a:schemeClr val="tx2">
                        <a:lumMod val="20000"/>
                        <a:lumOff val="80000"/>
                      </a:schemeClr>
                    </a:solidFill>
                  </a:tcPr>
                </a:tc>
                <a:extLst>
                  <a:ext uri="{0D108BD9-81ED-4DB2-BD59-A6C34878D82A}">
                    <a16:rowId xmlns:a16="http://schemas.microsoft.com/office/drawing/2014/main" val="3289917281"/>
                  </a:ext>
                </a:extLst>
              </a:tr>
            </a:tbl>
          </a:graphicData>
        </a:graphic>
      </p:graphicFrame>
      <p:grpSp>
        <p:nvGrpSpPr>
          <p:cNvPr id="7" name="Gruppieren 6">
            <a:extLst>
              <a:ext uri="{FF2B5EF4-FFF2-40B4-BE49-F238E27FC236}">
                <a16:creationId xmlns:a16="http://schemas.microsoft.com/office/drawing/2014/main" id="{68877910-9F79-8882-709D-169DB3A08727}"/>
              </a:ext>
            </a:extLst>
          </p:cNvPr>
          <p:cNvGrpSpPr/>
          <p:nvPr/>
        </p:nvGrpSpPr>
        <p:grpSpPr>
          <a:xfrm rot="1411379">
            <a:off x="7806125" y="1265616"/>
            <a:ext cx="1152128" cy="271126"/>
            <a:chOff x="971600" y="4532872"/>
            <a:chExt cx="1152128" cy="271126"/>
          </a:xfrm>
        </p:grpSpPr>
        <p:sp>
          <p:nvSpPr>
            <p:cNvPr id="8" name="Rechteck 7">
              <a:extLst>
                <a:ext uri="{FF2B5EF4-FFF2-40B4-BE49-F238E27FC236}">
                  <a16:creationId xmlns:a16="http://schemas.microsoft.com/office/drawing/2014/main" id="{EB66AA5A-6240-2FA8-106C-076F9B2B30A7}"/>
                </a:ext>
              </a:extLst>
            </p:cNvPr>
            <p:cNvSpPr/>
            <p:nvPr/>
          </p:nvSpPr>
          <p:spPr>
            <a:xfrm>
              <a:off x="971600" y="4532872"/>
              <a:ext cx="1152128" cy="271126"/>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Week 2</a:t>
              </a:r>
            </a:p>
          </p:txBody>
        </p:sp>
        <p:cxnSp>
          <p:nvCxnSpPr>
            <p:cNvPr id="9" name="Gerader Verbinder 8">
              <a:extLst>
                <a:ext uri="{FF2B5EF4-FFF2-40B4-BE49-F238E27FC236}">
                  <a16:creationId xmlns:a16="http://schemas.microsoft.com/office/drawing/2014/main" id="{DAB3E9B0-5D50-ADE0-C694-E37F8C09EE2F}"/>
                </a:ext>
              </a:extLst>
            </p:cNvPr>
            <p:cNvCxnSpPr>
              <a:cxnSpLocks/>
            </p:cNvCxnSpPr>
            <p:nvPr/>
          </p:nvCxnSpPr>
          <p:spPr>
            <a:xfrm>
              <a:off x="971600" y="4803998"/>
              <a:ext cx="115212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3E656422-A9D8-3639-B970-93D6D00C75E3}"/>
                </a:ext>
              </a:extLst>
            </p:cNvPr>
            <p:cNvCxnSpPr/>
            <p:nvPr/>
          </p:nvCxnSpPr>
          <p:spPr>
            <a:xfrm>
              <a:off x="971600" y="4532872"/>
              <a:ext cx="115212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Gruppieren 12">
            <a:extLst>
              <a:ext uri="{FF2B5EF4-FFF2-40B4-BE49-F238E27FC236}">
                <a16:creationId xmlns:a16="http://schemas.microsoft.com/office/drawing/2014/main" id="{6C8613B6-EF9C-439E-1256-C81A76691A7D}"/>
              </a:ext>
            </a:extLst>
          </p:cNvPr>
          <p:cNvGrpSpPr/>
          <p:nvPr/>
        </p:nvGrpSpPr>
        <p:grpSpPr>
          <a:xfrm rot="1411379">
            <a:off x="1389031" y="4067324"/>
            <a:ext cx="1152128" cy="271126"/>
            <a:chOff x="971600" y="4532872"/>
            <a:chExt cx="1152128" cy="271126"/>
          </a:xfrm>
        </p:grpSpPr>
        <p:sp>
          <p:nvSpPr>
            <p:cNvPr id="14" name="Rechteck 13">
              <a:extLst>
                <a:ext uri="{FF2B5EF4-FFF2-40B4-BE49-F238E27FC236}">
                  <a16:creationId xmlns:a16="http://schemas.microsoft.com/office/drawing/2014/main" id="{AA8D5BB1-96D9-8CCE-FE98-0B1BFB9275EC}"/>
                </a:ext>
              </a:extLst>
            </p:cNvPr>
            <p:cNvSpPr/>
            <p:nvPr/>
          </p:nvSpPr>
          <p:spPr>
            <a:xfrm>
              <a:off x="971600" y="4532872"/>
              <a:ext cx="1152128" cy="271126"/>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Later</a:t>
              </a:r>
            </a:p>
          </p:txBody>
        </p:sp>
        <p:cxnSp>
          <p:nvCxnSpPr>
            <p:cNvPr id="15" name="Gerader Verbinder 14">
              <a:extLst>
                <a:ext uri="{FF2B5EF4-FFF2-40B4-BE49-F238E27FC236}">
                  <a16:creationId xmlns:a16="http://schemas.microsoft.com/office/drawing/2014/main" id="{66005C86-D7D4-B76B-27AB-117FD00DB0DF}"/>
                </a:ext>
              </a:extLst>
            </p:cNvPr>
            <p:cNvCxnSpPr>
              <a:cxnSpLocks/>
            </p:cNvCxnSpPr>
            <p:nvPr/>
          </p:nvCxnSpPr>
          <p:spPr>
            <a:xfrm>
              <a:off x="971600" y="4803998"/>
              <a:ext cx="115212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5FD9EFA4-AD2E-FABD-5726-C5C10FE56DC2}"/>
                </a:ext>
              </a:extLst>
            </p:cNvPr>
            <p:cNvCxnSpPr/>
            <p:nvPr/>
          </p:nvCxnSpPr>
          <p:spPr>
            <a:xfrm>
              <a:off x="971600" y="4532872"/>
              <a:ext cx="115212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47041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73AF7D9-9F73-5AF2-0E72-65F7F586EA14}"/>
              </a:ext>
            </a:extLst>
          </p:cNvPr>
          <p:cNvSpPr>
            <a:spLocks noGrp="1"/>
          </p:cNvSpPr>
          <p:nvPr>
            <p:ph type="title"/>
          </p:nvPr>
        </p:nvSpPr>
        <p:spPr/>
        <p:txBody>
          <a:bodyPr/>
          <a:lstStyle/>
          <a:p>
            <a:r>
              <a:rPr lang="en-US" noProof="0" dirty="0"/>
              <a:t>Grading:</a:t>
            </a:r>
            <a:br>
              <a:rPr lang="en-US" noProof="0" dirty="0"/>
            </a:br>
            <a:r>
              <a:rPr lang="en-US" noProof="0" dirty="0"/>
              <a:t>Group projects with peer contribution monitoring (details later)</a:t>
            </a:r>
          </a:p>
        </p:txBody>
      </p:sp>
      <p:sp>
        <p:nvSpPr>
          <p:cNvPr id="3" name="Rechteck 2">
            <a:extLst>
              <a:ext uri="{FF2B5EF4-FFF2-40B4-BE49-F238E27FC236}">
                <a16:creationId xmlns:a16="http://schemas.microsoft.com/office/drawing/2014/main" id="{1F7CB9C3-59E9-B6DD-7744-55FF1B4080EB}"/>
              </a:ext>
            </a:extLst>
          </p:cNvPr>
          <p:cNvSpPr/>
          <p:nvPr/>
        </p:nvSpPr>
        <p:spPr>
          <a:xfrm>
            <a:off x="251520" y="1131590"/>
            <a:ext cx="4248472" cy="360040"/>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Grading</a:t>
            </a:r>
          </a:p>
        </p:txBody>
      </p:sp>
      <p:sp>
        <p:nvSpPr>
          <p:cNvPr id="4" name="Rechteck 3">
            <a:extLst>
              <a:ext uri="{FF2B5EF4-FFF2-40B4-BE49-F238E27FC236}">
                <a16:creationId xmlns:a16="http://schemas.microsoft.com/office/drawing/2014/main" id="{180A0433-5680-4948-EF48-84CFEB58DC00}"/>
              </a:ext>
            </a:extLst>
          </p:cNvPr>
          <p:cNvSpPr/>
          <p:nvPr/>
        </p:nvSpPr>
        <p:spPr>
          <a:xfrm>
            <a:off x="251520" y="1616410"/>
            <a:ext cx="4248472" cy="340361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500"/>
              </a:spcAft>
            </a:pPr>
            <a:r>
              <a:rPr lang="en-US" sz="1400" u="sng" noProof="0" dirty="0">
                <a:solidFill>
                  <a:schemeClr val="tx1"/>
                </a:solidFill>
              </a:rPr>
              <a:t>Components:</a:t>
            </a:r>
          </a:p>
          <a:p>
            <a:pPr marL="182563" indent="-182563">
              <a:spcAft>
                <a:spcPts val="500"/>
              </a:spcAft>
              <a:buFont typeface="Arial" panose="020B0604020202020204" pitchFamily="34" charset="0"/>
              <a:buChar char="•"/>
            </a:pPr>
            <a:r>
              <a:rPr lang="en-US" sz="1400" noProof="0" dirty="0">
                <a:solidFill>
                  <a:schemeClr val="tx1"/>
                </a:solidFill>
              </a:rPr>
              <a:t>Group project (3-4 students per team)</a:t>
            </a:r>
          </a:p>
          <a:p>
            <a:pPr marL="182563" indent="-182563">
              <a:spcAft>
                <a:spcPts val="500"/>
              </a:spcAft>
              <a:buFont typeface="Arial" panose="020B0604020202020204" pitchFamily="34" charset="0"/>
              <a:buChar char="•"/>
            </a:pPr>
            <a:r>
              <a:rPr lang="en-US" sz="1400" noProof="0" dirty="0">
                <a:solidFill>
                  <a:schemeClr val="tx1"/>
                </a:solidFill>
              </a:rPr>
              <a:t>Individual deviation from group grade according to peer contribution</a:t>
            </a:r>
          </a:p>
          <a:p>
            <a:pPr marL="182563" indent="-182563">
              <a:spcAft>
                <a:spcPts val="500"/>
              </a:spcAft>
              <a:buFont typeface="Arial" panose="020B0604020202020204" pitchFamily="34" charset="0"/>
              <a:buChar char="•"/>
            </a:pPr>
            <a:r>
              <a:rPr lang="en-US" sz="1400" noProof="0" dirty="0">
                <a:solidFill>
                  <a:schemeClr val="tx1"/>
                </a:solidFill>
              </a:rPr>
              <a:t>Intermediate result presentation (seeing that you are on track): 30% of the grade</a:t>
            </a:r>
          </a:p>
          <a:p>
            <a:pPr marL="450850" lvl="1" indent="-184150">
              <a:spcAft>
                <a:spcPts val="500"/>
              </a:spcAft>
              <a:buFont typeface="Symbol" panose="05050102010706020507" pitchFamily="18" charset="2"/>
              <a:buChar char="-"/>
            </a:pPr>
            <a:r>
              <a:rPr lang="en-US" sz="1400" noProof="0" dirty="0">
                <a:solidFill>
                  <a:schemeClr val="tx1"/>
                </a:solidFill>
              </a:rPr>
              <a:t>at the end of the course (</a:t>
            </a:r>
            <a:r>
              <a:rPr lang="en-US" sz="1400" b="1" noProof="0" dirty="0">
                <a:solidFill>
                  <a:schemeClr val="tx1"/>
                </a:solidFill>
              </a:rPr>
              <a:t>Friday 2</a:t>
            </a:r>
            <a:r>
              <a:rPr lang="en-US" sz="1400" b="1" baseline="30000" noProof="0" dirty="0">
                <a:solidFill>
                  <a:schemeClr val="tx1"/>
                </a:solidFill>
              </a:rPr>
              <a:t>nd</a:t>
            </a:r>
            <a:r>
              <a:rPr lang="en-US" sz="1400" b="1" noProof="0" dirty="0">
                <a:solidFill>
                  <a:schemeClr val="tx1"/>
                </a:solidFill>
              </a:rPr>
              <a:t> week</a:t>
            </a:r>
            <a:r>
              <a:rPr lang="en-US" sz="1400" noProof="0" dirty="0">
                <a:solidFill>
                  <a:schemeClr val="tx1"/>
                </a:solidFill>
              </a:rPr>
              <a:t>)</a:t>
            </a:r>
          </a:p>
          <a:p>
            <a:pPr marL="450850" lvl="1" indent="-184150">
              <a:spcAft>
                <a:spcPts val="500"/>
              </a:spcAft>
              <a:buFont typeface="Symbol" panose="05050102010706020507" pitchFamily="18" charset="2"/>
              <a:buChar char="-"/>
            </a:pPr>
            <a:r>
              <a:rPr lang="en-US" sz="1400" noProof="0" dirty="0">
                <a:solidFill>
                  <a:schemeClr val="tx1"/>
                </a:solidFill>
              </a:rPr>
              <a:t>criteria: well-defined problem and solution approach, first results</a:t>
            </a:r>
          </a:p>
          <a:p>
            <a:pPr marL="182563" indent="-182563">
              <a:spcAft>
                <a:spcPts val="500"/>
              </a:spcAft>
              <a:buFont typeface="Arial" panose="020B0604020202020204" pitchFamily="34" charset="0"/>
              <a:buChar char="•"/>
            </a:pPr>
            <a:r>
              <a:rPr lang="en-US" sz="1400" noProof="0" dirty="0">
                <a:solidFill>
                  <a:schemeClr val="tx1"/>
                </a:solidFill>
              </a:rPr>
              <a:t>Final presentation (= report): 70% of the grade</a:t>
            </a:r>
          </a:p>
          <a:p>
            <a:pPr marL="450850" lvl="1" indent="-184150">
              <a:spcAft>
                <a:spcPts val="500"/>
              </a:spcAft>
              <a:buFont typeface="Symbol" panose="05050102010706020507" pitchFamily="18" charset="2"/>
              <a:buChar char="-"/>
            </a:pPr>
            <a:r>
              <a:rPr lang="en-US" sz="1400" noProof="0" dirty="0">
                <a:solidFill>
                  <a:schemeClr val="tx1"/>
                </a:solidFill>
              </a:rPr>
              <a:t>about 3 weeks after the end of the course</a:t>
            </a:r>
          </a:p>
          <a:p>
            <a:pPr marL="450850" lvl="1" indent="-184150">
              <a:spcAft>
                <a:spcPts val="500"/>
              </a:spcAft>
              <a:buFont typeface="Symbol" panose="05050102010706020507" pitchFamily="18" charset="2"/>
              <a:buChar char="-"/>
            </a:pPr>
            <a:r>
              <a:rPr lang="en-US" sz="1400" noProof="0" dirty="0">
                <a:solidFill>
                  <a:schemeClr val="tx1"/>
                </a:solidFill>
              </a:rPr>
              <a:t>criteria: clear presentation and comprehensive results</a:t>
            </a:r>
          </a:p>
          <a:p>
            <a:pPr marL="450850" lvl="1" indent="-184150">
              <a:spcAft>
                <a:spcPts val="500"/>
              </a:spcAft>
              <a:buFont typeface="Symbol" panose="05050102010706020507" pitchFamily="18" charset="2"/>
              <a:buChar char="-"/>
            </a:pPr>
            <a:endParaRPr lang="en-US" sz="1400" noProof="0" dirty="0">
              <a:solidFill>
                <a:schemeClr val="tx1"/>
              </a:solidFill>
            </a:endParaRPr>
          </a:p>
          <a:p>
            <a:pPr marL="182563" indent="-182563">
              <a:spcAft>
                <a:spcPts val="500"/>
              </a:spcAft>
              <a:buFont typeface="Arial" panose="020B0604020202020204" pitchFamily="34" charset="0"/>
              <a:buChar char="•"/>
            </a:pPr>
            <a:endParaRPr lang="en-US" sz="1400" noProof="0" dirty="0">
              <a:solidFill>
                <a:schemeClr val="tx1"/>
              </a:solidFill>
            </a:endParaRPr>
          </a:p>
        </p:txBody>
      </p:sp>
      <p:sp>
        <p:nvSpPr>
          <p:cNvPr id="5" name="Rechteck 4">
            <a:extLst>
              <a:ext uri="{FF2B5EF4-FFF2-40B4-BE49-F238E27FC236}">
                <a16:creationId xmlns:a16="http://schemas.microsoft.com/office/drawing/2014/main" id="{79A88D59-8559-037C-1DF1-1EF6E090552B}"/>
              </a:ext>
            </a:extLst>
          </p:cNvPr>
          <p:cNvSpPr/>
          <p:nvPr/>
        </p:nvSpPr>
        <p:spPr>
          <a:xfrm>
            <a:off x="4644010" y="1131590"/>
            <a:ext cx="4248472" cy="360040"/>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Necessary Parts of the Presentations</a:t>
            </a:r>
          </a:p>
        </p:txBody>
      </p:sp>
      <p:sp>
        <p:nvSpPr>
          <p:cNvPr id="6" name="Rechteck 5">
            <a:extLst>
              <a:ext uri="{FF2B5EF4-FFF2-40B4-BE49-F238E27FC236}">
                <a16:creationId xmlns:a16="http://schemas.microsoft.com/office/drawing/2014/main" id="{F6645C80-36AB-DAE3-4835-C4F3A4DBE501}"/>
              </a:ext>
            </a:extLst>
          </p:cNvPr>
          <p:cNvSpPr/>
          <p:nvPr/>
        </p:nvSpPr>
        <p:spPr>
          <a:xfrm>
            <a:off x="4644010" y="1616410"/>
            <a:ext cx="4248472" cy="340361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noProof="0" dirty="0">
                <a:solidFill>
                  <a:schemeClr val="tx1"/>
                </a:solidFill>
              </a:rPr>
              <a:t>Your presentation should be clearly structured highlighting your completed work:</a:t>
            </a:r>
          </a:p>
        </p:txBody>
      </p:sp>
      <p:grpSp>
        <p:nvGrpSpPr>
          <p:cNvPr id="54" name="Gruppieren 53">
            <a:extLst>
              <a:ext uri="{FF2B5EF4-FFF2-40B4-BE49-F238E27FC236}">
                <a16:creationId xmlns:a16="http://schemas.microsoft.com/office/drawing/2014/main" id="{3CE6DB8B-A861-6B0C-2B1C-6DC1AC52BF04}"/>
              </a:ext>
            </a:extLst>
          </p:cNvPr>
          <p:cNvGrpSpPr/>
          <p:nvPr/>
        </p:nvGrpSpPr>
        <p:grpSpPr>
          <a:xfrm>
            <a:off x="5102113" y="2304820"/>
            <a:ext cx="3332267" cy="2632179"/>
            <a:chOff x="1835696" y="1131588"/>
            <a:chExt cx="4608512" cy="3640293"/>
          </a:xfrm>
        </p:grpSpPr>
        <p:grpSp>
          <p:nvGrpSpPr>
            <p:cNvPr id="55" name="Gruppieren 54">
              <a:extLst>
                <a:ext uri="{FF2B5EF4-FFF2-40B4-BE49-F238E27FC236}">
                  <a16:creationId xmlns:a16="http://schemas.microsoft.com/office/drawing/2014/main" id="{0ACF3172-9E07-6363-5C86-1F7C6D6D0505}"/>
                </a:ext>
              </a:extLst>
            </p:cNvPr>
            <p:cNvGrpSpPr/>
            <p:nvPr/>
          </p:nvGrpSpPr>
          <p:grpSpPr>
            <a:xfrm>
              <a:off x="1835696" y="1131589"/>
              <a:ext cx="1440160" cy="952115"/>
              <a:chOff x="2204120" y="2715985"/>
              <a:chExt cx="1440160" cy="952115"/>
            </a:xfrm>
          </p:grpSpPr>
          <p:grpSp>
            <p:nvGrpSpPr>
              <p:cNvPr id="96" name="Gruppieren 17">
                <a:extLst>
                  <a:ext uri="{FF2B5EF4-FFF2-40B4-BE49-F238E27FC236}">
                    <a16:creationId xmlns:a16="http://schemas.microsoft.com/office/drawing/2014/main" id="{2EFAB18D-1AC8-C07D-899F-51265DEF919D}"/>
                  </a:ext>
                </a:extLst>
              </p:cNvPr>
              <p:cNvGrpSpPr/>
              <p:nvPr/>
            </p:nvGrpSpPr>
            <p:grpSpPr>
              <a:xfrm>
                <a:off x="2204120" y="2715985"/>
                <a:ext cx="1440160" cy="952115"/>
                <a:chOff x="2627784" y="1340768"/>
                <a:chExt cx="2287290" cy="1512168"/>
              </a:xfrm>
            </p:grpSpPr>
            <p:sp>
              <p:nvSpPr>
                <p:cNvPr id="98" name="Rechteck 97">
                  <a:extLst>
                    <a:ext uri="{FF2B5EF4-FFF2-40B4-BE49-F238E27FC236}">
                      <a16:creationId xmlns:a16="http://schemas.microsoft.com/office/drawing/2014/main" id="{9A37EDD9-69C7-1FF9-2D7E-1364297906C6}"/>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99" name="Rechteck 98">
                  <a:extLst>
                    <a:ext uri="{FF2B5EF4-FFF2-40B4-BE49-F238E27FC236}">
                      <a16:creationId xmlns:a16="http://schemas.microsoft.com/office/drawing/2014/main" id="{35579CDB-9E0B-61DC-A4AF-A8EF663F5983}"/>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97" name="Textfeld 96">
                <a:extLst>
                  <a:ext uri="{FF2B5EF4-FFF2-40B4-BE49-F238E27FC236}">
                    <a16:creationId xmlns:a16="http://schemas.microsoft.com/office/drawing/2014/main" id="{8A1A467F-8AF4-2780-D854-3F72C81BC254}"/>
                  </a:ext>
                </a:extLst>
              </p:cNvPr>
              <p:cNvSpPr txBox="1"/>
              <p:nvPr/>
            </p:nvSpPr>
            <p:spPr>
              <a:xfrm>
                <a:off x="2204120" y="2966890"/>
                <a:ext cx="1440160" cy="681047"/>
              </a:xfrm>
              <a:prstGeom prst="rect">
                <a:avLst/>
              </a:prstGeom>
              <a:noFill/>
            </p:spPr>
            <p:txBody>
              <a:bodyPr wrap="square" lIns="0" rIns="0" rtlCol="0">
                <a:spAutoFit/>
              </a:bodyPr>
              <a:lstStyle/>
              <a:p>
                <a:pPr algn="ctr"/>
                <a:r>
                  <a:rPr lang="en-US" sz="1000" noProof="0" dirty="0"/>
                  <a:t>Problem</a:t>
                </a:r>
              </a:p>
              <a:p>
                <a:pPr algn="ctr"/>
                <a:r>
                  <a:rPr lang="en-US" sz="1000" noProof="0" dirty="0"/>
                  <a:t>Statement</a:t>
                </a:r>
              </a:p>
              <a:p>
                <a:pPr algn="ctr"/>
                <a:r>
                  <a:rPr lang="en-US" sz="600" noProof="0" dirty="0"/>
                  <a:t>(Situation/ Complication)</a:t>
                </a:r>
              </a:p>
            </p:txBody>
          </p:sp>
        </p:grpSp>
        <p:grpSp>
          <p:nvGrpSpPr>
            <p:cNvPr id="56" name="Gruppieren 55">
              <a:extLst>
                <a:ext uri="{FF2B5EF4-FFF2-40B4-BE49-F238E27FC236}">
                  <a16:creationId xmlns:a16="http://schemas.microsoft.com/office/drawing/2014/main" id="{49A235F8-FCCB-5672-632E-FEC80F644267}"/>
                </a:ext>
              </a:extLst>
            </p:cNvPr>
            <p:cNvGrpSpPr/>
            <p:nvPr/>
          </p:nvGrpSpPr>
          <p:grpSpPr>
            <a:xfrm>
              <a:off x="3420205" y="1131588"/>
              <a:ext cx="1440160" cy="953234"/>
              <a:chOff x="2204120" y="2715985"/>
              <a:chExt cx="1440160" cy="953234"/>
            </a:xfrm>
          </p:grpSpPr>
          <p:grpSp>
            <p:nvGrpSpPr>
              <p:cNvPr id="92" name="Gruppieren 17">
                <a:extLst>
                  <a:ext uri="{FF2B5EF4-FFF2-40B4-BE49-F238E27FC236}">
                    <a16:creationId xmlns:a16="http://schemas.microsoft.com/office/drawing/2014/main" id="{24817891-B624-EAB8-3694-B894CAF8698E}"/>
                  </a:ext>
                </a:extLst>
              </p:cNvPr>
              <p:cNvGrpSpPr/>
              <p:nvPr/>
            </p:nvGrpSpPr>
            <p:grpSpPr>
              <a:xfrm>
                <a:off x="2204120" y="2715985"/>
                <a:ext cx="1440160" cy="952115"/>
                <a:chOff x="2627784" y="1340768"/>
                <a:chExt cx="2287290" cy="1512168"/>
              </a:xfrm>
            </p:grpSpPr>
            <p:sp>
              <p:nvSpPr>
                <p:cNvPr id="94" name="Rechteck 93">
                  <a:extLst>
                    <a:ext uri="{FF2B5EF4-FFF2-40B4-BE49-F238E27FC236}">
                      <a16:creationId xmlns:a16="http://schemas.microsoft.com/office/drawing/2014/main" id="{6F3E360E-DAD3-B19A-D7DC-803BF28229CA}"/>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95" name="Rechteck 94">
                  <a:extLst>
                    <a:ext uri="{FF2B5EF4-FFF2-40B4-BE49-F238E27FC236}">
                      <a16:creationId xmlns:a16="http://schemas.microsoft.com/office/drawing/2014/main" id="{C90250D5-E02B-D312-C481-90DAF100658E}"/>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93" name="Textfeld 92">
                <a:extLst>
                  <a:ext uri="{FF2B5EF4-FFF2-40B4-BE49-F238E27FC236}">
                    <a16:creationId xmlns:a16="http://schemas.microsoft.com/office/drawing/2014/main" id="{7820A7D2-E117-0BA6-EA34-628FF480C15E}"/>
                  </a:ext>
                </a:extLst>
              </p:cNvPr>
              <p:cNvSpPr txBox="1"/>
              <p:nvPr/>
            </p:nvSpPr>
            <p:spPr>
              <a:xfrm>
                <a:off x="2204120" y="2966890"/>
                <a:ext cx="1440160" cy="702329"/>
              </a:xfrm>
              <a:prstGeom prst="rect">
                <a:avLst/>
              </a:prstGeom>
              <a:noFill/>
            </p:spPr>
            <p:txBody>
              <a:bodyPr wrap="square" lIns="0" rIns="0" rtlCol="0">
                <a:spAutoFit/>
              </a:bodyPr>
              <a:lstStyle/>
              <a:p>
                <a:pPr algn="ctr"/>
                <a:r>
                  <a:rPr lang="en-US" sz="1000" noProof="0" dirty="0"/>
                  <a:t>Your Solution</a:t>
                </a:r>
              </a:p>
              <a:p>
                <a:pPr algn="ctr"/>
                <a:r>
                  <a:rPr lang="en-US" sz="1000" noProof="0" dirty="0"/>
                  <a:t>Approach</a:t>
                </a:r>
              </a:p>
              <a:p>
                <a:pPr algn="ctr"/>
                <a:r>
                  <a:rPr lang="en-US" sz="600" noProof="0" dirty="0"/>
                  <a:t>(Solution)</a:t>
                </a:r>
              </a:p>
            </p:txBody>
          </p:sp>
        </p:grpSp>
        <p:grpSp>
          <p:nvGrpSpPr>
            <p:cNvPr id="57" name="Gruppieren 56">
              <a:extLst>
                <a:ext uri="{FF2B5EF4-FFF2-40B4-BE49-F238E27FC236}">
                  <a16:creationId xmlns:a16="http://schemas.microsoft.com/office/drawing/2014/main" id="{F331CE2F-2E6E-2BC0-93E2-A3ECBE1AED97}"/>
                </a:ext>
              </a:extLst>
            </p:cNvPr>
            <p:cNvGrpSpPr/>
            <p:nvPr/>
          </p:nvGrpSpPr>
          <p:grpSpPr>
            <a:xfrm>
              <a:off x="5004048" y="1131588"/>
              <a:ext cx="1440160" cy="952115"/>
              <a:chOff x="5004048" y="1131588"/>
              <a:chExt cx="1440160" cy="952115"/>
            </a:xfrm>
          </p:grpSpPr>
          <p:grpSp>
            <p:nvGrpSpPr>
              <p:cNvPr id="88" name="Gruppieren 17">
                <a:extLst>
                  <a:ext uri="{FF2B5EF4-FFF2-40B4-BE49-F238E27FC236}">
                    <a16:creationId xmlns:a16="http://schemas.microsoft.com/office/drawing/2014/main" id="{8C869DB2-6737-845A-ACD2-3102678CB280}"/>
                  </a:ext>
                </a:extLst>
              </p:cNvPr>
              <p:cNvGrpSpPr/>
              <p:nvPr/>
            </p:nvGrpSpPr>
            <p:grpSpPr>
              <a:xfrm>
                <a:off x="5004048" y="1131588"/>
                <a:ext cx="1440160" cy="952115"/>
                <a:chOff x="2627784" y="1340768"/>
                <a:chExt cx="2287290" cy="1512168"/>
              </a:xfrm>
            </p:grpSpPr>
            <p:sp>
              <p:nvSpPr>
                <p:cNvPr id="90" name="Rechteck 89">
                  <a:extLst>
                    <a:ext uri="{FF2B5EF4-FFF2-40B4-BE49-F238E27FC236}">
                      <a16:creationId xmlns:a16="http://schemas.microsoft.com/office/drawing/2014/main" id="{A15CE932-391A-2644-3145-F3F8ED37DA8E}"/>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91" name="Rechteck 90">
                  <a:extLst>
                    <a:ext uri="{FF2B5EF4-FFF2-40B4-BE49-F238E27FC236}">
                      <a16:creationId xmlns:a16="http://schemas.microsoft.com/office/drawing/2014/main" id="{3DD86FB9-F94B-0C1E-A99A-D51A79E6F574}"/>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89" name="Textfeld 88">
                <a:extLst>
                  <a:ext uri="{FF2B5EF4-FFF2-40B4-BE49-F238E27FC236}">
                    <a16:creationId xmlns:a16="http://schemas.microsoft.com/office/drawing/2014/main" id="{8DE2A2EF-4B18-26CB-E6BF-30C26824819D}"/>
                  </a:ext>
                </a:extLst>
              </p:cNvPr>
              <p:cNvSpPr txBox="1"/>
              <p:nvPr/>
            </p:nvSpPr>
            <p:spPr>
              <a:xfrm>
                <a:off x="5138637" y="1463494"/>
                <a:ext cx="1170993" cy="553350"/>
              </a:xfrm>
              <a:prstGeom prst="rect">
                <a:avLst/>
              </a:prstGeom>
              <a:noFill/>
            </p:spPr>
            <p:txBody>
              <a:bodyPr wrap="none" rtlCol="0">
                <a:spAutoFit/>
              </a:bodyPr>
              <a:lstStyle/>
              <a:p>
                <a:pPr algn="ctr"/>
                <a:r>
                  <a:rPr lang="en-US" sz="1000" noProof="0" dirty="0"/>
                  <a:t>Peer</a:t>
                </a:r>
              </a:p>
              <a:p>
                <a:pPr algn="ctr"/>
                <a:r>
                  <a:rPr lang="en-US" sz="1000" noProof="0" dirty="0"/>
                  <a:t>Contribution</a:t>
                </a:r>
              </a:p>
            </p:txBody>
          </p:sp>
        </p:grpSp>
        <p:grpSp>
          <p:nvGrpSpPr>
            <p:cNvPr id="58" name="Gruppieren 57">
              <a:extLst>
                <a:ext uri="{FF2B5EF4-FFF2-40B4-BE49-F238E27FC236}">
                  <a16:creationId xmlns:a16="http://schemas.microsoft.com/office/drawing/2014/main" id="{C22BA42A-ADA1-6C0D-0E0F-CF70C078BC64}"/>
                </a:ext>
              </a:extLst>
            </p:cNvPr>
            <p:cNvGrpSpPr/>
            <p:nvPr/>
          </p:nvGrpSpPr>
          <p:grpSpPr>
            <a:xfrm>
              <a:off x="1835696" y="2243810"/>
              <a:ext cx="1440160" cy="952115"/>
              <a:chOff x="1815374" y="2243810"/>
              <a:chExt cx="1440160" cy="952115"/>
            </a:xfrm>
          </p:grpSpPr>
          <p:grpSp>
            <p:nvGrpSpPr>
              <p:cNvPr id="84" name="Gruppieren 17">
                <a:extLst>
                  <a:ext uri="{FF2B5EF4-FFF2-40B4-BE49-F238E27FC236}">
                    <a16:creationId xmlns:a16="http://schemas.microsoft.com/office/drawing/2014/main" id="{DF8AC773-E5F1-2EC9-49AF-E09DBF8500D7}"/>
                  </a:ext>
                </a:extLst>
              </p:cNvPr>
              <p:cNvGrpSpPr/>
              <p:nvPr/>
            </p:nvGrpSpPr>
            <p:grpSpPr>
              <a:xfrm>
                <a:off x="1815374" y="2243810"/>
                <a:ext cx="1440160" cy="952115"/>
                <a:chOff x="2627784" y="1340768"/>
                <a:chExt cx="2287290" cy="1512168"/>
              </a:xfrm>
            </p:grpSpPr>
            <p:sp>
              <p:nvSpPr>
                <p:cNvPr id="86" name="Rechteck 85">
                  <a:extLst>
                    <a:ext uri="{FF2B5EF4-FFF2-40B4-BE49-F238E27FC236}">
                      <a16:creationId xmlns:a16="http://schemas.microsoft.com/office/drawing/2014/main" id="{43361743-8132-5C79-5716-A4763F443BFF}"/>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87" name="Rechteck 86">
                  <a:extLst>
                    <a:ext uri="{FF2B5EF4-FFF2-40B4-BE49-F238E27FC236}">
                      <a16:creationId xmlns:a16="http://schemas.microsoft.com/office/drawing/2014/main" id="{385C10CD-2524-C104-757A-94C6E6DA7FFF}"/>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85" name="Textfeld 84">
                <a:extLst>
                  <a:ext uri="{FF2B5EF4-FFF2-40B4-BE49-F238E27FC236}">
                    <a16:creationId xmlns:a16="http://schemas.microsoft.com/office/drawing/2014/main" id="{134C920D-5867-68CD-50E3-3E411DBBAEF2}"/>
                  </a:ext>
                </a:extLst>
              </p:cNvPr>
              <p:cNvSpPr txBox="1"/>
              <p:nvPr/>
            </p:nvSpPr>
            <p:spPr>
              <a:xfrm>
                <a:off x="1815374" y="2584689"/>
                <a:ext cx="1440160" cy="553350"/>
              </a:xfrm>
              <a:prstGeom prst="rect">
                <a:avLst/>
              </a:prstGeom>
              <a:noFill/>
            </p:spPr>
            <p:txBody>
              <a:bodyPr wrap="square" lIns="0" rIns="0" rtlCol="0">
                <a:spAutoFit/>
              </a:bodyPr>
              <a:lstStyle/>
              <a:p>
                <a:pPr algn="ctr"/>
                <a:r>
                  <a:rPr lang="en-US" sz="1000" noProof="0" dirty="0"/>
                  <a:t>List of Completed Activities</a:t>
                </a:r>
              </a:p>
            </p:txBody>
          </p:sp>
        </p:grpSp>
        <p:grpSp>
          <p:nvGrpSpPr>
            <p:cNvPr id="59" name="Gruppieren 58">
              <a:extLst>
                <a:ext uri="{FF2B5EF4-FFF2-40B4-BE49-F238E27FC236}">
                  <a16:creationId xmlns:a16="http://schemas.microsoft.com/office/drawing/2014/main" id="{08366C7B-40A3-FC4F-9A77-F00BCF887E1C}"/>
                </a:ext>
              </a:extLst>
            </p:cNvPr>
            <p:cNvGrpSpPr/>
            <p:nvPr/>
          </p:nvGrpSpPr>
          <p:grpSpPr>
            <a:xfrm>
              <a:off x="3420205" y="2247077"/>
              <a:ext cx="1897360" cy="1409315"/>
              <a:chOff x="3421713" y="2247077"/>
              <a:chExt cx="1897360" cy="1409315"/>
            </a:xfrm>
          </p:grpSpPr>
          <p:grpSp>
            <p:nvGrpSpPr>
              <p:cNvPr id="68" name="Gruppieren 17">
                <a:extLst>
                  <a:ext uri="{FF2B5EF4-FFF2-40B4-BE49-F238E27FC236}">
                    <a16:creationId xmlns:a16="http://schemas.microsoft.com/office/drawing/2014/main" id="{4232BA04-6076-F76F-D457-CA52D807CA9B}"/>
                  </a:ext>
                </a:extLst>
              </p:cNvPr>
              <p:cNvGrpSpPr/>
              <p:nvPr/>
            </p:nvGrpSpPr>
            <p:grpSpPr>
              <a:xfrm>
                <a:off x="3878913" y="2704277"/>
                <a:ext cx="1440160" cy="952115"/>
                <a:chOff x="2627784" y="1340768"/>
                <a:chExt cx="2287290" cy="1512168"/>
              </a:xfrm>
            </p:grpSpPr>
            <p:sp>
              <p:nvSpPr>
                <p:cNvPr id="82" name="Rechteck 81">
                  <a:extLst>
                    <a:ext uri="{FF2B5EF4-FFF2-40B4-BE49-F238E27FC236}">
                      <a16:creationId xmlns:a16="http://schemas.microsoft.com/office/drawing/2014/main" id="{E009BC4B-453C-B48F-CDD4-F4C84439C06C}"/>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83" name="Rechteck 82">
                  <a:extLst>
                    <a:ext uri="{FF2B5EF4-FFF2-40B4-BE49-F238E27FC236}">
                      <a16:creationId xmlns:a16="http://schemas.microsoft.com/office/drawing/2014/main" id="{BEAFD72B-A984-7C3E-876F-01003CD889AC}"/>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69" name="Textfeld 68">
                <a:extLst>
                  <a:ext uri="{FF2B5EF4-FFF2-40B4-BE49-F238E27FC236}">
                    <a16:creationId xmlns:a16="http://schemas.microsoft.com/office/drawing/2014/main" id="{006BCFE1-F938-37ED-5CFC-B2CC85158518}"/>
                  </a:ext>
                </a:extLst>
              </p:cNvPr>
              <p:cNvSpPr txBox="1"/>
              <p:nvPr/>
            </p:nvSpPr>
            <p:spPr>
              <a:xfrm>
                <a:off x="3878914" y="3116579"/>
                <a:ext cx="1440159" cy="340522"/>
              </a:xfrm>
              <a:prstGeom prst="rect">
                <a:avLst/>
              </a:prstGeom>
              <a:noFill/>
            </p:spPr>
            <p:txBody>
              <a:bodyPr wrap="square" lIns="0" rIns="0" rtlCol="0">
                <a:spAutoFit/>
              </a:bodyPr>
              <a:lstStyle/>
              <a:p>
                <a:pPr algn="ctr"/>
                <a:r>
                  <a:rPr lang="en-US" sz="1000" noProof="0" dirty="0"/>
                  <a:t>Activity Details</a:t>
                </a:r>
              </a:p>
            </p:txBody>
          </p:sp>
          <p:grpSp>
            <p:nvGrpSpPr>
              <p:cNvPr id="70" name="Gruppieren 17">
                <a:extLst>
                  <a:ext uri="{FF2B5EF4-FFF2-40B4-BE49-F238E27FC236}">
                    <a16:creationId xmlns:a16="http://schemas.microsoft.com/office/drawing/2014/main" id="{6328765B-DE39-09AF-7C5F-6A5A5C75238A}"/>
                  </a:ext>
                </a:extLst>
              </p:cNvPr>
              <p:cNvGrpSpPr/>
              <p:nvPr/>
            </p:nvGrpSpPr>
            <p:grpSpPr>
              <a:xfrm>
                <a:off x="3726513" y="2551877"/>
                <a:ext cx="1440160" cy="952115"/>
                <a:chOff x="2627784" y="1340768"/>
                <a:chExt cx="2287290" cy="1512168"/>
              </a:xfrm>
            </p:grpSpPr>
            <p:sp>
              <p:nvSpPr>
                <p:cNvPr id="80" name="Rechteck 79">
                  <a:extLst>
                    <a:ext uri="{FF2B5EF4-FFF2-40B4-BE49-F238E27FC236}">
                      <a16:creationId xmlns:a16="http://schemas.microsoft.com/office/drawing/2014/main" id="{207A453C-EADF-7966-8491-922B12FD0DDF}"/>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81" name="Rechteck 80">
                  <a:extLst>
                    <a:ext uri="{FF2B5EF4-FFF2-40B4-BE49-F238E27FC236}">
                      <a16:creationId xmlns:a16="http://schemas.microsoft.com/office/drawing/2014/main" id="{40A0057A-EB21-0D74-B51F-2DB703B59D04}"/>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71" name="Textfeld 70">
                <a:extLst>
                  <a:ext uri="{FF2B5EF4-FFF2-40B4-BE49-F238E27FC236}">
                    <a16:creationId xmlns:a16="http://schemas.microsoft.com/office/drawing/2014/main" id="{FB4DA1DA-1B29-F401-0538-7F4B86604116}"/>
                  </a:ext>
                </a:extLst>
              </p:cNvPr>
              <p:cNvSpPr txBox="1"/>
              <p:nvPr/>
            </p:nvSpPr>
            <p:spPr>
              <a:xfrm>
                <a:off x="3726513" y="2964179"/>
                <a:ext cx="1440159" cy="340522"/>
              </a:xfrm>
              <a:prstGeom prst="rect">
                <a:avLst/>
              </a:prstGeom>
              <a:noFill/>
            </p:spPr>
            <p:txBody>
              <a:bodyPr wrap="square" lIns="0" rIns="0" rtlCol="0">
                <a:spAutoFit/>
              </a:bodyPr>
              <a:lstStyle/>
              <a:p>
                <a:pPr algn="ctr"/>
                <a:r>
                  <a:rPr lang="en-US" sz="1000" noProof="0" dirty="0"/>
                  <a:t>Activity Details</a:t>
                </a:r>
              </a:p>
            </p:txBody>
          </p:sp>
          <p:grpSp>
            <p:nvGrpSpPr>
              <p:cNvPr id="72" name="Gruppieren 17">
                <a:extLst>
                  <a:ext uri="{FF2B5EF4-FFF2-40B4-BE49-F238E27FC236}">
                    <a16:creationId xmlns:a16="http://schemas.microsoft.com/office/drawing/2014/main" id="{5DF650C8-BCD7-ACF4-29F2-D2B8E2A8EE99}"/>
                  </a:ext>
                </a:extLst>
              </p:cNvPr>
              <p:cNvGrpSpPr/>
              <p:nvPr/>
            </p:nvGrpSpPr>
            <p:grpSpPr>
              <a:xfrm>
                <a:off x="3574113" y="2399477"/>
                <a:ext cx="1440160" cy="952115"/>
                <a:chOff x="2627784" y="1340768"/>
                <a:chExt cx="2287290" cy="1512168"/>
              </a:xfrm>
            </p:grpSpPr>
            <p:sp>
              <p:nvSpPr>
                <p:cNvPr id="78" name="Rechteck 77">
                  <a:extLst>
                    <a:ext uri="{FF2B5EF4-FFF2-40B4-BE49-F238E27FC236}">
                      <a16:creationId xmlns:a16="http://schemas.microsoft.com/office/drawing/2014/main" id="{D8F57A98-80D4-5BCD-A235-42FA3EE8C0AE}"/>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79" name="Rechteck 78">
                  <a:extLst>
                    <a:ext uri="{FF2B5EF4-FFF2-40B4-BE49-F238E27FC236}">
                      <a16:creationId xmlns:a16="http://schemas.microsoft.com/office/drawing/2014/main" id="{84607895-4AF9-9B9E-D849-926132EC343B}"/>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73" name="Textfeld 72">
                <a:extLst>
                  <a:ext uri="{FF2B5EF4-FFF2-40B4-BE49-F238E27FC236}">
                    <a16:creationId xmlns:a16="http://schemas.microsoft.com/office/drawing/2014/main" id="{52E10A8D-1E0F-3FC6-5870-BDE40D5729DA}"/>
                  </a:ext>
                </a:extLst>
              </p:cNvPr>
              <p:cNvSpPr txBox="1"/>
              <p:nvPr/>
            </p:nvSpPr>
            <p:spPr>
              <a:xfrm>
                <a:off x="3574114" y="2811779"/>
                <a:ext cx="1440159" cy="340522"/>
              </a:xfrm>
              <a:prstGeom prst="rect">
                <a:avLst/>
              </a:prstGeom>
              <a:noFill/>
            </p:spPr>
            <p:txBody>
              <a:bodyPr wrap="square" lIns="0" rIns="0" rtlCol="0">
                <a:spAutoFit/>
              </a:bodyPr>
              <a:lstStyle/>
              <a:p>
                <a:pPr algn="ctr"/>
                <a:r>
                  <a:rPr lang="en-US" sz="1000" noProof="0" dirty="0"/>
                  <a:t>Activity Details</a:t>
                </a:r>
              </a:p>
            </p:txBody>
          </p:sp>
          <p:grpSp>
            <p:nvGrpSpPr>
              <p:cNvPr id="74" name="Gruppieren 17">
                <a:extLst>
                  <a:ext uri="{FF2B5EF4-FFF2-40B4-BE49-F238E27FC236}">
                    <a16:creationId xmlns:a16="http://schemas.microsoft.com/office/drawing/2014/main" id="{38527724-6D8C-5F8A-641C-7B46BEB151D3}"/>
                  </a:ext>
                </a:extLst>
              </p:cNvPr>
              <p:cNvGrpSpPr/>
              <p:nvPr/>
            </p:nvGrpSpPr>
            <p:grpSpPr>
              <a:xfrm>
                <a:off x="3421713" y="2247077"/>
                <a:ext cx="1440160" cy="952115"/>
                <a:chOff x="2627784" y="1340768"/>
                <a:chExt cx="2287290" cy="1512168"/>
              </a:xfrm>
            </p:grpSpPr>
            <p:sp>
              <p:nvSpPr>
                <p:cNvPr id="76" name="Rechteck 75">
                  <a:extLst>
                    <a:ext uri="{FF2B5EF4-FFF2-40B4-BE49-F238E27FC236}">
                      <a16:creationId xmlns:a16="http://schemas.microsoft.com/office/drawing/2014/main" id="{5CA2E6F0-E3C8-5BEE-2572-CA64427620E3}"/>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77" name="Rechteck 76">
                  <a:extLst>
                    <a:ext uri="{FF2B5EF4-FFF2-40B4-BE49-F238E27FC236}">
                      <a16:creationId xmlns:a16="http://schemas.microsoft.com/office/drawing/2014/main" id="{A3F9124E-15E4-D0B9-A35B-5E9176F829E2}"/>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75" name="Textfeld 74">
                <a:extLst>
                  <a:ext uri="{FF2B5EF4-FFF2-40B4-BE49-F238E27FC236}">
                    <a16:creationId xmlns:a16="http://schemas.microsoft.com/office/drawing/2014/main" id="{8B2085A1-9202-AF0C-A124-DFC87A9B39D2}"/>
                  </a:ext>
                </a:extLst>
              </p:cNvPr>
              <p:cNvSpPr txBox="1"/>
              <p:nvPr/>
            </p:nvSpPr>
            <p:spPr>
              <a:xfrm>
                <a:off x="3421713" y="2584690"/>
                <a:ext cx="1440159" cy="553350"/>
              </a:xfrm>
              <a:prstGeom prst="rect">
                <a:avLst/>
              </a:prstGeom>
              <a:noFill/>
            </p:spPr>
            <p:txBody>
              <a:bodyPr wrap="square" lIns="0" rIns="0" rtlCol="0">
                <a:spAutoFit/>
              </a:bodyPr>
              <a:lstStyle/>
              <a:p>
                <a:pPr algn="ctr"/>
                <a:r>
                  <a:rPr lang="en-US" sz="1000" noProof="0" dirty="0"/>
                  <a:t>Activity Details/</a:t>
                </a:r>
              </a:p>
              <a:p>
                <a:pPr algn="ctr"/>
                <a:r>
                  <a:rPr lang="en-US" sz="1000" noProof="0" dirty="0"/>
                  <a:t>Results</a:t>
                </a:r>
              </a:p>
            </p:txBody>
          </p:sp>
        </p:grpSp>
        <p:grpSp>
          <p:nvGrpSpPr>
            <p:cNvPr id="60" name="Gruppieren 59">
              <a:extLst>
                <a:ext uri="{FF2B5EF4-FFF2-40B4-BE49-F238E27FC236}">
                  <a16:creationId xmlns:a16="http://schemas.microsoft.com/office/drawing/2014/main" id="{60E2090C-EA1D-ED88-224A-170D279D8E93}"/>
                </a:ext>
              </a:extLst>
            </p:cNvPr>
            <p:cNvGrpSpPr/>
            <p:nvPr/>
          </p:nvGrpSpPr>
          <p:grpSpPr>
            <a:xfrm>
              <a:off x="1835696" y="3819766"/>
              <a:ext cx="1440160" cy="952115"/>
              <a:chOff x="2204120" y="2715985"/>
              <a:chExt cx="1440160" cy="952115"/>
            </a:xfrm>
          </p:grpSpPr>
          <p:grpSp>
            <p:nvGrpSpPr>
              <p:cNvPr id="64" name="Gruppieren 17">
                <a:extLst>
                  <a:ext uri="{FF2B5EF4-FFF2-40B4-BE49-F238E27FC236}">
                    <a16:creationId xmlns:a16="http://schemas.microsoft.com/office/drawing/2014/main" id="{15AE9AE9-81E1-2E55-2C6D-A8E763DD6BF1}"/>
                  </a:ext>
                </a:extLst>
              </p:cNvPr>
              <p:cNvGrpSpPr/>
              <p:nvPr/>
            </p:nvGrpSpPr>
            <p:grpSpPr>
              <a:xfrm>
                <a:off x="2204120" y="2715985"/>
                <a:ext cx="1440160" cy="952115"/>
                <a:chOff x="2627784" y="1340768"/>
                <a:chExt cx="2287290" cy="1512168"/>
              </a:xfrm>
            </p:grpSpPr>
            <p:sp>
              <p:nvSpPr>
                <p:cNvPr id="66" name="Rechteck 65">
                  <a:extLst>
                    <a:ext uri="{FF2B5EF4-FFF2-40B4-BE49-F238E27FC236}">
                      <a16:creationId xmlns:a16="http://schemas.microsoft.com/office/drawing/2014/main" id="{8D52A8E9-23B6-27AC-8317-6E9CBBBFBD1C}"/>
                    </a:ext>
                  </a:extLst>
                </p:cNvPr>
                <p:cNvSpPr/>
                <p:nvPr/>
              </p:nvSpPr>
              <p:spPr>
                <a:xfrm>
                  <a:off x="2627784" y="1340768"/>
                  <a:ext cx="2287290" cy="1512168"/>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sp>
              <p:nvSpPr>
                <p:cNvPr id="67" name="Rechteck 66">
                  <a:extLst>
                    <a:ext uri="{FF2B5EF4-FFF2-40B4-BE49-F238E27FC236}">
                      <a16:creationId xmlns:a16="http://schemas.microsoft.com/office/drawing/2014/main" id="{A3B39801-AD7E-8582-53CF-CD922D5A1588}"/>
                    </a:ext>
                  </a:extLst>
                </p:cNvPr>
                <p:cNvSpPr/>
                <p:nvPr/>
              </p:nvSpPr>
              <p:spPr>
                <a:xfrm>
                  <a:off x="2627784" y="1340768"/>
                  <a:ext cx="2287290" cy="36004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p>
              </p:txBody>
            </p:sp>
          </p:grpSp>
          <p:sp>
            <p:nvSpPr>
              <p:cNvPr id="65" name="Textfeld 64">
                <a:extLst>
                  <a:ext uri="{FF2B5EF4-FFF2-40B4-BE49-F238E27FC236}">
                    <a16:creationId xmlns:a16="http://schemas.microsoft.com/office/drawing/2014/main" id="{24479048-EB7B-D2DB-34BD-A8E728C0FEA8}"/>
                  </a:ext>
                </a:extLst>
              </p:cNvPr>
              <p:cNvSpPr txBox="1"/>
              <p:nvPr/>
            </p:nvSpPr>
            <p:spPr>
              <a:xfrm>
                <a:off x="2204120" y="3052146"/>
                <a:ext cx="1440160" cy="553350"/>
              </a:xfrm>
              <a:prstGeom prst="rect">
                <a:avLst/>
              </a:prstGeom>
              <a:noFill/>
            </p:spPr>
            <p:txBody>
              <a:bodyPr wrap="square" lIns="0" rIns="0" rtlCol="0">
                <a:spAutoFit/>
              </a:bodyPr>
              <a:lstStyle/>
              <a:p>
                <a:pPr algn="ctr"/>
                <a:r>
                  <a:rPr lang="en-US" sz="1000" noProof="0" dirty="0"/>
                  <a:t>Conclusion &amp;</a:t>
                </a:r>
              </a:p>
              <a:p>
                <a:pPr algn="ctr"/>
                <a:r>
                  <a:rPr lang="en-US" sz="1000" noProof="0" dirty="0"/>
                  <a:t>Outlook</a:t>
                </a:r>
              </a:p>
            </p:txBody>
          </p:sp>
        </p:grpSp>
        <p:sp>
          <p:nvSpPr>
            <p:cNvPr id="61" name="Stern: 5 Zacken 60">
              <a:extLst>
                <a:ext uri="{FF2B5EF4-FFF2-40B4-BE49-F238E27FC236}">
                  <a16:creationId xmlns:a16="http://schemas.microsoft.com/office/drawing/2014/main" id="{18C4B81D-7C91-B35F-DD3C-05C178CDE9F4}"/>
                </a:ext>
              </a:extLst>
            </p:cNvPr>
            <p:cNvSpPr/>
            <p:nvPr/>
          </p:nvSpPr>
          <p:spPr>
            <a:xfrm>
              <a:off x="3647929" y="4292908"/>
              <a:ext cx="145435" cy="145435"/>
            </a:xfrm>
            <a:prstGeom prst="star5">
              <a:avLst/>
            </a:prstGeom>
            <a:solidFill>
              <a:srgbClr val="FFC000"/>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solidFill>
                  <a:schemeClr val="tx1"/>
                </a:solidFill>
              </a:endParaRPr>
            </a:p>
          </p:txBody>
        </p:sp>
        <p:sp>
          <p:nvSpPr>
            <p:cNvPr id="62" name="Textfeld 61">
              <a:extLst>
                <a:ext uri="{FF2B5EF4-FFF2-40B4-BE49-F238E27FC236}">
                  <a16:creationId xmlns:a16="http://schemas.microsoft.com/office/drawing/2014/main" id="{9E8558A9-13F8-9B53-1039-689C632C2B58}"/>
                </a:ext>
              </a:extLst>
            </p:cNvPr>
            <p:cNvSpPr txBox="1"/>
            <p:nvPr/>
          </p:nvSpPr>
          <p:spPr>
            <a:xfrm>
              <a:off x="3826788" y="4217883"/>
              <a:ext cx="2617420" cy="383088"/>
            </a:xfrm>
            <a:prstGeom prst="rect">
              <a:avLst/>
            </a:prstGeom>
            <a:noFill/>
          </p:spPr>
          <p:txBody>
            <a:bodyPr wrap="square" rtlCol="0">
              <a:spAutoFit/>
            </a:bodyPr>
            <a:lstStyle/>
            <a:p>
              <a:r>
                <a:rPr lang="en-US" sz="600" noProof="0" dirty="0"/>
                <a:t>Consider and carry-out several ways to solve the problem by different mathematical approaches</a:t>
              </a:r>
            </a:p>
          </p:txBody>
        </p:sp>
        <p:sp>
          <p:nvSpPr>
            <p:cNvPr id="63" name="Stern: 5 Zacken 62">
              <a:extLst>
                <a:ext uri="{FF2B5EF4-FFF2-40B4-BE49-F238E27FC236}">
                  <a16:creationId xmlns:a16="http://schemas.microsoft.com/office/drawing/2014/main" id="{D8413A05-399E-713C-3616-285A898FE420}"/>
                </a:ext>
              </a:extLst>
            </p:cNvPr>
            <p:cNvSpPr/>
            <p:nvPr/>
          </p:nvSpPr>
          <p:spPr>
            <a:xfrm>
              <a:off x="4606275" y="1852899"/>
              <a:ext cx="145435" cy="145435"/>
            </a:xfrm>
            <a:prstGeom prst="star5">
              <a:avLst/>
            </a:prstGeom>
            <a:solidFill>
              <a:srgbClr val="FFC000"/>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noProof="0" dirty="0">
                <a:solidFill>
                  <a:schemeClr val="tx1"/>
                </a:solidFill>
              </a:endParaRPr>
            </a:p>
          </p:txBody>
        </p:sp>
      </p:grpSp>
    </p:spTree>
    <p:extLst>
      <p:ext uri="{BB962C8B-B14F-4D97-AF65-F5344CB8AC3E}">
        <p14:creationId xmlns:p14="http://schemas.microsoft.com/office/powerpoint/2010/main" val="1483278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bgerundetes Rechteck 1"/>
          <p:cNvSpPr/>
          <p:nvPr/>
        </p:nvSpPr>
        <p:spPr>
          <a:xfrm>
            <a:off x="971600" y="2124844"/>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p:cNvSpPr txBox="1"/>
          <p:nvPr/>
        </p:nvSpPr>
        <p:spPr>
          <a:xfrm>
            <a:off x="971600" y="1131590"/>
            <a:ext cx="3369320" cy="2462213"/>
          </a:xfrm>
          <a:prstGeom prst="rect">
            <a:avLst/>
          </a:prstGeom>
          <a:noFill/>
        </p:spPr>
        <p:txBody>
          <a:bodyPr wrap="none" rtlCol="0">
            <a:spAutoFit/>
          </a:bodyPr>
          <a:lstStyle/>
          <a:p>
            <a:r>
              <a:rPr lang="en-US" b="1" noProof="0" dirty="0"/>
              <a:t>Topics</a:t>
            </a:r>
          </a:p>
          <a:p>
            <a:endParaRPr lang="en-US" sz="1000" noProof="0" dirty="0"/>
          </a:p>
          <a:p>
            <a:pPr lvl="1"/>
            <a:r>
              <a:rPr lang="en-US" noProof="0" dirty="0"/>
              <a:t>Course Overview</a:t>
            </a:r>
          </a:p>
          <a:p>
            <a:pPr lvl="1"/>
            <a:endParaRPr lang="en-US" noProof="0" dirty="0"/>
          </a:p>
          <a:p>
            <a:pPr lvl="1"/>
            <a:r>
              <a:rPr lang="en-US" b="1" noProof="0" dirty="0"/>
              <a:t>The Water Planet </a:t>
            </a:r>
            <a:r>
              <a:rPr lang="en-US" b="1" noProof="0" dirty="0" err="1"/>
              <a:t>Wa</a:t>
            </a:r>
            <a:r>
              <a:rPr lang="en-US" b="1" noProof="0" dirty="0"/>
              <a:t>-Tor</a:t>
            </a:r>
          </a:p>
          <a:p>
            <a:pPr lvl="1"/>
            <a:endParaRPr lang="en-US" b="1" noProof="0" dirty="0"/>
          </a:p>
          <a:p>
            <a:pPr lvl="1"/>
            <a:r>
              <a:rPr lang="en-US" noProof="0" dirty="0"/>
              <a:t>Verification &amp; Validation</a:t>
            </a:r>
          </a:p>
          <a:p>
            <a:pPr lvl="1"/>
            <a:endParaRPr lang="en-US" b="1" noProof="0" dirty="0"/>
          </a:p>
          <a:p>
            <a:pPr lvl="1"/>
            <a:r>
              <a:rPr lang="en-US" noProof="0" dirty="0"/>
              <a:t>Strategy Evolution on </a:t>
            </a:r>
            <a:r>
              <a:rPr lang="en-US" noProof="0" dirty="0" err="1"/>
              <a:t>Wa</a:t>
            </a:r>
            <a:r>
              <a:rPr lang="en-US" noProof="0" dirty="0"/>
              <a:t>-Tor</a:t>
            </a:r>
          </a:p>
        </p:txBody>
      </p:sp>
      <p:pic>
        <p:nvPicPr>
          <p:cNvPr id="5" name="Grafik 4">
            <a:extLst>
              <a:ext uri="{FF2B5EF4-FFF2-40B4-BE49-F238E27FC236}">
                <a16:creationId xmlns:a16="http://schemas.microsoft.com/office/drawing/2014/main" id="{0BD20114-6D60-9A82-6F06-0339B0C92F7A}"/>
              </a:ext>
            </a:extLst>
          </p:cNvPr>
          <p:cNvPicPr>
            <a:picLocks noChangeAspect="1"/>
          </p:cNvPicPr>
          <p:nvPr/>
        </p:nvPicPr>
        <p:blipFill>
          <a:blip r:embed="rId2"/>
          <a:srcRect l="14933" t="2326" r="14135" b="41860"/>
          <a:stretch>
            <a:fillRect/>
          </a:stretch>
        </p:blipFill>
        <p:spPr>
          <a:xfrm>
            <a:off x="6255172" y="3291830"/>
            <a:ext cx="2704958" cy="1418952"/>
          </a:xfrm>
          <a:prstGeom prst="rect">
            <a:avLst/>
          </a:prstGeom>
        </p:spPr>
      </p:pic>
      <p:sp>
        <p:nvSpPr>
          <p:cNvPr id="6" name="Textfeld 5">
            <a:extLst>
              <a:ext uri="{FF2B5EF4-FFF2-40B4-BE49-F238E27FC236}">
                <a16:creationId xmlns:a16="http://schemas.microsoft.com/office/drawing/2014/main" id="{96239A74-1599-B816-EB8F-BFA51F5FC487}"/>
              </a:ext>
            </a:extLst>
          </p:cNvPr>
          <p:cNvSpPr txBox="1"/>
          <p:nvPr/>
        </p:nvSpPr>
        <p:spPr>
          <a:xfrm>
            <a:off x="8000889" y="4681468"/>
            <a:ext cx="891591" cy="338554"/>
          </a:xfrm>
          <a:prstGeom prst="rect">
            <a:avLst/>
          </a:prstGeom>
          <a:noFill/>
        </p:spPr>
        <p:txBody>
          <a:bodyPr wrap="none" rtlCol="0">
            <a:spAutoFit/>
          </a:bodyPr>
          <a:lstStyle/>
          <a:p>
            <a:pPr algn="r"/>
            <a:r>
              <a:rPr lang="en-US" sz="800" noProof="0" dirty="0">
                <a:solidFill>
                  <a:schemeClr val="tx1">
                    <a:lumMod val="50000"/>
                    <a:lumOff val="50000"/>
                  </a:schemeClr>
                </a:solidFill>
              </a:rPr>
              <a:t>image generated</a:t>
            </a:r>
          </a:p>
          <a:p>
            <a:pPr algn="r"/>
            <a:r>
              <a:rPr lang="en-US" sz="800" noProof="0" dirty="0">
                <a:solidFill>
                  <a:schemeClr val="tx1">
                    <a:lumMod val="50000"/>
                    <a:lumOff val="50000"/>
                  </a:schemeClr>
                </a:solidFill>
              </a:rPr>
              <a:t>with ChatGPT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One of the best known agent-based predator-prey models is the </a:t>
            </a:r>
            <a:r>
              <a:rPr lang="en-US" noProof="0" dirty="0" err="1"/>
              <a:t>Wa</a:t>
            </a:r>
            <a:r>
              <a:rPr lang="en-US" noProof="0" dirty="0"/>
              <a:t>-Tor population dynamics simulation</a:t>
            </a:r>
          </a:p>
        </p:txBody>
      </p:sp>
      <p:sp>
        <p:nvSpPr>
          <p:cNvPr id="6" name="Rechteck 5"/>
          <p:cNvSpPr/>
          <p:nvPr/>
        </p:nvSpPr>
        <p:spPr>
          <a:xfrm>
            <a:off x="3851920" y="1131590"/>
            <a:ext cx="504056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One of the best known agent-based predator-prey models is the </a:t>
            </a:r>
            <a:r>
              <a:rPr lang="en-US" sz="1400" noProof="0" dirty="0" err="1">
                <a:solidFill>
                  <a:schemeClr val="tx1"/>
                </a:solidFill>
              </a:rPr>
              <a:t>Wa</a:t>
            </a:r>
            <a:r>
              <a:rPr lang="en-US" sz="1400" noProof="0" dirty="0">
                <a:solidFill>
                  <a:schemeClr val="tx1"/>
                </a:solidFill>
              </a:rPr>
              <a:t>-Tor population dynamics simulation proposed by Alexander K. Dewdney (1941 – 2024) in his 1984 article</a:t>
            </a:r>
          </a:p>
          <a:p>
            <a:pPr algn="ctr">
              <a:spcAft>
                <a:spcPts val="600"/>
              </a:spcAft>
            </a:pPr>
            <a:r>
              <a:rPr lang="en-US" sz="1400" i="1" noProof="0" dirty="0">
                <a:solidFill>
                  <a:schemeClr val="tx1"/>
                </a:solidFill>
              </a:rPr>
              <a:t>“Sharks and fish wage an ecological war on</a:t>
            </a:r>
            <a:br>
              <a:rPr lang="en-US" sz="1400" i="1" noProof="0" dirty="0">
                <a:solidFill>
                  <a:schemeClr val="tx1"/>
                </a:solidFill>
              </a:rPr>
            </a:br>
            <a:r>
              <a:rPr lang="en-US" sz="1400" i="1" noProof="0" dirty="0">
                <a:solidFill>
                  <a:schemeClr val="tx1"/>
                </a:solidFill>
              </a:rPr>
              <a:t>the toroidal planet </a:t>
            </a:r>
            <a:r>
              <a:rPr lang="en-US" sz="1400" i="1" noProof="0" dirty="0" err="1">
                <a:solidFill>
                  <a:schemeClr val="tx1"/>
                </a:solidFill>
              </a:rPr>
              <a:t>Wa</a:t>
            </a:r>
            <a:r>
              <a:rPr lang="en-US" sz="1400" i="1" noProof="0" dirty="0">
                <a:solidFill>
                  <a:schemeClr val="tx1"/>
                </a:solidFill>
              </a:rPr>
              <a:t>-Tor”</a:t>
            </a:r>
            <a:r>
              <a:rPr lang="en-US" sz="1400" noProof="0" dirty="0">
                <a:solidFill>
                  <a:schemeClr val="tx1"/>
                </a:solidFill>
              </a:rPr>
              <a:t>.</a:t>
            </a:r>
          </a:p>
          <a:p>
            <a:pPr algn="just">
              <a:spcAft>
                <a:spcPts val="600"/>
              </a:spcAft>
            </a:pPr>
            <a:endParaRPr lang="en-US" sz="1400" noProof="0" dirty="0">
              <a:solidFill>
                <a:schemeClr val="tx1"/>
              </a:solidFill>
            </a:endParaRPr>
          </a:p>
          <a:p>
            <a:pPr algn="just">
              <a:spcAft>
                <a:spcPts val="600"/>
              </a:spcAft>
            </a:pPr>
            <a:r>
              <a:rPr lang="en-US" sz="1400" noProof="0" dirty="0">
                <a:solidFill>
                  <a:schemeClr val="tx1"/>
                </a:solidFill>
              </a:rPr>
              <a:t>The </a:t>
            </a:r>
            <a:r>
              <a:rPr lang="en-US" sz="1400" noProof="0" dirty="0" err="1">
                <a:solidFill>
                  <a:schemeClr val="tx1"/>
                </a:solidFill>
              </a:rPr>
              <a:t>Wa</a:t>
            </a:r>
            <a:r>
              <a:rPr lang="en-US" sz="1400" noProof="0" dirty="0">
                <a:solidFill>
                  <a:schemeClr val="tx1"/>
                </a:solidFill>
              </a:rPr>
              <a:t>-Tor simulation has three possible results,</a:t>
            </a:r>
          </a:p>
          <a:p>
            <a:pPr marL="176213" indent="-176213" algn="just">
              <a:spcAft>
                <a:spcPts val="600"/>
              </a:spcAft>
              <a:buFont typeface="Arial" pitchFamily="34" charset="0"/>
              <a:buChar char="•"/>
            </a:pPr>
            <a:r>
              <a:rPr lang="en-US" sz="1400" noProof="0" dirty="0">
                <a:solidFill>
                  <a:schemeClr val="tx1"/>
                </a:solidFill>
              </a:rPr>
              <a:t>either both species get extinct,</a:t>
            </a:r>
          </a:p>
          <a:p>
            <a:pPr marL="176213" indent="-176213" algn="just">
              <a:spcAft>
                <a:spcPts val="600"/>
              </a:spcAft>
              <a:buFont typeface="Arial" pitchFamily="34" charset="0"/>
              <a:buChar char="•"/>
            </a:pPr>
            <a:r>
              <a:rPr lang="en-US" sz="1400" noProof="0" dirty="0">
                <a:solidFill>
                  <a:schemeClr val="tx1"/>
                </a:solidFill>
              </a:rPr>
              <a:t>or sharks disappear,</a:t>
            </a:r>
          </a:p>
          <a:p>
            <a:pPr marL="176213" indent="-176213" algn="just">
              <a:spcAft>
                <a:spcPts val="600"/>
              </a:spcAft>
              <a:buFont typeface="Arial" pitchFamily="34" charset="0"/>
              <a:buChar char="•"/>
            </a:pPr>
            <a:r>
              <a:rPr lang="en-US" sz="1400" noProof="0" dirty="0">
                <a:solidFill>
                  <a:schemeClr val="tx1"/>
                </a:solidFill>
              </a:rPr>
              <a:t>or a dynamic balance between sharks and fish gets established (where total numbers of the species vary, though none gets extinct).</a:t>
            </a:r>
          </a:p>
        </p:txBody>
      </p:sp>
      <p:pic>
        <p:nvPicPr>
          <p:cNvPr id="4" name="Grafik 3">
            <a:extLst>
              <a:ext uri="{FF2B5EF4-FFF2-40B4-BE49-F238E27FC236}">
                <a16:creationId xmlns:a16="http://schemas.microsoft.com/office/drawing/2014/main" id="{0A70A716-D7CB-2CDA-E806-7D31B0FCB179}"/>
              </a:ext>
            </a:extLst>
          </p:cNvPr>
          <p:cNvPicPr>
            <a:picLocks noChangeAspect="1"/>
          </p:cNvPicPr>
          <p:nvPr/>
        </p:nvPicPr>
        <p:blipFill>
          <a:blip r:embed="rId2"/>
          <a:srcRect l="14933" t="2326" r="14135" b="41860"/>
          <a:stretch>
            <a:fillRect/>
          </a:stretch>
        </p:blipFill>
        <p:spPr>
          <a:xfrm>
            <a:off x="282703" y="2931790"/>
            <a:ext cx="3353194" cy="1758999"/>
          </a:xfrm>
          <a:prstGeom prst="rect">
            <a:avLst/>
          </a:prstGeom>
        </p:spPr>
      </p:pic>
      <p:pic>
        <p:nvPicPr>
          <p:cNvPr id="5" name="Picture 4">
            <a:extLst>
              <a:ext uri="{FF2B5EF4-FFF2-40B4-BE49-F238E27FC236}">
                <a16:creationId xmlns:a16="http://schemas.microsoft.com/office/drawing/2014/main" id="{07C10C8E-1F64-A6ED-C6DA-B7A47CAAB466}"/>
              </a:ext>
            </a:extLst>
          </p:cNvPr>
          <p:cNvPicPr>
            <a:picLocks noChangeAspect="1" noChangeArrowheads="1"/>
          </p:cNvPicPr>
          <p:nvPr/>
        </p:nvPicPr>
        <p:blipFill>
          <a:blip r:embed="rId3" cstate="print"/>
          <a:srcRect/>
          <a:stretch>
            <a:fillRect/>
          </a:stretch>
        </p:blipFill>
        <p:spPr bwMode="auto">
          <a:xfrm>
            <a:off x="915184" y="1212546"/>
            <a:ext cx="2088232" cy="1359204"/>
          </a:xfrm>
          <a:prstGeom prst="rect">
            <a:avLst/>
          </a:prstGeom>
          <a:noFill/>
          <a:ln w="9525">
            <a:noFill/>
            <a:miter lim="800000"/>
            <a:headEnd/>
            <a:tailEnd/>
          </a:ln>
          <a:effectLst/>
        </p:spPr>
      </p:pic>
      <p:sp>
        <p:nvSpPr>
          <p:cNvPr id="7" name="Textfeld 6">
            <a:extLst>
              <a:ext uri="{FF2B5EF4-FFF2-40B4-BE49-F238E27FC236}">
                <a16:creationId xmlns:a16="http://schemas.microsoft.com/office/drawing/2014/main" id="{6CE92AB9-0BF8-1452-3F8D-5585D7E0A9C8}"/>
              </a:ext>
            </a:extLst>
          </p:cNvPr>
          <p:cNvSpPr txBox="1"/>
          <p:nvPr/>
        </p:nvSpPr>
        <p:spPr>
          <a:xfrm>
            <a:off x="251520" y="4681468"/>
            <a:ext cx="891591" cy="338554"/>
          </a:xfrm>
          <a:prstGeom prst="rect">
            <a:avLst/>
          </a:prstGeom>
          <a:noFill/>
        </p:spPr>
        <p:txBody>
          <a:bodyPr wrap="none" rtlCol="0">
            <a:spAutoFit/>
          </a:bodyPr>
          <a:lstStyle/>
          <a:p>
            <a:r>
              <a:rPr lang="en-US" sz="800" noProof="0" dirty="0">
                <a:solidFill>
                  <a:schemeClr val="tx1">
                    <a:lumMod val="50000"/>
                    <a:lumOff val="50000"/>
                  </a:schemeClr>
                </a:solidFill>
              </a:rPr>
              <a:t>image generated</a:t>
            </a:r>
          </a:p>
          <a:p>
            <a:r>
              <a:rPr lang="en-US" sz="800" noProof="0" dirty="0">
                <a:solidFill>
                  <a:schemeClr val="tx1">
                    <a:lumMod val="50000"/>
                    <a:lumOff val="50000"/>
                  </a:schemeClr>
                </a:solidFill>
              </a:rPr>
              <a:t>with ChatGPT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E44CD8-9356-0B8D-158A-6688DBDF17B6}"/>
              </a:ext>
            </a:extLst>
          </p:cNvPr>
          <p:cNvSpPr>
            <a:spLocks noGrp="1"/>
          </p:cNvSpPr>
          <p:nvPr>
            <p:ph type="title"/>
          </p:nvPr>
        </p:nvSpPr>
        <p:spPr/>
        <p:txBody>
          <a:bodyPr/>
          <a:lstStyle/>
          <a:p>
            <a:r>
              <a:rPr lang="en-US" noProof="0" dirty="0"/>
              <a:t>The conceptual model we are starting from describes the rather simple </a:t>
            </a:r>
            <a:r>
              <a:rPr lang="en-US" noProof="0" dirty="0" err="1"/>
              <a:t>Wa</a:t>
            </a:r>
            <a:r>
              <a:rPr lang="en-US" noProof="0" dirty="0"/>
              <a:t>-Tor ecosystem</a:t>
            </a:r>
          </a:p>
        </p:txBody>
      </p:sp>
      <p:sp>
        <p:nvSpPr>
          <p:cNvPr id="3" name="Rechteck 2">
            <a:extLst>
              <a:ext uri="{FF2B5EF4-FFF2-40B4-BE49-F238E27FC236}">
                <a16:creationId xmlns:a16="http://schemas.microsoft.com/office/drawing/2014/main" id="{48F3F27A-60EC-3E9E-0E83-677EC7A31FDA}"/>
              </a:ext>
            </a:extLst>
          </p:cNvPr>
          <p:cNvSpPr/>
          <p:nvPr/>
        </p:nvSpPr>
        <p:spPr>
          <a:xfrm>
            <a:off x="251520" y="1131590"/>
            <a:ext cx="1296144" cy="1440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t>Conceptual Model</a:t>
            </a:r>
          </a:p>
        </p:txBody>
      </p:sp>
      <p:sp>
        <p:nvSpPr>
          <p:cNvPr id="4" name="Rechteck 3">
            <a:extLst>
              <a:ext uri="{FF2B5EF4-FFF2-40B4-BE49-F238E27FC236}">
                <a16:creationId xmlns:a16="http://schemas.microsoft.com/office/drawing/2014/main" id="{C8A79BEC-8F16-1BA6-CC31-3B32A9193B42}"/>
              </a:ext>
            </a:extLst>
          </p:cNvPr>
          <p:cNvSpPr/>
          <p:nvPr/>
        </p:nvSpPr>
        <p:spPr>
          <a:xfrm>
            <a:off x="251520" y="3003798"/>
            <a:ext cx="1296144" cy="1440160"/>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Computerized Model</a:t>
            </a:r>
          </a:p>
        </p:txBody>
      </p:sp>
      <p:sp>
        <p:nvSpPr>
          <p:cNvPr id="5" name="Gleichschenkliges Dreieck 4">
            <a:extLst>
              <a:ext uri="{FF2B5EF4-FFF2-40B4-BE49-F238E27FC236}">
                <a16:creationId xmlns:a16="http://schemas.microsoft.com/office/drawing/2014/main" id="{EDA83FF7-1A6B-2F5F-CF07-513FC103F57F}"/>
              </a:ext>
            </a:extLst>
          </p:cNvPr>
          <p:cNvSpPr/>
          <p:nvPr/>
        </p:nvSpPr>
        <p:spPr>
          <a:xfrm rot="10800000">
            <a:off x="431540" y="2679762"/>
            <a:ext cx="936104" cy="144016"/>
          </a:xfrm>
          <a:prstGeom prst="triangle">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hteck 5">
            <a:extLst>
              <a:ext uri="{FF2B5EF4-FFF2-40B4-BE49-F238E27FC236}">
                <a16:creationId xmlns:a16="http://schemas.microsoft.com/office/drawing/2014/main" id="{ECADF896-7135-0369-4E58-F74543FB565F}"/>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b="1" noProof="0" dirty="0">
                <a:solidFill>
                  <a:schemeClr val="tx1"/>
                </a:solidFill>
              </a:rPr>
              <a:t>The </a:t>
            </a:r>
            <a:r>
              <a:rPr lang="en-US" sz="1400" b="1" noProof="0" dirty="0" err="1">
                <a:solidFill>
                  <a:schemeClr val="tx1"/>
                </a:solidFill>
              </a:rPr>
              <a:t>Wa</a:t>
            </a:r>
            <a:r>
              <a:rPr lang="en-US" sz="1400" b="1" noProof="0" dirty="0">
                <a:solidFill>
                  <a:schemeClr val="tx1"/>
                </a:solidFill>
              </a:rPr>
              <a:t>-Tor ecosystem:</a:t>
            </a:r>
          </a:p>
          <a:p>
            <a:pPr marL="182563" indent="-182563">
              <a:spcAft>
                <a:spcPts val="600"/>
              </a:spcAft>
              <a:buFont typeface="Arial" panose="020B0604020202020204" pitchFamily="34" charset="0"/>
              <a:buChar char="•"/>
              <a:tabLst>
                <a:tab pos="4846638" algn="l"/>
              </a:tabLst>
            </a:pPr>
            <a:r>
              <a:rPr lang="en-US" sz="1400" noProof="0" dirty="0">
                <a:solidFill>
                  <a:schemeClr val="tx1"/>
                </a:solidFill>
              </a:rPr>
              <a:t>Space: regular toroidal lattice with a fixed number of cells</a:t>
            </a:r>
            <a:br>
              <a:rPr lang="en-US" sz="1400" noProof="0" dirty="0">
                <a:solidFill>
                  <a:schemeClr val="tx1"/>
                </a:solidFill>
              </a:rPr>
            </a:br>
            <a:r>
              <a:rPr lang="en-US" sz="1400" noProof="0" dirty="0">
                <a:solidFill>
                  <a:schemeClr val="tx1"/>
                </a:solidFill>
              </a:rPr>
              <a:t>(i.e., upper and lower boundary as well as left and right</a:t>
            </a:r>
            <a:br>
              <a:rPr lang="en-US" sz="1400" noProof="0" dirty="0">
                <a:solidFill>
                  <a:schemeClr val="tx1"/>
                </a:solidFill>
              </a:rPr>
            </a:br>
            <a:r>
              <a:rPr lang="en-US" sz="1400" noProof="0" dirty="0">
                <a:solidFill>
                  <a:schemeClr val="tx1"/>
                </a:solidFill>
              </a:rPr>
              <a:t>boundary are identified)</a:t>
            </a:r>
          </a:p>
          <a:p>
            <a:pPr marL="182563" indent="-182563" algn="just">
              <a:spcAft>
                <a:spcPts val="600"/>
              </a:spcAft>
              <a:buFont typeface="Arial" panose="020B0604020202020204" pitchFamily="34" charset="0"/>
              <a:buChar char="•"/>
            </a:pPr>
            <a:r>
              <a:rPr lang="en-US" sz="1400" noProof="0" dirty="0">
                <a:solidFill>
                  <a:schemeClr val="tx1"/>
                </a:solidFill>
              </a:rPr>
              <a:t>The lattice cells have 8 neighbors</a:t>
            </a:r>
          </a:p>
          <a:p>
            <a:pPr marL="182563" indent="-182563" algn="just">
              <a:spcAft>
                <a:spcPts val="600"/>
              </a:spcAft>
              <a:buFont typeface="Arial" panose="020B0604020202020204" pitchFamily="34" charset="0"/>
              <a:buChar char="•"/>
            </a:pPr>
            <a:r>
              <a:rPr lang="en-US" sz="1400" noProof="0" dirty="0">
                <a:solidFill>
                  <a:schemeClr val="tx1"/>
                </a:solidFill>
              </a:rPr>
              <a:t>Two species: fish and shark</a:t>
            </a:r>
          </a:p>
          <a:p>
            <a:pPr marL="182563" indent="-182563">
              <a:spcAft>
                <a:spcPts val="600"/>
              </a:spcAft>
              <a:buFont typeface="Arial" panose="020B0604020202020204" pitchFamily="34" charset="0"/>
              <a:buChar char="•"/>
            </a:pPr>
            <a:r>
              <a:rPr lang="en-US" sz="1400" noProof="0" dirty="0">
                <a:solidFill>
                  <a:schemeClr val="tx1"/>
                </a:solidFill>
              </a:rPr>
              <a:t>Each member of a species occupies a lattice cell and can move to</a:t>
            </a:r>
            <a:br>
              <a:rPr lang="en-US" sz="1400" noProof="0" dirty="0">
                <a:solidFill>
                  <a:schemeClr val="tx1"/>
                </a:solidFill>
              </a:rPr>
            </a:br>
            <a:r>
              <a:rPr lang="en-US" sz="1400" noProof="0" dirty="0">
                <a:solidFill>
                  <a:schemeClr val="tx1"/>
                </a:solidFill>
              </a:rPr>
              <a:t>another unoccupied lattice cell  (north, east, south, or west)</a:t>
            </a:r>
          </a:p>
          <a:p>
            <a:pPr marL="182563" indent="-182563">
              <a:spcAft>
                <a:spcPts val="600"/>
              </a:spcAft>
              <a:buFont typeface="Arial" panose="020B0604020202020204" pitchFamily="34" charset="0"/>
              <a:buChar char="•"/>
            </a:pPr>
            <a:r>
              <a:rPr lang="en-US" sz="1400" noProof="0" dirty="0">
                <a:solidFill>
                  <a:schemeClr val="tx1"/>
                </a:solidFill>
              </a:rPr>
              <a:t>Shark can move to a lattice cell occupied by a fish and eat this</a:t>
            </a:r>
            <a:br>
              <a:rPr lang="en-US" sz="1400" noProof="0" dirty="0">
                <a:solidFill>
                  <a:schemeClr val="tx1"/>
                </a:solidFill>
              </a:rPr>
            </a:br>
            <a:r>
              <a:rPr lang="en-US" sz="1400" noProof="0" dirty="0">
                <a:solidFill>
                  <a:schemeClr val="tx1"/>
                </a:solidFill>
              </a:rPr>
              <a:t>fish (the fish then vanishes from the lattice)</a:t>
            </a:r>
          </a:p>
          <a:p>
            <a:pPr marL="182563" indent="-182563">
              <a:spcAft>
                <a:spcPts val="600"/>
              </a:spcAft>
              <a:buFont typeface="Arial" panose="020B0604020202020204" pitchFamily="34" charset="0"/>
              <a:buChar char="•"/>
            </a:pPr>
            <a:r>
              <a:rPr lang="en-US" sz="1400" noProof="0" dirty="0">
                <a:solidFill>
                  <a:schemeClr val="tx1"/>
                </a:solidFill>
              </a:rPr>
              <a:t>Fish and shark reproduce such that new members of each species</a:t>
            </a:r>
            <a:br>
              <a:rPr lang="en-US" sz="1400" noProof="0" dirty="0">
                <a:solidFill>
                  <a:schemeClr val="tx1"/>
                </a:solidFill>
              </a:rPr>
            </a:br>
            <a:r>
              <a:rPr lang="en-US" sz="1400" noProof="0" dirty="0">
                <a:solidFill>
                  <a:schemeClr val="tx1"/>
                </a:solidFill>
              </a:rPr>
              <a:t>are “born” at unoccupied neighboring lattice cells</a:t>
            </a:r>
          </a:p>
          <a:p>
            <a:pPr marL="182563" indent="-182563">
              <a:spcAft>
                <a:spcPts val="600"/>
              </a:spcAft>
              <a:buFont typeface="Arial" panose="020B0604020202020204" pitchFamily="34" charset="0"/>
              <a:buChar char="•"/>
            </a:pPr>
            <a:r>
              <a:rPr lang="en-US" sz="1400" noProof="0" dirty="0">
                <a:solidFill>
                  <a:schemeClr val="tx1"/>
                </a:solidFill>
              </a:rPr>
              <a:t>Fish and shark have a certain life-time</a:t>
            </a:r>
          </a:p>
        </p:txBody>
      </p:sp>
      <p:sp>
        <p:nvSpPr>
          <p:cNvPr id="7" name="Rechteck 6">
            <a:extLst>
              <a:ext uri="{FF2B5EF4-FFF2-40B4-BE49-F238E27FC236}">
                <a16:creationId xmlns:a16="http://schemas.microsoft.com/office/drawing/2014/main" id="{9C4CC053-B1CE-C4C3-B712-C437D7A5A36D}"/>
              </a:ext>
            </a:extLst>
          </p:cNvPr>
          <p:cNvSpPr/>
          <p:nvPr/>
        </p:nvSpPr>
        <p:spPr>
          <a:xfrm>
            <a:off x="8316416" y="1707654"/>
            <a:ext cx="504056" cy="504056"/>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noProof="0" dirty="0">
                <a:solidFill>
                  <a:schemeClr val="tx1"/>
                </a:solidFill>
              </a:rPr>
              <a:t>east</a:t>
            </a:r>
          </a:p>
        </p:txBody>
      </p:sp>
      <p:sp>
        <p:nvSpPr>
          <p:cNvPr id="8" name="Rechteck 7">
            <a:extLst>
              <a:ext uri="{FF2B5EF4-FFF2-40B4-BE49-F238E27FC236}">
                <a16:creationId xmlns:a16="http://schemas.microsoft.com/office/drawing/2014/main" id="{5E844541-BB28-429E-A3F1-22581FC89FA4}"/>
              </a:ext>
            </a:extLst>
          </p:cNvPr>
          <p:cNvSpPr/>
          <p:nvPr/>
        </p:nvSpPr>
        <p:spPr>
          <a:xfrm>
            <a:off x="8316416" y="1203598"/>
            <a:ext cx="504056" cy="504056"/>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noProof="0" dirty="0">
                <a:solidFill>
                  <a:schemeClr val="tx1"/>
                </a:solidFill>
              </a:rPr>
              <a:t>north-east</a:t>
            </a:r>
          </a:p>
        </p:txBody>
      </p:sp>
      <p:sp>
        <p:nvSpPr>
          <p:cNvPr id="9" name="Rechteck 8">
            <a:extLst>
              <a:ext uri="{FF2B5EF4-FFF2-40B4-BE49-F238E27FC236}">
                <a16:creationId xmlns:a16="http://schemas.microsoft.com/office/drawing/2014/main" id="{EFF6B4C6-3B36-2F4E-5557-95DC219DE65B}"/>
              </a:ext>
            </a:extLst>
          </p:cNvPr>
          <p:cNvSpPr/>
          <p:nvPr/>
        </p:nvSpPr>
        <p:spPr>
          <a:xfrm>
            <a:off x="7812360" y="1203598"/>
            <a:ext cx="504056" cy="504056"/>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noProof="0" dirty="0">
                <a:solidFill>
                  <a:schemeClr val="tx1"/>
                </a:solidFill>
              </a:rPr>
              <a:t>north</a:t>
            </a:r>
          </a:p>
        </p:txBody>
      </p:sp>
      <p:sp>
        <p:nvSpPr>
          <p:cNvPr id="10" name="Rechteck 9">
            <a:extLst>
              <a:ext uri="{FF2B5EF4-FFF2-40B4-BE49-F238E27FC236}">
                <a16:creationId xmlns:a16="http://schemas.microsoft.com/office/drawing/2014/main" id="{B00CFD2B-FB20-5CD2-F552-40B073F7ADB2}"/>
              </a:ext>
            </a:extLst>
          </p:cNvPr>
          <p:cNvSpPr/>
          <p:nvPr/>
        </p:nvSpPr>
        <p:spPr>
          <a:xfrm>
            <a:off x="7308304" y="1203598"/>
            <a:ext cx="504056" cy="504056"/>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noProof="0" dirty="0">
                <a:solidFill>
                  <a:schemeClr val="tx1"/>
                </a:solidFill>
              </a:rPr>
              <a:t>north-west</a:t>
            </a:r>
          </a:p>
        </p:txBody>
      </p:sp>
      <p:sp>
        <p:nvSpPr>
          <p:cNvPr id="11" name="Rechteck 10">
            <a:extLst>
              <a:ext uri="{FF2B5EF4-FFF2-40B4-BE49-F238E27FC236}">
                <a16:creationId xmlns:a16="http://schemas.microsoft.com/office/drawing/2014/main" id="{C85ACB62-2BCD-ED3B-F84D-A2A8538C1908}"/>
              </a:ext>
            </a:extLst>
          </p:cNvPr>
          <p:cNvSpPr/>
          <p:nvPr/>
        </p:nvSpPr>
        <p:spPr>
          <a:xfrm>
            <a:off x="7308304" y="1707654"/>
            <a:ext cx="504056" cy="504056"/>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noProof="0" dirty="0">
                <a:solidFill>
                  <a:schemeClr val="tx1"/>
                </a:solidFill>
              </a:rPr>
              <a:t>west</a:t>
            </a:r>
          </a:p>
        </p:txBody>
      </p:sp>
      <p:sp>
        <p:nvSpPr>
          <p:cNvPr id="12" name="Rechteck 11">
            <a:extLst>
              <a:ext uri="{FF2B5EF4-FFF2-40B4-BE49-F238E27FC236}">
                <a16:creationId xmlns:a16="http://schemas.microsoft.com/office/drawing/2014/main" id="{145C1FA6-A283-4959-D867-4D31CCFA743C}"/>
              </a:ext>
            </a:extLst>
          </p:cNvPr>
          <p:cNvSpPr/>
          <p:nvPr/>
        </p:nvSpPr>
        <p:spPr>
          <a:xfrm>
            <a:off x="7308304" y="2211710"/>
            <a:ext cx="504056" cy="504056"/>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noProof="0" dirty="0">
                <a:solidFill>
                  <a:schemeClr val="tx1"/>
                </a:solidFill>
              </a:rPr>
              <a:t>south-west</a:t>
            </a:r>
          </a:p>
        </p:txBody>
      </p:sp>
      <p:sp>
        <p:nvSpPr>
          <p:cNvPr id="13" name="Rechteck 12">
            <a:extLst>
              <a:ext uri="{FF2B5EF4-FFF2-40B4-BE49-F238E27FC236}">
                <a16:creationId xmlns:a16="http://schemas.microsoft.com/office/drawing/2014/main" id="{734BA0EA-5FFD-19F6-D366-9616065175BD}"/>
              </a:ext>
            </a:extLst>
          </p:cNvPr>
          <p:cNvSpPr/>
          <p:nvPr/>
        </p:nvSpPr>
        <p:spPr>
          <a:xfrm>
            <a:off x="7812360" y="2211710"/>
            <a:ext cx="504056" cy="504056"/>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noProof="0" dirty="0">
                <a:solidFill>
                  <a:schemeClr val="tx1"/>
                </a:solidFill>
              </a:rPr>
              <a:t>south</a:t>
            </a:r>
          </a:p>
        </p:txBody>
      </p:sp>
      <p:sp>
        <p:nvSpPr>
          <p:cNvPr id="14" name="Rechteck 13">
            <a:extLst>
              <a:ext uri="{FF2B5EF4-FFF2-40B4-BE49-F238E27FC236}">
                <a16:creationId xmlns:a16="http://schemas.microsoft.com/office/drawing/2014/main" id="{0B7C73D2-84DE-3D79-D962-05A45A44FA1E}"/>
              </a:ext>
            </a:extLst>
          </p:cNvPr>
          <p:cNvSpPr/>
          <p:nvPr/>
        </p:nvSpPr>
        <p:spPr>
          <a:xfrm>
            <a:off x="8316416" y="2211710"/>
            <a:ext cx="504056" cy="504056"/>
          </a:xfrm>
          <a:prstGeom prst="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noProof="0" dirty="0">
                <a:solidFill>
                  <a:schemeClr val="tx1"/>
                </a:solidFill>
              </a:rPr>
              <a:t>south-east</a:t>
            </a:r>
          </a:p>
        </p:txBody>
      </p:sp>
      <p:sp>
        <p:nvSpPr>
          <p:cNvPr id="15" name="Rechteck 14">
            <a:extLst>
              <a:ext uri="{FF2B5EF4-FFF2-40B4-BE49-F238E27FC236}">
                <a16:creationId xmlns:a16="http://schemas.microsoft.com/office/drawing/2014/main" id="{C79C6B42-0D0C-F80C-18D7-FC0804232DFE}"/>
              </a:ext>
            </a:extLst>
          </p:cNvPr>
          <p:cNvSpPr/>
          <p:nvPr/>
        </p:nvSpPr>
        <p:spPr>
          <a:xfrm>
            <a:off x="7812360" y="1703039"/>
            <a:ext cx="504056" cy="50405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noProof="0" dirty="0">
              <a:solidFill>
                <a:schemeClr val="tx1"/>
              </a:solidFill>
            </a:endParaRPr>
          </a:p>
        </p:txBody>
      </p:sp>
      <p:grpSp>
        <p:nvGrpSpPr>
          <p:cNvPr id="20" name="Gruppieren 19">
            <a:extLst>
              <a:ext uri="{FF2B5EF4-FFF2-40B4-BE49-F238E27FC236}">
                <a16:creationId xmlns:a16="http://schemas.microsoft.com/office/drawing/2014/main" id="{DFB52FE2-7F3C-A51E-D27D-720C7E6D1365}"/>
              </a:ext>
            </a:extLst>
          </p:cNvPr>
          <p:cNvGrpSpPr/>
          <p:nvPr/>
        </p:nvGrpSpPr>
        <p:grpSpPr>
          <a:xfrm>
            <a:off x="7875367" y="1775047"/>
            <a:ext cx="378042" cy="360040"/>
            <a:chOff x="2753798" y="2715766"/>
            <a:chExt cx="378042" cy="360040"/>
          </a:xfrm>
          <a:solidFill>
            <a:schemeClr val="accent1">
              <a:lumMod val="20000"/>
              <a:lumOff val="80000"/>
            </a:schemeClr>
          </a:solidFill>
        </p:grpSpPr>
        <p:sp>
          <p:nvSpPr>
            <p:cNvPr id="16" name="Pfeil: nach rechts 15">
              <a:extLst>
                <a:ext uri="{FF2B5EF4-FFF2-40B4-BE49-F238E27FC236}">
                  <a16:creationId xmlns:a16="http://schemas.microsoft.com/office/drawing/2014/main" id="{57A85F21-7C78-D81B-18AF-A6E16541C40B}"/>
                </a:ext>
              </a:extLst>
            </p:cNvPr>
            <p:cNvSpPr/>
            <p:nvPr/>
          </p:nvSpPr>
          <p:spPr>
            <a:xfrm>
              <a:off x="2987824" y="2838635"/>
              <a:ext cx="144016" cy="108012"/>
            </a:xfrm>
            <a:prstGeom prst="right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Pfeil: nach rechts 16">
              <a:extLst>
                <a:ext uri="{FF2B5EF4-FFF2-40B4-BE49-F238E27FC236}">
                  <a16:creationId xmlns:a16="http://schemas.microsoft.com/office/drawing/2014/main" id="{65C9F6F9-EDC8-D37F-4C9D-0703245E7231}"/>
                </a:ext>
              </a:extLst>
            </p:cNvPr>
            <p:cNvSpPr/>
            <p:nvPr/>
          </p:nvSpPr>
          <p:spPr>
            <a:xfrm rot="10800000">
              <a:off x="2753798" y="2838635"/>
              <a:ext cx="144016" cy="108012"/>
            </a:xfrm>
            <a:prstGeom prst="right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Pfeil: nach rechts 17">
              <a:extLst>
                <a:ext uri="{FF2B5EF4-FFF2-40B4-BE49-F238E27FC236}">
                  <a16:creationId xmlns:a16="http://schemas.microsoft.com/office/drawing/2014/main" id="{080A8BB4-68BB-1019-EE33-F762C58F43DA}"/>
                </a:ext>
              </a:extLst>
            </p:cNvPr>
            <p:cNvSpPr/>
            <p:nvPr/>
          </p:nvSpPr>
          <p:spPr>
            <a:xfrm rot="16200000">
              <a:off x="2871440" y="2733768"/>
              <a:ext cx="144016" cy="108012"/>
            </a:xfrm>
            <a:prstGeom prst="right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Pfeil: nach rechts 18">
              <a:extLst>
                <a:ext uri="{FF2B5EF4-FFF2-40B4-BE49-F238E27FC236}">
                  <a16:creationId xmlns:a16="http://schemas.microsoft.com/office/drawing/2014/main" id="{5E43EE6E-982C-9BB8-5474-3FEB024D1116}"/>
                </a:ext>
              </a:extLst>
            </p:cNvPr>
            <p:cNvSpPr/>
            <p:nvPr/>
          </p:nvSpPr>
          <p:spPr>
            <a:xfrm rot="5400000">
              <a:off x="2871440" y="2949792"/>
              <a:ext cx="144016" cy="108012"/>
            </a:xfrm>
            <a:prstGeom prst="right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2668669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B42368C-4733-EA12-5860-F7E6DE90C58C}"/>
              </a:ext>
            </a:extLst>
          </p:cNvPr>
          <p:cNvSpPr>
            <a:spLocks noGrp="1"/>
          </p:cNvSpPr>
          <p:nvPr>
            <p:ph type="title"/>
          </p:nvPr>
        </p:nvSpPr>
        <p:spPr/>
        <p:txBody>
          <a:bodyPr/>
          <a:lstStyle/>
          <a:p>
            <a:r>
              <a:rPr lang="en-US" noProof="0" dirty="0"/>
              <a:t>From there we progress iteratively following George Polya‘s  comprehensive framework for problem solving</a:t>
            </a:r>
          </a:p>
        </p:txBody>
      </p:sp>
      <p:sp>
        <p:nvSpPr>
          <p:cNvPr id="3" name="Rechteck 2">
            <a:extLst>
              <a:ext uri="{FF2B5EF4-FFF2-40B4-BE49-F238E27FC236}">
                <a16:creationId xmlns:a16="http://schemas.microsoft.com/office/drawing/2014/main" id="{738F1479-2BE5-E9D2-7B7F-B13252696D0B}"/>
              </a:ext>
            </a:extLst>
          </p:cNvPr>
          <p:cNvSpPr/>
          <p:nvPr/>
        </p:nvSpPr>
        <p:spPr>
          <a:xfrm>
            <a:off x="5508104" y="2297140"/>
            <a:ext cx="3384376" cy="1858786"/>
          </a:xfrm>
          <a:prstGeom prst="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noProof="0" dirty="0"/>
              <a:t>Update Rules</a:t>
            </a:r>
          </a:p>
        </p:txBody>
      </p:sp>
      <p:sp>
        <p:nvSpPr>
          <p:cNvPr id="4" name="Rechteck 3">
            <a:extLst>
              <a:ext uri="{FF2B5EF4-FFF2-40B4-BE49-F238E27FC236}">
                <a16:creationId xmlns:a16="http://schemas.microsoft.com/office/drawing/2014/main" id="{D14C706F-142B-F486-75B6-7F4AB009A1DA}"/>
              </a:ext>
            </a:extLst>
          </p:cNvPr>
          <p:cNvSpPr/>
          <p:nvPr/>
        </p:nvSpPr>
        <p:spPr>
          <a:xfrm>
            <a:off x="3563888" y="1131590"/>
            <a:ext cx="1440160" cy="3888432"/>
          </a:xfrm>
          <a:prstGeom prst="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noProof="0" dirty="0"/>
              <a:t>Main Program</a:t>
            </a:r>
          </a:p>
        </p:txBody>
      </p:sp>
      <p:sp>
        <p:nvSpPr>
          <p:cNvPr id="5" name="Rechteck 4">
            <a:extLst>
              <a:ext uri="{FF2B5EF4-FFF2-40B4-BE49-F238E27FC236}">
                <a16:creationId xmlns:a16="http://schemas.microsoft.com/office/drawing/2014/main" id="{5A853445-3157-4A10-2C41-CC1CD382EC03}"/>
              </a:ext>
            </a:extLst>
          </p:cNvPr>
          <p:cNvSpPr/>
          <p:nvPr/>
        </p:nvSpPr>
        <p:spPr>
          <a:xfrm>
            <a:off x="5508104" y="1419622"/>
            <a:ext cx="3384376" cy="728464"/>
          </a:xfrm>
          <a:prstGeom prst="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noProof="0" dirty="0"/>
              <a:t>Data Structures</a:t>
            </a:r>
          </a:p>
          <a:p>
            <a:pPr algn="ctr"/>
            <a:r>
              <a:rPr lang="en-US" sz="1400" noProof="0" dirty="0"/>
              <a:t>(gird, fish, shark)</a:t>
            </a:r>
          </a:p>
        </p:txBody>
      </p:sp>
      <p:sp>
        <p:nvSpPr>
          <p:cNvPr id="6" name="Rechteck 5">
            <a:extLst>
              <a:ext uri="{FF2B5EF4-FFF2-40B4-BE49-F238E27FC236}">
                <a16:creationId xmlns:a16="http://schemas.microsoft.com/office/drawing/2014/main" id="{BEEB11CA-D3C8-A1A6-B8B0-BA44BFBE72C0}"/>
              </a:ext>
            </a:extLst>
          </p:cNvPr>
          <p:cNvSpPr/>
          <p:nvPr/>
        </p:nvSpPr>
        <p:spPr>
          <a:xfrm>
            <a:off x="5596205" y="2719798"/>
            <a:ext cx="1568083" cy="609508"/>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noProof="0" dirty="0">
                <a:solidFill>
                  <a:schemeClr val="tx1"/>
                </a:solidFill>
              </a:rPr>
              <a:t>Movement Rules</a:t>
            </a:r>
          </a:p>
          <a:p>
            <a:pPr algn="ctr"/>
            <a:r>
              <a:rPr lang="en-US" sz="1400" noProof="0" dirty="0">
                <a:solidFill>
                  <a:schemeClr val="tx1"/>
                </a:solidFill>
              </a:rPr>
              <a:t>(fish, shark)</a:t>
            </a:r>
          </a:p>
        </p:txBody>
      </p:sp>
      <p:sp>
        <p:nvSpPr>
          <p:cNvPr id="7" name="Rechteck 6">
            <a:extLst>
              <a:ext uri="{FF2B5EF4-FFF2-40B4-BE49-F238E27FC236}">
                <a16:creationId xmlns:a16="http://schemas.microsoft.com/office/drawing/2014/main" id="{4BD177F8-F02B-940E-1897-E989736C19BA}"/>
              </a:ext>
            </a:extLst>
          </p:cNvPr>
          <p:cNvSpPr/>
          <p:nvPr/>
        </p:nvSpPr>
        <p:spPr>
          <a:xfrm>
            <a:off x="5596205" y="3428146"/>
            <a:ext cx="1568083" cy="609508"/>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noProof="0" dirty="0">
                <a:solidFill>
                  <a:schemeClr val="tx1"/>
                </a:solidFill>
              </a:rPr>
              <a:t>Interaction Rules</a:t>
            </a:r>
          </a:p>
          <a:p>
            <a:pPr algn="ctr"/>
            <a:r>
              <a:rPr lang="en-US" sz="1400" noProof="0" dirty="0">
                <a:solidFill>
                  <a:schemeClr val="tx1"/>
                </a:solidFill>
              </a:rPr>
              <a:t>(fish, shark)</a:t>
            </a:r>
          </a:p>
        </p:txBody>
      </p:sp>
      <p:sp>
        <p:nvSpPr>
          <p:cNvPr id="8" name="Rechteck 7">
            <a:extLst>
              <a:ext uri="{FF2B5EF4-FFF2-40B4-BE49-F238E27FC236}">
                <a16:creationId xmlns:a16="http://schemas.microsoft.com/office/drawing/2014/main" id="{ED81419E-DC63-A6E3-A447-80864570C984}"/>
              </a:ext>
            </a:extLst>
          </p:cNvPr>
          <p:cNvSpPr/>
          <p:nvPr/>
        </p:nvSpPr>
        <p:spPr>
          <a:xfrm>
            <a:off x="5508104" y="4291558"/>
            <a:ext cx="3384376" cy="728464"/>
          </a:xfrm>
          <a:prstGeom prst="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noProof="0" dirty="0" err="1"/>
              <a:t>Vizualization</a:t>
            </a:r>
            <a:endParaRPr lang="en-US" sz="1400" noProof="0" dirty="0"/>
          </a:p>
          <a:p>
            <a:pPr algn="ctr"/>
            <a:r>
              <a:rPr lang="en-US" sz="1400" noProof="0" dirty="0"/>
              <a:t>(iteration-dependent plots, videos)</a:t>
            </a:r>
          </a:p>
        </p:txBody>
      </p:sp>
      <p:sp>
        <p:nvSpPr>
          <p:cNvPr id="9" name="Rechteck 8">
            <a:extLst>
              <a:ext uri="{FF2B5EF4-FFF2-40B4-BE49-F238E27FC236}">
                <a16:creationId xmlns:a16="http://schemas.microsoft.com/office/drawing/2014/main" id="{08AB2FC8-0640-55A7-8D61-A76F258CBDA9}"/>
              </a:ext>
            </a:extLst>
          </p:cNvPr>
          <p:cNvSpPr/>
          <p:nvPr/>
        </p:nvSpPr>
        <p:spPr>
          <a:xfrm>
            <a:off x="7252389" y="2719798"/>
            <a:ext cx="1568083" cy="609508"/>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noProof="0" dirty="0">
                <a:solidFill>
                  <a:schemeClr val="tx1">
                    <a:lumMod val="50000"/>
                    <a:lumOff val="50000"/>
                  </a:schemeClr>
                </a:solidFill>
              </a:rPr>
              <a:t>Strategies</a:t>
            </a:r>
          </a:p>
          <a:p>
            <a:pPr algn="ctr"/>
            <a:r>
              <a:rPr lang="en-US" sz="1400" noProof="0" dirty="0">
                <a:solidFill>
                  <a:schemeClr val="tx1">
                    <a:lumMod val="50000"/>
                    <a:lumOff val="50000"/>
                  </a:schemeClr>
                </a:solidFill>
              </a:rPr>
              <a:t>(shark)</a:t>
            </a:r>
          </a:p>
        </p:txBody>
      </p:sp>
      <p:cxnSp>
        <p:nvCxnSpPr>
          <p:cNvPr id="10" name="Gerade Verbindung mit Pfeil 9">
            <a:extLst>
              <a:ext uri="{FF2B5EF4-FFF2-40B4-BE49-F238E27FC236}">
                <a16:creationId xmlns:a16="http://schemas.microsoft.com/office/drawing/2014/main" id="{1467156D-E603-4A68-7382-2B1FE714F734}"/>
              </a:ext>
            </a:extLst>
          </p:cNvPr>
          <p:cNvCxnSpPr>
            <a:cxnSpLocks/>
          </p:cNvCxnSpPr>
          <p:nvPr/>
        </p:nvCxnSpPr>
        <p:spPr>
          <a:xfrm flipH="1">
            <a:off x="4283968" y="1991494"/>
            <a:ext cx="1224136" cy="0"/>
          </a:xfrm>
          <a:prstGeom prst="straightConnector1">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1" name="Gerade Verbindung mit Pfeil 10">
            <a:extLst>
              <a:ext uri="{FF2B5EF4-FFF2-40B4-BE49-F238E27FC236}">
                <a16:creationId xmlns:a16="http://schemas.microsoft.com/office/drawing/2014/main" id="{43969F90-6BBB-0E1D-4947-B8C96CE8BC76}"/>
              </a:ext>
            </a:extLst>
          </p:cNvPr>
          <p:cNvCxnSpPr>
            <a:cxnSpLocks/>
            <a:stCxn id="8" idx="1"/>
          </p:cNvCxnSpPr>
          <p:nvPr/>
        </p:nvCxnSpPr>
        <p:spPr>
          <a:xfrm flipH="1">
            <a:off x="4283968" y="4655790"/>
            <a:ext cx="1224136" cy="0"/>
          </a:xfrm>
          <a:prstGeom prst="straightConnector1">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2" name="Gerade Verbindung mit Pfeil 11">
            <a:extLst>
              <a:ext uri="{FF2B5EF4-FFF2-40B4-BE49-F238E27FC236}">
                <a16:creationId xmlns:a16="http://schemas.microsoft.com/office/drawing/2014/main" id="{11656D9E-B9A7-8E32-DD8F-CAC995E90864}"/>
              </a:ext>
            </a:extLst>
          </p:cNvPr>
          <p:cNvCxnSpPr>
            <a:cxnSpLocks/>
            <a:stCxn id="3" idx="1"/>
          </p:cNvCxnSpPr>
          <p:nvPr/>
        </p:nvCxnSpPr>
        <p:spPr>
          <a:xfrm flipH="1">
            <a:off x="4283968" y="3226533"/>
            <a:ext cx="1224136" cy="0"/>
          </a:xfrm>
          <a:prstGeom prst="straightConnector1">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13" name="Pfeil: gebogen 12">
            <a:extLst>
              <a:ext uri="{FF2B5EF4-FFF2-40B4-BE49-F238E27FC236}">
                <a16:creationId xmlns:a16="http://schemas.microsoft.com/office/drawing/2014/main" id="{5BA063BC-86CD-1A0D-20D7-5460CCF4DC0A}"/>
              </a:ext>
            </a:extLst>
          </p:cNvPr>
          <p:cNvSpPr/>
          <p:nvPr/>
        </p:nvSpPr>
        <p:spPr>
          <a:xfrm rot="3674924" flipV="1">
            <a:off x="3967979" y="2853713"/>
            <a:ext cx="720080" cy="720080"/>
          </a:xfrm>
          <a:prstGeom prst="circularArrow">
            <a:avLst>
              <a:gd name="adj1" fmla="val 12500"/>
              <a:gd name="adj2" fmla="val 1142319"/>
              <a:gd name="adj3" fmla="val 20457681"/>
              <a:gd name="adj4" fmla="val 4349517"/>
              <a:gd name="adj5" fmla="val 12500"/>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cxnSp>
        <p:nvCxnSpPr>
          <p:cNvPr id="14" name="Gerader Verbinder 13">
            <a:extLst>
              <a:ext uri="{FF2B5EF4-FFF2-40B4-BE49-F238E27FC236}">
                <a16:creationId xmlns:a16="http://schemas.microsoft.com/office/drawing/2014/main" id="{4E64FBDE-C96F-CE61-557E-8FB318666BFB}"/>
              </a:ext>
            </a:extLst>
          </p:cNvPr>
          <p:cNvCxnSpPr>
            <a:cxnSpLocks/>
          </p:cNvCxnSpPr>
          <p:nvPr/>
        </p:nvCxnSpPr>
        <p:spPr>
          <a:xfrm flipV="1">
            <a:off x="4786389" y="3329306"/>
            <a:ext cx="0" cy="1326484"/>
          </a:xfrm>
          <a:prstGeom prst="line">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5" name="Gerader Verbinder 14">
            <a:extLst>
              <a:ext uri="{FF2B5EF4-FFF2-40B4-BE49-F238E27FC236}">
                <a16:creationId xmlns:a16="http://schemas.microsoft.com/office/drawing/2014/main" id="{341033B4-1036-3004-8C9D-EAEF47F6C2AD}"/>
              </a:ext>
            </a:extLst>
          </p:cNvPr>
          <p:cNvCxnSpPr>
            <a:cxnSpLocks/>
          </p:cNvCxnSpPr>
          <p:nvPr/>
        </p:nvCxnSpPr>
        <p:spPr>
          <a:xfrm flipH="1">
            <a:off x="4283968" y="3329305"/>
            <a:ext cx="502421" cy="0"/>
          </a:xfrm>
          <a:prstGeom prst="line">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16" name="Textfeld 15">
            <a:extLst>
              <a:ext uri="{FF2B5EF4-FFF2-40B4-BE49-F238E27FC236}">
                <a16:creationId xmlns:a16="http://schemas.microsoft.com/office/drawing/2014/main" id="{E64392CC-22AE-B282-058D-5320B6A7058C}"/>
              </a:ext>
            </a:extLst>
          </p:cNvPr>
          <p:cNvSpPr txBox="1"/>
          <p:nvPr/>
        </p:nvSpPr>
        <p:spPr>
          <a:xfrm>
            <a:off x="3561468" y="1675771"/>
            <a:ext cx="1082540" cy="307777"/>
          </a:xfrm>
          <a:prstGeom prst="rect">
            <a:avLst/>
          </a:prstGeom>
          <a:noFill/>
        </p:spPr>
        <p:txBody>
          <a:bodyPr wrap="none" rtlCol="0">
            <a:spAutoFit/>
          </a:bodyPr>
          <a:lstStyle/>
          <a:p>
            <a:r>
              <a:rPr lang="en-US" sz="1400" noProof="0" dirty="0">
                <a:solidFill>
                  <a:schemeClr val="bg1"/>
                </a:solidFill>
              </a:rPr>
              <a:t>Initialization</a:t>
            </a:r>
          </a:p>
        </p:txBody>
      </p:sp>
      <p:sp>
        <p:nvSpPr>
          <p:cNvPr id="17" name="Textfeld 16">
            <a:extLst>
              <a:ext uri="{FF2B5EF4-FFF2-40B4-BE49-F238E27FC236}">
                <a16:creationId xmlns:a16="http://schemas.microsoft.com/office/drawing/2014/main" id="{077BC7B3-EC31-233C-E11F-688593B2A469}"/>
              </a:ext>
            </a:extLst>
          </p:cNvPr>
          <p:cNvSpPr txBox="1"/>
          <p:nvPr/>
        </p:nvSpPr>
        <p:spPr>
          <a:xfrm>
            <a:off x="3561468" y="2510745"/>
            <a:ext cx="813813" cy="307777"/>
          </a:xfrm>
          <a:prstGeom prst="rect">
            <a:avLst/>
          </a:prstGeom>
          <a:noFill/>
        </p:spPr>
        <p:txBody>
          <a:bodyPr wrap="none" rtlCol="0">
            <a:spAutoFit/>
          </a:bodyPr>
          <a:lstStyle/>
          <a:p>
            <a:r>
              <a:rPr lang="en-US" sz="1400" noProof="0" dirty="0">
                <a:solidFill>
                  <a:schemeClr val="bg1"/>
                </a:solidFill>
              </a:rPr>
              <a:t>Iteration</a:t>
            </a:r>
          </a:p>
        </p:txBody>
      </p:sp>
      <p:sp>
        <p:nvSpPr>
          <p:cNvPr id="18" name="Textfeld 17">
            <a:extLst>
              <a:ext uri="{FF2B5EF4-FFF2-40B4-BE49-F238E27FC236}">
                <a16:creationId xmlns:a16="http://schemas.microsoft.com/office/drawing/2014/main" id="{05061D25-F4AD-4D69-972C-54B59D35503D}"/>
              </a:ext>
            </a:extLst>
          </p:cNvPr>
          <p:cNvSpPr txBox="1"/>
          <p:nvPr/>
        </p:nvSpPr>
        <p:spPr>
          <a:xfrm>
            <a:off x="3563888" y="4136762"/>
            <a:ext cx="959237" cy="523220"/>
          </a:xfrm>
          <a:prstGeom prst="rect">
            <a:avLst/>
          </a:prstGeom>
          <a:noFill/>
        </p:spPr>
        <p:txBody>
          <a:bodyPr wrap="none" rtlCol="0">
            <a:spAutoFit/>
          </a:bodyPr>
          <a:lstStyle/>
          <a:p>
            <a:r>
              <a:rPr lang="en-US" sz="1400" noProof="0" dirty="0">
                <a:solidFill>
                  <a:schemeClr val="bg1"/>
                </a:solidFill>
              </a:rPr>
              <a:t>Post-</a:t>
            </a:r>
          </a:p>
          <a:p>
            <a:r>
              <a:rPr lang="en-US" sz="1400" noProof="0" dirty="0">
                <a:solidFill>
                  <a:schemeClr val="bg1"/>
                </a:solidFill>
              </a:rPr>
              <a:t>Processing</a:t>
            </a:r>
          </a:p>
        </p:txBody>
      </p:sp>
      <p:sp>
        <p:nvSpPr>
          <p:cNvPr id="19" name="Rechteck 18">
            <a:extLst>
              <a:ext uri="{FF2B5EF4-FFF2-40B4-BE49-F238E27FC236}">
                <a16:creationId xmlns:a16="http://schemas.microsoft.com/office/drawing/2014/main" id="{3BE0CF6A-5026-7341-BC16-37AF7C77B4DC}"/>
              </a:ext>
            </a:extLst>
          </p:cNvPr>
          <p:cNvSpPr/>
          <p:nvPr/>
        </p:nvSpPr>
        <p:spPr>
          <a:xfrm>
            <a:off x="3707904" y="1983548"/>
            <a:ext cx="72008" cy="523005"/>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Rechteck 19">
            <a:extLst>
              <a:ext uri="{FF2B5EF4-FFF2-40B4-BE49-F238E27FC236}">
                <a16:creationId xmlns:a16="http://schemas.microsoft.com/office/drawing/2014/main" id="{82F7CC97-973D-98A8-9A3F-309F1F7F5849}"/>
              </a:ext>
            </a:extLst>
          </p:cNvPr>
          <p:cNvSpPr/>
          <p:nvPr/>
        </p:nvSpPr>
        <p:spPr>
          <a:xfrm>
            <a:off x="3707904" y="2822714"/>
            <a:ext cx="72008" cy="1333212"/>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hteck 20">
            <a:extLst>
              <a:ext uri="{FF2B5EF4-FFF2-40B4-BE49-F238E27FC236}">
                <a16:creationId xmlns:a16="http://schemas.microsoft.com/office/drawing/2014/main" id="{8AD88E1D-72DF-FF2E-BA93-B1ED832157A7}"/>
              </a:ext>
            </a:extLst>
          </p:cNvPr>
          <p:cNvSpPr/>
          <p:nvPr/>
        </p:nvSpPr>
        <p:spPr>
          <a:xfrm>
            <a:off x="3707904" y="4655790"/>
            <a:ext cx="72008" cy="29222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Rechteck 28">
            <a:extLst>
              <a:ext uri="{FF2B5EF4-FFF2-40B4-BE49-F238E27FC236}">
                <a16:creationId xmlns:a16="http://schemas.microsoft.com/office/drawing/2014/main" id="{BCA8A781-8EA5-F20D-D463-F1EDF2A55A54}"/>
              </a:ext>
            </a:extLst>
          </p:cNvPr>
          <p:cNvSpPr/>
          <p:nvPr/>
        </p:nvSpPr>
        <p:spPr>
          <a:xfrm>
            <a:off x="251520" y="1131590"/>
            <a:ext cx="2868374" cy="3888432"/>
          </a:xfrm>
          <a:prstGeom prst="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noProof="0" dirty="0"/>
              <a:t>Polya‘s Problem Solving Circle</a:t>
            </a:r>
          </a:p>
        </p:txBody>
      </p:sp>
      <p:grpSp>
        <p:nvGrpSpPr>
          <p:cNvPr id="49" name="Gruppieren 48">
            <a:extLst>
              <a:ext uri="{FF2B5EF4-FFF2-40B4-BE49-F238E27FC236}">
                <a16:creationId xmlns:a16="http://schemas.microsoft.com/office/drawing/2014/main" id="{5576F22C-9D84-0239-CD77-0716C8F6CDD2}"/>
              </a:ext>
            </a:extLst>
          </p:cNvPr>
          <p:cNvGrpSpPr/>
          <p:nvPr/>
        </p:nvGrpSpPr>
        <p:grpSpPr>
          <a:xfrm>
            <a:off x="395536" y="2359807"/>
            <a:ext cx="2592288" cy="2588207"/>
            <a:chOff x="395536" y="2283718"/>
            <a:chExt cx="2592288" cy="2588207"/>
          </a:xfrm>
        </p:grpSpPr>
        <p:sp>
          <p:nvSpPr>
            <p:cNvPr id="31" name="Rechteck 30">
              <a:extLst>
                <a:ext uri="{FF2B5EF4-FFF2-40B4-BE49-F238E27FC236}">
                  <a16:creationId xmlns:a16="http://schemas.microsoft.com/office/drawing/2014/main" id="{DF368475-3F24-E668-D3E4-6E629ED61F6C}"/>
                </a:ext>
              </a:extLst>
            </p:cNvPr>
            <p:cNvSpPr/>
            <p:nvPr/>
          </p:nvSpPr>
          <p:spPr>
            <a:xfrm>
              <a:off x="395536" y="2288503"/>
              <a:ext cx="1215270" cy="1215270"/>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noProof="0" dirty="0">
                  <a:solidFill>
                    <a:schemeClr val="tx1"/>
                  </a:solidFill>
                </a:rPr>
                <a:t>1. Understand the Problem</a:t>
              </a:r>
            </a:p>
          </p:txBody>
        </p:sp>
        <p:sp>
          <p:nvSpPr>
            <p:cNvPr id="32" name="Rechteck 31">
              <a:extLst>
                <a:ext uri="{FF2B5EF4-FFF2-40B4-BE49-F238E27FC236}">
                  <a16:creationId xmlns:a16="http://schemas.microsoft.com/office/drawing/2014/main" id="{7C536927-B428-63CC-D7EE-5819DF111D33}"/>
                </a:ext>
              </a:extLst>
            </p:cNvPr>
            <p:cNvSpPr/>
            <p:nvPr/>
          </p:nvSpPr>
          <p:spPr>
            <a:xfrm>
              <a:off x="1772554" y="2283718"/>
              <a:ext cx="1215270" cy="1215270"/>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noProof="0" dirty="0">
                  <a:solidFill>
                    <a:schemeClr val="tx1"/>
                  </a:solidFill>
                </a:rPr>
                <a:t>2. Plan</a:t>
              </a:r>
            </a:p>
          </p:txBody>
        </p:sp>
        <p:sp>
          <p:nvSpPr>
            <p:cNvPr id="33" name="Rechteck 32">
              <a:extLst>
                <a:ext uri="{FF2B5EF4-FFF2-40B4-BE49-F238E27FC236}">
                  <a16:creationId xmlns:a16="http://schemas.microsoft.com/office/drawing/2014/main" id="{7BA911E9-1382-D618-3D99-083AE0E9F53C}"/>
                </a:ext>
              </a:extLst>
            </p:cNvPr>
            <p:cNvSpPr/>
            <p:nvPr/>
          </p:nvSpPr>
          <p:spPr>
            <a:xfrm>
              <a:off x="395536" y="3656655"/>
              <a:ext cx="1215270" cy="1215270"/>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noProof="0" dirty="0">
                  <a:solidFill>
                    <a:schemeClr val="tx1"/>
                  </a:solidFill>
                </a:rPr>
                <a:t>4. Look Back</a:t>
              </a:r>
            </a:p>
            <a:p>
              <a:pPr algn="ctr"/>
              <a:r>
                <a:rPr lang="en-US" sz="1400" noProof="0" dirty="0">
                  <a:solidFill>
                    <a:schemeClr val="tx1"/>
                  </a:solidFill>
                </a:rPr>
                <a:t>(plausibility &amp; validation)</a:t>
              </a:r>
            </a:p>
          </p:txBody>
        </p:sp>
        <p:sp>
          <p:nvSpPr>
            <p:cNvPr id="34" name="Rechteck 33">
              <a:extLst>
                <a:ext uri="{FF2B5EF4-FFF2-40B4-BE49-F238E27FC236}">
                  <a16:creationId xmlns:a16="http://schemas.microsoft.com/office/drawing/2014/main" id="{1CEC365B-D27A-F6AB-CC70-23612C2C196D}"/>
                </a:ext>
              </a:extLst>
            </p:cNvPr>
            <p:cNvSpPr/>
            <p:nvPr/>
          </p:nvSpPr>
          <p:spPr>
            <a:xfrm>
              <a:off x="1772554" y="3651870"/>
              <a:ext cx="1215270" cy="1215270"/>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noProof="0" dirty="0">
                  <a:solidFill>
                    <a:schemeClr val="tx1"/>
                  </a:solidFill>
                </a:rPr>
                <a:t>3. Execute</a:t>
              </a:r>
              <a:br>
                <a:rPr lang="en-US" sz="1400" noProof="0" dirty="0">
                  <a:solidFill>
                    <a:schemeClr val="tx1"/>
                  </a:solidFill>
                </a:rPr>
              </a:br>
              <a:r>
                <a:rPr lang="en-US" sz="1400" noProof="0" dirty="0">
                  <a:solidFill>
                    <a:schemeClr val="tx1"/>
                  </a:solidFill>
                </a:rPr>
                <a:t>(AI-enhanced coding)</a:t>
              </a:r>
            </a:p>
          </p:txBody>
        </p:sp>
        <p:sp>
          <p:nvSpPr>
            <p:cNvPr id="35" name="Gebogener Pfeil 14">
              <a:extLst>
                <a:ext uri="{FF2B5EF4-FFF2-40B4-BE49-F238E27FC236}">
                  <a16:creationId xmlns:a16="http://schemas.microsoft.com/office/drawing/2014/main" id="{4A149128-546B-17BB-F7D4-660FF6583765}"/>
                </a:ext>
              </a:extLst>
            </p:cNvPr>
            <p:cNvSpPr/>
            <p:nvPr/>
          </p:nvSpPr>
          <p:spPr>
            <a:xfrm rot="13581851">
              <a:off x="1119748" y="3008283"/>
              <a:ext cx="1143863" cy="1143863"/>
            </a:xfrm>
            <a:prstGeom prst="circularArrow">
              <a:avLst>
                <a:gd name="adj1" fmla="val 12500"/>
                <a:gd name="adj2" fmla="val 1142319"/>
                <a:gd name="adj3" fmla="val 20457681"/>
                <a:gd name="adj4" fmla="val 746273"/>
                <a:gd name="adj5" fmla="val 12500"/>
              </a:avLst>
            </a:prstGeom>
            <a:solidFill>
              <a:schemeClr val="accent5">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noProof="0" dirty="0">
                <a:solidFill>
                  <a:schemeClr val="tx1"/>
                </a:solidFill>
              </a:endParaRPr>
            </a:p>
          </p:txBody>
        </p:sp>
      </p:grpSp>
      <p:cxnSp>
        <p:nvCxnSpPr>
          <p:cNvPr id="36" name="Gerade Verbindung mit Pfeil 35">
            <a:extLst>
              <a:ext uri="{FF2B5EF4-FFF2-40B4-BE49-F238E27FC236}">
                <a16:creationId xmlns:a16="http://schemas.microsoft.com/office/drawing/2014/main" id="{E802A0E9-88F1-97E7-C67C-036746D08177}"/>
              </a:ext>
            </a:extLst>
          </p:cNvPr>
          <p:cNvCxnSpPr>
            <a:cxnSpLocks/>
          </p:cNvCxnSpPr>
          <p:nvPr/>
        </p:nvCxnSpPr>
        <p:spPr>
          <a:xfrm flipH="1">
            <a:off x="3059832" y="1131590"/>
            <a:ext cx="432048" cy="1228217"/>
          </a:xfrm>
          <a:prstGeom prst="straightConnector1">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39" name="Gerade Verbindung mit Pfeil 38">
            <a:extLst>
              <a:ext uri="{FF2B5EF4-FFF2-40B4-BE49-F238E27FC236}">
                <a16:creationId xmlns:a16="http://schemas.microsoft.com/office/drawing/2014/main" id="{243E83E1-B96A-4DEE-8051-AB27C1F2DDFC}"/>
              </a:ext>
            </a:extLst>
          </p:cNvPr>
          <p:cNvCxnSpPr>
            <a:cxnSpLocks/>
          </p:cNvCxnSpPr>
          <p:nvPr/>
        </p:nvCxnSpPr>
        <p:spPr>
          <a:xfrm flipH="1" flipV="1">
            <a:off x="3059832" y="3575077"/>
            <a:ext cx="432048" cy="1444945"/>
          </a:xfrm>
          <a:prstGeom prst="straightConnector1">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48" name="Rechteck 47">
            <a:extLst>
              <a:ext uri="{FF2B5EF4-FFF2-40B4-BE49-F238E27FC236}">
                <a16:creationId xmlns:a16="http://schemas.microsoft.com/office/drawing/2014/main" id="{2DCF9EF2-2D88-4718-AD90-69547230AF0E}"/>
              </a:ext>
            </a:extLst>
          </p:cNvPr>
          <p:cNvSpPr/>
          <p:nvPr/>
        </p:nvSpPr>
        <p:spPr>
          <a:xfrm>
            <a:off x="395536" y="1491629"/>
            <a:ext cx="2592288" cy="760517"/>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Goal:</a:t>
            </a:r>
            <a:r>
              <a:rPr lang="en-US" sz="1400" noProof="0" dirty="0">
                <a:solidFill>
                  <a:schemeClr val="tx1"/>
                </a:solidFill>
              </a:rPr>
              <a:t> Preform computer-based simulations to understand the </a:t>
            </a:r>
            <a:r>
              <a:rPr lang="en-US" sz="1400" noProof="0" dirty="0" err="1">
                <a:solidFill>
                  <a:schemeClr val="tx1"/>
                </a:solidFill>
              </a:rPr>
              <a:t>Wa</a:t>
            </a:r>
            <a:r>
              <a:rPr lang="en-US" sz="1400" noProof="0" dirty="0">
                <a:solidFill>
                  <a:schemeClr val="tx1"/>
                </a:solidFill>
              </a:rPr>
              <a:t>-Tor ecosystem.</a:t>
            </a:r>
          </a:p>
        </p:txBody>
      </p:sp>
      <p:sp>
        <p:nvSpPr>
          <p:cNvPr id="22" name="Gebogener Pfeil 14">
            <a:extLst>
              <a:ext uri="{FF2B5EF4-FFF2-40B4-BE49-F238E27FC236}">
                <a16:creationId xmlns:a16="http://schemas.microsoft.com/office/drawing/2014/main" id="{024D179C-74EE-BCB9-17C6-56D0AD2859A2}"/>
              </a:ext>
            </a:extLst>
          </p:cNvPr>
          <p:cNvSpPr/>
          <p:nvPr/>
        </p:nvSpPr>
        <p:spPr>
          <a:xfrm rot="16580047">
            <a:off x="1438617" y="4581635"/>
            <a:ext cx="523857" cy="523857"/>
          </a:xfrm>
          <a:prstGeom prst="circularArrow">
            <a:avLst>
              <a:gd name="adj1" fmla="val 12500"/>
              <a:gd name="adj2" fmla="val 1142319"/>
              <a:gd name="adj3" fmla="val 20457681"/>
              <a:gd name="adj4" fmla="val 1903587"/>
              <a:gd name="adj5" fmla="val 12500"/>
            </a:avLst>
          </a:prstGeom>
          <a:solidFill>
            <a:schemeClr val="accent5">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noProof="0" dirty="0">
              <a:solidFill>
                <a:schemeClr val="tx1"/>
              </a:solidFill>
            </a:endParaRPr>
          </a:p>
        </p:txBody>
      </p:sp>
    </p:spTree>
    <p:extLst>
      <p:ext uri="{BB962C8B-B14F-4D97-AF65-F5344CB8AC3E}">
        <p14:creationId xmlns:p14="http://schemas.microsoft.com/office/powerpoint/2010/main" val="731576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3" grpId="0" animBg="1"/>
      <p:bldP spid="16" grpId="0"/>
      <p:bldP spid="17" grpId="0"/>
      <p:bldP spid="18" grpId="0"/>
      <p:bldP spid="19" grpId="0" animBg="1"/>
      <p:bldP spid="20" grpId="0" animBg="1"/>
      <p:bldP spid="2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It is generally recommended to segment a problem and then start the solution process from the “easy” questions to the “hard” ones </a:t>
            </a:r>
          </a:p>
        </p:txBody>
      </p:sp>
      <p:sp>
        <p:nvSpPr>
          <p:cNvPr id="4" name="Freihandform 3"/>
          <p:cNvSpPr/>
          <p:nvPr/>
        </p:nvSpPr>
        <p:spPr>
          <a:xfrm>
            <a:off x="5713090" y="1964690"/>
            <a:ext cx="2066290" cy="1971040"/>
          </a:xfrm>
          <a:custGeom>
            <a:avLst/>
            <a:gdLst>
              <a:gd name="connsiteX0" fmla="*/ 95250 w 2066290"/>
              <a:gd name="connsiteY0" fmla="*/ 1037590 h 1971040"/>
              <a:gd name="connsiteX1" fmla="*/ 34290 w 2066290"/>
              <a:gd name="connsiteY1" fmla="*/ 626110 h 1971040"/>
              <a:gd name="connsiteX2" fmla="*/ 300990 w 2066290"/>
              <a:gd name="connsiteY2" fmla="*/ 222250 h 1971040"/>
              <a:gd name="connsiteX3" fmla="*/ 674370 w 2066290"/>
              <a:gd name="connsiteY3" fmla="*/ 283210 h 1971040"/>
              <a:gd name="connsiteX4" fmla="*/ 986790 w 2066290"/>
              <a:gd name="connsiteY4" fmla="*/ 351790 h 1971040"/>
              <a:gd name="connsiteX5" fmla="*/ 1261110 w 2066290"/>
              <a:gd name="connsiteY5" fmla="*/ 39370 h 1971040"/>
              <a:gd name="connsiteX6" fmla="*/ 1482090 w 2066290"/>
              <a:gd name="connsiteY6" fmla="*/ 115570 h 1971040"/>
              <a:gd name="connsiteX7" fmla="*/ 1695450 w 2066290"/>
              <a:gd name="connsiteY7" fmla="*/ 351790 h 1971040"/>
              <a:gd name="connsiteX8" fmla="*/ 2007870 w 2066290"/>
              <a:gd name="connsiteY8" fmla="*/ 443230 h 1971040"/>
              <a:gd name="connsiteX9" fmla="*/ 2023110 w 2066290"/>
              <a:gd name="connsiteY9" fmla="*/ 740410 h 1971040"/>
              <a:gd name="connsiteX10" fmla="*/ 1748790 w 2066290"/>
              <a:gd name="connsiteY10" fmla="*/ 839470 h 1971040"/>
              <a:gd name="connsiteX11" fmla="*/ 1604010 w 2066290"/>
              <a:gd name="connsiteY11" fmla="*/ 1014730 h 1971040"/>
              <a:gd name="connsiteX12" fmla="*/ 1741170 w 2066290"/>
              <a:gd name="connsiteY12" fmla="*/ 1258570 h 1971040"/>
              <a:gd name="connsiteX13" fmla="*/ 1916430 w 2066290"/>
              <a:gd name="connsiteY13" fmla="*/ 1532890 h 1971040"/>
              <a:gd name="connsiteX14" fmla="*/ 1809750 w 2066290"/>
              <a:gd name="connsiteY14" fmla="*/ 1830070 h 1971040"/>
              <a:gd name="connsiteX15" fmla="*/ 1535430 w 2066290"/>
              <a:gd name="connsiteY15" fmla="*/ 1951990 h 1971040"/>
              <a:gd name="connsiteX16" fmla="*/ 1223010 w 2066290"/>
              <a:gd name="connsiteY16" fmla="*/ 1715770 h 1971040"/>
              <a:gd name="connsiteX17" fmla="*/ 956310 w 2066290"/>
              <a:gd name="connsiteY17" fmla="*/ 1708150 h 1971040"/>
              <a:gd name="connsiteX18" fmla="*/ 826770 w 2066290"/>
              <a:gd name="connsiteY18" fmla="*/ 1784350 h 1971040"/>
              <a:gd name="connsiteX19" fmla="*/ 224790 w 2066290"/>
              <a:gd name="connsiteY19" fmla="*/ 1814830 h 1971040"/>
              <a:gd name="connsiteX20" fmla="*/ 590550 w 2066290"/>
              <a:gd name="connsiteY20" fmla="*/ 1250950 h 1971040"/>
              <a:gd name="connsiteX21" fmla="*/ 95250 w 2066290"/>
              <a:gd name="connsiteY21" fmla="*/ 1037590 h 1971040"/>
              <a:gd name="connsiteX0" fmla="*/ 95250 w 2066290"/>
              <a:gd name="connsiteY0" fmla="*/ 1037590 h 1971040"/>
              <a:gd name="connsiteX1" fmla="*/ 34290 w 2066290"/>
              <a:gd name="connsiteY1" fmla="*/ 626110 h 1971040"/>
              <a:gd name="connsiteX2" fmla="*/ 300990 w 2066290"/>
              <a:gd name="connsiteY2" fmla="*/ 222250 h 1971040"/>
              <a:gd name="connsiteX3" fmla="*/ 674370 w 2066290"/>
              <a:gd name="connsiteY3" fmla="*/ 283210 h 1971040"/>
              <a:gd name="connsiteX4" fmla="*/ 986790 w 2066290"/>
              <a:gd name="connsiteY4" fmla="*/ 351790 h 1971040"/>
              <a:gd name="connsiteX5" fmla="*/ 1261110 w 2066290"/>
              <a:gd name="connsiteY5" fmla="*/ 39370 h 1971040"/>
              <a:gd name="connsiteX6" fmla="*/ 1482090 w 2066290"/>
              <a:gd name="connsiteY6" fmla="*/ 115570 h 1971040"/>
              <a:gd name="connsiteX7" fmla="*/ 1695450 w 2066290"/>
              <a:gd name="connsiteY7" fmla="*/ 351790 h 1971040"/>
              <a:gd name="connsiteX8" fmla="*/ 2007870 w 2066290"/>
              <a:gd name="connsiteY8" fmla="*/ 443230 h 1971040"/>
              <a:gd name="connsiteX9" fmla="*/ 2023110 w 2066290"/>
              <a:gd name="connsiteY9" fmla="*/ 740410 h 1971040"/>
              <a:gd name="connsiteX10" fmla="*/ 1748790 w 2066290"/>
              <a:gd name="connsiteY10" fmla="*/ 839470 h 1971040"/>
              <a:gd name="connsiteX11" fmla="*/ 1604010 w 2066290"/>
              <a:gd name="connsiteY11" fmla="*/ 1014730 h 1971040"/>
              <a:gd name="connsiteX12" fmla="*/ 1741170 w 2066290"/>
              <a:gd name="connsiteY12" fmla="*/ 1258570 h 1971040"/>
              <a:gd name="connsiteX13" fmla="*/ 1916430 w 2066290"/>
              <a:gd name="connsiteY13" fmla="*/ 1532890 h 1971040"/>
              <a:gd name="connsiteX14" fmla="*/ 1809750 w 2066290"/>
              <a:gd name="connsiteY14" fmla="*/ 1830070 h 1971040"/>
              <a:gd name="connsiteX15" fmla="*/ 1535430 w 2066290"/>
              <a:gd name="connsiteY15" fmla="*/ 1951990 h 1971040"/>
              <a:gd name="connsiteX16" fmla="*/ 1223010 w 2066290"/>
              <a:gd name="connsiteY16" fmla="*/ 1715770 h 1971040"/>
              <a:gd name="connsiteX17" fmla="*/ 826770 w 2066290"/>
              <a:gd name="connsiteY17" fmla="*/ 1784350 h 1971040"/>
              <a:gd name="connsiteX18" fmla="*/ 224790 w 2066290"/>
              <a:gd name="connsiteY18" fmla="*/ 1814830 h 1971040"/>
              <a:gd name="connsiteX19" fmla="*/ 590550 w 2066290"/>
              <a:gd name="connsiteY19" fmla="*/ 1250950 h 1971040"/>
              <a:gd name="connsiteX20" fmla="*/ 95250 w 2066290"/>
              <a:gd name="connsiteY20" fmla="*/ 1037590 h 197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66290" h="1971040">
                <a:moveTo>
                  <a:pt x="95250" y="1037590"/>
                </a:moveTo>
                <a:cubicBezTo>
                  <a:pt x="2540" y="933450"/>
                  <a:pt x="0" y="762000"/>
                  <a:pt x="34290" y="626110"/>
                </a:cubicBezTo>
                <a:cubicBezTo>
                  <a:pt x="68580" y="490220"/>
                  <a:pt x="194310" y="279400"/>
                  <a:pt x="300990" y="222250"/>
                </a:cubicBezTo>
                <a:cubicBezTo>
                  <a:pt x="407670" y="165100"/>
                  <a:pt x="560070" y="261620"/>
                  <a:pt x="674370" y="283210"/>
                </a:cubicBezTo>
                <a:cubicBezTo>
                  <a:pt x="788670" y="304800"/>
                  <a:pt x="889000" y="392430"/>
                  <a:pt x="986790" y="351790"/>
                </a:cubicBezTo>
                <a:cubicBezTo>
                  <a:pt x="1084580" y="311150"/>
                  <a:pt x="1178560" y="78740"/>
                  <a:pt x="1261110" y="39370"/>
                </a:cubicBezTo>
                <a:cubicBezTo>
                  <a:pt x="1343660" y="0"/>
                  <a:pt x="1409700" y="63500"/>
                  <a:pt x="1482090" y="115570"/>
                </a:cubicBezTo>
                <a:cubicBezTo>
                  <a:pt x="1554480" y="167640"/>
                  <a:pt x="1607820" y="297180"/>
                  <a:pt x="1695450" y="351790"/>
                </a:cubicBezTo>
                <a:cubicBezTo>
                  <a:pt x="1783080" y="406400"/>
                  <a:pt x="1953260" y="378460"/>
                  <a:pt x="2007870" y="443230"/>
                </a:cubicBezTo>
                <a:cubicBezTo>
                  <a:pt x="2062480" y="508000"/>
                  <a:pt x="2066290" y="674370"/>
                  <a:pt x="2023110" y="740410"/>
                </a:cubicBezTo>
                <a:cubicBezTo>
                  <a:pt x="1979930" y="806450"/>
                  <a:pt x="1818640" y="793750"/>
                  <a:pt x="1748790" y="839470"/>
                </a:cubicBezTo>
                <a:cubicBezTo>
                  <a:pt x="1678940" y="885190"/>
                  <a:pt x="1605280" y="944880"/>
                  <a:pt x="1604010" y="1014730"/>
                </a:cubicBezTo>
                <a:cubicBezTo>
                  <a:pt x="1602740" y="1084580"/>
                  <a:pt x="1689100" y="1172210"/>
                  <a:pt x="1741170" y="1258570"/>
                </a:cubicBezTo>
                <a:cubicBezTo>
                  <a:pt x="1793240" y="1344930"/>
                  <a:pt x="1905000" y="1437640"/>
                  <a:pt x="1916430" y="1532890"/>
                </a:cubicBezTo>
                <a:cubicBezTo>
                  <a:pt x="1927860" y="1628140"/>
                  <a:pt x="1873250" y="1760220"/>
                  <a:pt x="1809750" y="1830070"/>
                </a:cubicBezTo>
                <a:cubicBezTo>
                  <a:pt x="1746250" y="1899920"/>
                  <a:pt x="1633220" y="1971040"/>
                  <a:pt x="1535430" y="1951990"/>
                </a:cubicBezTo>
                <a:cubicBezTo>
                  <a:pt x="1437640" y="1932940"/>
                  <a:pt x="1341120" y="1743710"/>
                  <a:pt x="1223010" y="1715770"/>
                </a:cubicBezTo>
                <a:cubicBezTo>
                  <a:pt x="1104900" y="1687830"/>
                  <a:pt x="993140" y="1767840"/>
                  <a:pt x="826770" y="1784350"/>
                </a:cubicBezTo>
                <a:cubicBezTo>
                  <a:pt x="660400" y="1800860"/>
                  <a:pt x="264160" y="1903730"/>
                  <a:pt x="224790" y="1814830"/>
                </a:cubicBezTo>
                <a:cubicBezTo>
                  <a:pt x="185420" y="1725930"/>
                  <a:pt x="610870" y="1380490"/>
                  <a:pt x="590550" y="1250950"/>
                </a:cubicBezTo>
                <a:cubicBezTo>
                  <a:pt x="570230" y="1121410"/>
                  <a:pt x="187960" y="1141730"/>
                  <a:pt x="95250" y="1037590"/>
                </a:cubicBez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Ellipse 4"/>
          <p:cNvSpPr/>
          <p:nvPr/>
        </p:nvSpPr>
        <p:spPr>
          <a:xfrm>
            <a:off x="1081708" y="1707654"/>
            <a:ext cx="2592288" cy="2592288"/>
          </a:xfrm>
          <a:prstGeom prst="ellipse">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6" name="Gerade Verbindung 5"/>
          <p:cNvCxnSpPr/>
          <p:nvPr/>
        </p:nvCxnSpPr>
        <p:spPr>
          <a:xfrm>
            <a:off x="2377852" y="1563638"/>
            <a:ext cx="0" cy="1440160"/>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7" name="Gerade Verbindung 6"/>
          <p:cNvCxnSpPr/>
          <p:nvPr/>
        </p:nvCxnSpPr>
        <p:spPr>
          <a:xfrm>
            <a:off x="937692" y="3003798"/>
            <a:ext cx="1440160" cy="0"/>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8" name="Gerade Verbindung 7"/>
          <p:cNvCxnSpPr/>
          <p:nvPr/>
        </p:nvCxnSpPr>
        <p:spPr>
          <a:xfrm>
            <a:off x="2377852" y="3003798"/>
            <a:ext cx="1018347"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Gerade Verbindung 8"/>
          <p:cNvCxnSpPr/>
          <p:nvPr/>
        </p:nvCxnSpPr>
        <p:spPr>
          <a:xfrm flipH="1">
            <a:off x="1359505" y="3003798"/>
            <a:ext cx="1018347"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Gerade Verbindung 9"/>
          <p:cNvCxnSpPr/>
          <p:nvPr/>
        </p:nvCxnSpPr>
        <p:spPr>
          <a:xfrm flipV="1">
            <a:off x="2377853" y="1985451"/>
            <a:ext cx="1018346"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1" name="Rechteck 10"/>
          <p:cNvSpPr/>
          <p:nvPr/>
        </p:nvSpPr>
        <p:spPr>
          <a:xfrm>
            <a:off x="649660" y="1131590"/>
            <a:ext cx="3456384" cy="2880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t>Segmentation of the Problem</a:t>
            </a:r>
          </a:p>
        </p:txBody>
      </p:sp>
      <p:sp>
        <p:nvSpPr>
          <p:cNvPr id="12" name="Textfeld 11"/>
          <p:cNvSpPr txBox="1"/>
          <p:nvPr/>
        </p:nvSpPr>
        <p:spPr>
          <a:xfrm>
            <a:off x="2881908" y="1563638"/>
            <a:ext cx="564450" cy="276999"/>
          </a:xfrm>
          <a:prstGeom prst="rect">
            <a:avLst/>
          </a:prstGeom>
          <a:noFill/>
        </p:spPr>
        <p:txBody>
          <a:bodyPr wrap="none" rtlCol="0">
            <a:spAutoFit/>
          </a:bodyPr>
          <a:lstStyle/>
          <a:p>
            <a:r>
              <a:rPr lang="en-US" sz="1200" noProof="0" dirty="0"/>
              <a:t>Part A</a:t>
            </a:r>
          </a:p>
        </p:txBody>
      </p:sp>
      <p:sp>
        <p:nvSpPr>
          <p:cNvPr id="13" name="Textfeld 12"/>
          <p:cNvSpPr txBox="1"/>
          <p:nvPr/>
        </p:nvSpPr>
        <p:spPr>
          <a:xfrm>
            <a:off x="3025924" y="4083918"/>
            <a:ext cx="564450" cy="276999"/>
          </a:xfrm>
          <a:prstGeom prst="rect">
            <a:avLst/>
          </a:prstGeom>
          <a:noFill/>
        </p:spPr>
        <p:txBody>
          <a:bodyPr wrap="none" rtlCol="0">
            <a:spAutoFit/>
          </a:bodyPr>
          <a:lstStyle/>
          <a:p>
            <a:r>
              <a:rPr lang="en-US" sz="1200" noProof="0" dirty="0"/>
              <a:t>Part C</a:t>
            </a:r>
          </a:p>
        </p:txBody>
      </p:sp>
      <p:sp>
        <p:nvSpPr>
          <p:cNvPr id="14" name="Textfeld 13"/>
          <p:cNvSpPr txBox="1"/>
          <p:nvPr/>
        </p:nvSpPr>
        <p:spPr>
          <a:xfrm>
            <a:off x="686172" y="3579862"/>
            <a:ext cx="564450" cy="276999"/>
          </a:xfrm>
          <a:prstGeom prst="rect">
            <a:avLst/>
          </a:prstGeom>
          <a:noFill/>
        </p:spPr>
        <p:txBody>
          <a:bodyPr wrap="none" rtlCol="0">
            <a:spAutoFit/>
          </a:bodyPr>
          <a:lstStyle/>
          <a:p>
            <a:r>
              <a:rPr lang="en-US" sz="1200" noProof="0" dirty="0"/>
              <a:t>Part D</a:t>
            </a:r>
          </a:p>
        </p:txBody>
      </p:sp>
      <p:sp>
        <p:nvSpPr>
          <p:cNvPr id="15" name="Textfeld 14"/>
          <p:cNvSpPr txBox="1"/>
          <p:nvPr/>
        </p:nvSpPr>
        <p:spPr>
          <a:xfrm>
            <a:off x="1009700" y="1779662"/>
            <a:ext cx="564450" cy="276999"/>
          </a:xfrm>
          <a:prstGeom prst="rect">
            <a:avLst/>
          </a:prstGeom>
          <a:noFill/>
        </p:spPr>
        <p:txBody>
          <a:bodyPr wrap="none" rtlCol="0">
            <a:spAutoFit/>
          </a:bodyPr>
          <a:lstStyle/>
          <a:p>
            <a:r>
              <a:rPr lang="en-US" sz="1200" noProof="0" dirty="0"/>
              <a:t>Part E</a:t>
            </a:r>
          </a:p>
        </p:txBody>
      </p:sp>
      <p:sp>
        <p:nvSpPr>
          <p:cNvPr id="16" name="Textfeld 15"/>
          <p:cNvSpPr txBox="1"/>
          <p:nvPr/>
        </p:nvSpPr>
        <p:spPr>
          <a:xfrm>
            <a:off x="3601988" y="2355726"/>
            <a:ext cx="558038" cy="276999"/>
          </a:xfrm>
          <a:prstGeom prst="rect">
            <a:avLst/>
          </a:prstGeom>
          <a:noFill/>
        </p:spPr>
        <p:txBody>
          <a:bodyPr wrap="none" rtlCol="0">
            <a:spAutoFit/>
          </a:bodyPr>
          <a:lstStyle/>
          <a:p>
            <a:r>
              <a:rPr lang="en-US" sz="1200" noProof="0" dirty="0"/>
              <a:t>Part B</a:t>
            </a:r>
          </a:p>
        </p:txBody>
      </p:sp>
      <p:sp>
        <p:nvSpPr>
          <p:cNvPr id="17" name="Ellipse 16"/>
          <p:cNvSpPr/>
          <p:nvPr/>
        </p:nvSpPr>
        <p:spPr>
          <a:xfrm>
            <a:off x="1873796" y="2499742"/>
            <a:ext cx="1008112" cy="1008112"/>
          </a:xfrm>
          <a:prstGeom prst="ellipse">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Ellipse 17"/>
          <p:cNvSpPr/>
          <p:nvPr/>
        </p:nvSpPr>
        <p:spPr>
          <a:xfrm>
            <a:off x="1477752" y="2103698"/>
            <a:ext cx="1800200" cy="1800200"/>
          </a:xfrm>
          <a:prstGeom prst="ellipse">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9" name="Gerade Verbindung 18"/>
          <p:cNvCxnSpPr/>
          <p:nvPr/>
        </p:nvCxnSpPr>
        <p:spPr>
          <a:xfrm flipH="1">
            <a:off x="1369740" y="3363838"/>
            <a:ext cx="936104" cy="1008112"/>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0" name="Gerade Verbindung 19"/>
          <p:cNvCxnSpPr/>
          <p:nvPr/>
        </p:nvCxnSpPr>
        <p:spPr>
          <a:xfrm>
            <a:off x="1369740" y="4371950"/>
            <a:ext cx="0" cy="288032"/>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1" name="Textfeld 20"/>
          <p:cNvSpPr txBox="1"/>
          <p:nvPr/>
        </p:nvSpPr>
        <p:spPr>
          <a:xfrm>
            <a:off x="1369740" y="4371950"/>
            <a:ext cx="891591" cy="276999"/>
          </a:xfrm>
          <a:prstGeom prst="rect">
            <a:avLst/>
          </a:prstGeom>
          <a:noFill/>
        </p:spPr>
        <p:txBody>
          <a:bodyPr wrap="none" rtlCol="0">
            <a:spAutoFit/>
          </a:bodyPr>
          <a:lstStyle/>
          <a:p>
            <a:r>
              <a:rPr lang="en-US" sz="1200" noProof="0" dirty="0"/>
              <a:t>challenging</a:t>
            </a:r>
          </a:p>
        </p:txBody>
      </p:sp>
      <p:cxnSp>
        <p:nvCxnSpPr>
          <p:cNvPr id="22" name="Gerade Verbindung 21"/>
          <p:cNvCxnSpPr/>
          <p:nvPr/>
        </p:nvCxnSpPr>
        <p:spPr>
          <a:xfrm flipH="1">
            <a:off x="2305844" y="3723878"/>
            <a:ext cx="288032" cy="792088"/>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Gerade Verbindung 22"/>
          <p:cNvCxnSpPr/>
          <p:nvPr/>
        </p:nvCxnSpPr>
        <p:spPr>
          <a:xfrm>
            <a:off x="2305844" y="4515966"/>
            <a:ext cx="0" cy="288032"/>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4" name="Textfeld 23"/>
          <p:cNvSpPr txBox="1"/>
          <p:nvPr/>
        </p:nvSpPr>
        <p:spPr>
          <a:xfrm>
            <a:off x="2305844" y="4515966"/>
            <a:ext cx="469487" cy="276999"/>
          </a:xfrm>
          <a:prstGeom prst="rect">
            <a:avLst/>
          </a:prstGeom>
          <a:noFill/>
        </p:spPr>
        <p:txBody>
          <a:bodyPr wrap="none" rtlCol="0">
            <a:spAutoFit/>
          </a:bodyPr>
          <a:lstStyle/>
          <a:p>
            <a:r>
              <a:rPr lang="en-US" sz="1200" noProof="0" dirty="0"/>
              <a:t>hard</a:t>
            </a:r>
          </a:p>
        </p:txBody>
      </p:sp>
      <p:cxnSp>
        <p:nvCxnSpPr>
          <p:cNvPr id="25" name="Gerade Verbindung 24"/>
          <p:cNvCxnSpPr/>
          <p:nvPr/>
        </p:nvCxnSpPr>
        <p:spPr>
          <a:xfrm>
            <a:off x="2898076" y="4011910"/>
            <a:ext cx="0" cy="936104"/>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6" name="Textfeld 25"/>
          <p:cNvSpPr txBox="1"/>
          <p:nvPr/>
        </p:nvSpPr>
        <p:spPr>
          <a:xfrm>
            <a:off x="2898076" y="4659982"/>
            <a:ext cx="631904" cy="276999"/>
          </a:xfrm>
          <a:prstGeom prst="rect">
            <a:avLst/>
          </a:prstGeom>
          <a:noFill/>
        </p:spPr>
        <p:txBody>
          <a:bodyPr wrap="none" rtlCol="0">
            <a:spAutoFit/>
          </a:bodyPr>
          <a:lstStyle/>
          <a:p>
            <a:r>
              <a:rPr lang="en-US" sz="1200" noProof="0" dirty="0"/>
              <a:t>normal</a:t>
            </a:r>
          </a:p>
        </p:txBody>
      </p:sp>
      <p:sp>
        <p:nvSpPr>
          <p:cNvPr id="27" name="Ellipse 26"/>
          <p:cNvSpPr/>
          <p:nvPr/>
        </p:nvSpPr>
        <p:spPr>
          <a:xfrm>
            <a:off x="5402188" y="1707654"/>
            <a:ext cx="2592288" cy="259228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8" name="Gerade Verbindung 27"/>
          <p:cNvCxnSpPr/>
          <p:nvPr/>
        </p:nvCxnSpPr>
        <p:spPr>
          <a:xfrm>
            <a:off x="6698332" y="1563638"/>
            <a:ext cx="0" cy="1440160"/>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9" name="Gerade Verbindung 28"/>
          <p:cNvCxnSpPr/>
          <p:nvPr/>
        </p:nvCxnSpPr>
        <p:spPr>
          <a:xfrm>
            <a:off x="5258172" y="3003798"/>
            <a:ext cx="1440160" cy="0"/>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0" name="Gerade Verbindung 29"/>
          <p:cNvCxnSpPr/>
          <p:nvPr/>
        </p:nvCxnSpPr>
        <p:spPr>
          <a:xfrm>
            <a:off x="6698332" y="3003798"/>
            <a:ext cx="1018347"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1" name="Gerade Verbindung 30"/>
          <p:cNvCxnSpPr/>
          <p:nvPr/>
        </p:nvCxnSpPr>
        <p:spPr>
          <a:xfrm flipH="1">
            <a:off x="5679985" y="3003798"/>
            <a:ext cx="1018347"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2" name="Gerade Verbindung 31"/>
          <p:cNvCxnSpPr/>
          <p:nvPr/>
        </p:nvCxnSpPr>
        <p:spPr>
          <a:xfrm flipV="1">
            <a:off x="6698333" y="1985451"/>
            <a:ext cx="1018346"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33" name="Rechteck 32"/>
          <p:cNvSpPr/>
          <p:nvPr/>
        </p:nvSpPr>
        <p:spPr>
          <a:xfrm>
            <a:off x="4970140" y="1131590"/>
            <a:ext cx="3456384" cy="2880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t>Start the Solution From Outside-In for Each Part</a:t>
            </a:r>
          </a:p>
        </p:txBody>
      </p:sp>
      <p:sp>
        <p:nvSpPr>
          <p:cNvPr id="34" name="Textfeld 33"/>
          <p:cNvSpPr txBox="1"/>
          <p:nvPr/>
        </p:nvSpPr>
        <p:spPr>
          <a:xfrm>
            <a:off x="7202388" y="1563638"/>
            <a:ext cx="564450" cy="276999"/>
          </a:xfrm>
          <a:prstGeom prst="rect">
            <a:avLst/>
          </a:prstGeom>
          <a:noFill/>
        </p:spPr>
        <p:txBody>
          <a:bodyPr wrap="none" rtlCol="0">
            <a:spAutoFit/>
          </a:bodyPr>
          <a:lstStyle/>
          <a:p>
            <a:r>
              <a:rPr lang="en-US" sz="1200" noProof="0" dirty="0"/>
              <a:t>Part A</a:t>
            </a:r>
          </a:p>
        </p:txBody>
      </p:sp>
      <p:sp>
        <p:nvSpPr>
          <p:cNvPr id="35" name="Textfeld 34"/>
          <p:cNvSpPr txBox="1"/>
          <p:nvPr/>
        </p:nvSpPr>
        <p:spPr>
          <a:xfrm>
            <a:off x="7346404" y="4083918"/>
            <a:ext cx="564450" cy="276999"/>
          </a:xfrm>
          <a:prstGeom prst="rect">
            <a:avLst/>
          </a:prstGeom>
          <a:noFill/>
        </p:spPr>
        <p:txBody>
          <a:bodyPr wrap="none" rtlCol="0">
            <a:spAutoFit/>
          </a:bodyPr>
          <a:lstStyle/>
          <a:p>
            <a:r>
              <a:rPr lang="en-US" sz="1200" noProof="0" dirty="0"/>
              <a:t>Part C</a:t>
            </a:r>
          </a:p>
        </p:txBody>
      </p:sp>
      <p:sp>
        <p:nvSpPr>
          <p:cNvPr id="36" name="Textfeld 35"/>
          <p:cNvSpPr txBox="1"/>
          <p:nvPr/>
        </p:nvSpPr>
        <p:spPr>
          <a:xfrm>
            <a:off x="5006652" y="3579862"/>
            <a:ext cx="564450" cy="276999"/>
          </a:xfrm>
          <a:prstGeom prst="rect">
            <a:avLst/>
          </a:prstGeom>
          <a:noFill/>
        </p:spPr>
        <p:txBody>
          <a:bodyPr wrap="none" rtlCol="0">
            <a:spAutoFit/>
          </a:bodyPr>
          <a:lstStyle/>
          <a:p>
            <a:r>
              <a:rPr lang="en-US" sz="1200" noProof="0" dirty="0"/>
              <a:t>Part D</a:t>
            </a:r>
          </a:p>
        </p:txBody>
      </p:sp>
      <p:sp>
        <p:nvSpPr>
          <p:cNvPr id="37" name="Textfeld 36"/>
          <p:cNvSpPr txBox="1"/>
          <p:nvPr/>
        </p:nvSpPr>
        <p:spPr>
          <a:xfrm>
            <a:off x="5330180" y="1779662"/>
            <a:ext cx="564450" cy="276999"/>
          </a:xfrm>
          <a:prstGeom prst="rect">
            <a:avLst/>
          </a:prstGeom>
          <a:noFill/>
        </p:spPr>
        <p:txBody>
          <a:bodyPr wrap="none" rtlCol="0">
            <a:spAutoFit/>
          </a:bodyPr>
          <a:lstStyle/>
          <a:p>
            <a:r>
              <a:rPr lang="en-US" sz="1200" noProof="0" dirty="0"/>
              <a:t>Part E</a:t>
            </a:r>
          </a:p>
        </p:txBody>
      </p:sp>
      <p:sp>
        <p:nvSpPr>
          <p:cNvPr id="38" name="Textfeld 37"/>
          <p:cNvSpPr txBox="1"/>
          <p:nvPr/>
        </p:nvSpPr>
        <p:spPr>
          <a:xfrm>
            <a:off x="7922468" y="2355726"/>
            <a:ext cx="558038" cy="276999"/>
          </a:xfrm>
          <a:prstGeom prst="rect">
            <a:avLst/>
          </a:prstGeom>
          <a:noFill/>
        </p:spPr>
        <p:txBody>
          <a:bodyPr wrap="none" rtlCol="0">
            <a:spAutoFit/>
          </a:bodyPr>
          <a:lstStyle/>
          <a:p>
            <a:r>
              <a:rPr lang="en-US" sz="1200" noProof="0" dirty="0"/>
              <a:t>Part B</a:t>
            </a:r>
          </a:p>
        </p:txBody>
      </p:sp>
      <p:sp>
        <p:nvSpPr>
          <p:cNvPr id="39" name="Ellipse 38"/>
          <p:cNvSpPr/>
          <p:nvPr/>
        </p:nvSpPr>
        <p:spPr>
          <a:xfrm>
            <a:off x="6194276" y="2499742"/>
            <a:ext cx="1008112" cy="1008112"/>
          </a:xfrm>
          <a:prstGeom prst="ellipse">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0" name="Ellipse 39"/>
          <p:cNvSpPr/>
          <p:nvPr/>
        </p:nvSpPr>
        <p:spPr>
          <a:xfrm>
            <a:off x="5798232" y="2103698"/>
            <a:ext cx="1800200" cy="1800200"/>
          </a:xfrm>
          <a:prstGeom prst="ellipse">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41" name="Gerade Verbindung 40"/>
          <p:cNvCxnSpPr/>
          <p:nvPr/>
        </p:nvCxnSpPr>
        <p:spPr>
          <a:xfrm flipH="1">
            <a:off x="5690220" y="3363838"/>
            <a:ext cx="936104" cy="1008112"/>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Gerade Verbindung 41"/>
          <p:cNvCxnSpPr/>
          <p:nvPr/>
        </p:nvCxnSpPr>
        <p:spPr>
          <a:xfrm>
            <a:off x="5690220" y="4371950"/>
            <a:ext cx="0" cy="288032"/>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43" name="Textfeld 42"/>
          <p:cNvSpPr txBox="1"/>
          <p:nvPr/>
        </p:nvSpPr>
        <p:spPr>
          <a:xfrm>
            <a:off x="5690220" y="4371950"/>
            <a:ext cx="891591" cy="276999"/>
          </a:xfrm>
          <a:prstGeom prst="rect">
            <a:avLst/>
          </a:prstGeom>
          <a:noFill/>
        </p:spPr>
        <p:txBody>
          <a:bodyPr wrap="none" rtlCol="0">
            <a:spAutoFit/>
          </a:bodyPr>
          <a:lstStyle/>
          <a:p>
            <a:r>
              <a:rPr lang="en-US" sz="1200" noProof="0" dirty="0"/>
              <a:t>challenging</a:t>
            </a:r>
          </a:p>
        </p:txBody>
      </p:sp>
      <p:cxnSp>
        <p:nvCxnSpPr>
          <p:cNvPr id="44" name="Gerade Verbindung 43"/>
          <p:cNvCxnSpPr/>
          <p:nvPr/>
        </p:nvCxnSpPr>
        <p:spPr>
          <a:xfrm flipH="1">
            <a:off x="6626324" y="3723878"/>
            <a:ext cx="288032" cy="792088"/>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Gerade Verbindung 44"/>
          <p:cNvCxnSpPr/>
          <p:nvPr/>
        </p:nvCxnSpPr>
        <p:spPr>
          <a:xfrm>
            <a:off x="6626324" y="4515966"/>
            <a:ext cx="0" cy="288032"/>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46" name="Textfeld 45"/>
          <p:cNvSpPr txBox="1"/>
          <p:nvPr/>
        </p:nvSpPr>
        <p:spPr>
          <a:xfrm>
            <a:off x="6626324" y="4515966"/>
            <a:ext cx="469487" cy="276999"/>
          </a:xfrm>
          <a:prstGeom prst="rect">
            <a:avLst/>
          </a:prstGeom>
          <a:noFill/>
        </p:spPr>
        <p:txBody>
          <a:bodyPr wrap="none" rtlCol="0">
            <a:spAutoFit/>
          </a:bodyPr>
          <a:lstStyle/>
          <a:p>
            <a:r>
              <a:rPr lang="en-US" sz="1200" noProof="0" dirty="0"/>
              <a:t>hard</a:t>
            </a:r>
          </a:p>
        </p:txBody>
      </p:sp>
      <p:cxnSp>
        <p:nvCxnSpPr>
          <p:cNvPr id="47" name="Gerade Verbindung 46"/>
          <p:cNvCxnSpPr/>
          <p:nvPr/>
        </p:nvCxnSpPr>
        <p:spPr>
          <a:xfrm>
            <a:off x="7218556" y="4011910"/>
            <a:ext cx="0" cy="936104"/>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48" name="Textfeld 47"/>
          <p:cNvSpPr txBox="1"/>
          <p:nvPr/>
        </p:nvSpPr>
        <p:spPr>
          <a:xfrm>
            <a:off x="7218556" y="4659982"/>
            <a:ext cx="631904" cy="276999"/>
          </a:xfrm>
          <a:prstGeom prst="rect">
            <a:avLst/>
          </a:prstGeom>
          <a:noFill/>
        </p:spPr>
        <p:txBody>
          <a:bodyPr wrap="none" rtlCol="0">
            <a:spAutoFit/>
          </a:bodyPr>
          <a:lstStyle/>
          <a:p>
            <a:r>
              <a:rPr lang="en-US" sz="1200" noProof="0" dirty="0"/>
              <a:t>normal</a:t>
            </a:r>
          </a:p>
        </p:txBody>
      </p:sp>
      <p:sp>
        <p:nvSpPr>
          <p:cNvPr id="49" name="Rechteck 48"/>
          <p:cNvSpPr/>
          <p:nvPr/>
        </p:nvSpPr>
        <p:spPr>
          <a:xfrm>
            <a:off x="3962028" y="4443958"/>
            <a:ext cx="288032" cy="14401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0" name="Rechteck 49"/>
          <p:cNvSpPr/>
          <p:nvPr/>
        </p:nvSpPr>
        <p:spPr>
          <a:xfrm>
            <a:off x="3962028" y="4731990"/>
            <a:ext cx="288032" cy="14401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1" name="Textfeld 50"/>
          <p:cNvSpPr txBox="1"/>
          <p:nvPr/>
        </p:nvSpPr>
        <p:spPr>
          <a:xfrm>
            <a:off x="4322068" y="4371950"/>
            <a:ext cx="746743" cy="276999"/>
          </a:xfrm>
          <a:prstGeom prst="rect">
            <a:avLst/>
          </a:prstGeom>
          <a:noFill/>
        </p:spPr>
        <p:txBody>
          <a:bodyPr wrap="none" rtlCol="0">
            <a:spAutoFit/>
          </a:bodyPr>
          <a:lstStyle/>
          <a:p>
            <a:r>
              <a:rPr lang="en-US" sz="1200" noProof="0" dirty="0" err="1"/>
              <a:t>unsloved</a:t>
            </a:r>
            <a:endParaRPr lang="en-US" sz="1200" noProof="0" dirty="0"/>
          </a:p>
        </p:txBody>
      </p:sp>
      <p:sp>
        <p:nvSpPr>
          <p:cNvPr id="52" name="Textfeld 51"/>
          <p:cNvSpPr txBox="1"/>
          <p:nvPr/>
        </p:nvSpPr>
        <p:spPr>
          <a:xfrm>
            <a:off x="4322068" y="4659982"/>
            <a:ext cx="586443" cy="276999"/>
          </a:xfrm>
          <a:prstGeom prst="rect">
            <a:avLst/>
          </a:prstGeom>
          <a:noFill/>
        </p:spPr>
        <p:txBody>
          <a:bodyPr wrap="none" rtlCol="0">
            <a:spAutoFit/>
          </a:bodyPr>
          <a:lstStyle/>
          <a:p>
            <a:r>
              <a:rPr lang="en-US" sz="1200" noProof="0" dirty="0" err="1"/>
              <a:t>sloved</a:t>
            </a:r>
            <a:endParaRPr lang="en-US" sz="1200"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91B98E-1703-ABE7-F414-3F03CF782AAD}"/>
              </a:ext>
            </a:extLst>
          </p:cNvPr>
          <p:cNvSpPr>
            <a:spLocks noGrp="1"/>
          </p:cNvSpPr>
          <p:nvPr>
            <p:ph type="title"/>
          </p:nvPr>
        </p:nvSpPr>
        <p:spPr/>
        <p:txBody>
          <a:bodyPr/>
          <a:lstStyle/>
          <a:p>
            <a:r>
              <a:rPr lang="en-US" noProof="0" dirty="0"/>
              <a:t>The required code will be generated AI-enhanced and in a sequential way to validate the implementation easily</a:t>
            </a:r>
          </a:p>
        </p:txBody>
      </p:sp>
      <p:sp>
        <p:nvSpPr>
          <p:cNvPr id="3" name="Rechteck 2">
            <a:extLst>
              <a:ext uri="{FF2B5EF4-FFF2-40B4-BE49-F238E27FC236}">
                <a16:creationId xmlns:a16="http://schemas.microsoft.com/office/drawing/2014/main" id="{97FBBD88-4DAE-D11B-8B41-80B7AB3AED5F}"/>
              </a:ext>
            </a:extLst>
          </p:cNvPr>
          <p:cNvSpPr/>
          <p:nvPr/>
        </p:nvSpPr>
        <p:spPr>
          <a:xfrm>
            <a:off x="251520" y="1131590"/>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1. Understand the Problem</a:t>
            </a:r>
          </a:p>
        </p:txBody>
      </p:sp>
      <p:sp>
        <p:nvSpPr>
          <p:cNvPr id="4" name="Rechteck 3">
            <a:extLst>
              <a:ext uri="{FF2B5EF4-FFF2-40B4-BE49-F238E27FC236}">
                <a16:creationId xmlns:a16="http://schemas.microsoft.com/office/drawing/2014/main" id="{A11A26DE-A76E-3EA2-C6B3-84DFF76918FF}"/>
              </a:ext>
            </a:extLst>
          </p:cNvPr>
          <p:cNvSpPr/>
          <p:nvPr/>
        </p:nvSpPr>
        <p:spPr>
          <a:xfrm>
            <a:off x="251520" y="1952061"/>
            <a:ext cx="1296144" cy="709613"/>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2. Plan</a:t>
            </a:r>
          </a:p>
        </p:txBody>
      </p:sp>
      <p:sp>
        <p:nvSpPr>
          <p:cNvPr id="5" name="Rechteck 4">
            <a:extLst>
              <a:ext uri="{FF2B5EF4-FFF2-40B4-BE49-F238E27FC236}">
                <a16:creationId xmlns:a16="http://schemas.microsoft.com/office/drawing/2014/main" id="{3DD490C0-66F0-6AA4-F95D-DCEED48AE55C}"/>
              </a:ext>
            </a:extLst>
          </p:cNvPr>
          <p:cNvSpPr/>
          <p:nvPr/>
        </p:nvSpPr>
        <p:spPr>
          <a:xfrm>
            <a:off x="251520" y="3634389"/>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4. Look Back</a:t>
            </a:r>
          </a:p>
        </p:txBody>
      </p:sp>
      <p:sp>
        <p:nvSpPr>
          <p:cNvPr id="6" name="Rechteck 5">
            <a:extLst>
              <a:ext uri="{FF2B5EF4-FFF2-40B4-BE49-F238E27FC236}">
                <a16:creationId xmlns:a16="http://schemas.microsoft.com/office/drawing/2014/main" id="{DB2CE230-D633-2C1D-AB52-95359997C5A5}"/>
              </a:ext>
            </a:extLst>
          </p:cNvPr>
          <p:cNvSpPr/>
          <p:nvPr/>
        </p:nvSpPr>
        <p:spPr>
          <a:xfrm>
            <a:off x="251520" y="2793225"/>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3. Execute</a:t>
            </a:r>
          </a:p>
        </p:txBody>
      </p:sp>
      <p:sp>
        <p:nvSpPr>
          <p:cNvPr id="7" name="Rechteck 6">
            <a:extLst>
              <a:ext uri="{FF2B5EF4-FFF2-40B4-BE49-F238E27FC236}">
                <a16:creationId xmlns:a16="http://schemas.microsoft.com/office/drawing/2014/main" id="{09BC4857-E251-D479-B9F1-BE99B586FF64}"/>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b="1" noProof="0" dirty="0">
                <a:solidFill>
                  <a:schemeClr val="tx1"/>
                </a:solidFill>
              </a:rPr>
              <a:t>Preparing the execution of the plan:</a:t>
            </a:r>
          </a:p>
          <a:p>
            <a:pPr marL="179388" indent="-179388" algn="just">
              <a:spcAft>
                <a:spcPts val="600"/>
              </a:spcAft>
              <a:buFont typeface="Arial" panose="020B0604020202020204" pitchFamily="34" charset="0"/>
              <a:buChar char="•"/>
            </a:pPr>
            <a:r>
              <a:rPr lang="en-US" sz="1400" noProof="0" dirty="0">
                <a:solidFill>
                  <a:schemeClr val="tx1"/>
                </a:solidFill>
              </a:rPr>
              <a:t>We are dividing the coding into two phases:</a:t>
            </a:r>
          </a:p>
          <a:p>
            <a:pPr marL="538163" lvl="1" indent="-268288" algn="just">
              <a:spcAft>
                <a:spcPts val="600"/>
              </a:spcAft>
              <a:buFont typeface="Symbol" panose="05050102010706020507" pitchFamily="18" charset="2"/>
              <a:buChar char="-"/>
            </a:pPr>
            <a:r>
              <a:rPr lang="en-US" sz="1400" noProof="0" dirty="0">
                <a:solidFill>
                  <a:schemeClr val="tx1"/>
                </a:solidFill>
              </a:rPr>
              <a:t>Phase 1: Movement on the toroidal lattice (and essential visualizations)</a:t>
            </a:r>
          </a:p>
          <a:p>
            <a:pPr marL="538163" lvl="1" indent="-268288" algn="just">
              <a:spcAft>
                <a:spcPts val="600"/>
              </a:spcAft>
              <a:buFont typeface="Symbol" panose="05050102010706020507" pitchFamily="18" charset="2"/>
              <a:buChar char="-"/>
            </a:pPr>
            <a:r>
              <a:rPr lang="en-US" sz="1400" noProof="0" dirty="0">
                <a:solidFill>
                  <a:schemeClr val="tx1"/>
                </a:solidFill>
              </a:rPr>
              <a:t>Phase2: Interaction dynamics (inter- and intra species)</a:t>
            </a:r>
          </a:p>
          <a:p>
            <a:pPr marL="179388" indent="-179388" algn="just">
              <a:spcAft>
                <a:spcPts val="600"/>
              </a:spcAft>
              <a:buFont typeface="Arial" panose="020B0604020202020204" pitchFamily="34" charset="0"/>
              <a:buChar char="•"/>
            </a:pPr>
            <a:r>
              <a:rPr lang="en-US" sz="1400" noProof="0" dirty="0">
                <a:solidFill>
                  <a:schemeClr val="tx1"/>
                </a:solidFill>
              </a:rPr>
              <a:t>We will design the code in a clear modular way (i.e., using sub-programs) to be able to check parts separately and later include additional modules</a:t>
            </a:r>
          </a:p>
          <a:p>
            <a:pPr marL="179388" indent="-179388" algn="just">
              <a:spcAft>
                <a:spcPts val="600"/>
              </a:spcAft>
              <a:buFont typeface="Arial" panose="020B0604020202020204" pitchFamily="34" charset="0"/>
              <a:buChar char="•"/>
            </a:pPr>
            <a:r>
              <a:rPr lang="en-US" sz="1400" noProof="0" dirty="0">
                <a:solidFill>
                  <a:schemeClr val="tx1"/>
                </a:solidFill>
              </a:rPr>
              <a:t>The code will be produced in Python. Please, install Thonny a simple Python Integrated Development Environment (IDE) for beginners: </a:t>
            </a:r>
            <a:r>
              <a:rPr lang="en-US" sz="1400" noProof="0" dirty="0">
                <a:solidFill>
                  <a:schemeClr val="tx1"/>
                </a:solidFill>
                <a:hlinkClick r:id="rId2"/>
              </a:rPr>
              <a:t>https://thonny.org/</a:t>
            </a:r>
            <a:endParaRPr lang="en-US" sz="1400" noProof="0" dirty="0">
              <a:solidFill>
                <a:schemeClr val="tx1"/>
              </a:solidFill>
            </a:endParaRPr>
          </a:p>
          <a:p>
            <a:pPr marL="179388" indent="-179388" algn="just">
              <a:spcAft>
                <a:spcPts val="600"/>
              </a:spcAft>
              <a:buFont typeface="Arial" panose="020B0604020202020204" pitchFamily="34" charset="0"/>
              <a:buChar char="•"/>
            </a:pPr>
            <a:r>
              <a:rPr lang="en-US" sz="1400" noProof="0" dirty="0">
                <a:solidFill>
                  <a:schemeClr val="tx1"/>
                </a:solidFill>
              </a:rPr>
              <a:t>We will make use of the </a:t>
            </a:r>
            <a:r>
              <a:rPr lang="en-US" sz="1400" noProof="0" dirty="0" err="1">
                <a:solidFill>
                  <a:schemeClr val="tx1"/>
                </a:solidFill>
              </a:rPr>
              <a:t>ChatOn</a:t>
            </a:r>
            <a:r>
              <a:rPr lang="en-US" sz="1400" noProof="0" dirty="0">
                <a:solidFill>
                  <a:schemeClr val="tx1"/>
                </a:solidFill>
              </a:rPr>
              <a:t> AI for the generation of Python code: </a:t>
            </a:r>
            <a:r>
              <a:rPr lang="en-US" sz="1400" noProof="0" dirty="0">
                <a:solidFill>
                  <a:schemeClr val="tx1"/>
                </a:solidFill>
                <a:hlinkClick r:id="rId3"/>
              </a:rPr>
              <a:t>https://chat.chaton.ai/</a:t>
            </a:r>
            <a:endParaRPr lang="en-US" sz="1400" noProof="0" dirty="0">
              <a:solidFill>
                <a:schemeClr val="tx1"/>
              </a:solidFill>
            </a:endParaRPr>
          </a:p>
          <a:p>
            <a:pPr marL="179388" indent="-179388" algn="just">
              <a:spcAft>
                <a:spcPts val="600"/>
              </a:spcAft>
              <a:buFont typeface="Arial" panose="020B0604020202020204" pitchFamily="34" charset="0"/>
              <a:buChar char="•"/>
            </a:pPr>
            <a:r>
              <a:rPr lang="en-US" sz="1400" noProof="0" dirty="0">
                <a:solidFill>
                  <a:schemeClr val="tx1"/>
                </a:solidFill>
              </a:rPr>
              <a:t>We use AI to successively build-up the code by means of several steps forward</a:t>
            </a:r>
          </a:p>
          <a:p>
            <a:pPr marL="179388" indent="-179388" algn="just">
              <a:spcAft>
                <a:spcPts val="600"/>
              </a:spcAft>
              <a:buFont typeface="Arial" panose="020B0604020202020204" pitchFamily="34" charset="0"/>
              <a:buChar char="•"/>
            </a:pPr>
            <a:r>
              <a:rPr lang="en-US" sz="1400" b="1" noProof="0" dirty="0">
                <a:solidFill>
                  <a:schemeClr val="tx1"/>
                </a:solidFill>
              </a:rPr>
              <a:t>This means that we need to put ourselves in the shoes of an architect who knows what to do and then guides the AI towards success</a:t>
            </a:r>
          </a:p>
          <a:p>
            <a:pPr algn="just">
              <a:spcAft>
                <a:spcPts val="600"/>
              </a:spcAft>
            </a:pPr>
            <a:endParaRPr lang="en-US" sz="1400" b="1" noProof="0" dirty="0">
              <a:solidFill>
                <a:schemeClr val="tx1"/>
              </a:solidFill>
            </a:endParaRPr>
          </a:p>
        </p:txBody>
      </p:sp>
    </p:spTree>
    <p:extLst>
      <p:ext uri="{BB962C8B-B14F-4D97-AF65-F5344CB8AC3E}">
        <p14:creationId xmlns:p14="http://schemas.microsoft.com/office/powerpoint/2010/main" val="910524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2EDFE0-C915-3D76-8374-BD49A27DE68F}"/>
              </a:ext>
            </a:extLst>
          </p:cNvPr>
          <p:cNvSpPr>
            <a:spLocks noGrp="1"/>
          </p:cNvSpPr>
          <p:nvPr>
            <p:ph type="title"/>
          </p:nvPr>
        </p:nvSpPr>
        <p:spPr/>
        <p:txBody>
          <a:bodyPr/>
          <a:lstStyle/>
          <a:p>
            <a:r>
              <a:rPr lang="en-US" noProof="0" dirty="0"/>
              <a:t>Implementation:</a:t>
            </a:r>
            <a:br>
              <a:rPr lang="en-US" noProof="0" dirty="0"/>
            </a:br>
            <a:r>
              <a:rPr lang="en-US" noProof="0" dirty="0"/>
              <a:t>0) Be specific when addressing AI</a:t>
            </a:r>
          </a:p>
        </p:txBody>
      </p:sp>
      <p:sp>
        <p:nvSpPr>
          <p:cNvPr id="3" name="Rechteck 2">
            <a:extLst>
              <a:ext uri="{FF2B5EF4-FFF2-40B4-BE49-F238E27FC236}">
                <a16:creationId xmlns:a16="http://schemas.microsoft.com/office/drawing/2014/main" id="{6FBFCB5F-752E-47FD-4481-15F557ED7E4A}"/>
              </a:ext>
            </a:extLst>
          </p:cNvPr>
          <p:cNvSpPr/>
          <p:nvPr/>
        </p:nvSpPr>
        <p:spPr>
          <a:xfrm>
            <a:off x="2111654" y="1779662"/>
            <a:ext cx="5340666" cy="1224136"/>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1400" noProof="0" dirty="0">
                <a:solidFill>
                  <a:schemeClr val="tx1"/>
                </a:solidFill>
              </a:rPr>
              <a:t>I'm [your role/ situation] working on [specific project/ goal].</a:t>
            </a:r>
          </a:p>
          <a:p>
            <a:pPr algn="ctr">
              <a:spcAft>
                <a:spcPts val="600"/>
              </a:spcAft>
            </a:pPr>
            <a:r>
              <a:rPr lang="en-US" sz="1400" noProof="0" dirty="0">
                <a:solidFill>
                  <a:schemeClr val="tx1"/>
                </a:solidFill>
              </a:rPr>
              <a:t>My audience/ stakeholders are [who they are and what they need].</a:t>
            </a:r>
          </a:p>
          <a:p>
            <a:pPr algn="ctr">
              <a:spcAft>
                <a:spcPts val="600"/>
              </a:spcAft>
            </a:pPr>
            <a:r>
              <a:rPr lang="en-US" sz="1400" noProof="0" dirty="0">
                <a:solidFill>
                  <a:schemeClr val="tx1"/>
                </a:solidFill>
              </a:rPr>
              <a:t>This task needs to [primary objective] while [secondary objectives].</a:t>
            </a:r>
          </a:p>
          <a:p>
            <a:pPr algn="ctr">
              <a:spcAft>
                <a:spcPts val="600"/>
              </a:spcAft>
            </a:pPr>
            <a:r>
              <a:rPr lang="en-US" sz="1400" noProof="0" dirty="0">
                <a:solidFill>
                  <a:schemeClr val="tx1"/>
                </a:solidFill>
              </a:rPr>
              <a:t>Success looks like [specific outcome description].</a:t>
            </a:r>
          </a:p>
        </p:txBody>
      </p:sp>
      <p:sp>
        <p:nvSpPr>
          <p:cNvPr id="4" name="Textfeld 3">
            <a:extLst>
              <a:ext uri="{FF2B5EF4-FFF2-40B4-BE49-F238E27FC236}">
                <a16:creationId xmlns:a16="http://schemas.microsoft.com/office/drawing/2014/main" id="{B4624431-06A6-309E-93F1-2768A621B75F}"/>
              </a:ext>
            </a:extLst>
          </p:cNvPr>
          <p:cNvSpPr txBox="1"/>
          <p:nvPr/>
        </p:nvSpPr>
        <p:spPr>
          <a:xfrm>
            <a:off x="4988477" y="839233"/>
            <a:ext cx="4155305" cy="215444"/>
          </a:xfrm>
          <a:prstGeom prst="rect">
            <a:avLst/>
          </a:prstGeom>
          <a:noFill/>
        </p:spPr>
        <p:txBody>
          <a:bodyPr wrap="none" rtlCol="0">
            <a:spAutoFit/>
          </a:bodyPr>
          <a:lstStyle/>
          <a:p>
            <a:pPr algn="r"/>
            <a:r>
              <a:rPr lang="en-US" sz="800" noProof="0" dirty="0"/>
              <a:t>https://aimaker.substack.com/p/the-10-step-system-prompt-structure-guide-anthropic-claude</a:t>
            </a:r>
          </a:p>
        </p:txBody>
      </p:sp>
      <p:sp>
        <p:nvSpPr>
          <p:cNvPr id="5" name="Textfeld 4">
            <a:extLst>
              <a:ext uri="{FF2B5EF4-FFF2-40B4-BE49-F238E27FC236}">
                <a16:creationId xmlns:a16="http://schemas.microsoft.com/office/drawing/2014/main" id="{53F62DAA-EC30-5433-D80A-6C7270DAF2D0}"/>
              </a:ext>
            </a:extLst>
          </p:cNvPr>
          <p:cNvSpPr txBox="1"/>
          <p:nvPr/>
        </p:nvSpPr>
        <p:spPr>
          <a:xfrm>
            <a:off x="251520" y="1131590"/>
            <a:ext cx="5040560" cy="523220"/>
          </a:xfrm>
          <a:prstGeom prst="rect">
            <a:avLst/>
          </a:prstGeom>
          <a:noFill/>
        </p:spPr>
        <p:txBody>
          <a:bodyPr wrap="square" rtlCol="0">
            <a:spAutoFit/>
          </a:bodyPr>
          <a:lstStyle/>
          <a:p>
            <a:r>
              <a:rPr lang="en-US" sz="1400" noProof="0" dirty="0"/>
              <a:t>Like in real-world situations when meeting a stranger, you need to be specific and outline clearly what you want:</a:t>
            </a:r>
          </a:p>
        </p:txBody>
      </p:sp>
      <p:sp>
        <p:nvSpPr>
          <p:cNvPr id="6" name="Rechteck 5">
            <a:extLst>
              <a:ext uri="{FF2B5EF4-FFF2-40B4-BE49-F238E27FC236}">
                <a16:creationId xmlns:a16="http://schemas.microsoft.com/office/drawing/2014/main" id="{9EE38686-4E8F-DBB5-A07D-07E982C0F0A9}"/>
              </a:ext>
            </a:extLst>
          </p:cNvPr>
          <p:cNvSpPr/>
          <p:nvPr/>
        </p:nvSpPr>
        <p:spPr>
          <a:xfrm>
            <a:off x="251520" y="3435846"/>
            <a:ext cx="1368104" cy="1584176"/>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000" b="1" noProof="0" dirty="0">
                <a:solidFill>
                  <a:schemeClr val="tx1"/>
                </a:solidFill>
              </a:rPr>
              <a:t>Be Clear and Concise:</a:t>
            </a:r>
          </a:p>
          <a:p>
            <a:pPr algn="ctr">
              <a:spcAft>
                <a:spcPts val="600"/>
              </a:spcAft>
            </a:pPr>
            <a:r>
              <a:rPr lang="en-US" sz="1000" noProof="0" dirty="0">
                <a:solidFill>
                  <a:schemeClr val="tx1"/>
                </a:solidFill>
              </a:rPr>
              <a:t>Define your purpose clearly before writing. Use simple, direct language and keep sentences short to ensure the message is easily understood (stick to the point).</a:t>
            </a:r>
          </a:p>
        </p:txBody>
      </p:sp>
      <p:sp>
        <p:nvSpPr>
          <p:cNvPr id="7" name="Rechteck 6">
            <a:extLst>
              <a:ext uri="{FF2B5EF4-FFF2-40B4-BE49-F238E27FC236}">
                <a16:creationId xmlns:a16="http://schemas.microsoft.com/office/drawing/2014/main" id="{16DB354D-E056-2E72-5FD3-B57E6A9084C7}"/>
              </a:ext>
            </a:extLst>
          </p:cNvPr>
          <p:cNvSpPr/>
          <p:nvPr/>
        </p:nvSpPr>
        <p:spPr>
          <a:xfrm>
            <a:off x="6069804" y="3435846"/>
            <a:ext cx="1368104" cy="1584176"/>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000" b="1" noProof="0" dirty="0">
                <a:solidFill>
                  <a:schemeClr val="tx1"/>
                </a:solidFill>
              </a:rPr>
              <a:t>Be Complete:</a:t>
            </a:r>
          </a:p>
          <a:p>
            <a:pPr algn="ctr">
              <a:spcAft>
                <a:spcPts val="600"/>
              </a:spcAft>
            </a:pPr>
            <a:r>
              <a:rPr lang="en-US" sz="1000" noProof="0" dirty="0">
                <a:solidFill>
                  <a:schemeClr val="tx1"/>
                </a:solidFill>
              </a:rPr>
              <a:t>Include all necessary information.</a:t>
            </a:r>
          </a:p>
          <a:p>
            <a:pPr algn="ctr">
              <a:spcAft>
                <a:spcPts val="600"/>
              </a:spcAft>
            </a:pPr>
            <a:r>
              <a:rPr lang="en-US" sz="1000" noProof="0" dirty="0">
                <a:solidFill>
                  <a:schemeClr val="tx1"/>
                </a:solidFill>
              </a:rPr>
              <a:t>These include also what you intend to do with the result and your criteria to accepting a result.</a:t>
            </a:r>
          </a:p>
        </p:txBody>
      </p:sp>
      <p:sp>
        <p:nvSpPr>
          <p:cNvPr id="8" name="Rechteck 7">
            <a:extLst>
              <a:ext uri="{FF2B5EF4-FFF2-40B4-BE49-F238E27FC236}">
                <a16:creationId xmlns:a16="http://schemas.microsoft.com/office/drawing/2014/main" id="{11985FEF-D45E-FEB8-A655-AEF773F0DCFF}"/>
              </a:ext>
            </a:extLst>
          </p:cNvPr>
          <p:cNvSpPr/>
          <p:nvPr/>
        </p:nvSpPr>
        <p:spPr>
          <a:xfrm>
            <a:off x="1706091" y="3435846"/>
            <a:ext cx="1368104" cy="1584176"/>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000" b="1" noProof="0" dirty="0">
                <a:solidFill>
                  <a:schemeClr val="tx1"/>
                </a:solidFill>
              </a:rPr>
              <a:t>Be Concrete and Specific:</a:t>
            </a:r>
          </a:p>
          <a:p>
            <a:pPr algn="ctr">
              <a:spcAft>
                <a:spcPts val="600"/>
              </a:spcAft>
            </a:pPr>
            <a:r>
              <a:rPr lang="en-US" sz="1000" noProof="0" dirty="0">
                <a:solidFill>
                  <a:schemeClr val="tx1"/>
                </a:solidFill>
              </a:rPr>
              <a:t>Use solid facts and data rather than vague generalizations to ensure the AI understands exactly what is meant.</a:t>
            </a:r>
          </a:p>
        </p:txBody>
      </p:sp>
      <p:sp>
        <p:nvSpPr>
          <p:cNvPr id="9" name="Rechteck 8">
            <a:extLst>
              <a:ext uri="{FF2B5EF4-FFF2-40B4-BE49-F238E27FC236}">
                <a16:creationId xmlns:a16="http://schemas.microsoft.com/office/drawing/2014/main" id="{4C2BCA3D-3910-9182-AF6E-D1F9E593B54E}"/>
              </a:ext>
            </a:extLst>
          </p:cNvPr>
          <p:cNvSpPr/>
          <p:nvPr/>
        </p:nvSpPr>
        <p:spPr>
          <a:xfrm>
            <a:off x="3160662" y="3435846"/>
            <a:ext cx="1368104" cy="1584176"/>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000" b="1" noProof="0" dirty="0">
                <a:solidFill>
                  <a:schemeClr val="tx1"/>
                </a:solidFill>
              </a:rPr>
              <a:t>Be Correct and Coherent:</a:t>
            </a:r>
          </a:p>
          <a:p>
            <a:pPr algn="ctr">
              <a:spcAft>
                <a:spcPts val="600"/>
              </a:spcAft>
            </a:pPr>
            <a:r>
              <a:rPr lang="en-US" sz="1000" noProof="0" dirty="0">
                <a:solidFill>
                  <a:schemeClr val="tx1"/>
                </a:solidFill>
              </a:rPr>
              <a:t>Use accurate information and grammar.</a:t>
            </a:r>
          </a:p>
          <a:p>
            <a:pPr algn="ctr">
              <a:spcAft>
                <a:spcPts val="600"/>
              </a:spcAft>
            </a:pPr>
            <a:r>
              <a:rPr lang="en-US" sz="1000" noProof="0" dirty="0">
                <a:solidFill>
                  <a:schemeClr val="tx1"/>
                </a:solidFill>
              </a:rPr>
              <a:t>State your sentences logically including all relevant points.</a:t>
            </a:r>
          </a:p>
        </p:txBody>
      </p:sp>
      <p:sp>
        <p:nvSpPr>
          <p:cNvPr id="10" name="Rechteck 9">
            <a:extLst>
              <a:ext uri="{FF2B5EF4-FFF2-40B4-BE49-F238E27FC236}">
                <a16:creationId xmlns:a16="http://schemas.microsoft.com/office/drawing/2014/main" id="{EFDD60AF-F0B4-CF51-31C2-2694DE46620E}"/>
              </a:ext>
            </a:extLst>
          </p:cNvPr>
          <p:cNvSpPr/>
          <p:nvPr/>
        </p:nvSpPr>
        <p:spPr>
          <a:xfrm>
            <a:off x="7524376" y="3435846"/>
            <a:ext cx="1368104" cy="1584176"/>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000" b="1" noProof="0" dirty="0">
                <a:solidFill>
                  <a:schemeClr val="tx1"/>
                </a:solidFill>
              </a:rPr>
              <a:t>Avoid Jargon and Ambiguity:</a:t>
            </a:r>
          </a:p>
          <a:p>
            <a:pPr algn="ctr">
              <a:spcAft>
                <a:spcPts val="600"/>
              </a:spcAft>
            </a:pPr>
            <a:r>
              <a:rPr lang="en-US" sz="1000" noProof="0" dirty="0">
                <a:solidFill>
                  <a:schemeClr val="tx1"/>
                </a:solidFill>
              </a:rPr>
              <a:t>Simplify complex ideas and avoid technical jargon that may confuse or lead to ambiguity in interpretation.</a:t>
            </a:r>
          </a:p>
        </p:txBody>
      </p:sp>
      <p:sp>
        <p:nvSpPr>
          <p:cNvPr id="12" name="Rechteck 11">
            <a:extLst>
              <a:ext uri="{FF2B5EF4-FFF2-40B4-BE49-F238E27FC236}">
                <a16:creationId xmlns:a16="http://schemas.microsoft.com/office/drawing/2014/main" id="{D6FEE79B-6C62-3D49-FAFC-79864A825CE6}"/>
              </a:ext>
            </a:extLst>
          </p:cNvPr>
          <p:cNvSpPr/>
          <p:nvPr/>
        </p:nvSpPr>
        <p:spPr>
          <a:xfrm>
            <a:off x="4615233" y="3435846"/>
            <a:ext cx="1368104" cy="1584176"/>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000" b="1" noProof="0" dirty="0">
                <a:solidFill>
                  <a:schemeClr val="tx1"/>
                </a:solidFill>
              </a:rPr>
              <a:t>Structure Your Message:</a:t>
            </a:r>
          </a:p>
          <a:p>
            <a:pPr algn="ctr">
              <a:spcAft>
                <a:spcPts val="600"/>
              </a:spcAft>
            </a:pPr>
            <a:r>
              <a:rPr lang="en-US" sz="1000" noProof="0" dirty="0">
                <a:solidFill>
                  <a:schemeClr val="tx1"/>
                </a:solidFill>
              </a:rPr>
              <a:t>Organize your thoughts logically.</a:t>
            </a:r>
          </a:p>
          <a:p>
            <a:pPr algn="ctr">
              <a:spcAft>
                <a:spcPts val="600"/>
              </a:spcAft>
            </a:pPr>
            <a:r>
              <a:rPr lang="en-US" sz="1000" noProof="0" dirty="0">
                <a:solidFill>
                  <a:schemeClr val="tx1"/>
                </a:solidFill>
              </a:rPr>
              <a:t>Use the TOWER approach: </a:t>
            </a:r>
            <a:r>
              <a:rPr lang="en-US" sz="1000" u="sng" noProof="0" dirty="0">
                <a:solidFill>
                  <a:schemeClr val="tx1"/>
                </a:solidFill>
              </a:rPr>
              <a:t>T</a:t>
            </a:r>
            <a:r>
              <a:rPr lang="en-US" sz="1000" noProof="0" dirty="0">
                <a:solidFill>
                  <a:schemeClr val="tx1"/>
                </a:solidFill>
              </a:rPr>
              <a:t>hink, </a:t>
            </a:r>
            <a:r>
              <a:rPr lang="en-US" sz="1000" u="sng" noProof="0" dirty="0">
                <a:solidFill>
                  <a:schemeClr val="tx1"/>
                </a:solidFill>
              </a:rPr>
              <a:t>O</a:t>
            </a:r>
            <a:r>
              <a:rPr lang="en-US" sz="1000" noProof="0" dirty="0">
                <a:solidFill>
                  <a:schemeClr val="tx1"/>
                </a:solidFill>
              </a:rPr>
              <a:t>rganize, </a:t>
            </a:r>
            <a:r>
              <a:rPr lang="en-US" sz="1000" u="sng" noProof="0" dirty="0">
                <a:solidFill>
                  <a:schemeClr val="tx1"/>
                </a:solidFill>
              </a:rPr>
              <a:t>W</a:t>
            </a:r>
            <a:r>
              <a:rPr lang="en-US" sz="1000" noProof="0" dirty="0">
                <a:solidFill>
                  <a:schemeClr val="tx1"/>
                </a:solidFill>
              </a:rPr>
              <a:t>rite, </a:t>
            </a:r>
            <a:r>
              <a:rPr lang="en-US" sz="1000" u="sng" noProof="0" dirty="0">
                <a:solidFill>
                  <a:schemeClr val="tx1"/>
                </a:solidFill>
              </a:rPr>
              <a:t>E</a:t>
            </a:r>
            <a:r>
              <a:rPr lang="en-US" sz="1000" noProof="0" dirty="0">
                <a:solidFill>
                  <a:schemeClr val="tx1"/>
                </a:solidFill>
              </a:rPr>
              <a:t>dit, and </a:t>
            </a:r>
            <a:r>
              <a:rPr lang="en-US" sz="1000" u="sng" noProof="0" dirty="0">
                <a:solidFill>
                  <a:schemeClr val="tx1"/>
                </a:solidFill>
              </a:rPr>
              <a:t>R</a:t>
            </a:r>
            <a:r>
              <a:rPr lang="en-US" sz="1000" noProof="0" dirty="0">
                <a:solidFill>
                  <a:schemeClr val="tx1"/>
                </a:solidFill>
              </a:rPr>
              <a:t>ewrite.</a:t>
            </a:r>
          </a:p>
        </p:txBody>
      </p:sp>
      <p:cxnSp>
        <p:nvCxnSpPr>
          <p:cNvPr id="14" name="Verbinder: gewinkelt 13">
            <a:extLst>
              <a:ext uri="{FF2B5EF4-FFF2-40B4-BE49-F238E27FC236}">
                <a16:creationId xmlns:a16="http://schemas.microsoft.com/office/drawing/2014/main" id="{E88AD2B1-2CDC-0BA1-D4D0-4CD079835125}"/>
              </a:ext>
            </a:extLst>
          </p:cNvPr>
          <p:cNvCxnSpPr>
            <a:cxnSpLocks/>
            <a:stCxn id="6" idx="0"/>
            <a:endCxn id="3" idx="2"/>
          </p:cNvCxnSpPr>
          <p:nvPr/>
        </p:nvCxnSpPr>
        <p:spPr>
          <a:xfrm rot="5400000" flipH="1" flipV="1">
            <a:off x="2642755" y="1296615"/>
            <a:ext cx="432048" cy="3846415"/>
          </a:xfrm>
          <a:prstGeom prst="bentConnector3">
            <a:avLst/>
          </a:prstGeom>
          <a:solidFill>
            <a:schemeClr val="tx2">
              <a:lumMod val="20000"/>
              <a:lumOff val="80000"/>
            </a:schemeClr>
          </a:solidFill>
          <a:ln>
            <a:solidFill>
              <a:schemeClr val="tx2"/>
            </a:solidFill>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cxnSp>
        <p:nvCxnSpPr>
          <p:cNvPr id="15" name="Verbinder: gewinkelt 14">
            <a:extLst>
              <a:ext uri="{FF2B5EF4-FFF2-40B4-BE49-F238E27FC236}">
                <a16:creationId xmlns:a16="http://schemas.microsoft.com/office/drawing/2014/main" id="{21D49B91-E6FB-9879-1AD4-2075C748B073}"/>
              </a:ext>
            </a:extLst>
          </p:cNvPr>
          <p:cNvCxnSpPr>
            <a:cxnSpLocks/>
            <a:stCxn id="10" idx="0"/>
            <a:endCxn id="3" idx="2"/>
          </p:cNvCxnSpPr>
          <p:nvPr/>
        </p:nvCxnSpPr>
        <p:spPr>
          <a:xfrm rot="16200000" flipV="1">
            <a:off x="6279184" y="1506601"/>
            <a:ext cx="432048" cy="3426441"/>
          </a:xfrm>
          <a:prstGeom prst="bentConnector3">
            <a:avLst>
              <a:gd name="adj1" fmla="val 50000"/>
            </a:avLst>
          </a:prstGeom>
          <a:solidFill>
            <a:schemeClr val="tx2">
              <a:lumMod val="20000"/>
              <a:lumOff val="80000"/>
            </a:schemeClr>
          </a:solidFill>
          <a:ln>
            <a:solidFill>
              <a:schemeClr val="tx2"/>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cxnSp>
        <p:nvCxnSpPr>
          <p:cNvPr id="18" name="Verbinder: gewinkelt 17">
            <a:extLst>
              <a:ext uri="{FF2B5EF4-FFF2-40B4-BE49-F238E27FC236}">
                <a16:creationId xmlns:a16="http://schemas.microsoft.com/office/drawing/2014/main" id="{A98A47A3-5D39-3FBE-A9F6-23776D37F54E}"/>
              </a:ext>
            </a:extLst>
          </p:cNvPr>
          <p:cNvCxnSpPr>
            <a:cxnSpLocks/>
            <a:stCxn id="8" idx="0"/>
            <a:endCxn id="3" idx="2"/>
          </p:cNvCxnSpPr>
          <p:nvPr/>
        </p:nvCxnSpPr>
        <p:spPr>
          <a:xfrm rot="5400000" flipH="1" flipV="1">
            <a:off x="3370041" y="2023900"/>
            <a:ext cx="432048" cy="2391844"/>
          </a:xfrm>
          <a:prstGeom prst="bentConnector3">
            <a:avLst>
              <a:gd name="adj1" fmla="val 50000"/>
            </a:avLst>
          </a:prstGeom>
          <a:solidFill>
            <a:schemeClr val="tx2">
              <a:lumMod val="20000"/>
              <a:lumOff val="80000"/>
            </a:schemeClr>
          </a:solidFill>
          <a:ln>
            <a:solidFill>
              <a:schemeClr val="tx2"/>
            </a:solidFill>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cxnSp>
        <p:nvCxnSpPr>
          <p:cNvPr id="21" name="Verbinder: gewinkelt 20">
            <a:extLst>
              <a:ext uri="{FF2B5EF4-FFF2-40B4-BE49-F238E27FC236}">
                <a16:creationId xmlns:a16="http://schemas.microsoft.com/office/drawing/2014/main" id="{CE303C64-2D82-9BC8-0810-1E73D6E60004}"/>
              </a:ext>
            </a:extLst>
          </p:cNvPr>
          <p:cNvCxnSpPr>
            <a:cxnSpLocks/>
            <a:stCxn id="9" idx="0"/>
            <a:endCxn id="3" idx="2"/>
          </p:cNvCxnSpPr>
          <p:nvPr/>
        </p:nvCxnSpPr>
        <p:spPr>
          <a:xfrm rot="5400000" flipH="1" flipV="1">
            <a:off x="4097326" y="2751186"/>
            <a:ext cx="432048" cy="937273"/>
          </a:xfrm>
          <a:prstGeom prst="bentConnector3">
            <a:avLst>
              <a:gd name="adj1" fmla="val 50000"/>
            </a:avLst>
          </a:prstGeom>
          <a:solidFill>
            <a:schemeClr val="tx2">
              <a:lumMod val="20000"/>
              <a:lumOff val="80000"/>
            </a:schemeClr>
          </a:solidFill>
          <a:ln>
            <a:solidFill>
              <a:schemeClr val="tx2"/>
            </a:solidFill>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cxnSp>
        <p:nvCxnSpPr>
          <p:cNvPr id="24" name="Verbinder: gewinkelt 23">
            <a:extLst>
              <a:ext uri="{FF2B5EF4-FFF2-40B4-BE49-F238E27FC236}">
                <a16:creationId xmlns:a16="http://schemas.microsoft.com/office/drawing/2014/main" id="{BCBBCFC6-E567-6AA6-4888-B1A5736921D7}"/>
              </a:ext>
            </a:extLst>
          </p:cNvPr>
          <p:cNvCxnSpPr>
            <a:cxnSpLocks/>
            <a:stCxn id="12" idx="0"/>
            <a:endCxn id="3" idx="2"/>
          </p:cNvCxnSpPr>
          <p:nvPr/>
        </p:nvCxnSpPr>
        <p:spPr>
          <a:xfrm rot="16200000" flipV="1">
            <a:off x="4824612" y="2961173"/>
            <a:ext cx="432048" cy="517298"/>
          </a:xfrm>
          <a:prstGeom prst="bentConnector3">
            <a:avLst>
              <a:gd name="adj1" fmla="val 50000"/>
            </a:avLst>
          </a:prstGeom>
          <a:solidFill>
            <a:schemeClr val="tx2">
              <a:lumMod val="20000"/>
              <a:lumOff val="80000"/>
            </a:schemeClr>
          </a:solidFill>
          <a:ln>
            <a:solidFill>
              <a:schemeClr val="tx2"/>
            </a:solidFill>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cxnSp>
        <p:nvCxnSpPr>
          <p:cNvPr id="27" name="Verbinder: gewinkelt 26">
            <a:extLst>
              <a:ext uri="{FF2B5EF4-FFF2-40B4-BE49-F238E27FC236}">
                <a16:creationId xmlns:a16="http://schemas.microsoft.com/office/drawing/2014/main" id="{CE255749-F666-8B28-C7D8-9DBED0E1E043}"/>
              </a:ext>
            </a:extLst>
          </p:cNvPr>
          <p:cNvCxnSpPr>
            <a:cxnSpLocks/>
            <a:stCxn id="7" idx="0"/>
            <a:endCxn id="3" idx="2"/>
          </p:cNvCxnSpPr>
          <p:nvPr/>
        </p:nvCxnSpPr>
        <p:spPr>
          <a:xfrm rot="16200000" flipV="1">
            <a:off x="5551898" y="2233887"/>
            <a:ext cx="432048" cy="1971869"/>
          </a:xfrm>
          <a:prstGeom prst="bentConnector3">
            <a:avLst>
              <a:gd name="adj1" fmla="val 50000"/>
            </a:avLst>
          </a:prstGeom>
          <a:solidFill>
            <a:schemeClr val="tx2">
              <a:lumMod val="20000"/>
              <a:lumOff val="80000"/>
            </a:schemeClr>
          </a:solidFill>
          <a:ln>
            <a:solidFill>
              <a:schemeClr val="tx2"/>
            </a:solidFill>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cxnSp>
      <p:grpSp>
        <p:nvGrpSpPr>
          <p:cNvPr id="36" name="Gruppieren 35">
            <a:extLst>
              <a:ext uri="{FF2B5EF4-FFF2-40B4-BE49-F238E27FC236}">
                <a16:creationId xmlns:a16="http://schemas.microsoft.com/office/drawing/2014/main" id="{8E39AC41-82A9-4ACA-E4BB-CBB55350BE25}"/>
              </a:ext>
            </a:extLst>
          </p:cNvPr>
          <p:cNvGrpSpPr/>
          <p:nvPr/>
        </p:nvGrpSpPr>
        <p:grpSpPr>
          <a:xfrm rot="1411379">
            <a:off x="6594459" y="1705377"/>
            <a:ext cx="1152128" cy="271126"/>
            <a:chOff x="971600" y="4532872"/>
            <a:chExt cx="1152128" cy="271126"/>
          </a:xfrm>
        </p:grpSpPr>
        <p:sp>
          <p:nvSpPr>
            <p:cNvPr id="37" name="Rechteck 36">
              <a:extLst>
                <a:ext uri="{FF2B5EF4-FFF2-40B4-BE49-F238E27FC236}">
                  <a16:creationId xmlns:a16="http://schemas.microsoft.com/office/drawing/2014/main" id="{7830FDA9-2683-F10D-5481-27409AAE663B}"/>
                </a:ext>
              </a:extLst>
            </p:cNvPr>
            <p:cNvSpPr/>
            <p:nvPr/>
          </p:nvSpPr>
          <p:spPr>
            <a:xfrm>
              <a:off x="971600" y="4532872"/>
              <a:ext cx="1152128" cy="271126"/>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Illustration</a:t>
              </a:r>
            </a:p>
          </p:txBody>
        </p:sp>
        <p:cxnSp>
          <p:nvCxnSpPr>
            <p:cNvPr id="38" name="Gerader Verbinder 37">
              <a:extLst>
                <a:ext uri="{FF2B5EF4-FFF2-40B4-BE49-F238E27FC236}">
                  <a16:creationId xmlns:a16="http://schemas.microsoft.com/office/drawing/2014/main" id="{DCCD3CA4-E560-CE9C-774B-FF16183628D1}"/>
                </a:ext>
              </a:extLst>
            </p:cNvPr>
            <p:cNvCxnSpPr>
              <a:cxnSpLocks/>
            </p:cNvCxnSpPr>
            <p:nvPr/>
          </p:nvCxnSpPr>
          <p:spPr>
            <a:xfrm>
              <a:off x="971600" y="4803998"/>
              <a:ext cx="115212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17CE746A-38A7-C9FE-CDC2-80606C7A095A}"/>
                </a:ext>
              </a:extLst>
            </p:cNvPr>
            <p:cNvCxnSpPr/>
            <p:nvPr/>
          </p:nvCxnSpPr>
          <p:spPr>
            <a:xfrm>
              <a:off x="971600" y="4532872"/>
              <a:ext cx="115212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Rechteck 10">
            <a:extLst>
              <a:ext uri="{FF2B5EF4-FFF2-40B4-BE49-F238E27FC236}">
                <a16:creationId xmlns:a16="http://schemas.microsoft.com/office/drawing/2014/main" id="{48F95C6E-E5E3-FE87-CFE7-AF040A59CFB1}"/>
              </a:ext>
            </a:extLst>
          </p:cNvPr>
          <p:cNvSpPr/>
          <p:nvPr/>
        </p:nvSpPr>
        <p:spPr>
          <a:xfrm>
            <a:off x="1691680" y="1779662"/>
            <a:ext cx="360040" cy="122413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spcAft>
                <a:spcPts val="600"/>
              </a:spcAft>
            </a:pPr>
            <a:r>
              <a:rPr lang="en-US" sz="1400" noProof="0" dirty="0">
                <a:solidFill>
                  <a:schemeClr val="bg1"/>
                </a:solidFill>
              </a:rPr>
              <a:t>Specifications</a:t>
            </a:r>
          </a:p>
        </p:txBody>
      </p:sp>
    </p:spTree>
    <p:extLst>
      <p:ext uri="{BB962C8B-B14F-4D97-AF65-F5344CB8AC3E}">
        <p14:creationId xmlns:p14="http://schemas.microsoft.com/office/powerpoint/2010/main" val="1235781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C9EAE-6A17-B19F-121A-A2D0A00C88A0}"/>
            </a:ext>
          </a:extLst>
        </p:cNvPr>
        <p:cNvGrpSpPr/>
        <p:nvPr/>
      </p:nvGrpSpPr>
      <p:grpSpPr>
        <a:xfrm>
          <a:off x="0" y="0"/>
          <a:ext cx="0" cy="0"/>
          <a:chOff x="0" y="0"/>
          <a:chExt cx="0" cy="0"/>
        </a:xfrm>
      </p:grpSpPr>
      <p:sp>
        <p:nvSpPr>
          <p:cNvPr id="4" name="Abgerundetes Rechteck 1">
            <a:extLst>
              <a:ext uri="{FF2B5EF4-FFF2-40B4-BE49-F238E27FC236}">
                <a16:creationId xmlns:a16="http://schemas.microsoft.com/office/drawing/2014/main" id="{C7A1320D-0AD3-C121-C353-B5B7CF5E578B}"/>
              </a:ext>
            </a:extLst>
          </p:cNvPr>
          <p:cNvSpPr/>
          <p:nvPr/>
        </p:nvSpPr>
        <p:spPr>
          <a:xfrm>
            <a:off x="1691680" y="2657826"/>
            <a:ext cx="432048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Abgerundetes Rechteck 1">
            <a:extLst>
              <a:ext uri="{FF2B5EF4-FFF2-40B4-BE49-F238E27FC236}">
                <a16:creationId xmlns:a16="http://schemas.microsoft.com/office/drawing/2014/main" id="{5BA006EA-822E-DE8A-EDDE-15D3D15A5D99}"/>
              </a:ext>
            </a:extLst>
          </p:cNvPr>
          <p:cNvSpPr/>
          <p:nvPr/>
        </p:nvSpPr>
        <p:spPr>
          <a:xfrm>
            <a:off x="971600" y="2124844"/>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B8520DB4-6FC0-BD53-37DF-EE8993A03118}"/>
              </a:ext>
            </a:extLst>
          </p:cNvPr>
          <p:cNvSpPr txBox="1"/>
          <p:nvPr/>
        </p:nvSpPr>
        <p:spPr>
          <a:xfrm>
            <a:off x="971600" y="1131590"/>
            <a:ext cx="4373185" cy="3570208"/>
          </a:xfrm>
          <a:prstGeom prst="rect">
            <a:avLst/>
          </a:prstGeom>
          <a:noFill/>
        </p:spPr>
        <p:txBody>
          <a:bodyPr wrap="none" rtlCol="0">
            <a:spAutoFit/>
          </a:bodyPr>
          <a:lstStyle/>
          <a:p>
            <a:r>
              <a:rPr lang="en-US" b="1" noProof="0" dirty="0"/>
              <a:t>Topics</a:t>
            </a:r>
          </a:p>
          <a:p>
            <a:endParaRPr lang="en-US" sz="1000" noProof="0" dirty="0"/>
          </a:p>
          <a:p>
            <a:pPr lvl="1"/>
            <a:r>
              <a:rPr lang="en-US" noProof="0" dirty="0"/>
              <a:t>Course Overview</a:t>
            </a:r>
          </a:p>
          <a:p>
            <a:pPr lvl="1"/>
            <a:endParaRPr lang="en-US" noProof="0" dirty="0"/>
          </a:p>
          <a:p>
            <a:pPr lvl="1"/>
            <a:r>
              <a:rPr lang="en-US" b="1" noProof="0" dirty="0"/>
              <a:t>The Water Planet </a:t>
            </a:r>
            <a:r>
              <a:rPr lang="en-US" b="1" noProof="0" dirty="0" err="1"/>
              <a:t>Wa</a:t>
            </a:r>
            <a:r>
              <a:rPr lang="en-US" b="1" noProof="0" dirty="0"/>
              <a:t>-Tor</a:t>
            </a:r>
          </a:p>
          <a:p>
            <a:pPr lvl="1"/>
            <a:endParaRPr lang="en-US" b="1" noProof="0" dirty="0"/>
          </a:p>
          <a:p>
            <a:pPr lvl="1"/>
            <a:r>
              <a:rPr lang="en-US" b="1" noProof="0" dirty="0"/>
              <a:t>	Phase 1: Movement on the Lattice</a:t>
            </a:r>
          </a:p>
          <a:p>
            <a:pPr marL="742950" lvl="1" indent="-285750">
              <a:buFont typeface="Arial" panose="020B0604020202020204" pitchFamily="34" charset="0"/>
              <a:buChar char="•"/>
            </a:pPr>
            <a:endParaRPr lang="en-US" b="1" noProof="0" dirty="0"/>
          </a:p>
          <a:p>
            <a:pPr lvl="1"/>
            <a:r>
              <a:rPr lang="en-US" noProof="0" dirty="0"/>
              <a:t>	Phase 2: Interactions</a:t>
            </a:r>
          </a:p>
          <a:p>
            <a:pPr lvl="1"/>
            <a:endParaRPr lang="en-US" noProof="0" dirty="0"/>
          </a:p>
          <a:p>
            <a:pPr lvl="1"/>
            <a:r>
              <a:rPr lang="en-US" noProof="0" dirty="0"/>
              <a:t>Verification &amp; Validation</a:t>
            </a:r>
          </a:p>
          <a:p>
            <a:pPr lvl="1"/>
            <a:endParaRPr lang="en-US" b="1" noProof="0" dirty="0"/>
          </a:p>
          <a:p>
            <a:pPr lvl="1"/>
            <a:r>
              <a:rPr lang="en-US" noProof="0" dirty="0"/>
              <a:t>Strategy Evolution on </a:t>
            </a:r>
            <a:r>
              <a:rPr lang="en-US" noProof="0" dirty="0" err="1"/>
              <a:t>Wa</a:t>
            </a:r>
            <a:r>
              <a:rPr lang="en-US" noProof="0" dirty="0"/>
              <a:t>-Tor</a:t>
            </a:r>
          </a:p>
        </p:txBody>
      </p:sp>
      <p:pic>
        <p:nvPicPr>
          <p:cNvPr id="5" name="Grafik 4">
            <a:extLst>
              <a:ext uri="{FF2B5EF4-FFF2-40B4-BE49-F238E27FC236}">
                <a16:creationId xmlns:a16="http://schemas.microsoft.com/office/drawing/2014/main" id="{3940E53A-1160-2FA3-F927-31279BBF41C8}"/>
              </a:ext>
            </a:extLst>
          </p:cNvPr>
          <p:cNvPicPr>
            <a:picLocks noChangeAspect="1"/>
          </p:cNvPicPr>
          <p:nvPr/>
        </p:nvPicPr>
        <p:blipFill>
          <a:blip r:embed="rId2"/>
          <a:srcRect l="14933" t="2326" r="14135" b="41860"/>
          <a:stretch>
            <a:fillRect/>
          </a:stretch>
        </p:blipFill>
        <p:spPr>
          <a:xfrm>
            <a:off x="6255172" y="3291830"/>
            <a:ext cx="2704958" cy="1418952"/>
          </a:xfrm>
          <a:prstGeom prst="rect">
            <a:avLst/>
          </a:prstGeom>
        </p:spPr>
      </p:pic>
      <p:sp>
        <p:nvSpPr>
          <p:cNvPr id="6" name="Textfeld 5">
            <a:extLst>
              <a:ext uri="{FF2B5EF4-FFF2-40B4-BE49-F238E27FC236}">
                <a16:creationId xmlns:a16="http://schemas.microsoft.com/office/drawing/2014/main" id="{0738222B-7272-D7CF-AB8E-9CBE2E7F1F58}"/>
              </a:ext>
            </a:extLst>
          </p:cNvPr>
          <p:cNvSpPr txBox="1"/>
          <p:nvPr/>
        </p:nvSpPr>
        <p:spPr>
          <a:xfrm>
            <a:off x="8000889" y="4681468"/>
            <a:ext cx="891591" cy="338554"/>
          </a:xfrm>
          <a:prstGeom prst="rect">
            <a:avLst/>
          </a:prstGeom>
          <a:noFill/>
        </p:spPr>
        <p:txBody>
          <a:bodyPr wrap="none" rtlCol="0">
            <a:spAutoFit/>
          </a:bodyPr>
          <a:lstStyle/>
          <a:p>
            <a:pPr algn="r"/>
            <a:r>
              <a:rPr lang="en-US" sz="800" noProof="0" dirty="0">
                <a:solidFill>
                  <a:schemeClr val="tx1">
                    <a:lumMod val="50000"/>
                    <a:lumOff val="50000"/>
                  </a:schemeClr>
                </a:solidFill>
              </a:rPr>
              <a:t>image generated</a:t>
            </a:r>
          </a:p>
          <a:p>
            <a:pPr algn="r"/>
            <a:r>
              <a:rPr lang="en-US" sz="800" noProof="0" dirty="0">
                <a:solidFill>
                  <a:schemeClr val="tx1">
                    <a:lumMod val="50000"/>
                    <a:lumOff val="50000"/>
                  </a:schemeClr>
                </a:solidFill>
              </a:rPr>
              <a:t>with ChatGPT</a:t>
            </a:r>
          </a:p>
        </p:txBody>
      </p:sp>
    </p:spTree>
    <p:extLst>
      <p:ext uri="{BB962C8B-B14F-4D97-AF65-F5344CB8AC3E}">
        <p14:creationId xmlns:p14="http://schemas.microsoft.com/office/powerpoint/2010/main" val="705536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7EEEC42-760A-5B03-2702-A22993A75C39}"/>
              </a:ext>
            </a:extLst>
          </p:cNvPr>
          <p:cNvSpPr>
            <a:spLocks noGrp="1"/>
          </p:cNvSpPr>
          <p:nvPr>
            <p:ph type="title"/>
          </p:nvPr>
        </p:nvSpPr>
        <p:spPr/>
        <p:txBody>
          <a:bodyPr/>
          <a:lstStyle/>
          <a:p>
            <a:r>
              <a:rPr lang="en-US" noProof="0" dirty="0"/>
              <a:t>For our simulation of the shark-fish dynamics on </a:t>
            </a:r>
            <a:r>
              <a:rPr lang="en-US" noProof="0" dirty="0" err="1"/>
              <a:t>Wa</a:t>
            </a:r>
            <a:r>
              <a:rPr lang="en-US" noProof="0" dirty="0"/>
              <a:t>-To let us assume a general agent-based set-up</a:t>
            </a:r>
          </a:p>
        </p:txBody>
      </p:sp>
      <p:pic>
        <p:nvPicPr>
          <p:cNvPr id="3" name="Picture 2">
            <a:extLst>
              <a:ext uri="{FF2B5EF4-FFF2-40B4-BE49-F238E27FC236}">
                <a16:creationId xmlns:a16="http://schemas.microsoft.com/office/drawing/2014/main" id="{9F171E0E-296A-C7D4-211C-D30B37096F12}"/>
              </a:ext>
            </a:extLst>
          </p:cNvPr>
          <p:cNvPicPr>
            <a:picLocks noChangeAspect="1" noChangeArrowheads="1"/>
          </p:cNvPicPr>
          <p:nvPr/>
        </p:nvPicPr>
        <p:blipFill>
          <a:blip r:embed="rId2" cstate="print"/>
          <a:srcRect/>
          <a:stretch>
            <a:fillRect/>
          </a:stretch>
        </p:blipFill>
        <p:spPr bwMode="auto">
          <a:xfrm>
            <a:off x="2492203" y="915567"/>
            <a:ext cx="6544293" cy="4104456"/>
          </a:xfrm>
          <a:prstGeom prst="rect">
            <a:avLst/>
          </a:prstGeom>
          <a:noFill/>
          <a:ln w="9525">
            <a:noFill/>
            <a:miter lim="800000"/>
            <a:headEnd/>
            <a:tailEnd/>
          </a:ln>
        </p:spPr>
      </p:pic>
      <p:sp>
        <p:nvSpPr>
          <p:cNvPr id="4" name="Rechteck 3">
            <a:extLst>
              <a:ext uri="{FF2B5EF4-FFF2-40B4-BE49-F238E27FC236}">
                <a16:creationId xmlns:a16="http://schemas.microsoft.com/office/drawing/2014/main" id="{E2F01D42-2862-E5D0-07EB-F96E8BF8D77C}"/>
              </a:ext>
            </a:extLst>
          </p:cNvPr>
          <p:cNvSpPr/>
          <p:nvPr/>
        </p:nvSpPr>
        <p:spPr>
          <a:xfrm>
            <a:off x="107504" y="915566"/>
            <a:ext cx="2232248" cy="410445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300"/>
              </a:spcAft>
            </a:pPr>
            <a:r>
              <a:rPr lang="en-US" sz="1000" noProof="0" dirty="0">
                <a:solidFill>
                  <a:schemeClr val="tx1"/>
                </a:solidFill>
              </a:rPr>
              <a:t>A system consisting of interacting individuals, each with his own characteristics (e.g., cultural values, race, resources), can be simulated using a discrete dynamical system where space, time, and the states of the system are all discrete and have the following properties:</a:t>
            </a:r>
          </a:p>
          <a:p>
            <a:pPr marL="177800" indent="-177800">
              <a:spcAft>
                <a:spcPts val="300"/>
              </a:spcAft>
              <a:buFont typeface="Arial" pitchFamily="34" charset="0"/>
              <a:buChar char="•"/>
            </a:pPr>
            <a:r>
              <a:rPr lang="en-US" sz="1000" noProof="0" dirty="0">
                <a:solidFill>
                  <a:schemeClr val="tx1"/>
                </a:solidFill>
              </a:rPr>
              <a:t>Space is represented by a regular two-dimensional toroidal lattice.</a:t>
            </a:r>
          </a:p>
          <a:p>
            <a:pPr marL="177800" indent="-177800">
              <a:spcAft>
                <a:spcPts val="300"/>
              </a:spcAft>
              <a:buFont typeface="Arial" pitchFamily="34" charset="0"/>
              <a:buChar char="•"/>
            </a:pPr>
            <a:r>
              <a:rPr lang="en-US" sz="1000" noProof="0" dirty="0">
                <a:solidFill>
                  <a:schemeClr val="tx1"/>
                </a:solidFill>
              </a:rPr>
              <a:t>Each site, or cell, in the lattice is in a given state at a given instant of time. The states of lattice sites can be integers, reals, symbols, or strings, as well as </a:t>
            </a:r>
            <a:r>
              <a:rPr lang="en-US" sz="1000" noProof="0" dirty="0" err="1">
                <a:solidFill>
                  <a:schemeClr val="tx1"/>
                </a:solidFill>
              </a:rPr>
              <a:t>tuplets</a:t>
            </a:r>
            <a:r>
              <a:rPr lang="en-US" sz="1000" noProof="0" dirty="0">
                <a:solidFill>
                  <a:schemeClr val="tx1"/>
                </a:solidFill>
              </a:rPr>
              <a:t> (lists) with elements of any type.</a:t>
            </a:r>
          </a:p>
          <a:p>
            <a:pPr marL="177800" indent="-177800">
              <a:spcAft>
                <a:spcPts val="300"/>
              </a:spcAft>
              <a:buFont typeface="Arial" pitchFamily="34" charset="0"/>
              <a:buChar char="•"/>
            </a:pPr>
            <a:r>
              <a:rPr lang="en-US" sz="1000" noProof="0" dirty="0">
                <a:solidFill>
                  <a:schemeClr val="tx1"/>
                </a:solidFill>
              </a:rPr>
              <a:t>The system evolves over a succession of time steps. The values of all of the sites in the lattice are updated synchronously in each time step.</a:t>
            </a:r>
          </a:p>
          <a:p>
            <a:pPr marL="177800" indent="-177800">
              <a:spcAft>
                <a:spcPts val="300"/>
              </a:spcAft>
              <a:buFont typeface="Arial" pitchFamily="34" charset="0"/>
              <a:buChar char="•"/>
            </a:pPr>
            <a:r>
              <a:rPr lang="en-US" sz="1000" noProof="0" dirty="0">
                <a:solidFill>
                  <a:schemeClr val="tx1"/>
                </a:solidFill>
              </a:rPr>
              <a:t>A site’s value is updated using a set of rules which takes the values of the site and other sites into account.</a:t>
            </a:r>
          </a:p>
        </p:txBody>
      </p:sp>
    </p:spTree>
    <p:extLst>
      <p:ext uri="{BB962C8B-B14F-4D97-AF65-F5344CB8AC3E}">
        <p14:creationId xmlns:p14="http://schemas.microsoft.com/office/powerpoint/2010/main" val="3927686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3F0496-ED02-3163-D30E-C9C7CFA65199}"/>
              </a:ext>
            </a:extLst>
          </p:cNvPr>
          <p:cNvSpPr>
            <a:spLocks noGrp="1"/>
          </p:cNvSpPr>
          <p:nvPr>
            <p:ph type="title"/>
          </p:nvPr>
        </p:nvSpPr>
        <p:spPr/>
        <p:txBody>
          <a:bodyPr/>
          <a:lstStyle/>
          <a:p>
            <a:r>
              <a:rPr lang="en-US" noProof="0" dirty="0"/>
              <a:t>A possible data structure for representing the agents and their movement are arrays that contain the agents’ individual attributes</a:t>
            </a:r>
          </a:p>
        </p:txBody>
      </p:sp>
      <p:sp>
        <p:nvSpPr>
          <p:cNvPr id="4" name="Rechteck 3">
            <a:extLst>
              <a:ext uri="{FF2B5EF4-FFF2-40B4-BE49-F238E27FC236}">
                <a16:creationId xmlns:a16="http://schemas.microsoft.com/office/drawing/2014/main" id="{CC67519C-8A10-F6B8-8FF2-37B1FCE2AA9D}"/>
              </a:ext>
            </a:extLst>
          </p:cNvPr>
          <p:cNvSpPr/>
          <p:nvPr/>
        </p:nvSpPr>
        <p:spPr>
          <a:xfrm>
            <a:off x="3142574" y="1131590"/>
            <a:ext cx="5749906"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500"/>
              </a:spcAft>
            </a:pPr>
            <a:r>
              <a:rPr lang="en-US" sz="1400" noProof="0" dirty="0">
                <a:solidFill>
                  <a:schemeClr val="tx1"/>
                </a:solidFill>
              </a:rPr>
              <a:t>We assume that each agent (here fish or shark) is described by a list</a:t>
            </a:r>
          </a:p>
          <a:p>
            <a:pPr algn="ctr">
              <a:spcAft>
                <a:spcPts val="500"/>
              </a:spcAft>
            </a:pPr>
            <a:r>
              <a:rPr lang="en-US" sz="1400" noProof="0" dirty="0">
                <a:solidFill>
                  <a:schemeClr val="tx1"/>
                </a:solidFill>
              </a:rPr>
              <a:t>e.g.   { x, y, type, direction, age }</a:t>
            </a:r>
          </a:p>
          <a:p>
            <a:pPr>
              <a:spcAft>
                <a:spcPts val="500"/>
              </a:spcAft>
            </a:pPr>
            <a:r>
              <a:rPr lang="en-US" sz="1400" noProof="0" dirty="0">
                <a:solidFill>
                  <a:schemeClr val="tx1"/>
                </a:solidFill>
              </a:rPr>
              <a:t>containing these quantities:</a:t>
            </a:r>
          </a:p>
          <a:p>
            <a:pPr marL="182563" indent="-182563">
              <a:spcAft>
                <a:spcPts val="500"/>
              </a:spcAft>
              <a:buFont typeface="Arial" panose="020B0604020202020204" pitchFamily="34" charset="0"/>
              <a:buChar char="•"/>
            </a:pPr>
            <a:r>
              <a:rPr lang="en-US" sz="1400" noProof="0" dirty="0">
                <a:solidFill>
                  <a:schemeClr val="tx1"/>
                </a:solidFill>
              </a:rPr>
              <a:t>the </a:t>
            </a:r>
            <a:r>
              <a:rPr lang="en-US" sz="1400" i="1" noProof="0" dirty="0">
                <a:solidFill>
                  <a:schemeClr val="tx1"/>
                </a:solidFill>
              </a:rPr>
              <a:t>x</a:t>
            </a:r>
            <a:r>
              <a:rPr lang="en-US" sz="1400" noProof="0" dirty="0">
                <a:solidFill>
                  <a:schemeClr val="tx1"/>
                </a:solidFill>
              </a:rPr>
              <a:t>- and </a:t>
            </a:r>
            <a:r>
              <a:rPr lang="en-US" sz="1400" i="1" noProof="0" dirty="0">
                <a:solidFill>
                  <a:schemeClr val="tx1"/>
                </a:solidFill>
              </a:rPr>
              <a:t>y</a:t>
            </a:r>
            <a:r>
              <a:rPr lang="en-US" sz="1400" noProof="0" dirty="0">
                <a:solidFill>
                  <a:schemeClr val="tx1"/>
                </a:solidFill>
              </a:rPr>
              <a:t>-coordinates where the agent is located on the lattice</a:t>
            </a:r>
          </a:p>
          <a:p>
            <a:pPr marL="182563" indent="-182563">
              <a:spcAft>
                <a:spcPts val="500"/>
              </a:spcAft>
              <a:buFont typeface="Arial" panose="020B0604020202020204" pitchFamily="34" charset="0"/>
              <a:buChar char="•"/>
            </a:pPr>
            <a:r>
              <a:rPr lang="en-US" sz="1400" noProof="0" dirty="0">
                <a:solidFill>
                  <a:schemeClr val="tx1"/>
                </a:solidFill>
              </a:rPr>
              <a:t>the type of agent (either 1 for fish or 2 for shark)</a:t>
            </a:r>
          </a:p>
          <a:p>
            <a:pPr marL="182563" indent="-182563">
              <a:spcAft>
                <a:spcPts val="500"/>
              </a:spcAft>
              <a:buFont typeface="Arial" panose="020B0604020202020204" pitchFamily="34" charset="0"/>
              <a:buChar char="•"/>
            </a:pPr>
            <a:r>
              <a:rPr lang="en-US" sz="1400" noProof="0" dirty="0">
                <a:solidFill>
                  <a:schemeClr val="tx1"/>
                </a:solidFill>
              </a:rPr>
              <a:t>the direction the agent is facing, indicated by 1 (north/ up), 2 (east/ right), 3 (south/ down), and 4 (west/ left)</a:t>
            </a:r>
          </a:p>
          <a:p>
            <a:pPr marL="182563">
              <a:spcAft>
                <a:spcPts val="500"/>
              </a:spcAft>
            </a:pPr>
            <a:r>
              <a:rPr lang="en-US" sz="1400" noProof="0" dirty="0">
                <a:solidFill>
                  <a:schemeClr val="tx1"/>
                </a:solidFill>
              </a:rPr>
              <a:t>the values 1, 2, 3, and 4 are initially chosen randomly with equal probability; during the time steps the agent moves one cell in the direction of the direction </a:t>
            </a:r>
          </a:p>
          <a:p>
            <a:pPr marL="182563" indent="-182563">
              <a:spcAft>
                <a:spcPts val="500"/>
              </a:spcAft>
              <a:buFont typeface="Arial" panose="020B0604020202020204" pitchFamily="34" charset="0"/>
              <a:buChar char="•"/>
            </a:pPr>
            <a:r>
              <a:rPr lang="en-US" sz="1400" noProof="0" dirty="0">
                <a:solidFill>
                  <a:schemeClr val="tx1"/>
                </a:solidFill>
              </a:rPr>
              <a:t>the age of the agent</a:t>
            </a:r>
          </a:p>
          <a:p>
            <a:pPr marL="182563">
              <a:spcAft>
                <a:spcPts val="500"/>
              </a:spcAft>
            </a:pPr>
            <a:r>
              <a:rPr lang="en-US" sz="1400" noProof="0" dirty="0">
                <a:solidFill>
                  <a:schemeClr val="tx1"/>
                </a:solidFill>
              </a:rPr>
              <a:t>this list set equal to zero at the initiation and updated by one for each time step the agent lives)</a:t>
            </a:r>
          </a:p>
          <a:p>
            <a:pPr>
              <a:spcAft>
                <a:spcPts val="500"/>
              </a:spcAft>
            </a:pPr>
            <a:r>
              <a:rPr lang="en-US" sz="1400" noProof="0" dirty="0">
                <a:solidFill>
                  <a:schemeClr val="tx1"/>
                </a:solidFill>
              </a:rPr>
              <a:t>For each time step, we run through the agent lists and perform an (asynchronous) update</a:t>
            </a:r>
          </a:p>
        </p:txBody>
      </p:sp>
      <p:grpSp>
        <p:nvGrpSpPr>
          <p:cNvPr id="3" name="Gruppieren 2">
            <a:extLst>
              <a:ext uri="{FF2B5EF4-FFF2-40B4-BE49-F238E27FC236}">
                <a16:creationId xmlns:a16="http://schemas.microsoft.com/office/drawing/2014/main" id="{A0574677-C3CF-C32C-8D6C-FDBE2486E6E5}"/>
              </a:ext>
            </a:extLst>
          </p:cNvPr>
          <p:cNvGrpSpPr/>
          <p:nvPr/>
        </p:nvGrpSpPr>
        <p:grpSpPr>
          <a:xfrm>
            <a:off x="251520" y="1131590"/>
            <a:ext cx="2592288" cy="2900065"/>
            <a:chOff x="6300192" y="1131590"/>
            <a:chExt cx="2592288" cy="2900065"/>
          </a:xfrm>
        </p:grpSpPr>
        <p:sp>
          <p:nvSpPr>
            <p:cNvPr id="27" name="Rechteck 26">
              <a:extLst>
                <a:ext uri="{FF2B5EF4-FFF2-40B4-BE49-F238E27FC236}">
                  <a16:creationId xmlns:a16="http://schemas.microsoft.com/office/drawing/2014/main" id="{2A895D56-0208-26C6-E598-C59263017288}"/>
                </a:ext>
              </a:extLst>
            </p:cNvPr>
            <p:cNvSpPr/>
            <p:nvPr/>
          </p:nvSpPr>
          <p:spPr>
            <a:xfrm>
              <a:off x="7164288" y="1995686"/>
              <a:ext cx="216024" cy="21602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8" name="Gerade Verbindung 6">
              <a:extLst>
                <a:ext uri="{FF2B5EF4-FFF2-40B4-BE49-F238E27FC236}">
                  <a16:creationId xmlns:a16="http://schemas.microsoft.com/office/drawing/2014/main" id="{17126D32-8978-404B-F29C-049A18493805}"/>
                </a:ext>
              </a:extLst>
            </p:cNvPr>
            <p:cNvCxnSpPr/>
            <p:nvPr/>
          </p:nvCxnSpPr>
          <p:spPr>
            <a:xfrm>
              <a:off x="6732240" y="1131590"/>
              <a:ext cx="0" cy="1728192"/>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9" name="Gerade Verbindung 7">
              <a:extLst>
                <a:ext uri="{FF2B5EF4-FFF2-40B4-BE49-F238E27FC236}">
                  <a16:creationId xmlns:a16="http://schemas.microsoft.com/office/drawing/2014/main" id="{16F64B82-9A58-030A-39A9-42FC3913745B}"/>
                </a:ext>
              </a:extLst>
            </p:cNvPr>
            <p:cNvCxnSpPr/>
            <p:nvPr/>
          </p:nvCxnSpPr>
          <p:spPr>
            <a:xfrm>
              <a:off x="6948264" y="1131590"/>
              <a:ext cx="0" cy="1728192"/>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0" name="Gerade Verbindung 8">
              <a:extLst>
                <a:ext uri="{FF2B5EF4-FFF2-40B4-BE49-F238E27FC236}">
                  <a16:creationId xmlns:a16="http://schemas.microsoft.com/office/drawing/2014/main" id="{22E01CD9-E36D-4D54-36AB-D63A11FF1892}"/>
                </a:ext>
              </a:extLst>
            </p:cNvPr>
            <p:cNvCxnSpPr/>
            <p:nvPr/>
          </p:nvCxnSpPr>
          <p:spPr>
            <a:xfrm>
              <a:off x="7164288" y="1131590"/>
              <a:ext cx="0" cy="1728192"/>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1" name="Gerade Verbindung 9">
              <a:extLst>
                <a:ext uri="{FF2B5EF4-FFF2-40B4-BE49-F238E27FC236}">
                  <a16:creationId xmlns:a16="http://schemas.microsoft.com/office/drawing/2014/main" id="{FA3302D9-A39B-F513-D08E-F69F513D339C}"/>
                </a:ext>
              </a:extLst>
            </p:cNvPr>
            <p:cNvCxnSpPr/>
            <p:nvPr/>
          </p:nvCxnSpPr>
          <p:spPr>
            <a:xfrm>
              <a:off x="7380312" y="1131590"/>
              <a:ext cx="0" cy="1728192"/>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2" name="Gerade Verbindung 10">
              <a:extLst>
                <a:ext uri="{FF2B5EF4-FFF2-40B4-BE49-F238E27FC236}">
                  <a16:creationId xmlns:a16="http://schemas.microsoft.com/office/drawing/2014/main" id="{C02ECBA0-83A3-6455-068B-BDD77C211873}"/>
                </a:ext>
              </a:extLst>
            </p:cNvPr>
            <p:cNvCxnSpPr/>
            <p:nvPr/>
          </p:nvCxnSpPr>
          <p:spPr>
            <a:xfrm>
              <a:off x="7596336" y="1131590"/>
              <a:ext cx="0" cy="1728192"/>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Gerade Verbindung 11">
              <a:extLst>
                <a:ext uri="{FF2B5EF4-FFF2-40B4-BE49-F238E27FC236}">
                  <a16:creationId xmlns:a16="http://schemas.microsoft.com/office/drawing/2014/main" id="{1A55B308-EF8A-0180-DE67-01CE14E282FC}"/>
                </a:ext>
              </a:extLst>
            </p:cNvPr>
            <p:cNvCxnSpPr/>
            <p:nvPr/>
          </p:nvCxnSpPr>
          <p:spPr>
            <a:xfrm>
              <a:off x="7812360" y="1131590"/>
              <a:ext cx="0" cy="1728192"/>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4" name="Gerade Verbindung 12">
              <a:extLst>
                <a:ext uri="{FF2B5EF4-FFF2-40B4-BE49-F238E27FC236}">
                  <a16:creationId xmlns:a16="http://schemas.microsoft.com/office/drawing/2014/main" id="{6FA49689-A140-B20B-2B3F-340B2067ED0E}"/>
                </a:ext>
              </a:extLst>
            </p:cNvPr>
            <p:cNvCxnSpPr/>
            <p:nvPr/>
          </p:nvCxnSpPr>
          <p:spPr>
            <a:xfrm>
              <a:off x="8028384" y="1131590"/>
              <a:ext cx="0" cy="1728192"/>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5" name="Gerade Verbindung 13">
              <a:extLst>
                <a:ext uri="{FF2B5EF4-FFF2-40B4-BE49-F238E27FC236}">
                  <a16:creationId xmlns:a16="http://schemas.microsoft.com/office/drawing/2014/main" id="{2B1AE3E3-DF87-2BD7-A429-D372E51D6C14}"/>
                </a:ext>
              </a:extLst>
            </p:cNvPr>
            <p:cNvCxnSpPr/>
            <p:nvPr/>
          </p:nvCxnSpPr>
          <p:spPr>
            <a:xfrm>
              <a:off x="8244408" y="1131590"/>
              <a:ext cx="0" cy="1728192"/>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Gerade Verbindung 14">
              <a:extLst>
                <a:ext uri="{FF2B5EF4-FFF2-40B4-BE49-F238E27FC236}">
                  <a16:creationId xmlns:a16="http://schemas.microsoft.com/office/drawing/2014/main" id="{4999E71F-9AC0-7ECA-A2A5-E149FFB30B82}"/>
                </a:ext>
              </a:extLst>
            </p:cNvPr>
            <p:cNvCxnSpPr/>
            <p:nvPr/>
          </p:nvCxnSpPr>
          <p:spPr>
            <a:xfrm>
              <a:off x="8460432" y="1131590"/>
              <a:ext cx="0" cy="1728192"/>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7" name="Gerade Verbindung 15">
              <a:extLst>
                <a:ext uri="{FF2B5EF4-FFF2-40B4-BE49-F238E27FC236}">
                  <a16:creationId xmlns:a16="http://schemas.microsoft.com/office/drawing/2014/main" id="{A6F8F068-6A02-65C9-8AEF-55B7E880014B}"/>
                </a:ext>
              </a:extLst>
            </p:cNvPr>
            <p:cNvCxnSpPr/>
            <p:nvPr/>
          </p:nvCxnSpPr>
          <p:spPr>
            <a:xfrm>
              <a:off x="8676456" y="1131590"/>
              <a:ext cx="0" cy="1728192"/>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8" name="Gerade Verbindung 16">
              <a:extLst>
                <a:ext uri="{FF2B5EF4-FFF2-40B4-BE49-F238E27FC236}">
                  <a16:creationId xmlns:a16="http://schemas.microsoft.com/office/drawing/2014/main" id="{AEDB7BBA-01B6-74FA-9714-9C676CE8950E}"/>
                </a:ext>
              </a:extLst>
            </p:cNvPr>
            <p:cNvCxnSpPr/>
            <p:nvPr/>
          </p:nvCxnSpPr>
          <p:spPr>
            <a:xfrm flipH="1">
              <a:off x="6516216" y="1347614"/>
              <a:ext cx="2376264"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Gerade Verbindung 17">
              <a:extLst>
                <a:ext uri="{FF2B5EF4-FFF2-40B4-BE49-F238E27FC236}">
                  <a16:creationId xmlns:a16="http://schemas.microsoft.com/office/drawing/2014/main" id="{BF98766C-F877-4BAA-90C6-BEE2F1C326EB}"/>
                </a:ext>
              </a:extLst>
            </p:cNvPr>
            <p:cNvCxnSpPr/>
            <p:nvPr/>
          </p:nvCxnSpPr>
          <p:spPr>
            <a:xfrm flipH="1">
              <a:off x="6516216" y="1563638"/>
              <a:ext cx="2376264"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40" name="Gerade Verbindung 18">
              <a:extLst>
                <a:ext uri="{FF2B5EF4-FFF2-40B4-BE49-F238E27FC236}">
                  <a16:creationId xmlns:a16="http://schemas.microsoft.com/office/drawing/2014/main" id="{F78C4022-4EEB-9857-0A84-A0A7E72E35E8}"/>
                </a:ext>
              </a:extLst>
            </p:cNvPr>
            <p:cNvCxnSpPr/>
            <p:nvPr/>
          </p:nvCxnSpPr>
          <p:spPr>
            <a:xfrm flipH="1">
              <a:off x="6516216" y="1779662"/>
              <a:ext cx="2376264"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Gerade Verbindung 19">
              <a:extLst>
                <a:ext uri="{FF2B5EF4-FFF2-40B4-BE49-F238E27FC236}">
                  <a16:creationId xmlns:a16="http://schemas.microsoft.com/office/drawing/2014/main" id="{93416F50-39E7-6C34-1298-6E0A4D44F049}"/>
                </a:ext>
              </a:extLst>
            </p:cNvPr>
            <p:cNvCxnSpPr/>
            <p:nvPr/>
          </p:nvCxnSpPr>
          <p:spPr>
            <a:xfrm flipH="1">
              <a:off x="6516216" y="1995686"/>
              <a:ext cx="2376264"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Gerade Verbindung 20">
              <a:extLst>
                <a:ext uri="{FF2B5EF4-FFF2-40B4-BE49-F238E27FC236}">
                  <a16:creationId xmlns:a16="http://schemas.microsoft.com/office/drawing/2014/main" id="{796128C7-52FF-03C5-99C9-2263040C3F08}"/>
                </a:ext>
              </a:extLst>
            </p:cNvPr>
            <p:cNvCxnSpPr/>
            <p:nvPr/>
          </p:nvCxnSpPr>
          <p:spPr>
            <a:xfrm flipH="1">
              <a:off x="6516216" y="2211710"/>
              <a:ext cx="2376264"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Gerade Verbindung 21">
              <a:extLst>
                <a:ext uri="{FF2B5EF4-FFF2-40B4-BE49-F238E27FC236}">
                  <a16:creationId xmlns:a16="http://schemas.microsoft.com/office/drawing/2014/main" id="{BB1391ED-471A-1289-0F9E-AFCF4FDB0E65}"/>
                </a:ext>
              </a:extLst>
            </p:cNvPr>
            <p:cNvCxnSpPr/>
            <p:nvPr/>
          </p:nvCxnSpPr>
          <p:spPr>
            <a:xfrm flipH="1">
              <a:off x="6516216" y="2427734"/>
              <a:ext cx="2376264"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44" name="Gerade Verbindung 22">
              <a:extLst>
                <a:ext uri="{FF2B5EF4-FFF2-40B4-BE49-F238E27FC236}">
                  <a16:creationId xmlns:a16="http://schemas.microsoft.com/office/drawing/2014/main" id="{7B2DBEF1-B13A-34A4-A83E-DA40AD40BF52}"/>
                </a:ext>
              </a:extLst>
            </p:cNvPr>
            <p:cNvCxnSpPr/>
            <p:nvPr/>
          </p:nvCxnSpPr>
          <p:spPr>
            <a:xfrm flipH="1">
              <a:off x="6516216" y="2643758"/>
              <a:ext cx="2376264"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Gerade Verbindung 23">
              <a:extLst>
                <a:ext uri="{FF2B5EF4-FFF2-40B4-BE49-F238E27FC236}">
                  <a16:creationId xmlns:a16="http://schemas.microsoft.com/office/drawing/2014/main" id="{ADD12793-E143-6CB5-A6A7-36B86023DA32}"/>
                </a:ext>
              </a:extLst>
            </p:cNvPr>
            <p:cNvCxnSpPr/>
            <p:nvPr/>
          </p:nvCxnSpPr>
          <p:spPr>
            <a:xfrm flipH="1">
              <a:off x="6300192" y="2094931"/>
              <a:ext cx="967242" cy="980875"/>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46" name="Gerade Verbindung 24">
              <a:extLst>
                <a:ext uri="{FF2B5EF4-FFF2-40B4-BE49-F238E27FC236}">
                  <a16:creationId xmlns:a16="http://schemas.microsoft.com/office/drawing/2014/main" id="{6CD9C7A6-45E9-739F-3254-18B0B07248F2}"/>
                </a:ext>
              </a:extLst>
            </p:cNvPr>
            <p:cNvCxnSpPr/>
            <p:nvPr/>
          </p:nvCxnSpPr>
          <p:spPr>
            <a:xfrm>
              <a:off x="6300192" y="3075806"/>
              <a:ext cx="0" cy="936104"/>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
          <p:nvSpPr>
            <p:cNvPr id="47" name="Textfeld 46">
              <a:extLst>
                <a:ext uri="{FF2B5EF4-FFF2-40B4-BE49-F238E27FC236}">
                  <a16:creationId xmlns:a16="http://schemas.microsoft.com/office/drawing/2014/main" id="{C540C7DF-0E42-B7E4-DF40-6325FF62B008}"/>
                </a:ext>
              </a:extLst>
            </p:cNvPr>
            <p:cNvSpPr txBox="1"/>
            <p:nvPr/>
          </p:nvSpPr>
          <p:spPr>
            <a:xfrm>
              <a:off x="6300192" y="3723878"/>
              <a:ext cx="2021066" cy="307777"/>
            </a:xfrm>
            <a:prstGeom prst="rect">
              <a:avLst/>
            </a:prstGeom>
            <a:noFill/>
          </p:spPr>
          <p:txBody>
            <a:bodyPr wrap="none" rtlCol="0">
              <a:spAutoFit/>
            </a:bodyPr>
            <a:lstStyle/>
            <a:p>
              <a:pPr marL="361950" indent="-361950"/>
              <a:r>
                <a:rPr lang="en-US" sz="1400" noProof="0" dirty="0"/>
                <a:t>(x, y, type, direction, age)</a:t>
              </a:r>
            </a:p>
          </p:txBody>
        </p:sp>
        <p:cxnSp>
          <p:nvCxnSpPr>
            <p:cNvPr id="48" name="Gerade Verbindung mit Pfeil 47">
              <a:extLst>
                <a:ext uri="{FF2B5EF4-FFF2-40B4-BE49-F238E27FC236}">
                  <a16:creationId xmlns:a16="http://schemas.microsoft.com/office/drawing/2014/main" id="{872C64DD-F40B-58D7-A154-BD7133559E70}"/>
                </a:ext>
              </a:extLst>
            </p:cNvPr>
            <p:cNvCxnSpPr/>
            <p:nvPr/>
          </p:nvCxnSpPr>
          <p:spPr>
            <a:xfrm>
              <a:off x="7740352" y="3435846"/>
              <a:ext cx="936104" cy="0"/>
            </a:xfrm>
            <a:prstGeom prst="straightConnector1">
              <a:avLst/>
            </a:prstGeom>
            <a:noFill/>
            <a:ln>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9" name="Gerade Verbindung 27">
              <a:extLst>
                <a:ext uri="{FF2B5EF4-FFF2-40B4-BE49-F238E27FC236}">
                  <a16:creationId xmlns:a16="http://schemas.microsoft.com/office/drawing/2014/main" id="{DD297396-CF16-D5EB-3C92-36D2132D8F9B}"/>
                </a:ext>
              </a:extLst>
            </p:cNvPr>
            <p:cNvCxnSpPr/>
            <p:nvPr/>
          </p:nvCxnSpPr>
          <p:spPr>
            <a:xfrm flipH="1">
              <a:off x="6804248" y="2787774"/>
              <a:ext cx="288032" cy="288032"/>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Gerade Verbindung 28">
              <a:extLst>
                <a:ext uri="{FF2B5EF4-FFF2-40B4-BE49-F238E27FC236}">
                  <a16:creationId xmlns:a16="http://schemas.microsoft.com/office/drawing/2014/main" id="{8C624D01-7CA8-AD49-5E62-9EC62BBC4C9C}"/>
                </a:ext>
              </a:extLst>
            </p:cNvPr>
            <p:cNvCxnSpPr/>
            <p:nvPr/>
          </p:nvCxnSpPr>
          <p:spPr>
            <a:xfrm>
              <a:off x="6804248" y="3075806"/>
              <a:ext cx="0" cy="504056"/>
            </a:xfrm>
            <a:prstGeom prst="lin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
          <p:nvSpPr>
            <p:cNvPr id="51" name="Textfeld 50">
              <a:extLst>
                <a:ext uri="{FF2B5EF4-FFF2-40B4-BE49-F238E27FC236}">
                  <a16:creationId xmlns:a16="http://schemas.microsoft.com/office/drawing/2014/main" id="{AA37F49D-9EE9-408A-C95B-90A226AE78B0}"/>
                </a:ext>
              </a:extLst>
            </p:cNvPr>
            <p:cNvSpPr txBox="1"/>
            <p:nvPr/>
          </p:nvSpPr>
          <p:spPr>
            <a:xfrm>
              <a:off x="6804248" y="3075806"/>
              <a:ext cx="2088232" cy="523220"/>
            </a:xfrm>
            <a:prstGeom prst="rect">
              <a:avLst/>
            </a:prstGeom>
            <a:noFill/>
          </p:spPr>
          <p:txBody>
            <a:bodyPr wrap="square" rtlCol="0">
              <a:spAutoFit/>
            </a:bodyPr>
            <a:lstStyle/>
            <a:p>
              <a:r>
                <a:rPr lang="en-US" sz="1400" noProof="0" dirty="0"/>
                <a:t>asynchronous</a:t>
              </a:r>
            </a:p>
            <a:p>
              <a:r>
                <a:rPr lang="en-US" sz="1400" noProof="0" dirty="0"/>
                <a:t>update </a:t>
              </a:r>
            </a:p>
          </p:txBody>
        </p:sp>
      </p:grpSp>
    </p:spTree>
    <p:extLst>
      <p:ext uri="{BB962C8B-B14F-4D97-AF65-F5344CB8AC3E}">
        <p14:creationId xmlns:p14="http://schemas.microsoft.com/office/powerpoint/2010/main" val="1776129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7969DB-D17A-5D0E-15FB-C7A98C0B3C3E}"/>
              </a:ext>
            </a:extLst>
          </p:cNvPr>
          <p:cNvSpPr>
            <a:spLocks noGrp="1"/>
          </p:cNvSpPr>
          <p:nvPr>
            <p:ph type="title"/>
          </p:nvPr>
        </p:nvSpPr>
        <p:spPr/>
        <p:txBody>
          <a:bodyPr/>
          <a:lstStyle/>
          <a:p>
            <a:r>
              <a:rPr lang="en-US" noProof="0" dirty="0"/>
              <a:t>Next, we formulate the domain and movement rules …</a:t>
            </a:r>
          </a:p>
        </p:txBody>
      </p:sp>
      <p:sp>
        <p:nvSpPr>
          <p:cNvPr id="3" name="Rechteck 2">
            <a:extLst>
              <a:ext uri="{FF2B5EF4-FFF2-40B4-BE49-F238E27FC236}">
                <a16:creationId xmlns:a16="http://schemas.microsoft.com/office/drawing/2014/main" id="{3C949081-EB0A-F175-717A-C192FC63E56E}"/>
              </a:ext>
            </a:extLst>
          </p:cNvPr>
          <p:cNvSpPr/>
          <p:nvPr/>
        </p:nvSpPr>
        <p:spPr>
          <a:xfrm rot="16200000">
            <a:off x="-1548680" y="2931790"/>
            <a:ext cx="3888432" cy="288032"/>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err="1">
                <a:solidFill>
                  <a:schemeClr val="tx1"/>
                </a:solidFill>
              </a:rPr>
              <a:t>Wa</a:t>
            </a:r>
            <a:r>
              <a:rPr lang="en-US" sz="1400" noProof="0" dirty="0">
                <a:solidFill>
                  <a:schemeClr val="tx1"/>
                </a:solidFill>
              </a:rPr>
              <a:t>-Tor Scheme</a:t>
            </a:r>
          </a:p>
        </p:txBody>
      </p:sp>
      <p:sp>
        <p:nvSpPr>
          <p:cNvPr id="4" name="Rechteck 3">
            <a:extLst>
              <a:ext uri="{FF2B5EF4-FFF2-40B4-BE49-F238E27FC236}">
                <a16:creationId xmlns:a16="http://schemas.microsoft.com/office/drawing/2014/main" id="{EACAE680-5091-5513-F4B7-DE1D271C2F61}"/>
              </a:ext>
            </a:extLst>
          </p:cNvPr>
          <p:cNvSpPr/>
          <p:nvPr/>
        </p:nvSpPr>
        <p:spPr>
          <a:xfrm>
            <a:off x="611559" y="1131590"/>
            <a:ext cx="4117257"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The Domain</a:t>
            </a:r>
          </a:p>
        </p:txBody>
      </p:sp>
      <p:sp>
        <p:nvSpPr>
          <p:cNvPr id="5" name="Rechteck 4">
            <a:extLst>
              <a:ext uri="{FF2B5EF4-FFF2-40B4-BE49-F238E27FC236}">
                <a16:creationId xmlns:a16="http://schemas.microsoft.com/office/drawing/2014/main" id="{F06717C2-F039-66B3-7D90-BC05DE57E6AC}"/>
              </a:ext>
            </a:extLst>
          </p:cNvPr>
          <p:cNvSpPr/>
          <p:nvPr/>
        </p:nvSpPr>
        <p:spPr>
          <a:xfrm>
            <a:off x="611559" y="1491630"/>
            <a:ext cx="4117257" cy="352839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000" noProof="0" dirty="0">
                <a:solidFill>
                  <a:schemeClr val="tx1"/>
                </a:solidFill>
              </a:rPr>
              <a:t>A system of interacting fish and a shark populations, each with their own characteristics is to be simulated where space, time, and the states of the system are all discrete and have the following properties:</a:t>
            </a:r>
          </a:p>
          <a:p>
            <a:pPr marL="176213" indent="-176213" algn="just">
              <a:spcAft>
                <a:spcPts val="600"/>
              </a:spcAft>
              <a:buFont typeface="Arial" pitchFamily="34" charset="0"/>
              <a:buChar char="•"/>
            </a:pPr>
            <a:r>
              <a:rPr lang="en-US" sz="1000" noProof="0" dirty="0">
                <a:solidFill>
                  <a:schemeClr val="tx1"/>
                </a:solidFill>
              </a:rPr>
              <a:t>Space is represented by a regular two-dimensional N x N toroidal lattice with cells described by (</a:t>
            </a:r>
            <a:r>
              <a:rPr lang="en-US" sz="1000" noProof="0" dirty="0" err="1">
                <a:solidFill>
                  <a:schemeClr val="tx1"/>
                </a:solidFill>
              </a:rPr>
              <a:t>i</a:t>
            </a:r>
            <a:r>
              <a:rPr lang="en-US" sz="1000" noProof="0" dirty="0">
                <a:solidFill>
                  <a:schemeClr val="tx1"/>
                </a:solidFill>
              </a:rPr>
              <a:t>, j) where </a:t>
            </a:r>
            <a:r>
              <a:rPr lang="en-US" sz="1000" noProof="0" dirty="0" err="1">
                <a:solidFill>
                  <a:schemeClr val="tx1"/>
                </a:solidFill>
              </a:rPr>
              <a:t>i</a:t>
            </a:r>
            <a:r>
              <a:rPr lang="en-US" sz="1000" noProof="0" dirty="0">
                <a:solidFill>
                  <a:schemeClr val="tx1"/>
                </a:solidFill>
              </a:rPr>
              <a:t>, j = 1, …, N (identification of lower and upper as well as right and left boundaries).</a:t>
            </a:r>
          </a:p>
          <a:p>
            <a:pPr marL="176213" indent="-176213" algn="just">
              <a:spcAft>
                <a:spcPts val="600"/>
              </a:spcAft>
              <a:buFont typeface="Arial" pitchFamily="34" charset="0"/>
              <a:buChar char="•"/>
            </a:pPr>
            <a:r>
              <a:rPr lang="en-US" sz="1000" noProof="0" dirty="0">
                <a:solidFill>
                  <a:schemeClr val="tx1"/>
                </a:solidFill>
              </a:rPr>
              <a:t>Each cell of the lattice is quadratic and has 8 direct neighbors (north/ up, east/ right, south/ down, west/ left, north-east, south-east, south-west, and north-west).</a:t>
            </a:r>
          </a:p>
          <a:p>
            <a:pPr marL="176213" indent="-176213" algn="just">
              <a:spcAft>
                <a:spcPts val="600"/>
              </a:spcAft>
              <a:buFont typeface="Arial" pitchFamily="34" charset="0"/>
              <a:buChar char="•"/>
            </a:pPr>
            <a:r>
              <a:rPr lang="en-US" sz="1000" noProof="0" dirty="0">
                <a:solidFill>
                  <a:schemeClr val="tx1"/>
                </a:solidFill>
              </a:rPr>
              <a:t>We assume that each agent (here fish or shark) is described by the  list</a:t>
            </a:r>
          </a:p>
          <a:p>
            <a:pPr marL="182563" algn="ctr">
              <a:spcAft>
                <a:spcPts val="600"/>
              </a:spcAft>
            </a:pPr>
            <a:r>
              <a:rPr lang="en-US" sz="1000" noProof="0" dirty="0">
                <a:solidFill>
                  <a:schemeClr val="tx1"/>
                </a:solidFill>
              </a:rPr>
              <a:t>{ x, y, type, direction, age }</a:t>
            </a:r>
          </a:p>
          <a:p>
            <a:pPr marL="182563" algn="just">
              <a:spcAft>
                <a:spcPts val="600"/>
              </a:spcAft>
            </a:pPr>
            <a:r>
              <a:rPr lang="en-US" sz="1000" noProof="0" dirty="0">
                <a:solidFill>
                  <a:schemeClr val="tx1"/>
                </a:solidFill>
              </a:rPr>
              <a:t>as defined previously. I.e., the lattice occupation is stored in this form.</a:t>
            </a:r>
          </a:p>
          <a:p>
            <a:pPr marL="176213" indent="-176213" algn="just">
              <a:spcAft>
                <a:spcPts val="600"/>
              </a:spcAft>
              <a:buFont typeface="Arial" pitchFamily="34" charset="0"/>
              <a:buChar char="•"/>
            </a:pPr>
            <a:r>
              <a:rPr lang="en-US" sz="1000" noProof="0" dirty="0">
                <a:solidFill>
                  <a:schemeClr val="tx1"/>
                </a:solidFill>
              </a:rPr>
              <a:t>As given in the definition of the agent list, at the beginning a number NF of fish and NS of shark is placed randomly on the lattice cells (equal probability of placement; should a cell be occupied already, then another cell is chosen randomly). </a:t>
            </a:r>
          </a:p>
          <a:p>
            <a:pPr marL="176213" indent="-176213" algn="just">
              <a:spcAft>
                <a:spcPts val="600"/>
              </a:spcAft>
              <a:buFont typeface="Arial" pitchFamily="34" charset="0"/>
              <a:buChar char="•"/>
            </a:pPr>
            <a:r>
              <a:rPr lang="en-US" sz="1000" noProof="0" dirty="0">
                <a:solidFill>
                  <a:schemeClr val="tx1"/>
                </a:solidFill>
              </a:rPr>
              <a:t>The system evolves over a succession of at most T time steps. </a:t>
            </a:r>
          </a:p>
          <a:p>
            <a:pPr marL="176213" indent="-176213" algn="just">
              <a:spcAft>
                <a:spcPts val="600"/>
              </a:spcAft>
              <a:buFont typeface="Arial" pitchFamily="34" charset="0"/>
              <a:buChar char="•"/>
            </a:pPr>
            <a:r>
              <a:rPr lang="en-US" sz="1000" noProof="0" dirty="0">
                <a:solidFill>
                  <a:schemeClr val="tx1"/>
                </a:solidFill>
              </a:rPr>
              <a:t>The values of N, T, NF, and NF are inputs for the computer program.</a:t>
            </a:r>
          </a:p>
        </p:txBody>
      </p:sp>
      <p:sp>
        <p:nvSpPr>
          <p:cNvPr id="6" name="Rechteck 5">
            <a:extLst>
              <a:ext uri="{FF2B5EF4-FFF2-40B4-BE49-F238E27FC236}">
                <a16:creationId xmlns:a16="http://schemas.microsoft.com/office/drawing/2014/main" id="{C275DA29-4D5A-3FBB-525F-8FA1C2432463}"/>
              </a:ext>
            </a:extLst>
          </p:cNvPr>
          <p:cNvSpPr/>
          <p:nvPr/>
        </p:nvSpPr>
        <p:spPr>
          <a:xfrm>
            <a:off x="4775224" y="1131590"/>
            <a:ext cx="4117257"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Movement Rules</a:t>
            </a:r>
          </a:p>
        </p:txBody>
      </p:sp>
      <p:sp>
        <p:nvSpPr>
          <p:cNvPr id="7" name="Rechteck 6">
            <a:extLst>
              <a:ext uri="{FF2B5EF4-FFF2-40B4-BE49-F238E27FC236}">
                <a16:creationId xmlns:a16="http://schemas.microsoft.com/office/drawing/2014/main" id="{995DD17E-1D52-EAD2-14F9-118120BF6546}"/>
              </a:ext>
            </a:extLst>
          </p:cNvPr>
          <p:cNvSpPr/>
          <p:nvPr/>
        </p:nvSpPr>
        <p:spPr>
          <a:xfrm>
            <a:off x="4775224" y="1491630"/>
            <a:ext cx="4117257" cy="352839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lgn="just">
              <a:spcAft>
                <a:spcPts val="400"/>
              </a:spcAft>
              <a:buFont typeface="Arial" pitchFamily="34" charset="0"/>
              <a:buChar char="•"/>
            </a:pPr>
            <a:r>
              <a:rPr lang="en-US" sz="1000" noProof="0" dirty="0">
                <a:solidFill>
                  <a:schemeClr val="tx1"/>
                </a:solidFill>
              </a:rPr>
              <a:t>At each time step both fish and shark move either 1 = north/ up, 2 = east/ right, 3 = south/ down, or 4 = west/ left as indicated by their direction variable. If the target cell under this direction is occupied then the agent moves to an unoccupied neighbor cell (north, east, south, or west) with equal probability amongst the unoccupied cells.</a:t>
            </a:r>
          </a:p>
          <a:p>
            <a:pPr marL="176213" indent="-176213" algn="just">
              <a:spcAft>
                <a:spcPts val="400"/>
              </a:spcAft>
              <a:buFont typeface="Arial" pitchFamily="34" charset="0"/>
              <a:buChar char="•"/>
            </a:pPr>
            <a:r>
              <a:rPr lang="en-US" sz="1000" noProof="0" dirty="0">
                <a:solidFill>
                  <a:schemeClr val="tx1"/>
                </a:solidFill>
              </a:rPr>
              <a:t>Fish cannot move to cells already occupied by other fish or shark. If no movement is possible the fish remains at the current cell.</a:t>
            </a:r>
          </a:p>
          <a:p>
            <a:pPr marL="176213" indent="-176213" algn="just">
              <a:spcAft>
                <a:spcPts val="400"/>
              </a:spcAft>
              <a:buFont typeface="Arial" pitchFamily="34" charset="0"/>
              <a:buChar char="•"/>
            </a:pPr>
            <a:r>
              <a:rPr lang="en-US" sz="1000" noProof="0" dirty="0">
                <a:solidFill>
                  <a:schemeClr val="tx1"/>
                </a:solidFill>
              </a:rPr>
              <a:t>Sharks cannot move to cells already occupied by another shark. If no movement is possible the shark remains at the current cell.</a:t>
            </a:r>
          </a:p>
          <a:p>
            <a:pPr marL="176213" indent="-176213" algn="just">
              <a:spcAft>
                <a:spcPts val="400"/>
              </a:spcAft>
              <a:buFont typeface="Arial" pitchFamily="34" charset="0"/>
              <a:buChar char="•"/>
            </a:pPr>
            <a:r>
              <a:rPr lang="en-US" sz="1000" noProof="0" dirty="0">
                <a:solidFill>
                  <a:schemeClr val="tx1"/>
                </a:solidFill>
              </a:rPr>
              <a:t>If a shark moves on a cell occupied by a fish a collision happens (we discuss this later). For now, we treat this case such that the shark cannot move to such a cell. If no movement is possible the shark remains at the current cell.</a:t>
            </a:r>
          </a:p>
          <a:p>
            <a:pPr marL="176213" indent="-176213" algn="just">
              <a:spcAft>
                <a:spcPts val="400"/>
              </a:spcAft>
              <a:buFont typeface="Arial" pitchFamily="34" charset="0"/>
              <a:buChar char="•"/>
            </a:pPr>
            <a:r>
              <a:rPr lang="en-US" sz="1000" noProof="0" dirty="0">
                <a:solidFill>
                  <a:schemeClr val="tx1"/>
                </a:solidFill>
              </a:rPr>
              <a:t>Note that the lattice is toroidal such that up-movement from a cell (</a:t>
            </a:r>
            <a:r>
              <a:rPr lang="en-US" sz="1000" noProof="0" dirty="0" err="1">
                <a:solidFill>
                  <a:schemeClr val="tx1"/>
                </a:solidFill>
              </a:rPr>
              <a:t>i</a:t>
            </a:r>
            <a:r>
              <a:rPr lang="en-US" sz="1000" noProof="0" dirty="0">
                <a:solidFill>
                  <a:schemeClr val="tx1"/>
                </a:solidFill>
              </a:rPr>
              <a:t>, N) leads to the cell (</a:t>
            </a:r>
            <a:r>
              <a:rPr lang="en-US" sz="1000" noProof="0" dirty="0" err="1">
                <a:solidFill>
                  <a:schemeClr val="tx1"/>
                </a:solidFill>
              </a:rPr>
              <a:t>i</a:t>
            </a:r>
            <a:r>
              <a:rPr lang="en-US" sz="1000" noProof="0" dirty="0">
                <a:solidFill>
                  <a:schemeClr val="tx1"/>
                </a:solidFill>
              </a:rPr>
              <a:t>, 1), right-movement from a cell (N, j) leads to the cell (1, j), down-movement from a cell (</a:t>
            </a:r>
            <a:r>
              <a:rPr lang="en-US" sz="1000" noProof="0" dirty="0" err="1">
                <a:solidFill>
                  <a:schemeClr val="tx1"/>
                </a:solidFill>
              </a:rPr>
              <a:t>i</a:t>
            </a:r>
            <a:r>
              <a:rPr lang="en-US" sz="1000" noProof="0" dirty="0">
                <a:solidFill>
                  <a:schemeClr val="tx1"/>
                </a:solidFill>
              </a:rPr>
              <a:t>, 1) leads to the cell (</a:t>
            </a:r>
            <a:r>
              <a:rPr lang="en-US" sz="1000" noProof="0" dirty="0" err="1">
                <a:solidFill>
                  <a:schemeClr val="tx1"/>
                </a:solidFill>
              </a:rPr>
              <a:t>i</a:t>
            </a:r>
            <a:r>
              <a:rPr lang="en-US" sz="1000" noProof="0" dirty="0">
                <a:solidFill>
                  <a:schemeClr val="tx1"/>
                </a:solidFill>
              </a:rPr>
              <a:t>, N), and left-movement of a cell (1, j) to the cell (N, j).</a:t>
            </a:r>
          </a:p>
        </p:txBody>
      </p:sp>
    </p:spTree>
    <p:extLst>
      <p:ext uri="{BB962C8B-B14F-4D97-AF65-F5344CB8AC3E}">
        <p14:creationId xmlns:p14="http://schemas.microsoft.com/office/powerpoint/2010/main" val="180874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6633FD-9FF7-9175-41A6-30DDA1122D2D}"/>
              </a:ext>
            </a:extLst>
          </p:cNvPr>
          <p:cNvSpPr>
            <a:spLocks noGrp="1"/>
          </p:cNvSpPr>
          <p:nvPr>
            <p:ph type="title"/>
          </p:nvPr>
        </p:nvSpPr>
        <p:spPr/>
        <p:txBody>
          <a:bodyPr/>
          <a:lstStyle/>
          <a:p>
            <a:r>
              <a:rPr lang="en-US" noProof="0" dirty="0"/>
              <a:t>… together with the visualization demands</a:t>
            </a:r>
          </a:p>
        </p:txBody>
      </p:sp>
      <p:sp>
        <p:nvSpPr>
          <p:cNvPr id="8" name="Rechteck 7">
            <a:extLst>
              <a:ext uri="{FF2B5EF4-FFF2-40B4-BE49-F238E27FC236}">
                <a16:creationId xmlns:a16="http://schemas.microsoft.com/office/drawing/2014/main" id="{16291E71-046E-0CF8-B3F6-1D52259DE022}"/>
              </a:ext>
            </a:extLst>
          </p:cNvPr>
          <p:cNvSpPr/>
          <p:nvPr/>
        </p:nvSpPr>
        <p:spPr>
          <a:xfrm>
            <a:off x="611560" y="1131590"/>
            <a:ext cx="4104456"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Visualization Demands</a:t>
            </a:r>
          </a:p>
        </p:txBody>
      </p:sp>
      <p:sp>
        <p:nvSpPr>
          <p:cNvPr id="9" name="Rechteck 8">
            <a:extLst>
              <a:ext uri="{FF2B5EF4-FFF2-40B4-BE49-F238E27FC236}">
                <a16:creationId xmlns:a16="http://schemas.microsoft.com/office/drawing/2014/main" id="{52B6DF7B-5818-8608-839F-68195E25E72D}"/>
              </a:ext>
            </a:extLst>
          </p:cNvPr>
          <p:cNvSpPr/>
          <p:nvPr/>
        </p:nvSpPr>
        <p:spPr>
          <a:xfrm>
            <a:off x="611560" y="1491630"/>
            <a:ext cx="4104456" cy="352839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lgn="just">
              <a:spcAft>
                <a:spcPts val="600"/>
              </a:spcAft>
              <a:buFont typeface="Arial" pitchFamily="34" charset="0"/>
              <a:buChar char="•"/>
            </a:pPr>
            <a:r>
              <a:rPr lang="en-US" sz="1000" noProof="0" dirty="0">
                <a:solidFill>
                  <a:schemeClr val="tx1"/>
                </a:solidFill>
              </a:rPr>
              <a:t>The simulations should be visualized by means of either a .mp4 movie (or animated gif) and a plot of the total number of fish and the total numbers of each of shark sub-populations over time from 0 to T (all populations in the same plot for each simulation).</a:t>
            </a:r>
          </a:p>
          <a:p>
            <a:pPr marL="176213" indent="-176213" algn="just">
              <a:spcAft>
                <a:spcPts val="600"/>
              </a:spcAft>
              <a:buFont typeface="Arial" pitchFamily="34" charset="0"/>
              <a:buChar char="•"/>
            </a:pPr>
            <a:r>
              <a:rPr lang="en-US" sz="1000" noProof="0" dirty="0">
                <a:solidFill>
                  <a:schemeClr val="tx1"/>
                </a:solidFill>
              </a:rPr>
              <a:t>The movie should show the movement of the fish and shark populations on the lattice (square, no toroidal representation needed). It would be great if here the fish and sharks are represented by little fish and shark icons.</a:t>
            </a:r>
          </a:p>
          <a:p>
            <a:pPr marL="176213" indent="-176213" algn="just">
              <a:spcAft>
                <a:spcPts val="600"/>
              </a:spcAft>
              <a:buFont typeface="Arial" pitchFamily="34" charset="0"/>
              <a:buChar char="•"/>
            </a:pPr>
            <a:r>
              <a:rPr lang="en-US" sz="1000" noProof="0" dirty="0">
                <a:solidFill>
                  <a:schemeClr val="tx1"/>
                </a:solidFill>
              </a:rPr>
              <a:t>Visualizations must be clear and provide all necessary information, like legends and labels of the coordinate axis.</a:t>
            </a:r>
          </a:p>
        </p:txBody>
      </p:sp>
      <p:sp>
        <p:nvSpPr>
          <p:cNvPr id="3" name="Rechteck 2">
            <a:extLst>
              <a:ext uri="{FF2B5EF4-FFF2-40B4-BE49-F238E27FC236}">
                <a16:creationId xmlns:a16="http://schemas.microsoft.com/office/drawing/2014/main" id="{E1578D2A-7D94-E85D-166E-06AAB7D31775}"/>
              </a:ext>
            </a:extLst>
          </p:cNvPr>
          <p:cNvSpPr/>
          <p:nvPr/>
        </p:nvSpPr>
        <p:spPr>
          <a:xfrm rot="16200000">
            <a:off x="-1548680" y="2931790"/>
            <a:ext cx="3888432" cy="288032"/>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err="1">
                <a:solidFill>
                  <a:schemeClr val="tx1"/>
                </a:solidFill>
              </a:rPr>
              <a:t>Wa</a:t>
            </a:r>
            <a:r>
              <a:rPr lang="en-US" sz="1400" noProof="0" dirty="0">
                <a:solidFill>
                  <a:schemeClr val="tx1"/>
                </a:solidFill>
              </a:rPr>
              <a:t>-Tor Scheme</a:t>
            </a:r>
          </a:p>
        </p:txBody>
      </p:sp>
      <p:sp>
        <p:nvSpPr>
          <p:cNvPr id="4" name="Rechteck 3">
            <a:extLst>
              <a:ext uri="{FF2B5EF4-FFF2-40B4-BE49-F238E27FC236}">
                <a16:creationId xmlns:a16="http://schemas.microsoft.com/office/drawing/2014/main" id="{9F41EA7C-B26D-B3E9-B3F5-27133FD76C07}"/>
              </a:ext>
            </a:extLst>
          </p:cNvPr>
          <p:cNvSpPr/>
          <p:nvPr/>
        </p:nvSpPr>
        <p:spPr>
          <a:xfrm>
            <a:off x="5292080" y="1131590"/>
            <a:ext cx="3600399" cy="158417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Remarks:</a:t>
            </a:r>
            <a:endParaRPr lang="en-US" sz="1400" noProof="0" dirty="0">
              <a:solidFill>
                <a:schemeClr val="tx1"/>
              </a:solidFill>
            </a:endParaRPr>
          </a:p>
          <a:p>
            <a:pPr marL="177800" indent="-177800">
              <a:spcAft>
                <a:spcPts val="600"/>
              </a:spcAft>
              <a:buFont typeface="Arial" panose="020B0604020202020204" pitchFamily="34" charset="0"/>
              <a:buChar char="•"/>
            </a:pPr>
            <a:r>
              <a:rPr lang="en-US" sz="1400" noProof="0" dirty="0">
                <a:solidFill>
                  <a:schemeClr val="tx1"/>
                </a:solidFill>
              </a:rPr>
              <a:t>The resulting Python code will give the initial distribution of the two populations and their movement on the grid.</a:t>
            </a:r>
          </a:p>
          <a:p>
            <a:pPr marL="177800" indent="-177800">
              <a:spcAft>
                <a:spcPts val="600"/>
              </a:spcAft>
              <a:buFont typeface="Arial" panose="020B0604020202020204" pitchFamily="34" charset="0"/>
              <a:buChar char="•"/>
            </a:pPr>
            <a:r>
              <a:rPr lang="en-US" sz="1400" noProof="0" dirty="0">
                <a:solidFill>
                  <a:schemeClr val="tx1"/>
                </a:solidFill>
              </a:rPr>
              <a:t>For now, both the fish and the shark are not interacting and are not</a:t>
            </a:r>
          </a:p>
        </p:txBody>
      </p:sp>
      <p:sp>
        <p:nvSpPr>
          <p:cNvPr id="5" name="Rechteck 4">
            <a:extLst>
              <a:ext uri="{FF2B5EF4-FFF2-40B4-BE49-F238E27FC236}">
                <a16:creationId xmlns:a16="http://schemas.microsoft.com/office/drawing/2014/main" id="{7468548F-AA2B-08D9-70EC-9D7689A1465D}"/>
              </a:ext>
            </a:extLst>
          </p:cNvPr>
          <p:cNvSpPr/>
          <p:nvPr/>
        </p:nvSpPr>
        <p:spPr>
          <a:xfrm>
            <a:off x="5292080" y="2859782"/>
            <a:ext cx="3600399" cy="2160240"/>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AI Remarks:</a:t>
            </a:r>
            <a:endParaRPr lang="en-US" sz="1400" noProof="0" dirty="0">
              <a:solidFill>
                <a:schemeClr val="tx1"/>
              </a:solidFill>
            </a:endParaRPr>
          </a:p>
          <a:p>
            <a:pPr marL="177800" indent="-177800">
              <a:spcAft>
                <a:spcPts val="600"/>
              </a:spcAft>
              <a:buFont typeface="Arial" panose="020B0604020202020204" pitchFamily="34" charset="0"/>
              <a:buChar char="•"/>
            </a:pPr>
            <a:r>
              <a:rPr lang="en-US" sz="1400" noProof="0" dirty="0">
                <a:solidFill>
                  <a:schemeClr val="tx1"/>
                </a:solidFill>
              </a:rPr>
              <a:t>Giving all this information at once seems to bee too much for AI assistant coding</a:t>
            </a:r>
          </a:p>
          <a:p>
            <a:pPr marL="177800" indent="-177800">
              <a:spcAft>
                <a:spcPts val="600"/>
              </a:spcAft>
              <a:buFont typeface="Arial" panose="020B0604020202020204" pitchFamily="34" charset="0"/>
              <a:buChar char="•"/>
            </a:pPr>
            <a:r>
              <a:rPr lang="en-US" sz="1400" noProof="0" dirty="0">
                <a:solidFill>
                  <a:schemeClr val="tx1"/>
                </a:solidFill>
              </a:rPr>
              <a:t>We need to break down and have a conversation with the AI to reach our goal</a:t>
            </a:r>
          </a:p>
          <a:p>
            <a:pPr marL="177800" indent="-177800">
              <a:spcAft>
                <a:spcPts val="600"/>
              </a:spcAft>
              <a:buFont typeface="Arial" panose="020B0604020202020204" pitchFamily="34" charset="0"/>
              <a:buChar char="•"/>
            </a:pPr>
            <a:r>
              <a:rPr lang="en-US" sz="1400" noProof="0" dirty="0">
                <a:solidFill>
                  <a:schemeClr val="tx1"/>
                </a:solidFill>
              </a:rPr>
              <a:t>At each step reflect if the generated output matches expectations, i.e., that graphical results are acceptable.</a:t>
            </a:r>
          </a:p>
        </p:txBody>
      </p:sp>
    </p:spTree>
    <p:extLst>
      <p:ext uri="{BB962C8B-B14F-4D97-AF65-F5344CB8AC3E}">
        <p14:creationId xmlns:p14="http://schemas.microsoft.com/office/powerpoint/2010/main" val="3061830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AA21F-B54B-403A-C3D6-606EB482BCF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3964B11-8679-104C-6EDC-763D5BBBDE0C}"/>
              </a:ext>
            </a:extLst>
          </p:cNvPr>
          <p:cNvSpPr>
            <a:spLocks noGrp="1"/>
          </p:cNvSpPr>
          <p:nvPr>
            <p:ph type="title"/>
          </p:nvPr>
        </p:nvSpPr>
        <p:spPr/>
        <p:txBody>
          <a:bodyPr/>
          <a:lstStyle/>
          <a:p>
            <a:r>
              <a:rPr lang="en-US" noProof="0" dirty="0"/>
              <a:t>Implementation:</a:t>
            </a:r>
            <a:br>
              <a:rPr lang="en-US" noProof="0" dirty="0"/>
            </a:br>
            <a:r>
              <a:rPr lang="en-US" noProof="0" dirty="0"/>
              <a:t>1) AI-enhanced coding of the movement only </a:t>
            </a:r>
            <a:r>
              <a:rPr lang="en-US" noProof="0" dirty="0" err="1"/>
              <a:t>Wa</a:t>
            </a:r>
            <a:r>
              <a:rPr lang="en-US" noProof="0" dirty="0"/>
              <a:t>-Tor al</a:t>
            </a:r>
          </a:p>
        </p:txBody>
      </p:sp>
      <p:sp>
        <p:nvSpPr>
          <p:cNvPr id="4" name="Rechteck 3">
            <a:extLst>
              <a:ext uri="{FF2B5EF4-FFF2-40B4-BE49-F238E27FC236}">
                <a16:creationId xmlns:a16="http://schemas.microsoft.com/office/drawing/2014/main" id="{4236DEF4-2E31-DFF6-A5BA-D293E108C234}"/>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noProof="0" dirty="0">
              <a:solidFill>
                <a:schemeClr val="tx1"/>
              </a:solidFill>
            </a:endParaRPr>
          </a:p>
        </p:txBody>
      </p:sp>
      <p:grpSp>
        <p:nvGrpSpPr>
          <p:cNvPr id="23" name="Gruppieren 22">
            <a:extLst>
              <a:ext uri="{FF2B5EF4-FFF2-40B4-BE49-F238E27FC236}">
                <a16:creationId xmlns:a16="http://schemas.microsoft.com/office/drawing/2014/main" id="{FFC64461-B878-B908-BB96-6D75A495BFD8}"/>
              </a:ext>
            </a:extLst>
          </p:cNvPr>
          <p:cNvGrpSpPr/>
          <p:nvPr/>
        </p:nvGrpSpPr>
        <p:grpSpPr>
          <a:xfrm>
            <a:off x="264220" y="1150640"/>
            <a:ext cx="1296144" cy="1296144"/>
            <a:chOff x="5258172" y="1563638"/>
            <a:chExt cx="2736304" cy="2736304"/>
          </a:xfrm>
        </p:grpSpPr>
        <p:sp>
          <p:nvSpPr>
            <p:cNvPr id="9" name="Ellipse 8">
              <a:extLst>
                <a:ext uri="{FF2B5EF4-FFF2-40B4-BE49-F238E27FC236}">
                  <a16:creationId xmlns:a16="http://schemas.microsoft.com/office/drawing/2014/main" id="{DD9D8405-BC95-B3F2-95DE-DFC130C0317F}"/>
                </a:ext>
              </a:extLst>
            </p:cNvPr>
            <p:cNvSpPr/>
            <p:nvPr/>
          </p:nvSpPr>
          <p:spPr>
            <a:xfrm>
              <a:off x="5402188" y="1707654"/>
              <a:ext cx="2592288" cy="2592288"/>
            </a:xfrm>
            <a:prstGeom prst="ellipse">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0" name="Gerade Verbindung 27">
              <a:extLst>
                <a:ext uri="{FF2B5EF4-FFF2-40B4-BE49-F238E27FC236}">
                  <a16:creationId xmlns:a16="http://schemas.microsoft.com/office/drawing/2014/main" id="{A0F9619A-CD7E-5A64-A1E2-AC28013B6DA4}"/>
                </a:ext>
              </a:extLst>
            </p:cNvPr>
            <p:cNvCxnSpPr/>
            <p:nvPr/>
          </p:nvCxnSpPr>
          <p:spPr>
            <a:xfrm>
              <a:off x="6698332" y="1563638"/>
              <a:ext cx="0" cy="1440160"/>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Gerade Verbindung 28">
              <a:extLst>
                <a:ext uri="{FF2B5EF4-FFF2-40B4-BE49-F238E27FC236}">
                  <a16:creationId xmlns:a16="http://schemas.microsoft.com/office/drawing/2014/main" id="{B9E54020-5420-0E91-527C-C0198F777940}"/>
                </a:ext>
              </a:extLst>
            </p:cNvPr>
            <p:cNvCxnSpPr/>
            <p:nvPr/>
          </p:nvCxnSpPr>
          <p:spPr>
            <a:xfrm>
              <a:off x="5258172" y="3003798"/>
              <a:ext cx="1440160" cy="0"/>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Gerade Verbindung 29">
              <a:extLst>
                <a:ext uri="{FF2B5EF4-FFF2-40B4-BE49-F238E27FC236}">
                  <a16:creationId xmlns:a16="http://schemas.microsoft.com/office/drawing/2014/main" id="{9CA29679-DAAC-3F32-92D2-1A633E33FC66}"/>
                </a:ext>
              </a:extLst>
            </p:cNvPr>
            <p:cNvCxnSpPr/>
            <p:nvPr/>
          </p:nvCxnSpPr>
          <p:spPr>
            <a:xfrm>
              <a:off x="6698332" y="3003798"/>
              <a:ext cx="1018347"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Gerade Verbindung 30">
              <a:extLst>
                <a:ext uri="{FF2B5EF4-FFF2-40B4-BE49-F238E27FC236}">
                  <a16:creationId xmlns:a16="http://schemas.microsoft.com/office/drawing/2014/main" id="{43C939DB-115E-2019-2C67-2E7992FB631A}"/>
                </a:ext>
              </a:extLst>
            </p:cNvPr>
            <p:cNvCxnSpPr/>
            <p:nvPr/>
          </p:nvCxnSpPr>
          <p:spPr>
            <a:xfrm flipH="1">
              <a:off x="5679985" y="3003798"/>
              <a:ext cx="1018347"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Gerade Verbindung 31">
              <a:extLst>
                <a:ext uri="{FF2B5EF4-FFF2-40B4-BE49-F238E27FC236}">
                  <a16:creationId xmlns:a16="http://schemas.microsoft.com/office/drawing/2014/main" id="{DECBD58C-EADD-FA90-46CF-C9CA99B3CCDB}"/>
                </a:ext>
              </a:extLst>
            </p:cNvPr>
            <p:cNvCxnSpPr/>
            <p:nvPr/>
          </p:nvCxnSpPr>
          <p:spPr>
            <a:xfrm flipV="1">
              <a:off x="6698333" y="1985451"/>
              <a:ext cx="1018346"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0" name="Ellipse 19">
              <a:extLst>
                <a:ext uri="{FF2B5EF4-FFF2-40B4-BE49-F238E27FC236}">
                  <a16:creationId xmlns:a16="http://schemas.microsoft.com/office/drawing/2014/main" id="{453DA35D-B3F1-3C21-0DC8-7684150B21C4}"/>
                </a:ext>
              </a:extLst>
            </p:cNvPr>
            <p:cNvSpPr/>
            <p:nvPr/>
          </p:nvSpPr>
          <p:spPr>
            <a:xfrm>
              <a:off x="6194276" y="2499742"/>
              <a:ext cx="1008112" cy="1008112"/>
            </a:xfrm>
            <a:prstGeom prst="ellipse">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Ellipse 20">
              <a:extLst>
                <a:ext uri="{FF2B5EF4-FFF2-40B4-BE49-F238E27FC236}">
                  <a16:creationId xmlns:a16="http://schemas.microsoft.com/office/drawing/2014/main" id="{5478AC59-A16B-3CC0-1127-221E4E3C25A2}"/>
                </a:ext>
              </a:extLst>
            </p:cNvPr>
            <p:cNvSpPr/>
            <p:nvPr/>
          </p:nvSpPr>
          <p:spPr>
            <a:xfrm>
              <a:off x="5798232" y="2103698"/>
              <a:ext cx="1800200" cy="1800200"/>
            </a:xfrm>
            <a:prstGeom prst="ellipse">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Rechteck 23">
            <a:extLst>
              <a:ext uri="{FF2B5EF4-FFF2-40B4-BE49-F238E27FC236}">
                <a16:creationId xmlns:a16="http://schemas.microsoft.com/office/drawing/2014/main" id="{439BA519-7E6E-34EB-097A-CC9057ADA018}"/>
              </a:ext>
            </a:extLst>
          </p:cNvPr>
          <p:cNvSpPr/>
          <p:nvPr/>
        </p:nvSpPr>
        <p:spPr>
          <a:xfrm>
            <a:off x="1763688" y="1487042"/>
            <a:ext cx="3060906" cy="1084707"/>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200" noProof="0" dirty="0">
                <a:solidFill>
                  <a:schemeClr val="tx1"/>
                </a:solidFill>
              </a:rPr>
              <a:t>Generate main routine and sub-routines in different files</a:t>
            </a:r>
          </a:p>
          <a:p>
            <a:pPr marL="171450" indent="-171450">
              <a:buFont typeface="Arial" panose="020B0604020202020204" pitchFamily="34" charset="0"/>
              <a:buChar char="•"/>
            </a:pPr>
            <a:r>
              <a:rPr lang="en-US" sz="1200" noProof="0" dirty="0">
                <a:solidFill>
                  <a:schemeClr val="tx1"/>
                </a:solidFill>
              </a:rPr>
              <a:t>Generate initialization sub-routine</a:t>
            </a:r>
          </a:p>
          <a:p>
            <a:pPr marL="171450" indent="-171450">
              <a:buFont typeface="Arial" panose="020B0604020202020204" pitchFamily="34" charset="0"/>
              <a:buChar char="•"/>
            </a:pPr>
            <a:r>
              <a:rPr lang="en-US" sz="1200" noProof="0" dirty="0">
                <a:solidFill>
                  <a:schemeClr val="tx1"/>
                </a:solidFill>
              </a:rPr>
              <a:t>Generate visualization of fish and shark on the lattice</a:t>
            </a:r>
          </a:p>
        </p:txBody>
      </p:sp>
      <p:sp>
        <p:nvSpPr>
          <p:cNvPr id="25" name="Rechteck: obere Ecken, eine abgerundet, eine abgeschnitten 24">
            <a:extLst>
              <a:ext uri="{FF2B5EF4-FFF2-40B4-BE49-F238E27FC236}">
                <a16:creationId xmlns:a16="http://schemas.microsoft.com/office/drawing/2014/main" id="{14379EC9-F922-48EC-22E7-2BC2FF2FA485}"/>
              </a:ext>
            </a:extLst>
          </p:cNvPr>
          <p:cNvSpPr/>
          <p:nvPr/>
        </p:nvSpPr>
        <p:spPr>
          <a:xfrm>
            <a:off x="1763688" y="1218858"/>
            <a:ext cx="756650" cy="268184"/>
          </a:xfrm>
          <a:prstGeom prst="snipRoundRect">
            <a:avLst>
              <a:gd name="adj1" fmla="val 16667"/>
              <a:gd name="adj2" fmla="val 40926"/>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Prompt</a:t>
            </a:r>
          </a:p>
        </p:txBody>
      </p:sp>
      <p:sp>
        <p:nvSpPr>
          <p:cNvPr id="26" name="Gebogener Pfeil 14">
            <a:extLst>
              <a:ext uri="{FF2B5EF4-FFF2-40B4-BE49-F238E27FC236}">
                <a16:creationId xmlns:a16="http://schemas.microsoft.com/office/drawing/2014/main" id="{AF83E2A7-7A69-5142-2AA3-B8E63E18C361}"/>
              </a:ext>
            </a:extLst>
          </p:cNvPr>
          <p:cNvSpPr/>
          <p:nvPr/>
        </p:nvSpPr>
        <p:spPr>
          <a:xfrm rot="6963906">
            <a:off x="4657689" y="1378768"/>
            <a:ext cx="1143863" cy="1143863"/>
          </a:xfrm>
          <a:prstGeom prst="circularArrow">
            <a:avLst>
              <a:gd name="adj1" fmla="val 12500"/>
              <a:gd name="adj2" fmla="val 1142319"/>
              <a:gd name="adj3" fmla="val 20457681"/>
              <a:gd name="adj4" fmla="val 7941286"/>
              <a:gd name="adj5" fmla="val 12500"/>
            </a:avLst>
          </a:prstGeom>
          <a:solidFill>
            <a:schemeClr val="accent5">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noProof="0" dirty="0">
              <a:solidFill>
                <a:schemeClr val="tx1"/>
              </a:solidFill>
            </a:endParaRPr>
          </a:p>
        </p:txBody>
      </p:sp>
      <p:sp>
        <p:nvSpPr>
          <p:cNvPr id="32" name="Rechteck 31">
            <a:extLst>
              <a:ext uri="{FF2B5EF4-FFF2-40B4-BE49-F238E27FC236}">
                <a16:creationId xmlns:a16="http://schemas.microsoft.com/office/drawing/2014/main" id="{B95E0D02-13D1-65E8-C13A-042460AABDA6}"/>
              </a:ext>
            </a:extLst>
          </p:cNvPr>
          <p:cNvSpPr/>
          <p:nvPr/>
        </p:nvSpPr>
        <p:spPr>
          <a:xfrm>
            <a:off x="6048400" y="1725291"/>
            <a:ext cx="1320378" cy="846458"/>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a:solidFill>
                  <a:schemeClr val="tx1"/>
                </a:solidFill>
              </a:rPr>
              <a:t>Refinement of the results such that expectations are matched</a:t>
            </a:r>
          </a:p>
        </p:txBody>
      </p:sp>
      <p:sp>
        <p:nvSpPr>
          <p:cNvPr id="33" name="Rechteck: obere Ecken, eine abgerundet, eine abgeschnitten 32">
            <a:extLst>
              <a:ext uri="{FF2B5EF4-FFF2-40B4-BE49-F238E27FC236}">
                <a16:creationId xmlns:a16="http://schemas.microsoft.com/office/drawing/2014/main" id="{B654F279-EEFD-A749-8D3C-E05D375AA10D}"/>
              </a:ext>
            </a:extLst>
          </p:cNvPr>
          <p:cNvSpPr/>
          <p:nvPr/>
        </p:nvSpPr>
        <p:spPr>
          <a:xfrm>
            <a:off x="6048400" y="1457106"/>
            <a:ext cx="756650" cy="268184"/>
          </a:xfrm>
          <a:prstGeom prst="snipRoundRect">
            <a:avLst>
              <a:gd name="adj1" fmla="val 16667"/>
              <a:gd name="adj2" fmla="val 40926"/>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Prompt</a:t>
            </a:r>
          </a:p>
        </p:txBody>
      </p:sp>
      <p:sp>
        <p:nvSpPr>
          <p:cNvPr id="34" name="Rechteck 33">
            <a:extLst>
              <a:ext uri="{FF2B5EF4-FFF2-40B4-BE49-F238E27FC236}">
                <a16:creationId xmlns:a16="http://schemas.microsoft.com/office/drawing/2014/main" id="{40F08EE2-DFA4-F5EA-C046-8AE4EB127AD7}"/>
              </a:ext>
            </a:extLst>
          </p:cNvPr>
          <p:cNvSpPr/>
          <p:nvPr/>
        </p:nvSpPr>
        <p:spPr>
          <a:xfrm>
            <a:off x="7488560" y="1725290"/>
            <a:ext cx="1320378" cy="846458"/>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a:solidFill>
                  <a:schemeClr val="tx1"/>
                </a:solidFill>
              </a:rPr>
              <a:t>Provision of own ideas to AI to overcome challenges</a:t>
            </a:r>
          </a:p>
        </p:txBody>
      </p:sp>
      <p:sp>
        <p:nvSpPr>
          <p:cNvPr id="35" name="Rechteck: obere Ecken, eine abgerundet, eine abgeschnitten 34">
            <a:extLst>
              <a:ext uri="{FF2B5EF4-FFF2-40B4-BE49-F238E27FC236}">
                <a16:creationId xmlns:a16="http://schemas.microsoft.com/office/drawing/2014/main" id="{71909D57-15C6-963F-EEFA-789BA825BC9F}"/>
              </a:ext>
            </a:extLst>
          </p:cNvPr>
          <p:cNvSpPr/>
          <p:nvPr/>
        </p:nvSpPr>
        <p:spPr>
          <a:xfrm>
            <a:off x="7488560" y="1457105"/>
            <a:ext cx="756650" cy="268184"/>
          </a:xfrm>
          <a:prstGeom prst="snipRoundRect">
            <a:avLst>
              <a:gd name="adj1" fmla="val 16667"/>
              <a:gd name="adj2" fmla="val 40926"/>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Prompt</a:t>
            </a:r>
          </a:p>
        </p:txBody>
      </p:sp>
      <p:sp>
        <p:nvSpPr>
          <p:cNvPr id="36" name="Rechteck 35">
            <a:extLst>
              <a:ext uri="{FF2B5EF4-FFF2-40B4-BE49-F238E27FC236}">
                <a16:creationId xmlns:a16="http://schemas.microsoft.com/office/drawing/2014/main" id="{F1CE6A11-ADC2-1466-8272-472F225DEF9A}"/>
              </a:ext>
            </a:extLst>
          </p:cNvPr>
          <p:cNvSpPr/>
          <p:nvPr/>
        </p:nvSpPr>
        <p:spPr>
          <a:xfrm>
            <a:off x="6048400" y="2987239"/>
            <a:ext cx="2772072" cy="739927"/>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a:solidFill>
                  <a:schemeClr val="tx1"/>
                </a:solidFill>
              </a:rPr>
              <a:t>Start completely new by focusing on even smaller parts of the problem and then continue to build on them </a:t>
            </a:r>
          </a:p>
        </p:txBody>
      </p:sp>
      <p:sp>
        <p:nvSpPr>
          <p:cNvPr id="37" name="Rechteck: obere Ecken, eine abgerundet, eine abgeschnitten 36">
            <a:extLst>
              <a:ext uri="{FF2B5EF4-FFF2-40B4-BE49-F238E27FC236}">
                <a16:creationId xmlns:a16="http://schemas.microsoft.com/office/drawing/2014/main" id="{78BB391A-4EF0-43F2-6A04-D33B90551DD6}"/>
              </a:ext>
            </a:extLst>
          </p:cNvPr>
          <p:cNvSpPr/>
          <p:nvPr/>
        </p:nvSpPr>
        <p:spPr>
          <a:xfrm>
            <a:off x="6048400" y="2719054"/>
            <a:ext cx="756650" cy="268184"/>
          </a:xfrm>
          <a:prstGeom prst="snipRoundRect">
            <a:avLst>
              <a:gd name="adj1" fmla="val 16667"/>
              <a:gd name="adj2" fmla="val 40926"/>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Prompt</a:t>
            </a:r>
          </a:p>
        </p:txBody>
      </p:sp>
      <p:sp>
        <p:nvSpPr>
          <p:cNvPr id="38" name="Rechteck 37">
            <a:extLst>
              <a:ext uri="{FF2B5EF4-FFF2-40B4-BE49-F238E27FC236}">
                <a16:creationId xmlns:a16="http://schemas.microsoft.com/office/drawing/2014/main" id="{875F8FE7-E0DD-A15B-2193-4F55C2D95734}"/>
              </a:ext>
            </a:extLst>
          </p:cNvPr>
          <p:cNvSpPr/>
          <p:nvPr/>
        </p:nvSpPr>
        <p:spPr>
          <a:xfrm>
            <a:off x="6048400" y="4136079"/>
            <a:ext cx="2772072" cy="739927"/>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a:solidFill>
                  <a:schemeClr val="tx1"/>
                </a:solidFill>
              </a:rPr>
              <a:t>Reuse already existing sub-routines as starting point for further developments </a:t>
            </a:r>
          </a:p>
        </p:txBody>
      </p:sp>
      <p:sp>
        <p:nvSpPr>
          <p:cNvPr id="39" name="Rechteck: obere Ecken, eine abgerundet, eine abgeschnitten 38">
            <a:extLst>
              <a:ext uri="{FF2B5EF4-FFF2-40B4-BE49-F238E27FC236}">
                <a16:creationId xmlns:a16="http://schemas.microsoft.com/office/drawing/2014/main" id="{719E2696-702B-AADC-34FC-F2E918A88DED}"/>
              </a:ext>
            </a:extLst>
          </p:cNvPr>
          <p:cNvSpPr/>
          <p:nvPr/>
        </p:nvSpPr>
        <p:spPr>
          <a:xfrm>
            <a:off x="6048400" y="3867894"/>
            <a:ext cx="756650" cy="268184"/>
          </a:xfrm>
          <a:prstGeom prst="snipRoundRect">
            <a:avLst>
              <a:gd name="adj1" fmla="val 16667"/>
              <a:gd name="adj2" fmla="val 40926"/>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Prompt</a:t>
            </a:r>
          </a:p>
        </p:txBody>
      </p:sp>
      <p:sp>
        <p:nvSpPr>
          <p:cNvPr id="42" name="Rechteck: obere Ecken, eine abgerundet, eine abgeschnitten 41">
            <a:extLst>
              <a:ext uri="{FF2B5EF4-FFF2-40B4-BE49-F238E27FC236}">
                <a16:creationId xmlns:a16="http://schemas.microsoft.com/office/drawing/2014/main" id="{5F4DD411-DB59-E6B5-EE14-18AB7F8B2B41}"/>
              </a:ext>
            </a:extLst>
          </p:cNvPr>
          <p:cNvSpPr/>
          <p:nvPr/>
        </p:nvSpPr>
        <p:spPr>
          <a:xfrm>
            <a:off x="1781161" y="3523114"/>
            <a:ext cx="756650" cy="268184"/>
          </a:xfrm>
          <a:prstGeom prst="snipRoundRect">
            <a:avLst>
              <a:gd name="adj1" fmla="val 16667"/>
              <a:gd name="adj2" fmla="val 40926"/>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Prompt</a:t>
            </a:r>
          </a:p>
        </p:txBody>
      </p:sp>
      <p:sp>
        <p:nvSpPr>
          <p:cNvPr id="43" name="Gebogener Pfeil 14">
            <a:extLst>
              <a:ext uri="{FF2B5EF4-FFF2-40B4-BE49-F238E27FC236}">
                <a16:creationId xmlns:a16="http://schemas.microsoft.com/office/drawing/2014/main" id="{B5A05D92-6A78-8F23-0D29-61F35F7F40C4}"/>
              </a:ext>
            </a:extLst>
          </p:cNvPr>
          <p:cNvSpPr/>
          <p:nvPr/>
        </p:nvSpPr>
        <p:spPr>
          <a:xfrm rot="6963906">
            <a:off x="4675162" y="3683024"/>
            <a:ext cx="1143863" cy="1143863"/>
          </a:xfrm>
          <a:prstGeom prst="circularArrow">
            <a:avLst>
              <a:gd name="adj1" fmla="val 12500"/>
              <a:gd name="adj2" fmla="val 1142319"/>
              <a:gd name="adj3" fmla="val 20457681"/>
              <a:gd name="adj4" fmla="val 7941286"/>
              <a:gd name="adj5" fmla="val 12500"/>
            </a:avLst>
          </a:prstGeom>
          <a:solidFill>
            <a:schemeClr val="accent5">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noProof="0" dirty="0">
              <a:solidFill>
                <a:schemeClr val="tx1"/>
              </a:solidFill>
            </a:endParaRPr>
          </a:p>
        </p:txBody>
      </p:sp>
      <p:sp>
        <p:nvSpPr>
          <p:cNvPr id="44" name="Rechteck 43">
            <a:extLst>
              <a:ext uri="{FF2B5EF4-FFF2-40B4-BE49-F238E27FC236}">
                <a16:creationId xmlns:a16="http://schemas.microsoft.com/office/drawing/2014/main" id="{307EE69A-E710-8093-ABDC-D70BF6232932}"/>
              </a:ext>
            </a:extLst>
          </p:cNvPr>
          <p:cNvSpPr/>
          <p:nvPr/>
        </p:nvSpPr>
        <p:spPr>
          <a:xfrm>
            <a:off x="1781161" y="3791299"/>
            <a:ext cx="3060906" cy="1084707"/>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200" noProof="0" dirty="0">
                <a:solidFill>
                  <a:schemeClr val="tx1"/>
                </a:solidFill>
              </a:rPr>
              <a:t>Update main routine and sub-routines to incorporate movement</a:t>
            </a:r>
          </a:p>
          <a:p>
            <a:pPr marL="171450" indent="-171450">
              <a:buFont typeface="Arial" panose="020B0604020202020204" pitchFamily="34" charset="0"/>
              <a:buChar char="•"/>
            </a:pPr>
            <a:r>
              <a:rPr lang="en-US" sz="1200" noProof="0" dirty="0">
                <a:solidFill>
                  <a:schemeClr val="tx1"/>
                </a:solidFill>
              </a:rPr>
              <a:t>Generate time stepping</a:t>
            </a:r>
          </a:p>
          <a:p>
            <a:pPr marL="171450" indent="-171450">
              <a:buFont typeface="Arial" panose="020B0604020202020204" pitchFamily="34" charset="0"/>
              <a:buChar char="•"/>
            </a:pPr>
            <a:r>
              <a:rPr lang="en-US" sz="1200" noProof="0" dirty="0">
                <a:solidFill>
                  <a:schemeClr val="tx1"/>
                </a:solidFill>
              </a:rPr>
              <a:t>Generate animation of fish and shark on the lattice</a:t>
            </a:r>
          </a:p>
        </p:txBody>
      </p:sp>
      <p:sp>
        <p:nvSpPr>
          <p:cNvPr id="45" name="Pfeil: nach unten 44">
            <a:extLst>
              <a:ext uri="{FF2B5EF4-FFF2-40B4-BE49-F238E27FC236}">
                <a16:creationId xmlns:a16="http://schemas.microsoft.com/office/drawing/2014/main" id="{7E226246-20C7-446E-74D7-9E5CD08AA94E}"/>
              </a:ext>
            </a:extLst>
          </p:cNvPr>
          <p:cNvSpPr/>
          <p:nvPr/>
        </p:nvSpPr>
        <p:spPr>
          <a:xfrm>
            <a:off x="1979712" y="2639170"/>
            <a:ext cx="360040" cy="816523"/>
          </a:xfrm>
          <a:prstGeom prst="downArrow">
            <a:avLst/>
          </a:prstGeom>
          <a:solidFill>
            <a:schemeClr val="accent5">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noProof="0" dirty="0">
              <a:solidFill>
                <a:schemeClr val="tx1"/>
              </a:solidFill>
            </a:endParaRPr>
          </a:p>
        </p:txBody>
      </p:sp>
      <p:grpSp>
        <p:nvGrpSpPr>
          <p:cNvPr id="3" name="Gruppieren 2">
            <a:extLst>
              <a:ext uri="{FF2B5EF4-FFF2-40B4-BE49-F238E27FC236}">
                <a16:creationId xmlns:a16="http://schemas.microsoft.com/office/drawing/2014/main" id="{FDE2EB55-56DB-9423-6724-258901333AFB}"/>
              </a:ext>
            </a:extLst>
          </p:cNvPr>
          <p:cNvGrpSpPr/>
          <p:nvPr/>
        </p:nvGrpSpPr>
        <p:grpSpPr>
          <a:xfrm>
            <a:off x="264220" y="3651870"/>
            <a:ext cx="1296144" cy="1296144"/>
            <a:chOff x="5258172" y="1563638"/>
            <a:chExt cx="2736304" cy="2736304"/>
          </a:xfrm>
        </p:grpSpPr>
        <p:sp>
          <p:nvSpPr>
            <p:cNvPr id="5" name="Freihandform 3">
              <a:extLst>
                <a:ext uri="{FF2B5EF4-FFF2-40B4-BE49-F238E27FC236}">
                  <a16:creationId xmlns:a16="http://schemas.microsoft.com/office/drawing/2014/main" id="{1FAA199C-6E08-9415-C471-B85E669ADD5D}"/>
                </a:ext>
              </a:extLst>
            </p:cNvPr>
            <p:cNvSpPr/>
            <p:nvPr/>
          </p:nvSpPr>
          <p:spPr>
            <a:xfrm>
              <a:off x="5713090" y="1964690"/>
              <a:ext cx="2066290" cy="1971040"/>
            </a:xfrm>
            <a:custGeom>
              <a:avLst/>
              <a:gdLst>
                <a:gd name="connsiteX0" fmla="*/ 95250 w 2066290"/>
                <a:gd name="connsiteY0" fmla="*/ 1037590 h 1971040"/>
                <a:gd name="connsiteX1" fmla="*/ 34290 w 2066290"/>
                <a:gd name="connsiteY1" fmla="*/ 626110 h 1971040"/>
                <a:gd name="connsiteX2" fmla="*/ 300990 w 2066290"/>
                <a:gd name="connsiteY2" fmla="*/ 222250 h 1971040"/>
                <a:gd name="connsiteX3" fmla="*/ 674370 w 2066290"/>
                <a:gd name="connsiteY3" fmla="*/ 283210 h 1971040"/>
                <a:gd name="connsiteX4" fmla="*/ 986790 w 2066290"/>
                <a:gd name="connsiteY4" fmla="*/ 351790 h 1971040"/>
                <a:gd name="connsiteX5" fmla="*/ 1261110 w 2066290"/>
                <a:gd name="connsiteY5" fmla="*/ 39370 h 1971040"/>
                <a:gd name="connsiteX6" fmla="*/ 1482090 w 2066290"/>
                <a:gd name="connsiteY6" fmla="*/ 115570 h 1971040"/>
                <a:gd name="connsiteX7" fmla="*/ 1695450 w 2066290"/>
                <a:gd name="connsiteY7" fmla="*/ 351790 h 1971040"/>
                <a:gd name="connsiteX8" fmla="*/ 2007870 w 2066290"/>
                <a:gd name="connsiteY8" fmla="*/ 443230 h 1971040"/>
                <a:gd name="connsiteX9" fmla="*/ 2023110 w 2066290"/>
                <a:gd name="connsiteY9" fmla="*/ 740410 h 1971040"/>
                <a:gd name="connsiteX10" fmla="*/ 1748790 w 2066290"/>
                <a:gd name="connsiteY10" fmla="*/ 839470 h 1971040"/>
                <a:gd name="connsiteX11" fmla="*/ 1604010 w 2066290"/>
                <a:gd name="connsiteY11" fmla="*/ 1014730 h 1971040"/>
                <a:gd name="connsiteX12" fmla="*/ 1741170 w 2066290"/>
                <a:gd name="connsiteY12" fmla="*/ 1258570 h 1971040"/>
                <a:gd name="connsiteX13" fmla="*/ 1916430 w 2066290"/>
                <a:gd name="connsiteY13" fmla="*/ 1532890 h 1971040"/>
                <a:gd name="connsiteX14" fmla="*/ 1809750 w 2066290"/>
                <a:gd name="connsiteY14" fmla="*/ 1830070 h 1971040"/>
                <a:gd name="connsiteX15" fmla="*/ 1535430 w 2066290"/>
                <a:gd name="connsiteY15" fmla="*/ 1951990 h 1971040"/>
                <a:gd name="connsiteX16" fmla="*/ 1223010 w 2066290"/>
                <a:gd name="connsiteY16" fmla="*/ 1715770 h 1971040"/>
                <a:gd name="connsiteX17" fmla="*/ 956310 w 2066290"/>
                <a:gd name="connsiteY17" fmla="*/ 1708150 h 1971040"/>
                <a:gd name="connsiteX18" fmla="*/ 826770 w 2066290"/>
                <a:gd name="connsiteY18" fmla="*/ 1784350 h 1971040"/>
                <a:gd name="connsiteX19" fmla="*/ 224790 w 2066290"/>
                <a:gd name="connsiteY19" fmla="*/ 1814830 h 1971040"/>
                <a:gd name="connsiteX20" fmla="*/ 590550 w 2066290"/>
                <a:gd name="connsiteY20" fmla="*/ 1250950 h 1971040"/>
                <a:gd name="connsiteX21" fmla="*/ 95250 w 2066290"/>
                <a:gd name="connsiteY21" fmla="*/ 1037590 h 1971040"/>
                <a:gd name="connsiteX0" fmla="*/ 95250 w 2066290"/>
                <a:gd name="connsiteY0" fmla="*/ 1037590 h 1971040"/>
                <a:gd name="connsiteX1" fmla="*/ 34290 w 2066290"/>
                <a:gd name="connsiteY1" fmla="*/ 626110 h 1971040"/>
                <a:gd name="connsiteX2" fmla="*/ 300990 w 2066290"/>
                <a:gd name="connsiteY2" fmla="*/ 222250 h 1971040"/>
                <a:gd name="connsiteX3" fmla="*/ 674370 w 2066290"/>
                <a:gd name="connsiteY3" fmla="*/ 283210 h 1971040"/>
                <a:gd name="connsiteX4" fmla="*/ 986790 w 2066290"/>
                <a:gd name="connsiteY4" fmla="*/ 351790 h 1971040"/>
                <a:gd name="connsiteX5" fmla="*/ 1261110 w 2066290"/>
                <a:gd name="connsiteY5" fmla="*/ 39370 h 1971040"/>
                <a:gd name="connsiteX6" fmla="*/ 1482090 w 2066290"/>
                <a:gd name="connsiteY6" fmla="*/ 115570 h 1971040"/>
                <a:gd name="connsiteX7" fmla="*/ 1695450 w 2066290"/>
                <a:gd name="connsiteY7" fmla="*/ 351790 h 1971040"/>
                <a:gd name="connsiteX8" fmla="*/ 2007870 w 2066290"/>
                <a:gd name="connsiteY8" fmla="*/ 443230 h 1971040"/>
                <a:gd name="connsiteX9" fmla="*/ 2023110 w 2066290"/>
                <a:gd name="connsiteY9" fmla="*/ 740410 h 1971040"/>
                <a:gd name="connsiteX10" fmla="*/ 1748790 w 2066290"/>
                <a:gd name="connsiteY10" fmla="*/ 839470 h 1971040"/>
                <a:gd name="connsiteX11" fmla="*/ 1604010 w 2066290"/>
                <a:gd name="connsiteY11" fmla="*/ 1014730 h 1971040"/>
                <a:gd name="connsiteX12" fmla="*/ 1741170 w 2066290"/>
                <a:gd name="connsiteY12" fmla="*/ 1258570 h 1971040"/>
                <a:gd name="connsiteX13" fmla="*/ 1916430 w 2066290"/>
                <a:gd name="connsiteY13" fmla="*/ 1532890 h 1971040"/>
                <a:gd name="connsiteX14" fmla="*/ 1809750 w 2066290"/>
                <a:gd name="connsiteY14" fmla="*/ 1830070 h 1971040"/>
                <a:gd name="connsiteX15" fmla="*/ 1535430 w 2066290"/>
                <a:gd name="connsiteY15" fmla="*/ 1951990 h 1971040"/>
                <a:gd name="connsiteX16" fmla="*/ 1223010 w 2066290"/>
                <a:gd name="connsiteY16" fmla="*/ 1715770 h 1971040"/>
                <a:gd name="connsiteX17" fmla="*/ 826770 w 2066290"/>
                <a:gd name="connsiteY17" fmla="*/ 1784350 h 1971040"/>
                <a:gd name="connsiteX18" fmla="*/ 224790 w 2066290"/>
                <a:gd name="connsiteY18" fmla="*/ 1814830 h 1971040"/>
                <a:gd name="connsiteX19" fmla="*/ 590550 w 2066290"/>
                <a:gd name="connsiteY19" fmla="*/ 1250950 h 1971040"/>
                <a:gd name="connsiteX20" fmla="*/ 95250 w 2066290"/>
                <a:gd name="connsiteY20" fmla="*/ 1037590 h 197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66290" h="1971040">
                  <a:moveTo>
                    <a:pt x="95250" y="1037590"/>
                  </a:moveTo>
                  <a:cubicBezTo>
                    <a:pt x="2540" y="933450"/>
                    <a:pt x="0" y="762000"/>
                    <a:pt x="34290" y="626110"/>
                  </a:cubicBezTo>
                  <a:cubicBezTo>
                    <a:pt x="68580" y="490220"/>
                    <a:pt x="194310" y="279400"/>
                    <a:pt x="300990" y="222250"/>
                  </a:cubicBezTo>
                  <a:cubicBezTo>
                    <a:pt x="407670" y="165100"/>
                    <a:pt x="560070" y="261620"/>
                    <a:pt x="674370" y="283210"/>
                  </a:cubicBezTo>
                  <a:cubicBezTo>
                    <a:pt x="788670" y="304800"/>
                    <a:pt x="889000" y="392430"/>
                    <a:pt x="986790" y="351790"/>
                  </a:cubicBezTo>
                  <a:cubicBezTo>
                    <a:pt x="1084580" y="311150"/>
                    <a:pt x="1178560" y="78740"/>
                    <a:pt x="1261110" y="39370"/>
                  </a:cubicBezTo>
                  <a:cubicBezTo>
                    <a:pt x="1343660" y="0"/>
                    <a:pt x="1409700" y="63500"/>
                    <a:pt x="1482090" y="115570"/>
                  </a:cubicBezTo>
                  <a:cubicBezTo>
                    <a:pt x="1554480" y="167640"/>
                    <a:pt x="1607820" y="297180"/>
                    <a:pt x="1695450" y="351790"/>
                  </a:cubicBezTo>
                  <a:cubicBezTo>
                    <a:pt x="1783080" y="406400"/>
                    <a:pt x="1953260" y="378460"/>
                    <a:pt x="2007870" y="443230"/>
                  </a:cubicBezTo>
                  <a:cubicBezTo>
                    <a:pt x="2062480" y="508000"/>
                    <a:pt x="2066290" y="674370"/>
                    <a:pt x="2023110" y="740410"/>
                  </a:cubicBezTo>
                  <a:cubicBezTo>
                    <a:pt x="1979930" y="806450"/>
                    <a:pt x="1818640" y="793750"/>
                    <a:pt x="1748790" y="839470"/>
                  </a:cubicBezTo>
                  <a:cubicBezTo>
                    <a:pt x="1678940" y="885190"/>
                    <a:pt x="1605280" y="944880"/>
                    <a:pt x="1604010" y="1014730"/>
                  </a:cubicBezTo>
                  <a:cubicBezTo>
                    <a:pt x="1602740" y="1084580"/>
                    <a:pt x="1689100" y="1172210"/>
                    <a:pt x="1741170" y="1258570"/>
                  </a:cubicBezTo>
                  <a:cubicBezTo>
                    <a:pt x="1793240" y="1344930"/>
                    <a:pt x="1905000" y="1437640"/>
                    <a:pt x="1916430" y="1532890"/>
                  </a:cubicBezTo>
                  <a:cubicBezTo>
                    <a:pt x="1927860" y="1628140"/>
                    <a:pt x="1873250" y="1760220"/>
                    <a:pt x="1809750" y="1830070"/>
                  </a:cubicBezTo>
                  <a:cubicBezTo>
                    <a:pt x="1746250" y="1899920"/>
                    <a:pt x="1633220" y="1971040"/>
                    <a:pt x="1535430" y="1951990"/>
                  </a:cubicBezTo>
                  <a:cubicBezTo>
                    <a:pt x="1437640" y="1932940"/>
                    <a:pt x="1341120" y="1743710"/>
                    <a:pt x="1223010" y="1715770"/>
                  </a:cubicBezTo>
                  <a:cubicBezTo>
                    <a:pt x="1104900" y="1687830"/>
                    <a:pt x="993140" y="1767840"/>
                    <a:pt x="826770" y="1784350"/>
                  </a:cubicBezTo>
                  <a:cubicBezTo>
                    <a:pt x="660400" y="1800860"/>
                    <a:pt x="264160" y="1903730"/>
                    <a:pt x="224790" y="1814830"/>
                  </a:cubicBezTo>
                  <a:cubicBezTo>
                    <a:pt x="185420" y="1725930"/>
                    <a:pt x="610870" y="1380490"/>
                    <a:pt x="590550" y="1250950"/>
                  </a:cubicBezTo>
                  <a:cubicBezTo>
                    <a:pt x="570230" y="1121410"/>
                    <a:pt x="187960" y="1141730"/>
                    <a:pt x="95250" y="1037590"/>
                  </a:cubicBez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Ellipse 5">
              <a:extLst>
                <a:ext uri="{FF2B5EF4-FFF2-40B4-BE49-F238E27FC236}">
                  <a16:creationId xmlns:a16="http://schemas.microsoft.com/office/drawing/2014/main" id="{1387D092-ABEC-E46A-5A3C-A5717C88A2AF}"/>
                </a:ext>
              </a:extLst>
            </p:cNvPr>
            <p:cNvSpPr/>
            <p:nvPr/>
          </p:nvSpPr>
          <p:spPr>
            <a:xfrm>
              <a:off x="5402188" y="1707654"/>
              <a:ext cx="2592288" cy="259228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7" name="Gerade Verbindung 27">
              <a:extLst>
                <a:ext uri="{FF2B5EF4-FFF2-40B4-BE49-F238E27FC236}">
                  <a16:creationId xmlns:a16="http://schemas.microsoft.com/office/drawing/2014/main" id="{8BD1B82C-D823-1DE7-5B6C-94852A40A9FE}"/>
                </a:ext>
              </a:extLst>
            </p:cNvPr>
            <p:cNvCxnSpPr/>
            <p:nvPr/>
          </p:nvCxnSpPr>
          <p:spPr>
            <a:xfrm>
              <a:off x="6698332" y="1563638"/>
              <a:ext cx="0" cy="1440160"/>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Gerade Verbindung 28">
              <a:extLst>
                <a:ext uri="{FF2B5EF4-FFF2-40B4-BE49-F238E27FC236}">
                  <a16:creationId xmlns:a16="http://schemas.microsoft.com/office/drawing/2014/main" id="{F7928F39-FB0E-D088-9F83-F172FEC43B00}"/>
                </a:ext>
              </a:extLst>
            </p:cNvPr>
            <p:cNvCxnSpPr/>
            <p:nvPr/>
          </p:nvCxnSpPr>
          <p:spPr>
            <a:xfrm>
              <a:off x="5258172" y="3003798"/>
              <a:ext cx="1440160" cy="0"/>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Gerade Verbindung 29">
              <a:extLst>
                <a:ext uri="{FF2B5EF4-FFF2-40B4-BE49-F238E27FC236}">
                  <a16:creationId xmlns:a16="http://schemas.microsoft.com/office/drawing/2014/main" id="{2E1142E5-E4AB-A8F1-570F-8CC7AC1F3470}"/>
                </a:ext>
              </a:extLst>
            </p:cNvPr>
            <p:cNvCxnSpPr/>
            <p:nvPr/>
          </p:nvCxnSpPr>
          <p:spPr>
            <a:xfrm>
              <a:off x="6698332" y="3003798"/>
              <a:ext cx="1018347"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Gerade Verbindung 30">
              <a:extLst>
                <a:ext uri="{FF2B5EF4-FFF2-40B4-BE49-F238E27FC236}">
                  <a16:creationId xmlns:a16="http://schemas.microsoft.com/office/drawing/2014/main" id="{B76B0896-8662-9A77-3612-F5F99FC02822}"/>
                </a:ext>
              </a:extLst>
            </p:cNvPr>
            <p:cNvCxnSpPr/>
            <p:nvPr/>
          </p:nvCxnSpPr>
          <p:spPr>
            <a:xfrm flipH="1">
              <a:off x="5679985" y="3003798"/>
              <a:ext cx="1018347"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Gerade Verbindung 31">
              <a:extLst>
                <a:ext uri="{FF2B5EF4-FFF2-40B4-BE49-F238E27FC236}">
                  <a16:creationId xmlns:a16="http://schemas.microsoft.com/office/drawing/2014/main" id="{0141FF6A-DB8D-60B4-BD9D-1784E227C0F6}"/>
                </a:ext>
              </a:extLst>
            </p:cNvPr>
            <p:cNvCxnSpPr/>
            <p:nvPr/>
          </p:nvCxnSpPr>
          <p:spPr>
            <a:xfrm flipV="1">
              <a:off x="6698333" y="1985451"/>
              <a:ext cx="1018346" cy="1018347"/>
            </a:xfrm>
            <a:prstGeom prst="line">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9" name="Ellipse 18">
              <a:extLst>
                <a:ext uri="{FF2B5EF4-FFF2-40B4-BE49-F238E27FC236}">
                  <a16:creationId xmlns:a16="http://schemas.microsoft.com/office/drawing/2014/main" id="{5F0076AF-8A84-2C7D-4E1C-0604E40160D5}"/>
                </a:ext>
              </a:extLst>
            </p:cNvPr>
            <p:cNvSpPr/>
            <p:nvPr/>
          </p:nvSpPr>
          <p:spPr>
            <a:xfrm>
              <a:off x="6194276" y="2499742"/>
              <a:ext cx="1008112" cy="1008112"/>
            </a:xfrm>
            <a:prstGeom prst="ellipse">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Ellipse 21">
              <a:extLst>
                <a:ext uri="{FF2B5EF4-FFF2-40B4-BE49-F238E27FC236}">
                  <a16:creationId xmlns:a16="http://schemas.microsoft.com/office/drawing/2014/main" id="{60772EAC-1E61-F970-9C4B-D1121E2A8793}"/>
                </a:ext>
              </a:extLst>
            </p:cNvPr>
            <p:cNvSpPr/>
            <p:nvPr/>
          </p:nvSpPr>
          <p:spPr>
            <a:xfrm>
              <a:off x="5798232" y="2103698"/>
              <a:ext cx="1800200" cy="1800200"/>
            </a:xfrm>
            <a:prstGeom prst="ellipse">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7" name="Pfeil: nach unten 26">
            <a:extLst>
              <a:ext uri="{FF2B5EF4-FFF2-40B4-BE49-F238E27FC236}">
                <a16:creationId xmlns:a16="http://schemas.microsoft.com/office/drawing/2014/main" id="{A2E76D72-6521-05C6-4E68-9672DE1B514F}"/>
              </a:ext>
            </a:extLst>
          </p:cNvPr>
          <p:cNvSpPr/>
          <p:nvPr/>
        </p:nvSpPr>
        <p:spPr>
          <a:xfrm>
            <a:off x="732272" y="2643758"/>
            <a:ext cx="360040" cy="816523"/>
          </a:xfrm>
          <a:prstGeom prst="downArrow">
            <a:avLst/>
          </a:prstGeom>
          <a:solidFill>
            <a:schemeClr val="accent5">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noProof="0" dirty="0">
              <a:solidFill>
                <a:schemeClr val="tx1"/>
              </a:solidFill>
            </a:endParaRPr>
          </a:p>
        </p:txBody>
      </p:sp>
    </p:spTree>
    <p:extLst>
      <p:ext uri="{BB962C8B-B14F-4D97-AF65-F5344CB8AC3E}">
        <p14:creationId xmlns:p14="http://schemas.microsoft.com/office/powerpoint/2010/main" val="3581990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P spid="45" grpId="0" animBg="1"/>
      <p:bldP spid="2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9B935E2-209B-AEA9-A8B6-5C1994952A2E}"/>
              </a:ext>
            </a:extLst>
          </p:cNvPr>
          <p:cNvSpPr>
            <a:spLocks noGrp="1"/>
          </p:cNvSpPr>
          <p:nvPr>
            <p:ph type="title"/>
          </p:nvPr>
        </p:nvSpPr>
        <p:spPr/>
        <p:txBody>
          <a:bodyPr/>
          <a:lstStyle/>
          <a:p>
            <a:r>
              <a:rPr lang="en-US" noProof="0" dirty="0"/>
              <a:t>Implementation:</a:t>
            </a:r>
            <a:br>
              <a:rPr lang="en-US" noProof="0" dirty="0"/>
            </a:br>
            <a:r>
              <a:rPr lang="en-US" noProof="0" dirty="0"/>
              <a:t>2a) The AI code – 1/ 1</a:t>
            </a:r>
          </a:p>
        </p:txBody>
      </p:sp>
      <p:sp>
        <p:nvSpPr>
          <p:cNvPr id="5" name="Textfeld 4">
            <a:extLst>
              <a:ext uri="{FF2B5EF4-FFF2-40B4-BE49-F238E27FC236}">
                <a16:creationId xmlns:a16="http://schemas.microsoft.com/office/drawing/2014/main" id="{F5124D39-8EB4-A439-AEFB-11CBE99315E4}"/>
              </a:ext>
            </a:extLst>
          </p:cNvPr>
          <p:cNvSpPr txBox="1"/>
          <p:nvPr/>
        </p:nvSpPr>
        <p:spPr>
          <a:xfrm>
            <a:off x="251520" y="4189025"/>
            <a:ext cx="2736304" cy="707886"/>
          </a:xfrm>
          <a:prstGeom prst="rect">
            <a:avLst/>
          </a:prstGeom>
          <a:noFill/>
        </p:spPr>
        <p:txBody>
          <a:bodyPr wrap="square">
            <a:spAutoFit/>
          </a:bodyPr>
          <a:lstStyle/>
          <a:p>
            <a:r>
              <a:rPr lang="en-US" sz="800" noProof="0" dirty="0">
                <a:latin typeface="Courier New" panose="02070309020205020404" pitchFamily="49" charset="0"/>
                <a:cs typeface="Courier New" panose="02070309020205020404" pitchFamily="49" charset="0"/>
              </a:rPr>
              <a:t># </a:t>
            </a:r>
            <a:r>
              <a:rPr lang="en-US" sz="800" b="1" noProof="0" dirty="0">
                <a:latin typeface="Courier New" panose="02070309020205020404" pitchFamily="49" charset="0"/>
                <a:cs typeface="Courier New" panose="02070309020205020404" pitchFamily="49" charset="0"/>
              </a:rPr>
              <a:t>File: 01_WaTor.py</a:t>
            </a:r>
          </a:p>
          <a:p>
            <a:r>
              <a:rPr lang="en-US" sz="800" noProof="0" dirty="0">
                <a:latin typeface="Courier New" panose="02070309020205020404" pitchFamily="49" charset="0"/>
                <a:cs typeface="Courier New" panose="02070309020205020404" pitchFamily="49" charset="0"/>
              </a:rPr>
              <a:t># Simulation parameters</a:t>
            </a:r>
          </a:p>
          <a:p>
            <a:r>
              <a:rPr lang="en-US" sz="800" noProof="0" dirty="0">
                <a:latin typeface="Courier New" panose="02070309020205020404" pitchFamily="49" charset="0"/>
                <a:cs typeface="Courier New" panose="02070309020205020404" pitchFamily="49" charset="0"/>
              </a:rPr>
              <a:t>N = 50      # Size of the lattice</a:t>
            </a:r>
          </a:p>
          <a:p>
            <a:r>
              <a:rPr lang="en-US" sz="800" noProof="0" dirty="0">
                <a:latin typeface="Courier New" panose="02070309020205020404" pitchFamily="49" charset="0"/>
                <a:cs typeface="Courier New" panose="02070309020205020404" pitchFamily="49" charset="0"/>
              </a:rPr>
              <a:t>NF = 100    # Initial number of fish</a:t>
            </a:r>
          </a:p>
          <a:p>
            <a:r>
              <a:rPr lang="en-US" sz="800" noProof="0" dirty="0">
                <a:latin typeface="Courier New" panose="02070309020205020404" pitchFamily="49" charset="0"/>
                <a:cs typeface="Courier New" panose="02070309020205020404" pitchFamily="49" charset="0"/>
              </a:rPr>
              <a:t>NS = 20     # Initial number of sharks</a:t>
            </a:r>
          </a:p>
        </p:txBody>
      </p:sp>
      <p:sp>
        <p:nvSpPr>
          <p:cNvPr id="8" name="Rechteck 7">
            <a:extLst>
              <a:ext uri="{FF2B5EF4-FFF2-40B4-BE49-F238E27FC236}">
                <a16:creationId xmlns:a16="http://schemas.microsoft.com/office/drawing/2014/main" id="{2F4631DD-0D09-39C7-6D88-97A6254FC352}"/>
              </a:ext>
            </a:extLst>
          </p:cNvPr>
          <p:cNvSpPr/>
          <p:nvPr/>
        </p:nvSpPr>
        <p:spPr>
          <a:xfrm>
            <a:off x="3851920" y="1131590"/>
            <a:ext cx="5040560"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Initialization</a:t>
            </a:r>
          </a:p>
        </p:txBody>
      </p:sp>
      <p:sp>
        <p:nvSpPr>
          <p:cNvPr id="9" name="Rechteck 8">
            <a:extLst>
              <a:ext uri="{FF2B5EF4-FFF2-40B4-BE49-F238E27FC236}">
                <a16:creationId xmlns:a16="http://schemas.microsoft.com/office/drawing/2014/main" id="{6B90A702-0B74-F5FF-506F-9CEA2F609E20}"/>
              </a:ext>
            </a:extLst>
          </p:cNvPr>
          <p:cNvSpPr/>
          <p:nvPr/>
        </p:nvSpPr>
        <p:spPr>
          <a:xfrm>
            <a:off x="3851920" y="1491630"/>
            <a:ext cx="5040560" cy="352839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endParaRPr lang="en-US" sz="1000" noProof="0" dirty="0">
              <a:solidFill>
                <a:schemeClr val="tx1"/>
              </a:solidFill>
            </a:endParaRPr>
          </a:p>
        </p:txBody>
      </p:sp>
      <p:sp>
        <p:nvSpPr>
          <p:cNvPr id="15" name="Rechteck 14">
            <a:extLst>
              <a:ext uri="{FF2B5EF4-FFF2-40B4-BE49-F238E27FC236}">
                <a16:creationId xmlns:a16="http://schemas.microsoft.com/office/drawing/2014/main" id="{37518F88-BF7C-4975-CFEB-4379060F9278}"/>
              </a:ext>
            </a:extLst>
          </p:cNvPr>
          <p:cNvSpPr/>
          <p:nvPr/>
        </p:nvSpPr>
        <p:spPr>
          <a:xfrm>
            <a:off x="3995936" y="1635645"/>
            <a:ext cx="1296144" cy="3240355"/>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01_WaTor.py</a:t>
            </a:r>
            <a:br>
              <a:rPr lang="en-US" sz="1200" b="1" noProof="0" dirty="0">
                <a:solidFill>
                  <a:schemeClr val="tx1"/>
                </a:solidFill>
              </a:rPr>
            </a:br>
            <a:r>
              <a:rPr lang="en-US" sz="1200" b="1" noProof="0" dirty="0">
                <a:solidFill>
                  <a:schemeClr val="tx1"/>
                </a:solidFill>
              </a:rPr>
              <a:t>(main routine)</a:t>
            </a:r>
            <a:endParaRPr lang="en-US" sz="1200" noProof="0" dirty="0">
              <a:solidFill>
                <a:schemeClr val="tx1"/>
              </a:solidFill>
            </a:endParaRPr>
          </a:p>
          <a:p>
            <a:pPr marL="179388" indent="-179388">
              <a:spcAft>
                <a:spcPts val="600"/>
              </a:spcAft>
              <a:buFont typeface="Arial" panose="020B0604020202020204" pitchFamily="34" charset="0"/>
              <a:buChar char="•"/>
            </a:pPr>
            <a:r>
              <a:rPr lang="en-US" sz="1200" noProof="0" dirty="0">
                <a:solidFill>
                  <a:schemeClr val="tx1"/>
                </a:solidFill>
              </a:rPr>
              <a:t>random seed</a:t>
            </a:r>
          </a:p>
          <a:p>
            <a:pPr marL="179388" indent="-179388">
              <a:spcAft>
                <a:spcPts val="600"/>
              </a:spcAft>
              <a:buFont typeface="Arial" panose="020B0604020202020204" pitchFamily="34" charset="0"/>
              <a:buChar char="•"/>
            </a:pPr>
            <a:r>
              <a:rPr lang="en-US" sz="1200" noProof="0" dirty="0">
                <a:solidFill>
                  <a:schemeClr val="tx1"/>
                </a:solidFill>
              </a:rPr>
              <a:t>global settings and parameter</a:t>
            </a:r>
          </a:p>
          <a:p>
            <a:pPr marL="179388" indent="-179388">
              <a:spcAft>
                <a:spcPts val="600"/>
              </a:spcAft>
              <a:buFont typeface="Arial" panose="020B0604020202020204" pitchFamily="34" charset="0"/>
              <a:buChar char="•"/>
            </a:pPr>
            <a:r>
              <a:rPr lang="en-US" sz="1200" noProof="0" dirty="0">
                <a:solidFill>
                  <a:schemeClr val="tx1"/>
                </a:solidFill>
              </a:rPr>
              <a:t>call of sub-routines</a:t>
            </a:r>
          </a:p>
          <a:p>
            <a:pPr algn="ctr">
              <a:spcAft>
                <a:spcPts val="600"/>
              </a:spcAft>
            </a:pPr>
            <a:endParaRPr lang="en-US" sz="1200" noProof="0" dirty="0">
              <a:solidFill>
                <a:schemeClr val="tx1"/>
              </a:solidFill>
            </a:endParaRPr>
          </a:p>
        </p:txBody>
      </p:sp>
      <p:pic>
        <p:nvPicPr>
          <p:cNvPr id="22" name="Grafik 21">
            <a:extLst>
              <a:ext uri="{FF2B5EF4-FFF2-40B4-BE49-F238E27FC236}">
                <a16:creationId xmlns:a16="http://schemas.microsoft.com/office/drawing/2014/main" id="{A3E44C21-889A-3A7A-1788-8875B27C1C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700" y="880396"/>
            <a:ext cx="3240360" cy="3240360"/>
          </a:xfrm>
          <a:prstGeom prst="rect">
            <a:avLst/>
          </a:prstGeom>
        </p:spPr>
      </p:pic>
      <p:sp>
        <p:nvSpPr>
          <p:cNvPr id="23" name="Rechteck 22">
            <a:extLst>
              <a:ext uri="{FF2B5EF4-FFF2-40B4-BE49-F238E27FC236}">
                <a16:creationId xmlns:a16="http://schemas.microsoft.com/office/drawing/2014/main" id="{E340739C-90F7-BF3C-A5E6-3635FD46D407}"/>
              </a:ext>
            </a:extLst>
          </p:cNvPr>
          <p:cNvSpPr/>
          <p:nvPr/>
        </p:nvSpPr>
        <p:spPr>
          <a:xfrm>
            <a:off x="6012160" y="1635646"/>
            <a:ext cx="2736304" cy="720080"/>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P01a_initialization.py (sub-routine)</a:t>
            </a:r>
            <a:endParaRPr lang="en-US" sz="1200" noProof="0" dirty="0">
              <a:solidFill>
                <a:schemeClr val="tx1"/>
              </a:solidFill>
            </a:endParaRPr>
          </a:p>
          <a:p>
            <a:pPr>
              <a:spcAft>
                <a:spcPts val="600"/>
              </a:spcAft>
            </a:pPr>
            <a:r>
              <a:rPr lang="en-US" sz="1200" noProof="0" dirty="0">
                <a:solidFill>
                  <a:schemeClr val="tx1"/>
                </a:solidFill>
              </a:rPr>
              <a:t>initial distribution of the NF fish and the NS shark on the N</a:t>
            </a:r>
            <a:r>
              <a:rPr lang="en-US" sz="1200" noProof="0" dirty="0">
                <a:solidFill>
                  <a:schemeClr val="tx1"/>
                </a:solidFill>
                <a:sym typeface="Symbol" panose="05050102010706020507" pitchFamily="18" charset="2"/>
              </a:rPr>
              <a:t></a:t>
            </a:r>
            <a:r>
              <a:rPr lang="en-US" sz="1200" noProof="0" dirty="0">
                <a:solidFill>
                  <a:schemeClr val="tx1"/>
                </a:solidFill>
              </a:rPr>
              <a:t>N lattice</a:t>
            </a:r>
          </a:p>
        </p:txBody>
      </p:sp>
      <p:sp>
        <p:nvSpPr>
          <p:cNvPr id="24" name="Rechteck 23">
            <a:extLst>
              <a:ext uri="{FF2B5EF4-FFF2-40B4-BE49-F238E27FC236}">
                <a16:creationId xmlns:a16="http://schemas.microsoft.com/office/drawing/2014/main" id="{15EA210D-3DFD-DEC2-CB9C-B855DFE0069C}"/>
              </a:ext>
            </a:extLst>
          </p:cNvPr>
          <p:cNvSpPr/>
          <p:nvPr/>
        </p:nvSpPr>
        <p:spPr>
          <a:xfrm>
            <a:off x="6012160" y="2463738"/>
            <a:ext cx="2736304" cy="720080"/>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P01v_lattice_plot.py (sub-routine)</a:t>
            </a:r>
            <a:endParaRPr lang="en-US" sz="1200" noProof="0" dirty="0">
              <a:solidFill>
                <a:schemeClr val="tx1"/>
              </a:solidFill>
            </a:endParaRPr>
          </a:p>
          <a:p>
            <a:pPr>
              <a:spcAft>
                <a:spcPts val="600"/>
              </a:spcAft>
            </a:pPr>
            <a:r>
              <a:rPr lang="en-US" sz="1200" noProof="0" dirty="0">
                <a:solidFill>
                  <a:schemeClr val="tx1"/>
                </a:solidFill>
              </a:rPr>
              <a:t>plot of the distribution of fish and shark populations on the lattice</a:t>
            </a:r>
          </a:p>
        </p:txBody>
      </p:sp>
      <p:cxnSp>
        <p:nvCxnSpPr>
          <p:cNvPr id="27" name="Gerader Verbinder 26">
            <a:extLst>
              <a:ext uri="{FF2B5EF4-FFF2-40B4-BE49-F238E27FC236}">
                <a16:creationId xmlns:a16="http://schemas.microsoft.com/office/drawing/2014/main" id="{087E3303-56A0-22EF-B2F8-0A4E0F5E501B}"/>
              </a:ext>
            </a:extLst>
          </p:cNvPr>
          <p:cNvCxnSpPr/>
          <p:nvPr/>
        </p:nvCxnSpPr>
        <p:spPr>
          <a:xfrm flipH="1">
            <a:off x="5292080" y="1995686"/>
            <a:ext cx="720080" cy="0"/>
          </a:xfrm>
          <a:prstGeom prst="line">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cxnSp>
        <p:nvCxnSpPr>
          <p:cNvPr id="28" name="Gerader Verbinder 27">
            <a:extLst>
              <a:ext uri="{FF2B5EF4-FFF2-40B4-BE49-F238E27FC236}">
                <a16:creationId xmlns:a16="http://schemas.microsoft.com/office/drawing/2014/main" id="{E3FD25C2-F5EB-DFAE-17E5-CA819A5FC71F}"/>
              </a:ext>
            </a:extLst>
          </p:cNvPr>
          <p:cNvCxnSpPr/>
          <p:nvPr/>
        </p:nvCxnSpPr>
        <p:spPr>
          <a:xfrm flipH="1">
            <a:off x="5292080" y="2823778"/>
            <a:ext cx="720080" cy="0"/>
          </a:xfrm>
          <a:prstGeom prst="line">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092032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D58EE-B558-25D9-8AD6-00B4893E51E2}"/>
            </a:ext>
          </a:extLst>
        </p:cNvPr>
        <p:cNvGrpSpPr/>
        <p:nvPr/>
      </p:nvGrpSpPr>
      <p:grpSpPr>
        <a:xfrm>
          <a:off x="0" y="0"/>
          <a:ext cx="0" cy="0"/>
          <a:chOff x="0" y="0"/>
          <a:chExt cx="0" cy="0"/>
        </a:xfrm>
      </p:grpSpPr>
      <p:cxnSp>
        <p:nvCxnSpPr>
          <p:cNvPr id="18" name="Gerader Verbinder 17">
            <a:extLst>
              <a:ext uri="{FF2B5EF4-FFF2-40B4-BE49-F238E27FC236}">
                <a16:creationId xmlns:a16="http://schemas.microsoft.com/office/drawing/2014/main" id="{3DDF1FDE-9099-1AFA-094B-4952AD1A7357}"/>
              </a:ext>
            </a:extLst>
          </p:cNvPr>
          <p:cNvCxnSpPr/>
          <p:nvPr/>
        </p:nvCxnSpPr>
        <p:spPr>
          <a:xfrm flipH="1">
            <a:off x="5292080" y="1995686"/>
            <a:ext cx="720080" cy="0"/>
          </a:xfrm>
          <a:prstGeom prst="lin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cxnSp>
      <p:sp>
        <p:nvSpPr>
          <p:cNvPr id="2" name="Titel 1">
            <a:extLst>
              <a:ext uri="{FF2B5EF4-FFF2-40B4-BE49-F238E27FC236}">
                <a16:creationId xmlns:a16="http://schemas.microsoft.com/office/drawing/2014/main" id="{77DEA2EC-3F17-2AD3-6B38-64DBA8261649}"/>
              </a:ext>
            </a:extLst>
          </p:cNvPr>
          <p:cNvSpPr>
            <a:spLocks noGrp="1"/>
          </p:cNvSpPr>
          <p:nvPr>
            <p:ph type="title"/>
          </p:nvPr>
        </p:nvSpPr>
        <p:spPr/>
        <p:txBody>
          <a:bodyPr/>
          <a:lstStyle/>
          <a:p>
            <a:r>
              <a:rPr lang="en-US" noProof="0" dirty="0"/>
              <a:t>Implementation:</a:t>
            </a:r>
            <a:br>
              <a:rPr lang="en-US" noProof="0" dirty="0"/>
            </a:br>
            <a:r>
              <a:rPr lang="en-US" noProof="0" dirty="0"/>
              <a:t>2a) The AI code – 1/ 2</a:t>
            </a:r>
          </a:p>
        </p:txBody>
      </p:sp>
      <p:sp>
        <p:nvSpPr>
          <p:cNvPr id="8" name="Rechteck 7">
            <a:extLst>
              <a:ext uri="{FF2B5EF4-FFF2-40B4-BE49-F238E27FC236}">
                <a16:creationId xmlns:a16="http://schemas.microsoft.com/office/drawing/2014/main" id="{74D7B093-4798-B0F2-5205-4076D1197A8A}"/>
              </a:ext>
            </a:extLst>
          </p:cNvPr>
          <p:cNvSpPr/>
          <p:nvPr/>
        </p:nvSpPr>
        <p:spPr>
          <a:xfrm>
            <a:off x="3851920" y="1131590"/>
            <a:ext cx="5040560"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Iterations</a:t>
            </a:r>
          </a:p>
        </p:txBody>
      </p:sp>
      <p:sp>
        <p:nvSpPr>
          <p:cNvPr id="6" name="Rechteck 5">
            <a:extLst>
              <a:ext uri="{FF2B5EF4-FFF2-40B4-BE49-F238E27FC236}">
                <a16:creationId xmlns:a16="http://schemas.microsoft.com/office/drawing/2014/main" id="{6C11F1D8-5069-8810-A2A0-D6FB4EFD584A}"/>
              </a:ext>
            </a:extLst>
          </p:cNvPr>
          <p:cNvSpPr/>
          <p:nvPr/>
        </p:nvSpPr>
        <p:spPr>
          <a:xfrm>
            <a:off x="3851920" y="1491630"/>
            <a:ext cx="5040560" cy="352839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endParaRPr lang="en-US" sz="1000" noProof="0" dirty="0">
              <a:solidFill>
                <a:schemeClr val="tx1"/>
              </a:solidFill>
            </a:endParaRPr>
          </a:p>
        </p:txBody>
      </p:sp>
      <p:sp>
        <p:nvSpPr>
          <p:cNvPr id="10" name="Rechteck 9">
            <a:extLst>
              <a:ext uri="{FF2B5EF4-FFF2-40B4-BE49-F238E27FC236}">
                <a16:creationId xmlns:a16="http://schemas.microsoft.com/office/drawing/2014/main" id="{C02D5D7B-9FD2-D5A7-EE55-72940C1CC541}"/>
              </a:ext>
            </a:extLst>
          </p:cNvPr>
          <p:cNvSpPr/>
          <p:nvPr/>
        </p:nvSpPr>
        <p:spPr>
          <a:xfrm>
            <a:off x="3995936" y="1635645"/>
            <a:ext cx="1296144" cy="3240355"/>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rgbClr val="C00000"/>
                </a:solidFill>
              </a:rPr>
              <a:t>02_WaTor.py</a:t>
            </a:r>
            <a:br>
              <a:rPr lang="en-US" sz="1200" b="1" noProof="0" dirty="0">
                <a:solidFill>
                  <a:srgbClr val="C00000"/>
                </a:solidFill>
              </a:rPr>
            </a:br>
            <a:r>
              <a:rPr lang="en-US" sz="1200" b="1" noProof="0" dirty="0">
                <a:solidFill>
                  <a:srgbClr val="C00000"/>
                </a:solidFill>
              </a:rPr>
              <a:t>(main routine)</a:t>
            </a:r>
            <a:endParaRPr lang="en-US" sz="1200" noProof="0" dirty="0">
              <a:solidFill>
                <a:srgbClr val="C00000"/>
              </a:solidFill>
            </a:endParaRPr>
          </a:p>
          <a:p>
            <a:pPr marL="179388" indent="-179388">
              <a:spcAft>
                <a:spcPts val="600"/>
              </a:spcAft>
              <a:buFont typeface="Arial" panose="020B0604020202020204" pitchFamily="34" charset="0"/>
              <a:buChar char="•"/>
            </a:pPr>
            <a:r>
              <a:rPr lang="en-US" sz="1200" noProof="0" dirty="0">
                <a:solidFill>
                  <a:schemeClr val="tx1"/>
                </a:solidFill>
              </a:rPr>
              <a:t>random seed</a:t>
            </a:r>
          </a:p>
          <a:p>
            <a:pPr marL="179388" indent="-179388">
              <a:spcAft>
                <a:spcPts val="600"/>
              </a:spcAft>
              <a:buFont typeface="Arial" panose="020B0604020202020204" pitchFamily="34" charset="0"/>
              <a:buChar char="•"/>
            </a:pPr>
            <a:r>
              <a:rPr lang="en-US" sz="1200" noProof="0" dirty="0">
                <a:solidFill>
                  <a:schemeClr val="tx1"/>
                </a:solidFill>
              </a:rPr>
              <a:t>global settings and parameter</a:t>
            </a:r>
          </a:p>
          <a:p>
            <a:pPr marL="179388" indent="-179388">
              <a:spcAft>
                <a:spcPts val="600"/>
              </a:spcAft>
              <a:buFont typeface="Arial" panose="020B0604020202020204" pitchFamily="34" charset="0"/>
              <a:buChar char="•"/>
            </a:pPr>
            <a:r>
              <a:rPr lang="en-US" sz="1200" noProof="0" dirty="0">
                <a:solidFill>
                  <a:srgbClr val="C00000"/>
                </a:solidFill>
              </a:rPr>
              <a:t>settings and parameter for the movement rules</a:t>
            </a:r>
          </a:p>
          <a:p>
            <a:pPr marL="179388" indent="-179388">
              <a:spcAft>
                <a:spcPts val="600"/>
              </a:spcAft>
              <a:buFont typeface="Arial" panose="020B0604020202020204" pitchFamily="34" charset="0"/>
              <a:buChar char="•"/>
            </a:pPr>
            <a:r>
              <a:rPr lang="en-US" sz="1200" noProof="0" dirty="0">
                <a:solidFill>
                  <a:schemeClr val="tx1"/>
                </a:solidFill>
              </a:rPr>
              <a:t>call of sub-routines</a:t>
            </a:r>
          </a:p>
          <a:p>
            <a:pPr marL="179388" indent="-179388">
              <a:spcAft>
                <a:spcPts val="600"/>
              </a:spcAft>
              <a:buFont typeface="Arial" panose="020B0604020202020204" pitchFamily="34" charset="0"/>
              <a:buChar char="•"/>
            </a:pPr>
            <a:r>
              <a:rPr lang="en-US" sz="1200" noProof="0" dirty="0">
                <a:solidFill>
                  <a:srgbClr val="C00000"/>
                </a:solidFill>
              </a:rPr>
              <a:t>iteration loop for the movement</a:t>
            </a:r>
          </a:p>
          <a:p>
            <a:pPr algn="ctr">
              <a:spcAft>
                <a:spcPts val="600"/>
              </a:spcAft>
            </a:pPr>
            <a:endParaRPr lang="en-US" sz="1200" noProof="0" dirty="0">
              <a:solidFill>
                <a:schemeClr val="tx1"/>
              </a:solidFill>
            </a:endParaRPr>
          </a:p>
        </p:txBody>
      </p:sp>
      <p:sp>
        <p:nvSpPr>
          <p:cNvPr id="11" name="Rechteck 10">
            <a:extLst>
              <a:ext uri="{FF2B5EF4-FFF2-40B4-BE49-F238E27FC236}">
                <a16:creationId xmlns:a16="http://schemas.microsoft.com/office/drawing/2014/main" id="{7DF8C42F-63D1-D915-3855-E061B4EF4DA2}"/>
              </a:ext>
            </a:extLst>
          </p:cNvPr>
          <p:cNvSpPr/>
          <p:nvPr/>
        </p:nvSpPr>
        <p:spPr>
          <a:xfrm>
            <a:off x="6012160" y="1635646"/>
            <a:ext cx="2736304" cy="720080"/>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P01a_initialization.py (sub-routine)</a:t>
            </a:r>
            <a:endParaRPr lang="en-US" sz="1200" noProof="0" dirty="0">
              <a:solidFill>
                <a:schemeClr val="tx1"/>
              </a:solidFill>
            </a:endParaRPr>
          </a:p>
          <a:p>
            <a:pPr>
              <a:spcAft>
                <a:spcPts val="600"/>
              </a:spcAft>
            </a:pPr>
            <a:r>
              <a:rPr lang="en-US" sz="1200" noProof="0" dirty="0">
                <a:solidFill>
                  <a:schemeClr val="tx1"/>
                </a:solidFill>
              </a:rPr>
              <a:t>initial distribution of the NF fish and the NS shark on the N</a:t>
            </a:r>
            <a:r>
              <a:rPr lang="en-US" sz="1200" noProof="0" dirty="0">
                <a:solidFill>
                  <a:schemeClr val="tx1"/>
                </a:solidFill>
                <a:sym typeface="Symbol" panose="05050102010706020507" pitchFamily="18" charset="2"/>
              </a:rPr>
              <a:t></a:t>
            </a:r>
            <a:r>
              <a:rPr lang="en-US" sz="1200" noProof="0" dirty="0">
                <a:solidFill>
                  <a:schemeClr val="tx1"/>
                </a:solidFill>
              </a:rPr>
              <a:t>N lattice</a:t>
            </a:r>
          </a:p>
        </p:txBody>
      </p:sp>
      <p:cxnSp>
        <p:nvCxnSpPr>
          <p:cNvPr id="22" name="Gerader Verbinder 21">
            <a:extLst>
              <a:ext uri="{FF2B5EF4-FFF2-40B4-BE49-F238E27FC236}">
                <a16:creationId xmlns:a16="http://schemas.microsoft.com/office/drawing/2014/main" id="{009FAF35-7F5B-4DA9-2987-EAD4F59BA412}"/>
              </a:ext>
            </a:extLst>
          </p:cNvPr>
          <p:cNvCxnSpPr/>
          <p:nvPr/>
        </p:nvCxnSpPr>
        <p:spPr>
          <a:xfrm flipH="1">
            <a:off x="5292080" y="3651870"/>
            <a:ext cx="720080" cy="0"/>
          </a:xfrm>
          <a:prstGeom prst="lin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cxnSp>
      <p:sp>
        <p:nvSpPr>
          <p:cNvPr id="12" name="Rechteck 11">
            <a:extLst>
              <a:ext uri="{FF2B5EF4-FFF2-40B4-BE49-F238E27FC236}">
                <a16:creationId xmlns:a16="http://schemas.microsoft.com/office/drawing/2014/main" id="{03E55670-79FC-682A-182D-CE440EF1C2B3}"/>
              </a:ext>
            </a:extLst>
          </p:cNvPr>
          <p:cNvSpPr/>
          <p:nvPr/>
        </p:nvSpPr>
        <p:spPr>
          <a:xfrm>
            <a:off x="6012160" y="2463738"/>
            <a:ext cx="2736304" cy="72008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P01m_movement (sub-routine)</a:t>
            </a:r>
            <a:endParaRPr lang="en-US" sz="1200" noProof="0" dirty="0">
              <a:solidFill>
                <a:schemeClr val="tx1"/>
              </a:solidFill>
            </a:endParaRPr>
          </a:p>
          <a:p>
            <a:pPr>
              <a:spcAft>
                <a:spcPts val="600"/>
              </a:spcAft>
            </a:pPr>
            <a:r>
              <a:rPr lang="en-US" sz="1200" noProof="0" dirty="0">
                <a:solidFill>
                  <a:schemeClr val="tx1"/>
                </a:solidFill>
              </a:rPr>
              <a:t>Implementation of the movement rules and update of the populations</a:t>
            </a:r>
          </a:p>
        </p:txBody>
      </p:sp>
      <p:sp>
        <p:nvSpPr>
          <p:cNvPr id="13" name="Rechteck 12">
            <a:extLst>
              <a:ext uri="{FF2B5EF4-FFF2-40B4-BE49-F238E27FC236}">
                <a16:creationId xmlns:a16="http://schemas.microsoft.com/office/drawing/2014/main" id="{AB6A558C-B7AC-58AE-C82E-33A7535F435F}"/>
              </a:ext>
            </a:extLst>
          </p:cNvPr>
          <p:cNvSpPr/>
          <p:nvPr/>
        </p:nvSpPr>
        <p:spPr>
          <a:xfrm>
            <a:off x="6012160" y="3309831"/>
            <a:ext cx="2736304" cy="720080"/>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P01v_lattice_video.py (sub-routine)</a:t>
            </a:r>
            <a:endParaRPr lang="en-US" sz="1200" noProof="0" dirty="0">
              <a:solidFill>
                <a:schemeClr val="tx1"/>
              </a:solidFill>
            </a:endParaRPr>
          </a:p>
          <a:p>
            <a:pPr>
              <a:spcAft>
                <a:spcPts val="600"/>
              </a:spcAft>
            </a:pPr>
            <a:r>
              <a:rPr lang="en-US" sz="1200" noProof="0" dirty="0">
                <a:solidFill>
                  <a:schemeClr val="tx1"/>
                </a:solidFill>
              </a:rPr>
              <a:t>animation of the distribution of fish and shark populations on the lattice</a:t>
            </a:r>
          </a:p>
        </p:txBody>
      </p:sp>
      <p:sp>
        <p:nvSpPr>
          <p:cNvPr id="14" name="Rechteck 13">
            <a:extLst>
              <a:ext uri="{FF2B5EF4-FFF2-40B4-BE49-F238E27FC236}">
                <a16:creationId xmlns:a16="http://schemas.microsoft.com/office/drawing/2014/main" id="{65A2CD63-D3E1-7822-8364-65B0F0C2DFEE}"/>
              </a:ext>
            </a:extLst>
          </p:cNvPr>
          <p:cNvSpPr/>
          <p:nvPr/>
        </p:nvSpPr>
        <p:spPr>
          <a:xfrm>
            <a:off x="6012160" y="4155924"/>
            <a:ext cx="2736304" cy="72008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included in P01v_lattice_video.py </a:t>
            </a:r>
            <a:endParaRPr lang="en-US" sz="1200" noProof="0" dirty="0">
              <a:solidFill>
                <a:schemeClr val="tx1"/>
              </a:solidFill>
            </a:endParaRPr>
          </a:p>
          <a:p>
            <a:pPr>
              <a:spcAft>
                <a:spcPts val="600"/>
              </a:spcAft>
            </a:pPr>
            <a:r>
              <a:rPr lang="en-US" sz="1200" noProof="0" dirty="0">
                <a:solidFill>
                  <a:schemeClr val="tx1"/>
                </a:solidFill>
              </a:rPr>
              <a:t>Plot of the total fish and shark numbers over time </a:t>
            </a:r>
          </a:p>
        </p:txBody>
      </p:sp>
      <p:sp>
        <p:nvSpPr>
          <p:cNvPr id="24" name="Textfeld 23">
            <a:extLst>
              <a:ext uri="{FF2B5EF4-FFF2-40B4-BE49-F238E27FC236}">
                <a16:creationId xmlns:a16="http://schemas.microsoft.com/office/drawing/2014/main" id="{ED164667-8955-0961-862E-93D697A29B6E}"/>
              </a:ext>
            </a:extLst>
          </p:cNvPr>
          <p:cNvSpPr txBox="1"/>
          <p:nvPr/>
        </p:nvSpPr>
        <p:spPr>
          <a:xfrm rot="1247246">
            <a:off x="8529644" y="2478237"/>
            <a:ext cx="407484" cy="246221"/>
          </a:xfrm>
          <a:prstGeom prst="rect">
            <a:avLst/>
          </a:prstGeom>
          <a:solidFill>
            <a:srgbClr val="FFFF00"/>
          </a:solidFill>
        </p:spPr>
        <p:txBody>
          <a:bodyPr wrap="none" rtlCol="0">
            <a:spAutoFit/>
          </a:bodyPr>
          <a:lstStyle/>
          <a:p>
            <a:pPr algn="ctr"/>
            <a:r>
              <a:rPr lang="en-US" sz="1000" noProof="0" dirty="0">
                <a:solidFill>
                  <a:srgbClr val="C00000"/>
                </a:solidFill>
              </a:rPr>
              <a:t>new</a:t>
            </a:r>
          </a:p>
        </p:txBody>
      </p:sp>
      <p:sp>
        <p:nvSpPr>
          <p:cNvPr id="25" name="Textfeld 24">
            <a:extLst>
              <a:ext uri="{FF2B5EF4-FFF2-40B4-BE49-F238E27FC236}">
                <a16:creationId xmlns:a16="http://schemas.microsoft.com/office/drawing/2014/main" id="{E04E68D0-90BE-30AC-03F1-73B882B25738}"/>
              </a:ext>
            </a:extLst>
          </p:cNvPr>
          <p:cNvSpPr txBox="1"/>
          <p:nvPr/>
        </p:nvSpPr>
        <p:spPr>
          <a:xfrm rot="1247246">
            <a:off x="8455906" y="3319139"/>
            <a:ext cx="554960" cy="246221"/>
          </a:xfrm>
          <a:prstGeom prst="rect">
            <a:avLst/>
          </a:prstGeom>
          <a:solidFill>
            <a:srgbClr val="FFFF00"/>
          </a:solidFill>
        </p:spPr>
        <p:txBody>
          <a:bodyPr wrap="none" rtlCol="0">
            <a:spAutoFit/>
          </a:bodyPr>
          <a:lstStyle/>
          <a:p>
            <a:pPr algn="ctr"/>
            <a:r>
              <a:rPr lang="en-US" sz="1000" noProof="0" dirty="0">
                <a:solidFill>
                  <a:srgbClr val="C00000"/>
                </a:solidFill>
              </a:rPr>
              <a:t>update</a:t>
            </a:r>
          </a:p>
        </p:txBody>
      </p:sp>
      <p:sp>
        <p:nvSpPr>
          <p:cNvPr id="26" name="Textfeld 25">
            <a:extLst>
              <a:ext uri="{FF2B5EF4-FFF2-40B4-BE49-F238E27FC236}">
                <a16:creationId xmlns:a16="http://schemas.microsoft.com/office/drawing/2014/main" id="{49D7F909-2B42-030E-5F6C-EAEF846EC5AA}"/>
              </a:ext>
            </a:extLst>
          </p:cNvPr>
          <p:cNvSpPr txBox="1"/>
          <p:nvPr/>
        </p:nvSpPr>
        <p:spPr>
          <a:xfrm rot="1247246">
            <a:off x="8529644" y="4170428"/>
            <a:ext cx="407484" cy="246221"/>
          </a:xfrm>
          <a:prstGeom prst="rect">
            <a:avLst/>
          </a:prstGeom>
          <a:solidFill>
            <a:srgbClr val="FFFF00"/>
          </a:solidFill>
        </p:spPr>
        <p:txBody>
          <a:bodyPr wrap="none" rtlCol="0">
            <a:spAutoFit/>
          </a:bodyPr>
          <a:lstStyle/>
          <a:p>
            <a:pPr algn="ctr"/>
            <a:r>
              <a:rPr lang="en-US" sz="1000" noProof="0" dirty="0">
                <a:solidFill>
                  <a:srgbClr val="C00000"/>
                </a:solidFill>
              </a:rPr>
              <a:t>new</a:t>
            </a:r>
          </a:p>
        </p:txBody>
      </p:sp>
      <p:sp>
        <p:nvSpPr>
          <p:cNvPr id="3" name="Textfeld 2">
            <a:extLst>
              <a:ext uri="{FF2B5EF4-FFF2-40B4-BE49-F238E27FC236}">
                <a16:creationId xmlns:a16="http://schemas.microsoft.com/office/drawing/2014/main" id="{471B3AF1-C54E-F18D-54F1-52D5CF607CAA}"/>
              </a:ext>
            </a:extLst>
          </p:cNvPr>
          <p:cNvSpPr txBox="1"/>
          <p:nvPr/>
        </p:nvSpPr>
        <p:spPr>
          <a:xfrm rot="1247246">
            <a:off x="4987945" y="1647916"/>
            <a:ext cx="554960" cy="246221"/>
          </a:xfrm>
          <a:prstGeom prst="rect">
            <a:avLst/>
          </a:prstGeom>
          <a:solidFill>
            <a:srgbClr val="FFFF00"/>
          </a:solidFill>
        </p:spPr>
        <p:txBody>
          <a:bodyPr wrap="none" rtlCol="0">
            <a:spAutoFit/>
          </a:bodyPr>
          <a:lstStyle/>
          <a:p>
            <a:pPr algn="ctr"/>
            <a:r>
              <a:rPr lang="en-US" sz="1000" noProof="0" dirty="0">
                <a:solidFill>
                  <a:srgbClr val="C00000"/>
                </a:solidFill>
              </a:rPr>
              <a:t>update</a:t>
            </a:r>
          </a:p>
        </p:txBody>
      </p:sp>
      <p:pic>
        <p:nvPicPr>
          <p:cNvPr id="4" name="Grafik 3">
            <a:extLst>
              <a:ext uri="{FF2B5EF4-FFF2-40B4-BE49-F238E27FC236}">
                <a16:creationId xmlns:a16="http://schemas.microsoft.com/office/drawing/2014/main" id="{1646D39A-DE71-3DDE-321E-64B5FCE5BF7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700" y="880396"/>
            <a:ext cx="2520000" cy="2520000"/>
          </a:xfrm>
          <a:prstGeom prst="rect">
            <a:avLst/>
          </a:prstGeom>
        </p:spPr>
      </p:pic>
      <p:sp>
        <p:nvSpPr>
          <p:cNvPr id="5" name="Textfeld 4">
            <a:extLst>
              <a:ext uri="{FF2B5EF4-FFF2-40B4-BE49-F238E27FC236}">
                <a16:creationId xmlns:a16="http://schemas.microsoft.com/office/drawing/2014/main" id="{FD4C4DD8-C83E-D4B8-8CF3-0025A06813DB}"/>
              </a:ext>
            </a:extLst>
          </p:cNvPr>
          <p:cNvSpPr txBox="1"/>
          <p:nvPr/>
        </p:nvSpPr>
        <p:spPr>
          <a:xfrm>
            <a:off x="251520" y="4189025"/>
            <a:ext cx="2736304" cy="830997"/>
          </a:xfrm>
          <a:prstGeom prst="rect">
            <a:avLst/>
          </a:prstGeom>
          <a:noFill/>
        </p:spPr>
        <p:txBody>
          <a:bodyPr wrap="square">
            <a:spAutoFit/>
          </a:bodyPr>
          <a:lstStyle/>
          <a:p>
            <a:r>
              <a:rPr lang="en-US" sz="800" noProof="0" dirty="0">
                <a:latin typeface="Courier New" panose="02070309020205020404" pitchFamily="49" charset="0"/>
                <a:cs typeface="Courier New" panose="02070309020205020404" pitchFamily="49" charset="0"/>
              </a:rPr>
              <a:t># </a:t>
            </a:r>
            <a:r>
              <a:rPr lang="en-US" sz="800" b="1" noProof="0" dirty="0">
                <a:latin typeface="Courier New" panose="02070309020205020404" pitchFamily="49" charset="0"/>
                <a:cs typeface="Courier New" panose="02070309020205020404" pitchFamily="49" charset="0"/>
              </a:rPr>
              <a:t>File: 01_WaTor.py</a:t>
            </a:r>
          </a:p>
          <a:p>
            <a:r>
              <a:rPr lang="en-US" sz="800" noProof="0" dirty="0">
                <a:latin typeface="Courier New" panose="02070309020205020404" pitchFamily="49" charset="0"/>
                <a:cs typeface="Courier New" panose="02070309020205020404" pitchFamily="49" charset="0"/>
              </a:rPr>
              <a:t># Simulation parameters</a:t>
            </a:r>
          </a:p>
          <a:p>
            <a:r>
              <a:rPr lang="en-US" sz="800" noProof="0" dirty="0">
                <a:latin typeface="Courier New" panose="02070309020205020404" pitchFamily="49" charset="0"/>
                <a:cs typeface="Courier New" panose="02070309020205020404" pitchFamily="49" charset="0"/>
              </a:rPr>
              <a:t>N  = 50     # Size of the lattice</a:t>
            </a:r>
          </a:p>
          <a:p>
            <a:r>
              <a:rPr lang="en-US" sz="800" noProof="0" dirty="0">
                <a:solidFill>
                  <a:srgbClr val="C00000"/>
                </a:solidFill>
                <a:latin typeface="Courier New" panose="02070309020205020404" pitchFamily="49" charset="0"/>
                <a:cs typeface="Courier New" panose="02070309020205020404" pitchFamily="49" charset="0"/>
              </a:rPr>
              <a:t>T  = 20     # Maximum number of time steps</a:t>
            </a:r>
          </a:p>
          <a:p>
            <a:r>
              <a:rPr lang="en-US" sz="800" noProof="0" dirty="0">
                <a:latin typeface="Courier New" panose="02070309020205020404" pitchFamily="49" charset="0"/>
                <a:cs typeface="Courier New" panose="02070309020205020404" pitchFamily="49" charset="0"/>
              </a:rPr>
              <a:t>NF = 100    # Initial number of fish</a:t>
            </a:r>
          </a:p>
          <a:p>
            <a:r>
              <a:rPr lang="en-US" sz="800" noProof="0" dirty="0">
                <a:latin typeface="Courier New" panose="02070309020205020404" pitchFamily="49" charset="0"/>
                <a:cs typeface="Courier New" panose="02070309020205020404" pitchFamily="49" charset="0"/>
              </a:rPr>
              <a:t>NS = 20     # Initial number of sharks</a:t>
            </a:r>
          </a:p>
        </p:txBody>
      </p:sp>
      <p:pic>
        <p:nvPicPr>
          <p:cNvPr id="9" name="Grafik 8">
            <a:extLst>
              <a:ext uri="{FF2B5EF4-FFF2-40B4-BE49-F238E27FC236}">
                <a16:creationId xmlns:a16="http://schemas.microsoft.com/office/drawing/2014/main" id="{822342BA-7CEB-8ED8-9FBF-42A2E67CFFE4}"/>
              </a:ext>
            </a:extLst>
          </p:cNvPr>
          <p:cNvPicPr>
            <a:picLocks noChangeAspect="1"/>
          </p:cNvPicPr>
          <p:nvPr/>
        </p:nvPicPr>
        <p:blipFill>
          <a:blip r:embed="rId3" cstate="print">
            <a:extLst>
              <a:ext uri="{28A0092B-C50C-407E-A947-70E740481C1C}">
                <a14:useLocalDpi xmlns:a14="http://schemas.microsoft.com/office/drawing/2010/main" val="0"/>
              </a:ext>
            </a:extLst>
          </a:blip>
          <a:srcRect l="4658" t="7110" r="6782" b="4309"/>
          <a:stretch>
            <a:fillRect/>
          </a:stretch>
        </p:blipFill>
        <p:spPr>
          <a:xfrm>
            <a:off x="1404165" y="1923680"/>
            <a:ext cx="2231731" cy="2232246"/>
          </a:xfrm>
          <a:prstGeom prst="rect">
            <a:avLst/>
          </a:prstGeom>
          <a:noFill/>
          <a:ln w="19050">
            <a:solidFill>
              <a:schemeClr val="tx2"/>
            </a:solidFill>
          </a:ln>
        </p:spPr>
      </p:pic>
      <p:sp>
        <p:nvSpPr>
          <p:cNvPr id="16" name="Freeform 37">
            <a:extLst>
              <a:ext uri="{FF2B5EF4-FFF2-40B4-BE49-F238E27FC236}">
                <a16:creationId xmlns:a16="http://schemas.microsoft.com/office/drawing/2014/main" id="{5A1EDE5E-9A71-01A1-4F7D-D5262B5DAB80}"/>
              </a:ext>
            </a:extLst>
          </p:cNvPr>
          <p:cNvSpPr>
            <a:spLocks/>
          </p:cNvSpPr>
          <p:nvPr/>
        </p:nvSpPr>
        <p:spPr bwMode="auto">
          <a:xfrm rot="17542969" flipH="1">
            <a:off x="909187" y="2414286"/>
            <a:ext cx="652763" cy="1215860"/>
          </a:xfrm>
          <a:custGeom>
            <a:avLst/>
            <a:gdLst>
              <a:gd name="T0" fmla="*/ 75 w 1149"/>
              <a:gd name="T1" fmla="*/ 36 h 2226"/>
              <a:gd name="T2" fmla="*/ 174 w 1149"/>
              <a:gd name="T3" fmla="*/ 87 h 2226"/>
              <a:gd name="T4" fmla="*/ 285 w 1149"/>
              <a:gd name="T5" fmla="*/ 162 h 2226"/>
              <a:gd name="T6" fmla="*/ 417 w 1149"/>
              <a:gd name="T7" fmla="*/ 282 h 2226"/>
              <a:gd name="T8" fmla="*/ 513 w 1149"/>
              <a:gd name="T9" fmla="*/ 405 h 2226"/>
              <a:gd name="T10" fmla="*/ 591 w 1149"/>
              <a:gd name="T11" fmla="*/ 528 h 2226"/>
              <a:gd name="T12" fmla="*/ 657 w 1149"/>
              <a:gd name="T13" fmla="*/ 666 h 2226"/>
              <a:gd name="T14" fmla="*/ 717 w 1149"/>
              <a:gd name="T15" fmla="*/ 813 h 2226"/>
              <a:gd name="T16" fmla="*/ 762 w 1149"/>
              <a:gd name="T17" fmla="*/ 969 h 2226"/>
              <a:gd name="T18" fmla="*/ 792 w 1149"/>
              <a:gd name="T19" fmla="*/ 1149 h 2226"/>
              <a:gd name="T20" fmla="*/ 813 w 1149"/>
              <a:gd name="T21" fmla="*/ 1332 h 2226"/>
              <a:gd name="T22" fmla="*/ 813 w 1149"/>
              <a:gd name="T23" fmla="*/ 1479 h 2226"/>
              <a:gd name="T24" fmla="*/ 804 w 1149"/>
              <a:gd name="T25" fmla="*/ 1635 h 2226"/>
              <a:gd name="T26" fmla="*/ 780 w 1149"/>
              <a:gd name="T27" fmla="*/ 1785 h 2226"/>
              <a:gd name="T28" fmla="*/ 591 w 1149"/>
              <a:gd name="T29" fmla="*/ 1830 h 2226"/>
              <a:gd name="T30" fmla="*/ 1149 w 1149"/>
              <a:gd name="T31" fmla="*/ 1971 h 2226"/>
              <a:gd name="T32" fmla="*/ 1008 w 1149"/>
              <a:gd name="T33" fmla="*/ 1869 h 2226"/>
              <a:gd name="T34" fmla="*/ 1038 w 1149"/>
              <a:gd name="T35" fmla="*/ 1716 h 2226"/>
              <a:gd name="T36" fmla="*/ 1050 w 1149"/>
              <a:gd name="T37" fmla="*/ 1566 h 2226"/>
              <a:gd name="T38" fmla="*/ 1053 w 1149"/>
              <a:gd name="T39" fmla="*/ 1395 h 2226"/>
              <a:gd name="T40" fmla="*/ 1035 w 1149"/>
              <a:gd name="T41" fmla="*/ 1206 h 2226"/>
              <a:gd name="T42" fmla="*/ 1005 w 1149"/>
              <a:gd name="T43" fmla="*/ 1050 h 2226"/>
              <a:gd name="T44" fmla="*/ 963 w 1149"/>
              <a:gd name="T45" fmla="*/ 900 h 2226"/>
              <a:gd name="T46" fmla="*/ 912 w 1149"/>
              <a:gd name="T47" fmla="*/ 762 h 2226"/>
              <a:gd name="T48" fmla="*/ 837 w 1149"/>
              <a:gd name="T49" fmla="*/ 603 h 2226"/>
              <a:gd name="T50" fmla="*/ 750 w 1149"/>
              <a:gd name="T51" fmla="*/ 462 h 2226"/>
              <a:gd name="T52" fmla="*/ 669 w 1149"/>
              <a:gd name="T53" fmla="*/ 363 h 2226"/>
              <a:gd name="T54" fmla="*/ 558 w 1149"/>
              <a:gd name="T55" fmla="*/ 249 h 2226"/>
              <a:gd name="T56" fmla="*/ 433 w 1149"/>
              <a:gd name="T57" fmla="*/ 157 h 2226"/>
              <a:gd name="T58" fmla="*/ 297 w 1149"/>
              <a:gd name="T59" fmla="*/ 81 h 2226"/>
              <a:gd name="T60" fmla="*/ 153 w 1149"/>
              <a:gd name="T61" fmla="*/ 24 h 2226"/>
              <a:gd name="T62" fmla="*/ 0 w 1149"/>
              <a:gd name="T63" fmla="*/ 0 h 2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49" h="2226">
                <a:moveTo>
                  <a:pt x="6" y="6"/>
                </a:moveTo>
                <a:lnTo>
                  <a:pt x="75" y="36"/>
                </a:lnTo>
                <a:lnTo>
                  <a:pt x="129" y="60"/>
                </a:lnTo>
                <a:lnTo>
                  <a:pt x="174" y="87"/>
                </a:lnTo>
                <a:lnTo>
                  <a:pt x="228" y="120"/>
                </a:lnTo>
                <a:lnTo>
                  <a:pt x="285" y="162"/>
                </a:lnTo>
                <a:lnTo>
                  <a:pt x="342" y="210"/>
                </a:lnTo>
                <a:lnTo>
                  <a:pt x="417" y="282"/>
                </a:lnTo>
                <a:lnTo>
                  <a:pt x="465" y="345"/>
                </a:lnTo>
                <a:lnTo>
                  <a:pt x="513" y="405"/>
                </a:lnTo>
                <a:lnTo>
                  <a:pt x="549" y="462"/>
                </a:lnTo>
                <a:lnTo>
                  <a:pt x="591" y="528"/>
                </a:lnTo>
                <a:lnTo>
                  <a:pt x="627" y="603"/>
                </a:lnTo>
                <a:lnTo>
                  <a:pt x="657" y="666"/>
                </a:lnTo>
                <a:lnTo>
                  <a:pt x="684" y="723"/>
                </a:lnTo>
                <a:lnTo>
                  <a:pt x="717" y="813"/>
                </a:lnTo>
                <a:lnTo>
                  <a:pt x="738" y="894"/>
                </a:lnTo>
                <a:lnTo>
                  <a:pt x="762" y="969"/>
                </a:lnTo>
                <a:lnTo>
                  <a:pt x="777" y="1056"/>
                </a:lnTo>
                <a:lnTo>
                  <a:pt x="792" y="1149"/>
                </a:lnTo>
                <a:lnTo>
                  <a:pt x="807" y="1239"/>
                </a:lnTo>
                <a:lnTo>
                  <a:pt x="813" y="1332"/>
                </a:lnTo>
                <a:lnTo>
                  <a:pt x="813" y="1410"/>
                </a:lnTo>
                <a:lnTo>
                  <a:pt x="813" y="1479"/>
                </a:lnTo>
                <a:lnTo>
                  <a:pt x="810" y="1560"/>
                </a:lnTo>
                <a:lnTo>
                  <a:pt x="804" y="1635"/>
                </a:lnTo>
                <a:lnTo>
                  <a:pt x="792" y="1710"/>
                </a:lnTo>
                <a:lnTo>
                  <a:pt x="780" y="1785"/>
                </a:lnTo>
                <a:lnTo>
                  <a:pt x="762" y="1869"/>
                </a:lnTo>
                <a:lnTo>
                  <a:pt x="591" y="1830"/>
                </a:lnTo>
                <a:lnTo>
                  <a:pt x="786" y="2226"/>
                </a:lnTo>
                <a:lnTo>
                  <a:pt x="1149" y="1971"/>
                </a:lnTo>
                <a:lnTo>
                  <a:pt x="990" y="1932"/>
                </a:lnTo>
                <a:lnTo>
                  <a:pt x="1008" y="1869"/>
                </a:lnTo>
                <a:lnTo>
                  <a:pt x="1023" y="1797"/>
                </a:lnTo>
                <a:lnTo>
                  <a:pt x="1038" y="1716"/>
                </a:lnTo>
                <a:lnTo>
                  <a:pt x="1047" y="1644"/>
                </a:lnTo>
                <a:lnTo>
                  <a:pt x="1050" y="1566"/>
                </a:lnTo>
                <a:lnTo>
                  <a:pt x="1053" y="1482"/>
                </a:lnTo>
                <a:lnTo>
                  <a:pt x="1053" y="1395"/>
                </a:lnTo>
                <a:lnTo>
                  <a:pt x="1047" y="1299"/>
                </a:lnTo>
                <a:lnTo>
                  <a:pt x="1035" y="1206"/>
                </a:lnTo>
                <a:lnTo>
                  <a:pt x="1020" y="1113"/>
                </a:lnTo>
                <a:lnTo>
                  <a:pt x="1005" y="1050"/>
                </a:lnTo>
                <a:lnTo>
                  <a:pt x="987" y="975"/>
                </a:lnTo>
                <a:lnTo>
                  <a:pt x="963" y="900"/>
                </a:lnTo>
                <a:lnTo>
                  <a:pt x="942" y="831"/>
                </a:lnTo>
                <a:lnTo>
                  <a:pt x="912" y="762"/>
                </a:lnTo>
                <a:lnTo>
                  <a:pt x="879" y="684"/>
                </a:lnTo>
                <a:lnTo>
                  <a:pt x="837" y="603"/>
                </a:lnTo>
                <a:lnTo>
                  <a:pt x="798" y="534"/>
                </a:lnTo>
                <a:lnTo>
                  <a:pt x="750" y="462"/>
                </a:lnTo>
                <a:lnTo>
                  <a:pt x="711" y="408"/>
                </a:lnTo>
                <a:lnTo>
                  <a:pt x="669" y="363"/>
                </a:lnTo>
                <a:lnTo>
                  <a:pt x="615" y="309"/>
                </a:lnTo>
                <a:lnTo>
                  <a:pt x="558" y="249"/>
                </a:lnTo>
                <a:lnTo>
                  <a:pt x="501" y="201"/>
                </a:lnTo>
                <a:lnTo>
                  <a:pt x="433" y="157"/>
                </a:lnTo>
                <a:lnTo>
                  <a:pt x="366" y="114"/>
                </a:lnTo>
                <a:lnTo>
                  <a:pt x="297" y="81"/>
                </a:lnTo>
                <a:lnTo>
                  <a:pt x="225" y="51"/>
                </a:lnTo>
                <a:lnTo>
                  <a:pt x="153" y="24"/>
                </a:lnTo>
                <a:lnTo>
                  <a:pt x="81" y="9"/>
                </a:lnTo>
                <a:lnTo>
                  <a:pt x="0" y="0"/>
                </a:lnTo>
              </a:path>
            </a:pathLst>
          </a:custGeom>
          <a:solidFill>
            <a:schemeClr val="bg1">
              <a:lumMod val="95000"/>
            </a:schemeClr>
          </a:solidFill>
          <a:ln w="12700" cap="flat" cmpd="sng">
            <a:solidFill>
              <a:schemeClr val="tx1">
                <a:lumMod val="50000"/>
                <a:lumOff val="50000"/>
              </a:schemeClr>
            </a:solidFill>
            <a:prstDash val="solid"/>
            <a:round/>
            <a:headEnd type="none" w="med" len="med"/>
            <a:tailEnd type="none" w="med" len="med"/>
          </a:ln>
          <a:effectLst/>
        </p:spPr>
        <p:txBody>
          <a:bodyPr wrap="none" anchor="ctr"/>
          <a:lstStyle/>
          <a:p>
            <a:endParaRPr lang="en-US" noProof="0" dirty="0"/>
          </a:p>
        </p:txBody>
      </p:sp>
      <p:cxnSp>
        <p:nvCxnSpPr>
          <p:cNvPr id="19" name="Gerader Verbinder 18">
            <a:extLst>
              <a:ext uri="{FF2B5EF4-FFF2-40B4-BE49-F238E27FC236}">
                <a16:creationId xmlns:a16="http://schemas.microsoft.com/office/drawing/2014/main" id="{49AA714E-F1C5-BD54-AA0E-B5C83CAE1B1F}"/>
              </a:ext>
            </a:extLst>
          </p:cNvPr>
          <p:cNvCxnSpPr>
            <a:cxnSpLocks/>
          </p:cNvCxnSpPr>
          <p:nvPr/>
        </p:nvCxnSpPr>
        <p:spPr>
          <a:xfrm flipH="1" flipV="1">
            <a:off x="5652120" y="2817802"/>
            <a:ext cx="360040" cy="5976"/>
          </a:xfrm>
          <a:prstGeom prst="lin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21" name="Gerader Verbinder 20">
            <a:extLst>
              <a:ext uri="{FF2B5EF4-FFF2-40B4-BE49-F238E27FC236}">
                <a16:creationId xmlns:a16="http://schemas.microsoft.com/office/drawing/2014/main" id="{6C7C139C-FA84-C49C-94C8-2DDD206B355A}"/>
              </a:ext>
            </a:extLst>
          </p:cNvPr>
          <p:cNvCxnSpPr>
            <a:cxnSpLocks/>
            <a:stCxn id="13" idx="2"/>
            <a:endCxn id="14" idx="0"/>
          </p:cNvCxnSpPr>
          <p:nvPr/>
        </p:nvCxnSpPr>
        <p:spPr>
          <a:xfrm>
            <a:off x="7380312" y="4029911"/>
            <a:ext cx="0" cy="126013"/>
          </a:xfrm>
          <a:prstGeom prst="lin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27" name="Gerader Verbinder 26">
            <a:extLst>
              <a:ext uri="{FF2B5EF4-FFF2-40B4-BE49-F238E27FC236}">
                <a16:creationId xmlns:a16="http://schemas.microsoft.com/office/drawing/2014/main" id="{C47930FA-417F-207C-4A5A-B353BFA05C21}"/>
              </a:ext>
            </a:extLst>
          </p:cNvPr>
          <p:cNvCxnSpPr/>
          <p:nvPr/>
        </p:nvCxnSpPr>
        <p:spPr>
          <a:xfrm>
            <a:off x="5652120" y="2817802"/>
            <a:ext cx="0" cy="834068"/>
          </a:xfrm>
          <a:prstGeom prst="lin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cxnSp>
      <p:sp>
        <p:nvSpPr>
          <p:cNvPr id="7" name="Textfeld 6">
            <a:extLst>
              <a:ext uri="{FF2B5EF4-FFF2-40B4-BE49-F238E27FC236}">
                <a16:creationId xmlns:a16="http://schemas.microsoft.com/office/drawing/2014/main" id="{39D80937-6BC0-FB2C-BADB-C49A651EA683}"/>
              </a:ext>
            </a:extLst>
          </p:cNvPr>
          <p:cNvSpPr txBox="1"/>
          <p:nvPr/>
        </p:nvSpPr>
        <p:spPr>
          <a:xfrm rot="1247246">
            <a:off x="8455906" y="1659000"/>
            <a:ext cx="554960" cy="246221"/>
          </a:xfrm>
          <a:prstGeom prst="rect">
            <a:avLst/>
          </a:prstGeom>
          <a:solidFill>
            <a:srgbClr val="FFFF00"/>
          </a:solidFill>
        </p:spPr>
        <p:txBody>
          <a:bodyPr wrap="none" rtlCol="0">
            <a:spAutoFit/>
          </a:bodyPr>
          <a:lstStyle/>
          <a:p>
            <a:pPr algn="ctr"/>
            <a:r>
              <a:rPr lang="en-US" sz="1000" noProof="0" dirty="0">
                <a:solidFill>
                  <a:srgbClr val="C00000"/>
                </a:solidFill>
              </a:rPr>
              <a:t>update</a:t>
            </a:r>
          </a:p>
        </p:txBody>
      </p:sp>
    </p:spTree>
    <p:extLst>
      <p:ext uri="{BB962C8B-B14F-4D97-AF65-F5344CB8AC3E}">
        <p14:creationId xmlns:p14="http://schemas.microsoft.com/office/powerpoint/2010/main" val="925748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632E1-BF65-9D9E-4C0C-024F52F13CCE}"/>
            </a:ext>
          </a:extLst>
        </p:cNvPr>
        <p:cNvGrpSpPr/>
        <p:nvPr/>
      </p:nvGrpSpPr>
      <p:grpSpPr>
        <a:xfrm>
          <a:off x="0" y="0"/>
          <a:ext cx="0" cy="0"/>
          <a:chOff x="0" y="0"/>
          <a:chExt cx="0" cy="0"/>
        </a:xfrm>
      </p:grpSpPr>
      <p:pic>
        <p:nvPicPr>
          <p:cNvPr id="14" name="Grafik 13">
            <a:extLst>
              <a:ext uri="{FF2B5EF4-FFF2-40B4-BE49-F238E27FC236}">
                <a16:creationId xmlns:a16="http://schemas.microsoft.com/office/drawing/2014/main" id="{41556790-EE5F-0FD1-A714-781F90FAE4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01061" y="2931790"/>
            <a:ext cx="2806374" cy="2104780"/>
          </a:xfrm>
          <a:prstGeom prst="rect">
            <a:avLst/>
          </a:prstGeom>
        </p:spPr>
      </p:pic>
      <p:pic>
        <p:nvPicPr>
          <p:cNvPr id="11" name="Grafik 10">
            <a:extLst>
              <a:ext uri="{FF2B5EF4-FFF2-40B4-BE49-F238E27FC236}">
                <a16:creationId xmlns:a16="http://schemas.microsoft.com/office/drawing/2014/main" id="{110C1627-C412-E879-7163-469CD27CB9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556" y="1508178"/>
            <a:ext cx="3528392" cy="3528392"/>
          </a:xfrm>
          <a:prstGeom prst="rect">
            <a:avLst/>
          </a:prstGeom>
        </p:spPr>
      </p:pic>
      <p:sp>
        <p:nvSpPr>
          <p:cNvPr id="9" name="Rechteck 8">
            <a:extLst>
              <a:ext uri="{FF2B5EF4-FFF2-40B4-BE49-F238E27FC236}">
                <a16:creationId xmlns:a16="http://schemas.microsoft.com/office/drawing/2014/main" id="{ED4E817A-8A7B-708D-1F6D-841F1E041C12}"/>
              </a:ext>
            </a:extLst>
          </p:cNvPr>
          <p:cNvSpPr/>
          <p:nvPr/>
        </p:nvSpPr>
        <p:spPr>
          <a:xfrm>
            <a:off x="4716016" y="2931790"/>
            <a:ext cx="4176464" cy="210478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noProof="0" dirty="0">
              <a:solidFill>
                <a:schemeClr val="tx1"/>
              </a:solidFill>
            </a:endParaRPr>
          </a:p>
        </p:txBody>
      </p:sp>
      <p:sp>
        <p:nvSpPr>
          <p:cNvPr id="2" name="Titel 1">
            <a:extLst>
              <a:ext uri="{FF2B5EF4-FFF2-40B4-BE49-F238E27FC236}">
                <a16:creationId xmlns:a16="http://schemas.microsoft.com/office/drawing/2014/main" id="{A48CBC55-71C1-A3A3-D89C-A3BAAE493C90}"/>
              </a:ext>
            </a:extLst>
          </p:cNvPr>
          <p:cNvSpPr>
            <a:spLocks noGrp="1"/>
          </p:cNvSpPr>
          <p:nvPr>
            <p:ph type="title"/>
          </p:nvPr>
        </p:nvSpPr>
        <p:spPr/>
        <p:txBody>
          <a:bodyPr/>
          <a:lstStyle/>
          <a:p>
            <a:r>
              <a:rPr lang="en-US" noProof="0" dirty="0"/>
              <a:t>Implementation:</a:t>
            </a:r>
            <a:br>
              <a:rPr lang="en-US" noProof="0" dirty="0"/>
            </a:br>
            <a:r>
              <a:rPr lang="en-US" noProof="0" dirty="0"/>
              <a:t>3) Results from </a:t>
            </a:r>
            <a:r>
              <a:rPr lang="en-US" noProof="0" dirty="0" err="1"/>
              <a:t>ChatOn</a:t>
            </a:r>
            <a:r>
              <a:rPr lang="en-US" noProof="0" dirty="0"/>
              <a:t> AI: movement only</a:t>
            </a:r>
          </a:p>
        </p:txBody>
      </p:sp>
      <p:sp>
        <p:nvSpPr>
          <p:cNvPr id="4" name="Textfeld 3">
            <a:extLst>
              <a:ext uri="{FF2B5EF4-FFF2-40B4-BE49-F238E27FC236}">
                <a16:creationId xmlns:a16="http://schemas.microsoft.com/office/drawing/2014/main" id="{8B316E70-3C8E-553D-22B8-D1809757A79E}"/>
              </a:ext>
            </a:extLst>
          </p:cNvPr>
          <p:cNvSpPr txBox="1"/>
          <p:nvPr/>
        </p:nvSpPr>
        <p:spPr>
          <a:xfrm>
            <a:off x="4716016" y="1131590"/>
            <a:ext cx="3960440" cy="830997"/>
          </a:xfrm>
          <a:prstGeom prst="rect">
            <a:avLst/>
          </a:prstGeom>
          <a:noFill/>
        </p:spPr>
        <p:txBody>
          <a:bodyPr wrap="square">
            <a:spAutoFit/>
          </a:bodyPr>
          <a:lstStyle/>
          <a:p>
            <a:r>
              <a:rPr lang="en-US" sz="800" noProof="0" dirty="0">
                <a:latin typeface="Courier New" panose="02070309020205020404" pitchFamily="49" charset="0"/>
                <a:cs typeface="Courier New" panose="02070309020205020404" pitchFamily="49" charset="0"/>
              </a:rPr>
              <a:t># </a:t>
            </a:r>
            <a:r>
              <a:rPr lang="en-US" sz="800" b="1" noProof="0" dirty="0">
                <a:latin typeface="Courier New" panose="02070309020205020404" pitchFamily="49" charset="0"/>
                <a:cs typeface="Courier New" panose="02070309020205020404" pitchFamily="49" charset="0"/>
              </a:rPr>
              <a:t>File: 01_WaTor.py</a:t>
            </a:r>
          </a:p>
          <a:p>
            <a:r>
              <a:rPr lang="en-US" sz="800" noProof="0" dirty="0">
                <a:latin typeface="Courier New" panose="02070309020205020404" pitchFamily="49" charset="0"/>
                <a:cs typeface="Courier New" panose="02070309020205020404" pitchFamily="49" charset="0"/>
              </a:rPr>
              <a:t># Simulation parameters</a:t>
            </a:r>
          </a:p>
          <a:p>
            <a:r>
              <a:rPr lang="en-US" sz="800" noProof="0" dirty="0">
                <a:latin typeface="Courier New" panose="02070309020205020404" pitchFamily="49" charset="0"/>
                <a:cs typeface="Courier New" panose="02070309020205020404" pitchFamily="49" charset="0"/>
              </a:rPr>
              <a:t>N  = 100                   # Size of the lattice</a:t>
            </a:r>
          </a:p>
          <a:p>
            <a:r>
              <a:rPr lang="en-US" sz="800" noProof="0" dirty="0">
                <a:latin typeface="Courier New" panose="02070309020205020404" pitchFamily="49" charset="0"/>
                <a:cs typeface="Courier New" panose="02070309020205020404" pitchFamily="49" charset="0"/>
              </a:rPr>
              <a:t>T  = 20                    # Maximum number of time steps</a:t>
            </a:r>
          </a:p>
          <a:p>
            <a:r>
              <a:rPr lang="en-US" sz="800" noProof="0" dirty="0">
                <a:latin typeface="Courier New" panose="02070309020205020404" pitchFamily="49" charset="0"/>
                <a:cs typeface="Courier New" panose="02070309020205020404" pitchFamily="49" charset="0"/>
              </a:rPr>
              <a:t>NF = 100                   # Initial number of fish</a:t>
            </a:r>
          </a:p>
          <a:p>
            <a:r>
              <a:rPr lang="en-US" sz="800" noProof="0" dirty="0">
                <a:latin typeface="Courier New" panose="02070309020205020404" pitchFamily="49" charset="0"/>
                <a:cs typeface="Courier New" panose="02070309020205020404" pitchFamily="49" charset="0"/>
              </a:rPr>
              <a:t>NS = 20                    # Initial number of sharks</a:t>
            </a:r>
          </a:p>
        </p:txBody>
      </p:sp>
      <p:sp>
        <p:nvSpPr>
          <p:cNvPr id="6" name="Rechteck 5">
            <a:extLst>
              <a:ext uri="{FF2B5EF4-FFF2-40B4-BE49-F238E27FC236}">
                <a16:creationId xmlns:a16="http://schemas.microsoft.com/office/drawing/2014/main" id="{8993F194-9111-9BAB-3FC3-B1C95CFD0400}"/>
              </a:ext>
            </a:extLst>
          </p:cNvPr>
          <p:cNvSpPr/>
          <p:nvPr/>
        </p:nvSpPr>
        <p:spPr>
          <a:xfrm>
            <a:off x="251520" y="1148138"/>
            <a:ext cx="4176464"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Movement on the Toroidal Grid</a:t>
            </a:r>
          </a:p>
        </p:txBody>
      </p:sp>
      <p:sp>
        <p:nvSpPr>
          <p:cNvPr id="7" name="Rechteck 6">
            <a:extLst>
              <a:ext uri="{FF2B5EF4-FFF2-40B4-BE49-F238E27FC236}">
                <a16:creationId xmlns:a16="http://schemas.microsoft.com/office/drawing/2014/main" id="{BA68E2AA-4064-EB6F-6380-FA9F13CC4190}"/>
              </a:ext>
            </a:extLst>
          </p:cNvPr>
          <p:cNvSpPr/>
          <p:nvPr/>
        </p:nvSpPr>
        <p:spPr>
          <a:xfrm>
            <a:off x="251520" y="1508178"/>
            <a:ext cx="4176464" cy="352839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noProof="0" dirty="0">
              <a:solidFill>
                <a:schemeClr val="tx1"/>
              </a:solidFill>
            </a:endParaRPr>
          </a:p>
        </p:txBody>
      </p:sp>
      <p:sp>
        <p:nvSpPr>
          <p:cNvPr id="8" name="Rechteck 7">
            <a:extLst>
              <a:ext uri="{FF2B5EF4-FFF2-40B4-BE49-F238E27FC236}">
                <a16:creationId xmlns:a16="http://schemas.microsoft.com/office/drawing/2014/main" id="{75F3CD72-BF32-F113-CF6A-14A2DF77571C}"/>
              </a:ext>
            </a:extLst>
          </p:cNvPr>
          <p:cNvSpPr/>
          <p:nvPr/>
        </p:nvSpPr>
        <p:spPr>
          <a:xfrm>
            <a:off x="4716016" y="2571750"/>
            <a:ext cx="4176464"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Time Evolution of the Population Numbers</a:t>
            </a:r>
          </a:p>
        </p:txBody>
      </p:sp>
    </p:spTree>
    <p:extLst>
      <p:ext uri="{BB962C8B-B14F-4D97-AF65-F5344CB8AC3E}">
        <p14:creationId xmlns:p14="http://schemas.microsoft.com/office/powerpoint/2010/main" val="11059966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33D89-4750-88BD-B1D6-48547A706CD9}"/>
            </a:ext>
          </a:extLst>
        </p:cNvPr>
        <p:cNvGrpSpPr/>
        <p:nvPr/>
      </p:nvGrpSpPr>
      <p:grpSpPr>
        <a:xfrm>
          <a:off x="0" y="0"/>
          <a:ext cx="0" cy="0"/>
          <a:chOff x="0" y="0"/>
          <a:chExt cx="0" cy="0"/>
        </a:xfrm>
      </p:grpSpPr>
      <p:sp>
        <p:nvSpPr>
          <p:cNvPr id="4" name="Abgerundetes Rechteck 1">
            <a:extLst>
              <a:ext uri="{FF2B5EF4-FFF2-40B4-BE49-F238E27FC236}">
                <a16:creationId xmlns:a16="http://schemas.microsoft.com/office/drawing/2014/main" id="{319BCDFF-F0A4-76B0-E25B-6DA6A1AE7BF7}"/>
              </a:ext>
            </a:extLst>
          </p:cNvPr>
          <p:cNvSpPr/>
          <p:nvPr/>
        </p:nvSpPr>
        <p:spPr>
          <a:xfrm>
            <a:off x="1691680" y="3205754"/>
            <a:ext cx="432048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Abgerundetes Rechteck 1">
            <a:extLst>
              <a:ext uri="{FF2B5EF4-FFF2-40B4-BE49-F238E27FC236}">
                <a16:creationId xmlns:a16="http://schemas.microsoft.com/office/drawing/2014/main" id="{43AED812-3459-3937-B27F-4E5EB4E60B01}"/>
              </a:ext>
            </a:extLst>
          </p:cNvPr>
          <p:cNvSpPr/>
          <p:nvPr/>
        </p:nvSpPr>
        <p:spPr>
          <a:xfrm>
            <a:off x="971600" y="2124844"/>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74FF9844-BCD3-D0F0-24E9-8E28BAD683E8}"/>
              </a:ext>
            </a:extLst>
          </p:cNvPr>
          <p:cNvSpPr txBox="1"/>
          <p:nvPr/>
        </p:nvSpPr>
        <p:spPr>
          <a:xfrm>
            <a:off x="971600" y="1131590"/>
            <a:ext cx="4373185" cy="3570208"/>
          </a:xfrm>
          <a:prstGeom prst="rect">
            <a:avLst/>
          </a:prstGeom>
          <a:noFill/>
        </p:spPr>
        <p:txBody>
          <a:bodyPr wrap="none" rtlCol="0">
            <a:spAutoFit/>
          </a:bodyPr>
          <a:lstStyle/>
          <a:p>
            <a:r>
              <a:rPr lang="en-US" b="1" noProof="0" dirty="0"/>
              <a:t>Topics</a:t>
            </a:r>
          </a:p>
          <a:p>
            <a:endParaRPr lang="en-US" sz="1000" noProof="0" dirty="0"/>
          </a:p>
          <a:p>
            <a:pPr lvl="1"/>
            <a:r>
              <a:rPr lang="en-US" noProof="0" dirty="0"/>
              <a:t>Course Overview</a:t>
            </a:r>
          </a:p>
          <a:p>
            <a:pPr lvl="1"/>
            <a:endParaRPr lang="en-US" noProof="0" dirty="0"/>
          </a:p>
          <a:p>
            <a:pPr lvl="1"/>
            <a:r>
              <a:rPr lang="en-US" b="1" noProof="0" dirty="0"/>
              <a:t>The Water Planet </a:t>
            </a:r>
            <a:r>
              <a:rPr lang="en-US" b="1" noProof="0" dirty="0" err="1"/>
              <a:t>Wa</a:t>
            </a:r>
            <a:r>
              <a:rPr lang="en-US" b="1" noProof="0" dirty="0"/>
              <a:t>-Tor</a:t>
            </a:r>
          </a:p>
          <a:p>
            <a:pPr lvl="1"/>
            <a:endParaRPr lang="en-US" b="1" noProof="0" dirty="0"/>
          </a:p>
          <a:p>
            <a:pPr lvl="1"/>
            <a:r>
              <a:rPr lang="en-US" b="1" noProof="0" dirty="0"/>
              <a:t>	</a:t>
            </a:r>
            <a:r>
              <a:rPr lang="en-US" noProof="0" dirty="0"/>
              <a:t>Phase 1: Movement on the Lattice</a:t>
            </a:r>
          </a:p>
          <a:p>
            <a:pPr marL="742950" lvl="1" indent="-285750">
              <a:buFont typeface="Arial" panose="020B0604020202020204" pitchFamily="34" charset="0"/>
              <a:buChar char="•"/>
            </a:pPr>
            <a:endParaRPr lang="en-US" b="1" noProof="0" dirty="0"/>
          </a:p>
          <a:p>
            <a:pPr lvl="1"/>
            <a:r>
              <a:rPr lang="en-US" noProof="0" dirty="0"/>
              <a:t>	</a:t>
            </a:r>
            <a:r>
              <a:rPr lang="en-US" b="1" noProof="0" dirty="0"/>
              <a:t>Phase 2: Interactions</a:t>
            </a:r>
          </a:p>
          <a:p>
            <a:pPr lvl="1"/>
            <a:endParaRPr lang="en-US" noProof="0" dirty="0"/>
          </a:p>
          <a:p>
            <a:pPr lvl="1"/>
            <a:r>
              <a:rPr lang="en-US" noProof="0" dirty="0"/>
              <a:t>Qualification &amp; </a:t>
            </a:r>
            <a:r>
              <a:rPr lang="en-US" noProof="0" dirty="0" err="1"/>
              <a:t>Verfication</a:t>
            </a:r>
            <a:endParaRPr lang="en-US" noProof="0" dirty="0"/>
          </a:p>
          <a:p>
            <a:pPr lvl="1"/>
            <a:endParaRPr lang="en-US" b="1" noProof="0" dirty="0"/>
          </a:p>
          <a:p>
            <a:pPr lvl="1"/>
            <a:r>
              <a:rPr lang="en-US" noProof="0" dirty="0"/>
              <a:t>Strategy Evolution on </a:t>
            </a:r>
            <a:r>
              <a:rPr lang="en-US" noProof="0" dirty="0" err="1"/>
              <a:t>Wa</a:t>
            </a:r>
            <a:r>
              <a:rPr lang="en-US" noProof="0" dirty="0"/>
              <a:t>-Tor</a:t>
            </a:r>
          </a:p>
        </p:txBody>
      </p:sp>
      <p:pic>
        <p:nvPicPr>
          <p:cNvPr id="5" name="Grafik 4">
            <a:extLst>
              <a:ext uri="{FF2B5EF4-FFF2-40B4-BE49-F238E27FC236}">
                <a16:creationId xmlns:a16="http://schemas.microsoft.com/office/drawing/2014/main" id="{B6686430-D48F-7DAB-7079-E20ACDD9C1BA}"/>
              </a:ext>
            </a:extLst>
          </p:cNvPr>
          <p:cNvPicPr>
            <a:picLocks noChangeAspect="1"/>
          </p:cNvPicPr>
          <p:nvPr/>
        </p:nvPicPr>
        <p:blipFill>
          <a:blip r:embed="rId2"/>
          <a:srcRect l="14933" t="2326" r="14135" b="41860"/>
          <a:stretch>
            <a:fillRect/>
          </a:stretch>
        </p:blipFill>
        <p:spPr>
          <a:xfrm>
            <a:off x="6255172" y="3291830"/>
            <a:ext cx="2704958" cy="1418952"/>
          </a:xfrm>
          <a:prstGeom prst="rect">
            <a:avLst/>
          </a:prstGeom>
        </p:spPr>
      </p:pic>
      <p:sp>
        <p:nvSpPr>
          <p:cNvPr id="6" name="Textfeld 5">
            <a:extLst>
              <a:ext uri="{FF2B5EF4-FFF2-40B4-BE49-F238E27FC236}">
                <a16:creationId xmlns:a16="http://schemas.microsoft.com/office/drawing/2014/main" id="{A0410A0E-944A-0188-CA6B-EE3433E534BC}"/>
              </a:ext>
            </a:extLst>
          </p:cNvPr>
          <p:cNvSpPr txBox="1"/>
          <p:nvPr/>
        </p:nvSpPr>
        <p:spPr>
          <a:xfrm>
            <a:off x="8000889" y="4681468"/>
            <a:ext cx="891591" cy="338554"/>
          </a:xfrm>
          <a:prstGeom prst="rect">
            <a:avLst/>
          </a:prstGeom>
          <a:noFill/>
        </p:spPr>
        <p:txBody>
          <a:bodyPr wrap="none" rtlCol="0">
            <a:spAutoFit/>
          </a:bodyPr>
          <a:lstStyle/>
          <a:p>
            <a:pPr algn="r"/>
            <a:r>
              <a:rPr lang="en-US" sz="800" noProof="0" dirty="0">
                <a:solidFill>
                  <a:schemeClr val="tx1">
                    <a:lumMod val="50000"/>
                    <a:lumOff val="50000"/>
                  </a:schemeClr>
                </a:solidFill>
              </a:rPr>
              <a:t>image generated</a:t>
            </a:r>
          </a:p>
          <a:p>
            <a:pPr algn="r"/>
            <a:r>
              <a:rPr lang="en-US" sz="800" noProof="0" dirty="0">
                <a:solidFill>
                  <a:schemeClr val="tx1">
                    <a:lumMod val="50000"/>
                    <a:lumOff val="50000"/>
                  </a:schemeClr>
                </a:solidFill>
              </a:rPr>
              <a:t>with ChatGPT</a:t>
            </a:r>
          </a:p>
        </p:txBody>
      </p:sp>
    </p:spTree>
    <p:extLst>
      <p:ext uri="{BB962C8B-B14F-4D97-AF65-F5344CB8AC3E}">
        <p14:creationId xmlns:p14="http://schemas.microsoft.com/office/powerpoint/2010/main" val="16124439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47A5A-6ED9-3792-990F-4A0BDDC2209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1123927-22EA-70C3-9211-3F711A0C0552}"/>
              </a:ext>
            </a:extLst>
          </p:cNvPr>
          <p:cNvSpPr>
            <a:spLocks noGrp="1"/>
          </p:cNvSpPr>
          <p:nvPr>
            <p:ph type="title"/>
          </p:nvPr>
        </p:nvSpPr>
        <p:spPr/>
        <p:txBody>
          <a:bodyPr/>
          <a:lstStyle/>
          <a:p>
            <a:r>
              <a:rPr lang="en-US" noProof="0" dirty="0"/>
              <a:t>Finally, we state the (intra- and inter-species) interaction rules …</a:t>
            </a:r>
          </a:p>
        </p:txBody>
      </p:sp>
      <p:sp>
        <p:nvSpPr>
          <p:cNvPr id="3" name="Rechteck 2">
            <a:extLst>
              <a:ext uri="{FF2B5EF4-FFF2-40B4-BE49-F238E27FC236}">
                <a16:creationId xmlns:a16="http://schemas.microsoft.com/office/drawing/2014/main" id="{C8231608-9F30-85DB-4317-4813C2041D80}"/>
              </a:ext>
            </a:extLst>
          </p:cNvPr>
          <p:cNvSpPr/>
          <p:nvPr/>
        </p:nvSpPr>
        <p:spPr>
          <a:xfrm rot="16200000">
            <a:off x="-1548680" y="2931790"/>
            <a:ext cx="3888432" cy="288032"/>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err="1">
                <a:solidFill>
                  <a:schemeClr val="tx1"/>
                </a:solidFill>
              </a:rPr>
              <a:t>Wa</a:t>
            </a:r>
            <a:r>
              <a:rPr lang="en-US" sz="1400" noProof="0" dirty="0">
                <a:solidFill>
                  <a:schemeClr val="tx1"/>
                </a:solidFill>
              </a:rPr>
              <a:t>-Tor Scheme (1</a:t>
            </a:r>
            <a:r>
              <a:rPr lang="en-US" sz="1400" baseline="30000" noProof="0" dirty="0">
                <a:solidFill>
                  <a:schemeClr val="tx1"/>
                </a:solidFill>
              </a:rPr>
              <a:t>st</a:t>
            </a:r>
            <a:r>
              <a:rPr lang="en-US" sz="1400" noProof="0" dirty="0">
                <a:solidFill>
                  <a:schemeClr val="tx1"/>
                </a:solidFill>
              </a:rPr>
              <a:t> version)</a:t>
            </a:r>
          </a:p>
        </p:txBody>
      </p:sp>
      <p:sp>
        <p:nvSpPr>
          <p:cNvPr id="4" name="Rechteck 3">
            <a:extLst>
              <a:ext uri="{FF2B5EF4-FFF2-40B4-BE49-F238E27FC236}">
                <a16:creationId xmlns:a16="http://schemas.microsoft.com/office/drawing/2014/main" id="{A63CBA75-93D7-00E2-FD3B-6392D39CCA05}"/>
              </a:ext>
            </a:extLst>
          </p:cNvPr>
          <p:cNvSpPr/>
          <p:nvPr/>
        </p:nvSpPr>
        <p:spPr>
          <a:xfrm>
            <a:off x="611559" y="1131590"/>
            <a:ext cx="4117257"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Fish Rules</a:t>
            </a:r>
          </a:p>
        </p:txBody>
      </p:sp>
      <p:sp>
        <p:nvSpPr>
          <p:cNvPr id="5" name="Rechteck 4">
            <a:extLst>
              <a:ext uri="{FF2B5EF4-FFF2-40B4-BE49-F238E27FC236}">
                <a16:creationId xmlns:a16="http://schemas.microsoft.com/office/drawing/2014/main" id="{AF1D8370-1086-7F47-3DBC-C17E9322E465}"/>
              </a:ext>
            </a:extLst>
          </p:cNvPr>
          <p:cNvSpPr/>
          <p:nvPr/>
        </p:nvSpPr>
        <p:spPr>
          <a:xfrm>
            <a:off x="4788024" y="1131590"/>
            <a:ext cx="4104456"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Shark Rules</a:t>
            </a:r>
          </a:p>
        </p:txBody>
      </p:sp>
      <p:sp>
        <p:nvSpPr>
          <p:cNvPr id="6" name="Rechteck 5">
            <a:extLst>
              <a:ext uri="{FF2B5EF4-FFF2-40B4-BE49-F238E27FC236}">
                <a16:creationId xmlns:a16="http://schemas.microsoft.com/office/drawing/2014/main" id="{63A3BF72-C008-0BDD-4186-5935BBF3E9F4}"/>
              </a:ext>
            </a:extLst>
          </p:cNvPr>
          <p:cNvSpPr/>
          <p:nvPr/>
        </p:nvSpPr>
        <p:spPr>
          <a:xfrm>
            <a:off x="611559" y="1491630"/>
            <a:ext cx="4117257" cy="352839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buFont typeface="Arial" pitchFamily="34" charset="0"/>
              <a:buChar char="•"/>
            </a:pPr>
            <a:r>
              <a:rPr lang="en-US" sz="1400" noProof="0" dirty="0">
                <a:solidFill>
                  <a:schemeClr val="tx1"/>
                </a:solidFill>
              </a:rPr>
              <a:t>Every fish has an age that is increased by one after each move.</a:t>
            </a:r>
          </a:p>
          <a:p>
            <a:pPr marL="176213" indent="-176213">
              <a:spcAft>
                <a:spcPts val="600"/>
              </a:spcAft>
              <a:buFont typeface="Arial" pitchFamily="34" charset="0"/>
              <a:buChar char="•"/>
            </a:pPr>
            <a:r>
              <a:rPr lang="en-US" sz="1400" noProof="0" dirty="0">
                <a:solidFill>
                  <a:schemeClr val="tx1"/>
                </a:solidFill>
              </a:rPr>
              <a:t>If the age is larger than a “fish breeding time” then a new fish is “born” (with zero age) on an unoccupied neighboring cell, and the age of the fish is set back to zero.</a:t>
            </a:r>
          </a:p>
          <a:p>
            <a:pPr marL="176213" indent="-176213">
              <a:spcAft>
                <a:spcPts val="600"/>
              </a:spcAft>
              <a:buFont typeface="Arial" pitchFamily="34" charset="0"/>
              <a:buChar char="•"/>
            </a:pPr>
            <a:r>
              <a:rPr lang="en-US" sz="1400" noProof="0" dirty="0">
                <a:solidFill>
                  <a:schemeClr val="tx1"/>
                </a:solidFill>
              </a:rPr>
              <a:t>If there is more than one unoccupied neighboring cell, then the place for the new fish is equally likely for all unoccupied neighboring cell and selected at random.</a:t>
            </a:r>
          </a:p>
          <a:p>
            <a:pPr marL="176213" indent="-176213">
              <a:spcAft>
                <a:spcPts val="600"/>
              </a:spcAft>
              <a:buFont typeface="Arial" pitchFamily="34" charset="0"/>
              <a:buChar char="•"/>
            </a:pPr>
            <a:r>
              <a:rPr lang="en-US" sz="1400" noProof="0" dirty="0">
                <a:solidFill>
                  <a:schemeClr val="tx1"/>
                </a:solidFill>
              </a:rPr>
              <a:t>If all eight direct neighbor cells are occupied, the fish moves on until it either gets eaten by a shark or is positioned at a cell with at least one unoccupied neighboring cell.</a:t>
            </a:r>
          </a:p>
        </p:txBody>
      </p:sp>
      <p:sp>
        <p:nvSpPr>
          <p:cNvPr id="7" name="Rechteck 6">
            <a:extLst>
              <a:ext uri="{FF2B5EF4-FFF2-40B4-BE49-F238E27FC236}">
                <a16:creationId xmlns:a16="http://schemas.microsoft.com/office/drawing/2014/main" id="{1AC864D8-778B-BCBB-F22C-2A27187E1B5F}"/>
              </a:ext>
            </a:extLst>
          </p:cNvPr>
          <p:cNvSpPr/>
          <p:nvPr/>
        </p:nvSpPr>
        <p:spPr>
          <a:xfrm>
            <a:off x="4788024" y="1491630"/>
            <a:ext cx="4104456" cy="352839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buFont typeface="Arial" pitchFamily="34" charset="0"/>
              <a:buChar char="•"/>
            </a:pPr>
            <a:r>
              <a:rPr lang="en-US" sz="1400" noProof="0" dirty="0">
                <a:solidFill>
                  <a:schemeClr val="tx1"/>
                </a:solidFill>
              </a:rPr>
              <a:t>Every shark has an age that is increased by one after each move.</a:t>
            </a:r>
          </a:p>
          <a:p>
            <a:pPr marL="176213" indent="-176213">
              <a:spcAft>
                <a:spcPts val="600"/>
              </a:spcAft>
              <a:buFont typeface="Arial" pitchFamily="34" charset="0"/>
              <a:buChar char="•"/>
            </a:pPr>
            <a:r>
              <a:rPr lang="en-US" sz="1400" noProof="0" dirty="0">
                <a:solidFill>
                  <a:schemeClr val="tx1"/>
                </a:solidFill>
              </a:rPr>
              <a:t>At a collision between a shark and a fish the shark eats the fish, then the “shark starving time” is set to zero and the fish is canceled from the simulation.</a:t>
            </a:r>
          </a:p>
          <a:p>
            <a:pPr marL="176213" indent="-176213">
              <a:spcAft>
                <a:spcPts val="600"/>
              </a:spcAft>
              <a:buFont typeface="Arial" pitchFamily="34" charset="0"/>
              <a:buChar char="•"/>
            </a:pPr>
            <a:r>
              <a:rPr lang="en-US" sz="1400" noProof="0" dirty="0">
                <a:solidFill>
                  <a:schemeClr val="tx1"/>
                </a:solidFill>
              </a:rPr>
              <a:t>If a shark does not find a fish after a certain amount of time (shark starving time), then it is canceled from the simulation.</a:t>
            </a:r>
          </a:p>
          <a:p>
            <a:pPr marL="176213" indent="-176213">
              <a:spcAft>
                <a:spcPts val="600"/>
              </a:spcAft>
              <a:buFont typeface="Arial" pitchFamily="34" charset="0"/>
              <a:buChar char="•"/>
            </a:pPr>
            <a:r>
              <a:rPr lang="en-US" sz="1400" noProof="0" dirty="0">
                <a:solidFill>
                  <a:schemeClr val="tx1"/>
                </a:solidFill>
              </a:rPr>
              <a:t>If the age of a shark is equal or larger than a “shark breeding time” then a new shark is “born” (with zero age and zero starve time) according to the same rules as for fish.</a:t>
            </a:r>
          </a:p>
        </p:txBody>
      </p:sp>
    </p:spTree>
    <p:extLst>
      <p:ext uri="{BB962C8B-B14F-4D97-AF65-F5344CB8AC3E}">
        <p14:creationId xmlns:p14="http://schemas.microsoft.com/office/powerpoint/2010/main" val="11183506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7946D-2517-7F73-ECC5-9197650D5F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5CCF947-8ABD-6110-6244-64F80337BC76}"/>
              </a:ext>
            </a:extLst>
          </p:cNvPr>
          <p:cNvSpPr>
            <a:spLocks noGrp="1"/>
          </p:cNvSpPr>
          <p:nvPr>
            <p:ph type="title"/>
          </p:nvPr>
        </p:nvSpPr>
        <p:spPr/>
        <p:txBody>
          <a:bodyPr/>
          <a:lstStyle/>
          <a:p>
            <a:r>
              <a:rPr lang="en-US" noProof="0" dirty="0"/>
              <a:t>… as well as further simulations demands</a:t>
            </a:r>
          </a:p>
        </p:txBody>
      </p:sp>
      <p:sp>
        <p:nvSpPr>
          <p:cNvPr id="3" name="Rechteck 2">
            <a:extLst>
              <a:ext uri="{FF2B5EF4-FFF2-40B4-BE49-F238E27FC236}">
                <a16:creationId xmlns:a16="http://schemas.microsoft.com/office/drawing/2014/main" id="{7D3C1C00-28DD-FC5D-15A6-B36C9159B21F}"/>
              </a:ext>
            </a:extLst>
          </p:cNvPr>
          <p:cNvSpPr/>
          <p:nvPr/>
        </p:nvSpPr>
        <p:spPr>
          <a:xfrm rot="16200000">
            <a:off x="-1548680" y="2931790"/>
            <a:ext cx="3888432" cy="288032"/>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err="1">
                <a:solidFill>
                  <a:schemeClr val="tx1"/>
                </a:solidFill>
              </a:rPr>
              <a:t>Wa</a:t>
            </a:r>
            <a:r>
              <a:rPr lang="en-US" sz="1400" noProof="0" dirty="0">
                <a:solidFill>
                  <a:schemeClr val="tx1"/>
                </a:solidFill>
              </a:rPr>
              <a:t>-Tor Scheme</a:t>
            </a:r>
          </a:p>
        </p:txBody>
      </p:sp>
      <p:sp>
        <p:nvSpPr>
          <p:cNvPr id="4" name="Rechteck 3">
            <a:extLst>
              <a:ext uri="{FF2B5EF4-FFF2-40B4-BE49-F238E27FC236}">
                <a16:creationId xmlns:a16="http://schemas.microsoft.com/office/drawing/2014/main" id="{A20F95E5-B66A-DEE2-5D5C-5928D98BECFB}"/>
              </a:ext>
            </a:extLst>
          </p:cNvPr>
          <p:cNvSpPr/>
          <p:nvPr/>
        </p:nvSpPr>
        <p:spPr>
          <a:xfrm>
            <a:off x="611559" y="1131590"/>
            <a:ext cx="4117257"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Simulation Demands</a:t>
            </a:r>
          </a:p>
        </p:txBody>
      </p:sp>
      <p:sp>
        <p:nvSpPr>
          <p:cNvPr id="5" name="Rechteck 4">
            <a:extLst>
              <a:ext uri="{FF2B5EF4-FFF2-40B4-BE49-F238E27FC236}">
                <a16:creationId xmlns:a16="http://schemas.microsoft.com/office/drawing/2014/main" id="{AAFCD2BF-EE1A-7CF4-8795-8FCC068A95A4}"/>
              </a:ext>
            </a:extLst>
          </p:cNvPr>
          <p:cNvSpPr/>
          <p:nvPr/>
        </p:nvSpPr>
        <p:spPr>
          <a:xfrm>
            <a:off x="611559" y="1491630"/>
            <a:ext cx="4117257" cy="352839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lgn="just">
              <a:spcAft>
                <a:spcPts val="600"/>
              </a:spcAft>
              <a:buFont typeface="Arial" pitchFamily="34" charset="0"/>
              <a:buChar char="•"/>
            </a:pPr>
            <a:r>
              <a:rPr lang="en-US" sz="1400" noProof="0" dirty="0">
                <a:solidFill>
                  <a:schemeClr val="tx1"/>
                </a:solidFill>
              </a:rPr>
              <a:t>A modular design is needed to later exchange rules by other rules.</a:t>
            </a:r>
          </a:p>
          <a:p>
            <a:pPr marL="176213" indent="-176213" algn="just">
              <a:spcAft>
                <a:spcPts val="600"/>
              </a:spcAft>
              <a:buFont typeface="Arial" pitchFamily="34" charset="0"/>
              <a:buChar char="•"/>
            </a:pPr>
            <a:r>
              <a:rPr lang="en-US" sz="1400" noProof="0" dirty="0">
                <a:solidFill>
                  <a:schemeClr val="tx1"/>
                </a:solidFill>
              </a:rPr>
              <a:t>Simulations will be conducted such that a unique seed is required for the random number generator that is used, e.g., for the initial random population of the toroidal lattice.</a:t>
            </a:r>
          </a:p>
          <a:p>
            <a:pPr marL="176213" indent="-176213" algn="just">
              <a:spcAft>
                <a:spcPts val="600"/>
              </a:spcAft>
              <a:buFont typeface="Arial" pitchFamily="34" charset="0"/>
              <a:buChar char="•"/>
            </a:pPr>
            <a:r>
              <a:rPr lang="en-US" sz="1400" noProof="0" dirty="0">
                <a:solidFill>
                  <a:schemeClr val="tx1"/>
                </a:solidFill>
              </a:rPr>
              <a:t>For the simulations there is the need to easily vary the number N of the lattice dimension, the maximal number of time steps T as well as the initial numbers NF of fish and NS of shark, respectively.</a:t>
            </a:r>
          </a:p>
          <a:p>
            <a:pPr marL="176213" indent="-176213" algn="just">
              <a:spcAft>
                <a:spcPts val="600"/>
              </a:spcAft>
              <a:buFont typeface="Arial" pitchFamily="34" charset="0"/>
              <a:buChar char="•"/>
            </a:pPr>
            <a:r>
              <a:rPr lang="en-US" sz="1400" noProof="0" dirty="0">
                <a:solidFill>
                  <a:schemeClr val="tx1"/>
                </a:solidFill>
              </a:rPr>
              <a:t>Later, a further shark sub-populations will be introduced such that the evolutionary fitness of different shark rules can be tested (e.g., direct movement towards fish in a two-cell radius as a hunting strategy).</a:t>
            </a:r>
          </a:p>
        </p:txBody>
      </p:sp>
      <p:sp>
        <p:nvSpPr>
          <p:cNvPr id="6" name="Rechteck 5">
            <a:extLst>
              <a:ext uri="{FF2B5EF4-FFF2-40B4-BE49-F238E27FC236}">
                <a16:creationId xmlns:a16="http://schemas.microsoft.com/office/drawing/2014/main" id="{D6403221-1A1A-C5D5-4C70-F8BAAD5C0904}"/>
              </a:ext>
            </a:extLst>
          </p:cNvPr>
          <p:cNvSpPr/>
          <p:nvPr/>
        </p:nvSpPr>
        <p:spPr>
          <a:xfrm>
            <a:off x="5292080" y="1131590"/>
            <a:ext cx="3600399"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Remarks</a:t>
            </a:r>
            <a:r>
              <a:rPr lang="en-US" sz="1400" noProof="0" dirty="0">
                <a:solidFill>
                  <a:schemeClr val="tx1"/>
                </a:solidFill>
              </a:rPr>
              <a:t>:</a:t>
            </a:r>
          </a:p>
          <a:p>
            <a:pPr marL="182563" indent="-182563">
              <a:spcAft>
                <a:spcPts val="600"/>
              </a:spcAft>
              <a:buFont typeface="Arial" panose="020B0604020202020204" pitchFamily="34" charset="0"/>
              <a:buChar char="•"/>
            </a:pPr>
            <a:r>
              <a:rPr lang="en-US" sz="1400" noProof="0" dirty="0">
                <a:solidFill>
                  <a:schemeClr val="tx1"/>
                </a:solidFill>
              </a:rPr>
              <a:t>The interaction rules augment the already implemented movement rules.</a:t>
            </a:r>
          </a:p>
          <a:p>
            <a:pPr marL="182563" indent="-182563">
              <a:spcAft>
                <a:spcPts val="600"/>
              </a:spcAft>
              <a:buFont typeface="Arial" panose="020B0604020202020204" pitchFamily="34" charset="0"/>
              <a:buChar char="•"/>
            </a:pPr>
            <a:r>
              <a:rPr lang="en-US" sz="1400" noProof="0" dirty="0">
                <a:solidFill>
                  <a:schemeClr val="tx1"/>
                </a:solidFill>
              </a:rPr>
              <a:t>I.e., mainly the movement sub-routine needs to be updated.</a:t>
            </a:r>
          </a:p>
          <a:p>
            <a:pPr marL="182563" indent="-182563">
              <a:spcAft>
                <a:spcPts val="600"/>
              </a:spcAft>
              <a:buFont typeface="Arial" panose="020B0604020202020204" pitchFamily="34" charset="0"/>
              <a:buChar char="•"/>
            </a:pPr>
            <a:r>
              <a:rPr lang="en-US" sz="1400" b="1" noProof="0" dirty="0">
                <a:solidFill>
                  <a:schemeClr val="tx1"/>
                </a:solidFill>
              </a:rPr>
              <a:t>Fist a shark step is executed with movement including feeding (removal of the fish) and breeding.</a:t>
            </a:r>
          </a:p>
          <a:p>
            <a:pPr marL="182563" indent="-182563">
              <a:spcAft>
                <a:spcPts val="600"/>
              </a:spcAft>
              <a:buFont typeface="Arial" panose="020B0604020202020204" pitchFamily="34" charset="0"/>
              <a:buChar char="•"/>
            </a:pPr>
            <a:r>
              <a:rPr lang="en-US" sz="1400" b="1" noProof="0" dirty="0">
                <a:solidFill>
                  <a:schemeClr val="tx1"/>
                </a:solidFill>
              </a:rPr>
              <a:t>Then a fish step is executed with movement and breeding.</a:t>
            </a:r>
          </a:p>
          <a:p>
            <a:pPr marL="182563" indent="-182563">
              <a:spcAft>
                <a:spcPts val="600"/>
              </a:spcAft>
              <a:buFont typeface="Arial" panose="020B0604020202020204" pitchFamily="34" charset="0"/>
              <a:buChar char="•"/>
            </a:pPr>
            <a:r>
              <a:rPr lang="en-US" sz="1400" noProof="0" dirty="0">
                <a:solidFill>
                  <a:schemeClr val="tx1"/>
                </a:solidFill>
              </a:rPr>
              <a:t>This finalizes the computerized model, and we can then observer how well simulations fit with the  conceptual model or other models that are even closer the reality.</a:t>
            </a:r>
          </a:p>
          <a:p>
            <a:pPr>
              <a:spcAft>
                <a:spcPts val="600"/>
              </a:spcAft>
            </a:pPr>
            <a:endParaRPr lang="en-US" sz="1400" b="1" noProof="0" dirty="0">
              <a:solidFill>
                <a:schemeClr val="tx1"/>
              </a:solidFill>
            </a:endParaRPr>
          </a:p>
        </p:txBody>
      </p:sp>
    </p:spTree>
    <p:extLst>
      <p:ext uri="{BB962C8B-B14F-4D97-AF65-F5344CB8AC3E}">
        <p14:creationId xmlns:p14="http://schemas.microsoft.com/office/powerpoint/2010/main" val="2087779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D3E08BDD-0D40-D116-AF4F-122742FA02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556" y="1508178"/>
            <a:ext cx="3528392" cy="3528392"/>
          </a:xfrm>
          <a:prstGeom prst="rect">
            <a:avLst/>
          </a:prstGeom>
        </p:spPr>
      </p:pic>
      <p:pic>
        <p:nvPicPr>
          <p:cNvPr id="5" name="Grafik 4">
            <a:extLst>
              <a:ext uri="{FF2B5EF4-FFF2-40B4-BE49-F238E27FC236}">
                <a16:creationId xmlns:a16="http://schemas.microsoft.com/office/drawing/2014/main" id="{F22722BF-C10B-C21F-FA8F-AD2FC8062FB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01061" y="2931790"/>
            <a:ext cx="2806374" cy="2104780"/>
          </a:xfrm>
          <a:prstGeom prst="rect">
            <a:avLst/>
          </a:prstGeom>
        </p:spPr>
      </p:pic>
      <p:sp>
        <p:nvSpPr>
          <p:cNvPr id="2" name="Titel 1">
            <a:extLst>
              <a:ext uri="{FF2B5EF4-FFF2-40B4-BE49-F238E27FC236}">
                <a16:creationId xmlns:a16="http://schemas.microsoft.com/office/drawing/2014/main" id="{DA43E086-6994-BB8A-8D29-45EB34CB7075}"/>
              </a:ext>
            </a:extLst>
          </p:cNvPr>
          <p:cNvSpPr>
            <a:spLocks noGrp="1"/>
          </p:cNvSpPr>
          <p:nvPr>
            <p:ph type="title"/>
          </p:nvPr>
        </p:nvSpPr>
        <p:spPr/>
        <p:txBody>
          <a:bodyPr/>
          <a:lstStyle/>
          <a:p>
            <a:r>
              <a:rPr lang="en-US" noProof="0" dirty="0"/>
              <a:t>Implementation:</a:t>
            </a:r>
            <a:br>
              <a:rPr lang="en-US" noProof="0" dirty="0"/>
            </a:br>
            <a:r>
              <a:rPr lang="en-US" noProof="0" dirty="0"/>
              <a:t>8) Results from </a:t>
            </a:r>
            <a:r>
              <a:rPr lang="en-US" noProof="0" dirty="0" err="1"/>
              <a:t>ChatOn</a:t>
            </a:r>
            <a:r>
              <a:rPr lang="en-US" noProof="0" dirty="0"/>
              <a:t> AI: movement and interaction</a:t>
            </a:r>
          </a:p>
        </p:txBody>
      </p:sp>
      <p:sp>
        <p:nvSpPr>
          <p:cNvPr id="4" name="Textfeld 3">
            <a:extLst>
              <a:ext uri="{FF2B5EF4-FFF2-40B4-BE49-F238E27FC236}">
                <a16:creationId xmlns:a16="http://schemas.microsoft.com/office/drawing/2014/main" id="{5BAEDD06-796F-A11C-E3C2-3EB45C01CF8E}"/>
              </a:ext>
            </a:extLst>
          </p:cNvPr>
          <p:cNvSpPr txBox="1"/>
          <p:nvPr/>
        </p:nvSpPr>
        <p:spPr>
          <a:xfrm>
            <a:off x="4716016" y="1131590"/>
            <a:ext cx="4176464" cy="1200329"/>
          </a:xfrm>
          <a:prstGeom prst="rect">
            <a:avLst/>
          </a:prstGeom>
          <a:noFill/>
        </p:spPr>
        <p:txBody>
          <a:bodyPr wrap="square">
            <a:spAutoFit/>
          </a:bodyPr>
          <a:lstStyle/>
          <a:p>
            <a:r>
              <a:rPr lang="en-US" sz="800" noProof="0" dirty="0">
                <a:latin typeface="Courier New" panose="02070309020205020404" pitchFamily="49" charset="0"/>
                <a:cs typeface="Courier New" panose="02070309020205020404" pitchFamily="49" charset="0"/>
              </a:rPr>
              <a:t># </a:t>
            </a:r>
            <a:r>
              <a:rPr lang="en-US" sz="800" b="1" noProof="0" dirty="0">
                <a:latin typeface="Courier New" panose="02070309020205020404" pitchFamily="49" charset="0"/>
                <a:cs typeface="Courier New" panose="02070309020205020404" pitchFamily="49" charset="0"/>
              </a:rPr>
              <a:t>File: 01_WaTor.py</a:t>
            </a:r>
          </a:p>
          <a:p>
            <a:r>
              <a:rPr lang="en-US" sz="800" noProof="0" dirty="0">
                <a:latin typeface="Courier New" panose="02070309020205020404" pitchFamily="49" charset="0"/>
                <a:cs typeface="Courier New" panose="02070309020205020404" pitchFamily="49" charset="0"/>
              </a:rPr>
              <a:t># Simulation parameters</a:t>
            </a:r>
          </a:p>
          <a:p>
            <a:r>
              <a:rPr lang="en-US" sz="800" noProof="0" dirty="0">
                <a:latin typeface="Courier New" panose="02070309020205020404" pitchFamily="49" charset="0"/>
                <a:cs typeface="Courier New" panose="02070309020205020404" pitchFamily="49" charset="0"/>
              </a:rPr>
              <a:t>N = 50                     # Size of the lattice</a:t>
            </a:r>
          </a:p>
          <a:p>
            <a:r>
              <a:rPr lang="en-US" sz="800" noProof="0" dirty="0">
                <a:latin typeface="Courier New" panose="02070309020205020404" pitchFamily="49" charset="0"/>
                <a:cs typeface="Courier New" panose="02070309020205020404" pitchFamily="49" charset="0"/>
              </a:rPr>
              <a:t>T = 40                     # Maximum number of time steps</a:t>
            </a:r>
          </a:p>
          <a:p>
            <a:r>
              <a:rPr lang="en-US" sz="800" noProof="0" dirty="0">
                <a:latin typeface="Courier New" panose="02070309020205020404" pitchFamily="49" charset="0"/>
                <a:cs typeface="Courier New" panose="02070309020205020404" pitchFamily="49" charset="0"/>
              </a:rPr>
              <a:t>NF = 100                   # Initial number of fish</a:t>
            </a:r>
          </a:p>
          <a:p>
            <a:r>
              <a:rPr lang="en-US" sz="800" noProof="0" dirty="0">
                <a:latin typeface="Courier New" panose="02070309020205020404" pitchFamily="49" charset="0"/>
                <a:cs typeface="Courier New" panose="02070309020205020404" pitchFamily="49" charset="0"/>
              </a:rPr>
              <a:t>NS = 20                    # Initial number of sharks</a:t>
            </a:r>
          </a:p>
          <a:p>
            <a:r>
              <a:rPr lang="en-US" sz="800" noProof="0" dirty="0">
                <a:latin typeface="Courier New" panose="02070309020205020404" pitchFamily="49" charset="0"/>
                <a:cs typeface="Courier New" panose="02070309020205020404" pitchFamily="49" charset="0"/>
              </a:rPr>
              <a:t>FISH_BREEDING_TIME = 5     # Time steps for fish to breed</a:t>
            </a:r>
          </a:p>
          <a:p>
            <a:r>
              <a:rPr lang="en-US" sz="800" noProof="0" dirty="0">
                <a:latin typeface="Courier New" panose="02070309020205020404" pitchFamily="49" charset="0"/>
                <a:cs typeface="Courier New" panose="02070309020205020404" pitchFamily="49" charset="0"/>
              </a:rPr>
              <a:t>SHARK_BREEDING_TIME = 5    # Time steps for sharks to breed</a:t>
            </a:r>
          </a:p>
          <a:p>
            <a:r>
              <a:rPr lang="en-US" sz="800" noProof="0" dirty="0">
                <a:latin typeface="Courier New" panose="02070309020205020404" pitchFamily="49" charset="0"/>
                <a:cs typeface="Courier New" panose="02070309020205020404" pitchFamily="49" charset="0"/>
              </a:rPr>
              <a:t>SHARK_STARVATION_TIME = 10 # Time steps for sharks to starve</a:t>
            </a:r>
          </a:p>
        </p:txBody>
      </p:sp>
      <p:sp>
        <p:nvSpPr>
          <p:cNvPr id="6" name="Rechteck 5">
            <a:extLst>
              <a:ext uri="{FF2B5EF4-FFF2-40B4-BE49-F238E27FC236}">
                <a16:creationId xmlns:a16="http://schemas.microsoft.com/office/drawing/2014/main" id="{8729970D-177F-24D3-9DA3-4C4EA016E0D4}"/>
              </a:ext>
            </a:extLst>
          </p:cNvPr>
          <p:cNvSpPr/>
          <p:nvPr/>
        </p:nvSpPr>
        <p:spPr>
          <a:xfrm>
            <a:off x="251520" y="1148138"/>
            <a:ext cx="4176464"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Movement on the Toroidal Grid (sim01)</a:t>
            </a:r>
          </a:p>
        </p:txBody>
      </p:sp>
      <p:sp>
        <p:nvSpPr>
          <p:cNvPr id="7" name="Rechteck 6">
            <a:extLst>
              <a:ext uri="{FF2B5EF4-FFF2-40B4-BE49-F238E27FC236}">
                <a16:creationId xmlns:a16="http://schemas.microsoft.com/office/drawing/2014/main" id="{782DD486-0BA6-0FA7-FFF5-27EF092DA2EC}"/>
              </a:ext>
            </a:extLst>
          </p:cNvPr>
          <p:cNvSpPr/>
          <p:nvPr/>
        </p:nvSpPr>
        <p:spPr>
          <a:xfrm>
            <a:off x="251520" y="1508178"/>
            <a:ext cx="4176464" cy="352839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noProof="0" dirty="0">
              <a:solidFill>
                <a:schemeClr val="tx1"/>
              </a:solidFill>
            </a:endParaRPr>
          </a:p>
        </p:txBody>
      </p:sp>
      <p:sp>
        <p:nvSpPr>
          <p:cNvPr id="8" name="Rechteck 7">
            <a:extLst>
              <a:ext uri="{FF2B5EF4-FFF2-40B4-BE49-F238E27FC236}">
                <a16:creationId xmlns:a16="http://schemas.microsoft.com/office/drawing/2014/main" id="{729A7AFE-E096-D69C-AE37-68BF3626CA42}"/>
              </a:ext>
            </a:extLst>
          </p:cNvPr>
          <p:cNvSpPr/>
          <p:nvPr/>
        </p:nvSpPr>
        <p:spPr>
          <a:xfrm>
            <a:off x="4716016" y="2571750"/>
            <a:ext cx="4176464"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Time Evolution of the Population Numbers</a:t>
            </a:r>
          </a:p>
        </p:txBody>
      </p:sp>
      <p:sp>
        <p:nvSpPr>
          <p:cNvPr id="9" name="Rechteck 8">
            <a:extLst>
              <a:ext uri="{FF2B5EF4-FFF2-40B4-BE49-F238E27FC236}">
                <a16:creationId xmlns:a16="http://schemas.microsoft.com/office/drawing/2014/main" id="{4C9D6811-C0F4-F82C-6DF4-9E40CF4BFF54}"/>
              </a:ext>
            </a:extLst>
          </p:cNvPr>
          <p:cNvSpPr/>
          <p:nvPr/>
        </p:nvSpPr>
        <p:spPr>
          <a:xfrm>
            <a:off x="4716016" y="2931790"/>
            <a:ext cx="4176464" cy="210478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noProof="0" dirty="0">
              <a:solidFill>
                <a:schemeClr val="tx1"/>
              </a:solidFill>
            </a:endParaRPr>
          </a:p>
        </p:txBody>
      </p:sp>
    </p:spTree>
    <p:extLst>
      <p:ext uri="{BB962C8B-B14F-4D97-AF65-F5344CB8AC3E}">
        <p14:creationId xmlns:p14="http://schemas.microsoft.com/office/powerpoint/2010/main" val="15575325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E77D5-69C2-79A9-736E-7DB148852CC2}"/>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4C5DB6F2-ED9D-2A74-B975-BD3D3E70387D}"/>
              </a:ext>
            </a:extLst>
          </p:cNvPr>
          <p:cNvSpPr/>
          <p:nvPr/>
        </p:nvSpPr>
        <p:spPr>
          <a:xfrm>
            <a:off x="971600" y="2657826"/>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3BF28C7E-83C6-7353-8457-582BB0BB2840}"/>
              </a:ext>
            </a:extLst>
          </p:cNvPr>
          <p:cNvSpPr txBox="1"/>
          <p:nvPr/>
        </p:nvSpPr>
        <p:spPr>
          <a:xfrm>
            <a:off x="971600" y="1131590"/>
            <a:ext cx="3424464" cy="2462213"/>
          </a:xfrm>
          <a:prstGeom prst="rect">
            <a:avLst/>
          </a:prstGeom>
          <a:noFill/>
        </p:spPr>
        <p:txBody>
          <a:bodyPr wrap="none" rtlCol="0">
            <a:spAutoFit/>
          </a:bodyPr>
          <a:lstStyle/>
          <a:p>
            <a:r>
              <a:rPr lang="en-US" b="1" noProof="0" dirty="0"/>
              <a:t>Topics</a:t>
            </a:r>
          </a:p>
          <a:p>
            <a:endParaRPr lang="en-US" sz="1000" noProof="0" dirty="0"/>
          </a:p>
          <a:p>
            <a:pPr lvl="1"/>
            <a:r>
              <a:rPr lang="en-US" noProof="0" dirty="0"/>
              <a:t>Course Overview</a:t>
            </a:r>
          </a:p>
          <a:p>
            <a:pPr lvl="1"/>
            <a:endParaRPr lang="en-US" noProof="0" dirty="0"/>
          </a:p>
          <a:p>
            <a:pPr lvl="1"/>
            <a:r>
              <a:rPr lang="en-US" noProof="0" dirty="0"/>
              <a:t>The Water Planet </a:t>
            </a:r>
            <a:r>
              <a:rPr lang="en-US" noProof="0" dirty="0" err="1"/>
              <a:t>Wa</a:t>
            </a:r>
            <a:r>
              <a:rPr lang="en-US" noProof="0" dirty="0"/>
              <a:t>-Tor</a:t>
            </a:r>
          </a:p>
          <a:p>
            <a:pPr lvl="1"/>
            <a:endParaRPr lang="en-US" noProof="0" dirty="0"/>
          </a:p>
          <a:p>
            <a:pPr lvl="1"/>
            <a:r>
              <a:rPr lang="en-US" b="1" noProof="0" dirty="0"/>
              <a:t>Verification &amp; Validation</a:t>
            </a:r>
          </a:p>
          <a:p>
            <a:pPr lvl="1"/>
            <a:endParaRPr lang="en-US" b="1" noProof="0" dirty="0"/>
          </a:p>
          <a:p>
            <a:pPr lvl="1"/>
            <a:r>
              <a:rPr lang="en-US" noProof="0" dirty="0"/>
              <a:t>Strategy Evolution on </a:t>
            </a:r>
            <a:r>
              <a:rPr lang="en-US" noProof="0" dirty="0" err="1"/>
              <a:t>Wa</a:t>
            </a:r>
            <a:r>
              <a:rPr lang="en-US" noProof="0" dirty="0"/>
              <a:t>-Tor</a:t>
            </a:r>
          </a:p>
        </p:txBody>
      </p:sp>
    </p:spTree>
    <p:extLst>
      <p:ext uri="{BB962C8B-B14F-4D97-AF65-F5344CB8AC3E}">
        <p14:creationId xmlns:p14="http://schemas.microsoft.com/office/powerpoint/2010/main" val="18216675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F4F3C4-3DFF-26CE-8870-F9F43E1C61C3}"/>
              </a:ext>
            </a:extLst>
          </p:cNvPr>
          <p:cNvSpPr>
            <a:spLocks noGrp="1"/>
          </p:cNvSpPr>
          <p:nvPr>
            <p:ph type="title"/>
          </p:nvPr>
        </p:nvSpPr>
        <p:spPr/>
        <p:txBody>
          <a:bodyPr/>
          <a:lstStyle/>
          <a:p>
            <a:r>
              <a:rPr lang="en-US" noProof="0" dirty="0"/>
              <a:t>At this stage we are already at the “Computerized Model” and have made several steps of the modeling process at once</a:t>
            </a:r>
          </a:p>
        </p:txBody>
      </p:sp>
      <p:sp>
        <p:nvSpPr>
          <p:cNvPr id="3" name="Rechteck 2">
            <a:extLst>
              <a:ext uri="{FF2B5EF4-FFF2-40B4-BE49-F238E27FC236}">
                <a16:creationId xmlns:a16="http://schemas.microsoft.com/office/drawing/2014/main" id="{CC364229-AF48-F1FD-7A77-CA241022AA3C}"/>
              </a:ext>
            </a:extLst>
          </p:cNvPr>
          <p:cNvSpPr/>
          <p:nvPr/>
        </p:nvSpPr>
        <p:spPr>
          <a:xfrm>
            <a:off x="251520" y="1131590"/>
            <a:ext cx="2736304"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Qualification &amp; Verification</a:t>
            </a:r>
          </a:p>
        </p:txBody>
      </p:sp>
      <p:sp>
        <p:nvSpPr>
          <p:cNvPr id="4" name="Rechteck 3">
            <a:extLst>
              <a:ext uri="{FF2B5EF4-FFF2-40B4-BE49-F238E27FC236}">
                <a16:creationId xmlns:a16="http://schemas.microsoft.com/office/drawing/2014/main" id="{0E5E9152-B864-AE84-2072-AEB79338313E}"/>
              </a:ext>
            </a:extLst>
          </p:cNvPr>
          <p:cNvSpPr/>
          <p:nvPr/>
        </p:nvSpPr>
        <p:spPr>
          <a:xfrm>
            <a:off x="251520" y="1491630"/>
            <a:ext cx="2736304" cy="352839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hteck 4">
            <a:extLst>
              <a:ext uri="{FF2B5EF4-FFF2-40B4-BE49-F238E27FC236}">
                <a16:creationId xmlns:a16="http://schemas.microsoft.com/office/drawing/2014/main" id="{EF3E4A28-2D22-291E-C75E-EB59993B8907}"/>
              </a:ext>
            </a:extLst>
          </p:cNvPr>
          <p:cNvSpPr/>
          <p:nvPr/>
        </p:nvSpPr>
        <p:spPr>
          <a:xfrm>
            <a:off x="1584836" y="3291830"/>
            <a:ext cx="1224136"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Computerized Model</a:t>
            </a:r>
          </a:p>
        </p:txBody>
      </p:sp>
      <p:cxnSp>
        <p:nvCxnSpPr>
          <p:cNvPr id="6" name="Gewinkelte Verbindung 14">
            <a:extLst>
              <a:ext uri="{FF2B5EF4-FFF2-40B4-BE49-F238E27FC236}">
                <a16:creationId xmlns:a16="http://schemas.microsoft.com/office/drawing/2014/main" id="{68FA7775-E562-6CF8-6CE7-35735EA24121}"/>
              </a:ext>
            </a:extLst>
          </p:cNvPr>
          <p:cNvCxnSpPr>
            <a:endCxn id="5" idx="0"/>
          </p:cNvCxnSpPr>
          <p:nvPr/>
        </p:nvCxnSpPr>
        <p:spPr>
          <a:xfrm rot="16200000" flipH="1">
            <a:off x="1728852" y="2823778"/>
            <a:ext cx="360040" cy="576064"/>
          </a:xfrm>
          <a:prstGeom prst="bentConnector3">
            <a:avLst>
              <a:gd name="adj1" fmla="val 50000"/>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7" name="Rechteck 6">
            <a:extLst>
              <a:ext uri="{FF2B5EF4-FFF2-40B4-BE49-F238E27FC236}">
                <a16:creationId xmlns:a16="http://schemas.microsoft.com/office/drawing/2014/main" id="{2E3F5485-10D7-661A-D71D-5F16FF419E5E}"/>
              </a:ext>
            </a:extLst>
          </p:cNvPr>
          <p:cNvSpPr/>
          <p:nvPr/>
        </p:nvSpPr>
        <p:spPr>
          <a:xfrm>
            <a:off x="899592" y="156363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Reality</a:t>
            </a:r>
          </a:p>
        </p:txBody>
      </p:sp>
      <p:sp>
        <p:nvSpPr>
          <p:cNvPr id="8" name="Rechteck 7">
            <a:extLst>
              <a:ext uri="{FF2B5EF4-FFF2-40B4-BE49-F238E27FC236}">
                <a16:creationId xmlns:a16="http://schemas.microsoft.com/office/drawing/2014/main" id="{040F309B-CAD7-885E-FE2B-DB45D51FC4F0}"/>
              </a:ext>
            </a:extLst>
          </p:cNvPr>
          <p:cNvSpPr/>
          <p:nvPr/>
        </p:nvSpPr>
        <p:spPr>
          <a:xfrm>
            <a:off x="899592" y="242773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Conceptual Model</a:t>
            </a:r>
          </a:p>
        </p:txBody>
      </p:sp>
      <p:cxnSp>
        <p:nvCxnSpPr>
          <p:cNvPr id="9" name="Gerade Verbindung mit Pfeil 8">
            <a:extLst>
              <a:ext uri="{FF2B5EF4-FFF2-40B4-BE49-F238E27FC236}">
                <a16:creationId xmlns:a16="http://schemas.microsoft.com/office/drawing/2014/main" id="{93048C41-ACE8-DF5C-9320-CB909137718F}"/>
              </a:ext>
            </a:extLst>
          </p:cNvPr>
          <p:cNvCxnSpPr>
            <a:stCxn id="7" idx="2"/>
            <a:endCxn id="8" idx="0"/>
          </p:cNvCxnSpPr>
          <p:nvPr/>
        </p:nvCxnSpPr>
        <p:spPr>
          <a:xfrm>
            <a:off x="1619672" y="2067694"/>
            <a:ext cx="0" cy="360040"/>
          </a:xfrm>
          <a:prstGeom prst="straightConnector1">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0" name="Rechteck 9">
            <a:extLst>
              <a:ext uri="{FF2B5EF4-FFF2-40B4-BE49-F238E27FC236}">
                <a16:creationId xmlns:a16="http://schemas.microsoft.com/office/drawing/2014/main" id="{3DCF1B8E-FA32-2207-523A-63863C34B518}"/>
              </a:ext>
            </a:extLst>
          </p:cNvPr>
          <p:cNvSpPr/>
          <p:nvPr/>
        </p:nvSpPr>
        <p:spPr>
          <a:xfrm>
            <a:off x="3851920" y="1131590"/>
            <a:ext cx="504056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b="1" noProof="0" dirty="0">
                <a:solidFill>
                  <a:schemeClr val="tx1"/>
                </a:solidFill>
              </a:rPr>
              <a:t>Reality:</a:t>
            </a:r>
          </a:p>
          <a:p>
            <a:pPr marL="285750" indent="-285750" algn="just">
              <a:spcAft>
                <a:spcPts val="600"/>
              </a:spcAft>
              <a:buFont typeface="Arial" panose="020B0604020202020204" pitchFamily="34" charset="0"/>
              <a:buChar char="•"/>
            </a:pPr>
            <a:r>
              <a:rPr lang="en-US" sz="1400" noProof="0" dirty="0">
                <a:solidFill>
                  <a:schemeClr val="tx1"/>
                </a:solidFill>
              </a:rPr>
              <a:t>Interaction Dynamics of Fish and Shark</a:t>
            </a:r>
          </a:p>
          <a:p>
            <a:pPr marL="285750" indent="-285750" algn="just">
              <a:spcAft>
                <a:spcPts val="600"/>
              </a:spcAft>
              <a:buFont typeface="Arial" panose="020B0604020202020204" pitchFamily="34" charset="0"/>
              <a:buChar char="•"/>
            </a:pPr>
            <a:endParaRPr lang="en-US" sz="1400" noProof="0" dirty="0">
              <a:solidFill>
                <a:schemeClr val="tx1"/>
              </a:solidFill>
            </a:endParaRPr>
          </a:p>
          <a:p>
            <a:pPr algn="just">
              <a:spcAft>
                <a:spcPts val="600"/>
              </a:spcAft>
            </a:pPr>
            <a:r>
              <a:rPr lang="en-US" sz="1400" b="1" noProof="0" dirty="0">
                <a:solidFill>
                  <a:schemeClr val="tx1"/>
                </a:solidFill>
              </a:rPr>
              <a:t>Conceptual model:</a:t>
            </a:r>
          </a:p>
          <a:p>
            <a:pPr marL="285750" indent="-285750" algn="just">
              <a:spcAft>
                <a:spcPts val="600"/>
              </a:spcAft>
              <a:buFont typeface="Arial" panose="020B0604020202020204" pitchFamily="34" charset="0"/>
              <a:buChar char="•"/>
            </a:pPr>
            <a:r>
              <a:rPr lang="en-US" sz="1400" noProof="0" dirty="0">
                <a:solidFill>
                  <a:schemeClr val="tx1"/>
                </a:solidFill>
              </a:rPr>
              <a:t>Only these two species</a:t>
            </a:r>
          </a:p>
          <a:p>
            <a:pPr marL="285750" indent="-285750" algn="just">
              <a:spcAft>
                <a:spcPts val="600"/>
              </a:spcAft>
              <a:buFont typeface="Arial" panose="020B0604020202020204" pitchFamily="34" charset="0"/>
              <a:buChar char="•"/>
            </a:pPr>
            <a:r>
              <a:rPr lang="en-US" sz="1400" noProof="0" dirty="0">
                <a:solidFill>
                  <a:schemeClr val="tx1"/>
                </a:solidFill>
              </a:rPr>
              <a:t>No boundary effects (toroidal domain)</a:t>
            </a:r>
          </a:p>
          <a:p>
            <a:pPr marL="285750" indent="-285750" algn="just">
              <a:spcAft>
                <a:spcPts val="600"/>
              </a:spcAft>
              <a:buFont typeface="Arial" panose="020B0604020202020204" pitchFamily="34" charset="0"/>
              <a:buChar char="•"/>
            </a:pPr>
            <a:r>
              <a:rPr lang="en-US" sz="1400" noProof="0" dirty="0">
                <a:solidFill>
                  <a:schemeClr val="tx1"/>
                </a:solidFill>
              </a:rPr>
              <a:t>Birth, movement, and predation events</a:t>
            </a:r>
          </a:p>
          <a:p>
            <a:pPr marL="285750" indent="-285750" algn="just">
              <a:spcAft>
                <a:spcPts val="600"/>
              </a:spcAft>
              <a:buFont typeface="Arial" panose="020B0604020202020204" pitchFamily="34" charset="0"/>
              <a:buChar char="•"/>
            </a:pPr>
            <a:endParaRPr lang="en-US" sz="1400" noProof="0" dirty="0">
              <a:solidFill>
                <a:schemeClr val="tx1"/>
              </a:solidFill>
            </a:endParaRPr>
          </a:p>
          <a:p>
            <a:pPr algn="just">
              <a:spcAft>
                <a:spcPts val="600"/>
              </a:spcAft>
            </a:pPr>
            <a:r>
              <a:rPr lang="en-US" sz="1400" b="1" noProof="0" dirty="0">
                <a:solidFill>
                  <a:schemeClr val="tx1"/>
                </a:solidFill>
              </a:rPr>
              <a:t>Computerized model:</a:t>
            </a:r>
          </a:p>
          <a:p>
            <a:pPr marL="285750" indent="-285750" algn="just">
              <a:spcAft>
                <a:spcPts val="600"/>
              </a:spcAft>
              <a:buFont typeface="Arial" panose="020B0604020202020204" pitchFamily="34" charset="0"/>
              <a:buChar char="•"/>
            </a:pPr>
            <a:r>
              <a:rPr lang="en-US" sz="1400" noProof="0" dirty="0">
                <a:solidFill>
                  <a:schemeClr val="tx1"/>
                </a:solidFill>
              </a:rPr>
              <a:t>Agent-based model</a:t>
            </a:r>
          </a:p>
          <a:p>
            <a:pPr marL="285750" indent="-285750" algn="just">
              <a:spcAft>
                <a:spcPts val="600"/>
              </a:spcAft>
              <a:buFont typeface="Arial" panose="020B0604020202020204" pitchFamily="34" charset="0"/>
              <a:buChar char="•"/>
            </a:pPr>
            <a:r>
              <a:rPr lang="en-US" sz="1400" noProof="0" dirty="0">
                <a:solidFill>
                  <a:schemeClr val="tx1"/>
                </a:solidFill>
              </a:rPr>
              <a:t>Translation of the conceptual discrete space and discrete time conceptual model</a:t>
            </a:r>
          </a:p>
          <a:p>
            <a:pPr marL="285750" indent="-285750" algn="just">
              <a:spcAft>
                <a:spcPts val="600"/>
              </a:spcAft>
              <a:buFont typeface="Arial" panose="020B0604020202020204" pitchFamily="34" charset="0"/>
              <a:buChar char="•"/>
            </a:pPr>
            <a:endParaRPr lang="en-US" sz="1400" noProof="0" dirty="0">
              <a:solidFill>
                <a:schemeClr val="tx1"/>
              </a:solidFill>
            </a:endParaRPr>
          </a:p>
        </p:txBody>
      </p:sp>
    </p:spTree>
    <p:extLst>
      <p:ext uri="{BB962C8B-B14F-4D97-AF65-F5344CB8AC3E}">
        <p14:creationId xmlns:p14="http://schemas.microsoft.com/office/powerpoint/2010/main" val="27863482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FBB6CF41-0DF1-CD39-907F-061435C092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4022" y="1491630"/>
            <a:ext cx="3360374" cy="2520280"/>
          </a:xfrm>
          <a:prstGeom prst="rect">
            <a:avLst/>
          </a:prstGeom>
        </p:spPr>
      </p:pic>
      <p:sp>
        <p:nvSpPr>
          <p:cNvPr id="2" name="Titel 1"/>
          <p:cNvSpPr>
            <a:spLocks noGrp="1"/>
          </p:cNvSpPr>
          <p:nvPr>
            <p:ph type="title"/>
          </p:nvPr>
        </p:nvSpPr>
        <p:spPr/>
        <p:txBody>
          <a:bodyPr/>
          <a:lstStyle/>
          <a:p>
            <a:r>
              <a:rPr lang="en-US" noProof="0" dirty="0"/>
              <a:t>Simulation:</a:t>
            </a:r>
            <a:br>
              <a:rPr lang="en-US" noProof="0" dirty="0"/>
            </a:br>
            <a:r>
              <a:rPr lang="en-US" noProof="0" dirty="0"/>
              <a:t>Invasion &amp; Complete Extinction</a:t>
            </a:r>
          </a:p>
        </p:txBody>
      </p:sp>
      <p:sp>
        <p:nvSpPr>
          <p:cNvPr id="3" name="Rechteck 2"/>
          <p:cNvSpPr/>
          <p:nvPr/>
        </p:nvSpPr>
        <p:spPr>
          <a:xfrm>
            <a:off x="251520" y="1131590"/>
            <a:ext cx="3600400"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Gedanken Experiment</a:t>
            </a:r>
          </a:p>
        </p:txBody>
      </p:sp>
      <p:sp>
        <p:nvSpPr>
          <p:cNvPr id="4" name="Rechteck 3"/>
          <p:cNvSpPr/>
          <p:nvPr/>
        </p:nvSpPr>
        <p:spPr>
          <a:xfrm>
            <a:off x="3995937" y="1131590"/>
            <a:ext cx="4896544"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Simulation (sim02)</a:t>
            </a:r>
          </a:p>
        </p:txBody>
      </p:sp>
      <p:sp>
        <p:nvSpPr>
          <p:cNvPr id="5" name="Rechteck 4"/>
          <p:cNvSpPr/>
          <p:nvPr/>
        </p:nvSpPr>
        <p:spPr>
          <a:xfrm>
            <a:off x="251520" y="1491630"/>
            <a:ext cx="3600400" cy="352839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Assume that </a:t>
            </a:r>
            <a:r>
              <a:rPr lang="en-US" sz="1400" noProof="0" dirty="0" err="1">
                <a:solidFill>
                  <a:schemeClr val="tx1"/>
                </a:solidFill>
              </a:rPr>
              <a:t>Wa</a:t>
            </a:r>
            <a:r>
              <a:rPr lang="en-US" sz="1400" noProof="0" dirty="0">
                <a:solidFill>
                  <a:schemeClr val="tx1"/>
                </a:solidFill>
              </a:rPr>
              <a:t>-Tor is completely occupied by fish. As they do not die and cannot breed (due to a lack of free cells) the fish population will remain at its size for all times. This is an example of a steady state or equilibrium (all fish equilibrium).</a:t>
            </a:r>
          </a:p>
          <a:p>
            <a:pPr algn="just">
              <a:spcAft>
                <a:spcPts val="600"/>
              </a:spcAft>
            </a:pPr>
            <a:r>
              <a:rPr lang="en-US" sz="1400" noProof="0" dirty="0">
                <a:solidFill>
                  <a:schemeClr val="tx1"/>
                </a:solidFill>
              </a:rPr>
              <a:t>This equilibrium is in general not stable against invasion: Let us replace one fish with a shark, then the shark immediately starts to feed on the fish whose population begins to decline.</a:t>
            </a:r>
          </a:p>
          <a:p>
            <a:pPr algn="just">
              <a:spcAft>
                <a:spcPts val="600"/>
              </a:spcAft>
            </a:pPr>
            <a:r>
              <a:rPr lang="en-US" sz="1400" noProof="0" dirty="0">
                <a:solidFill>
                  <a:schemeClr val="tx1"/>
                </a:solidFill>
              </a:rPr>
              <a:t>After some time, the shark breeds such that the predation pressure on the fish population increases. The following dynamics then depends on the spatial dynamics.</a:t>
            </a:r>
          </a:p>
        </p:txBody>
      </p:sp>
      <p:sp>
        <p:nvSpPr>
          <p:cNvPr id="6" name="Rechteck 5"/>
          <p:cNvSpPr/>
          <p:nvPr/>
        </p:nvSpPr>
        <p:spPr>
          <a:xfrm>
            <a:off x="3995937" y="1491630"/>
            <a:ext cx="4896544" cy="252028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7" name="Textfeld 6">
            <a:extLst>
              <a:ext uri="{FF2B5EF4-FFF2-40B4-BE49-F238E27FC236}">
                <a16:creationId xmlns:a16="http://schemas.microsoft.com/office/drawing/2014/main" id="{01F7FF28-42C7-2577-B2CD-402B0CBB6080}"/>
              </a:ext>
            </a:extLst>
          </p:cNvPr>
          <p:cNvSpPr txBox="1"/>
          <p:nvPr/>
        </p:nvSpPr>
        <p:spPr>
          <a:xfrm>
            <a:off x="4932040" y="4065915"/>
            <a:ext cx="3960440" cy="954107"/>
          </a:xfrm>
          <a:prstGeom prst="rect">
            <a:avLst/>
          </a:prstGeom>
          <a:noFill/>
        </p:spPr>
        <p:txBody>
          <a:bodyPr wrap="square">
            <a:spAutoFit/>
          </a:bodyPr>
          <a:lstStyle/>
          <a:p>
            <a:r>
              <a:rPr lang="en-US" sz="800" noProof="0" dirty="0">
                <a:latin typeface="Courier New" panose="02070309020205020404" pitchFamily="49" charset="0"/>
                <a:cs typeface="Courier New" panose="02070309020205020404" pitchFamily="49" charset="0"/>
              </a:rPr>
              <a:t>N = 5                        # Size of the lattice</a:t>
            </a:r>
          </a:p>
          <a:p>
            <a:r>
              <a:rPr lang="en-US" sz="800" noProof="0" dirty="0">
                <a:latin typeface="Courier New" panose="02070309020205020404" pitchFamily="49" charset="0"/>
                <a:cs typeface="Courier New" panose="02070309020205020404" pitchFamily="49" charset="0"/>
              </a:rPr>
              <a:t>T = 80                       # Maximum number of time steps</a:t>
            </a:r>
          </a:p>
          <a:p>
            <a:r>
              <a:rPr lang="en-US" sz="800" noProof="0" dirty="0">
                <a:latin typeface="Courier New" panose="02070309020205020404" pitchFamily="49" charset="0"/>
                <a:cs typeface="Courier New" panose="02070309020205020404" pitchFamily="49" charset="0"/>
              </a:rPr>
              <a:t>NF = 24                      # Initial number of fish</a:t>
            </a:r>
          </a:p>
          <a:p>
            <a:r>
              <a:rPr lang="en-US" sz="800" noProof="0" dirty="0">
                <a:latin typeface="Courier New" panose="02070309020205020404" pitchFamily="49" charset="0"/>
                <a:cs typeface="Courier New" panose="02070309020205020404" pitchFamily="49" charset="0"/>
              </a:rPr>
              <a:t>NS = 1                       # Initial number of sharks</a:t>
            </a:r>
          </a:p>
          <a:p>
            <a:r>
              <a:rPr lang="en-US" sz="800" noProof="0" dirty="0">
                <a:latin typeface="Courier New" panose="02070309020205020404" pitchFamily="49" charset="0"/>
                <a:cs typeface="Courier New" panose="02070309020205020404" pitchFamily="49" charset="0"/>
              </a:rPr>
              <a:t>FISH_BREEDING_TIME = 1       # Time steps for fish to breed</a:t>
            </a:r>
          </a:p>
          <a:p>
            <a:r>
              <a:rPr lang="en-US" sz="800" noProof="0" dirty="0">
                <a:latin typeface="Courier New" panose="02070309020205020404" pitchFamily="49" charset="0"/>
                <a:cs typeface="Courier New" panose="02070309020205020404" pitchFamily="49" charset="0"/>
              </a:rPr>
              <a:t>SHARK_BREEDING_TIME = 11     # Time steps for sharks to breed</a:t>
            </a:r>
          </a:p>
          <a:p>
            <a:r>
              <a:rPr lang="en-US" sz="800" noProof="0" dirty="0">
                <a:latin typeface="Courier New" panose="02070309020205020404" pitchFamily="49" charset="0"/>
                <a:cs typeface="Courier New" panose="02070309020205020404" pitchFamily="49" charset="0"/>
              </a:rPr>
              <a:t>SHARK_STARVATION_TIME = 10   # Time steps for sharks to starve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CB7427D0-1737-0A7F-ED12-CABC844254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4023" y="1491630"/>
            <a:ext cx="3360373" cy="2520280"/>
          </a:xfrm>
          <a:prstGeom prst="rect">
            <a:avLst/>
          </a:prstGeom>
        </p:spPr>
      </p:pic>
      <p:sp>
        <p:nvSpPr>
          <p:cNvPr id="2" name="Titel 1"/>
          <p:cNvSpPr>
            <a:spLocks noGrp="1"/>
          </p:cNvSpPr>
          <p:nvPr>
            <p:ph type="title"/>
          </p:nvPr>
        </p:nvSpPr>
        <p:spPr/>
        <p:txBody>
          <a:bodyPr/>
          <a:lstStyle/>
          <a:p>
            <a:r>
              <a:rPr lang="en-US" noProof="0" dirty="0"/>
              <a:t>Simulation:</a:t>
            </a:r>
            <a:br>
              <a:rPr lang="en-US" noProof="0" dirty="0"/>
            </a:br>
            <a:r>
              <a:rPr lang="en-US" noProof="0" dirty="0"/>
              <a:t>Shark Extinction</a:t>
            </a:r>
          </a:p>
        </p:txBody>
      </p:sp>
      <p:sp>
        <p:nvSpPr>
          <p:cNvPr id="3" name="Rechteck 2"/>
          <p:cNvSpPr/>
          <p:nvPr/>
        </p:nvSpPr>
        <p:spPr>
          <a:xfrm>
            <a:off x="251520" y="1131590"/>
            <a:ext cx="3600400"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Gedanken Experiment</a:t>
            </a:r>
          </a:p>
        </p:txBody>
      </p:sp>
      <p:sp>
        <p:nvSpPr>
          <p:cNvPr id="4" name="Rechteck 3"/>
          <p:cNvSpPr/>
          <p:nvPr/>
        </p:nvSpPr>
        <p:spPr>
          <a:xfrm>
            <a:off x="3995937" y="1131590"/>
            <a:ext cx="4896544"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Simulation (sim03)</a:t>
            </a:r>
          </a:p>
        </p:txBody>
      </p:sp>
      <p:sp>
        <p:nvSpPr>
          <p:cNvPr id="5" name="Rechteck 4"/>
          <p:cNvSpPr/>
          <p:nvPr/>
        </p:nvSpPr>
        <p:spPr>
          <a:xfrm>
            <a:off x="251520" y="1491630"/>
            <a:ext cx="3600400" cy="352839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In a larger </a:t>
            </a:r>
            <a:r>
              <a:rPr lang="en-US" sz="1400" noProof="0" dirty="0" err="1">
                <a:solidFill>
                  <a:schemeClr val="tx1"/>
                </a:solidFill>
              </a:rPr>
              <a:t>Wa</a:t>
            </a:r>
            <a:r>
              <a:rPr lang="en-US" sz="1400" noProof="0" dirty="0">
                <a:solidFill>
                  <a:schemeClr val="tx1"/>
                </a:solidFill>
              </a:rPr>
              <a:t>-Tor ocean with only few fish it may be rather hard for the shark to find their prey such that they may get extinct, and the fish population can take over.</a:t>
            </a:r>
          </a:p>
        </p:txBody>
      </p:sp>
      <p:sp>
        <p:nvSpPr>
          <p:cNvPr id="7" name="Rechteck 6">
            <a:extLst>
              <a:ext uri="{FF2B5EF4-FFF2-40B4-BE49-F238E27FC236}">
                <a16:creationId xmlns:a16="http://schemas.microsoft.com/office/drawing/2014/main" id="{D83B506B-6D76-2B1F-141B-C6CB657F06F5}"/>
              </a:ext>
            </a:extLst>
          </p:cNvPr>
          <p:cNvSpPr/>
          <p:nvPr/>
        </p:nvSpPr>
        <p:spPr>
          <a:xfrm>
            <a:off x="3995937" y="1491630"/>
            <a:ext cx="4896544" cy="252028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8" name="Textfeld 7">
            <a:extLst>
              <a:ext uri="{FF2B5EF4-FFF2-40B4-BE49-F238E27FC236}">
                <a16:creationId xmlns:a16="http://schemas.microsoft.com/office/drawing/2014/main" id="{F5A8D1D8-F2E9-A393-FA65-48153E227988}"/>
              </a:ext>
            </a:extLst>
          </p:cNvPr>
          <p:cNvSpPr txBox="1"/>
          <p:nvPr/>
        </p:nvSpPr>
        <p:spPr>
          <a:xfrm>
            <a:off x="4932040" y="4065915"/>
            <a:ext cx="3960440" cy="954107"/>
          </a:xfrm>
          <a:prstGeom prst="rect">
            <a:avLst/>
          </a:prstGeom>
          <a:noFill/>
        </p:spPr>
        <p:txBody>
          <a:bodyPr wrap="square">
            <a:spAutoFit/>
          </a:bodyPr>
          <a:lstStyle/>
          <a:p>
            <a:r>
              <a:rPr lang="en-US" sz="800" noProof="0" dirty="0">
                <a:latin typeface="Courier New" panose="02070309020205020404" pitchFamily="49" charset="0"/>
                <a:cs typeface="Courier New" panose="02070309020205020404" pitchFamily="49" charset="0"/>
              </a:rPr>
              <a:t>N = 50                       # Size of the lattice</a:t>
            </a:r>
          </a:p>
          <a:p>
            <a:r>
              <a:rPr lang="en-US" sz="800" noProof="0" dirty="0">
                <a:latin typeface="Courier New" panose="02070309020205020404" pitchFamily="49" charset="0"/>
                <a:cs typeface="Courier New" panose="02070309020205020404" pitchFamily="49" charset="0"/>
              </a:rPr>
              <a:t>T = 50                       # Maximum number of time steps</a:t>
            </a:r>
          </a:p>
          <a:p>
            <a:r>
              <a:rPr lang="en-US" sz="800" noProof="0" dirty="0">
                <a:latin typeface="Courier New" panose="02070309020205020404" pitchFamily="49" charset="0"/>
                <a:cs typeface="Courier New" panose="02070309020205020404" pitchFamily="49" charset="0"/>
              </a:rPr>
              <a:t>NF = 5                       # Initial number of fish</a:t>
            </a:r>
          </a:p>
          <a:p>
            <a:r>
              <a:rPr lang="en-US" sz="800" noProof="0" dirty="0">
                <a:latin typeface="Courier New" panose="02070309020205020404" pitchFamily="49" charset="0"/>
                <a:cs typeface="Courier New" panose="02070309020205020404" pitchFamily="49" charset="0"/>
              </a:rPr>
              <a:t>NS = 2                       # Initial number of sharks</a:t>
            </a:r>
          </a:p>
          <a:p>
            <a:r>
              <a:rPr lang="en-US" sz="800" noProof="0" dirty="0">
                <a:latin typeface="Courier New" panose="02070309020205020404" pitchFamily="49" charset="0"/>
                <a:cs typeface="Courier New" panose="02070309020205020404" pitchFamily="49" charset="0"/>
              </a:rPr>
              <a:t>FISH_BREEDING_TIME = 5       # Time steps for fish to breed</a:t>
            </a:r>
          </a:p>
          <a:p>
            <a:r>
              <a:rPr lang="en-US" sz="800" noProof="0" dirty="0">
                <a:latin typeface="Courier New" panose="02070309020205020404" pitchFamily="49" charset="0"/>
                <a:cs typeface="Courier New" panose="02070309020205020404" pitchFamily="49" charset="0"/>
              </a:rPr>
              <a:t>SHARK_BREEDING_TIME = 11     # Time steps for sharks to breed</a:t>
            </a:r>
          </a:p>
          <a:p>
            <a:r>
              <a:rPr lang="en-US" sz="800" noProof="0" dirty="0">
                <a:latin typeface="Courier New" panose="02070309020205020404" pitchFamily="49" charset="0"/>
                <a:cs typeface="Courier New" panose="02070309020205020404" pitchFamily="49" charset="0"/>
              </a:rPr>
              <a:t>SHARK_STARVATION_TIME = 10   # Time steps for sharks to starve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BF3F0CD1-1243-6D4F-4F0F-25B822F3DD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2021" y="1488564"/>
            <a:ext cx="3384376" cy="2538282"/>
          </a:xfrm>
          <a:prstGeom prst="rect">
            <a:avLst/>
          </a:prstGeom>
        </p:spPr>
      </p:pic>
      <p:sp>
        <p:nvSpPr>
          <p:cNvPr id="2" name="Titel 1"/>
          <p:cNvSpPr>
            <a:spLocks noGrp="1"/>
          </p:cNvSpPr>
          <p:nvPr>
            <p:ph type="title"/>
          </p:nvPr>
        </p:nvSpPr>
        <p:spPr/>
        <p:txBody>
          <a:bodyPr/>
          <a:lstStyle/>
          <a:p>
            <a:r>
              <a:rPr lang="en-US" noProof="0" dirty="0"/>
              <a:t>Simulation:</a:t>
            </a:r>
            <a:br>
              <a:rPr lang="en-US" noProof="0" dirty="0"/>
            </a:br>
            <a:r>
              <a:rPr lang="en-US" noProof="0" dirty="0"/>
              <a:t>Co-Existence</a:t>
            </a:r>
          </a:p>
        </p:txBody>
      </p:sp>
      <p:sp>
        <p:nvSpPr>
          <p:cNvPr id="3" name="Rechteck 2"/>
          <p:cNvSpPr/>
          <p:nvPr/>
        </p:nvSpPr>
        <p:spPr>
          <a:xfrm>
            <a:off x="251520" y="1131590"/>
            <a:ext cx="3600400"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Gedanken Experiment</a:t>
            </a:r>
          </a:p>
        </p:txBody>
      </p:sp>
      <p:sp>
        <p:nvSpPr>
          <p:cNvPr id="4" name="Rechteck 3"/>
          <p:cNvSpPr/>
          <p:nvPr/>
        </p:nvSpPr>
        <p:spPr>
          <a:xfrm>
            <a:off x="3995937" y="1131590"/>
            <a:ext cx="4896544"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Simulation (sim04)</a:t>
            </a:r>
          </a:p>
        </p:txBody>
      </p:sp>
      <p:sp>
        <p:nvSpPr>
          <p:cNvPr id="5" name="Rechteck 4"/>
          <p:cNvSpPr/>
          <p:nvPr/>
        </p:nvSpPr>
        <p:spPr>
          <a:xfrm>
            <a:off x="251520" y="1491630"/>
            <a:ext cx="3600400" cy="352839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If the population numbers as well as the breeding and starvation parameters are in some balance, we expect coexistence of the two species for a considerable amount of time. </a:t>
            </a:r>
          </a:p>
          <a:p>
            <a:pPr algn="just">
              <a:spcAft>
                <a:spcPts val="600"/>
              </a:spcAft>
            </a:pPr>
            <a:endParaRPr lang="en-US" sz="1400" noProof="0" dirty="0">
              <a:solidFill>
                <a:schemeClr val="tx1"/>
              </a:solidFill>
            </a:endParaRPr>
          </a:p>
          <a:p>
            <a:pPr algn="just">
              <a:spcAft>
                <a:spcPts val="600"/>
              </a:spcAft>
            </a:pPr>
            <a:r>
              <a:rPr lang="en-US" sz="1400" b="1" noProof="0" dirty="0">
                <a:solidFill>
                  <a:schemeClr val="tx1"/>
                </a:solidFill>
              </a:rPr>
              <a:t>Remark:</a:t>
            </a:r>
          </a:p>
          <a:p>
            <a:pPr marL="285750" indent="-285750" algn="just">
              <a:spcAft>
                <a:spcPts val="600"/>
              </a:spcAft>
              <a:buFont typeface="Arial" panose="020B0604020202020204" pitchFamily="34" charset="0"/>
              <a:buChar char="•"/>
            </a:pPr>
            <a:r>
              <a:rPr lang="en-US" sz="1400" noProof="0" dirty="0">
                <a:solidFill>
                  <a:schemeClr val="tx1"/>
                </a:solidFill>
              </a:rPr>
              <a:t>Long-time coexistence or the existence of a mixed-species equilibrium may be very hard to justify rigorously in the agent-based model.</a:t>
            </a:r>
          </a:p>
          <a:p>
            <a:pPr marL="285750" indent="-285750" algn="just">
              <a:spcAft>
                <a:spcPts val="600"/>
              </a:spcAft>
              <a:buFont typeface="Arial" panose="020B0604020202020204" pitchFamily="34" charset="0"/>
              <a:buChar char="•"/>
            </a:pPr>
            <a:r>
              <a:rPr lang="en-US" sz="1400" noProof="0" dirty="0">
                <a:solidFill>
                  <a:schemeClr val="tx1"/>
                </a:solidFill>
              </a:rPr>
              <a:t>For such kinds of questions mathematical models are better suited; e.g., for fish-shark dynamics there is the Lotka-Volterra model.</a:t>
            </a:r>
          </a:p>
        </p:txBody>
      </p:sp>
      <p:sp>
        <p:nvSpPr>
          <p:cNvPr id="7" name="Rechteck 6">
            <a:extLst>
              <a:ext uri="{FF2B5EF4-FFF2-40B4-BE49-F238E27FC236}">
                <a16:creationId xmlns:a16="http://schemas.microsoft.com/office/drawing/2014/main" id="{5B902854-9F06-EA2C-33AC-7D090FEEAF7E}"/>
              </a:ext>
            </a:extLst>
          </p:cNvPr>
          <p:cNvSpPr/>
          <p:nvPr/>
        </p:nvSpPr>
        <p:spPr>
          <a:xfrm>
            <a:off x="3995937" y="1491630"/>
            <a:ext cx="4896544" cy="252028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8" name="Textfeld 7">
            <a:extLst>
              <a:ext uri="{FF2B5EF4-FFF2-40B4-BE49-F238E27FC236}">
                <a16:creationId xmlns:a16="http://schemas.microsoft.com/office/drawing/2014/main" id="{6CBD306E-7AB0-FC60-B0D5-EC8B0300F8E9}"/>
              </a:ext>
            </a:extLst>
          </p:cNvPr>
          <p:cNvSpPr txBox="1"/>
          <p:nvPr/>
        </p:nvSpPr>
        <p:spPr>
          <a:xfrm>
            <a:off x="4932040" y="4065915"/>
            <a:ext cx="3960440" cy="954107"/>
          </a:xfrm>
          <a:prstGeom prst="rect">
            <a:avLst/>
          </a:prstGeom>
          <a:noFill/>
        </p:spPr>
        <p:txBody>
          <a:bodyPr wrap="square">
            <a:spAutoFit/>
          </a:bodyPr>
          <a:lstStyle/>
          <a:p>
            <a:r>
              <a:rPr lang="en-US" sz="800" noProof="0" dirty="0">
                <a:latin typeface="Courier New" panose="02070309020205020404" pitchFamily="49" charset="0"/>
                <a:cs typeface="Courier New" panose="02070309020205020404" pitchFamily="49" charset="0"/>
              </a:rPr>
              <a:t>N = 10                       # Size of the lattice</a:t>
            </a:r>
          </a:p>
          <a:p>
            <a:r>
              <a:rPr lang="en-US" sz="800" noProof="0" dirty="0">
                <a:latin typeface="Courier New" panose="02070309020205020404" pitchFamily="49" charset="0"/>
                <a:cs typeface="Courier New" panose="02070309020205020404" pitchFamily="49" charset="0"/>
              </a:rPr>
              <a:t>T = 100                      # Maximum number of time steps</a:t>
            </a:r>
          </a:p>
          <a:p>
            <a:r>
              <a:rPr lang="en-US" sz="800" noProof="0" dirty="0">
                <a:latin typeface="Courier New" panose="02070309020205020404" pitchFamily="49" charset="0"/>
                <a:cs typeface="Courier New" panose="02070309020205020404" pitchFamily="49" charset="0"/>
              </a:rPr>
              <a:t>NF = 20                      # Initial number of fish</a:t>
            </a:r>
          </a:p>
          <a:p>
            <a:r>
              <a:rPr lang="en-US" sz="800" noProof="0" dirty="0">
                <a:latin typeface="Courier New" panose="02070309020205020404" pitchFamily="49" charset="0"/>
                <a:cs typeface="Courier New" panose="02070309020205020404" pitchFamily="49" charset="0"/>
              </a:rPr>
              <a:t>NS = 5                       # Initial number of sharks</a:t>
            </a:r>
          </a:p>
          <a:p>
            <a:r>
              <a:rPr lang="en-US" sz="800" noProof="0" dirty="0">
                <a:latin typeface="Courier New" panose="02070309020205020404" pitchFamily="49" charset="0"/>
                <a:cs typeface="Courier New" panose="02070309020205020404" pitchFamily="49" charset="0"/>
              </a:rPr>
              <a:t>FISH_BREEDING_TIME = 9       # Time steps for fish to breed</a:t>
            </a:r>
          </a:p>
          <a:p>
            <a:r>
              <a:rPr lang="en-US" sz="800" noProof="0" dirty="0">
                <a:latin typeface="Courier New" panose="02070309020205020404" pitchFamily="49" charset="0"/>
                <a:cs typeface="Courier New" panose="02070309020205020404" pitchFamily="49" charset="0"/>
              </a:rPr>
              <a:t>SHARK_BREEDING_TIME = 10     # Time steps for sharks to breed</a:t>
            </a:r>
          </a:p>
          <a:p>
            <a:r>
              <a:rPr lang="en-US" sz="800" noProof="0" dirty="0">
                <a:latin typeface="Courier New" panose="02070309020205020404" pitchFamily="49" charset="0"/>
                <a:cs typeface="Courier New" panose="02070309020205020404" pitchFamily="49" charset="0"/>
              </a:rPr>
              <a:t>SHARK_STARVATION_TIME = 6    # Time steps for sharks to starve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DFA5C24E-AAAB-8B73-E687-DC70D91FDD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4022" y="1491630"/>
            <a:ext cx="3360374" cy="2520280"/>
          </a:xfrm>
          <a:prstGeom prst="rect">
            <a:avLst/>
          </a:prstGeom>
        </p:spPr>
      </p:pic>
      <p:sp>
        <p:nvSpPr>
          <p:cNvPr id="2" name="Titel 1"/>
          <p:cNvSpPr>
            <a:spLocks noGrp="1"/>
          </p:cNvSpPr>
          <p:nvPr>
            <p:ph type="title"/>
          </p:nvPr>
        </p:nvSpPr>
        <p:spPr/>
        <p:txBody>
          <a:bodyPr/>
          <a:lstStyle/>
          <a:p>
            <a:r>
              <a:rPr lang="en-US" noProof="0" dirty="0"/>
              <a:t>Simulation:</a:t>
            </a:r>
            <a:br>
              <a:rPr lang="en-US" noProof="0" dirty="0"/>
            </a:br>
            <a:r>
              <a:rPr lang="en-US" noProof="0" dirty="0"/>
              <a:t>Wrong Model Behavior? (1/ 2)</a:t>
            </a:r>
          </a:p>
        </p:txBody>
      </p:sp>
      <p:sp>
        <p:nvSpPr>
          <p:cNvPr id="3" name="Rechteck 2"/>
          <p:cNvSpPr/>
          <p:nvPr/>
        </p:nvSpPr>
        <p:spPr>
          <a:xfrm>
            <a:off x="251520" y="1131590"/>
            <a:ext cx="3600400"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Gedanken Experiment</a:t>
            </a:r>
          </a:p>
        </p:txBody>
      </p:sp>
      <p:sp>
        <p:nvSpPr>
          <p:cNvPr id="4" name="Rechteck 3"/>
          <p:cNvSpPr/>
          <p:nvPr/>
        </p:nvSpPr>
        <p:spPr>
          <a:xfrm>
            <a:off x="3995937" y="1131590"/>
            <a:ext cx="4896544"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Simulation (sim05)</a:t>
            </a:r>
          </a:p>
        </p:txBody>
      </p:sp>
      <p:sp>
        <p:nvSpPr>
          <p:cNvPr id="5" name="Rechteck 4"/>
          <p:cNvSpPr/>
          <p:nvPr/>
        </p:nvSpPr>
        <p:spPr>
          <a:xfrm>
            <a:off x="251520" y="1491630"/>
            <a:ext cx="3600400" cy="352839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With biological intuition it makes sense that if </a:t>
            </a:r>
            <a:r>
              <a:rPr lang="en-US" sz="1400" noProof="0" dirty="0" err="1">
                <a:solidFill>
                  <a:schemeClr val="tx1"/>
                </a:solidFill>
              </a:rPr>
              <a:t>Wa</a:t>
            </a:r>
            <a:r>
              <a:rPr lang="en-US" sz="1400" noProof="0" dirty="0">
                <a:solidFill>
                  <a:schemeClr val="tx1"/>
                </a:solidFill>
              </a:rPr>
              <a:t>-Tor is completely occupied by sharks despite one cell inhabited by a fish.</a:t>
            </a:r>
          </a:p>
          <a:p>
            <a:pPr algn="just">
              <a:spcAft>
                <a:spcPts val="600"/>
              </a:spcAft>
            </a:pPr>
            <a:r>
              <a:rPr lang="en-US" sz="1400" noProof="0" dirty="0">
                <a:solidFill>
                  <a:schemeClr val="tx1"/>
                </a:solidFill>
              </a:rPr>
              <a:t>This setting cannot be invaded by the fish population (which will be immediately consumed). Though, due to the lack of prey the sharks will get extinct eventually.</a:t>
            </a:r>
          </a:p>
        </p:txBody>
      </p:sp>
      <p:sp>
        <p:nvSpPr>
          <p:cNvPr id="8" name="Rechteck 7"/>
          <p:cNvSpPr/>
          <p:nvPr/>
        </p:nvSpPr>
        <p:spPr>
          <a:xfrm>
            <a:off x="323528" y="4083918"/>
            <a:ext cx="3456384" cy="864096"/>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We see that due to the birth events, that produce new shark with an initial starve time zero, we get an increasing amount of shark that multiply before starving (based on the lack of fish).</a:t>
            </a:r>
          </a:p>
        </p:txBody>
      </p:sp>
      <p:sp>
        <p:nvSpPr>
          <p:cNvPr id="7" name="Rechteck 6">
            <a:extLst>
              <a:ext uri="{FF2B5EF4-FFF2-40B4-BE49-F238E27FC236}">
                <a16:creationId xmlns:a16="http://schemas.microsoft.com/office/drawing/2014/main" id="{C27FA416-7AA8-5490-AB45-DBD883D6C276}"/>
              </a:ext>
            </a:extLst>
          </p:cNvPr>
          <p:cNvSpPr/>
          <p:nvPr/>
        </p:nvSpPr>
        <p:spPr>
          <a:xfrm>
            <a:off x="3995937" y="1491630"/>
            <a:ext cx="4896544" cy="252028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9" name="Textfeld 8">
            <a:extLst>
              <a:ext uri="{FF2B5EF4-FFF2-40B4-BE49-F238E27FC236}">
                <a16:creationId xmlns:a16="http://schemas.microsoft.com/office/drawing/2014/main" id="{5CA4CD9E-1194-43DF-A111-D3EB21102C97}"/>
              </a:ext>
            </a:extLst>
          </p:cNvPr>
          <p:cNvSpPr txBox="1"/>
          <p:nvPr/>
        </p:nvSpPr>
        <p:spPr>
          <a:xfrm>
            <a:off x="4932040" y="4065915"/>
            <a:ext cx="3960440" cy="954107"/>
          </a:xfrm>
          <a:prstGeom prst="rect">
            <a:avLst/>
          </a:prstGeom>
          <a:noFill/>
        </p:spPr>
        <p:txBody>
          <a:bodyPr wrap="square">
            <a:spAutoFit/>
          </a:bodyPr>
          <a:lstStyle/>
          <a:p>
            <a:r>
              <a:rPr lang="en-US" sz="800" noProof="0" dirty="0">
                <a:latin typeface="Courier New" panose="02070309020205020404" pitchFamily="49" charset="0"/>
                <a:cs typeface="Courier New" panose="02070309020205020404" pitchFamily="49" charset="0"/>
              </a:rPr>
              <a:t>N = 5                        # Size of the lattice</a:t>
            </a:r>
          </a:p>
          <a:p>
            <a:r>
              <a:rPr lang="en-US" sz="800" noProof="0" dirty="0">
                <a:latin typeface="Courier New" panose="02070309020205020404" pitchFamily="49" charset="0"/>
                <a:cs typeface="Courier New" panose="02070309020205020404" pitchFamily="49" charset="0"/>
              </a:rPr>
              <a:t>T = 50                       # Maximum number of time steps</a:t>
            </a:r>
          </a:p>
          <a:p>
            <a:r>
              <a:rPr lang="en-US" sz="800" noProof="0" dirty="0">
                <a:latin typeface="Courier New" panose="02070309020205020404" pitchFamily="49" charset="0"/>
                <a:cs typeface="Courier New" panose="02070309020205020404" pitchFamily="49" charset="0"/>
              </a:rPr>
              <a:t>NF = 1                       # Initial number of fish</a:t>
            </a:r>
          </a:p>
          <a:p>
            <a:r>
              <a:rPr lang="en-US" sz="800" noProof="0" dirty="0">
                <a:latin typeface="Courier New" panose="02070309020205020404" pitchFamily="49" charset="0"/>
                <a:cs typeface="Courier New" panose="02070309020205020404" pitchFamily="49" charset="0"/>
              </a:rPr>
              <a:t>NS = 24                      # Initial number of sharks</a:t>
            </a:r>
          </a:p>
          <a:p>
            <a:r>
              <a:rPr lang="en-US" sz="800" noProof="0" dirty="0">
                <a:latin typeface="Courier New" panose="02070309020205020404" pitchFamily="49" charset="0"/>
                <a:cs typeface="Courier New" panose="02070309020205020404" pitchFamily="49" charset="0"/>
              </a:rPr>
              <a:t>FISH_BREEDING_TIME = 5       # Time steps for fish to breed</a:t>
            </a:r>
          </a:p>
          <a:p>
            <a:r>
              <a:rPr lang="en-US" sz="800" noProof="0" dirty="0">
                <a:latin typeface="Courier New" panose="02070309020205020404" pitchFamily="49" charset="0"/>
                <a:cs typeface="Courier New" panose="02070309020205020404" pitchFamily="49" charset="0"/>
              </a:rPr>
              <a:t>SHARK_BREEDING_TIME = 1      # Time steps for sharks to breed</a:t>
            </a:r>
          </a:p>
          <a:p>
            <a:r>
              <a:rPr lang="en-US" sz="800" noProof="0" dirty="0">
                <a:latin typeface="Courier New" panose="02070309020205020404" pitchFamily="49" charset="0"/>
                <a:cs typeface="Courier New" panose="02070309020205020404" pitchFamily="49" charset="0"/>
              </a:rPr>
              <a:t>SHARK_STARVATION_TIME = 10   # Time steps for sharks to starve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7" grpId="0" animBg="1"/>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597C5A-FE23-64E3-A16D-E9C01BC356AF}"/>
              </a:ext>
            </a:extLst>
          </p:cNvPr>
          <p:cNvSpPr>
            <a:spLocks noGrp="1"/>
          </p:cNvSpPr>
          <p:nvPr>
            <p:ph type="title"/>
          </p:nvPr>
        </p:nvSpPr>
        <p:spPr/>
        <p:txBody>
          <a:bodyPr/>
          <a:lstStyle/>
          <a:p>
            <a:r>
              <a:rPr lang="en-US" noProof="0" dirty="0"/>
              <a:t>Simulation:</a:t>
            </a:r>
            <a:br>
              <a:rPr lang="en-US" noProof="0" dirty="0"/>
            </a:br>
            <a:r>
              <a:rPr lang="en-US" noProof="0" dirty="0"/>
              <a:t>Wrong Model Behavior? (2/ 2)</a:t>
            </a:r>
          </a:p>
        </p:txBody>
      </p:sp>
      <p:sp>
        <p:nvSpPr>
          <p:cNvPr id="3" name="Rechteck 2">
            <a:extLst>
              <a:ext uri="{FF2B5EF4-FFF2-40B4-BE49-F238E27FC236}">
                <a16:creationId xmlns:a16="http://schemas.microsoft.com/office/drawing/2014/main" id="{D720E3FA-B59E-7B1C-E92E-4745C94E027E}"/>
              </a:ext>
            </a:extLst>
          </p:cNvPr>
          <p:cNvSpPr/>
          <p:nvPr/>
        </p:nvSpPr>
        <p:spPr>
          <a:xfrm>
            <a:off x="251520" y="1131590"/>
            <a:ext cx="2736304"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Validation</a:t>
            </a:r>
          </a:p>
        </p:txBody>
      </p:sp>
      <p:sp>
        <p:nvSpPr>
          <p:cNvPr id="4" name="Rechteck 3">
            <a:extLst>
              <a:ext uri="{FF2B5EF4-FFF2-40B4-BE49-F238E27FC236}">
                <a16:creationId xmlns:a16="http://schemas.microsoft.com/office/drawing/2014/main" id="{01BE2AA5-70DC-2A02-4D01-F02AE1349C87}"/>
              </a:ext>
            </a:extLst>
          </p:cNvPr>
          <p:cNvSpPr/>
          <p:nvPr/>
        </p:nvSpPr>
        <p:spPr>
          <a:xfrm>
            <a:off x="251520" y="1491630"/>
            <a:ext cx="2736304" cy="352839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hteck 4">
            <a:extLst>
              <a:ext uri="{FF2B5EF4-FFF2-40B4-BE49-F238E27FC236}">
                <a16:creationId xmlns:a16="http://schemas.microsoft.com/office/drawing/2014/main" id="{2AEFB380-20E6-4510-24F6-4467A8F60644}"/>
              </a:ext>
            </a:extLst>
          </p:cNvPr>
          <p:cNvSpPr/>
          <p:nvPr/>
        </p:nvSpPr>
        <p:spPr>
          <a:xfrm>
            <a:off x="899592" y="156363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Reality</a:t>
            </a:r>
          </a:p>
        </p:txBody>
      </p:sp>
      <p:sp>
        <p:nvSpPr>
          <p:cNvPr id="6" name="Rechteck 5">
            <a:extLst>
              <a:ext uri="{FF2B5EF4-FFF2-40B4-BE49-F238E27FC236}">
                <a16:creationId xmlns:a16="http://schemas.microsoft.com/office/drawing/2014/main" id="{A8D1B6A4-5C97-3A89-0345-0C09AB1AA63E}"/>
              </a:ext>
            </a:extLst>
          </p:cNvPr>
          <p:cNvSpPr/>
          <p:nvPr/>
        </p:nvSpPr>
        <p:spPr>
          <a:xfrm>
            <a:off x="899592" y="242773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Model Results</a:t>
            </a:r>
          </a:p>
        </p:txBody>
      </p:sp>
      <p:cxnSp>
        <p:nvCxnSpPr>
          <p:cNvPr id="7" name="Gerade Verbindung mit Pfeil 6">
            <a:extLst>
              <a:ext uri="{FF2B5EF4-FFF2-40B4-BE49-F238E27FC236}">
                <a16:creationId xmlns:a16="http://schemas.microsoft.com/office/drawing/2014/main" id="{B4D58B83-1558-2196-0E48-27612073E00D}"/>
              </a:ext>
            </a:extLst>
          </p:cNvPr>
          <p:cNvCxnSpPr>
            <a:stCxn id="5" idx="2"/>
            <a:endCxn id="6" idx="0"/>
          </p:cNvCxnSpPr>
          <p:nvPr/>
        </p:nvCxnSpPr>
        <p:spPr>
          <a:xfrm>
            <a:off x="1619672" y="2067694"/>
            <a:ext cx="0" cy="360040"/>
          </a:xfrm>
          <a:prstGeom prst="straightConnector1">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8" name="Rechteck 7">
            <a:extLst>
              <a:ext uri="{FF2B5EF4-FFF2-40B4-BE49-F238E27FC236}">
                <a16:creationId xmlns:a16="http://schemas.microsoft.com/office/drawing/2014/main" id="{DFC52006-C96B-BB68-161F-3F8AC44E617D}"/>
              </a:ext>
            </a:extLst>
          </p:cNvPr>
          <p:cNvSpPr/>
          <p:nvPr/>
        </p:nvSpPr>
        <p:spPr>
          <a:xfrm>
            <a:off x="3851920" y="1131590"/>
            <a:ext cx="504056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We observe an incongruency between reality and model results.</a:t>
            </a:r>
          </a:p>
          <a:p>
            <a:pPr algn="just">
              <a:spcAft>
                <a:spcPts val="600"/>
              </a:spcAft>
            </a:pPr>
            <a:endParaRPr lang="en-US" sz="1400" noProof="0" dirty="0">
              <a:solidFill>
                <a:schemeClr val="tx1"/>
              </a:solidFill>
            </a:endParaRPr>
          </a:p>
          <a:p>
            <a:pPr algn="just">
              <a:spcAft>
                <a:spcPts val="600"/>
              </a:spcAft>
            </a:pPr>
            <a:endParaRPr lang="en-US" sz="1400" noProof="0" dirty="0">
              <a:solidFill>
                <a:schemeClr val="tx1"/>
              </a:solidFill>
            </a:endParaRPr>
          </a:p>
          <a:p>
            <a:pPr algn="just">
              <a:spcAft>
                <a:spcPts val="600"/>
              </a:spcAft>
            </a:pPr>
            <a:endParaRPr lang="en-US" sz="1400" noProof="0" dirty="0">
              <a:solidFill>
                <a:schemeClr val="tx1"/>
              </a:solidFill>
            </a:endParaRPr>
          </a:p>
          <a:p>
            <a:pPr algn="just">
              <a:spcAft>
                <a:spcPts val="600"/>
              </a:spcAft>
            </a:pPr>
            <a:endParaRPr lang="en-US" sz="1400" noProof="0" dirty="0">
              <a:solidFill>
                <a:schemeClr val="tx1"/>
              </a:solidFill>
            </a:endParaRPr>
          </a:p>
          <a:p>
            <a:pPr algn="just">
              <a:spcAft>
                <a:spcPts val="600"/>
              </a:spcAft>
            </a:pPr>
            <a:r>
              <a:rPr lang="en-US" sz="1400" noProof="0" dirty="0">
                <a:solidFill>
                  <a:schemeClr val="tx1"/>
                </a:solidFill>
              </a:rPr>
              <a:t>Hence, something may be wrong with the way we built our model, and we should revise it.</a:t>
            </a:r>
          </a:p>
          <a:p>
            <a:pPr marL="285750" indent="-285750" algn="just">
              <a:spcAft>
                <a:spcPts val="600"/>
              </a:spcAft>
              <a:buFont typeface="Arial" panose="020B0604020202020204" pitchFamily="34" charset="0"/>
              <a:buChar char="•"/>
            </a:pPr>
            <a:r>
              <a:rPr lang="en-US" sz="1400" noProof="0" dirty="0">
                <a:solidFill>
                  <a:schemeClr val="tx1"/>
                </a:solidFill>
              </a:rPr>
              <a:t>In our modelling, we neglected the reason why shark feed on fish: they require resources to survive.</a:t>
            </a:r>
          </a:p>
          <a:p>
            <a:pPr marL="285750" indent="-285750" algn="just">
              <a:spcAft>
                <a:spcPts val="600"/>
              </a:spcAft>
              <a:buFont typeface="Arial" panose="020B0604020202020204" pitchFamily="34" charset="0"/>
              <a:buChar char="•"/>
            </a:pPr>
            <a:r>
              <a:rPr lang="en-US" sz="1400" noProof="0" dirty="0">
                <a:solidFill>
                  <a:schemeClr val="tx1"/>
                </a:solidFill>
              </a:rPr>
              <a:t>So, let’s augment the rules for sharks in this sense.</a:t>
            </a:r>
          </a:p>
          <a:p>
            <a:pPr marL="285750" indent="-285750" algn="just">
              <a:spcAft>
                <a:spcPts val="600"/>
              </a:spcAft>
              <a:buFont typeface="Arial" panose="020B0604020202020204" pitchFamily="34" charset="0"/>
              <a:buChar char="•"/>
            </a:pPr>
            <a:endParaRPr lang="en-US" sz="1400" noProof="0" dirty="0">
              <a:solidFill>
                <a:schemeClr val="tx1"/>
              </a:solidFill>
            </a:endParaRPr>
          </a:p>
        </p:txBody>
      </p:sp>
      <p:sp>
        <p:nvSpPr>
          <p:cNvPr id="9" name="Rechteck 8">
            <a:extLst>
              <a:ext uri="{FF2B5EF4-FFF2-40B4-BE49-F238E27FC236}">
                <a16:creationId xmlns:a16="http://schemas.microsoft.com/office/drawing/2014/main" id="{20179260-A300-AB69-8864-130606D577BD}"/>
              </a:ext>
            </a:extLst>
          </p:cNvPr>
          <p:cNvSpPr/>
          <p:nvPr/>
        </p:nvSpPr>
        <p:spPr>
          <a:xfrm>
            <a:off x="4139952" y="1491630"/>
            <a:ext cx="4464496" cy="720080"/>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We see that due to the birth events, that produce new shark with an initial starve time zero, we get an increasing amount of shark that multiply before starving (based on the lack of fish).</a:t>
            </a:r>
          </a:p>
        </p:txBody>
      </p:sp>
    </p:spTree>
    <p:extLst>
      <p:ext uri="{BB962C8B-B14F-4D97-AF65-F5344CB8AC3E}">
        <p14:creationId xmlns:p14="http://schemas.microsoft.com/office/powerpoint/2010/main" val="34864923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As a second version of </a:t>
            </a:r>
            <a:r>
              <a:rPr lang="en-US" noProof="0" dirty="0" err="1"/>
              <a:t>Wa</a:t>
            </a:r>
            <a:r>
              <a:rPr lang="en-US" noProof="0" dirty="0"/>
              <a:t>-Tor we assume a different breeding behavior of shark to see if that helps to get rid of wrong model behavior</a:t>
            </a:r>
          </a:p>
        </p:txBody>
      </p:sp>
      <p:sp>
        <p:nvSpPr>
          <p:cNvPr id="3" name="Rechteck 2"/>
          <p:cNvSpPr/>
          <p:nvPr/>
        </p:nvSpPr>
        <p:spPr>
          <a:xfrm rot="16200000">
            <a:off x="-1548680" y="2931790"/>
            <a:ext cx="3888432" cy="288032"/>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err="1">
                <a:solidFill>
                  <a:schemeClr val="tx1"/>
                </a:solidFill>
              </a:rPr>
              <a:t>Wa</a:t>
            </a:r>
            <a:r>
              <a:rPr lang="en-US" sz="1400" noProof="0" dirty="0">
                <a:solidFill>
                  <a:schemeClr val="tx1"/>
                </a:solidFill>
              </a:rPr>
              <a:t>-Tor Scheme (2</a:t>
            </a:r>
            <a:r>
              <a:rPr lang="en-US" sz="1400" baseline="30000" noProof="0" dirty="0">
                <a:solidFill>
                  <a:schemeClr val="tx1"/>
                </a:solidFill>
              </a:rPr>
              <a:t>nd</a:t>
            </a:r>
            <a:r>
              <a:rPr lang="en-US" sz="1400" noProof="0" dirty="0">
                <a:solidFill>
                  <a:schemeClr val="tx1"/>
                </a:solidFill>
              </a:rPr>
              <a:t> version)</a:t>
            </a:r>
          </a:p>
        </p:txBody>
      </p:sp>
      <p:sp>
        <p:nvSpPr>
          <p:cNvPr id="4" name="Rechteck 3"/>
          <p:cNvSpPr/>
          <p:nvPr/>
        </p:nvSpPr>
        <p:spPr>
          <a:xfrm>
            <a:off x="611559" y="1131590"/>
            <a:ext cx="4117257"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Version 1 Fish Rules</a:t>
            </a:r>
          </a:p>
        </p:txBody>
      </p:sp>
      <p:sp>
        <p:nvSpPr>
          <p:cNvPr id="5" name="Rechteck 4"/>
          <p:cNvSpPr/>
          <p:nvPr/>
        </p:nvSpPr>
        <p:spPr>
          <a:xfrm>
            <a:off x="4788024" y="1131590"/>
            <a:ext cx="4104456"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Updated Shark Rules (Resource Level)</a:t>
            </a:r>
          </a:p>
        </p:txBody>
      </p:sp>
      <p:sp>
        <p:nvSpPr>
          <p:cNvPr id="6" name="Rechteck 5"/>
          <p:cNvSpPr/>
          <p:nvPr/>
        </p:nvSpPr>
        <p:spPr>
          <a:xfrm>
            <a:off x="611559" y="1491630"/>
            <a:ext cx="4117257" cy="165618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buFont typeface="Arial" pitchFamily="34" charset="0"/>
              <a:buChar char="•"/>
            </a:pPr>
            <a:r>
              <a:rPr lang="en-US" sz="1000" noProof="0" dirty="0">
                <a:solidFill>
                  <a:schemeClr val="tx1"/>
                </a:solidFill>
              </a:rPr>
              <a:t>Every fish has an age that is increased by one after each move.</a:t>
            </a:r>
          </a:p>
          <a:p>
            <a:pPr marL="176213" indent="-176213">
              <a:buFont typeface="Arial" pitchFamily="34" charset="0"/>
              <a:buChar char="•"/>
            </a:pPr>
            <a:r>
              <a:rPr lang="en-US" sz="1000" noProof="0" dirty="0">
                <a:solidFill>
                  <a:schemeClr val="tx1"/>
                </a:solidFill>
              </a:rPr>
              <a:t>If the age is larger than a “fish breeding time” then a new fish is “born” (with zero age) on an unoccupied neighboring cell, and the age of the fish is set back to zero.</a:t>
            </a:r>
          </a:p>
          <a:p>
            <a:pPr marL="176213" indent="-176213">
              <a:buFont typeface="Arial" pitchFamily="34" charset="0"/>
              <a:buChar char="•"/>
            </a:pPr>
            <a:r>
              <a:rPr lang="en-US" sz="1000" noProof="0" dirty="0">
                <a:solidFill>
                  <a:schemeClr val="tx1"/>
                </a:solidFill>
              </a:rPr>
              <a:t>If there is more than one unoccupied neighboring cell, then the place for the new fish is equally likely for all unoccupied neighboring cell and selected at random.</a:t>
            </a:r>
          </a:p>
          <a:p>
            <a:pPr marL="176213" indent="-176213">
              <a:buFont typeface="Arial" pitchFamily="34" charset="0"/>
              <a:buChar char="•"/>
            </a:pPr>
            <a:r>
              <a:rPr lang="en-US" sz="1000" noProof="0" dirty="0">
                <a:solidFill>
                  <a:schemeClr val="tx1"/>
                </a:solidFill>
              </a:rPr>
              <a:t>If all of the eight direct neighbor cells are occupied, the fish moves on until it either gets eaten by a shark or is positioned at a cell with at least one unoccupied neighboring cell.</a:t>
            </a:r>
          </a:p>
        </p:txBody>
      </p:sp>
      <p:sp>
        <p:nvSpPr>
          <p:cNvPr id="7" name="Rechteck 6"/>
          <p:cNvSpPr/>
          <p:nvPr/>
        </p:nvSpPr>
        <p:spPr>
          <a:xfrm>
            <a:off x="4788024" y="1491630"/>
            <a:ext cx="4104456" cy="352839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buFont typeface="Arial" pitchFamily="34" charset="0"/>
              <a:buChar char="•"/>
            </a:pPr>
            <a:r>
              <a:rPr lang="en-US" sz="1200" noProof="0" dirty="0">
                <a:solidFill>
                  <a:schemeClr val="tx1"/>
                </a:solidFill>
              </a:rPr>
              <a:t>As before, every shark has an age that is increased by one after each move.</a:t>
            </a:r>
          </a:p>
          <a:p>
            <a:pPr marL="176213" indent="-176213">
              <a:buFont typeface="Arial" pitchFamily="34" charset="0"/>
              <a:buChar char="•"/>
            </a:pPr>
            <a:r>
              <a:rPr lang="en-US" sz="1200" noProof="0" dirty="0">
                <a:solidFill>
                  <a:schemeClr val="tx1"/>
                </a:solidFill>
              </a:rPr>
              <a:t>At an encounter between a shark and a fish the shark eats the fish, then </a:t>
            </a:r>
            <a:r>
              <a:rPr lang="en-US" sz="1200" noProof="0" dirty="0">
                <a:solidFill>
                  <a:srgbClr val="FF0000"/>
                </a:solidFill>
              </a:rPr>
              <a:t>the resource level of the shark is increased by the resource level of the fish</a:t>
            </a:r>
            <a:r>
              <a:rPr lang="en-US" sz="1200" noProof="0" dirty="0">
                <a:solidFill>
                  <a:schemeClr val="tx1"/>
                </a:solidFill>
              </a:rPr>
              <a:t>, the ’shark starve time’ is set to zero, and the fish is canceled from the simulation.</a:t>
            </a:r>
          </a:p>
          <a:p>
            <a:pPr marL="176213" indent="-176213">
              <a:buFont typeface="Arial" pitchFamily="34" charset="0"/>
              <a:buChar char="•"/>
            </a:pPr>
            <a:r>
              <a:rPr lang="en-US" sz="1200" noProof="0" dirty="0">
                <a:solidFill>
                  <a:schemeClr val="tx1"/>
                </a:solidFill>
              </a:rPr>
              <a:t>We assume that the resource level of a fish corresponds to its age value.</a:t>
            </a:r>
          </a:p>
          <a:p>
            <a:pPr marL="176213" indent="-176213">
              <a:buFont typeface="Arial" pitchFamily="34" charset="0"/>
              <a:buChar char="•"/>
            </a:pPr>
            <a:r>
              <a:rPr lang="en-US" sz="1200" noProof="0" dirty="0">
                <a:solidFill>
                  <a:srgbClr val="FF0000"/>
                </a:solidFill>
              </a:rPr>
              <a:t>For every move without an encounter with a fish the resource level of the shark is decreased by one</a:t>
            </a:r>
            <a:r>
              <a:rPr lang="en-US" sz="1200" noProof="0" dirty="0">
                <a:solidFill>
                  <a:schemeClr val="tx1"/>
                </a:solidFill>
              </a:rPr>
              <a:t>. </a:t>
            </a:r>
          </a:p>
          <a:p>
            <a:pPr marL="176213" indent="-176213">
              <a:buFont typeface="Arial" pitchFamily="34" charset="0"/>
              <a:buChar char="•"/>
            </a:pPr>
            <a:r>
              <a:rPr lang="en-US" sz="1200" noProof="0" dirty="0">
                <a:solidFill>
                  <a:schemeClr val="tx1"/>
                </a:solidFill>
              </a:rPr>
              <a:t>As before, if a shark does not find a fish after a certain amount of time (shark starving time), then it is canceled from the simulation.</a:t>
            </a:r>
          </a:p>
          <a:p>
            <a:pPr marL="176213" indent="-176213">
              <a:buFont typeface="Arial" pitchFamily="34" charset="0"/>
              <a:buChar char="•"/>
            </a:pPr>
            <a:r>
              <a:rPr lang="en-US" sz="1200" noProof="0" dirty="0">
                <a:solidFill>
                  <a:schemeClr val="tx1"/>
                </a:solidFill>
              </a:rPr>
              <a:t>If the age of a shark is equal or larger than a ’shark breeding time’ </a:t>
            </a:r>
            <a:r>
              <a:rPr lang="en-US" sz="1200" noProof="0" dirty="0">
                <a:solidFill>
                  <a:srgbClr val="FF0000"/>
                </a:solidFill>
              </a:rPr>
              <a:t>and its resource level is larger than a threshold (breeding energy) </a:t>
            </a:r>
            <a:r>
              <a:rPr lang="en-US" sz="1200" noProof="0" dirty="0">
                <a:solidFill>
                  <a:schemeClr val="tx1"/>
                </a:solidFill>
              </a:rPr>
              <a:t>then a new shark is ’born’ (with zero age and zero starve time) according to the same rules as for fish.</a:t>
            </a:r>
          </a:p>
          <a:p>
            <a:pPr marL="176213" indent="-176213">
              <a:buFont typeface="Arial" pitchFamily="34" charset="0"/>
              <a:buChar char="•"/>
            </a:pPr>
            <a:r>
              <a:rPr lang="en-US" sz="1200" noProof="0" dirty="0">
                <a:solidFill>
                  <a:srgbClr val="FF0000"/>
                </a:solidFill>
              </a:rPr>
              <a:t>The resource level of the ’parent’ shark is as equally distributed between the parent and child shark as possible</a:t>
            </a:r>
            <a:r>
              <a:rPr lang="en-US" sz="1200" noProof="0" dirty="0">
                <a:solidFill>
                  <a:schemeClr val="tx1"/>
                </a:solidFill>
              </a:rPr>
              <a:t>.</a:t>
            </a:r>
          </a:p>
        </p:txBody>
      </p:sp>
      <p:sp>
        <p:nvSpPr>
          <p:cNvPr id="8" name="Rechteck 7"/>
          <p:cNvSpPr/>
          <p:nvPr/>
        </p:nvSpPr>
        <p:spPr>
          <a:xfrm>
            <a:off x="611560" y="3219822"/>
            <a:ext cx="4117257" cy="288032"/>
          </a:xfrm>
          <a:prstGeom prst="rect">
            <a:avLst/>
          </a:prstGeom>
          <a:solidFill>
            <a:schemeClr val="tx1">
              <a:lumMod val="50000"/>
              <a:lumOff val="50000"/>
            </a:schemeClr>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Version 1 Shark Rules</a:t>
            </a:r>
          </a:p>
        </p:txBody>
      </p:sp>
      <p:sp>
        <p:nvSpPr>
          <p:cNvPr id="9" name="Rechteck 8"/>
          <p:cNvSpPr/>
          <p:nvPr/>
        </p:nvSpPr>
        <p:spPr>
          <a:xfrm>
            <a:off x="611560" y="3579862"/>
            <a:ext cx="4117257" cy="1440160"/>
          </a:xfrm>
          <a:prstGeom prst="rect">
            <a:avLst/>
          </a:prstGeom>
          <a:no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buFont typeface="Arial" pitchFamily="34" charset="0"/>
              <a:buChar char="•"/>
            </a:pPr>
            <a:r>
              <a:rPr lang="en-US" sz="1000" noProof="0" dirty="0">
                <a:solidFill>
                  <a:schemeClr val="tx1">
                    <a:lumMod val="50000"/>
                    <a:lumOff val="50000"/>
                  </a:schemeClr>
                </a:solidFill>
              </a:rPr>
              <a:t>Every shark has an age that is increased by one after each move.</a:t>
            </a:r>
          </a:p>
          <a:p>
            <a:pPr marL="176213" indent="-176213">
              <a:buFont typeface="Arial" pitchFamily="34" charset="0"/>
              <a:buChar char="•"/>
            </a:pPr>
            <a:r>
              <a:rPr lang="en-US" sz="1000" noProof="0" dirty="0">
                <a:solidFill>
                  <a:schemeClr val="tx1">
                    <a:lumMod val="50000"/>
                    <a:lumOff val="50000"/>
                  </a:schemeClr>
                </a:solidFill>
              </a:rPr>
              <a:t>At a collision between a shark and a fish the shark eats the fish, then the “shark starve time” is set to zero and the fish is canceled from the simulation.</a:t>
            </a:r>
          </a:p>
          <a:p>
            <a:pPr marL="176213" indent="-176213">
              <a:buFont typeface="Arial" pitchFamily="34" charset="0"/>
              <a:buChar char="•"/>
            </a:pPr>
            <a:r>
              <a:rPr lang="en-US" sz="1000" noProof="0" dirty="0">
                <a:solidFill>
                  <a:schemeClr val="tx1">
                    <a:lumMod val="50000"/>
                    <a:lumOff val="50000"/>
                  </a:schemeClr>
                </a:solidFill>
              </a:rPr>
              <a:t>If a shark does not find a fish after a certain amount of time (shark starving time), then it is canceled from the simulation.</a:t>
            </a:r>
          </a:p>
          <a:p>
            <a:pPr marL="176213" indent="-176213">
              <a:buFont typeface="Arial" pitchFamily="34" charset="0"/>
              <a:buChar char="•"/>
            </a:pPr>
            <a:r>
              <a:rPr lang="en-US" sz="1000" noProof="0" dirty="0">
                <a:solidFill>
                  <a:schemeClr val="tx1">
                    <a:lumMod val="50000"/>
                    <a:lumOff val="50000"/>
                  </a:schemeClr>
                </a:solidFill>
              </a:rPr>
              <a:t>If the age of a shark is equal or larger than a 'shark breeding time' then a new shark is “born” (with zero age and zero starve time) according to the same rules as for fish.</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Gerader Verbinder 16">
            <a:extLst>
              <a:ext uri="{FF2B5EF4-FFF2-40B4-BE49-F238E27FC236}">
                <a16:creationId xmlns:a16="http://schemas.microsoft.com/office/drawing/2014/main" id="{2ECA9001-65FE-2B70-FE6C-6000D7C3C652}"/>
              </a:ext>
            </a:extLst>
          </p:cNvPr>
          <p:cNvCxnSpPr>
            <a:cxnSpLocks/>
            <a:stCxn id="10" idx="2"/>
            <a:endCxn id="11" idx="0"/>
          </p:cNvCxnSpPr>
          <p:nvPr/>
        </p:nvCxnSpPr>
        <p:spPr>
          <a:xfrm>
            <a:off x="3779912" y="4029911"/>
            <a:ext cx="0" cy="126013"/>
          </a:xfrm>
          <a:prstGeom prst="line">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2" name="Titel 1">
            <a:extLst>
              <a:ext uri="{FF2B5EF4-FFF2-40B4-BE49-F238E27FC236}">
                <a16:creationId xmlns:a16="http://schemas.microsoft.com/office/drawing/2014/main" id="{3E4DA776-2EE1-D276-C0B3-E3D67604AAD6}"/>
              </a:ext>
            </a:extLst>
          </p:cNvPr>
          <p:cNvSpPr>
            <a:spLocks noGrp="1"/>
          </p:cNvSpPr>
          <p:nvPr>
            <p:ph type="title"/>
          </p:nvPr>
        </p:nvSpPr>
        <p:spPr/>
        <p:txBody>
          <a:bodyPr/>
          <a:lstStyle/>
          <a:p>
            <a:r>
              <a:rPr lang="en-US" noProof="0" dirty="0"/>
              <a:t>Implementation:</a:t>
            </a:r>
            <a:br>
              <a:rPr lang="en-US" noProof="0" dirty="0"/>
            </a:br>
            <a:r>
              <a:rPr lang="en-US" noProof="0" dirty="0" err="1"/>
              <a:t>Wa</a:t>
            </a:r>
            <a:r>
              <a:rPr lang="en-US" noProof="0" dirty="0"/>
              <a:t>-Tor Scheme (2nd version)</a:t>
            </a:r>
          </a:p>
        </p:txBody>
      </p:sp>
      <p:cxnSp>
        <p:nvCxnSpPr>
          <p:cNvPr id="3" name="Gerader Verbinder 2">
            <a:extLst>
              <a:ext uri="{FF2B5EF4-FFF2-40B4-BE49-F238E27FC236}">
                <a16:creationId xmlns:a16="http://schemas.microsoft.com/office/drawing/2014/main" id="{4343946C-0136-7863-D556-7A4096236A63}"/>
              </a:ext>
            </a:extLst>
          </p:cNvPr>
          <p:cNvCxnSpPr/>
          <p:nvPr/>
        </p:nvCxnSpPr>
        <p:spPr>
          <a:xfrm flipH="1">
            <a:off x="1691680" y="1995686"/>
            <a:ext cx="720080" cy="0"/>
          </a:xfrm>
          <a:prstGeom prst="lin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cxnSp>
      <p:sp>
        <p:nvSpPr>
          <p:cNvPr id="4" name="Rechteck 3">
            <a:extLst>
              <a:ext uri="{FF2B5EF4-FFF2-40B4-BE49-F238E27FC236}">
                <a16:creationId xmlns:a16="http://schemas.microsoft.com/office/drawing/2014/main" id="{FF22B9D9-ABB6-7B65-BB92-B0B201CDF246}"/>
              </a:ext>
            </a:extLst>
          </p:cNvPr>
          <p:cNvSpPr/>
          <p:nvPr/>
        </p:nvSpPr>
        <p:spPr>
          <a:xfrm>
            <a:off x="251520" y="1131590"/>
            <a:ext cx="5040560"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Iterations</a:t>
            </a:r>
          </a:p>
        </p:txBody>
      </p:sp>
      <p:sp>
        <p:nvSpPr>
          <p:cNvPr id="5" name="Rechteck 4">
            <a:extLst>
              <a:ext uri="{FF2B5EF4-FFF2-40B4-BE49-F238E27FC236}">
                <a16:creationId xmlns:a16="http://schemas.microsoft.com/office/drawing/2014/main" id="{3F2B7C28-9247-7F56-86CB-2282A13DAB10}"/>
              </a:ext>
            </a:extLst>
          </p:cNvPr>
          <p:cNvSpPr/>
          <p:nvPr/>
        </p:nvSpPr>
        <p:spPr>
          <a:xfrm>
            <a:off x="251520" y="1491630"/>
            <a:ext cx="5040560" cy="352839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endParaRPr lang="en-US" sz="1000" noProof="0" dirty="0">
              <a:solidFill>
                <a:schemeClr val="tx1"/>
              </a:solidFill>
            </a:endParaRPr>
          </a:p>
        </p:txBody>
      </p:sp>
      <p:sp>
        <p:nvSpPr>
          <p:cNvPr id="6" name="Rechteck 5">
            <a:extLst>
              <a:ext uri="{FF2B5EF4-FFF2-40B4-BE49-F238E27FC236}">
                <a16:creationId xmlns:a16="http://schemas.microsoft.com/office/drawing/2014/main" id="{EEF6DC16-F5A8-FB10-A317-F26306166763}"/>
              </a:ext>
            </a:extLst>
          </p:cNvPr>
          <p:cNvSpPr/>
          <p:nvPr/>
        </p:nvSpPr>
        <p:spPr>
          <a:xfrm>
            <a:off x="395536" y="1635645"/>
            <a:ext cx="1296144" cy="3240355"/>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rgbClr val="C00000"/>
                </a:solidFill>
              </a:rPr>
              <a:t>04_WaTor.py</a:t>
            </a:r>
            <a:br>
              <a:rPr lang="en-US" sz="1200" b="1" noProof="0" dirty="0">
                <a:solidFill>
                  <a:srgbClr val="C00000"/>
                </a:solidFill>
              </a:rPr>
            </a:br>
            <a:r>
              <a:rPr lang="en-US" sz="1200" b="1" noProof="0" dirty="0">
                <a:solidFill>
                  <a:srgbClr val="C00000"/>
                </a:solidFill>
              </a:rPr>
              <a:t>(main routine)</a:t>
            </a:r>
            <a:endParaRPr lang="en-US" sz="1200" noProof="0" dirty="0">
              <a:solidFill>
                <a:srgbClr val="C00000"/>
              </a:solidFill>
            </a:endParaRPr>
          </a:p>
          <a:p>
            <a:pPr marL="179388" indent="-179388">
              <a:spcAft>
                <a:spcPts val="600"/>
              </a:spcAft>
              <a:buFont typeface="Arial" panose="020B0604020202020204" pitchFamily="34" charset="0"/>
              <a:buChar char="•"/>
            </a:pPr>
            <a:r>
              <a:rPr lang="en-US" sz="1200" noProof="0" dirty="0">
                <a:solidFill>
                  <a:schemeClr val="tx1"/>
                </a:solidFill>
              </a:rPr>
              <a:t>random seed</a:t>
            </a:r>
          </a:p>
          <a:p>
            <a:pPr marL="179388" indent="-179388">
              <a:spcAft>
                <a:spcPts val="600"/>
              </a:spcAft>
              <a:buFont typeface="Arial" panose="020B0604020202020204" pitchFamily="34" charset="0"/>
              <a:buChar char="•"/>
            </a:pPr>
            <a:r>
              <a:rPr lang="en-US" sz="1200" noProof="0" dirty="0">
                <a:solidFill>
                  <a:schemeClr val="tx1"/>
                </a:solidFill>
              </a:rPr>
              <a:t>global settings and parameter</a:t>
            </a:r>
          </a:p>
          <a:p>
            <a:pPr marL="179388" indent="-179388">
              <a:spcAft>
                <a:spcPts val="600"/>
              </a:spcAft>
              <a:buFont typeface="Arial" panose="020B0604020202020204" pitchFamily="34" charset="0"/>
              <a:buChar char="•"/>
            </a:pPr>
            <a:r>
              <a:rPr lang="en-US" sz="1200" noProof="0" dirty="0">
                <a:solidFill>
                  <a:srgbClr val="C00000"/>
                </a:solidFill>
              </a:rPr>
              <a:t>settings and parameter for the interaction rules</a:t>
            </a:r>
          </a:p>
          <a:p>
            <a:pPr marL="179388" indent="-179388">
              <a:spcAft>
                <a:spcPts val="600"/>
              </a:spcAft>
              <a:buFont typeface="Arial" panose="020B0604020202020204" pitchFamily="34" charset="0"/>
              <a:buChar char="•"/>
            </a:pPr>
            <a:r>
              <a:rPr lang="en-US" sz="1200" noProof="0" dirty="0">
                <a:solidFill>
                  <a:schemeClr val="tx1"/>
                </a:solidFill>
              </a:rPr>
              <a:t>call of sub-routines</a:t>
            </a:r>
          </a:p>
          <a:p>
            <a:pPr marL="179388" indent="-179388">
              <a:spcAft>
                <a:spcPts val="600"/>
              </a:spcAft>
              <a:buFont typeface="Arial" panose="020B0604020202020204" pitchFamily="34" charset="0"/>
              <a:buChar char="•"/>
            </a:pPr>
            <a:r>
              <a:rPr lang="en-US" sz="1200" noProof="0" dirty="0">
                <a:solidFill>
                  <a:schemeClr val="tx1"/>
                </a:solidFill>
              </a:rPr>
              <a:t>iteration loop for the movement</a:t>
            </a:r>
          </a:p>
          <a:p>
            <a:pPr algn="ctr">
              <a:spcAft>
                <a:spcPts val="600"/>
              </a:spcAft>
            </a:pPr>
            <a:endParaRPr lang="en-US" sz="1200" noProof="0" dirty="0">
              <a:solidFill>
                <a:schemeClr val="tx1"/>
              </a:solidFill>
            </a:endParaRPr>
          </a:p>
        </p:txBody>
      </p:sp>
      <p:sp>
        <p:nvSpPr>
          <p:cNvPr id="7" name="Rechteck 6">
            <a:extLst>
              <a:ext uri="{FF2B5EF4-FFF2-40B4-BE49-F238E27FC236}">
                <a16:creationId xmlns:a16="http://schemas.microsoft.com/office/drawing/2014/main" id="{80B7CE46-FD33-E9F0-49A3-FF2385D69BCD}"/>
              </a:ext>
            </a:extLst>
          </p:cNvPr>
          <p:cNvSpPr/>
          <p:nvPr/>
        </p:nvSpPr>
        <p:spPr>
          <a:xfrm>
            <a:off x="2411760" y="1635646"/>
            <a:ext cx="2736304" cy="720080"/>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P04a_initialization.py (sub-routine)</a:t>
            </a:r>
            <a:endParaRPr lang="en-US" sz="1200" noProof="0" dirty="0">
              <a:solidFill>
                <a:schemeClr val="tx1"/>
              </a:solidFill>
            </a:endParaRPr>
          </a:p>
          <a:p>
            <a:pPr>
              <a:spcAft>
                <a:spcPts val="600"/>
              </a:spcAft>
            </a:pPr>
            <a:r>
              <a:rPr lang="en-US" sz="1200" noProof="0" dirty="0">
                <a:solidFill>
                  <a:schemeClr val="tx1"/>
                </a:solidFill>
              </a:rPr>
              <a:t>initial distribution of the NF fish and the NS shark on the N</a:t>
            </a:r>
            <a:r>
              <a:rPr lang="en-US" sz="1200" noProof="0" dirty="0">
                <a:solidFill>
                  <a:schemeClr val="tx1"/>
                </a:solidFill>
                <a:sym typeface="Symbol" panose="05050102010706020507" pitchFamily="18" charset="2"/>
              </a:rPr>
              <a:t></a:t>
            </a:r>
            <a:r>
              <a:rPr lang="en-US" sz="1200" noProof="0" dirty="0">
                <a:solidFill>
                  <a:schemeClr val="tx1"/>
                </a:solidFill>
              </a:rPr>
              <a:t>N lattice</a:t>
            </a:r>
          </a:p>
        </p:txBody>
      </p:sp>
      <p:cxnSp>
        <p:nvCxnSpPr>
          <p:cNvPr id="8" name="Gerader Verbinder 7">
            <a:extLst>
              <a:ext uri="{FF2B5EF4-FFF2-40B4-BE49-F238E27FC236}">
                <a16:creationId xmlns:a16="http://schemas.microsoft.com/office/drawing/2014/main" id="{EAAE2EF5-066D-032D-63D6-6318824A1919}"/>
              </a:ext>
            </a:extLst>
          </p:cNvPr>
          <p:cNvCxnSpPr/>
          <p:nvPr/>
        </p:nvCxnSpPr>
        <p:spPr>
          <a:xfrm flipH="1">
            <a:off x="1691680" y="3651870"/>
            <a:ext cx="720080" cy="0"/>
          </a:xfrm>
          <a:prstGeom prst="lin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cxnSp>
      <p:sp>
        <p:nvSpPr>
          <p:cNvPr id="9" name="Rechteck 8">
            <a:extLst>
              <a:ext uri="{FF2B5EF4-FFF2-40B4-BE49-F238E27FC236}">
                <a16:creationId xmlns:a16="http://schemas.microsoft.com/office/drawing/2014/main" id="{EFE9D6A5-0A57-8974-A9D0-D16492A2DE54}"/>
              </a:ext>
            </a:extLst>
          </p:cNvPr>
          <p:cNvSpPr/>
          <p:nvPr/>
        </p:nvSpPr>
        <p:spPr>
          <a:xfrm>
            <a:off x="2411760" y="2463738"/>
            <a:ext cx="2736304" cy="720080"/>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P04m_interaction (sub-routine)</a:t>
            </a:r>
            <a:endParaRPr lang="en-US" sz="1200" noProof="0" dirty="0">
              <a:solidFill>
                <a:schemeClr val="tx1"/>
              </a:solidFill>
            </a:endParaRPr>
          </a:p>
          <a:p>
            <a:pPr>
              <a:spcAft>
                <a:spcPts val="600"/>
              </a:spcAft>
            </a:pPr>
            <a:r>
              <a:rPr lang="en-US" sz="1200" noProof="0" dirty="0">
                <a:solidFill>
                  <a:schemeClr val="tx1"/>
                </a:solidFill>
              </a:rPr>
              <a:t>Implementation of the movement rules and update of the populations</a:t>
            </a:r>
          </a:p>
        </p:txBody>
      </p:sp>
      <p:sp>
        <p:nvSpPr>
          <p:cNvPr id="10" name="Rechteck 9">
            <a:extLst>
              <a:ext uri="{FF2B5EF4-FFF2-40B4-BE49-F238E27FC236}">
                <a16:creationId xmlns:a16="http://schemas.microsoft.com/office/drawing/2014/main" id="{8B5EEFB1-3732-FDB1-7CAC-AD00618B5A4D}"/>
              </a:ext>
            </a:extLst>
          </p:cNvPr>
          <p:cNvSpPr/>
          <p:nvPr/>
        </p:nvSpPr>
        <p:spPr>
          <a:xfrm>
            <a:off x="2411760" y="3309831"/>
            <a:ext cx="2736304" cy="720080"/>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P04v_lattice_video.py (sub-routine)</a:t>
            </a:r>
            <a:endParaRPr lang="en-US" sz="1200" noProof="0" dirty="0">
              <a:solidFill>
                <a:schemeClr val="tx1"/>
              </a:solidFill>
            </a:endParaRPr>
          </a:p>
          <a:p>
            <a:pPr>
              <a:spcAft>
                <a:spcPts val="600"/>
              </a:spcAft>
            </a:pPr>
            <a:r>
              <a:rPr lang="en-US" sz="1200" noProof="0" dirty="0">
                <a:solidFill>
                  <a:schemeClr val="tx1"/>
                </a:solidFill>
              </a:rPr>
              <a:t>animation of the distribution of fish and shark populations on the lattice</a:t>
            </a:r>
          </a:p>
        </p:txBody>
      </p:sp>
      <p:sp>
        <p:nvSpPr>
          <p:cNvPr id="11" name="Rechteck 10">
            <a:extLst>
              <a:ext uri="{FF2B5EF4-FFF2-40B4-BE49-F238E27FC236}">
                <a16:creationId xmlns:a16="http://schemas.microsoft.com/office/drawing/2014/main" id="{02EBCD9C-A36D-6F7F-7AA3-706F62796CD4}"/>
              </a:ext>
            </a:extLst>
          </p:cNvPr>
          <p:cNvSpPr/>
          <p:nvPr/>
        </p:nvSpPr>
        <p:spPr>
          <a:xfrm>
            <a:off x="2411760" y="4155924"/>
            <a:ext cx="2736304" cy="720080"/>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included in P01v_lattice_video.py </a:t>
            </a:r>
            <a:endParaRPr lang="en-US" sz="1200" noProof="0" dirty="0">
              <a:solidFill>
                <a:schemeClr val="tx1"/>
              </a:solidFill>
            </a:endParaRPr>
          </a:p>
          <a:p>
            <a:pPr>
              <a:spcAft>
                <a:spcPts val="600"/>
              </a:spcAft>
            </a:pPr>
            <a:r>
              <a:rPr lang="en-US" sz="1200" noProof="0" dirty="0">
                <a:solidFill>
                  <a:schemeClr val="tx1"/>
                </a:solidFill>
              </a:rPr>
              <a:t>Plot of the total fish and shark numbers over time </a:t>
            </a:r>
          </a:p>
        </p:txBody>
      </p:sp>
      <p:sp>
        <p:nvSpPr>
          <p:cNvPr id="12" name="Textfeld 11">
            <a:extLst>
              <a:ext uri="{FF2B5EF4-FFF2-40B4-BE49-F238E27FC236}">
                <a16:creationId xmlns:a16="http://schemas.microsoft.com/office/drawing/2014/main" id="{9F03229D-868D-4BDF-658A-AB40FBF10EB2}"/>
              </a:ext>
            </a:extLst>
          </p:cNvPr>
          <p:cNvSpPr txBox="1"/>
          <p:nvPr/>
        </p:nvSpPr>
        <p:spPr>
          <a:xfrm rot="1247246">
            <a:off x="4855506" y="2478237"/>
            <a:ext cx="554960" cy="246221"/>
          </a:xfrm>
          <a:prstGeom prst="rect">
            <a:avLst/>
          </a:prstGeom>
          <a:solidFill>
            <a:srgbClr val="FFFF00"/>
          </a:solidFill>
        </p:spPr>
        <p:txBody>
          <a:bodyPr wrap="none" rtlCol="0">
            <a:spAutoFit/>
          </a:bodyPr>
          <a:lstStyle/>
          <a:p>
            <a:pPr algn="ctr"/>
            <a:r>
              <a:rPr lang="en-US" sz="1000" noProof="0" dirty="0">
                <a:solidFill>
                  <a:srgbClr val="C00000"/>
                </a:solidFill>
              </a:rPr>
              <a:t>update</a:t>
            </a:r>
          </a:p>
        </p:txBody>
      </p:sp>
      <p:sp>
        <p:nvSpPr>
          <p:cNvPr id="13" name="Textfeld 12">
            <a:extLst>
              <a:ext uri="{FF2B5EF4-FFF2-40B4-BE49-F238E27FC236}">
                <a16:creationId xmlns:a16="http://schemas.microsoft.com/office/drawing/2014/main" id="{8233EC82-A5FF-149C-F48D-2AAC0E36F4F7}"/>
              </a:ext>
            </a:extLst>
          </p:cNvPr>
          <p:cNvSpPr txBox="1"/>
          <p:nvPr/>
        </p:nvSpPr>
        <p:spPr>
          <a:xfrm rot="1247246">
            <a:off x="4855506" y="3319139"/>
            <a:ext cx="554960" cy="246221"/>
          </a:xfrm>
          <a:prstGeom prst="rect">
            <a:avLst/>
          </a:prstGeom>
          <a:solidFill>
            <a:srgbClr val="FFFF00"/>
          </a:solidFill>
        </p:spPr>
        <p:txBody>
          <a:bodyPr wrap="none" rtlCol="0">
            <a:spAutoFit/>
          </a:bodyPr>
          <a:lstStyle/>
          <a:p>
            <a:pPr algn="ctr"/>
            <a:r>
              <a:rPr lang="en-US" sz="1000" noProof="0" dirty="0">
                <a:solidFill>
                  <a:srgbClr val="C00000"/>
                </a:solidFill>
              </a:rPr>
              <a:t>update</a:t>
            </a:r>
          </a:p>
        </p:txBody>
      </p:sp>
      <p:sp>
        <p:nvSpPr>
          <p:cNvPr id="15" name="Textfeld 14">
            <a:extLst>
              <a:ext uri="{FF2B5EF4-FFF2-40B4-BE49-F238E27FC236}">
                <a16:creationId xmlns:a16="http://schemas.microsoft.com/office/drawing/2014/main" id="{189DE490-01A2-F130-D2DF-805007F74892}"/>
              </a:ext>
            </a:extLst>
          </p:cNvPr>
          <p:cNvSpPr txBox="1"/>
          <p:nvPr/>
        </p:nvSpPr>
        <p:spPr>
          <a:xfrm rot="1247246">
            <a:off x="1387545" y="1647916"/>
            <a:ext cx="554960" cy="246221"/>
          </a:xfrm>
          <a:prstGeom prst="rect">
            <a:avLst/>
          </a:prstGeom>
          <a:solidFill>
            <a:srgbClr val="FFFF00"/>
          </a:solidFill>
        </p:spPr>
        <p:txBody>
          <a:bodyPr wrap="none" rtlCol="0">
            <a:spAutoFit/>
          </a:bodyPr>
          <a:lstStyle/>
          <a:p>
            <a:pPr algn="ctr"/>
            <a:r>
              <a:rPr lang="en-US" sz="1000" noProof="0" dirty="0">
                <a:solidFill>
                  <a:srgbClr val="C00000"/>
                </a:solidFill>
              </a:rPr>
              <a:t>update</a:t>
            </a:r>
          </a:p>
        </p:txBody>
      </p:sp>
      <p:cxnSp>
        <p:nvCxnSpPr>
          <p:cNvPr id="16" name="Gerader Verbinder 15">
            <a:extLst>
              <a:ext uri="{FF2B5EF4-FFF2-40B4-BE49-F238E27FC236}">
                <a16:creationId xmlns:a16="http://schemas.microsoft.com/office/drawing/2014/main" id="{3530F501-FB47-4B21-EAB4-45A12488109A}"/>
              </a:ext>
            </a:extLst>
          </p:cNvPr>
          <p:cNvCxnSpPr>
            <a:cxnSpLocks/>
          </p:cNvCxnSpPr>
          <p:nvPr/>
        </p:nvCxnSpPr>
        <p:spPr>
          <a:xfrm flipH="1" flipV="1">
            <a:off x="2051720" y="2817802"/>
            <a:ext cx="360040" cy="5976"/>
          </a:xfrm>
          <a:prstGeom prst="lin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18" name="Gerader Verbinder 17">
            <a:extLst>
              <a:ext uri="{FF2B5EF4-FFF2-40B4-BE49-F238E27FC236}">
                <a16:creationId xmlns:a16="http://schemas.microsoft.com/office/drawing/2014/main" id="{05CAEE12-72FC-0E4A-25AE-2638C9CC0DA8}"/>
              </a:ext>
            </a:extLst>
          </p:cNvPr>
          <p:cNvCxnSpPr/>
          <p:nvPr/>
        </p:nvCxnSpPr>
        <p:spPr>
          <a:xfrm>
            <a:off x="2051720" y="2817802"/>
            <a:ext cx="0" cy="834068"/>
          </a:xfrm>
          <a:prstGeom prst="lin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cxnSp>
      <p:sp>
        <p:nvSpPr>
          <p:cNvPr id="19" name="Textfeld 18">
            <a:extLst>
              <a:ext uri="{FF2B5EF4-FFF2-40B4-BE49-F238E27FC236}">
                <a16:creationId xmlns:a16="http://schemas.microsoft.com/office/drawing/2014/main" id="{DD1FB5AE-8C89-8519-03E5-AAE916E6447C}"/>
              </a:ext>
            </a:extLst>
          </p:cNvPr>
          <p:cNvSpPr txBox="1"/>
          <p:nvPr/>
        </p:nvSpPr>
        <p:spPr>
          <a:xfrm rot="1247246">
            <a:off x="4855506" y="1659000"/>
            <a:ext cx="554960" cy="246221"/>
          </a:xfrm>
          <a:prstGeom prst="rect">
            <a:avLst/>
          </a:prstGeom>
          <a:solidFill>
            <a:srgbClr val="FFFF00"/>
          </a:solidFill>
        </p:spPr>
        <p:txBody>
          <a:bodyPr wrap="none" rtlCol="0">
            <a:spAutoFit/>
          </a:bodyPr>
          <a:lstStyle/>
          <a:p>
            <a:pPr algn="ctr"/>
            <a:r>
              <a:rPr lang="en-US" sz="1000" noProof="0" dirty="0">
                <a:solidFill>
                  <a:srgbClr val="C00000"/>
                </a:solidFill>
              </a:rPr>
              <a:t>update</a:t>
            </a:r>
          </a:p>
        </p:txBody>
      </p:sp>
      <p:sp>
        <p:nvSpPr>
          <p:cNvPr id="20" name="Rechteck 19">
            <a:extLst>
              <a:ext uri="{FF2B5EF4-FFF2-40B4-BE49-F238E27FC236}">
                <a16:creationId xmlns:a16="http://schemas.microsoft.com/office/drawing/2014/main" id="{9DA39885-46CE-8792-F75C-C932E3EEDD9D}"/>
              </a:ext>
            </a:extLst>
          </p:cNvPr>
          <p:cNvSpPr/>
          <p:nvPr/>
        </p:nvSpPr>
        <p:spPr>
          <a:xfrm>
            <a:off x="5868144" y="1131590"/>
            <a:ext cx="3024336"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200" b="1" noProof="0" dirty="0">
                <a:solidFill>
                  <a:schemeClr val="tx1"/>
                </a:solidFill>
              </a:rPr>
              <a:t>Key changes:</a:t>
            </a:r>
          </a:p>
          <a:p>
            <a:pPr marL="182563" indent="-182563">
              <a:spcAft>
                <a:spcPts val="600"/>
              </a:spcAft>
              <a:buFont typeface="Arial" panose="020B0604020202020204" pitchFamily="34" charset="0"/>
              <a:buChar char="•"/>
            </a:pPr>
            <a:r>
              <a:rPr lang="en-US" sz="1200" noProof="0" dirty="0">
                <a:solidFill>
                  <a:schemeClr val="tx1"/>
                </a:solidFill>
              </a:rPr>
              <a:t>Sharks now have 6 elements: (x, y, direction, age, </a:t>
            </a:r>
            <a:r>
              <a:rPr lang="en-US" sz="1200" noProof="0" dirty="0" err="1">
                <a:solidFill>
                  <a:schemeClr val="tx1"/>
                </a:solidFill>
              </a:rPr>
              <a:t>starve_time</a:t>
            </a:r>
            <a:r>
              <a:rPr lang="en-US" sz="1200" noProof="0" dirty="0">
                <a:solidFill>
                  <a:schemeClr val="tx1"/>
                </a:solidFill>
              </a:rPr>
              <a:t>, </a:t>
            </a:r>
            <a:r>
              <a:rPr lang="en-US" sz="1200" noProof="0" dirty="0" err="1">
                <a:solidFill>
                  <a:schemeClr val="tx1"/>
                </a:solidFill>
              </a:rPr>
              <a:t>resource_level</a:t>
            </a:r>
            <a:r>
              <a:rPr lang="en-US" sz="1200" noProof="0" dirty="0">
                <a:solidFill>
                  <a:schemeClr val="tx1"/>
                </a:solidFill>
              </a:rPr>
              <a:t>)</a:t>
            </a:r>
          </a:p>
          <a:p>
            <a:pPr marL="182563" indent="-182563">
              <a:spcAft>
                <a:spcPts val="600"/>
              </a:spcAft>
              <a:buFont typeface="Arial" panose="020B0604020202020204" pitchFamily="34" charset="0"/>
              <a:buChar char="•"/>
            </a:pPr>
            <a:r>
              <a:rPr lang="en-US" sz="1200" noProof="0" dirty="0">
                <a:solidFill>
                  <a:schemeClr val="tx1"/>
                </a:solidFill>
              </a:rPr>
              <a:t>When shark eats fish: </a:t>
            </a:r>
            <a:r>
              <a:rPr lang="en-US" sz="1200" noProof="0" dirty="0" err="1">
                <a:solidFill>
                  <a:schemeClr val="tx1"/>
                </a:solidFill>
              </a:rPr>
              <a:t>resource_level</a:t>
            </a:r>
            <a:r>
              <a:rPr lang="en-US" sz="1200" noProof="0" dirty="0">
                <a:solidFill>
                  <a:schemeClr val="tx1"/>
                </a:solidFill>
              </a:rPr>
              <a:t> += </a:t>
            </a:r>
            <a:r>
              <a:rPr lang="en-US" sz="1200" noProof="0" dirty="0" err="1">
                <a:solidFill>
                  <a:schemeClr val="tx1"/>
                </a:solidFill>
              </a:rPr>
              <a:t>fish_age</a:t>
            </a:r>
            <a:r>
              <a:rPr lang="en-US" sz="1200" noProof="0" dirty="0">
                <a:solidFill>
                  <a:schemeClr val="tx1"/>
                </a:solidFill>
              </a:rPr>
              <a:t>, </a:t>
            </a:r>
            <a:r>
              <a:rPr lang="en-US" sz="1200" noProof="0" dirty="0" err="1">
                <a:solidFill>
                  <a:schemeClr val="tx1"/>
                </a:solidFill>
              </a:rPr>
              <a:t>starve_time</a:t>
            </a:r>
            <a:r>
              <a:rPr lang="en-US" sz="1200" noProof="0" dirty="0">
                <a:solidFill>
                  <a:schemeClr val="tx1"/>
                </a:solidFill>
              </a:rPr>
              <a:t> = 0</a:t>
            </a:r>
          </a:p>
          <a:p>
            <a:pPr marL="182563" indent="-182563">
              <a:spcAft>
                <a:spcPts val="600"/>
              </a:spcAft>
              <a:buFont typeface="Arial" panose="020B0604020202020204" pitchFamily="34" charset="0"/>
              <a:buChar char="•"/>
            </a:pPr>
            <a:r>
              <a:rPr lang="en-US" sz="1200" noProof="0" dirty="0">
                <a:solidFill>
                  <a:schemeClr val="tx1"/>
                </a:solidFill>
              </a:rPr>
              <a:t>When shark moves without eating: </a:t>
            </a:r>
            <a:r>
              <a:rPr lang="en-US" sz="1200" noProof="0" dirty="0" err="1">
                <a:solidFill>
                  <a:schemeClr val="tx1"/>
                </a:solidFill>
              </a:rPr>
              <a:t>resource_level</a:t>
            </a:r>
            <a:r>
              <a:rPr lang="en-US" sz="1200" noProof="0" dirty="0">
                <a:solidFill>
                  <a:schemeClr val="tx1"/>
                </a:solidFill>
              </a:rPr>
              <a:t> -= 1</a:t>
            </a:r>
          </a:p>
          <a:p>
            <a:pPr marL="182563" indent="-182563">
              <a:spcAft>
                <a:spcPts val="600"/>
              </a:spcAft>
              <a:buFont typeface="Arial" panose="020B0604020202020204" pitchFamily="34" charset="0"/>
              <a:buChar char="•"/>
            </a:pPr>
            <a:r>
              <a:rPr lang="en-US" sz="1200" noProof="0" dirty="0">
                <a:solidFill>
                  <a:schemeClr val="tx1"/>
                </a:solidFill>
              </a:rPr>
              <a:t>Shark dies if: </a:t>
            </a:r>
            <a:r>
              <a:rPr lang="en-US" sz="1200" noProof="0" dirty="0" err="1">
                <a:solidFill>
                  <a:schemeClr val="tx1"/>
                </a:solidFill>
              </a:rPr>
              <a:t>starve_time</a:t>
            </a:r>
            <a:r>
              <a:rPr lang="en-US" sz="1200" noProof="0" dirty="0">
                <a:solidFill>
                  <a:schemeClr val="tx1"/>
                </a:solidFill>
              </a:rPr>
              <a:t> &gt;= </a:t>
            </a:r>
            <a:r>
              <a:rPr lang="en-US" sz="1200" noProof="0" dirty="0" err="1">
                <a:solidFill>
                  <a:schemeClr val="tx1"/>
                </a:solidFill>
              </a:rPr>
              <a:t>shark_starving_time</a:t>
            </a:r>
            <a:r>
              <a:rPr lang="en-US" sz="1200" noProof="0" dirty="0">
                <a:solidFill>
                  <a:schemeClr val="tx1"/>
                </a:solidFill>
              </a:rPr>
              <a:t> OR </a:t>
            </a:r>
            <a:r>
              <a:rPr lang="en-US" sz="1200" noProof="0" dirty="0" err="1">
                <a:solidFill>
                  <a:schemeClr val="tx1"/>
                </a:solidFill>
              </a:rPr>
              <a:t>resource_level</a:t>
            </a:r>
            <a:r>
              <a:rPr lang="en-US" sz="1200" noProof="0" dirty="0">
                <a:solidFill>
                  <a:schemeClr val="tx1"/>
                </a:solidFill>
              </a:rPr>
              <a:t> &lt; 0</a:t>
            </a:r>
          </a:p>
          <a:p>
            <a:pPr marL="182563" indent="-182563">
              <a:spcAft>
                <a:spcPts val="600"/>
              </a:spcAft>
              <a:buFont typeface="Arial" panose="020B0604020202020204" pitchFamily="34" charset="0"/>
              <a:buChar char="•"/>
            </a:pPr>
            <a:r>
              <a:rPr lang="en-US" sz="1200" noProof="0" dirty="0">
                <a:solidFill>
                  <a:schemeClr val="tx1"/>
                </a:solidFill>
              </a:rPr>
              <a:t>Shark breeds if: age &gt;= </a:t>
            </a:r>
            <a:r>
              <a:rPr lang="en-US" sz="1200" noProof="0" dirty="0" err="1">
                <a:solidFill>
                  <a:schemeClr val="tx1"/>
                </a:solidFill>
              </a:rPr>
              <a:t>shark_breeding_time</a:t>
            </a:r>
            <a:r>
              <a:rPr lang="en-US" sz="1200" noProof="0" dirty="0">
                <a:solidFill>
                  <a:schemeClr val="tx1"/>
                </a:solidFill>
              </a:rPr>
              <a:t> AND </a:t>
            </a:r>
            <a:r>
              <a:rPr lang="en-US" sz="1200" noProof="0" dirty="0" err="1">
                <a:solidFill>
                  <a:schemeClr val="tx1"/>
                </a:solidFill>
              </a:rPr>
              <a:t>resource_level</a:t>
            </a:r>
            <a:r>
              <a:rPr lang="en-US" sz="1200" noProof="0" dirty="0">
                <a:solidFill>
                  <a:schemeClr val="tx1"/>
                </a:solidFill>
              </a:rPr>
              <a:t> &gt; </a:t>
            </a:r>
            <a:r>
              <a:rPr lang="en-US" sz="1200" noProof="0" dirty="0" err="1">
                <a:solidFill>
                  <a:schemeClr val="tx1"/>
                </a:solidFill>
              </a:rPr>
              <a:t>breeding_energy</a:t>
            </a:r>
            <a:endParaRPr lang="en-US" sz="1200" noProof="0" dirty="0">
              <a:solidFill>
                <a:schemeClr val="tx1"/>
              </a:solidFill>
            </a:endParaRPr>
          </a:p>
          <a:p>
            <a:pPr marL="182563" indent="-182563">
              <a:spcAft>
                <a:spcPts val="600"/>
              </a:spcAft>
              <a:buFont typeface="Arial" panose="020B0604020202020204" pitchFamily="34" charset="0"/>
              <a:buChar char="•"/>
            </a:pPr>
            <a:r>
              <a:rPr lang="en-US" sz="1200" noProof="0" dirty="0">
                <a:solidFill>
                  <a:schemeClr val="tx1"/>
                </a:solidFill>
              </a:rPr>
              <a:t>Resource splitting: parent gets </a:t>
            </a:r>
            <a:r>
              <a:rPr lang="en-US" sz="1200" noProof="0" dirty="0" err="1">
                <a:solidFill>
                  <a:schemeClr val="tx1"/>
                </a:solidFill>
              </a:rPr>
              <a:t>resource_level</a:t>
            </a:r>
            <a:r>
              <a:rPr lang="en-US" sz="1200" noProof="0" dirty="0">
                <a:solidFill>
                  <a:schemeClr val="tx1"/>
                </a:solidFill>
              </a:rPr>
              <a:t> // 2, child gets the remainder</a:t>
            </a:r>
          </a:p>
        </p:txBody>
      </p:sp>
    </p:spTree>
    <p:extLst>
      <p:ext uri="{BB962C8B-B14F-4D97-AF65-F5344CB8AC3E}">
        <p14:creationId xmlns:p14="http://schemas.microsoft.com/office/powerpoint/2010/main" val="18232726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25687-AF8E-3B49-1705-C0431F73BA35}"/>
            </a:ext>
          </a:extLst>
        </p:cNvPr>
        <p:cNvGrpSpPr/>
        <p:nvPr/>
      </p:nvGrpSpPr>
      <p:grpSpPr>
        <a:xfrm>
          <a:off x="0" y="0"/>
          <a:ext cx="0" cy="0"/>
          <a:chOff x="0" y="0"/>
          <a:chExt cx="0" cy="0"/>
        </a:xfrm>
      </p:grpSpPr>
      <p:pic>
        <p:nvPicPr>
          <p:cNvPr id="13" name="Grafik 12">
            <a:extLst>
              <a:ext uri="{FF2B5EF4-FFF2-40B4-BE49-F238E27FC236}">
                <a16:creationId xmlns:a16="http://schemas.microsoft.com/office/drawing/2014/main" id="{8CFD7BEB-896D-23CF-2CB4-51C2871BC0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8058" y="1491629"/>
            <a:ext cx="3360372" cy="2520279"/>
          </a:xfrm>
          <a:prstGeom prst="rect">
            <a:avLst/>
          </a:prstGeom>
        </p:spPr>
      </p:pic>
      <p:pic>
        <p:nvPicPr>
          <p:cNvPr id="11" name="Grafik 10">
            <a:extLst>
              <a:ext uri="{FF2B5EF4-FFF2-40B4-BE49-F238E27FC236}">
                <a16:creationId xmlns:a16="http://schemas.microsoft.com/office/drawing/2014/main" id="{F9CA7235-96A8-3880-5DF8-2BE0CCCA85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571" y="1491630"/>
            <a:ext cx="3360372" cy="2520279"/>
          </a:xfrm>
          <a:prstGeom prst="rect">
            <a:avLst/>
          </a:prstGeom>
        </p:spPr>
      </p:pic>
      <p:sp>
        <p:nvSpPr>
          <p:cNvPr id="2" name="Titel 1">
            <a:extLst>
              <a:ext uri="{FF2B5EF4-FFF2-40B4-BE49-F238E27FC236}">
                <a16:creationId xmlns:a16="http://schemas.microsoft.com/office/drawing/2014/main" id="{337FFD5E-1C9A-9270-A5F8-E4035F460C89}"/>
              </a:ext>
            </a:extLst>
          </p:cNvPr>
          <p:cNvSpPr>
            <a:spLocks noGrp="1"/>
          </p:cNvSpPr>
          <p:nvPr>
            <p:ph type="title"/>
          </p:nvPr>
        </p:nvSpPr>
        <p:spPr/>
        <p:txBody>
          <a:bodyPr/>
          <a:lstStyle/>
          <a:p>
            <a:r>
              <a:rPr lang="en-US" noProof="0" dirty="0"/>
              <a:t>Simulation:</a:t>
            </a:r>
            <a:br>
              <a:rPr lang="en-US" noProof="0" dirty="0"/>
            </a:br>
            <a:r>
              <a:rPr lang="en-US" noProof="0" dirty="0" err="1"/>
              <a:t>Wa</a:t>
            </a:r>
            <a:r>
              <a:rPr lang="en-US" noProof="0" dirty="0"/>
              <a:t>-Tor Version 2 (1/ 2)</a:t>
            </a:r>
          </a:p>
        </p:txBody>
      </p:sp>
      <p:sp>
        <p:nvSpPr>
          <p:cNvPr id="3" name="Rechteck 2">
            <a:extLst>
              <a:ext uri="{FF2B5EF4-FFF2-40B4-BE49-F238E27FC236}">
                <a16:creationId xmlns:a16="http://schemas.microsoft.com/office/drawing/2014/main" id="{248536C2-2F07-5B66-7B01-30DC0A0880F7}"/>
              </a:ext>
            </a:extLst>
          </p:cNvPr>
          <p:cNvSpPr/>
          <p:nvPr/>
        </p:nvSpPr>
        <p:spPr>
          <a:xfrm>
            <a:off x="4644007" y="1131590"/>
            <a:ext cx="4248473"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Simulation: </a:t>
            </a:r>
            <a:r>
              <a:rPr lang="en-US" sz="1400" noProof="0" dirty="0"/>
              <a:t>Shark Extinction</a:t>
            </a:r>
            <a:endParaRPr lang="en-US" sz="1400" noProof="0" dirty="0">
              <a:solidFill>
                <a:schemeClr val="bg1"/>
              </a:solidFill>
            </a:endParaRPr>
          </a:p>
        </p:txBody>
      </p:sp>
      <p:sp>
        <p:nvSpPr>
          <p:cNvPr id="5" name="Rechteck 4">
            <a:extLst>
              <a:ext uri="{FF2B5EF4-FFF2-40B4-BE49-F238E27FC236}">
                <a16:creationId xmlns:a16="http://schemas.microsoft.com/office/drawing/2014/main" id="{EE63154A-DE15-B888-1E3B-EA51767E24BB}"/>
              </a:ext>
            </a:extLst>
          </p:cNvPr>
          <p:cNvSpPr/>
          <p:nvPr/>
        </p:nvSpPr>
        <p:spPr>
          <a:xfrm>
            <a:off x="251520" y="1131590"/>
            <a:ext cx="4248473"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Simulation: </a:t>
            </a:r>
            <a:r>
              <a:rPr lang="en-US" sz="1400" noProof="0" dirty="0"/>
              <a:t>Invasion &amp; Complete Extinction</a:t>
            </a:r>
            <a:endParaRPr lang="en-US" sz="1400" noProof="0" dirty="0">
              <a:solidFill>
                <a:schemeClr val="bg1"/>
              </a:solidFill>
            </a:endParaRPr>
          </a:p>
        </p:txBody>
      </p:sp>
      <p:sp>
        <p:nvSpPr>
          <p:cNvPr id="7" name="Rechteck 6">
            <a:extLst>
              <a:ext uri="{FF2B5EF4-FFF2-40B4-BE49-F238E27FC236}">
                <a16:creationId xmlns:a16="http://schemas.microsoft.com/office/drawing/2014/main" id="{EB3BE5E5-35B8-9E50-1B5D-1F105090E72F}"/>
              </a:ext>
            </a:extLst>
          </p:cNvPr>
          <p:cNvSpPr/>
          <p:nvPr/>
        </p:nvSpPr>
        <p:spPr>
          <a:xfrm>
            <a:off x="4644007" y="1491630"/>
            <a:ext cx="4248474" cy="252028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8" name="Textfeld 7">
            <a:extLst>
              <a:ext uri="{FF2B5EF4-FFF2-40B4-BE49-F238E27FC236}">
                <a16:creationId xmlns:a16="http://schemas.microsoft.com/office/drawing/2014/main" id="{0C5160D8-C55B-40AC-5CC8-38BBADAB6A43}"/>
              </a:ext>
            </a:extLst>
          </p:cNvPr>
          <p:cNvSpPr txBox="1"/>
          <p:nvPr/>
        </p:nvSpPr>
        <p:spPr>
          <a:xfrm>
            <a:off x="5148064" y="4065915"/>
            <a:ext cx="3744416" cy="954107"/>
          </a:xfrm>
          <a:prstGeom prst="rect">
            <a:avLst/>
          </a:prstGeom>
          <a:noFill/>
        </p:spPr>
        <p:txBody>
          <a:bodyPr wrap="square">
            <a:spAutoFit/>
          </a:bodyPr>
          <a:lstStyle/>
          <a:p>
            <a:r>
              <a:rPr lang="en-US" sz="700" noProof="0" dirty="0">
                <a:latin typeface="Courier New" panose="02070309020205020404" pitchFamily="49" charset="0"/>
                <a:cs typeface="Courier New" panose="02070309020205020404" pitchFamily="49" charset="0"/>
              </a:rPr>
              <a:t>N = 50                       # Size of the lattice</a:t>
            </a:r>
          </a:p>
          <a:p>
            <a:r>
              <a:rPr lang="en-US" sz="700" noProof="0" dirty="0">
                <a:latin typeface="Courier New" panose="02070309020205020404" pitchFamily="49" charset="0"/>
                <a:cs typeface="Courier New" panose="02070309020205020404" pitchFamily="49" charset="0"/>
              </a:rPr>
              <a:t>T = 50                       # Maximum number of time steps</a:t>
            </a:r>
          </a:p>
          <a:p>
            <a:r>
              <a:rPr lang="en-US" sz="700" noProof="0" dirty="0">
                <a:latin typeface="Courier New" panose="02070309020205020404" pitchFamily="49" charset="0"/>
                <a:cs typeface="Courier New" panose="02070309020205020404" pitchFamily="49" charset="0"/>
              </a:rPr>
              <a:t>NF = 5                       # Initial number of fish</a:t>
            </a:r>
          </a:p>
          <a:p>
            <a:r>
              <a:rPr lang="en-US" sz="700" noProof="0" dirty="0">
                <a:latin typeface="Courier New" panose="02070309020205020404" pitchFamily="49" charset="0"/>
                <a:cs typeface="Courier New" panose="02070309020205020404" pitchFamily="49" charset="0"/>
              </a:rPr>
              <a:t>NS = 2                       # Initial number of sharks</a:t>
            </a:r>
          </a:p>
          <a:p>
            <a:r>
              <a:rPr lang="en-US" sz="700" noProof="0" dirty="0">
                <a:latin typeface="Courier New" panose="02070309020205020404" pitchFamily="49" charset="0"/>
                <a:cs typeface="Courier New" panose="02070309020205020404" pitchFamily="49" charset="0"/>
              </a:rPr>
              <a:t>FISH_BREEDING_TIME = 5       # Time steps for fish to breed</a:t>
            </a:r>
          </a:p>
          <a:p>
            <a:r>
              <a:rPr lang="en-US" sz="700" noProof="0" dirty="0">
                <a:latin typeface="Courier New" panose="02070309020205020404" pitchFamily="49" charset="0"/>
                <a:cs typeface="Courier New" panose="02070309020205020404" pitchFamily="49" charset="0"/>
              </a:rPr>
              <a:t>SHARK_BREEDING_TIME = 11     # Time steps for sharks to breed</a:t>
            </a:r>
          </a:p>
          <a:p>
            <a:r>
              <a:rPr lang="en-US" sz="700" noProof="0" dirty="0">
                <a:latin typeface="Courier New" panose="02070309020205020404" pitchFamily="49" charset="0"/>
                <a:cs typeface="Courier New" panose="02070309020205020404" pitchFamily="49" charset="0"/>
              </a:rPr>
              <a:t>SHARK_STARVATION_TIME = 10   # Time steps for sharks to starve</a:t>
            </a:r>
          </a:p>
          <a:p>
            <a:r>
              <a:rPr lang="en-US" sz="700" noProof="0" dirty="0">
                <a:latin typeface="Courier New" panose="02070309020205020404" pitchFamily="49" charset="0"/>
                <a:cs typeface="Courier New" panose="02070309020205020404" pitchFamily="49" charset="0"/>
              </a:rPr>
              <a:t>SHARK_BREEDING_ENERGY = 11   # Minimum resource level to breed</a:t>
            </a:r>
          </a:p>
        </p:txBody>
      </p:sp>
      <p:sp>
        <p:nvSpPr>
          <p:cNvPr id="9" name="Rechteck 8">
            <a:extLst>
              <a:ext uri="{FF2B5EF4-FFF2-40B4-BE49-F238E27FC236}">
                <a16:creationId xmlns:a16="http://schemas.microsoft.com/office/drawing/2014/main" id="{415AF84B-CAC5-1D2A-3C30-B4D0197CF3CB}"/>
              </a:ext>
            </a:extLst>
          </p:cNvPr>
          <p:cNvSpPr/>
          <p:nvPr/>
        </p:nvSpPr>
        <p:spPr>
          <a:xfrm>
            <a:off x="251520" y="1491630"/>
            <a:ext cx="4248474" cy="252028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10" name="Textfeld 9">
            <a:extLst>
              <a:ext uri="{FF2B5EF4-FFF2-40B4-BE49-F238E27FC236}">
                <a16:creationId xmlns:a16="http://schemas.microsoft.com/office/drawing/2014/main" id="{C7753CA0-A0C2-7A2C-2038-79F7D6A916DA}"/>
              </a:ext>
            </a:extLst>
          </p:cNvPr>
          <p:cNvSpPr txBox="1"/>
          <p:nvPr/>
        </p:nvSpPr>
        <p:spPr>
          <a:xfrm>
            <a:off x="755577" y="4065915"/>
            <a:ext cx="3744416" cy="954107"/>
          </a:xfrm>
          <a:prstGeom prst="rect">
            <a:avLst/>
          </a:prstGeom>
          <a:noFill/>
        </p:spPr>
        <p:txBody>
          <a:bodyPr wrap="square">
            <a:spAutoFit/>
          </a:bodyPr>
          <a:lstStyle/>
          <a:p>
            <a:r>
              <a:rPr lang="en-US" sz="700" noProof="0" dirty="0">
                <a:latin typeface="Courier New" panose="02070309020205020404" pitchFamily="49" charset="0"/>
                <a:cs typeface="Courier New" panose="02070309020205020404" pitchFamily="49" charset="0"/>
              </a:rPr>
              <a:t>N = 5                        # Size of the lattice</a:t>
            </a:r>
          </a:p>
          <a:p>
            <a:r>
              <a:rPr lang="en-US" sz="700" noProof="0" dirty="0">
                <a:latin typeface="Courier New" panose="02070309020205020404" pitchFamily="49" charset="0"/>
                <a:cs typeface="Courier New" panose="02070309020205020404" pitchFamily="49" charset="0"/>
              </a:rPr>
              <a:t>T = 80                       # Maximum number of time steps</a:t>
            </a:r>
          </a:p>
          <a:p>
            <a:r>
              <a:rPr lang="en-US" sz="700" noProof="0" dirty="0">
                <a:latin typeface="Courier New" panose="02070309020205020404" pitchFamily="49" charset="0"/>
                <a:cs typeface="Courier New" panose="02070309020205020404" pitchFamily="49" charset="0"/>
              </a:rPr>
              <a:t>NF = 24                      # Initial number of fish</a:t>
            </a:r>
          </a:p>
          <a:p>
            <a:r>
              <a:rPr lang="en-US" sz="700" noProof="0" dirty="0">
                <a:latin typeface="Courier New" panose="02070309020205020404" pitchFamily="49" charset="0"/>
                <a:cs typeface="Courier New" panose="02070309020205020404" pitchFamily="49" charset="0"/>
              </a:rPr>
              <a:t>NS = 1                       # Initial number of sharks</a:t>
            </a:r>
          </a:p>
          <a:p>
            <a:r>
              <a:rPr lang="en-US" sz="700" noProof="0" dirty="0">
                <a:latin typeface="Courier New" panose="02070309020205020404" pitchFamily="49" charset="0"/>
                <a:cs typeface="Courier New" panose="02070309020205020404" pitchFamily="49" charset="0"/>
              </a:rPr>
              <a:t>FISH_BREEDING_TIME = 1       # Time steps for fish to breed</a:t>
            </a:r>
          </a:p>
          <a:p>
            <a:r>
              <a:rPr lang="en-US" sz="700" noProof="0" dirty="0">
                <a:latin typeface="Courier New" panose="02070309020205020404" pitchFamily="49" charset="0"/>
                <a:cs typeface="Courier New" panose="02070309020205020404" pitchFamily="49" charset="0"/>
              </a:rPr>
              <a:t>SHARK_BREEDING_TIME = 11     # Time steps for sharks to breed</a:t>
            </a:r>
          </a:p>
          <a:p>
            <a:r>
              <a:rPr lang="en-US" sz="700" noProof="0" dirty="0">
                <a:latin typeface="Courier New" panose="02070309020205020404" pitchFamily="49" charset="0"/>
                <a:cs typeface="Courier New" panose="02070309020205020404" pitchFamily="49" charset="0"/>
              </a:rPr>
              <a:t>SHARK_STARVATION_TIME = 10   # Time steps for sharks to starve</a:t>
            </a:r>
          </a:p>
          <a:p>
            <a:r>
              <a:rPr lang="en-US" sz="700" noProof="0" dirty="0">
                <a:latin typeface="Courier New" panose="02070309020205020404" pitchFamily="49" charset="0"/>
                <a:cs typeface="Courier New" panose="02070309020205020404" pitchFamily="49" charset="0"/>
              </a:rPr>
              <a:t>SHARK_BREEDING_ENERGY = 11   # Minimum resource level to breed</a:t>
            </a:r>
          </a:p>
        </p:txBody>
      </p:sp>
      <p:sp>
        <p:nvSpPr>
          <p:cNvPr id="14" name="Textfeld 13">
            <a:extLst>
              <a:ext uri="{FF2B5EF4-FFF2-40B4-BE49-F238E27FC236}">
                <a16:creationId xmlns:a16="http://schemas.microsoft.com/office/drawing/2014/main" id="{585E37B1-AC2C-1AF5-EC59-D3760EACB774}"/>
              </a:ext>
            </a:extLst>
          </p:cNvPr>
          <p:cNvSpPr txBox="1"/>
          <p:nvPr/>
        </p:nvSpPr>
        <p:spPr>
          <a:xfrm>
            <a:off x="251520" y="3796466"/>
            <a:ext cx="667170" cy="215444"/>
          </a:xfrm>
          <a:prstGeom prst="rect">
            <a:avLst/>
          </a:prstGeom>
          <a:noFill/>
        </p:spPr>
        <p:txBody>
          <a:bodyPr wrap="none" rtlCol="0">
            <a:spAutoFit/>
          </a:bodyPr>
          <a:lstStyle/>
          <a:p>
            <a:r>
              <a:rPr lang="en-US" sz="800" noProof="0" dirty="0"/>
              <a:t>2sim02.png</a:t>
            </a:r>
          </a:p>
        </p:txBody>
      </p:sp>
      <p:sp>
        <p:nvSpPr>
          <p:cNvPr id="15" name="Textfeld 14">
            <a:extLst>
              <a:ext uri="{FF2B5EF4-FFF2-40B4-BE49-F238E27FC236}">
                <a16:creationId xmlns:a16="http://schemas.microsoft.com/office/drawing/2014/main" id="{36EB944D-52DB-1070-B99F-6A3406889940}"/>
              </a:ext>
            </a:extLst>
          </p:cNvPr>
          <p:cNvSpPr txBox="1"/>
          <p:nvPr/>
        </p:nvSpPr>
        <p:spPr>
          <a:xfrm>
            <a:off x="4644008" y="3796466"/>
            <a:ext cx="667170" cy="215444"/>
          </a:xfrm>
          <a:prstGeom prst="rect">
            <a:avLst/>
          </a:prstGeom>
          <a:noFill/>
        </p:spPr>
        <p:txBody>
          <a:bodyPr wrap="none" rtlCol="0">
            <a:spAutoFit/>
          </a:bodyPr>
          <a:lstStyle/>
          <a:p>
            <a:r>
              <a:rPr lang="en-US" sz="800" noProof="0" dirty="0"/>
              <a:t>2sim03.png</a:t>
            </a:r>
          </a:p>
        </p:txBody>
      </p:sp>
    </p:spTree>
    <p:extLst>
      <p:ext uri="{BB962C8B-B14F-4D97-AF65-F5344CB8AC3E}">
        <p14:creationId xmlns:p14="http://schemas.microsoft.com/office/powerpoint/2010/main" val="23065528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CDA3C-90E8-F5B5-CCBE-4C619CEDD783}"/>
            </a:ext>
          </a:extLst>
        </p:cNvPr>
        <p:cNvGrpSpPr/>
        <p:nvPr/>
      </p:nvGrpSpPr>
      <p:grpSpPr>
        <a:xfrm>
          <a:off x="0" y="0"/>
          <a:ext cx="0" cy="0"/>
          <a:chOff x="0" y="0"/>
          <a:chExt cx="0" cy="0"/>
        </a:xfrm>
      </p:grpSpPr>
      <p:pic>
        <p:nvPicPr>
          <p:cNvPr id="18" name="Grafik 17">
            <a:extLst>
              <a:ext uri="{FF2B5EF4-FFF2-40B4-BE49-F238E27FC236}">
                <a16:creationId xmlns:a16="http://schemas.microsoft.com/office/drawing/2014/main" id="{C5E36545-759A-3786-D0FA-DB8F26B964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571" y="1490361"/>
            <a:ext cx="3360372" cy="2520280"/>
          </a:xfrm>
          <a:prstGeom prst="rect">
            <a:avLst/>
          </a:prstGeom>
        </p:spPr>
      </p:pic>
      <p:pic>
        <p:nvPicPr>
          <p:cNvPr id="16" name="Grafik 15">
            <a:extLst>
              <a:ext uri="{FF2B5EF4-FFF2-40B4-BE49-F238E27FC236}">
                <a16:creationId xmlns:a16="http://schemas.microsoft.com/office/drawing/2014/main" id="{BDD336F9-4C43-B135-BA31-0CB8A2AFDC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8057" y="1491630"/>
            <a:ext cx="3360374" cy="2520280"/>
          </a:xfrm>
          <a:prstGeom prst="rect">
            <a:avLst/>
          </a:prstGeom>
        </p:spPr>
      </p:pic>
      <p:sp>
        <p:nvSpPr>
          <p:cNvPr id="2" name="Titel 1">
            <a:extLst>
              <a:ext uri="{FF2B5EF4-FFF2-40B4-BE49-F238E27FC236}">
                <a16:creationId xmlns:a16="http://schemas.microsoft.com/office/drawing/2014/main" id="{BFAFA3A8-B423-ABF9-1760-61E3974140F8}"/>
              </a:ext>
            </a:extLst>
          </p:cNvPr>
          <p:cNvSpPr>
            <a:spLocks noGrp="1"/>
          </p:cNvSpPr>
          <p:nvPr>
            <p:ph type="title"/>
          </p:nvPr>
        </p:nvSpPr>
        <p:spPr/>
        <p:txBody>
          <a:bodyPr/>
          <a:lstStyle/>
          <a:p>
            <a:r>
              <a:rPr lang="en-US" noProof="0" dirty="0"/>
              <a:t>Simulation:</a:t>
            </a:r>
            <a:br>
              <a:rPr lang="en-US" noProof="0" dirty="0"/>
            </a:br>
            <a:r>
              <a:rPr lang="en-US" noProof="0" dirty="0" err="1"/>
              <a:t>Wa</a:t>
            </a:r>
            <a:r>
              <a:rPr lang="en-US" noProof="0" dirty="0"/>
              <a:t>-Tor Version 2 (2/ 2)</a:t>
            </a:r>
          </a:p>
        </p:txBody>
      </p:sp>
      <p:sp>
        <p:nvSpPr>
          <p:cNvPr id="3" name="Rechteck 2">
            <a:extLst>
              <a:ext uri="{FF2B5EF4-FFF2-40B4-BE49-F238E27FC236}">
                <a16:creationId xmlns:a16="http://schemas.microsoft.com/office/drawing/2014/main" id="{B47A4A4F-5468-F881-170D-A099D11BFCDF}"/>
              </a:ext>
            </a:extLst>
          </p:cNvPr>
          <p:cNvSpPr/>
          <p:nvPr/>
        </p:nvSpPr>
        <p:spPr>
          <a:xfrm>
            <a:off x="4644007" y="1131590"/>
            <a:ext cx="4248473"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Simulation: </a:t>
            </a:r>
            <a:r>
              <a:rPr lang="en-US" sz="1400" noProof="0" dirty="0"/>
              <a:t>Wrong Model Behavior?</a:t>
            </a:r>
            <a:endParaRPr lang="en-US" sz="1400" noProof="0" dirty="0">
              <a:solidFill>
                <a:schemeClr val="bg1"/>
              </a:solidFill>
            </a:endParaRPr>
          </a:p>
        </p:txBody>
      </p:sp>
      <p:sp>
        <p:nvSpPr>
          <p:cNvPr id="5" name="Rechteck 4">
            <a:extLst>
              <a:ext uri="{FF2B5EF4-FFF2-40B4-BE49-F238E27FC236}">
                <a16:creationId xmlns:a16="http://schemas.microsoft.com/office/drawing/2014/main" id="{1412F8B6-9785-FF17-AD9A-F69A521D17FF}"/>
              </a:ext>
            </a:extLst>
          </p:cNvPr>
          <p:cNvSpPr/>
          <p:nvPr/>
        </p:nvSpPr>
        <p:spPr>
          <a:xfrm>
            <a:off x="251520" y="1131590"/>
            <a:ext cx="4248473"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Simulation: </a:t>
            </a:r>
            <a:r>
              <a:rPr lang="en-US" sz="1400" noProof="0" dirty="0"/>
              <a:t>Co-Existence</a:t>
            </a:r>
            <a:endParaRPr lang="en-US" sz="1400" noProof="0" dirty="0">
              <a:solidFill>
                <a:schemeClr val="bg1"/>
              </a:solidFill>
            </a:endParaRPr>
          </a:p>
        </p:txBody>
      </p:sp>
      <p:sp>
        <p:nvSpPr>
          <p:cNvPr id="7" name="Rechteck 6">
            <a:extLst>
              <a:ext uri="{FF2B5EF4-FFF2-40B4-BE49-F238E27FC236}">
                <a16:creationId xmlns:a16="http://schemas.microsoft.com/office/drawing/2014/main" id="{77C5234A-A1CB-B2EF-408F-F1E27016AC92}"/>
              </a:ext>
            </a:extLst>
          </p:cNvPr>
          <p:cNvSpPr/>
          <p:nvPr/>
        </p:nvSpPr>
        <p:spPr>
          <a:xfrm>
            <a:off x="4644007" y="1491630"/>
            <a:ext cx="4248474" cy="252028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8" name="Textfeld 7">
            <a:extLst>
              <a:ext uri="{FF2B5EF4-FFF2-40B4-BE49-F238E27FC236}">
                <a16:creationId xmlns:a16="http://schemas.microsoft.com/office/drawing/2014/main" id="{F254D021-0C8A-4A2A-BB64-6F9BC17B0DC5}"/>
              </a:ext>
            </a:extLst>
          </p:cNvPr>
          <p:cNvSpPr txBox="1"/>
          <p:nvPr/>
        </p:nvSpPr>
        <p:spPr>
          <a:xfrm>
            <a:off x="5148064" y="4065915"/>
            <a:ext cx="3744416" cy="954107"/>
          </a:xfrm>
          <a:prstGeom prst="rect">
            <a:avLst/>
          </a:prstGeom>
          <a:noFill/>
        </p:spPr>
        <p:txBody>
          <a:bodyPr wrap="square">
            <a:spAutoFit/>
          </a:bodyPr>
          <a:lstStyle/>
          <a:p>
            <a:r>
              <a:rPr lang="en-US" sz="700" noProof="0" dirty="0">
                <a:latin typeface="Courier New" panose="02070309020205020404" pitchFamily="49" charset="0"/>
                <a:cs typeface="Courier New" panose="02070309020205020404" pitchFamily="49" charset="0"/>
              </a:rPr>
              <a:t>N = 5                        # Size of the lattice</a:t>
            </a:r>
          </a:p>
          <a:p>
            <a:r>
              <a:rPr lang="en-US" sz="700" noProof="0" dirty="0">
                <a:latin typeface="Courier New" panose="02070309020205020404" pitchFamily="49" charset="0"/>
                <a:cs typeface="Courier New" panose="02070309020205020404" pitchFamily="49" charset="0"/>
              </a:rPr>
              <a:t>T = 50                       # Maximum number of time steps</a:t>
            </a:r>
          </a:p>
          <a:p>
            <a:r>
              <a:rPr lang="en-US" sz="700" noProof="0" dirty="0">
                <a:latin typeface="Courier New" panose="02070309020205020404" pitchFamily="49" charset="0"/>
                <a:cs typeface="Courier New" panose="02070309020205020404" pitchFamily="49" charset="0"/>
              </a:rPr>
              <a:t>NF = 1                       # Initial number of fish</a:t>
            </a:r>
          </a:p>
          <a:p>
            <a:r>
              <a:rPr lang="en-US" sz="700" noProof="0" dirty="0">
                <a:latin typeface="Courier New" panose="02070309020205020404" pitchFamily="49" charset="0"/>
                <a:cs typeface="Courier New" panose="02070309020205020404" pitchFamily="49" charset="0"/>
              </a:rPr>
              <a:t>NS = 24                      # Initial number of sharks</a:t>
            </a:r>
          </a:p>
          <a:p>
            <a:r>
              <a:rPr lang="en-US" sz="700" noProof="0" dirty="0">
                <a:latin typeface="Courier New" panose="02070309020205020404" pitchFamily="49" charset="0"/>
                <a:cs typeface="Courier New" panose="02070309020205020404" pitchFamily="49" charset="0"/>
              </a:rPr>
              <a:t>FISH_BREEDING_TIME = 5       # Time steps for fish to breed</a:t>
            </a:r>
          </a:p>
          <a:p>
            <a:r>
              <a:rPr lang="en-US" sz="700" noProof="0" dirty="0">
                <a:latin typeface="Courier New" panose="02070309020205020404" pitchFamily="49" charset="0"/>
                <a:cs typeface="Courier New" panose="02070309020205020404" pitchFamily="49" charset="0"/>
              </a:rPr>
              <a:t>SHARK_BREEDING_TIME = 1      # Time steps for sharks to breed</a:t>
            </a:r>
          </a:p>
          <a:p>
            <a:r>
              <a:rPr lang="en-US" sz="700" noProof="0" dirty="0">
                <a:latin typeface="Courier New" panose="02070309020205020404" pitchFamily="49" charset="0"/>
                <a:cs typeface="Courier New" panose="02070309020205020404" pitchFamily="49" charset="0"/>
              </a:rPr>
              <a:t>SHARK_STARVATION_TIME = 10   # Time steps for sharks to starve</a:t>
            </a:r>
          </a:p>
          <a:p>
            <a:r>
              <a:rPr lang="en-US" sz="700" noProof="0" dirty="0">
                <a:latin typeface="Courier New" panose="02070309020205020404" pitchFamily="49" charset="0"/>
                <a:cs typeface="Courier New" panose="02070309020205020404" pitchFamily="49" charset="0"/>
              </a:rPr>
              <a:t>SHARK_BREEDING_ENERGY = 2    # Minimum resource level to breed</a:t>
            </a:r>
          </a:p>
        </p:txBody>
      </p:sp>
      <p:sp>
        <p:nvSpPr>
          <p:cNvPr id="9" name="Rechteck 8">
            <a:extLst>
              <a:ext uri="{FF2B5EF4-FFF2-40B4-BE49-F238E27FC236}">
                <a16:creationId xmlns:a16="http://schemas.microsoft.com/office/drawing/2014/main" id="{7B071412-386E-1931-30B8-459C00413FED}"/>
              </a:ext>
            </a:extLst>
          </p:cNvPr>
          <p:cNvSpPr/>
          <p:nvPr/>
        </p:nvSpPr>
        <p:spPr>
          <a:xfrm>
            <a:off x="251520" y="1491630"/>
            <a:ext cx="4248474" cy="252028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10" name="Textfeld 9">
            <a:extLst>
              <a:ext uri="{FF2B5EF4-FFF2-40B4-BE49-F238E27FC236}">
                <a16:creationId xmlns:a16="http://schemas.microsoft.com/office/drawing/2014/main" id="{6A0BBA6A-3D9E-DCF7-C80F-6E949863A2A0}"/>
              </a:ext>
            </a:extLst>
          </p:cNvPr>
          <p:cNvSpPr txBox="1"/>
          <p:nvPr/>
        </p:nvSpPr>
        <p:spPr>
          <a:xfrm>
            <a:off x="755577" y="4065915"/>
            <a:ext cx="3744416" cy="954107"/>
          </a:xfrm>
          <a:prstGeom prst="rect">
            <a:avLst/>
          </a:prstGeom>
          <a:noFill/>
        </p:spPr>
        <p:txBody>
          <a:bodyPr wrap="square">
            <a:spAutoFit/>
          </a:bodyPr>
          <a:lstStyle/>
          <a:p>
            <a:r>
              <a:rPr lang="en-US" sz="700" noProof="0" dirty="0">
                <a:latin typeface="Courier New" panose="02070309020205020404" pitchFamily="49" charset="0"/>
                <a:cs typeface="Courier New" panose="02070309020205020404" pitchFamily="49" charset="0"/>
              </a:rPr>
              <a:t>N = 10                       # Size of the lattice</a:t>
            </a:r>
          </a:p>
          <a:p>
            <a:r>
              <a:rPr lang="en-US" sz="700" noProof="0" dirty="0">
                <a:latin typeface="Courier New" panose="02070309020205020404" pitchFamily="49" charset="0"/>
                <a:cs typeface="Courier New" panose="02070309020205020404" pitchFamily="49" charset="0"/>
              </a:rPr>
              <a:t>T = 100                      # Maximum number of time steps</a:t>
            </a:r>
          </a:p>
          <a:p>
            <a:r>
              <a:rPr lang="en-US" sz="700" noProof="0" dirty="0">
                <a:latin typeface="Courier New" panose="02070309020205020404" pitchFamily="49" charset="0"/>
                <a:cs typeface="Courier New" panose="02070309020205020404" pitchFamily="49" charset="0"/>
              </a:rPr>
              <a:t>NF = 40                      # Initial number of fish</a:t>
            </a:r>
          </a:p>
          <a:p>
            <a:r>
              <a:rPr lang="en-US" sz="700" noProof="0" dirty="0">
                <a:latin typeface="Courier New" panose="02070309020205020404" pitchFamily="49" charset="0"/>
                <a:cs typeface="Courier New" panose="02070309020205020404" pitchFamily="49" charset="0"/>
              </a:rPr>
              <a:t>NS = 5                       # Initial number of sharks</a:t>
            </a:r>
          </a:p>
          <a:p>
            <a:r>
              <a:rPr lang="en-US" sz="700" noProof="0" dirty="0">
                <a:latin typeface="Courier New" panose="02070309020205020404" pitchFamily="49" charset="0"/>
                <a:cs typeface="Courier New" panose="02070309020205020404" pitchFamily="49" charset="0"/>
              </a:rPr>
              <a:t>FISH_BREEDING_TIME = 9       # Time steps for fish to breed</a:t>
            </a:r>
          </a:p>
          <a:p>
            <a:r>
              <a:rPr lang="en-US" sz="700" noProof="0" dirty="0">
                <a:latin typeface="Courier New" panose="02070309020205020404" pitchFamily="49" charset="0"/>
                <a:cs typeface="Courier New" panose="02070309020205020404" pitchFamily="49" charset="0"/>
              </a:rPr>
              <a:t>SHARK_BREEDING_TIME = 9      # Time steps for sharks to breed</a:t>
            </a:r>
          </a:p>
          <a:p>
            <a:r>
              <a:rPr lang="en-US" sz="700" noProof="0" dirty="0">
                <a:latin typeface="Courier New" panose="02070309020205020404" pitchFamily="49" charset="0"/>
                <a:cs typeface="Courier New" panose="02070309020205020404" pitchFamily="49" charset="0"/>
              </a:rPr>
              <a:t>SHARK_STARVATION_TIME = 6    # Time steps for sharks to starve</a:t>
            </a:r>
          </a:p>
          <a:p>
            <a:r>
              <a:rPr lang="en-US" sz="700" noProof="0" dirty="0">
                <a:latin typeface="Courier New" panose="02070309020205020404" pitchFamily="49" charset="0"/>
                <a:cs typeface="Courier New" panose="02070309020205020404" pitchFamily="49" charset="0"/>
              </a:rPr>
              <a:t>SHARK_BREEDING_ENERGY = 2    # Minimum resource level to breed</a:t>
            </a:r>
          </a:p>
        </p:txBody>
      </p:sp>
      <p:sp>
        <p:nvSpPr>
          <p:cNvPr id="19" name="Textfeld 18">
            <a:extLst>
              <a:ext uri="{FF2B5EF4-FFF2-40B4-BE49-F238E27FC236}">
                <a16:creationId xmlns:a16="http://schemas.microsoft.com/office/drawing/2014/main" id="{2C3E988D-1F2A-188D-BC02-2C4F78AC6C53}"/>
              </a:ext>
            </a:extLst>
          </p:cNvPr>
          <p:cNvSpPr txBox="1"/>
          <p:nvPr/>
        </p:nvSpPr>
        <p:spPr>
          <a:xfrm>
            <a:off x="251520" y="3796466"/>
            <a:ext cx="667170" cy="215444"/>
          </a:xfrm>
          <a:prstGeom prst="rect">
            <a:avLst/>
          </a:prstGeom>
          <a:noFill/>
        </p:spPr>
        <p:txBody>
          <a:bodyPr wrap="none" rtlCol="0">
            <a:spAutoFit/>
          </a:bodyPr>
          <a:lstStyle/>
          <a:p>
            <a:r>
              <a:rPr lang="en-US" sz="800" noProof="0" dirty="0"/>
              <a:t>2sim04.png</a:t>
            </a:r>
          </a:p>
        </p:txBody>
      </p:sp>
      <p:sp>
        <p:nvSpPr>
          <p:cNvPr id="20" name="Textfeld 19">
            <a:extLst>
              <a:ext uri="{FF2B5EF4-FFF2-40B4-BE49-F238E27FC236}">
                <a16:creationId xmlns:a16="http://schemas.microsoft.com/office/drawing/2014/main" id="{BD455BD8-E97C-D393-390D-1B8E34D4BF02}"/>
              </a:ext>
            </a:extLst>
          </p:cNvPr>
          <p:cNvSpPr txBox="1"/>
          <p:nvPr/>
        </p:nvSpPr>
        <p:spPr>
          <a:xfrm>
            <a:off x="4644008" y="3796466"/>
            <a:ext cx="667170" cy="215444"/>
          </a:xfrm>
          <a:prstGeom prst="rect">
            <a:avLst/>
          </a:prstGeom>
          <a:noFill/>
        </p:spPr>
        <p:txBody>
          <a:bodyPr wrap="none" rtlCol="0">
            <a:spAutoFit/>
          </a:bodyPr>
          <a:lstStyle/>
          <a:p>
            <a:r>
              <a:rPr lang="en-US" sz="800" noProof="0" dirty="0"/>
              <a:t>2sim05.png</a:t>
            </a:r>
          </a:p>
        </p:txBody>
      </p:sp>
    </p:spTree>
    <p:extLst>
      <p:ext uri="{BB962C8B-B14F-4D97-AF65-F5344CB8AC3E}">
        <p14:creationId xmlns:p14="http://schemas.microsoft.com/office/powerpoint/2010/main" val="24482173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E103B-EEDF-9ED9-D598-180C918D6435}"/>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2D848D4B-8D90-640A-224D-52BBFE4CD789}"/>
              </a:ext>
            </a:extLst>
          </p:cNvPr>
          <p:cNvSpPr/>
          <p:nvPr/>
        </p:nvSpPr>
        <p:spPr>
          <a:xfrm>
            <a:off x="971600" y="3219822"/>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A468E8B7-F370-2F96-7F0F-BA1F73DECF58}"/>
              </a:ext>
            </a:extLst>
          </p:cNvPr>
          <p:cNvSpPr txBox="1"/>
          <p:nvPr/>
        </p:nvSpPr>
        <p:spPr>
          <a:xfrm>
            <a:off x="971600" y="1131590"/>
            <a:ext cx="3424464" cy="2462213"/>
          </a:xfrm>
          <a:prstGeom prst="rect">
            <a:avLst/>
          </a:prstGeom>
          <a:noFill/>
        </p:spPr>
        <p:txBody>
          <a:bodyPr wrap="none" rtlCol="0">
            <a:spAutoFit/>
          </a:bodyPr>
          <a:lstStyle/>
          <a:p>
            <a:r>
              <a:rPr lang="en-US" b="1" noProof="0" dirty="0"/>
              <a:t>Topics</a:t>
            </a:r>
          </a:p>
          <a:p>
            <a:endParaRPr lang="en-US" sz="1000" noProof="0" dirty="0"/>
          </a:p>
          <a:p>
            <a:pPr lvl="1"/>
            <a:r>
              <a:rPr lang="en-US" noProof="0" dirty="0"/>
              <a:t>Course Overview</a:t>
            </a:r>
          </a:p>
          <a:p>
            <a:pPr lvl="1"/>
            <a:endParaRPr lang="en-US" noProof="0" dirty="0"/>
          </a:p>
          <a:p>
            <a:pPr lvl="1"/>
            <a:r>
              <a:rPr lang="en-US" noProof="0" dirty="0"/>
              <a:t>The Water Planet </a:t>
            </a:r>
            <a:r>
              <a:rPr lang="en-US" noProof="0" dirty="0" err="1"/>
              <a:t>Wa</a:t>
            </a:r>
            <a:r>
              <a:rPr lang="en-US" noProof="0" dirty="0"/>
              <a:t>-Tor</a:t>
            </a:r>
          </a:p>
          <a:p>
            <a:pPr lvl="1"/>
            <a:endParaRPr lang="en-US" noProof="0" dirty="0"/>
          </a:p>
          <a:p>
            <a:pPr lvl="1"/>
            <a:r>
              <a:rPr lang="en-US" noProof="0" dirty="0"/>
              <a:t>Verification &amp; Validation</a:t>
            </a:r>
          </a:p>
          <a:p>
            <a:pPr lvl="1"/>
            <a:endParaRPr lang="en-US" b="1" noProof="0" dirty="0"/>
          </a:p>
          <a:p>
            <a:pPr lvl="1"/>
            <a:r>
              <a:rPr lang="en-US" b="1" noProof="0" dirty="0"/>
              <a:t>Strategy Evolution on </a:t>
            </a:r>
            <a:r>
              <a:rPr lang="en-US" b="1" noProof="0" dirty="0" err="1"/>
              <a:t>Wa</a:t>
            </a:r>
            <a:r>
              <a:rPr lang="en-US" b="1" noProof="0" dirty="0"/>
              <a:t>-Tor</a:t>
            </a:r>
          </a:p>
        </p:txBody>
      </p:sp>
    </p:spTree>
    <p:extLst>
      <p:ext uri="{BB962C8B-B14F-4D97-AF65-F5344CB8AC3E}">
        <p14:creationId xmlns:p14="http://schemas.microsoft.com/office/powerpoint/2010/main" val="26291986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2FAC49-736C-EA4D-6D5C-7DDB356094F6}"/>
              </a:ext>
            </a:extLst>
          </p:cNvPr>
          <p:cNvSpPr>
            <a:spLocks noGrp="1"/>
          </p:cNvSpPr>
          <p:nvPr>
            <p:ph type="title"/>
          </p:nvPr>
        </p:nvSpPr>
        <p:spPr/>
        <p:txBody>
          <a:bodyPr/>
          <a:lstStyle/>
          <a:p>
            <a:r>
              <a:rPr lang="en-US" noProof="0" dirty="0"/>
              <a:t>Next, we can add further species to the ecosystem, like “hunter sharks” that use a more aggressive feeding strategy</a:t>
            </a:r>
          </a:p>
        </p:txBody>
      </p:sp>
      <p:sp>
        <p:nvSpPr>
          <p:cNvPr id="3" name="Rechteck 2">
            <a:extLst>
              <a:ext uri="{FF2B5EF4-FFF2-40B4-BE49-F238E27FC236}">
                <a16:creationId xmlns:a16="http://schemas.microsoft.com/office/drawing/2014/main" id="{E51DB853-892E-AA6D-6CE5-9E1C53560003}"/>
              </a:ext>
            </a:extLst>
          </p:cNvPr>
          <p:cNvSpPr/>
          <p:nvPr/>
        </p:nvSpPr>
        <p:spPr>
          <a:xfrm>
            <a:off x="3851920" y="1131590"/>
            <a:ext cx="504056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Next, we introduce a new hunter shark species which</a:t>
            </a:r>
          </a:p>
          <a:p>
            <a:pPr marL="182563" indent="-182563" algn="just">
              <a:spcAft>
                <a:spcPts val="600"/>
              </a:spcAft>
              <a:buFont typeface="Arial" panose="020B0604020202020204" pitchFamily="34" charset="0"/>
              <a:buChar char="•"/>
            </a:pPr>
            <a:r>
              <a:rPr lang="en-US" sz="1400" noProof="0" dirty="0">
                <a:solidFill>
                  <a:schemeClr val="tx1"/>
                </a:solidFill>
              </a:rPr>
              <a:t>moves and breeds like a shark, but</a:t>
            </a:r>
          </a:p>
          <a:p>
            <a:pPr marL="182563" indent="-182563" algn="just">
              <a:spcAft>
                <a:spcPts val="600"/>
              </a:spcAft>
              <a:buFont typeface="Arial" panose="020B0604020202020204" pitchFamily="34" charset="0"/>
              <a:buChar char="•"/>
            </a:pPr>
            <a:r>
              <a:rPr lang="en-US" sz="1400" noProof="0" dirty="0">
                <a:solidFill>
                  <a:schemeClr val="tx1"/>
                </a:solidFill>
              </a:rPr>
              <a:t>searches for prey before each movement step and then occupies a fish cell if amongst its direct 8 neighbors.</a:t>
            </a:r>
          </a:p>
          <a:p>
            <a:pPr algn="just">
              <a:spcAft>
                <a:spcPts val="600"/>
              </a:spcAft>
            </a:pPr>
            <a:endParaRPr lang="en-US" sz="1400" noProof="0" dirty="0">
              <a:solidFill>
                <a:schemeClr val="tx1"/>
              </a:solidFill>
            </a:endParaRPr>
          </a:p>
          <a:p>
            <a:pPr algn="just">
              <a:spcAft>
                <a:spcPts val="600"/>
              </a:spcAft>
            </a:pPr>
            <a:r>
              <a:rPr lang="en-US" sz="1400" noProof="0" dirty="0">
                <a:solidFill>
                  <a:schemeClr val="tx1"/>
                </a:solidFill>
              </a:rPr>
              <a:t>Thus, the new hunter shark rule are:</a:t>
            </a:r>
          </a:p>
          <a:p>
            <a:pPr marL="182563" indent="-182563" algn="just">
              <a:spcAft>
                <a:spcPts val="600"/>
              </a:spcAft>
              <a:buFont typeface="Arial" panose="020B0604020202020204" pitchFamily="34" charset="0"/>
              <a:buChar char="•"/>
            </a:pPr>
            <a:r>
              <a:rPr lang="en-US" sz="1400" noProof="0" dirty="0">
                <a:solidFill>
                  <a:schemeClr val="tx1"/>
                </a:solidFill>
              </a:rPr>
              <a:t>Before each move survey the 8 direct neighbors around the hunter shark position.</a:t>
            </a:r>
          </a:p>
          <a:p>
            <a:pPr marL="182563" indent="-182563" algn="just">
              <a:spcAft>
                <a:spcPts val="600"/>
              </a:spcAft>
              <a:buFont typeface="Arial" panose="020B0604020202020204" pitchFamily="34" charset="0"/>
              <a:buChar char="•"/>
            </a:pPr>
            <a:r>
              <a:rPr lang="en-US" sz="1400" noProof="0" dirty="0">
                <a:solidFill>
                  <a:schemeClr val="tx1"/>
                </a:solidFill>
              </a:rPr>
              <a:t>If one of them is occupied by a fish, then go to the first such cell found (i.e., position and age update) and eat the fish (i.e., fish vanishes from the lattice, starving time is set to zero, and breeding energy is updated by the age of the fish). The direction value is kept unchanged.</a:t>
            </a:r>
          </a:p>
          <a:p>
            <a:pPr marL="182563" indent="-182563" algn="just">
              <a:spcAft>
                <a:spcPts val="600"/>
              </a:spcAft>
              <a:buFont typeface="Arial" panose="020B0604020202020204" pitchFamily="34" charset="0"/>
              <a:buChar char="•"/>
            </a:pPr>
            <a:r>
              <a:rPr lang="en-US" sz="1400" noProof="0" dirty="0">
                <a:solidFill>
                  <a:schemeClr val="tx1"/>
                </a:solidFill>
              </a:rPr>
              <a:t>If none of the 8 direct neighbors is occupied, then continue with a shark move along the given direction.</a:t>
            </a:r>
          </a:p>
        </p:txBody>
      </p:sp>
      <p:sp>
        <p:nvSpPr>
          <p:cNvPr id="17" name="Textfeld 16">
            <a:extLst>
              <a:ext uri="{FF2B5EF4-FFF2-40B4-BE49-F238E27FC236}">
                <a16:creationId xmlns:a16="http://schemas.microsoft.com/office/drawing/2014/main" id="{7027DE30-E6B3-B4D6-169C-D5BD38995B0D}"/>
              </a:ext>
            </a:extLst>
          </p:cNvPr>
          <p:cNvSpPr txBox="1"/>
          <p:nvPr/>
        </p:nvSpPr>
        <p:spPr>
          <a:xfrm>
            <a:off x="251520" y="4681468"/>
            <a:ext cx="891591" cy="338554"/>
          </a:xfrm>
          <a:prstGeom prst="rect">
            <a:avLst/>
          </a:prstGeom>
          <a:noFill/>
        </p:spPr>
        <p:txBody>
          <a:bodyPr wrap="none" rtlCol="0">
            <a:spAutoFit/>
          </a:bodyPr>
          <a:lstStyle/>
          <a:p>
            <a:r>
              <a:rPr lang="en-US" sz="800" noProof="0" dirty="0">
                <a:solidFill>
                  <a:schemeClr val="tx1">
                    <a:lumMod val="50000"/>
                    <a:lumOff val="50000"/>
                  </a:schemeClr>
                </a:solidFill>
              </a:rPr>
              <a:t>image generated</a:t>
            </a:r>
          </a:p>
          <a:p>
            <a:r>
              <a:rPr lang="en-US" sz="800" noProof="0" dirty="0">
                <a:solidFill>
                  <a:schemeClr val="tx1">
                    <a:lumMod val="50000"/>
                    <a:lumOff val="50000"/>
                  </a:schemeClr>
                </a:solidFill>
              </a:rPr>
              <a:t>with ChatGPT</a:t>
            </a:r>
          </a:p>
        </p:txBody>
      </p:sp>
      <p:grpSp>
        <p:nvGrpSpPr>
          <p:cNvPr id="36" name="Gruppieren 35">
            <a:extLst>
              <a:ext uri="{FF2B5EF4-FFF2-40B4-BE49-F238E27FC236}">
                <a16:creationId xmlns:a16="http://schemas.microsoft.com/office/drawing/2014/main" id="{A28F1307-2C8A-7BB6-FE0D-628F6B1CBAE0}"/>
              </a:ext>
            </a:extLst>
          </p:cNvPr>
          <p:cNvGrpSpPr/>
          <p:nvPr/>
        </p:nvGrpSpPr>
        <p:grpSpPr>
          <a:xfrm>
            <a:off x="251520" y="1131590"/>
            <a:ext cx="3551597" cy="2160240"/>
            <a:chOff x="251520" y="1131590"/>
            <a:chExt cx="3551597" cy="2160240"/>
          </a:xfrm>
        </p:grpSpPr>
        <p:grpSp>
          <p:nvGrpSpPr>
            <p:cNvPr id="20" name="Gruppieren 19">
              <a:extLst>
                <a:ext uri="{FF2B5EF4-FFF2-40B4-BE49-F238E27FC236}">
                  <a16:creationId xmlns:a16="http://schemas.microsoft.com/office/drawing/2014/main" id="{90F73707-5383-00D1-F1EA-D712E6BFA3AA}"/>
                </a:ext>
              </a:extLst>
            </p:cNvPr>
            <p:cNvGrpSpPr/>
            <p:nvPr/>
          </p:nvGrpSpPr>
          <p:grpSpPr>
            <a:xfrm>
              <a:off x="971600" y="1281957"/>
              <a:ext cx="1368152" cy="1217785"/>
              <a:chOff x="971600" y="1281957"/>
              <a:chExt cx="1368152" cy="1217785"/>
            </a:xfrm>
          </p:grpSpPr>
          <p:pic>
            <p:nvPicPr>
              <p:cNvPr id="14" name="Grafik 13">
                <a:extLst>
                  <a:ext uri="{FF2B5EF4-FFF2-40B4-BE49-F238E27FC236}">
                    <a16:creationId xmlns:a16="http://schemas.microsoft.com/office/drawing/2014/main" id="{6BEDD1EB-4FD3-006B-DB4F-39EBB69D3AD9}"/>
                  </a:ext>
                </a:extLst>
              </p:cNvPr>
              <p:cNvPicPr>
                <a:picLocks noChangeAspect="1"/>
              </p:cNvPicPr>
              <p:nvPr/>
            </p:nvPicPr>
            <p:blipFill>
              <a:blip r:embed="rId2"/>
              <a:srcRect l="18784" t="18784" r="18601" b="24863"/>
              <a:stretch>
                <a:fillRect/>
              </a:stretch>
            </p:blipFill>
            <p:spPr>
              <a:xfrm>
                <a:off x="971600" y="2067694"/>
                <a:ext cx="720080" cy="432048"/>
              </a:xfrm>
              <a:prstGeom prst="rect">
                <a:avLst/>
              </a:prstGeom>
            </p:spPr>
          </p:pic>
          <p:pic>
            <p:nvPicPr>
              <p:cNvPr id="16" name="Grafik 15">
                <a:extLst>
                  <a:ext uri="{FF2B5EF4-FFF2-40B4-BE49-F238E27FC236}">
                    <a16:creationId xmlns:a16="http://schemas.microsoft.com/office/drawing/2014/main" id="{2359A0FF-8DC3-381C-1ADF-D34D23AE2D1E}"/>
                  </a:ext>
                </a:extLst>
              </p:cNvPr>
              <p:cNvPicPr>
                <a:picLocks noChangeAspect="1"/>
              </p:cNvPicPr>
              <p:nvPr/>
            </p:nvPicPr>
            <p:blipFill>
              <a:blip r:embed="rId3"/>
              <a:srcRect l="26426" t="20977" r="26515" b="26081"/>
              <a:stretch>
                <a:fillRect/>
              </a:stretch>
            </p:blipFill>
            <p:spPr>
              <a:xfrm>
                <a:off x="1763688" y="1281957"/>
                <a:ext cx="576064" cy="432048"/>
              </a:xfrm>
              <a:prstGeom prst="rect">
                <a:avLst/>
              </a:prstGeom>
            </p:spPr>
          </p:pic>
        </p:grpSp>
        <p:grpSp>
          <p:nvGrpSpPr>
            <p:cNvPr id="18" name="Gruppieren 17">
              <a:extLst>
                <a:ext uri="{FF2B5EF4-FFF2-40B4-BE49-F238E27FC236}">
                  <a16:creationId xmlns:a16="http://schemas.microsoft.com/office/drawing/2014/main" id="{16ACB082-4ABE-411A-1E5B-D72858CB69FA}"/>
                </a:ext>
              </a:extLst>
            </p:cNvPr>
            <p:cNvGrpSpPr/>
            <p:nvPr/>
          </p:nvGrpSpPr>
          <p:grpSpPr>
            <a:xfrm>
              <a:off x="251520" y="1131590"/>
              <a:ext cx="2160240" cy="2160240"/>
              <a:chOff x="251520" y="1131590"/>
              <a:chExt cx="2160240" cy="2160240"/>
            </a:xfrm>
          </p:grpSpPr>
          <p:cxnSp>
            <p:nvCxnSpPr>
              <p:cNvPr id="21" name="Gerader Verbinder 20">
                <a:extLst>
                  <a:ext uri="{FF2B5EF4-FFF2-40B4-BE49-F238E27FC236}">
                    <a16:creationId xmlns:a16="http://schemas.microsoft.com/office/drawing/2014/main" id="{710B6EED-6A4A-8D9A-850A-9DDDD5400F51}"/>
                  </a:ext>
                </a:extLst>
              </p:cNvPr>
              <p:cNvCxnSpPr/>
              <p:nvPr/>
            </p:nvCxnSpPr>
            <p:spPr>
              <a:xfrm>
                <a:off x="251520" y="1131590"/>
                <a:ext cx="2160240"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3" name="Gerader Verbinder 22">
                <a:extLst>
                  <a:ext uri="{FF2B5EF4-FFF2-40B4-BE49-F238E27FC236}">
                    <a16:creationId xmlns:a16="http://schemas.microsoft.com/office/drawing/2014/main" id="{FD4C49F5-A85B-D2A5-8B74-6ED8FBEEC513}"/>
                  </a:ext>
                </a:extLst>
              </p:cNvPr>
              <p:cNvCxnSpPr/>
              <p:nvPr/>
            </p:nvCxnSpPr>
            <p:spPr>
              <a:xfrm>
                <a:off x="251520" y="1131590"/>
                <a:ext cx="0" cy="216024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5" name="Gerader Verbinder 24">
                <a:extLst>
                  <a:ext uri="{FF2B5EF4-FFF2-40B4-BE49-F238E27FC236}">
                    <a16:creationId xmlns:a16="http://schemas.microsoft.com/office/drawing/2014/main" id="{6ECF7E70-C844-E835-7556-56D9DCAA49EA}"/>
                  </a:ext>
                </a:extLst>
              </p:cNvPr>
              <p:cNvCxnSpPr/>
              <p:nvPr/>
            </p:nvCxnSpPr>
            <p:spPr>
              <a:xfrm>
                <a:off x="251520" y="3291830"/>
                <a:ext cx="2160240"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6" name="Gerader Verbinder 25">
                <a:extLst>
                  <a:ext uri="{FF2B5EF4-FFF2-40B4-BE49-F238E27FC236}">
                    <a16:creationId xmlns:a16="http://schemas.microsoft.com/office/drawing/2014/main" id="{3A64CE7A-EAE8-1343-93C7-FD4F306FB695}"/>
                  </a:ext>
                </a:extLst>
              </p:cNvPr>
              <p:cNvCxnSpPr/>
              <p:nvPr/>
            </p:nvCxnSpPr>
            <p:spPr>
              <a:xfrm>
                <a:off x="2411760" y="1131590"/>
                <a:ext cx="0" cy="216024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7" name="Gerader Verbinder 26">
                <a:extLst>
                  <a:ext uri="{FF2B5EF4-FFF2-40B4-BE49-F238E27FC236}">
                    <a16:creationId xmlns:a16="http://schemas.microsoft.com/office/drawing/2014/main" id="{C4B4E107-53DB-4096-9AA8-E98F1580CFE3}"/>
                  </a:ext>
                </a:extLst>
              </p:cNvPr>
              <p:cNvCxnSpPr/>
              <p:nvPr/>
            </p:nvCxnSpPr>
            <p:spPr>
              <a:xfrm>
                <a:off x="1691680" y="1131590"/>
                <a:ext cx="0" cy="216024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8" name="Gerader Verbinder 27">
                <a:extLst>
                  <a:ext uri="{FF2B5EF4-FFF2-40B4-BE49-F238E27FC236}">
                    <a16:creationId xmlns:a16="http://schemas.microsoft.com/office/drawing/2014/main" id="{1925C41D-D534-58C6-A922-F6EED3B1AB30}"/>
                  </a:ext>
                </a:extLst>
              </p:cNvPr>
              <p:cNvCxnSpPr/>
              <p:nvPr/>
            </p:nvCxnSpPr>
            <p:spPr>
              <a:xfrm>
                <a:off x="971600" y="1131590"/>
                <a:ext cx="0" cy="216024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9" name="Gerader Verbinder 28">
                <a:extLst>
                  <a:ext uri="{FF2B5EF4-FFF2-40B4-BE49-F238E27FC236}">
                    <a16:creationId xmlns:a16="http://schemas.microsoft.com/office/drawing/2014/main" id="{B5CFEE74-CBB5-F3FF-28B4-92EC5C8F0C52}"/>
                  </a:ext>
                </a:extLst>
              </p:cNvPr>
              <p:cNvCxnSpPr/>
              <p:nvPr/>
            </p:nvCxnSpPr>
            <p:spPr>
              <a:xfrm>
                <a:off x="251520" y="1851670"/>
                <a:ext cx="2160240"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32" name="Gerader Verbinder 31">
                <a:extLst>
                  <a:ext uri="{FF2B5EF4-FFF2-40B4-BE49-F238E27FC236}">
                    <a16:creationId xmlns:a16="http://schemas.microsoft.com/office/drawing/2014/main" id="{7FDEF9CC-0FB4-BE7E-3DC7-64D8B0A1E168}"/>
                  </a:ext>
                </a:extLst>
              </p:cNvPr>
              <p:cNvCxnSpPr/>
              <p:nvPr/>
            </p:nvCxnSpPr>
            <p:spPr>
              <a:xfrm>
                <a:off x="251520" y="2571750"/>
                <a:ext cx="2160240"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grpSp>
        <p:sp>
          <p:nvSpPr>
            <p:cNvPr id="19" name="Ellipse 18">
              <a:extLst>
                <a:ext uri="{FF2B5EF4-FFF2-40B4-BE49-F238E27FC236}">
                  <a16:creationId xmlns:a16="http://schemas.microsoft.com/office/drawing/2014/main" id="{D44B0CB6-686B-3976-8A8B-8E5023911AA6}"/>
                </a:ext>
              </a:extLst>
            </p:cNvPr>
            <p:cNvSpPr/>
            <p:nvPr/>
          </p:nvSpPr>
          <p:spPr>
            <a:xfrm>
              <a:off x="669821" y="1531957"/>
              <a:ext cx="1323639" cy="132363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2" name="Gerader Verbinder 21">
              <a:extLst>
                <a:ext uri="{FF2B5EF4-FFF2-40B4-BE49-F238E27FC236}">
                  <a16:creationId xmlns:a16="http://schemas.microsoft.com/office/drawing/2014/main" id="{1B36B4CF-C55D-BC17-D904-09724FC8515B}"/>
                </a:ext>
              </a:extLst>
            </p:cNvPr>
            <p:cNvCxnSpPr>
              <a:cxnSpLocks/>
              <a:stCxn id="19" idx="5"/>
            </p:cNvCxnSpPr>
            <p:nvPr/>
          </p:nvCxnSpPr>
          <p:spPr>
            <a:xfrm>
              <a:off x="1799618" y="2661754"/>
              <a:ext cx="756158" cy="318807"/>
            </a:xfrm>
            <a:prstGeom prst="lin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24" name="Gerader Verbinder 23">
              <a:extLst>
                <a:ext uri="{FF2B5EF4-FFF2-40B4-BE49-F238E27FC236}">
                  <a16:creationId xmlns:a16="http://schemas.microsoft.com/office/drawing/2014/main" id="{A89E6638-0C89-28C8-9D9F-BB071686D946}"/>
                </a:ext>
              </a:extLst>
            </p:cNvPr>
            <p:cNvCxnSpPr>
              <a:cxnSpLocks/>
            </p:cNvCxnSpPr>
            <p:nvPr/>
          </p:nvCxnSpPr>
          <p:spPr>
            <a:xfrm>
              <a:off x="2555776" y="2980561"/>
              <a:ext cx="0" cy="275402"/>
            </a:xfrm>
            <a:prstGeom prst="lin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cxnSp>
        <p:sp>
          <p:nvSpPr>
            <p:cNvPr id="30" name="Textfeld 29">
              <a:extLst>
                <a:ext uri="{FF2B5EF4-FFF2-40B4-BE49-F238E27FC236}">
                  <a16:creationId xmlns:a16="http://schemas.microsoft.com/office/drawing/2014/main" id="{6918F19B-E1A7-66C6-C257-F51C76A47D07}"/>
                </a:ext>
              </a:extLst>
            </p:cNvPr>
            <p:cNvSpPr txBox="1"/>
            <p:nvPr/>
          </p:nvSpPr>
          <p:spPr>
            <a:xfrm>
              <a:off x="2555776" y="2978964"/>
              <a:ext cx="1247341" cy="276999"/>
            </a:xfrm>
            <a:prstGeom prst="rect">
              <a:avLst/>
            </a:prstGeom>
            <a:noFill/>
          </p:spPr>
          <p:txBody>
            <a:bodyPr wrap="square" rtlCol="0">
              <a:spAutoFit/>
            </a:bodyPr>
            <a:lstStyle/>
            <a:p>
              <a:r>
                <a:rPr lang="en-US" sz="1200" noProof="0" dirty="0"/>
                <a:t>hunting space</a:t>
              </a:r>
            </a:p>
          </p:txBody>
        </p:sp>
        <p:sp>
          <p:nvSpPr>
            <p:cNvPr id="31" name="Gleichschenkliges Dreieck 30">
              <a:extLst>
                <a:ext uri="{FF2B5EF4-FFF2-40B4-BE49-F238E27FC236}">
                  <a16:creationId xmlns:a16="http://schemas.microsoft.com/office/drawing/2014/main" id="{1F3F8F94-8A8D-2048-EBF4-FC0DB433A962}"/>
                </a:ext>
              </a:extLst>
            </p:cNvPr>
            <p:cNvSpPr/>
            <p:nvPr/>
          </p:nvSpPr>
          <p:spPr>
            <a:xfrm>
              <a:off x="1151620" y="1908715"/>
              <a:ext cx="360040" cy="156716"/>
            </a:xfrm>
            <a:prstGeom prst="triangle">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3" name="Gerader Verbinder 32">
              <a:extLst>
                <a:ext uri="{FF2B5EF4-FFF2-40B4-BE49-F238E27FC236}">
                  <a16:creationId xmlns:a16="http://schemas.microsoft.com/office/drawing/2014/main" id="{D7B1FED8-8047-DA9D-46D4-6D1F1EAF2EE7}"/>
                </a:ext>
              </a:extLst>
            </p:cNvPr>
            <p:cNvCxnSpPr/>
            <p:nvPr/>
          </p:nvCxnSpPr>
          <p:spPr>
            <a:xfrm>
              <a:off x="1511660" y="1987073"/>
              <a:ext cx="1044116"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34" name="Textfeld 33">
              <a:extLst>
                <a:ext uri="{FF2B5EF4-FFF2-40B4-BE49-F238E27FC236}">
                  <a16:creationId xmlns:a16="http://schemas.microsoft.com/office/drawing/2014/main" id="{AAB1F6BA-C616-3C7C-F54D-B3DDC3AD260B}"/>
                </a:ext>
              </a:extLst>
            </p:cNvPr>
            <p:cNvSpPr txBox="1"/>
            <p:nvPr/>
          </p:nvSpPr>
          <p:spPr>
            <a:xfrm>
              <a:off x="2555776" y="1968458"/>
              <a:ext cx="887300" cy="461665"/>
            </a:xfrm>
            <a:prstGeom prst="rect">
              <a:avLst/>
            </a:prstGeom>
            <a:noFill/>
          </p:spPr>
          <p:txBody>
            <a:bodyPr wrap="square" rtlCol="0">
              <a:spAutoFit/>
            </a:bodyPr>
            <a:lstStyle/>
            <a:p>
              <a:r>
                <a:rPr lang="en-US" sz="1200" noProof="0" dirty="0"/>
                <a:t>movement direction</a:t>
              </a:r>
            </a:p>
          </p:txBody>
        </p:sp>
        <p:cxnSp>
          <p:nvCxnSpPr>
            <p:cNvPr id="35" name="Gerader Verbinder 34">
              <a:extLst>
                <a:ext uri="{FF2B5EF4-FFF2-40B4-BE49-F238E27FC236}">
                  <a16:creationId xmlns:a16="http://schemas.microsoft.com/office/drawing/2014/main" id="{21624E1C-0D3E-B289-C54B-5CFB7CFF287A}"/>
                </a:ext>
              </a:extLst>
            </p:cNvPr>
            <p:cNvCxnSpPr>
              <a:cxnSpLocks/>
            </p:cNvCxnSpPr>
            <p:nvPr/>
          </p:nvCxnSpPr>
          <p:spPr>
            <a:xfrm flipV="1">
              <a:off x="2555776" y="1987073"/>
              <a:ext cx="0" cy="324061"/>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39731187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Grafik 29">
            <a:extLst>
              <a:ext uri="{FF2B5EF4-FFF2-40B4-BE49-F238E27FC236}">
                <a16:creationId xmlns:a16="http://schemas.microsoft.com/office/drawing/2014/main" id="{A8626663-0CE7-F612-41A6-94B6456B889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17" y="1489492"/>
            <a:ext cx="2520280" cy="2520280"/>
          </a:xfrm>
          <a:prstGeom prst="rect">
            <a:avLst/>
          </a:prstGeom>
        </p:spPr>
      </p:pic>
      <p:pic>
        <p:nvPicPr>
          <p:cNvPr id="28" name="Grafik 27">
            <a:extLst>
              <a:ext uri="{FF2B5EF4-FFF2-40B4-BE49-F238E27FC236}">
                <a16:creationId xmlns:a16="http://schemas.microsoft.com/office/drawing/2014/main" id="{645B9E4E-EFFA-A752-1819-75AC8461AD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9483" y="1491630"/>
            <a:ext cx="3357522" cy="2518142"/>
          </a:xfrm>
          <a:prstGeom prst="rect">
            <a:avLst/>
          </a:prstGeom>
        </p:spPr>
      </p:pic>
      <p:sp>
        <p:nvSpPr>
          <p:cNvPr id="2" name="Titel 1">
            <a:extLst>
              <a:ext uri="{FF2B5EF4-FFF2-40B4-BE49-F238E27FC236}">
                <a16:creationId xmlns:a16="http://schemas.microsoft.com/office/drawing/2014/main" id="{427B7ECA-3CEF-4020-FA0D-C6939568D5AB}"/>
              </a:ext>
            </a:extLst>
          </p:cNvPr>
          <p:cNvSpPr>
            <a:spLocks noGrp="1"/>
          </p:cNvSpPr>
          <p:nvPr>
            <p:ph type="title"/>
          </p:nvPr>
        </p:nvSpPr>
        <p:spPr/>
        <p:txBody>
          <a:bodyPr/>
          <a:lstStyle/>
          <a:p>
            <a:r>
              <a:rPr lang="en-US" noProof="0" dirty="0"/>
              <a:t>Simulation:</a:t>
            </a:r>
            <a:br>
              <a:rPr lang="en-US" noProof="0" dirty="0"/>
            </a:br>
            <a:r>
              <a:rPr lang="en-US" noProof="0" dirty="0"/>
              <a:t>1</a:t>
            </a:r>
            <a:r>
              <a:rPr lang="en-US" baseline="30000" noProof="0" dirty="0"/>
              <a:t>st</a:t>
            </a:r>
            <a:r>
              <a:rPr lang="en-US" noProof="0" dirty="0"/>
              <a:t> run</a:t>
            </a:r>
          </a:p>
        </p:txBody>
      </p:sp>
      <p:sp>
        <p:nvSpPr>
          <p:cNvPr id="19" name="Rechteck 18">
            <a:extLst>
              <a:ext uri="{FF2B5EF4-FFF2-40B4-BE49-F238E27FC236}">
                <a16:creationId xmlns:a16="http://schemas.microsoft.com/office/drawing/2014/main" id="{7BA73FDE-B4B8-7840-1B26-49E01DDED463}"/>
              </a:ext>
            </a:extLst>
          </p:cNvPr>
          <p:cNvSpPr/>
          <p:nvPr/>
        </p:nvSpPr>
        <p:spPr>
          <a:xfrm>
            <a:off x="4644007" y="1131590"/>
            <a:ext cx="4248473"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Time Evolution</a:t>
            </a:r>
          </a:p>
        </p:txBody>
      </p:sp>
      <p:sp>
        <p:nvSpPr>
          <p:cNvPr id="20" name="Rechteck 19">
            <a:extLst>
              <a:ext uri="{FF2B5EF4-FFF2-40B4-BE49-F238E27FC236}">
                <a16:creationId xmlns:a16="http://schemas.microsoft.com/office/drawing/2014/main" id="{32331F4F-1E6D-B500-91D6-72F89EF4DEF3}"/>
              </a:ext>
            </a:extLst>
          </p:cNvPr>
          <p:cNvSpPr/>
          <p:nvPr/>
        </p:nvSpPr>
        <p:spPr>
          <a:xfrm>
            <a:off x="251520" y="1131590"/>
            <a:ext cx="4248473"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Initial Lattice Occupation</a:t>
            </a:r>
          </a:p>
        </p:txBody>
      </p:sp>
      <p:sp>
        <p:nvSpPr>
          <p:cNvPr id="21" name="Rechteck 20">
            <a:extLst>
              <a:ext uri="{FF2B5EF4-FFF2-40B4-BE49-F238E27FC236}">
                <a16:creationId xmlns:a16="http://schemas.microsoft.com/office/drawing/2014/main" id="{86D74945-3F69-75B7-AECE-617923EC407C}"/>
              </a:ext>
            </a:extLst>
          </p:cNvPr>
          <p:cNvSpPr/>
          <p:nvPr/>
        </p:nvSpPr>
        <p:spPr>
          <a:xfrm>
            <a:off x="4644007" y="1491630"/>
            <a:ext cx="4248474" cy="252028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22" name="Textfeld 21">
            <a:extLst>
              <a:ext uri="{FF2B5EF4-FFF2-40B4-BE49-F238E27FC236}">
                <a16:creationId xmlns:a16="http://schemas.microsoft.com/office/drawing/2014/main" id="{1521D41C-5349-30FC-0FC2-4AB3FC63127D}"/>
              </a:ext>
            </a:extLst>
          </p:cNvPr>
          <p:cNvSpPr txBox="1"/>
          <p:nvPr/>
        </p:nvSpPr>
        <p:spPr>
          <a:xfrm>
            <a:off x="5220072" y="4604524"/>
            <a:ext cx="3672408" cy="415498"/>
          </a:xfrm>
          <a:prstGeom prst="rect">
            <a:avLst/>
          </a:prstGeom>
          <a:noFill/>
        </p:spPr>
        <p:txBody>
          <a:bodyPr wrap="square">
            <a:spAutoFit/>
          </a:bodyPr>
          <a:lstStyle/>
          <a:p>
            <a:r>
              <a:rPr lang="en-US" sz="700" noProof="0" dirty="0">
                <a:latin typeface="Courier New" panose="02070309020205020404" pitchFamily="49" charset="0"/>
                <a:cs typeface="Courier New" panose="02070309020205020404" pitchFamily="49" charset="0"/>
              </a:rPr>
              <a:t>SHARK_STARVATION_TIME = 10    # Time steps for sharks to starve</a:t>
            </a:r>
          </a:p>
          <a:p>
            <a:r>
              <a:rPr lang="en-US" sz="700" noProof="0" dirty="0">
                <a:latin typeface="Courier New" panose="02070309020205020404" pitchFamily="49" charset="0"/>
                <a:cs typeface="Courier New" panose="02070309020205020404" pitchFamily="49" charset="0"/>
              </a:rPr>
              <a:t>HUNTER_STARVATION_TIME = 10   # Time steps for sharks to starve</a:t>
            </a:r>
          </a:p>
          <a:p>
            <a:r>
              <a:rPr lang="en-US" sz="700" noProof="0" dirty="0">
                <a:latin typeface="Courier New" panose="02070309020205020404" pitchFamily="49" charset="0"/>
                <a:cs typeface="Courier New" panose="02070309020205020404" pitchFamily="49" charset="0"/>
              </a:rPr>
              <a:t>BREEDING_ENERGY = 5           # Minimum resource level to breed</a:t>
            </a:r>
          </a:p>
        </p:txBody>
      </p:sp>
      <p:sp>
        <p:nvSpPr>
          <p:cNvPr id="23" name="Rechteck 22">
            <a:extLst>
              <a:ext uri="{FF2B5EF4-FFF2-40B4-BE49-F238E27FC236}">
                <a16:creationId xmlns:a16="http://schemas.microsoft.com/office/drawing/2014/main" id="{56F1B090-8948-0C0B-4E93-2BBFB986794C}"/>
              </a:ext>
            </a:extLst>
          </p:cNvPr>
          <p:cNvSpPr/>
          <p:nvPr/>
        </p:nvSpPr>
        <p:spPr>
          <a:xfrm>
            <a:off x="251520" y="1491630"/>
            <a:ext cx="4248474" cy="252028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24" name="Textfeld 23">
            <a:extLst>
              <a:ext uri="{FF2B5EF4-FFF2-40B4-BE49-F238E27FC236}">
                <a16:creationId xmlns:a16="http://schemas.microsoft.com/office/drawing/2014/main" id="{48328E2D-9148-DBBD-2A58-8DF5245221D9}"/>
              </a:ext>
            </a:extLst>
          </p:cNvPr>
          <p:cNvSpPr txBox="1"/>
          <p:nvPr/>
        </p:nvSpPr>
        <p:spPr>
          <a:xfrm>
            <a:off x="251520" y="3796466"/>
            <a:ext cx="716863" cy="215444"/>
          </a:xfrm>
          <a:prstGeom prst="rect">
            <a:avLst/>
          </a:prstGeom>
          <a:noFill/>
        </p:spPr>
        <p:txBody>
          <a:bodyPr wrap="none" rtlCol="0">
            <a:spAutoFit/>
          </a:bodyPr>
          <a:lstStyle/>
          <a:p>
            <a:r>
              <a:rPr lang="en-US" sz="800" noProof="0" dirty="0"/>
              <a:t>3sim01a.png</a:t>
            </a:r>
          </a:p>
        </p:txBody>
      </p:sp>
      <p:sp>
        <p:nvSpPr>
          <p:cNvPr id="25" name="Textfeld 24">
            <a:extLst>
              <a:ext uri="{FF2B5EF4-FFF2-40B4-BE49-F238E27FC236}">
                <a16:creationId xmlns:a16="http://schemas.microsoft.com/office/drawing/2014/main" id="{1F4A109B-6857-A3F9-104F-EFC29D2D7A60}"/>
              </a:ext>
            </a:extLst>
          </p:cNvPr>
          <p:cNvSpPr txBox="1"/>
          <p:nvPr/>
        </p:nvSpPr>
        <p:spPr>
          <a:xfrm>
            <a:off x="4644008" y="3796466"/>
            <a:ext cx="721672" cy="215444"/>
          </a:xfrm>
          <a:prstGeom prst="rect">
            <a:avLst/>
          </a:prstGeom>
          <a:noFill/>
        </p:spPr>
        <p:txBody>
          <a:bodyPr wrap="none" rtlCol="0">
            <a:spAutoFit/>
          </a:bodyPr>
          <a:lstStyle/>
          <a:p>
            <a:r>
              <a:rPr lang="en-US" sz="800" noProof="0" dirty="0"/>
              <a:t>3sim01b.png</a:t>
            </a:r>
          </a:p>
        </p:txBody>
      </p:sp>
      <p:sp>
        <p:nvSpPr>
          <p:cNvPr id="26" name="Textfeld 25">
            <a:extLst>
              <a:ext uri="{FF2B5EF4-FFF2-40B4-BE49-F238E27FC236}">
                <a16:creationId xmlns:a16="http://schemas.microsoft.com/office/drawing/2014/main" id="{DD972D9E-BD69-59B7-9F0D-E83FCACFD3F5}"/>
              </a:ext>
            </a:extLst>
          </p:cNvPr>
          <p:cNvSpPr txBox="1"/>
          <p:nvPr/>
        </p:nvSpPr>
        <p:spPr>
          <a:xfrm>
            <a:off x="1187624" y="4065915"/>
            <a:ext cx="3888432" cy="954107"/>
          </a:xfrm>
          <a:prstGeom prst="rect">
            <a:avLst/>
          </a:prstGeom>
          <a:noFill/>
        </p:spPr>
        <p:txBody>
          <a:bodyPr wrap="square">
            <a:spAutoFit/>
          </a:bodyPr>
          <a:lstStyle/>
          <a:p>
            <a:r>
              <a:rPr lang="en-US" sz="700" noProof="0" dirty="0">
                <a:latin typeface="Courier New" panose="02070309020205020404" pitchFamily="49" charset="0"/>
                <a:cs typeface="Courier New" panose="02070309020205020404" pitchFamily="49" charset="0"/>
              </a:rPr>
              <a:t>N = 50                       # Size of the lattice</a:t>
            </a:r>
          </a:p>
          <a:p>
            <a:r>
              <a:rPr lang="en-US" sz="700" noProof="0" dirty="0">
                <a:latin typeface="Courier New" panose="02070309020205020404" pitchFamily="49" charset="0"/>
                <a:cs typeface="Courier New" panose="02070309020205020404" pitchFamily="49" charset="0"/>
              </a:rPr>
              <a:t>T = 50                       # Maximum number of time steps</a:t>
            </a:r>
          </a:p>
          <a:p>
            <a:r>
              <a:rPr lang="en-US" sz="700" noProof="0" dirty="0">
                <a:latin typeface="Courier New" panose="02070309020205020404" pitchFamily="49" charset="0"/>
                <a:cs typeface="Courier New" panose="02070309020205020404" pitchFamily="49" charset="0"/>
              </a:rPr>
              <a:t>NF = 200                     # Initial number of fish</a:t>
            </a:r>
          </a:p>
          <a:p>
            <a:r>
              <a:rPr lang="en-US" sz="700" noProof="0" dirty="0">
                <a:latin typeface="Courier New" panose="02070309020205020404" pitchFamily="49" charset="0"/>
                <a:cs typeface="Courier New" panose="02070309020205020404" pitchFamily="49" charset="0"/>
              </a:rPr>
              <a:t>NS = 20                      # Initial number of sharks</a:t>
            </a:r>
          </a:p>
          <a:p>
            <a:r>
              <a:rPr lang="en-US" sz="700" noProof="0" dirty="0">
                <a:latin typeface="Courier New" panose="02070309020205020404" pitchFamily="49" charset="0"/>
                <a:cs typeface="Courier New" panose="02070309020205020404" pitchFamily="49" charset="0"/>
              </a:rPr>
              <a:t>NH = 20                      # Initial number of hunter sharks</a:t>
            </a:r>
          </a:p>
          <a:p>
            <a:r>
              <a:rPr lang="en-US" sz="700" noProof="0" dirty="0">
                <a:latin typeface="Courier New" panose="02070309020205020404" pitchFamily="49" charset="0"/>
                <a:cs typeface="Courier New" panose="02070309020205020404" pitchFamily="49" charset="0"/>
              </a:rPr>
              <a:t>FISH_BREEDING_TIME = 5       # Time steps for fish to breed</a:t>
            </a:r>
          </a:p>
          <a:p>
            <a:r>
              <a:rPr lang="en-US" sz="700" noProof="0" dirty="0">
                <a:latin typeface="Courier New" panose="02070309020205020404" pitchFamily="49" charset="0"/>
                <a:cs typeface="Courier New" panose="02070309020205020404" pitchFamily="49" charset="0"/>
              </a:rPr>
              <a:t>SHARK_BREEDING_TIME = 5      # Time steps for sharks to breed</a:t>
            </a:r>
          </a:p>
          <a:p>
            <a:r>
              <a:rPr lang="en-US" sz="700" noProof="0" dirty="0">
                <a:latin typeface="Courier New" panose="02070309020205020404" pitchFamily="49" charset="0"/>
                <a:cs typeface="Courier New" panose="02070309020205020404" pitchFamily="49" charset="0"/>
              </a:rPr>
              <a:t>HUNTER_BREEDING_TIME = 5     # Time steps for hunter sharks to breed</a:t>
            </a:r>
          </a:p>
        </p:txBody>
      </p:sp>
    </p:spTree>
    <p:extLst>
      <p:ext uri="{BB962C8B-B14F-4D97-AF65-F5344CB8AC3E}">
        <p14:creationId xmlns:p14="http://schemas.microsoft.com/office/powerpoint/2010/main" val="34821629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BF685-3903-2D93-1618-F2AA06822859}"/>
            </a:ext>
          </a:extLst>
        </p:cNvPr>
        <p:cNvGrpSpPr/>
        <p:nvPr/>
      </p:nvGrpSpPr>
      <p:grpSpPr>
        <a:xfrm>
          <a:off x="0" y="0"/>
          <a:ext cx="0" cy="0"/>
          <a:chOff x="0" y="0"/>
          <a:chExt cx="0" cy="0"/>
        </a:xfrm>
      </p:grpSpPr>
      <p:pic>
        <p:nvPicPr>
          <p:cNvPr id="4" name="Grafik 3">
            <a:extLst>
              <a:ext uri="{FF2B5EF4-FFF2-40B4-BE49-F238E27FC236}">
                <a16:creationId xmlns:a16="http://schemas.microsoft.com/office/drawing/2014/main" id="{8D10E13B-975E-68EA-AF39-463B24ACF2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8058" y="1491630"/>
            <a:ext cx="3360373" cy="2520280"/>
          </a:xfrm>
          <a:prstGeom prst="rect">
            <a:avLst/>
          </a:prstGeom>
        </p:spPr>
      </p:pic>
      <p:pic>
        <p:nvPicPr>
          <p:cNvPr id="6" name="Grafik 5">
            <a:extLst>
              <a:ext uri="{FF2B5EF4-FFF2-40B4-BE49-F238E27FC236}">
                <a16:creationId xmlns:a16="http://schemas.microsoft.com/office/drawing/2014/main" id="{0EA16D92-5E90-D58D-D498-10744EEB1E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617" y="1491631"/>
            <a:ext cx="2520280" cy="2520280"/>
          </a:xfrm>
          <a:prstGeom prst="rect">
            <a:avLst/>
          </a:prstGeom>
        </p:spPr>
      </p:pic>
      <p:sp>
        <p:nvSpPr>
          <p:cNvPr id="2" name="Titel 1">
            <a:extLst>
              <a:ext uri="{FF2B5EF4-FFF2-40B4-BE49-F238E27FC236}">
                <a16:creationId xmlns:a16="http://schemas.microsoft.com/office/drawing/2014/main" id="{2B944BB1-99A2-1EC1-0DDC-5E5DF5DD9BCD}"/>
              </a:ext>
            </a:extLst>
          </p:cNvPr>
          <p:cNvSpPr>
            <a:spLocks noGrp="1"/>
          </p:cNvSpPr>
          <p:nvPr>
            <p:ph type="title"/>
          </p:nvPr>
        </p:nvSpPr>
        <p:spPr/>
        <p:txBody>
          <a:bodyPr/>
          <a:lstStyle/>
          <a:p>
            <a:r>
              <a:rPr lang="en-US" noProof="0" dirty="0"/>
              <a:t>Simulation:</a:t>
            </a:r>
            <a:br>
              <a:rPr lang="en-US" noProof="0" dirty="0"/>
            </a:br>
            <a:r>
              <a:rPr lang="en-US" noProof="0" dirty="0"/>
              <a:t>2</a:t>
            </a:r>
            <a:r>
              <a:rPr lang="en-US" baseline="30000" noProof="0" dirty="0"/>
              <a:t>nd</a:t>
            </a:r>
            <a:r>
              <a:rPr lang="en-US" noProof="0" dirty="0"/>
              <a:t> run</a:t>
            </a:r>
          </a:p>
        </p:txBody>
      </p:sp>
      <p:sp>
        <p:nvSpPr>
          <p:cNvPr id="19" name="Rechteck 18">
            <a:extLst>
              <a:ext uri="{FF2B5EF4-FFF2-40B4-BE49-F238E27FC236}">
                <a16:creationId xmlns:a16="http://schemas.microsoft.com/office/drawing/2014/main" id="{2D252270-8640-DA09-DCA7-D4551EDBC72D}"/>
              </a:ext>
            </a:extLst>
          </p:cNvPr>
          <p:cNvSpPr/>
          <p:nvPr/>
        </p:nvSpPr>
        <p:spPr>
          <a:xfrm>
            <a:off x="4644007" y="1131590"/>
            <a:ext cx="4248473"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Time Evolution</a:t>
            </a:r>
          </a:p>
        </p:txBody>
      </p:sp>
      <p:sp>
        <p:nvSpPr>
          <p:cNvPr id="20" name="Rechteck 19">
            <a:extLst>
              <a:ext uri="{FF2B5EF4-FFF2-40B4-BE49-F238E27FC236}">
                <a16:creationId xmlns:a16="http://schemas.microsoft.com/office/drawing/2014/main" id="{7C566767-A09E-5AE9-CA9F-4493EF931678}"/>
              </a:ext>
            </a:extLst>
          </p:cNvPr>
          <p:cNvSpPr/>
          <p:nvPr/>
        </p:nvSpPr>
        <p:spPr>
          <a:xfrm>
            <a:off x="251520" y="1131590"/>
            <a:ext cx="4248473"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Initial Lattice Occupation</a:t>
            </a:r>
          </a:p>
        </p:txBody>
      </p:sp>
      <p:sp>
        <p:nvSpPr>
          <p:cNvPr id="21" name="Rechteck 20">
            <a:extLst>
              <a:ext uri="{FF2B5EF4-FFF2-40B4-BE49-F238E27FC236}">
                <a16:creationId xmlns:a16="http://schemas.microsoft.com/office/drawing/2014/main" id="{0A57B03A-8175-B226-DEC2-59DC9FF86B34}"/>
              </a:ext>
            </a:extLst>
          </p:cNvPr>
          <p:cNvSpPr/>
          <p:nvPr/>
        </p:nvSpPr>
        <p:spPr>
          <a:xfrm>
            <a:off x="4644007" y="1491630"/>
            <a:ext cx="4248474" cy="252028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22" name="Textfeld 21">
            <a:extLst>
              <a:ext uri="{FF2B5EF4-FFF2-40B4-BE49-F238E27FC236}">
                <a16:creationId xmlns:a16="http://schemas.microsoft.com/office/drawing/2014/main" id="{9659A515-D687-B2C8-6B0A-39B483A2ABA0}"/>
              </a:ext>
            </a:extLst>
          </p:cNvPr>
          <p:cNvSpPr txBox="1"/>
          <p:nvPr/>
        </p:nvSpPr>
        <p:spPr>
          <a:xfrm>
            <a:off x="5220072" y="4604524"/>
            <a:ext cx="3672408" cy="415498"/>
          </a:xfrm>
          <a:prstGeom prst="rect">
            <a:avLst/>
          </a:prstGeom>
          <a:noFill/>
        </p:spPr>
        <p:txBody>
          <a:bodyPr wrap="square">
            <a:spAutoFit/>
          </a:bodyPr>
          <a:lstStyle/>
          <a:p>
            <a:r>
              <a:rPr lang="en-US" sz="700" noProof="0" dirty="0">
                <a:latin typeface="Courier New" panose="02070309020205020404" pitchFamily="49" charset="0"/>
                <a:cs typeface="Courier New" panose="02070309020205020404" pitchFamily="49" charset="0"/>
              </a:rPr>
              <a:t>SHARK_STARVATION_TIME = 6     # Time steps for sharks to starve</a:t>
            </a:r>
          </a:p>
          <a:p>
            <a:r>
              <a:rPr lang="en-US" sz="700" noProof="0" dirty="0">
                <a:latin typeface="Courier New" panose="02070309020205020404" pitchFamily="49" charset="0"/>
                <a:cs typeface="Courier New" panose="02070309020205020404" pitchFamily="49" charset="0"/>
              </a:rPr>
              <a:t>HUNTER_STARVATION_TIME = 6    # Time steps for sharks to starve</a:t>
            </a:r>
          </a:p>
          <a:p>
            <a:r>
              <a:rPr lang="en-US" sz="700" noProof="0" dirty="0">
                <a:latin typeface="Courier New" panose="02070309020205020404" pitchFamily="49" charset="0"/>
                <a:cs typeface="Courier New" panose="02070309020205020404" pitchFamily="49" charset="0"/>
              </a:rPr>
              <a:t>BREEDING_ENERGY = 2           # Minimum resource level to breed</a:t>
            </a:r>
          </a:p>
        </p:txBody>
      </p:sp>
      <p:sp>
        <p:nvSpPr>
          <p:cNvPr id="23" name="Rechteck 22">
            <a:extLst>
              <a:ext uri="{FF2B5EF4-FFF2-40B4-BE49-F238E27FC236}">
                <a16:creationId xmlns:a16="http://schemas.microsoft.com/office/drawing/2014/main" id="{72D2F581-062E-F669-9F88-4FC311182AD1}"/>
              </a:ext>
            </a:extLst>
          </p:cNvPr>
          <p:cNvSpPr/>
          <p:nvPr/>
        </p:nvSpPr>
        <p:spPr>
          <a:xfrm>
            <a:off x="251520" y="1491630"/>
            <a:ext cx="4248474" cy="252028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24" name="Textfeld 23">
            <a:extLst>
              <a:ext uri="{FF2B5EF4-FFF2-40B4-BE49-F238E27FC236}">
                <a16:creationId xmlns:a16="http://schemas.microsoft.com/office/drawing/2014/main" id="{CB432144-7940-31E1-42BF-61007B3BF78B}"/>
              </a:ext>
            </a:extLst>
          </p:cNvPr>
          <p:cNvSpPr txBox="1"/>
          <p:nvPr/>
        </p:nvSpPr>
        <p:spPr>
          <a:xfrm>
            <a:off x="251520" y="3796466"/>
            <a:ext cx="716863" cy="215444"/>
          </a:xfrm>
          <a:prstGeom prst="rect">
            <a:avLst/>
          </a:prstGeom>
          <a:noFill/>
        </p:spPr>
        <p:txBody>
          <a:bodyPr wrap="none" rtlCol="0">
            <a:spAutoFit/>
          </a:bodyPr>
          <a:lstStyle/>
          <a:p>
            <a:r>
              <a:rPr lang="en-US" sz="800" noProof="0" dirty="0"/>
              <a:t>3sim02a.png</a:t>
            </a:r>
          </a:p>
        </p:txBody>
      </p:sp>
      <p:sp>
        <p:nvSpPr>
          <p:cNvPr id="25" name="Textfeld 24">
            <a:extLst>
              <a:ext uri="{FF2B5EF4-FFF2-40B4-BE49-F238E27FC236}">
                <a16:creationId xmlns:a16="http://schemas.microsoft.com/office/drawing/2014/main" id="{718065EE-9F97-7A98-8ED0-D02968179C93}"/>
              </a:ext>
            </a:extLst>
          </p:cNvPr>
          <p:cNvSpPr txBox="1"/>
          <p:nvPr/>
        </p:nvSpPr>
        <p:spPr>
          <a:xfrm>
            <a:off x="4644008" y="3796466"/>
            <a:ext cx="721672" cy="215444"/>
          </a:xfrm>
          <a:prstGeom prst="rect">
            <a:avLst/>
          </a:prstGeom>
          <a:noFill/>
        </p:spPr>
        <p:txBody>
          <a:bodyPr wrap="none" rtlCol="0">
            <a:spAutoFit/>
          </a:bodyPr>
          <a:lstStyle/>
          <a:p>
            <a:r>
              <a:rPr lang="en-US" sz="800" noProof="0" dirty="0"/>
              <a:t>3sim02b.png</a:t>
            </a:r>
          </a:p>
        </p:txBody>
      </p:sp>
      <p:sp>
        <p:nvSpPr>
          <p:cNvPr id="26" name="Textfeld 25">
            <a:extLst>
              <a:ext uri="{FF2B5EF4-FFF2-40B4-BE49-F238E27FC236}">
                <a16:creationId xmlns:a16="http://schemas.microsoft.com/office/drawing/2014/main" id="{E708FA15-7E54-E020-9520-026EE984136B}"/>
              </a:ext>
            </a:extLst>
          </p:cNvPr>
          <p:cNvSpPr txBox="1"/>
          <p:nvPr/>
        </p:nvSpPr>
        <p:spPr>
          <a:xfrm>
            <a:off x="1187624" y="4065915"/>
            <a:ext cx="3888432" cy="954107"/>
          </a:xfrm>
          <a:prstGeom prst="rect">
            <a:avLst/>
          </a:prstGeom>
          <a:noFill/>
        </p:spPr>
        <p:txBody>
          <a:bodyPr wrap="square">
            <a:spAutoFit/>
          </a:bodyPr>
          <a:lstStyle/>
          <a:p>
            <a:r>
              <a:rPr lang="en-US" sz="700" noProof="0" dirty="0">
                <a:latin typeface="Courier New" panose="02070309020205020404" pitchFamily="49" charset="0"/>
                <a:cs typeface="Courier New" panose="02070309020205020404" pitchFamily="49" charset="0"/>
              </a:rPr>
              <a:t>N = 10                       # Size of the lattice</a:t>
            </a:r>
          </a:p>
          <a:p>
            <a:r>
              <a:rPr lang="en-US" sz="700" noProof="0" dirty="0">
                <a:latin typeface="Courier New" panose="02070309020205020404" pitchFamily="49" charset="0"/>
                <a:cs typeface="Courier New" panose="02070309020205020404" pitchFamily="49" charset="0"/>
              </a:rPr>
              <a:t>T = 50                       # Maximum number of time steps</a:t>
            </a:r>
          </a:p>
          <a:p>
            <a:r>
              <a:rPr lang="en-US" sz="700" noProof="0" dirty="0">
                <a:latin typeface="Courier New" panose="02070309020205020404" pitchFamily="49" charset="0"/>
                <a:cs typeface="Courier New" panose="02070309020205020404" pitchFamily="49" charset="0"/>
              </a:rPr>
              <a:t>NF = 40                      # Initial number of fish</a:t>
            </a:r>
          </a:p>
          <a:p>
            <a:r>
              <a:rPr lang="en-US" sz="700" noProof="0" dirty="0">
                <a:latin typeface="Courier New" panose="02070309020205020404" pitchFamily="49" charset="0"/>
                <a:cs typeface="Courier New" panose="02070309020205020404" pitchFamily="49" charset="0"/>
              </a:rPr>
              <a:t>NS = 4                       # Initial number of sharks</a:t>
            </a:r>
          </a:p>
          <a:p>
            <a:r>
              <a:rPr lang="en-US" sz="700" noProof="0" dirty="0">
                <a:latin typeface="Courier New" panose="02070309020205020404" pitchFamily="49" charset="0"/>
                <a:cs typeface="Courier New" panose="02070309020205020404" pitchFamily="49" charset="0"/>
              </a:rPr>
              <a:t>NH = 1                       # Initial number of hunter sharks</a:t>
            </a:r>
          </a:p>
          <a:p>
            <a:r>
              <a:rPr lang="en-US" sz="700" noProof="0" dirty="0">
                <a:latin typeface="Courier New" panose="02070309020205020404" pitchFamily="49" charset="0"/>
                <a:cs typeface="Courier New" panose="02070309020205020404" pitchFamily="49" charset="0"/>
              </a:rPr>
              <a:t>FISH_BREEDING_TIME = 5       # Time steps for fish to breed</a:t>
            </a:r>
          </a:p>
          <a:p>
            <a:r>
              <a:rPr lang="en-US" sz="700" noProof="0" dirty="0">
                <a:latin typeface="Courier New" panose="02070309020205020404" pitchFamily="49" charset="0"/>
                <a:cs typeface="Courier New" panose="02070309020205020404" pitchFamily="49" charset="0"/>
              </a:rPr>
              <a:t>SHARK_BREEDING_TIME = 9      # Time steps for sharks to breed</a:t>
            </a:r>
          </a:p>
          <a:p>
            <a:r>
              <a:rPr lang="en-US" sz="700" noProof="0" dirty="0">
                <a:latin typeface="Courier New" panose="02070309020205020404" pitchFamily="49" charset="0"/>
                <a:cs typeface="Courier New" panose="02070309020205020404" pitchFamily="49" charset="0"/>
              </a:rPr>
              <a:t>HUNTER_BREEDING_TIME = 9     # Time steps for hunter sharks to breed</a:t>
            </a:r>
          </a:p>
        </p:txBody>
      </p:sp>
    </p:spTree>
    <p:extLst>
      <p:ext uri="{BB962C8B-B14F-4D97-AF65-F5344CB8AC3E}">
        <p14:creationId xmlns:p14="http://schemas.microsoft.com/office/powerpoint/2010/main" val="10915350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hteck 40">
            <a:extLst>
              <a:ext uri="{FF2B5EF4-FFF2-40B4-BE49-F238E27FC236}">
                <a16:creationId xmlns:a16="http://schemas.microsoft.com/office/drawing/2014/main" id="{8AAD6AF3-79C4-9038-71D3-02C120306091}"/>
              </a:ext>
            </a:extLst>
          </p:cNvPr>
          <p:cNvSpPr/>
          <p:nvPr/>
        </p:nvSpPr>
        <p:spPr>
          <a:xfrm>
            <a:off x="971600" y="1851670"/>
            <a:ext cx="1440152" cy="1440158"/>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el 1">
            <a:extLst>
              <a:ext uri="{FF2B5EF4-FFF2-40B4-BE49-F238E27FC236}">
                <a16:creationId xmlns:a16="http://schemas.microsoft.com/office/drawing/2014/main" id="{489EED24-C64C-5E07-BF7B-190DC0A63136}"/>
              </a:ext>
            </a:extLst>
          </p:cNvPr>
          <p:cNvSpPr>
            <a:spLocks noGrp="1"/>
          </p:cNvSpPr>
          <p:nvPr>
            <p:ph type="title"/>
          </p:nvPr>
        </p:nvSpPr>
        <p:spPr/>
        <p:txBody>
          <a:bodyPr/>
          <a:lstStyle/>
          <a:p>
            <a:r>
              <a:rPr lang="en-US" noProof="0" dirty="0"/>
              <a:t>Finally, let’s add a sanctuary for the fish population where it cannot fall prey to the shark</a:t>
            </a:r>
          </a:p>
        </p:txBody>
      </p:sp>
      <p:sp>
        <p:nvSpPr>
          <p:cNvPr id="3" name="Rechteck 2">
            <a:extLst>
              <a:ext uri="{FF2B5EF4-FFF2-40B4-BE49-F238E27FC236}">
                <a16:creationId xmlns:a16="http://schemas.microsoft.com/office/drawing/2014/main" id="{E7A4ED9E-4DB6-46FB-72C5-6950C93C2AEB}"/>
              </a:ext>
            </a:extLst>
          </p:cNvPr>
          <p:cNvSpPr/>
          <p:nvPr/>
        </p:nvSpPr>
        <p:spPr>
          <a:xfrm>
            <a:off x="3851920" y="1131590"/>
            <a:ext cx="504056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We introduce a sanctuary for the fish population</a:t>
            </a:r>
          </a:p>
          <a:p>
            <a:pPr marL="182563" indent="-182563" algn="just">
              <a:spcAft>
                <a:spcPts val="600"/>
              </a:spcAft>
              <a:buFont typeface="Arial" panose="020B0604020202020204" pitchFamily="34" charset="0"/>
              <a:buChar char="•"/>
            </a:pPr>
            <a:r>
              <a:rPr lang="en-US" sz="1400" noProof="0" dirty="0">
                <a:solidFill>
                  <a:schemeClr val="tx1"/>
                </a:solidFill>
              </a:rPr>
              <a:t>where it cannot fall prey to neither of the shark sub-populations (safe harbor),</a:t>
            </a:r>
          </a:p>
          <a:p>
            <a:pPr marL="182563" indent="-182563" algn="just">
              <a:spcAft>
                <a:spcPts val="600"/>
              </a:spcAft>
              <a:buFont typeface="Arial" panose="020B0604020202020204" pitchFamily="34" charset="0"/>
              <a:buChar char="•"/>
            </a:pPr>
            <a:r>
              <a:rPr lang="en-US" sz="1400" noProof="0" dirty="0">
                <a:solidFill>
                  <a:schemeClr val="tx1"/>
                </a:solidFill>
              </a:rPr>
              <a:t>and can thus  proliferate and from there continue occupying the whole of </a:t>
            </a:r>
            <a:r>
              <a:rPr lang="en-US" sz="1400" noProof="0" dirty="0" err="1">
                <a:solidFill>
                  <a:schemeClr val="tx1"/>
                </a:solidFill>
              </a:rPr>
              <a:t>Wa</a:t>
            </a:r>
            <a:r>
              <a:rPr lang="en-US" sz="1400" noProof="0" dirty="0">
                <a:solidFill>
                  <a:schemeClr val="tx1"/>
                </a:solidFill>
              </a:rPr>
              <a:t>-Tor (breeding center).</a:t>
            </a:r>
          </a:p>
          <a:p>
            <a:pPr algn="just">
              <a:spcAft>
                <a:spcPts val="600"/>
              </a:spcAft>
            </a:pPr>
            <a:endParaRPr lang="en-US" sz="1400" noProof="0" dirty="0">
              <a:solidFill>
                <a:schemeClr val="tx1"/>
              </a:solidFill>
            </a:endParaRPr>
          </a:p>
          <a:p>
            <a:pPr algn="just">
              <a:spcAft>
                <a:spcPts val="600"/>
              </a:spcAft>
            </a:pPr>
            <a:r>
              <a:rPr lang="en-US" sz="1400" noProof="0" dirty="0">
                <a:solidFill>
                  <a:schemeClr val="tx1"/>
                </a:solidFill>
              </a:rPr>
              <a:t>The sanctuary is located at the center of the lattice and, in this case, has the size ½ N </a:t>
            </a:r>
            <a:r>
              <a:rPr lang="en-US" sz="1400" noProof="0" dirty="0">
                <a:solidFill>
                  <a:schemeClr val="tx1"/>
                </a:solidFill>
                <a:sym typeface="Symbol" panose="05050102010706020507" pitchFamily="18" charset="2"/>
              </a:rPr>
              <a:t> ½ N.</a:t>
            </a:r>
            <a:endParaRPr lang="en-US" sz="1400" noProof="0" dirty="0">
              <a:solidFill>
                <a:schemeClr val="tx1"/>
              </a:solidFill>
            </a:endParaRPr>
          </a:p>
        </p:txBody>
      </p:sp>
      <p:cxnSp>
        <p:nvCxnSpPr>
          <p:cNvPr id="5" name="Gerader Verbinder 4">
            <a:extLst>
              <a:ext uri="{FF2B5EF4-FFF2-40B4-BE49-F238E27FC236}">
                <a16:creationId xmlns:a16="http://schemas.microsoft.com/office/drawing/2014/main" id="{E14E7960-B16E-690B-3722-AFD6DDAC5EF8}"/>
              </a:ext>
            </a:extLst>
          </p:cNvPr>
          <p:cNvCxnSpPr/>
          <p:nvPr/>
        </p:nvCxnSpPr>
        <p:spPr>
          <a:xfrm>
            <a:off x="251520" y="1131590"/>
            <a:ext cx="2880320"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7" name="Gerader Verbinder 6">
            <a:extLst>
              <a:ext uri="{FF2B5EF4-FFF2-40B4-BE49-F238E27FC236}">
                <a16:creationId xmlns:a16="http://schemas.microsoft.com/office/drawing/2014/main" id="{7C71121E-2A0D-AC5A-9501-EBE74497E8D4}"/>
              </a:ext>
            </a:extLst>
          </p:cNvPr>
          <p:cNvCxnSpPr/>
          <p:nvPr/>
        </p:nvCxnSpPr>
        <p:spPr>
          <a:xfrm>
            <a:off x="251520" y="1131590"/>
            <a:ext cx="0" cy="288032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Gerader Verbinder 8">
            <a:extLst>
              <a:ext uri="{FF2B5EF4-FFF2-40B4-BE49-F238E27FC236}">
                <a16:creationId xmlns:a16="http://schemas.microsoft.com/office/drawing/2014/main" id="{573C155D-00BF-42D4-0758-895B3F0B1F29}"/>
              </a:ext>
            </a:extLst>
          </p:cNvPr>
          <p:cNvCxnSpPr/>
          <p:nvPr/>
        </p:nvCxnSpPr>
        <p:spPr>
          <a:xfrm>
            <a:off x="251520" y="4011910"/>
            <a:ext cx="2880320"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Gerader Verbinder 10">
            <a:extLst>
              <a:ext uri="{FF2B5EF4-FFF2-40B4-BE49-F238E27FC236}">
                <a16:creationId xmlns:a16="http://schemas.microsoft.com/office/drawing/2014/main" id="{346C6AFE-B164-B572-DBC1-199F957F3C4B}"/>
              </a:ext>
            </a:extLst>
          </p:cNvPr>
          <p:cNvCxnSpPr/>
          <p:nvPr/>
        </p:nvCxnSpPr>
        <p:spPr>
          <a:xfrm>
            <a:off x="3131840" y="1131590"/>
            <a:ext cx="0" cy="288032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Gerader Verbinder 12">
            <a:extLst>
              <a:ext uri="{FF2B5EF4-FFF2-40B4-BE49-F238E27FC236}">
                <a16:creationId xmlns:a16="http://schemas.microsoft.com/office/drawing/2014/main" id="{58A0A53B-BF58-0F10-5EEF-BA6BB2737810}"/>
              </a:ext>
            </a:extLst>
          </p:cNvPr>
          <p:cNvCxnSpPr/>
          <p:nvPr/>
        </p:nvCxnSpPr>
        <p:spPr>
          <a:xfrm>
            <a:off x="971600" y="1851670"/>
            <a:ext cx="0" cy="1440160"/>
          </a:xfrm>
          <a:prstGeom prst="lin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Gerader Verbinder 14">
            <a:extLst>
              <a:ext uri="{FF2B5EF4-FFF2-40B4-BE49-F238E27FC236}">
                <a16:creationId xmlns:a16="http://schemas.microsoft.com/office/drawing/2014/main" id="{BA0A2A03-038A-E8F6-D80B-EE430976F21A}"/>
              </a:ext>
            </a:extLst>
          </p:cNvPr>
          <p:cNvCxnSpPr/>
          <p:nvPr/>
        </p:nvCxnSpPr>
        <p:spPr>
          <a:xfrm>
            <a:off x="971600" y="1851670"/>
            <a:ext cx="1440160" cy="0"/>
          </a:xfrm>
          <a:prstGeom prst="lin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Gerader Verbinder 16">
            <a:extLst>
              <a:ext uri="{FF2B5EF4-FFF2-40B4-BE49-F238E27FC236}">
                <a16:creationId xmlns:a16="http://schemas.microsoft.com/office/drawing/2014/main" id="{7171A9B3-BA7F-015E-7457-185278B203F2}"/>
              </a:ext>
            </a:extLst>
          </p:cNvPr>
          <p:cNvCxnSpPr/>
          <p:nvPr/>
        </p:nvCxnSpPr>
        <p:spPr>
          <a:xfrm>
            <a:off x="2411760" y="1851670"/>
            <a:ext cx="0" cy="1440160"/>
          </a:xfrm>
          <a:prstGeom prst="lin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Gerader Verbinder 18">
            <a:extLst>
              <a:ext uri="{FF2B5EF4-FFF2-40B4-BE49-F238E27FC236}">
                <a16:creationId xmlns:a16="http://schemas.microsoft.com/office/drawing/2014/main" id="{E41FE4D2-BF59-165A-9781-DA0B6AF2B468}"/>
              </a:ext>
            </a:extLst>
          </p:cNvPr>
          <p:cNvCxnSpPr>
            <a:cxnSpLocks/>
          </p:cNvCxnSpPr>
          <p:nvPr/>
        </p:nvCxnSpPr>
        <p:spPr>
          <a:xfrm>
            <a:off x="971600" y="3291830"/>
            <a:ext cx="1440160" cy="0"/>
          </a:xfrm>
          <a:prstGeom prst="lin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22" name="Gerader Verbinder 21">
            <a:extLst>
              <a:ext uri="{FF2B5EF4-FFF2-40B4-BE49-F238E27FC236}">
                <a16:creationId xmlns:a16="http://schemas.microsoft.com/office/drawing/2014/main" id="{8607EB35-2469-69EB-E2B1-B51FDCF9645D}"/>
              </a:ext>
            </a:extLst>
          </p:cNvPr>
          <p:cNvCxnSpPr/>
          <p:nvPr/>
        </p:nvCxnSpPr>
        <p:spPr>
          <a:xfrm>
            <a:off x="1691680" y="1131590"/>
            <a:ext cx="0" cy="288032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4" name="Gerader Verbinder 23">
            <a:extLst>
              <a:ext uri="{FF2B5EF4-FFF2-40B4-BE49-F238E27FC236}">
                <a16:creationId xmlns:a16="http://schemas.microsoft.com/office/drawing/2014/main" id="{3A3AD746-3397-38F8-7076-1175040DA6E3}"/>
              </a:ext>
            </a:extLst>
          </p:cNvPr>
          <p:cNvCxnSpPr/>
          <p:nvPr/>
        </p:nvCxnSpPr>
        <p:spPr>
          <a:xfrm>
            <a:off x="251520" y="2571750"/>
            <a:ext cx="2880320"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6" name="Gerader Verbinder 25">
            <a:extLst>
              <a:ext uri="{FF2B5EF4-FFF2-40B4-BE49-F238E27FC236}">
                <a16:creationId xmlns:a16="http://schemas.microsoft.com/office/drawing/2014/main" id="{A3EAAD03-07E3-7001-EB59-51E91A2A691B}"/>
              </a:ext>
            </a:extLst>
          </p:cNvPr>
          <p:cNvCxnSpPr/>
          <p:nvPr/>
        </p:nvCxnSpPr>
        <p:spPr>
          <a:xfrm>
            <a:off x="971600" y="1131590"/>
            <a:ext cx="0" cy="72008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8" name="Gerader Verbinder 27">
            <a:extLst>
              <a:ext uri="{FF2B5EF4-FFF2-40B4-BE49-F238E27FC236}">
                <a16:creationId xmlns:a16="http://schemas.microsoft.com/office/drawing/2014/main" id="{8F86A409-CAFE-09EE-6185-90F01559EEAB}"/>
              </a:ext>
            </a:extLst>
          </p:cNvPr>
          <p:cNvCxnSpPr/>
          <p:nvPr/>
        </p:nvCxnSpPr>
        <p:spPr>
          <a:xfrm>
            <a:off x="251520" y="1851670"/>
            <a:ext cx="720080"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0" name="Gerader Verbinder 29">
            <a:extLst>
              <a:ext uri="{FF2B5EF4-FFF2-40B4-BE49-F238E27FC236}">
                <a16:creationId xmlns:a16="http://schemas.microsoft.com/office/drawing/2014/main" id="{C95BA35B-B24D-0226-45A5-AF69416BBD1A}"/>
              </a:ext>
            </a:extLst>
          </p:cNvPr>
          <p:cNvCxnSpPr/>
          <p:nvPr/>
        </p:nvCxnSpPr>
        <p:spPr>
          <a:xfrm flipV="1">
            <a:off x="2411760" y="1131590"/>
            <a:ext cx="0" cy="72008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2" name="Gerader Verbinder 31">
            <a:extLst>
              <a:ext uri="{FF2B5EF4-FFF2-40B4-BE49-F238E27FC236}">
                <a16:creationId xmlns:a16="http://schemas.microsoft.com/office/drawing/2014/main" id="{814AED23-6AC5-D79F-8071-5DA260C778A4}"/>
              </a:ext>
            </a:extLst>
          </p:cNvPr>
          <p:cNvCxnSpPr/>
          <p:nvPr/>
        </p:nvCxnSpPr>
        <p:spPr>
          <a:xfrm>
            <a:off x="2411760" y="1851670"/>
            <a:ext cx="720080"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4" name="Gerader Verbinder 33">
            <a:extLst>
              <a:ext uri="{FF2B5EF4-FFF2-40B4-BE49-F238E27FC236}">
                <a16:creationId xmlns:a16="http://schemas.microsoft.com/office/drawing/2014/main" id="{9C88C4B2-31AF-7F69-0C3E-8DAF5274001D}"/>
              </a:ext>
            </a:extLst>
          </p:cNvPr>
          <p:cNvCxnSpPr/>
          <p:nvPr/>
        </p:nvCxnSpPr>
        <p:spPr>
          <a:xfrm>
            <a:off x="251520" y="3291830"/>
            <a:ext cx="720080"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Gerader Verbinder 35">
            <a:extLst>
              <a:ext uri="{FF2B5EF4-FFF2-40B4-BE49-F238E27FC236}">
                <a16:creationId xmlns:a16="http://schemas.microsoft.com/office/drawing/2014/main" id="{8C641079-A4EA-A9AE-A73C-39EC971B8BB9}"/>
              </a:ext>
            </a:extLst>
          </p:cNvPr>
          <p:cNvCxnSpPr/>
          <p:nvPr/>
        </p:nvCxnSpPr>
        <p:spPr>
          <a:xfrm>
            <a:off x="971600" y="3291830"/>
            <a:ext cx="0" cy="72008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8" name="Gerader Verbinder 37">
            <a:extLst>
              <a:ext uri="{FF2B5EF4-FFF2-40B4-BE49-F238E27FC236}">
                <a16:creationId xmlns:a16="http://schemas.microsoft.com/office/drawing/2014/main" id="{CE57F276-015E-77C7-2F5B-9AEC00037FA4}"/>
              </a:ext>
            </a:extLst>
          </p:cNvPr>
          <p:cNvCxnSpPr/>
          <p:nvPr/>
        </p:nvCxnSpPr>
        <p:spPr>
          <a:xfrm>
            <a:off x="2411760" y="3291830"/>
            <a:ext cx="720080" cy="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40" name="Gerader Verbinder 39">
            <a:extLst>
              <a:ext uri="{FF2B5EF4-FFF2-40B4-BE49-F238E27FC236}">
                <a16:creationId xmlns:a16="http://schemas.microsoft.com/office/drawing/2014/main" id="{DBE826FB-BD89-23C9-ABFC-BED2E0750F8E}"/>
              </a:ext>
            </a:extLst>
          </p:cNvPr>
          <p:cNvCxnSpPr/>
          <p:nvPr/>
        </p:nvCxnSpPr>
        <p:spPr>
          <a:xfrm>
            <a:off x="2411760" y="3291830"/>
            <a:ext cx="0" cy="720080"/>
          </a:xfrm>
          <a:prstGeom prst="lin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Gerader Verbinder 42">
            <a:extLst>
              <a:ext uri="{FF2B5EF4-FFF2-40B4-BE49-F238E27FC236}">
                <a16:creationId xmlns:a16="http://schemas.microsoft.com/office/drawing/2014/main" id="{0A50F242-8958-A4B1-A147-A9A7A33B72B0}"/>
              </a:ext>
            </a:extLst>
          </p:cNvPr>
          <p:cNvCxnSpPr/>
          <p:nvPr/>
        </p:nvCxnSpPr>
        <p:spPr>
          <a:xfrm flipH="1">
            <a:off x="539552" y="2931790"/>
            <a:ext cx="648072" cy="792088"/>
          </a:xfrm>
          <a:prstGeom prst="lin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44" name="Gerader Verbinder 43">
            <a:extLst>
              <a:ext uri="{FF2B5EF4-FFF2-40B4-BE49-F238E27FC236}">
                <a16:creationId xmlns:a16="http://schemas.microsoft.com/office/drawing/2014/main" id="{8E819839-024F-BE74-7E53-62DF1A4C713E}"/>
              </a:ext>
            </a:extLst>
          </p:cNvPr>
          <p:cNvCxnSpPr>
            <a:cxnSpLocks/>
          </p:cNvCxnSpPr>
          <p:nvPr/>
        </p:nvCxnSpPr>
        <p:spPr>
          <a:xfrm flipH="1">
            <a:off x="531169" y="3723878"/>
            <a:ext cx="8375" cy="720079"/>
          </a:xfrm>
          <a:prstGeom prst="lin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47" name="Textfeld 46">
            <a:extLst>
              <a:ext uri="{FF2B5EF4-FFF2-40B4-BE49-F238E27FC236}">
                <a16:creationId xmlns:a16="http://schemas.microsoft.com/office/drawing/2014/main" id="{4B74660F-5648-08DD-3572-81FE93482EEB}"/>
              </a:ext>
            </a:extLst>
          </p:cNvPr>
          <p:cNvSpPr txBox="1"/>
          <p:nvPr/>
        </p:nvSpPr>
        <p:spPr>
          <a:xfrm>
            <a:off x="539552" y="4227934"/>
            <a:ext cx="1200265" cy="307777"/>
          </a:xfrm>
          <a:prstGeom prst="rect">
            <a:avLst/>
          </a:prstGeom>
          <a:noFill/>
        </p:spPr>
        <p:txBody>
          <a:bodyPr wrap="none" rtlCol="0">
            <a:spAutoFit/>
          </a:bodyPr>
          <a:lstStyle/>
          <a:p>
            <a:r>
              <a:rPr lang="en-US" sz="1400" noProof="0"/>
              <a:t>fish sanctuary</a:t>
            </a:r>
          </a:p>
        </p:txBody>
      </p:sp>
    </p:spTree>
    <p:extLst>
      <p:ext uri="{BB962C8B-B14F-4D97-AF65-F5344CB8AC3E}">
        <p14:creationId xmlns:p14="http://schemas.microsoft.com/office/powerpoint/2010/main" val="38974868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E5F41-9E9D-7A89-5909-513F8E65AB0F}"/>
            </a:ext>
          </a:extLst>
        </p:cNvPr>
        <p:cNvGrpSpPr/>
        <p:nvPr/>
      </p:nvGrpSpPr>
      <p:grpSpPr>
        <a:xfrm>
          <a:off x="0" y="0"/>
          <a:ext cx="0" cy="0"/>
          <a:chOff x="0" y="0"/>
          <a:chExt cx="0" cy="0"/>
        </a:xfrm>
      </p:grpSpPr>
      <p:pic>
        <p:nvPicPr>
          <p:cNvPr id="8" name="Grafik 7">
            <a:extLst>
              <a:ext uri="{FF2B5EF4-FFF2-40B4-BE49-F238E27FC236}">
                <a16:creationId xmlns:a16="http://schemas.microsoft.com/office/drawing/2014/main" id="{E008B66F-B31C-53E8-A54A-D56CD28A7F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3984" y="1508364"/>
            <a:ext cx="2503546" cy="2503546"/>
          </a:xfrm>
          <a:prstGeom prst="rect">
            <a:avLst/>
          </a:prstGeom>
        </p:spPr>
      </p:pic>
      <p:pic>
        <p:nvPicPr>
          <p:cNvPr id="5" name="Grafik 4">
            <a:extLst>
              <a:ext uri="{FF2B5EF4-FFF2-40B4-BE49-F238E27FC236}">
                <a16:creationId xmlns:a16="http://schemas.microsoft.com/office/drawing/2014/main" id="{073AD842-1515-6119-DFCE-29594AB204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8018" y="1527635"/>
            <a:ext cx="4080452" cy="2448271"/>
          </a:xfrm>
          <a:prstGeom prst="rect">
            <a:avLst/>
          </a:prstGeom>
        </p:spPr>
      </p:pic>
      <p:sp>
        <p:nvSpPr>
          <p:cNvPr id="2" name="Titel 1">
            <a:extLst>
              <a:ext uri="{FF2B5EF4-FFF2-40B4-BE49-F238E27FC236}">
                <a16:creationId xmlns:a16="http://schemas.microsoft.com/office/drawing/2014/main" id="{1F84CC3C-8812-9D29-4216-D6700D7C0D90}"/>
              </a:ext>
            </a:extLst>
          </p:cNvPr>
          <p:cNvSpPr>
            <a:spLocks noGrp="1"/>
          </p:cNvSpPr>
          <p:nvPr>
            <p:ph type="title"/>
          </p:nvPr>
        </p:nvSpPr>
        <p:spPr/>
        <p:txBody>
          <a:bodyPr/>
          <a:lstStyle/>
          <a:p>
            <a:r>
              <a:rPr lang="en-US" noProof="0" dirty="0"/>
              <a:t>Simulation:</a:t>
            </a:r>
            <a:br>
              <a:rPr lang="en-US" noProof="0" dirty="0"/>
            </a:br>
            <a:r>
              <a:rPr lang="en-US" noProof="0" dirty="0"/>
              <a:t>2</a:t>
            </a:r>
            <a:r>
              <a:rPr lang="en-US" baseline="30000" noProof="0" dirty="0"/>
              <a:t>nd</a:t>
            </a:r>
            <a:r>
              <a:rPr lang="en-US" noProof="0" dirty="0"/>
              <a:t> run</a:t>
            </a:r>
          </a:p>
        </p:txBody>
      </p:sp>
      <p:sp>
        <p:nvSpPr>
          <p:cNvPr id="19" name="Rechteck 18">
            <a:extLst>
              <a:ext uri="{FF2B5EF4-FFF2-40B4-BE49-F238E27FC236}">
                <a16:creationId xmlns:a16="http://schemas.microsoft.com/office/drawing/2014/main" id="{B9F8F79B-55CD-99D9-0CE0-C22057A83835}"/>
              </a:ext>
            </a:extLst>
          </p:cNvPr>
          <p:cNvSpPr/>
          <p:nvPr/>
        </p:nvSpPr>
        <p:spPr>
          <a:xfrm>
            <a:off x="4644007" y="1131590"/>
            <a:ext cx="4248473"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Time Evolution</a:t>
            </a:r>
          </a:p>
        </p:txBody>
      </p:sp>
      <p:sp>
        <p:nvSpPr>
          <p:cNvPr id="20" name="Rechteck 19">
            <a:extLst>
              <a:ext uri="{FF2B5EF4-FFF2-40B4-BE49-F238E27FC236}">
                <a16:creationId xmlns:a16="http://schemas.microsoft.com/office/drawing/2014/main" id="{7B378AD5-30F9-ED40-1A3B-A72101008D52}"/>
              </a:ext>
            </a:extLst>
          </p:cNvPr>
          <p:cNvSpPr/>
          <p:nvPr/>
        </p:nvSpPr>
        <p:spPr>
          <a:xfrm>
            <a:off x="251520" y="1131590"/>
            <a:ext cx="4248473" cy="288032"/>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Movement on the Toroidal Grid (sim06)</a:t>
            </a:r>
          </a:p>
        </p:txBody>
      </p:sp>
      <p:sp>
        <p:nvSpPr>
          <p:cNvPr id="21" name="Rechteck 20">
            <a:extLst>
              <a:ext uri="{FF2B5EF4-FFF2-40B4-BE49-F238E27FC236}">
                <a16:creationId xmlns:a16="http://schemas.microsoft.com/office/drawing/2014/main" id="{08BE6E0D-F36E-FD16-204E-1643A13A3563}"/>
              </a:ext>
            </a:extLst>
          </p:cNvPr>
          <p:cNvSpPr/>
          <p:nvPr/>
        </p:nvSpPr>
        <p:spPr>
          <a:xfrm>
            <a:off x="4644007" y="1491630"/>
            <a:ext cx="4248474" cy="252028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22" name="Textfeld 21">
            <a:extLst>
              <a:ext uri="{FF2B5EF4-FFF2-40B4-BE49-F238E27FC236}">
                <a16:creationId xmlns:a16="http://schemas.microsoft.com/office/drawing/2014/main" id="{D49080C7-5CAD-1E3F-C553-FB1C88AF39BA}"/>
              </a:ext>
            </a:extLst>
          </p:cNvPr>
          <p:cNvSpPr txBox="1"/>
          <p:nvPr/>
        </p:nvSpPr>
        <p:spPr>
          <a:xfrm>
            <a:off x="5220072" y="4604524"/>
            <a:ext cx="3672408" cy="415498"/>
          </a:xfrm>
          <a:prstGeom prst="rect">
            <a:avLst/>
          </a:prstGeom>
          <a:noFill/>
        </p:spPr>
        <p:txBody>
          <a:bodyPr wrap="square">
            <a:spAutoFit/>
          </a:bodyPr>
          <a:lstStyle/>
          <a:p>
            <a:r>
              <a:rPr lang="en-US" sz="700" noProof="0" dirty="0">
                <a:latin typeface="Courier New" panose="02070309020205020404" pitchFamily="49" charset="0"/>
                <a:cs typeface="Courier New" panose="02070309020205020404" pitchFamily="49" charset="0"/>
              </a:rPr>
              <a:t>SHARK_STARVATION_TIME = 5     # Time steps for sharks to starve</a:t>
            </a:r>
          </a:p>
          <a:p>
            <a:r>
              <a:rPr lang="en-US" sz="700" noProof="0" dirty="0">
                <a:latin typeface="Courier New" panose="02070309020205020404" pitchFamily="49" charset="0"/>
                <a:cs typeface="Courier New" panose="02070309020205020404" pitchFamily="49" charset="0"/>
              </a:rPr>
              <a:t>HUNTER_STARVATION_TIME = 8    # Time steps for sharks to starve</a:t>
            </a:r>
          </a:p>
          <a:p>
            <a:r>
              <a:rPr lang="en-US" sz="700" noProof="0" dirty="0">
                <a:latin typeface="Courier New" panose="02070309020205020404" pitchFamily="49" charset="0"/>
                <a:cs typeface="Courier New" panose="02070309020205020404" pitchFamily="49" charset="0"/>
              </a:rPr>
              <a:t>BREEDING_ENERGY = 10          # Minimum resource level to breed</a:t>
            </a:r>
          </a:p>
        </p:txBody>
      </p:sp>
      <p:sp>
        <p:nvSpPr>
          <p:cNvPr id="23" name="Rechteck 22">
            <a:extLst>
              <a:ext uri="{FF2B5EF4-FFF2-40B4-BE49-F238E27FC236}">
                <a16:creationId xmlns:a16="http://schemas.microsoft.com/office/drawing/2014/main" id="{A52A961C-07D3-1ABA-647F-38604132FD11}"/>
              </a:ext>
            </a:extLst>
          </p:cNvPr>
          <p:cNvSpPr/>
          <p:nvPr/>
        </p:nvSpPr>
        <p:spPr>
          <a:xfrm>
            <a:off x="251520" y="1491630"/>
            <a:ext cx="4248474" cy="252028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26" name="Textfeld 25">
            <a:extLst>
              <a:ext uri="{FF2B5EF4-FFF2-40B4-BE49-F238E27FC236}">
                <a16:creationId xmlns:a16="http://schemas.microsoft.com/office/drawing/2014/main" id="{060DBE80-3112-FF50-0C40-B3736A3D337C}"/>
              </a:ext>
            </a:extLst>
          </p:cNvPr>
          <p:cNvSpPr txBox="1"/>
          <p:nvPr/>
        </p:nvSpPr>
        <p:spPr>
          <a:xfrm>
            <a:off x="1187624" y="4065915"/>
            <a:ext cx="3888432" cy="954107"/>
          </a:xfrm>
          <a:prstGeom prst="rect">
            <a:avLst/>
          </a:prstGeom>
          <a:noFill/>
        </p:spPr>
        <p:txBody>
          <a:bodyPr wrap="square">
            <a:spAutoFit/>
          </a:bodyPr>
          <a:lstStyle/>
          <a:p>
            <a:r>
              <a:rPr lang="en-US" sz="700" noProof="0" dirty="0">
                <a:latin typeface="Courier New" panose="02070309020205020404" pitchFamily="49" charset="0"/>
                <a:cs typeface="Courier New" panose="02070309020205020404" pitchFamily="49" charset="0"/>
              </a:rPr>
              <a:t>N = 50                       # Size of the lattice</a:t>
            </a:r>
          </a:p>
          <a:p>
            <a:r>
              <a:rPr lang="en-US" sz="700" noProof="0" dirty="0">
                <a:latin typeface="Courier New" panose="02070309020205020404" pitchFamily="49" charset="0"/>
                <a:cs typeface="Courier New" panose="02070309020205020404" pitchFamily="49" charset="0"/>
              </a:rPr>
              <a:t>T = 200                      # Maximum number of time steps</a:t>
            </a:r>
          </a:p>
          <a:p>
            <a:r>
              <a:rPr lang="en-US" sz="700" noProof="0" dirty="0">
                <a:latin typeface="Courier New" panose="02070309020205020404" pitchFamily="49" charset="0"/>
                <a:cs typeface="Courier New" panose="02070309020205020404" pitchFamily="49" charset="0"/>
              </a:rPr>
              <a:t>NF = </a:t>
            </a:r>
            <a:r>
              <a:rPr lang="en-US" sz="700" dirty="0">
                <a:latin typeface="Courier New" panose="02070309020205020404" pitchFamily="49" charset="0"/>
                <a:cs typeface="Courier New" panose="02070309020205020404" pitchFamily="49" charset="0"/>
              </a:rPr>
              <a:t>500</a:t>
            </a:r>
            <a:r>
              <a:rPr lang="en-US" sz="700" noProof="0" dirty="0">
                <a:latin typeface="Courier New" panose="02070309020205020404" pitchFamily="49" charset="0"/>
                <a:cs typeface="Courier New" panose="02070309020205020404" pitchFamily="49" charset="0"/>
              </a:rPr>
              <a:t>                     # Initial number of fish</a:t>
            </a:r>
          </a:p>
          <a:p>
            <a:r>
              <a:rPr lang="en-US" sz="700" noProof="0" dirty="0">
                <a:latin typeface="Courier New" panose="02070309020205020404" pitchFamily="49" charset="0"/>
                <a:cs typeface="Courier New" panose="02070309020205020404" pitchFamily="49" charset="0"/>
              </a:rPr>
              <a:t>NS = 50                      # Initial number of sharks</a:t>
            </a:r>
          </a:p>
          <a:p>
            <a:r>
              <a:rPr lang="en-US" sz="700" noProof="0" dirty="0">
                <a:latin typeface="Courier New" panose="02070309020205020404" pitchFamily="49" charset="0"/>
                <a:cs typeface="Courier New" panose="02070309020205020404" pitchFamily="49" charset="0"/>
              </a:rPr>
              <a:t>NH = 10                      # Initial number of hunter sharks</a:t>
            </a:r>
          </a:p>
          <a:p>
            <a:r>
              <a:rPr lang="en-US" sz="700" noProof="0" dirty="0">
                <a:latin typeface="Courier New" panose="02070309020205020404" pitchFamily="49" charset="0"/>
                <a:cs typeface="Courier New" panose="02070309020205020404" pitchFamily="49" charset="0"/>
              </a:rPr>
              <a:t>FISH_BREEDING_TIME = 3       # Time steps for fish to breed</a:t>
            </a:r>
          </a:p>
          <a:p>
            <a:r>
              <a:rPr lang="en-US" sz="700" noProof="0" dirty="0">
                <a:latin typeface="Courier New" panose="02070309020205020404" pitchFamily="49" charset="0"/>
                <a:cs typeface="Courier New" panose="02070309020205020404" pitchFamily="49" charset="0"/>
              </a:rPr>
              <a:t>SHARK_BREEDING_TIME = 10     # Time steps for sharks to breed</a:t>
            </a:r>
          </a:p>
          <a:p>
            <a:r>
              <a:rPr lang="en-US" sz="700" noProof="0" dirty="0">
                <a:latin typeface="Courier New" panose="02070309020205020404" pitchFamily="49" charset="0"/>
                <a:cs typeface="Courier New" panose="02070309020205020404" pitchFamily="49" charset="0"/>
              </a:rPr>
              <a:t>HUNTER_BREEDING_TIME = 15    # Time steps for hunter sharks to breed</a:t>
            </a:r>
          </a:p>
        </p:txBody>
      </p:sp>
    </p:spTree>
    <p:extLst>
      <p:ext uri="{BB962C8B-B14F-4D97-AF65-F5344CB8AC3E}">
        <p14:creationId xmlns:p14="http://schemas.microsoft.com/office/powerpoint/2010/main" val="909377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ctrTitle"/>
          </p:nvPr>
        </p:nvSpPr>
        <p:spPr>
          <a:xfrm>
            <a:off x="3851920" y="1275606"/>
            <a:ext cx="5040560" cy="864095"/>
          </a:xfrm>
        </p:spPr>
        <p:txBody>
          <a:bodyPr/>
          <a:lstStyle/>
          <a:p>
            <a:r>
              <a:rPr lang="en-US" noProof="0" dirty="0"/>
              <a:t>Computational Biomathematics</a:t>
            </a:r>
          </a:p>
        </p:txBody>
      </p:sp>
      <p:sp>
        <p:nvSpPr>
          <p:cNvPr id="4" name="Textfeld 3"/>
          <p:cNvSpPr txBox="1"/>
          <p:nvPr/>
        </p:nvSpPr>
        <p:spPr>
          <a:xfrm>
            <a:off x="6917350" y="4712245"/>
            <a:ext cx="1974066" cy="307777"/>
          </a:xfrm>
          <a:prstGeom prst="rect">
            <a:avLst/>
          </a:prstGeom>
          <a:noFill/>
        </p:spPr>
        <p:txBody>
          <a:bodyPr wrap="none" rtlCol="0">
            <a:spAutoFit/>
          </a:bodyPr>
          <a:lstStyle/>
          <a:p>
            <a:pPr algn="r"/>
            <a:r>
              <a:rPr lang="en-US" sz="1400" noProof="0" dirty="0"/>
              <a:t>florian.rupp@kiu.edu.ge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AV12iISWwkOOVDsSNsZR1w"/>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2025,497"/>
  <p:tag name="ORIGINALWIDTH" val="4386,952"/>
  <p:tag name="LATEXADDIN" val="\documentclass{article}\pagestyle{empty}&#10;\usepackage{amsmath}&#10;\usepackage{amsfonts}&#10;\usepackage{amssymb}&#10;\begin{document}&#10;\begin{minipage}{12.4 cm}&#10;{\sffamily{&#10;{\bf{Agent Based Modeling}} is a relatively new method compared to other modeling methods. In fact, agent-based modeling&#10;was largely an academic topic until simulation practitioners began using it at the beginning of the 21st century.\\[2mm]&#10;Here are some useful facts about agent-based modeling:&#10;\begin{description}&#10;\item[Agents are not cellular automata:] Agents do not have to live in discrete space (like the grid in 'The Game of Life') and space is not&#10;part of many agent-based models. When you need to represent space, it is typically continuous such as a geographical map or a facility floor plan.&#10;\item[Agents are not necessarily people:] Anything can be an agent: a vehicle, a piece of equipment, a project, an idea, an organization, or&#10;even an investment. A model of a steel converter plant where each machine is modeled as an agent and their interactions produce steel is an agent-based&#10;model.&#10;\item &#10;\end{description}&#10;}}&#10;\end{minipage}&#10;\end{document}"/>
  <p:tag name="IGUANATEXSIZE" val="20"/>
  <p:tag name="IGUANATEXCURSOR" val="249"/>
  <p:tag name="TRANSPARENCY" val="Wahr"/>
  <p:tag name="LATEXENGINEID" val="0"/>
  <p:tag name="TEMPFOLDER" val="c:\temp\"/>
  <p:tag name="LATEXFORMHEIGHT" val="482,25"/>
  <p:tag name="LATEXFORMWIDTH" val="1030,5"/>
  <p:tag name="LATEXFORMWRAP" val="Wahr"/>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1646,044"/>
  <p:tag name="ORIGINALWIDTH" val="4385,452"/>
  <p:tag name="LATEXADDIN" val="\documentclass{article}\pagestyle{empty}&#10;\usepackage{amsmath}&#10;\usepackage{amsfonts}&#10;\usepackage{amssymb}&#10;\begin{document}&#10;\begin{minipage}{12.4 cm}&#10;{\sffamily{&#10;\begin{description}&#10;\item[An object that seems to be passive can be an agent:] You could model a single pipe segment in a larger water supply network as an agent and then&#10;associate maintenance and replacement schedules, costs, and breakdown events with it.&#10;\item[An agent-based model can have many or few agents:] The model can also have one or many types of agents.&#10;\item[There are agent-based models where agents do not interact:] Health economics, as an example, uses alcohol use, obesity, and chronic disease models where individual dynamics depend only on personal parameters and, sometimes, on the environment.&#10;\end{description}&#10;}}&#10;\end{minipage}&#10;\end{document}"/>
  <p:tag name="IGUANATEXSIZE" val="20"/>
  <p:tag name="IGUANATEXCURSOR" val="776"/>
  <p:tag name="TRANSPARENCY" val="Wahr"/>
  <p:tag name="FILENAME" val=""/>
  <p:tag name="LATEXENGINEID" val="0"/>
  <p:tag name="TEMPFOLDER" val="D:\iguana_temp\"/>
  <p:tag name="LATEXFORMHEIGHT" val="482,25"/>
  <p:tag name="LATEXFORMWIDTH" val="1030,5"/>
  <p:tag name="LATEXFORMWRAP" val="Wahr"/>
  <p:tag name="BITMAPVECTOR" val="0"/>
</p:tagLst>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6611</Words>
  <Application>Microsoft Office PowerPoint</Application>
  <PresentationFormat>Bildschirmpräsentation (16:9)</PresentationFormat>
  <Paragraphs>857</Paragraphs>
  <Slides>48</Slides>
  <Notes>1</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48</vt:i4>
      </vt:variant>
    </vt:vector>
  </HeadingPairs>
  <TitlesOfParts>
    <vt:vector size="53" baseType="lpstr">
      <vt:lpstr>Courier New</vt:lpstr>
      <vt:lpstr>Symbol</vt:lpstr>
      <vt:lpstr>Calibri</vt:lpstr>
      <vt:lpstr>Arial</vt:lpstr>
      <vt:lpstr>Larissa-Design</vt:lpstr>
      <vt:lpstr>Computational Biomathematics</vt:lpstr>
      <vt:lpstr>The aim of our course is to combine modelling, analysis, and simulation by focusing on biological phenomena</vt:lpstr>
      <vt:lpstr>For the most part, we will be using Agent Based Modeling (ABM) to base our considerations on first principles</vt:lpstr>
      <vt:lpstr>What is Agent Based Modeling? (1/ 2)</vt:lpstr>
      <vt:lpstr>What is Agent Based Modeling? (2/ 2)</vt:lpstr>
      <vt:lpstr>PowerPoint-Präsentation</vt:lpstr>
      <vt:lpstr>PowerPoint-Präsentation</vt:lpstr>
      <vt:lpstr>The course roadmap (1/ 2)</vt:lpstr>
      <vt:lpstr>The course roadmap (2/ 2)</vt:lpstr>
      <vt:lpstr>Grading: Group projects with peer contribution monitoring (details later)</vt:lpstr>
      <vt:lpstr>PowerPoint-Präsentation</vt:lpstr>
      <vt:lpstr>One of the best known agent-based predator-prey models is the Wa-Tor population dynamics simulation</vt:lpstr>
      <vt:lpstr>The conceptual model we are starting from describes the rather simple Wa-Tor ecosystem</vt:lpstr>
      <vt:lpstr>From there we progress iteratively following George Polya‘s  comprehensive framework for problem solving</vt:lpstr>
      <vt:lpstr>It is generally recommended to segment a problem and then start the solution process from the “easy” questions to the “hard” ones </vt:lpstr>
      <vt:lpstr>The required code will be generated AI-enhanced and in a sequential way to validate the implementation easily</vt:lpstr>
      <vt:lpstr>Implementation: 0) Be specific when addressing AI</vt:lpstr>
      <vt:lpstr>PowerPoint-Präsentation</vt:lpstr>
      <vt:lpstr>For our simulation of the shark-fish dynamics on Wa-To let us assume a general agent-based set-up</vt:lpstr>
      <vt:lpstr>A possible data structure for representing the agents and their movement are arrays that contain the agents’ individual attributes</vt:lpstr>
      <vt:lpstr>Next, we formulate the domain and movement rules …</vt:lpstr>
      <vt:lpstr>… together with the visualization demands</vt:lpstr>
      <vt:lpstr>Implementation: 1) AI-enhanced coding of the movement only Wa-Tor al</vt:lpstr>
      <vt:lpstr>Implementation: 2a) The AI code – 1/ 1</vt:lpstr>
      <vt:lpstr>Implementation: 2a) The AI code – 1/ 2</vt:lpstr>
      <vt:lpstr>Implementation: 3) Results from ChatOn AI: movement only</vt:lpstr>
      <vt:lpstr>PowerPoint-Präsentation</vt:lpstr>
      <vt:lpstr>Finally, we state the (intra- and inter-species) interaction rules …</vt:lpstr>
      <vt:lpstr>… as well as further simulations demands</vt:lpstr>
      <vt:lpstr>Implementation: 8) Results from ChatOn AI: movement and interaction</vt:lpstr>
      <vt:lpstr>PowerPoint-Präsentation</vt:lpstr>
      <vt:lpstr>At this stage we are already at the “Computerized Model” and have made several steps of the modeling process at once</vt:lpstr>
      <vt:lpstr>Simulation: Invasion &amp; Complete Extinction</vt:lpstr>
      <vt:lpstr>Simulation: Shark Extinction</vt:lpstr>
      <vt:lpstr>Simulation: Co-Existence</vt:lpstr>
      <vt:lpstr>Simulation: Wrong Model Behavior? (1/ 2)</vt:lpstr>
      <vt:lpstr>Simulation: Wrong Model Behavior? (2/ 2)</vt:lpstr>
      <vt:lpstr>As a second version of Wa-Tor we assume a different breeding behavior of shark to see if that helps to get rid of wrong model behavior</vt:lpstr>
      <vt:lpstr>Implementation: Wa-Tor Scheme (2nd version)</vt:lpstr>
      <vt:lpstr>Simulation: Wa-Tor Version 2 (1/ 2)</vt:lpstr>
      <vt:lpstr>Simulation: Wa-Tor Version 2 (2/ 2)</vt:lpstr>
      <vt:lpstr>PowerPoint-Präsentation</vt:lpstr>
      <vt:lpstr>Next, we can add further species to the ecosystem, like “hunter sharks” that use a more aggressive feeding strategy</vt:lpstr>
      <vt:lpstr>Simulation: 1st run</vt:lpstr>
      <vt:lpstr>Simulation: 2nd run</vt:lpstr>
      <vt:lpstr>Finally, let’s add a sanctuary for the fish population where it cannot fall prey to the shark</vt:lpstr>
      <vt:lpstr>Simulation: 2nd run</vt:lpstr>
      <vt:lpstr>Computational Biomathematics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Florian</dc:creator>
  <cp:lastModifiedBy>Florian Rupp</cp:lastModifiedBy>
  <cp:revision>275</cp:revision>
  <dcterms:created xsi:type="dcterms:W3CDTF">2020-04-04T18:50:50Z</dcterms:created>
  <dcterms:modified xsi:type="dcterms:W3CDTF">2026-04-06T11:33:23Z</dcterms:modified>
</cp:coreProperties>
</file>
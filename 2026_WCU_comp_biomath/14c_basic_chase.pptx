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410" r:id="rId2"/>
    <p:sldId id="334" r:id="rId3"/>
    <p:sldId id="474" r:id="rId4"/>
    <p:sldId id="336" r:id="rId5"/>
    <p:sldId id="346" r:id="rId6"/>
    <p:sldId id="347" r:id="rId7"/>
    <p:sldId id="348" r:id="rId8"/>
    <p:sldId id="478" r:id="rId9"/>
    <p:sldId id="483" r:id="rId10"/>
    <p:sldId id="485" r:id="rId11"/>
    <p:sldId id="486" r:id="rId12"/>
    <p:sldId id="480" r:id="rId13"/>
    <p:sldId id="487" r:id="rId14"/>
    <p:sldId id="479" r:id="rId15"/>
    <p:sldId id="337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411" r:id="rId29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7356" autoAdjust="0"/>
  </p:normalViewPr>
  <p:slideViewPr>
    <p:cSldViewPr>
      <p:cViewPr varScale="1">
        <p:scale>
          <a:sx n="136" d="100"/>
          <a:sy n="136" d="100"/>
        </p:scale>
        <p:origin x="414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5D514-7346-4F82-AE13-C6D6741739D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F3066-70EE-4F3C-99F9-465CA6AFB6FD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jpeg"/><Relationship Id="rId17" Type="http://schemas.openxmlformats.org/officeDocument/2006/relationships/image" Target="../media/image8.jpe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eg"/><Relationship Id="rId5" Type="http://schemas.openxmlformats.org/officeDocument/2006/relationships/tags" Target="../tags/tag5.xml"/><Relationship Id="rId15" Type="http://schemas.openxmlformats.org/officeDocument/2006/relationships/image" Target="../media/image6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11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0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9.jpeg"/><Relationship Id="rId5" Type="http://schemas.openxmlformats.org/officeDocument/2006/relationships/tags" Target="../tags/tag14.xml"/><Relationship Id="rId15" Type="http://schemas.openxmlformats.org/officeDocument/2006/relationships/image" Target="../media/image13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3.jpeg"/><Relationship Id="rId18" Type="http://schemas.openxmlformats.org/officeDocument/2006/relationships/image" Target="../media/image8.jpe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.jpeg"/><Relationship Id="rId17" Type="http://schemas.openxmlformats.org/officeDocument/2006/relationships/image" Target="../media/image7.png"/><Relationship Id="rId2" Type="http://schemas.openxmlformats.org/officeDocument/2006/relationships/tags" Target="../tags/tag20.xml"/><Relationship Id="rId16" Type="http://schemas.openxmlformats.org/officeDocument/2006/relationships/image" Target="../media/image6.jpe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15" Type="http://schemas.openxmlformats.org/officeDocument/2006/relationships/image" Target="../media/image5.jpeg"/><Relationship Id="rId10" Type="http://schemas.openxmlformats.org/officeDocument/2006/relationships/tags" Target="../tags/tag28.xml"/><Relationship Id="rId19" Type="http://schemas.openxmlformats.org/officeDocument/2006/relationships/image" Target="../media/image14.jpe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8" name="Gruppieren 27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10244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7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10242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23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26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685800" y="1347614"/>
            <a:ext cx="7772400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371600" y="2355726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3" name="Textfeld 12"/>
          <p:cNvSpPr txBox="1"/>
          <p:nvPr userDrawn="1"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4" name="Freihandform 13"/>
          <p:cNvSpPr/>
          <p:nvPr userDrawn="1"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 userDrawn="1"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 userDrawn="1"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Parallelogramm 16"/>
          <p:cNvSpPr/>
          <p:nvPr userDrawn="1"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allelogramm 17"/>
          <p:cNvSpPr/>
          <p:nvPr userDrawn="1"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ihandform 18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ihandform 19"/>
          <p:cNvSpPr/>
          <p:nvPr userDrawn="1"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hteck 20"/>
          <p:cNvSpPr/>
          <p:nvPr userDrawn="1">
            <p:custDataLst>
              <p:tags r:id="rId9"/>
            </p:custDataLst>
          </p:nvPr>
        </p:nvSpPr>
        <p:spPr>
          <a:xfrm>
            <a:off x="795" y="648469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 userDrawn="1"/>
        </p:nvSpPr>
        <p:spPr bwMode="auto">
          <a:xfrm>
            <a:off x="845840" y="4240838"/>
            <a:ext cx="7452320" cy="85119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1400" b="1" kern="0" dirty="0">
                <a:latin typeface="+mn-lt"/>
              </a:rPr>
              <a:t>Prof. Dr. Dr. </a:t>
            </a:r>
            <a:r>
              <a:rPr lang="en-US" sz="1400" b="1" kern="0" dirty="0" err="1">
                <a:latin typeface="+mn-lt"/>
              </a:rPr>
              <a:t>h.c</a:t>
            </a:r>
            <a:r>
              <a:rPr lang="en-US" sz="1400" b="1" kern="0" dirty="0">
                <a:latin typeface="+mn-lt"/>
              </a:rPr>
              <a:t>. Florian Rupp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500" dirty="0"/>
          </a:p>
          <a:p>
            <a:pPr algn="ctr" eaLnBrk="1" hangingPunct="1"/>
            <a:r>
              <a:rPr lang="en-US" sz="1400" baseline="0" dirty="0"/>
              <a:t>Western Caspian University &amp; </a:t>
            </a:r>
            <a:r>
              <a:rPr lang="en-US" sz="1400" dirty="0"/>
              <a:t>Kutaisi International</a:t>
            </a:r>
            <a:r>
              <a:rPr lang="en-US" sz="1400" baseline="0" dirty="0"/>
              <a:t> University</a:t>
            </a:r>
            <a:endParaRPr lang="en-US" sz="1400" dirty="0"/>
          </a:p>
        </p:txBody>
      </p:sp>
      <p:pic>
        <p:nvPicPr>
          <p:cNvPr id="24" name="Grafik 23" descr="index.png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79513" y="4437868"/>
            <a:ext cx="1872207" cy="582154"/>
          </a:xfrm>
          <a:prstGeom prst="rect">
            <a:avLst/>
          </a:prstGeom>
        </p:spPr>
      </p:pic>
      <p:pic>
        <p:nvPicPr>
          <p:cNvPr id="27650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51520" y="3219822"/>
            <a:ext cx="1013731" cy="105489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 userDrawn="1"/>
        </p:nvSpPr>
        <p:spPr>
          <a:xfrm>
            <a:off x="6084168" y="0"/>
            <a:ext cx="3059832" cy="81000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1"/>
            </p:custDataLst>
          </p:nvPr>
        </p:nvSpPr>
        <p:spPr>
          <a:xfrm>
            <a:off x="560" y="456093"/>
            <a:ext cx="9143440" cy="354739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0" y="0"/>
            <a:ext cx="6444207" cy="811112"/>
            <a:chOff x="0" y="0"/>
            <a:chExt cx="9156701" cy="1152525"/>
          </a:xfrm>
        </p:grpSpPr>
        <p:pic>
          <p:nvPicPr>
            <p:cNvPr id="28" name="Picture 8" descr="https://cdn.pixabay.com/photo/2016/04/13/19/23/binary-1327501_960_720.jpg"/>
            <p:cNvPicPr>
              <a:picLocks noChangeAspect="1" noChangeArrowheads="1"/>
            </p:cNvPicPr>
            <p:nvPr userDrawn="1"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5536" y="0"/>
              <a:ext cx="2828754" cy="1152128"/>
            </a:xfrm>
            <a:prstGeom prst="rect">
              <a:avLst/>
            </a:prstGeom>
            <a:noFill/>
          </p:spPr>
        </p:pic>
        <p:grpSp>
          <p:nvGrpSpPr>
            <p:cNvPr id="29" name="Gruppieren 28"/>
            <p:cNvGrpSpPr/>
            <p:nvPr userDrawn="1"/>
          </p:nvGrpSpPr>
          <p:grpSpPr>
            <a:xfrm>
              <a:off x="3059832" y="0"/>
              <a:ext cx="3312368" cy="1152525"/>
              <a:chOff x="3059832" y="0"/>
              <a:chExt cx="3312368" cy="1152525"/>
            </a:xfrm>
          </p:grpSpPr>
          <p:pic>
            <p:nvPicPr>
              <p:cNvPr id="30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  <p:cNvPicPr>
                <a:picLocks noChangeAspect="1" noChangeArrowheads="1"/>
              </p:cNvPicPr>
              <p:nvPr userDrawn="1"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059832" y="0"/>
                <a:ext cx="1728192" cy="1152128"/>
              </a:xfrm>
              <a:prstGeom prst="rect">
                <a:avLst/>
              </a:prstGeom>
              <a:noFill/>
            </p:spPr>
          </p:pic>
          <p:grpSp>
            <p:nvGrpSpPr>
              <p:cNvPr id="31" name="Gruppieren 26"/>
              <p:cNvGrpSpPr/>
              <p:nvPr userDrawn="1"/>
            </p:nvGrpSpPr>
            <p:grpSpPr>
              <a:xfrm>
                <a:off x="4427984" y="0"/>
                <a:ext cx="1944216" cy="1152525"/>
                <a:chOff x="4427984" y="0"/>
                <a:chExt cx="1944216" cy="1152525"/>
              </a:xfrm>
            </p:grpSpPr>
            <p:pic>
              <p:nvPicPr>
                <p:cNvPr id="32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3" cstate="print"/>
                <a:srcRect/>
                <a:stretch>
                  <a:fillRect/>
                </a:stretch>
              </p:blipFill>
              <p:spPr bwMode="auto">
                <a:xfrm>
                  <a:off x="4427984" y="0"/>
                  <a:ext cx="1944216" cy="267494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4" cstate="print"/>
                <a:srcRect/>
                <a:stretch>
                  <a:fillRect/>
                </a:stretch>
              </p:blipFill>
              <p:spPr bwMode="auto">
                <a:xfrm>
                  <a:off x="4572000" y="267494"/>
                  <a:ext cx="1656184" cy="432048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4716016" y="689073"/>
                  <a:ext cx="1368152" cy="463452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5" name="Freihandform 34"/>
            <p:cNvSpPr/>
            <p:nvPr userDrawn="1">
              <p:custDataLst>
                <p:tags r:id="rId2"/>
              </p:custDataLst>
            </p:nvPr>
          </p:nvSpPr>
          <p:spPr>
            <a:xfrm flipH="1">
              <a:off x="6024860" y="447"/>
              <a:ext cx="313184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1955800"/>
                <a:gd name="connsiteY0" fmla="*/ 0 h 1143000"/>
                <a:gd name="connsiteX1" fmla="*/ 1641023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641023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Parallelogramm 35"/>
            <p:cNvSpPr/>
            <p:nvPr userDrawn="1">
              <p:custDataLst>
                <p:tags r:id="rId3"/>
              </p:custDataLst>
            </p:nvPr>
          </p:nvSpPr>
          <p:spPr>
            <a:xfrm>
              <a:off x="5808836" y="1"/>
              <a:ext cx="792088" cy="1152128"/>
            </a:xfrm>
            <a:prstGeom prst="parallelogram">
              <a:avLst>
                <a:gd name="adj" fmla="val 63481"/>
              </a:avLst>
            </a:pr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Parallelogramm 36"/>
            <p:cNvSpPr/>
            <p:nvPr userDrawn="1">
              <p:custDataLst>
                <p:tags r:id="rId4"/>
              </p:custDataLst>
            </p:nvPr>
          </p:nvSpPr>
          <p:spPr>
            <a:xfrm>
              <a:off x="2568476" y="1"/>
              <a:ext cx="1152128" cy="1152128"/>
            </a:xfrm>
            <a:prstGeom prst="parallelogram">
              <a:avLst>
                <a:gd name="adj" fmla="val 52628"/>
              </a:avLst>
            </a:prstGeom>
            <a:solidFill>
              <a:srgbClr val="1F497D">
                <a:lumMod val="60000"/>
                <a:lumOff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Parallelogramm 37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4296668" y="1"/>
              <a:ext cx="648072" cy="1152128"/>
            </a:xfrm>
            <a:prstGeom prst="parallelogram">
              <a:avLst>
                <a:gd name="adj" fmla="val 68305"/>
              </a:avLst>
            </a:prstGeom>
            <a:solidFill>
              <a:srgbClr val="F7964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Parallelogramm 38"/>
            <p:cNvSpPr/>
            <p:nvPr userDrawn="1">
              <p:custDataLst>
                <p:tags r:id="rId6"/>
              </p:custDataLst>
            </p:nvPr>
          </p:nvSpPr>
          <p:spPr>
            <a:xfrm>
              <a:off x="2568476" y="1"/>
              <a:ext cx="1008112" cy="1152128"/>
            </a:xfrm>
            <a:prstGeom prst="parallelogram">
              <a:avLst>
                <a:gd name="adj" fmla="val 88390"/>
              </a:avLst>
            </a:prstGeom>
            <a:solidFill>
              <a:srgbClr val="4F81BD">
                <a:lumMod val="20000"/>
                <a:lumOff val="8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ihandform 39"/>
            <p:cNvSpPr/>
            <p:nvPr userDrawn="1">
              <p:custDataLst>
                <p:tags r:id="rId7"/>
              </p:custDataLst>
            </p:nvPr>
          </p:nvSpPr>
          <p:spPr>
            <a:xfrm>
              <a:off x="0" y="0"/>
              <a:ext cx="195580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485900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reihandform 40"/>
            <p:cNvSpPr/>
            <p:nvPr userDrawn="1">
              <p:custDataLst>
                <p:tags r:id="rId8"/>
              </p:custDataLst>
            </p:nvPr>
          </p:nvSpPr>
          <p:spPr>
            <a:xfrm>
              <a:off x="2580060" y="1"/>
              <a:ext cx="92452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0 w 2880320"/>
                <a:gd name="connsiteY4" fmla="*/ 0 h 1143000"/>
                <a:gd name="connsiteX0" fmla="*/ 216024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2160240 w 28803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132432 w 924520"/>
                <a:gd name="connsiteY3" fmla="*/ 643436 h 1143000"/>
                <a:gd name="connsiteX4" fmla="*/ 204440 w 9245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204440 w 924520"/>
                <a:gd name="connsiteY4" fmla="*/ 0 h 1143000"/>
                <a:gd name="connsiteX0" fmla="*/ 348456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348456 w 924520"/>
                <a:gd name="connsiteY4" fmla="*/ 0 h 1143000"/>
                <a:gd name="connsiteX0" fmla="*/ 348456 w 924520"/>
                <a:gd name="connsiteY0" fmla="*/ 571943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0" fmla="*/ 420464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420464 w 924520"/>
                <a:gd name="connsiteY3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520" h="1143000">
                  <a:moveTo>
                    <a:pt x="420464" y="0"/>
                  </a:moveTo>
                  <a:lnTo>
                    <a:pt x="924520" y="0"/>
                  </a:lnTo>
                  <a:lnTo>
                    <a:pt x="0" y="1143000"/>
                  </a:lnTo>
                  <a:lnTo>
                    <a:pt x="420464" y="0"/>
                  </a:lnTo>
                  <a:close/>
                </a:path>
              </a:pathLst>
            </a:cu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hteck 41"/>
            <p:cNvSpPr/>
            <p:nvPr userDrawn="1">
              <p:custDataLst>
                <p:tags r:id="rId9"/>
              </p:custDataLst>
            </p:nvPr>
          </p:nvSpPr>
          <p:spPr>
            <a:xfrm>
              <a:off x="795" y="648072"/>
              <a:ext cx="9155906" cy="504056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6" name="Gruppieren 25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27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8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29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30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31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4" name="Rechteck 23"/>
          <p:cNvSpPr/>
          <p:nvPr userDrawn="1"/>
        </p:nvSpPr>
        <p:spPr>
          <a:xfrm>
            <a:off x="179512" y="1275606"/>
            <a:ext cx="3240360" cy="3744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2" name="Freihandform 11"/>
          <p:cNvSpPr/>
          <p:nvPr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Parallelogramm 12"/>
          <p:cNvSpPr/>
          <p:nvPr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Parallelogramm 13"/>
          <p:cNvSpPr/>
          <p:nvPr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ihandform 16"/>
          <p:cNvSpPr/>
          <p:nvPr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ihandform 17"/>
          <p:cNvSpPr/>
          <p:nvPr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9"/>
            </p:custDataLst>
          </p:nvPr>
        </p:nvSpPr>
        <p:spPr>
          <a:xfrm>
            <a:off x="795" y="648072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itel 1"/>
          <p:cNvSpPr>
            <a:spLocks noGrp="1"/>
          </p:cNvSpPr>
          <p:nvPr userDrawn="1">
            <p:ph type="ctrTitle"/>
          </p:nvPr>
        </p:nvSpPr>
        <p:spPr>
          <a:xfrm>
            <a:off x="3851920" y="1275606"/>
            <a:ext cx="5112568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4752020" y="4299942"/>
            <a:ext cx="324036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spcBef>
                <a:spcPct val="20000"/>
              </a:spcBef>
            </a:pPr>
            <a:endParaRPr lang="en-US" sz="1400" dirty="0"/>
          </a:p>
        </p:txBody>
      </p:sp>
      <p:sp>
        <p:nvSpPr>
          <p:cNvPr id="25" name="Textfeld 24"/>
          <p:cNvSpPr txBox="1"/>
          <p:nvPr userDrawn="1"/>
        </p:nvSpPr>
        <p:spPr>
          <a:xfrm>
            <a:off x="3851920" y="2355726"/>
            <a:ext cx="5040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Questions &amp; Remarks?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Thank You Very Much</a:t>
            </a:r>
          </a:p>
        </p:txBody>
      </p:sp>
      <p:pic>
        <p:nvPicPr>
          <p:cNvPr id="22" name="Grafik 21" descr="index.pn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3798963" y="4578133"/>
            <a:ext cx="1421109" cy="441887"/>
          </a:xfrm>
          <a:prstGeom prst="rect">
            <a:avLst/>
          </a:prstGeom>
        </p:spPr>
      </p:pic>
      <p:pic>
        <p:nvPicPr>
          <p:cNvPr id="32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851920" y="3718029"/>
            <a:ext cx="720080" cy="749323"/>
          </a:xfrm>
          <a:prstGeom prst="rect">
            <a:avLst/>
          </a:prstGeom>
          <a:noFill/>
        </p:spPr>
      </p:pic>
      <p:pic>
        <p:nvPicPr>
          <p:cNvPr id="33" name="Picture 2" descr="https://avatars.mds.yandex.net/get-altay/11886651/2a0000018defa513b9203394e9330d10fd54/XXL_height"/>
          <p:cNvPicPr>
            <a:picLocks noChangeAspect="1" noChangeArrowheads="1"/>
          </p:cNvPicPr>
          <p:nvPr userDrawn="1"/>
        </p:nvPicPr>
        <p:blipFill>
          <a:blip r:embed="rId19" cstate="print"/>
          <a:srcRect l="11628" r="27907" b="6378"/>
          <a:stretch>
            <a:fillRect/>
          </a:stretch>
        </p:blipFill>
        <p:spPr bwMode="auto">
          <a:xfrm>
            <a:off x="251520" y="1347613"/>
            <a:ext cx="3096344" cy="3600401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invGray">
          <a:xfrm>
            <a:off x="0" y="1"/>
            <a:ext cx="9144000" cy="81502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" name="Abgerundetes Rechteck 8"/>
          <p:cNvSpPr/>
          <p:nvPr userDrawn="1"/>
        </p:nvSpPr>
        <p:spPr>
          <a:xfrm>
            <a:off x="118693" y="105507"/>
            <a:ext cx="667317" cy="598738"/>
          </a:xfrm>
          <a:prstGeom prst="roundRect">
            <a:avLst>
              <a:gd name="adj" fmla="val 9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pic>
        <p:nvPicPr>
          <p:cNvPr id="28674" name="Picture 2" descr="https://cdn-static.bizzabo.com/bizzabo.users.files/zG7zRd0nS5WvqOWKrgQP_Western%20Caspian%20University%20black.png"/>
          <p:cNvPicPr>
            <a:picLocks noChangeAspect="1" noChangeArrowheads="1"/>
          </p:cNvPicPr>
          <p:nvPr userDrawn="1"/>
        </p:nvPicPr>
        <p:blipFill>
          <a:blip r:embed="rId6" cstate="print"/>
          <a:srcRect r="81904"/>
          <a:stretch>
            <a:fillRect/>
          </a:stretch>
        </p:blipFill>
        <p:spPr bwMode="auto">
          <a:xfrm>
            <a:off x="200323" y="176258"/>
            <a:ext cx="504056" cy="4572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  <a:p>
            <a:r>
              <a:rPr lang="en-US" noProof="0" dirty="0"/>
              <a:t>Swarms of Locusts &amp; Introduction to Chase &amp; Escape</a:t>
            </a:r>
          </a:p>
          <a:p>
            <a:endParaRPr lang="en-US" sz="500" noProof="0" dirty="0"/>
          </a:p>
          <a:p>
            <a:r>
              <a:rPr lang="en-US" noProof="0" dirty="0"/>
              <a:t>Lesson 14c</a:t>
            </a:r>
          </a:p>
        </p:txBody>
      </p:sp>
      <p:sp>
        <p:nvSpPr>
          <p:cNvPr id="4" name="Rechteck 3"/>
          <p:cNvSpPr/>
          <p:nvPr/>
        </p:nvSpPr>
        <p:spPr>
          <a:xfrm>
            <a:off x="7092280" y="3291830"/>
            <a:ext cx="1800200" cy="1717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Swarms of locusts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Avoiding predators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basic model of chase &amp; escape 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endParaRPr lang="en-US" sz="1200" noProof="0" dirty="0">
              <a:solidFill>
                <a:schemeClr val="tx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7092280" y="2931790"/>
            <a:ext cx="1800200" cy="28803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Some illustrations of chase and escape dynamics</a:t>
            </a:r>
          </a:p>
        </p:txBody>
      </p:sp>
      <p:pic>
        <p:nvPicPr>
          <p:cNvPr id="1026" name="Picture 2" descr="https://www.rsb.org.uk/images/biologist/2021/69.1.FebMar/LionHyena.jpg?1639393003113"/>
          <p:cNvPicPr>
            <a:picLocks noChangeAspect="1" noChangeArrowheads="1"/>
          </p:cNvPicPr>
          <p:nvPr/>
        </p:nvPicPr>
        <p:blipFill>
          <a:blip r:embed="rId2" cstate="print"/>
          <a:srcRect t="11491" b="13816"/>
          <a:stretch>
            <a:fillRect/>
          </a:stretch>
        </p:blipFill>
        <p:spPr bwMode="auto">
          <a:xfrm>
            <a:off x="4644008" y="3147814"/>
            <a:ext cx="4248000" cy="1877865"/>
          </a:xfrm>
          <a:prstGeom prst="rect">
            <a:avLst/>
          </a:prstGeom>
          <a:noFill/>
        </p:spPr>
      </p:pic>
      <p:pic>
        <p:nvPicPr>
          <p:cNvPr id="1028" name="Picture 4" descr="https://cdn-acgla.nitrocdn.com/bvIhcJyiWKFqlMsfAAXRLitDZjWdRlLX/assets/static/optimized/rev-5131b73/wp-content/uploads/2016/10/Cheetah_hunting_springbok.jpg"/>
          <p:cNvPicPr>
            <a:picLocks noChangeAspect="1" noChangeArrowheads="1"/>
          </p:cNvPicPr>
          <p:nvPr/>
        </p:nvPicPr>
        <p:blipFill>
          <a:blip r:embed="rId3" cstate="print"/>
          <a:srcRect t="10169" b="1695"/>
          <a:stretch>
            <a:fillRect/>
          </a:stretch>
        </p:blipFill>
        <p:spPr bwMode="auto">
          <a:xfrm>
            <a:off x="251520" y="3147814"/>
            <a:ext cx="4248472" cy="1872208"/>
          </a:xfrm>
          <a:prstGeom prst="rect">
            <a:avLst/>
          </a:prstGeom>
          <a:noFill/>
        </p:spPr>
      </p:pic>
      <p:pic>
        <p:nvPicPr>
          <p:cNvPr id="1030" name="Picture 6" descr="Watch Amazing Video of Whale Sharks Teaming Up to Hunt With Other Predators  in Rare View"/>
          <p:cNvPicPr>
            <a:picLocks noChangeAspect="1" noChangeArrowheads="1"/>
          </p:cNvPicPr>
          <p:nvPr/>
        </p:nvPicPr>
        <p:blipFill>
          <a:blip r:embed="rId4" cstate="print"/>
          <a:srcRect t="12967" b="-490"/>
          <a:stretch>
            <a:fillRect/>
          </a:stretch>
        </p:blipFill>
        <p:spPr bwMode="auto">
          <a:xfrm>
            <a:off x="251520" y="1131590"/>
            <a:ext cx="4248472" cy="1944216"/>
          </a:xfrm>
          <a:prstGeom prst="rect">
            <a:avLst/>
          </a:prstGeom>
          <a:noFill/>
        </p:spPr>
      </p:pic>
      <p:pic>
        <p:nvPicPr>
          <p:cNvPr id="1032" name="Picture 8" descr="Peregrine Falcon - Interaction with Shorebirds | BirdNote"/>
          <p:cNvPicPr>
            <a:picLocks noChangeAspect="1" noChangeArrowheads="1"/>
          </p:cNvPicPr>
          <p:nvPr/>
        </p:nvPicPr>
        <p:blipFill>
          <a:blip r:embed="rId5" cstate="print"/>
          <a:srcRect t="22874" b="8502"/>
          <a:stretch>
            <a:fillRect/>
          </a:stretch>
        </p:blipFill>
        <p:spPr bwMode="auto">
          <a:xfrm>
            <a:off x="4644008" y="1131590"/>
            <a:ext cx="4247676" cy="19442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2FC5-F75F-D7EA-D4F9-9A8E655C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8E183942-00A8-E5B1-A05E-7D0EBC8D8C55}"/>
              </a:ext>
            </a:extLst>
          </p:cNvPr>
          <p:cNvSpPr/>
          <p:nvPr/>
        </p:nvSpPr>
        <p:spPr>
          <a:xfrm>
            <a:off x="971600" y="2787774"/>
            <a:ext cx="720080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34DE220-B619-2ABE-11B4-DC27AC1E0225}"/>
              </a:ext>
            </a:extLst>
          </p:cNvPr>
          <p:cNvSpPr txBox="1"/>
          <p:nvPr/>
        </p:nvSpPr>
        <p:spPr>
          <a:xfrm>
            <a:off x="971600" y="1131590"/>
            <a:ext cx="39567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Agenda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Swarms of Locusts</a:t>
            </a:r>
          </a:p>
          <a:p>
            <a:pPr>
              <a:tabLst>
                <a:tab pos="361950" algn="l"/>
              </a:tabLst>
            </a:pP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tabLst>
                <a:tab pos="361950" algn="l"/>
              </a:tabLst>
            </a:pPr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Avoiding Predators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b="1" noProof="0" dirty="0"/>
              <a:t>The Basic Model of Chase &amp; Escape </a:t>
            </a:r>
          </a:p>
        </p:txBody>
      </p:sp>
      <p:pic>
        <p:nvPicPr>
          <p:cNvPr id="3" name="Picture 2" descr="Exciting wildlife chase as lion hunts gazelle in natures survival drama  Concept Wildlife Photography Lion Hunting Nature Survival Animal Behavior  Dramatic Nature Capture | Premium AI-generated image">
            <a:extLst>
              <a:ext uri="{FF2B5EF4-FFF2-40B4-BE49-F238E27FC236}">
                <a16:creationId xmlns:a16="http://schemas.microsoft.com/office/drawing/2014/main" id="{D97EC8FF-9406-256B-F2DA-48D21C496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1131590"/>
            <a:ext cx="2880320" cy="14401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6609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basic model of group chase and escape (1/ 4)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DCC1B9F-6E59-17DD-FA87-7A84DEE538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223" y="1190896"/>
            <a:ext cx="5339918" cy="3185694"/>
          </a:xfrm>
          <a:prstGeom prst="rect">
            <a:avLst/>
          </a:prstGeom>
          <a:noFill/>
          <a:ln/>
          <a:effectLst/>
        </p:spPr>
      </p:pic>
      <p:pic>
        <p:nvPicPr>
          <p:cNvPr id="12290" name="Picture 2" descr="Exciting wildlife chase as lion hunts gazelle in natures survival drama  Concept Wildlife Photography Lion Hunting Nature Survival Animal Behavior  Dramatic Nature Capture | Premium AI-gener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1131589"/>
            <a:ext cx="2880320" cy="1440161"/>
          </a:xfrm>
          <a:prstGeom prst="rect">
            <a:avLst/>
          </a:prstGeom>
          <a:noFill/>
        </p:spPr>
      </p:pic>
      <p:sp>
        <p:nvSpPr>
          <p:cNvPr id="7" name="Rechteck 6"/>
          <p:cNvSpPr/>
          <p:nvPr/>
        </p:nvSpPr>
        <p:spPr>
          <a:xfrm>
            <a:off x="395536" y="307580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827584" y="307580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1259632" y="307580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1691680" y="307580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2123728" y="307580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2555776" y="307580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395536" y="350785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827584" y="350785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1259632" y="350785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1691680" y="350785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2123728" y="350785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2555776" y="350785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395536" y="3939902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827584" y="3939902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1259632" y="3939902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1691680" y="3939902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2123728" y="3939902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2555776" y="3939902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6" name="Rechteck 25"/>
          <p:cNvSpPr/>
          <p:nvPr/>
        </p:nvSpPr>
        <p:spPr>
          <a:xfrm>
            <a:off x="395536" y="4371950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7" name="Rechteck 26"/>
          <p:cNvSpPr/>
          <p:nvPr/>
        </p:nvSpPr>
        <p:spPr>
          <a:xfrm>
            <a:off x="827584" y="4371950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8" name="Rechteck 27"/>
          <p:cNvSpPr/>
          <p:nvPr/>
        </p:nvSpPr>
        <p:spPr>
          <a:xfrm>
            <a:off x="1259632" y="4371950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29" name="Rechteck 28"/>
          <p:cNvSpPr/>
          <p:nvPr/>
        </p:nvSpPr>
        <p:spPr>
          <a:xfrm>
            <a:off x="1691680" y="4371950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30" name="Rechteck 29"/>
          <p:cNvSpPr/>
          <p:nvPr/>
        </p:nvSpPr>
        <p:spPr>
          <a:xfrm>
            <a:off x="2123728" y="4371950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2555776" y="4371950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cxnSp>
        <p:nvCxnSpPr>
          <p:cNvPr id="33" name="Gerade Verbindung mit Pfeil 32"/>
          <p:cNvCxnSpPr/>
          <p:nvPr/>
        </p:nvCxnSpPr>
        <p:spPr>
          <a:xfrm flipV="1">
            <a:off x="323528" y="2931790"/>
            <a:ext cx="0" cy="2016224"/>
          </a:xfrm>
          <a:prstGeom prst="straightConnector1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5" name="Gerade Verbindung mit Pfeil 34"/>
          <p:cNvCxnSpPr/>
          <p:nvPr/>
        </p:nvCxnSpPr>
        <p:spPr>
          <a:xfrm>
            <a:off x="251520" y="4876006"/>
            <a:ext cx="2880320" cy="0"/>
          </a:xfrm>
          <a:prstGeom prst="straightConnector1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2294" name="Picture 6 1" descr="lion vector"/>
          <p:cNvPicPr>
            <a:picLocks noChangeAspect="1" noChangeArrowheads="1"/>
          </p:cNvPicPr>
          <p:nvPr/>
        </p:nvPicPr>
        <p:blipFill>
          <a:blip r:embed="rId5" cstate="print"/>
          <a:srcRect l="14286" r="22857"/>
          <a:stretch>
            <a:fillRect/>
          </a:stretch>
        </p:blipFill>
        <p:spPr bwMode="auto">
          <a:xfrm>
            <a:off x="618091" y="4195112"/>
            <a:ext cx="432048" cy="354429"/>
          </a:xfrm>
          <a:prstGeom prst="rect">
            <a:avLst/>
          </a:prstGeom>
          <a:noFill/>
        </p:spPr>
      </p:pic>
      <p:pic>
        <p:nvPicPr>
          <p:cNvPr id="40" name="Picture 6 2" descr="lion vector"/>
          <p:cNvPicPr>
            <a:picLocks noChangeAspect="1" noChangeArrowheads="1"/>
          </p:cNvPicPr>
          <p:nvPr/>
        </p:nvPicPr>
        <p:blipFill>
          <a:blip r:embed="rId5" cstate="print"/>
          <a:srcRect l="14286" r="22857"/>
          <a:stretch>
            <a:fillRect/>
          </a:stretch>
        </p:blipFill>
        <p:spPr bwMode="auto">
          <a:xfrm>
            <a:off x="1050139" y="3331016"/>
            <a:ext cx="432048" cy="354429"/>
          </a:xfrm>
          <a:prstGeom prst="rect">
            <a:avLst/>
          </a:prstGeom>
          <a:noFill/>
        </p:spPr>
      </p:pic>
      <p:pic>
        <p:nvPicPr>
          <p:cNvPr id="12296" name="Picture 8 1" descr="Art Prints &amp; Printed Wall Decor | Society6"/>
          <p:cNvPicPr>
            <a:picLocks noChangeAspect="1" noChangeArrowheads="1"/>
          </p:cNvPicPr>
          <p:nvPr/>
        </p:nvPicPr>
        <p:blipFill>
          <a:blip r:embed="rId6" cstate="print"/>
          <a:srcRect l="9304" t="17446" r="9281" b="16260"/>
          <a:stretch>
            <a:fillRect/>
          </a:stretch>
        </p:blipFill>
        <p:spPr bwMode="auto">
          <a:xfrm>
            <a:off x="2339752" y="3324652"/>
            <a:ext cx="432000" cy="351771"/>
          </a:xfrm>
          <a:prstGeom prst="rect">
            <a:avLst/>
          </a:prstGeom>
          <a:noFill/>
        </p:spPr>
      </p:pic>
      <p:pic>
        <p:nvPicPr>
          <p:cNvPr id="42" name="Picture 8 2" descr="Art Prints &amp; Printed Wall Decor | Society6"/>
          <p:cNvPicPr>
            <a:picLocks noChangeAspect="1" noChangeArrowheads="1"/>
          </p:cNvPicPr>
          <p:nvPr/>
        </p:nvPicPr>
        <p:blipFill>
          <a:blip r:embed="rId6" cstate="print"/>
          <a:srcRect l="9304" t="17446" r="9281" b="16260"/>
          <a:stretch>
            <a:fillRect/>
          </a:stretch>
        </p:blipFill>
        <p:spPr bwMode="auto">
          <a:xfrm>
            <a:off x="2339752" y="4209912"/>
            <a:ext cx="432000" cy="351771"/>
          </a:xfrm>
          <a:prstGeom prst="rect">
            <a:avLst/>
          </a:prstGeom>
          <a:noFill/>
        </p:spPr>
      </p:pic>
      <p:pic>
        <p:nvPicPr>
          <p:cNvPr id="43" name="Picture 8 3" descr="Art Prints &amp; Printed Wall Decor | Society6"/>
          <p:cNvPicPr>
            <a:picLocks noChangeAspect="1" noChangeArrowheads="1"/>
          </p:cNvPicPr>
          <p:nvPr/>
        </p:nvPicPr>
        <p:blipFill>
          <a:blip r:embed="rId6" cstate="print"/>
          <a:srcRect l="9304" t="17446" r="9281" b="16260"/>
          <a:stretch>
            <a:fillRect/>
          </a:stretch>
        </p:blipFill>
        <p:spPr bwMode="auto">
          <a:xfrm>
            <a:off x="1907752" y="3763231"/>
            <a:ext cx="432000" cy="351771"/>
          </a:xfrm>
          <a:prstGeom prst="rect">
            <a:avLst/>
          </a:prstGeom>
          <a:noFill/>
        </p:spPr>
      </p:pic>
      <p:sp>
        <p:nvSpPr>
          <p:cNvPr id="44" name="Textfeld 43"/>
          <p:cNvSpPr txBox="1"/>
          <p:nvPr/>
        </p:nvSpPr>
        <p:spPr>
          <a:xfrm>
            <a:off x="323528" y="2787774"/>
            <a:ext cx="2861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noProof="0" dirty="0"/>
              <a:t>L</a:t>
            </a:r>
            <a:r>
              <a:rPr lang="en-US" sz="1200" i="1" baseline="-25000" noProof="0" dirty="0"/>
              <a:t>Y</a:t>
            </a:r>
          </a:p>
        </p:txBody>
      </p:sp>
      <p:sp>
        <p:nvSpPr>
          <p:cNvPr id="45" name="Textfeld 44"/>
          <p:cNvSpPr txBox="1"/>
          <p:nvPr/>
        </p:nvSpPr>
        <p:spPr>
          <a:xfrm>
            <a:off x="2987232" y="4594505"/>
            <a:ext cx="301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noProof="0" dirty="0"/>
              <a:t>L</a:t>
            </a:r>
            <a:r>
              <a:rPr lang="en-US" sz="1200" i="1" baseline="-25000" noProof="0" dirty="0"/>
              <a:t>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basic model of group chase and escape (2/ 4)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39" name="Grafik 3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23" y="1190895"/>
            <a:ext cx="5338739" cy="3084426"/>
          </a:xfrm>
          <a:prstGeom prst="rect">
            <a:avLst/>
          </a:prstGeom>
          <a:noFill/>
          <a:ln/>
          <a:effectLst/>
        </p:spPr>
      </p:pic>
      <p:sp>
        <p:nvSpPr>
          <p:cNvPr id="46" name="Rechteck 45"/>
          <p:cNvSpPr/>
          <p:nvPr/>
        </p:nvSpPr>
        <p:spPr>
          <a:xfrm>
            <a:off x="323528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7" name="Rechteck 46"/>
          <p:cNvSpPr/>
          <p:nvPr/>
        </p:nvSpPr>
        <p:spPr>
          <a:xfrm>
            <a:off x="755576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8" name="Rechteck 47"/>
          <p:cNvSpPr/>
          <p:nvPr/>
        </p:nvSpPr>
        <p:spPr>
          <a:xfrm>
            <a:off x="1187624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323528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0" name="Rechteck 49"/>
          <p:cNvSpPr/>
          <p:nvPr/>
        </p:nvSpPr>
        <p:spPr>
          <a:xfrm>
            <a:off x="755576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1187624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323528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755576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87624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611560" y="2355726"/>
            <a:ext cx="288032" cy="2880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57" name="Pfeil nach rechts 56"/>
          <p:cNvSpPr/>
          <p:nvPr/>
        </p:nvSpPr>
        <p:spPr>
          <a:xfrm>
            <a:off x="1331640" y="1563638"/>
            <a:ext cx="290749" cy="144016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8" name="Pfeil nach rechts 57"/>
          <p:cNvSpPr/>
          <p:nvPr/>
        </p:nvSpPr>
        <p:spPr>
          <a:xfrm rot="16200000">
            <a:off x="1042251" y="1276964"/>
            <a:ext cx="290749" cy="144016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9" name="Textfeld 58"/>
          <p:cNvSpPr txBox="1"/>
          <p:nvPr/>
        </p:nvSpPr>
        <p:spPr>
          <a:xfrm>
            <a:off x="755576" y="1203598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noProof="0" dirty="0"/>
              <a:t>1</a:t>
            </a:r>
            <a:r>
              <a:rPr lang="en-US" sz="1200" noProof="0" dirty="0"/>
              <a:t>/</a:t>
            </a:r>
            <a:r>
              <a:rPr lang="en-US" sz="1200" baseline="-25000" noProof="0" dirty="0"/>
              <a:t>2</a:t>
            </a:r>
          </a:p>
        </p:txBody>
      </p:sp>
      <p:sp>
        <p:nvSpPr>
          <p:cNvPr id="60" name="Textfeld 59"/>
          <p:cNvSpPr txBox="1"/>
          <p:nvPr/>
        </p:nvSpPr>
        <p:spPr>
          <a:xfrm>
            <a:off x="1259632" y="1666439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noProof="0" dirty="0"/>
              <a:t>1</a:t>
            </a:r>
            <a:r>
              <a:rPr lang="en-US" sz="1200" noProof="0" dirty="0"/>
              <a:t>/</a:t>
            </a:r>
            <a:r>
              <a:rPr lang="en-US" sz="1200" baseline="-25000" noProof="0" dirty="0"/>
              <a:t>2</a:t>
            </a:r>
          </a:p>
        </p:txBody>
      </p:sp>
      <p:sp>
        <p:nvSpPr>
          <p:cNvPr id="61" name="Rechteck 60"/>
          <p:cNvSpPr/>
          <p:nvPr/>
        </p:nvSpPr>
        <p:spPr>
          <a:xfrm>
            <a:off x="1835696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2" name="Rechteck 61"/>
          <p:cNvSpPr/>
          <p:nvPr/>
        </p:nvSpPr>
        <p:spPr>
          <a:xfrm>
            <a:off x="2267744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3" name="Rechteck 62"/>
          <p:cNvSpPr/>
          <p:nvPr/>
        </p:nvSpPr>
        <p:spPr>
          <a:xfrm>
            <a:off x="2699792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4" name="Rechteck 63"/>
          <p:cNvSpPr/>
          <p:nvPr/>
        </p:nvSpPr>
        <p:spPr>
          <a:xfrm>
            <a:off x="1835696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2267744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2699792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1835696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8" name="Rechteck 67"/>
          <p:cNvSpPr/>
          <p:nvPr/>
        </p:nvSpPr>
        <p:spPr>
          <a:xfrm>
            <a:off x="2267744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9" name="Rechteck 68"/>
          <p:cNvSpPr/>
          <p:nvPr/>
        </p:nvSpPr>
        <p:spPr>
          <a:xfrm>
            <a:off x="2699792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70" name="Ellipse 69"/>
          <p:cNvSpPr/>
          <p:nvPr/>
        </p:nvSpPr>
        <p:spPr>
          <a:xfrm>
            <a:off x="2555776" y="2355726"/>
            <a:ext cx="288032" cy="2880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72" name="Pfeil nach rechts 71"/>
          <p:cNvSpPr/>
          <p:nvPr/>
        </p:nvSpPr>
        <p:spPr>
          <a:xfrm>
            <a:off x="2843808" y="1563638"/>
            <a:ext cx="290749" cy="144016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73" name="Pfeil nach rechts 72"/>
          <p:cNvSpPr/>
          <p:nvPr/>
        </p:nvSpPr>
        <p:spPr>
          <a:xfrm rot="16200000">
            <a:off x="2554419" y="1276964"/>
            <a:ext cx="290749" cy="144016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74" name="Textfeld 73"/>
          <p:cNvSpPr txBox="1"/>
          <p:nvPr/>
        </p:nvSpPr>
        <p:spPr>
          <a:xfrm>
            <a:off x="2267744" y="1203598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noProof="0" dirty="0"/>
              <a:t>1</a:t>
            </a:r>
            <a:r>
              <a:rPr lang="en-US" sz="1200" noProof="0" dirty="0"/>
              <a:t>/</a:t>
            </a:r>
            <a:r>
              <a:rPr lang="en-US" sz="1200" baseline="-25000" noProof="0" dirty="0"/>
              <a:t>3</a:t>
            </a:r>
          </a:p>
        </p:txBody>
      </p:sp>
      <p:sp>
        <p:nvSpPr>
          <p:cNvPr id="75" name="Textfeld 74"/>
          <p:cNvSpPr txBox="1"/>
          <p:nvPr/>
        </p:nvSpPr>
        <p:spPr>
          <a:xfrm>
            <a:off x="2771800" y="1666439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noProof="0" dirty="0"/>
              <a:t>1</a:t>
            </a:r>
            <a:r>
              <a:rPr lang="en-US" sz="1200" noProof="0" dirty="0"/>
              <a:t>/</a:t>
            </a:r>
            <a:r>
              <a:rPr lang="en-US" sz="1200" baseline="-25000" noProof="0" dirty="0"/>
              <a:t>3</a:t>
            </a:r>
          </a:p>
        </p:txBody>
      </p:sp>
      <p:sp>
        <p:nvSpPr>
          <p:cNvPr id="76" name="Pfeil nach rechts 75"/>
          <p:cNvSpPr/>
          <p:nvPr/>
        </p:nvSpPr>
        <p:spPr>
          <a:xfrm rot="10800000">
            <a:off x="2267744" y="1563638"/>
            <a:ext cx="290749" cy="144016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6" name="Ellipse 55"/>
          <p:cNvSpPr/>
          <p:nvPr/>
        </p:nvSpPr>
        <p:spPr>
          <a:xfrm>
            <a:off x="1043608" y="1491630"/>
            <a:ext cx="288032" cy="28803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71" name="Ellipse 70"/>
          <p:cNvSpPr/>
          <p:nvPr/>
        </p:nvSpPr>
        <p:spPr>
          <a:xfrm>
            <a:off x="2555776" y="1491630"/>
            <a:ext cx="288032" cy="28803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77" name="Textfeld 76"/>
          <p:cNvSpPr txBox="1"/>
          <p:nvPr/>
        </p:nvSpPr>
        <p:spPr>
          <a:xfrm>
            <a:off x="2267744" y="1666439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noProof="0" dirty="0"/>
              <a:t>1</a:t>
            </a:r>
            <a:r>
              <a:rPr lang="en-US" sz="1200" noProof="0" dirty="0"/>
              <a:t>/</a:t>
            </a:r>
            <a:r>
              <a:rPr lang="en-US" sz="1200" baseline="-25000" noProof="0" dirty="0"/>
              <a:t>3</a:t>
            </a:r>
          </a:p>
        </p:txBody>
      </p:sp>
      <p:sp>
        <p:nvSpPr>
          <p:cNvPr id="78" name="Textfeld 77"/>
          <p:cNvSpPr txBox="1"/>
          <p:nvPr/>
        </p:nvSpPr>
        <p:spPr>
          <a:xfrm>
            <a:off x="251520" y="293179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Movement rules for targets: hop to evade the nearest chaser.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basic model of group chase and escape (3/ 4)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43" name="Grafik 42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19" y="1190895"/>
            <a:ext cx="5345779" cy="3601488"/>
          </a:xfrm>
          <a:prstGeom prst="rect">
            <a:avLst/>
          </a:prstGeom>
          <a:noFill/>
          <a:ln/>
          <a:effectLst/>
        </p:spPr>
      </p:pic>
      <p:sp>
        <p:nvSpPr>
          <p:cNvPr id="46" name="Rechteck 45"/>
          <p:cNvSpPr/>
          <p:nvPr/>
        </p:nvSpPr>
        <p:spPr>
          <a:xfrm>
            <a:off x="323528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7" name="Rechteck 46"/>
          <p:cNvSpPr/>
          <p:nvPr/>
        </p:nvSpPr>
        <p:spPr>
          <a:xfrm>
            <a:off x="755576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8" name="Rechteck 47"/>
          <p:cNvSpPr/>
          <p:nvPr/>
        </p:nvSpPr>
        <p:spPr>
          <a:xfrm>
            <a:off x="1187624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323528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0" name="Rechteck 49"/>
          <p:cNvSpPr/>
          <p:nvPr/>
        </p:nvSpPr>
        <p:spPr>
          <a:xfrm>
            <a:off x="755576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1187624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323528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755576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87624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7" name="Pfeil nach rechts 56"/>
          <p:cNvSpPr/>
          <p:nvPr/>
        </p:nvSpPr>
        <p:spPr>
          <a:xfrm>
            <a:off x="899590" y="2427734"/>
            <a:ext cx="290749" cy="14401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58" name="Pfeil nach rechts 57"/>
          <p:cNvSpPr/>
          <p:nvPr/>
        </p:nvSpPr>
        <p:spPr>
          <a:xfrm rot="16200000">
            <a:off x="610201" y="2141060"/>
            <a:ext cx="290749" cy="14401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59" name="Textfeld 58"/>
          <p:cNvSpPr txBox="1"/>
          <p:nvPr/>
        </p:nvSpPr>
        <p:spPr>
          <a:xfrm>
            <a:off x="323526" y="206769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noProof="0" dirty="0"/>
              <a:t>1</a:t>
            </a:r>
            <a:r>
              <a:rPr lang="en-US" sz="1200" noProof="0" dirty="0"/>
              <a:t>/</a:t>
            </a:r>
            <a:r>
              <a:rPr lang="en-US" sz="1200" baseline="-25000" noProof="0" dirty="0"/>
              <a:t>2</a:t>
            </a:r>
          </a:p>
        </p:txBody>
      </p:sp>
      <p:sp>
        <p:nvSpPr>
          <p:cNvPr id="60" name="Textfeld 59"/>
          <p:cNvSpPr txBox="1"/>
          <p:nvPr/>
        </p:nvSpPr>
        <p:spPr>
          <a:xfrm>
            <a:off x="834115" y="2172357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aseline="30000" noProof="0" dirty="0"/>
              <a:t>1</a:t>
            </a:r>
            <a:r>
              <a:rPr lang="en-US" sz="1200" noProof="0" dirty="0"/>
              <a:t>/</a:t>
            </a:r>
            <a:r>
              <a:rPr lang="en-US" sz="1200" baseline="-25000" noProof="0" dirty="0"/>
              <a:t>2</a:t>
            </a:r>
          </a:p>
        </p:txBody>
      </p:sp>
      <p:sp>
        <p:nvSpPr>
          <p:cNvPr id="61" name="Rechteck 60"/>
          <p:cNvSpPr/>
          <p:nvPr/>
        </p:nvSpPr>
        <p:spPr>
          <a:xfrm>
            <a:off x="1835696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2" name="Rechteck 61"/>
          <p:cNvSpPr/>
          <p:nvPr/>
        </p:nvSpPr>
        <p:spPr>
          <a:xfrm>
            <a:off x="2267744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3" name="Rechteck 62"/>
          <p:cNvSpPr/>
          <p:nvPr/>
        </p:nvSpPr>
        <p:spPr>
          <a:xfrm>
            <a:off x="2699792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4" name="Rechteck 63"/>
          <p:cNvSpPr/>
          <p:nvPr/>
        </p:nvSpPr>
        <p:spPr>
          <a:xfrm>
            <a:off x="1835696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2267744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2699792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1835696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8" name="Rechteck 67"/>
          <p:cNvSpPr/>
          <p:nvPr/>
        </p:nvSpPr>
        <p:spPr>
          <a:xfrm>
            <a:off x="2267744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9" name="Rechteck 68"/>
          <p:cNvSpPr/>
          <p:nvPr/>
        </p:nvSpPr>
        <p:spPr>
          <a:xfrm>
            <a:off x="2699792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73" name="Pfeil nach rechts 72"/>
          <p:cNvSpPr/>
          <p:nvPr/>
        </p:nvSpPr>
        <p:spPr>
          <a:xfrm rot="16200000">
            <a:off x="2554418" y="2141060"/>
            <a:ext cx="290749" cy="14401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56" name="Ellipse 55"/>
          <p:cNvSpPr/>
          <p:nvPr/>
        </p:nvSpPr>
        <p:spPr>
          <a:xfrm>
            <a:off x="1043608" y="1491630"/>
            <a:ext cx="288032" cy="28803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71" name="Ellipse 70"/>
          <p:cNvSpPr/>
          <p:nvPr/>
        </p:nvSpPr>
        <p:spPr>
          <a:xfrm>
            <a:off x="2555776" y="1491630"/>
            <a:ext cx="288032" cy="28803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78" name="Textfeld 77"/>
          <p:cNvSpPr txBox="1"/>
          <p:nvPr/>
        </p:nvSpPr>
        <p:spPr>
          <a:xfrm>
            <a:off x="251520" y="2931790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Movement rules for chasers: hop to evade the nearest chaser.</a:t>
            </a:r>
          </a:p>
        </p:txBody>
      </p:sp>
      <p:sp>
        <p:nvSpPr>
          <p:cNvPr id="55" name="Ellipse 54"/>
          <p:cNvSpPr/>
          <p:nvPr/>
        </p:nvSpPr>
        <p:spPr>
          <a:xfrm>
            <a:off x="611560" y="2355726"/>
            <a:ext cx="288032" cy="2880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70" name="Ellipse 69"/>
          <p:cNvSpPr/>
          <p:nvPr/>
        </p:nvSpPr>
        <p:spPr>
          <a:xfrm>
            <a:off x="2555776" y="2355726"/>
            <a:ext cx="288032" cy="2880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40" name="Textfeld 39"/>
          <p:cNvSpPr txBox="1"/>
          <p:nvPr/>
        </p:nvSpPr>
        <p:spPr>
          <a:xfrm>
            <a:off x="2737672" y="206769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basic model of group chase and escape (4/ 4)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1440160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37" name="Grafik 3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20" y="1190895"/>
            <a:ext cx="5346017" cy="1279979"/>
          </a:xfrm>
          <a:prstGeom prst="rect">
            <a:avLst/>
          </a:prstGeom>
          <a:noFill/>
          <a:ln/>
          <a:effectLst/>
        </p:spPr>
      </p:pic>
      <p:sp>
        <p:nvSpPr>
          <p:cNvPr id="46" name="Rechteck 45"/>
          <p:cNvSpPr/>
          <p:nvPr/>
        </p:nvSpPr>
        <p:spPr>
          <a:xfrm>
            <a:off x="323528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7" name="Rechteck 46"/>
          <p:cNvSpPr/>
          <p:nvPr/>
        </p:nvSpPr>
        <p:spPr>
          <a:xfrm>
            <a:off x="755576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8" name="Rechteck 47"/>
          <p:cNvSpPr/>
          <p:nvPr/>
        </p:nvSpPr>
        <p:spPr>
          <a:xfrm>
            <a:off x="1187624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49" name="Rechteck 48"/>
          <p:cNvSpPr/>
          <p:nvPr/>
        </p:nvSpPr>
        <p:spPr>
          <a:xfrm>
            <a:off x="323528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0" name="Rechteck 49"/>
          <p:cNvSpPr/>
          <p:nvPr/>
        </p:nvSpPr>
        <p:spPr>
          <a:xfrm>
            <a:off x="755576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1187624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323528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755576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187624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1" name="Rechteck 60"/>
          <p:cNvSpPr/>
          <p:nvPr/>
        </p:nvSpPr>
        <p:spPr>
          <a:xfrm>
            <a:off x="1835696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2" name="Rechteck 61"/>
          <p:cNvSpPr/>
          <p:nvPr/>
        </p:nvSpPr>
        <p:spPr>
          <a:xfrm>
            <a:off x="2267744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3" name="Rechteck 62"/>
          <p:cNvSpPr/>
          <p:nvPr/>
        </p:nvSpPr>
        <p:spPr>
          <a:xfrm>
            <a:off x="2699792" y="1203598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4" name="Rechteck 63"/>
          <p:cNvSpPr/>
          <p:nvPr/>
        </p:nvSpPr>
        <p:spPr>
          <a:xfrm>
            <a:off x="1835696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2267744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2699792" y="1635646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1835696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8" name="Rechteck 67"/>
          <p:cNvSpPr/>
          <p:nvPr/>
        </p:nvSpPr>
        <p:spPr>
          <a:xfrm>
            <a:off x="2267744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69" name="Rechteck 68"/>
          <p:cNvSpPr/>
          <p:nvPr/>
        </p:nvSpPr>
        <p:spPr>
          <a:xfrm>
            <a:off x="2699792" y="2067694"/>
            <a:ext cx="432048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56" name="Ellipse 55"/>
          <p:cNvSpPr/>
          <p:nvPr/>
        </p:nvSpPr>
        <p:spPr>
          <a:xfrm>
            <a:off x="1043608" y="1491630"/>
            <a:ext cx="288032" cy="28803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00B050"/>
                </a:solidFill>
              </a:rPr>
              <a:t>T</a:t>
            </a:r>
          </a:p>
        </p:txBody>
      </p:sp>
      <p:sp>
        <p:nvSpPr>
          <p:cNvPr id="78" name="Textfeld 77"/>
          <p:cNvSpPr txBox="1"/>
          <p:nvPr/>
        </p:nvSpPr>
        <p:spPr>
          <a:xfrm>
            <a:off x="251520" y="2931790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The catch event</a:t>
            </a:r>
          </a:p>
        </p:txBody>
      </p:sp>
      <p:sp>
        <p:nvSpPr>
          <p:cNvPr id="55" name="Ellipse 54"/>
          <p:cNvSpPr/>
          <p:nvPr/>
        </p:nvSpPr>
        <p:spPr>
          <a:xfrm>
            <a:off x="1043608" y="1923678"/>
            <a:ext cx="288032" cy="2880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70" name="Ellipse 69"/>
          <p:cNvSpPr/>
          <p:nvPr/>
        </p:nvSpPr>
        <p:spPr>
          <a:xfrm>
            <a:off x="2555776" y="1491630"/>
            <a:ext cx="288032" cy="28803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35" name="Pfeil nach rechts 34"/>
          <p:cNvSpPr/>
          <p:nvPr/>
        </p:nvSpPr>
        <p:spPr>
          <a:xfrm rot="16200000">
            <a:off x="1114259" y="1781020"/>
            <a:ext cx="146733" cy="14401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36" name="Freeform 37"/>
          <p:cNvSpPr>
            <a:spLocks/>
          </p:cNvSpPr>
          <p:nvPr/>
        </p:nvSpPr>
        <p:spPr bwMode="auto">
          <a:xfrm rot="14447661" flipH="1">
            <a:off x="1633048" y="1901786"/>
            <a:ext cx="541228" cy="1008112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95000"/>
            </a:schemeClr>
          </a:solidFill>
          <a:ln w="12700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65444-D2DF-D57B-3BC9-BCAEB896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4">
            <a:extLst>
              <a:ext uri="{FF2B5EF4-FFF2-40B4-BE49-F238E27FC236}">
                <a16:creationId xmlns:a16="http://schemas.microsoft.com/office/drawing/2014/main" id="{AB0A5C24-4EF5-090D-D135-31B8BBBE6FE6}"/>
              </a:ext>
            </a:extLst>
          </p:cNvPr>
          <p:cNvSpPr/>
          <p:nvPr/>
        </p:nvSpPr>
        <p:spPr>
          <a:xfrm>
            <a:off x="3851920" y="1679518"/>
            <a:ext cx="504056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2F0917C-B1E8-DDCB-E83E-1927878D1416}"/>
              </a:ext>
            </a:extLst>
          </p:cNvPr>
          <p:cNvSpPr txBox="1"/>
          <p:nvPr/>
        </p:nvSpPr>
        <p:spPr>
          <a:xfrm>
            <a:off x="3851920" y="1131590"/>
            <a:ext cx="48567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Sub-Agenda: The Basic Model of Chase &amp; Escape </a:t>
            </a: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b="1" noProof="0" dirty="0"/>
              <a:t>The Computerized Model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Simulations</a:t>
            </a:r>
          </a:p>
        </p:txBody>
      </p:sp>
      <p:pic>
        <p:nvPicPr>
          <p:cNvPr id="5" name="Picture 2" descr="Exciting wildlife chase as lion hunts gazelle in natures survival drama  Concept Wildlife Photography Lion Hunting Nature Survival Animal Behavior  Dramatic Nature Capture | Premium AI-generated image">
            <a:extLst>
              <a:ext uri="{FF2B5EF4-FFF2-40B4-BE49-F238E27FC236}">
                <a16:creationId xmlns:a16="http://schemas.microsoft.com/office/drawing/2014/main" id="{EE46A3F2-F5B0-7029-5176-4B0268FE7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0"/>
            <a:ext cx="2880320" cy="1440161"/>
          </a:xfrm>
          <a:prstGeom prst="rect">
            <a:avLst/>
          </a:prstGeom>
          <a:noFill/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EB9233C-97B5-787A-F2D7-9960132C791B}"/>
              </a:ext>
            </a:extLst>
          </p:cNvPr>
          <p:cNvSpPr txBox="1"/>
          <p:nvPr/>
        </p:nvSpPr>
        <p:spPr>
          <a:xfrm>
            <a:off x="6012160" y="3419584"/>
            <a:ext cx="2880320" cy="16004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implemented model is a toroidal lattice pursuit-evasion system with random tie-breaking, sequential within-species updates, blocked-motion handling, and capture realized only by explicit chaser hops onto target cells.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682152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AD610-E403-394E-EFCF-E6ABE85F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modular program structure follows our previous architectures</a:t>
            </a:r>
          </a:p>
        </p:txBody>
      </p:sp>
      <p:sp>
        <p:nvSpPr>
          <p:cNvPr id="7" name="Rechteck: obere Ecken abgerundet 6">
            <a:extLst>
              <a:ext uri="{FF2B5EF4-FFF2-40B4-BE49-F238E27FC236}">
                <a16:creationId xmlns:a16="http://schemas.microsoft.com/office/drawing/2014/main" id="{871A8F8A-BB19-5A5D-1944-048100B5944B}"/>
              </a:ext>
            </a:extLst>
          </p:cNvPr>
          <p:cNvSpPr/>
          <p:nvPr/>
        </p:nvSpPr>
        <p:spPr>
          <a:xfrm>
            <a:off x="3275855" y="1136043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8D28AF6-C466-6BC4-CF8A-84FE16D528E7}"/>
              </a:ext>
            </a:extLst>
          </p:cNvPr>
          <p:cNvSpPr/>
          <p:nvPr/>
        </p:nvSpPr>
        <p:spPr>
          <a:xfrm>
            <a:off x="3275856" y="1269676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 err="1">
                <a:solidFill>
                  <a:schemeClr val="tx1"/>
                </a:solidFill>
              </a:rPr>
              <a:t>chase_escape</a:t>
            </a:r>
            <a:r>
              <a:rPr lang="en-US" sz="1200" noProof="0" dirty="0">
                <a:solidFill>
                  <a:schemeClr val="tx1"/>
                </a:solidFill>
              </a:rPr>
              <a:t>/</a:t>
            </a:r>
          </a:p>
        </p:txBody>
      </p:sp>
      <p:sp>
        <p:nvSpPr>
          <p:cNvPr id="9" name="Rechteck: obere Ecken abgerundet 8">
            <a:extLst>
              <a:ext uri="{FF2B5EF4-FFF2-40B4-BE49-F238E27FC236}">
                <a16:creationId xmlns:a16="http://schemas.microsoft.com/office/drawing/2014/main" id="{39605203-0BCC-0D48-68AA-F4F712BD0702}"/>
              </a:ext>
            </a:extLst>
          </p:cNvPr>
          <p:cNvSpPr/>
          <p:nvPr/>
        </p:nvSpPr>
        <p:spPr>
          <a:xfrm>
            <a:off x="985108" y="2643758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D0F398-05A7-E16B-2C1E-C020F2A3E0F1}"/>
              </a:ext>
            </a:extLst>
          </p:cNvPr>
          <p:cNvSpPr/>
          <p:nvPr/>
        </p:nvSpPr>
        <p:spPr>
          <a:xfrm>
            <a:off x="985108" y="2777391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visualization/</a:t>
            </a:r>
          </a:p>
        </p:txBody>
      </p:sp>
      <p:sp>
        <p:nvSpPr>
          <p:cNvPr id="11" name="Rechteck: obere Ecken abgerundet 10">
            <a:extLst>
              <a:ext uri="{FF2B5EF4-FFF2-40B4-BE49-F238E27FC236}">
                <a16:creationId xmlns:a16="http://schemas.microsoft.com/office/drawing/2014/main" id="{6330D35E-FEA8-7FD0-110D-934575908554}"/>
              </a:ext>
            </a:extLst>
          </p:cNvPr>
          <p:cNvSpPr/>
          <p:nvPr/>
        </p:nvSpPr>
        <p:spPr>
          <a:xfrm>
            <a:off x="985108" y="4454340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E3BE0DE-8EE0-63D8-4167-A8076A4373FB}"/>
              </a:ext>
            </a:extLst>
          </p:cNvPr>
          <p:cNvSpPr/>
          <p:nvPr/>
        </p:nvSpPr>
        <p:spPr>
          <a:xfrm>
            <a:off x="985108" y="4578743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tests/</a:t>
            </a:r>
          </a:p>
        </p:txBody>
      </p: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3C55CA40-46CA-70FF-FE2F-0306316CAFFD}"/>
              </a:ext>
            </a:extLst>
          </p:cNvPr>
          <p:cNvCxnSpPr>
            <a:stCxn id="8" idx="2"/>
            <a:endCxn id="10" idx="3"/>
          </p:cNvCxnSpPr>
          <p:nvPr/>
        </p:nvCxnSpPr>
        <p:spPr>
          <a:xfrm rot="5400000">
            <a:off x="2351040" y="1497151"/>
            <a:ext cx="1287076" cy="1714684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2FD78B30-9D0D-9349-0C7D-7015FDB182D4}"/>
              </a:ext>
            </a:extLst>
          </p:cNvPr>
          <p:cNvCxnSpPr>
            <a:cxnSpLocks/>
            <a:stCxn id="8" idx="2"/>
            <a:endCxn id="12" idx="3"/>
          </p:cNvCxnSpPr>
          <p:nvPr/>
        </p:nvCxnSpPr>
        <p:spPr>
          <a:xfrm rot="5400000">
            <a:off x="1450364" y="2397827"/>
            <a:ext cx="3088428" cy="1714684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2E0CDD0D-E5B4-C7A1-DA67-104AD8B1F253}"/>
              </a:ext>
            </a:extLst>
          </p:cNvPr>
          <p:cNvSpPr/>
          <p:nvPr/>
        </p:nvSpPr>
        <p:spPr>
          <a:xfrm>
            <a:off x="1647248" y="3335702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__init__.py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1FC71EF-EF79-9116-DB19-0F815A2B7EDF}"/>
              </a:ext>
            </a:extLst>
          </p:cNvPr>
          <p:cNvSpPr/>
          <p:nvPr/>
        </p:nvSpPr>
        <p:spPr>
          <a:xfrm>
            <a:off x="1647248" y="3674414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plotters.py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9C6F8A1-F9EE-CCAF-103A-BC1D9D40AE98}"/>
              </a:ext>
            </a:extLst>
          </p:cNvPr>
          <p:cNvSpPr/>
          <p:nvPr/>
        </p:nvSpPr>
        <p:spPr>
          <a:xfrm>
            <a:off x="1647248" y="4013759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animation.py</a:t>
            </a: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520A12A8-7292-C427-9579-A040E07BCAD3}"/>
              </a:ext>
            </a:extLst>
          </p:cNvPr>
          <p:cNvCxnSpPr>
            <a:cxnSpLocks/>
            <a:stCxn id="10" idx="2"/>
            <a:endCxn id="15" idx="1"/>
          </p:cNvCxnSpPr>
          <p:nvPr/>
        </p:nvCxnSpPr>
        <p:spPr>
          <a:xfrm rot="16200000" flipH="1">
            <a:off x="1473686" y="3306156"/>
            <a:ext cx="261048" cy="86076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36CC74BB-F676-8B50-009F-6F95DB1D8F6A}"/>
              </a:ext>
            </a:extLst>
          </p:cNvPr>
          <p:cNvCxnSpPr>
            <a:cxnSpLocks/>
            <a:stCxn id="10" idx="2"/>
            <a:endCxn id="17" idx="1"/>
          </p:cNvCxnSpPr>
          <p:nvPr/>
        </p:nvCxnSpPr>
        <p:spPr>
          <a:xfrm rot="16200000" flipH="1">
            <a:off x="1134658" y="3645184"/>
            <a:ext cx="939105" cy="86076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44AAAC52-BB93-C83D-0BFE-10E83E85EAFE}"/>
              </a:ext>
            </a:extLst>
          </p:cNvPr>
          <p:cNvCxnSpPr>
            <a:cxnSpLocks/>
            <a:stCxn id="10" idx="2"/>
            <a:endCxn id="16" idx="1"/>
          </p:cNvCxnSpPr>
          <p:nvPr/>
        </p:nvCxnSpPr>
        <p:spPr>
          <a:xfrm rot="16200000" flipH="1">
            <a:off x="1304330" y="3475512"/>
            <a:ext cx="599760" cy="86076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Rechteck: obere Ecken abgerundet 21">
            <a:extLst>
              <a:ext uri="{FF2B5EF4-FFF2-40B4-BE49-F238E27FC236}">
                <a16:creationId xmlns:a16="http://schemas.microsoft.com/office/drawing/2014/main" id="{FF1FEF3F-9305-85EC-237F-A3AE0A4223E7}"/>
              </a:ext>
            </a:extLst>
          </p:cNvPr>
          <p:cNvSpPr/>
          <p:nvPr/>
        </p:nvSpPr>
        <p:spPr>
          <a:xfrm>
            <a:off x="4716016" y="3369023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E182143-76A0-70EB-3256-3762D7C24B70}"/>
              </a:ext>
            </a:extLst>
          </p:cNvPr>
          <p:cNvSpPr/>
          <p:nvPr/>
        </p:nvSpPr>
        <p:spPr>
          <a:xfrm>
            <a:off x="4716017" y="3502656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analysis/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AACFB44-30A5-DE0A-2DEE-F6D149A93C84}"/>
              </a:ext>
            </a:extLst>
          </p:cNvPr>
          <p:cNvSpPr/>
          <p:nvPr/>
        </p:nvSpPr>
        <p:spPr>
          <a:xfrm>
            <a:off x="4880230" y="4065420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__init__.py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3033E1F-1455-5E7B-6609-C534B30558AD}"/>
              </a:ext>
            </a:extLst>
          </p:cNvPr>
          <p:cNvSpPr/>
          <p:nvPr/>
        </p:nvSpPr>
        <p:spPr>
          <a:xfrm>
            <a:off x="4880230" y="4399679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observables.py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3847983-6106-3EA9-56A6-8040B6401046}"/>
              </a:ext>
            </a:extLst>
          </p:cNvPr>
          <p:cNvSpPr/>
          <p:nvPr/>
        </p:nvSpPr>
        <p:spPr>
          <a:xfrm>
            <a:off x="4880230" y="4731990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reporter.py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8CC042D-383F-8484-EB6C-74480F6CC29D}"/>
              </a:ext>
            </a:extLst>
          </p:cNvPr>
          <p:cNvSpPr/>
          <p:nvPr/>
        </p:nvSpPr>
        <p:spPr>
          <a:xfrm>
            <a:off x="4716016" y="3810320"/>
            <a:ext cx="164213" cy="133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BCD8CD09-C018-C0AA-0F5E-8F933DD99F5B}"/>
              </a:ext>
            </a:extLst>
          </p:cNvPr>
          <p:cNvCxnSpPr>
            <a:cxnSpLocks/>
            <a:stCxn id="27" idx="2"/>
            <a:endCxn id="24" idx="1"/>
          </p:cNvCxnSpPr>
          <p:nvPr/>
        </p:nvCxnSpPr>
        <p:spPr>
          <a:xfrm rot="16200000" flipH="1">
            <a:off x="4706435" y="4035641"/>
            <a:ext cx="265482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C4A378DF-CBB8-47C7-0CCB-CA954D23CB31}"/>
              </a:ext>
            </a:extLst>
          </p:cNvPr>
          <p:cNvCxnSpPr>
            <a:cxnSpLocks/>
            <a:stCxn id="27" idx="2"/>
            <a:endCxn id="26" idx="1"/>
          </p:cNvCxnSpPr>
          <p:nvPr/>
        </p:nvCxnSpPr>
        <p:spPr>
          <a:xfrm rot="16200000" flipH="1">
            <a:off x="4373150" y="4368926"/>
            <a:ext cx="932052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23BB3877-C513-3C99-6A82-35282E976312}"/>
              </a:ext>
            </a:extLst>
          </p:cNvPr>
          <p:cNvCxnSpPr>
            <a:cxnSpLocks/>
            <a:stCxn id="27" idx="2"/>
            <a:endCxn id="25" idx="1"/>
          </p:cNvCxnSpPr>
          <p:nvPr/>
        </p:nvCxnSpPr>
        <p:spPr>
          <a:xfrm rot="16200000" flipH="1">
            <a:off x="4539306" y="4202770"/>
            <a:ext cx="599741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Rechteck: obere Ecken abgerundet 30">
            <a:extLst>
              <a:ext uri="{FF2B5EF4-FFF2-40B4-BE49-F238E27FC236}">
                <a16:creationId xmlns:a16="http://schemas.microsoft.com/office/drawing/2014/main" id="{EC2D1F9C-F220-5D44-59FF-988CCC415D91}"/>
              </a:ext>
            </a:extLst>
          </p:cNvPr>
          <p:cNvSpPr/>
          <p:nvPr/>
        </p:nvSpPr>
        <p:spPr>
          <a:xfrm>
            <a:off x="4723216" y="1762524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16C66225-7168-46DD-62BA-A2A92E085BC9}"/>
              </a:ext>
            </a:extLst>
          </p:cNvPr>
          <p:cNvSpPr/>
          <p:nvPr/>
        </p:nvSpPr>
        <p:spPr>
          <a:xfrm>
            <a:off x="4723217" y="1896157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config/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EBF0919-5792-B08C-B092-ABFB5F7FA787}"/>
              </a:ext>
            </a:extLst>
          </p:cNvPr>
          <p:cNvSpPr/>
          <p:nvPr/>
        </p:nvSpPr>
        <p:spPr>
          <a:xfrm>
            <a:off x="4887430" y="2441802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__initi__.py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E720796-B6E8-3408-67FD-6CFF5C712924}"/>
              </a:ext>
            </a:extLst>
          </p:cNvPr>
          <p:cNvSpPr/>
          <p:nvPr/>
        </p:nvSpPr>
        <p:spPr>
          <a:xfrm>
            <a:off x="4723216" y="2203821"/>
            <a:ext cx="164213" cy="133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9D9CF96D-005A-E7B7-1481-AD1A1E834FB4}"/>
              </a:ext>
            </a:extLst>
          </p:cNvPr>
          <p:cNvCxnSpPr>
            <a:cxnSpLocks/>
            <a:stCxn id="34" idx="2"/>
            <a:endCxn id="33" idx="1"/>
          </p:cNvCxnSpPr>
          <p:nvPr/>
        </p:nvCxnSpPr>
        <p:spPr>
          <a:xfrm rot="16200000" flipH="1">
            <a:off x="4722195" y="2420582"/>
            <a:ext cx="248363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hteck: obere Ecken abgerundet 35">
            <a:extLst>
              <a:ext uri="{FF2B5EF4-FFF2-40B4-BE49-F238E27FC236}">
                <a16:creationId xmlns:a16="http://schemas.microsoft.com/office/drawing/2014/main" id="{B70A64BE-ACC2-4F57-D32C-35E659BAC93E}"/>
              </a:ext>
            </a:extLst>
          </p:cNvPr>
          <p:cNvSpPr/>
          <p:nvPr/>
        </p:nvSpPr>
        <p:spPr>
          <a:xfrm>
            <a:off x="7020271" y="2865961"/>
            <a:ext cx="583265" cy="13363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68D04C-9105-6016-BC21-BE540353BF5D}"/>
              </a:ext>
            </a:extLst>
          </p:cNvPr>
          <p:cNvSpPr/>
          <p:nvPr/>
        </p:nvSpPr>
        <p:spPr>
          <a:xfrm>
            <a:off x="7020272" y="2999594"/>
            <a:ext cx="1152128" cy="4412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tx1"/>
                </a:solidFill>
              </a:rPr>
              <a:t>core/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88BC7A3-69DD-22BA-FE9E-729949A14341}"/>
              </a:ext>
            </a:extLst>
          </p:cNvPr>
          <p:cNvSpPr/>
          <p:nvPr/>
        </p:nvSpPr>
        <p:spPr>
          <a:xfrm>
            <a:off x="7668344" y="3562358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movement.py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85577DB-9700-11F2-AF1D-16E6BB1161C6}"/>
              </a:ext>
            </a:extLst>
          </p:cNvPr>
          <p:cNvSpPr/>
          <p:nvPr/>
        </p:nvSpPr>
        <p:spPr>
          <a:xfrm>
            <a:off x="7668344" y="3896617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capture.py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CA624C3-B8F9-FED7-55F5-4740BB25B09D}"/>
              </a:ext>
            </a:extLst>
          </p:cNvPr>
          <p:cNvSpPr/>
          <p:nvPr/>
        </p:nvSpPr>
        <p:spPr>
          <a:xfrm>
            <a:off x="7668344" y="4228928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simulation.py</a:t>
            </a:r>
          </a:p>
        </p:txBody>
      </p:sp>
      <p:cxnSp>
        <p:nvCxnSpPr>
          <p:cNvPr id="41" name="Verbinder: gewinkelt 40">
            <a:extLst>
              <a:ext uri="{FF2B5EF4-FFF2-40B4-BE49-F238E27FC236}">
                <a16:creationId xmlns:a16="http://schemas.microsoft.com/office/drawing/2014/main" id="{FF97A78E-A65F-9FDF-DF60-7E53AF4C6B3D}"/>
              </a:ext>
            </a:extLst>
          </p:cNvPr>
          <p:cNvCxnSpPr>
            <a:cxnSpLocks/>
            <a:stCxn id="37" idx="2"/>
            <a:endCxn id="38" idx="1"/>
          </p:cNvCxnSpPr>
          <p:nvPr/>
        </p:nvCxnSpPr>
        <p:spPr>
          <a:xfrm rot="16200000" flipH="1">
            <a:off x="7499590" y="3537619"/>
            <a:ext cx="265501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F4BA6353-645A-6E06-53FE-3702BEBB11DF}"/>
              </a:ext>
            </a:extLst>
          </p:cNvPr>
          <p:cNvCxnSpPr>
            <a:cxnSpLocks/>
            <a:stCxn id="37" idx="2"/>
            <a:endCxn id="40" idx="1"/>
          </p:cNvCxnSpPr>
          <p:nvPr/>
        </p:nvCxnSpPr>
        <p:spPr>
          <a:xfrm rot="16200000" flipH="1">
            <a:off x="7166305" y="3870904"/>
            <a:ext cx="932071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77EBBF5A-8BCE-7EE6-51E7-441A4A3C44A0}"/>
              </a:ext>
            </a:extLst>
          </p:cNvPr>
          <p:cNvCxnSpPr>
            <a:cxnSpLocks/>
            <a:stCxn id="37" idx="2"/>
            <a:endCxn id="39" idx="1"/>
          </p:cNvCxnSpPr>
          <p:nvPr/>
        </p:nvCxnSpPr>
        <p:spPr>
          <a:xfrm rot="16200000" flipH="1">
            <a:off x="7332460" y="3704749"/>
            <a:ext cx="599760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8834C55C-C512-7614-5AFF-7090BFF10094}"/>
              </a:ext>
            </a:extLst>
          </p:cNvPr>
          <p:cNvSpPr/>
          <p:nvPr/>
        </p:nvSpPr>
        <p:spPr>
          <a:xfrm>
            <a:off x="1705188" y="1779662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main.py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B1A9FFD2-7C6A-D2AA-F352-8E2472C7905F}"/>
              </a:ext>
            </a:extLst>
          </p:cNvPr>
          <p:cNvCxnSpPr>
            <a:stCxn id="32" idx="1"/>
            <a:endCxn id="8" idx="2"/>
          </p:cNvCxnSpPr>
          <p:nvPr/>
        </p:nvCxnSpPr>
        <p:spPr>
          <a:xfrm rot="10800000">
            <a:off x="3851921" y="1710955"/>
            <a:ext cx="871297" cy="405842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B69E71AA-0F4E-7B57-7318-ECAFFC326477}"/>
              </a:ext>
            </a:extLst>
          </p:cNvPr>
          <p:cNvCxnSpPr>
            <a:cxnSpLocks/>
            <a:stCxn id="23" idx="1"/>
            <a:endCxn id="8" idx="2"/>
          </p:cNvCxnSpPr>
          <p:nvPr/>
        </p:nvCxnSpPr>
        <p:spPr>
          <a:xfrm rot="10800000">
            <a:off x="3851921" y="1710956"/>
            <a:ext cx="864097" cy="2012341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Verbinder: gewinkelt 46">
            <a:extLst>
              <a:ext uri="{FF2B5EF4-FFF2-40B4-BE49-F238E27FC236}">
                <a16:creationId xmlns:a16="http://schemas.microsoft.com/office/drawing/2014/main" id="{678899C0-1EB3-3881-3CF8-17EDC3B79408}"/>
              </a:ext>
            </a:extLst>
          </p:cNvPr>
          <p:cNvCxnSpPr>
            <a:stCxn id="44" idx="3"/>
            <a:endCxn id="8" idx="2"/>
          </p:cNvCxnSpPr>
          <p:nvPr/>
        </p:nvCxnSpPr>
        <p:spPr>
          <a:xfrm flipV="1">
            <a:off x="2929324" y="1710955"/>
            <a:ext cx="922596" cy="212723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Verbinder: gewinkelt 47">
            <a:extLst>
              <a:ext uri="{FF2B5EF4-FFF2-40B4-BE49-F238E27FC236}">
                <a16:creationId xmlns:a16="http://schemas.microsoft.com/office/drawing/2014/main" id="{982EB00B-C455-E1A4-A314-87E3BFD1E49F}"/>
              </a:ext>
            </a:extLst>
          </p:cNvPr>
          <p:cNvCxnSpPr>
            <a:cxnSpLocks/>
            <a:stCxn id="8" idx="2"/>
            <a:endCxn id="37" idx="1"/>
          </p:cNvCxnSpPr>
          <p:nvPr/>
        </p:nvCxnSpPr>
        <p:spPr>
          <a:xfrm rot="16200000" flipH="1">
            <a:off x="4681457" y="881418"/>
            <a:ext cx="1509279" cy="3168352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7D5D7C0B-5758-76D4-9367-6A399CFD27B8}"/>
              </a:ext>
            </a:extLst>
          </p:cNvPr>
          <p:cNvSpPr/>
          <p:nvPr/>
        </p:nvSpPr>
        <p:spPr>
          <a:xfrm>
            <a:off x="6300192" y="4397179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agents.py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6C4E7CB-DA47-FDC1-7CAE-2B56190741E0}"/>
              </a:ext>
            </a:extLst>
          </p:cNvPr>
          <p:cNvSpPr/>
          <p:nvPr/>
        </p:nvSpPr>
        <p:spPr>
          <a:xfrm>
            <a:off x="6300192" y="3730057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__init__.py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E76D2278-5123-355E-179B-075564845E09}"/>
              </a:ext>
            </a:extLst>
          </p:cNvPr>
          <p:cNvSpPr/>
          <p:nvPr/>
        </p:nvSpPr>
        <p:spPr>
          <a:xfrm>
            <a:off x="6300192" y="4062368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lattice.py</a:t>
            </a:r>
          </a:p>
        </p:txBody>
      </p:sp>
      <p:cxnSp>
        <p:nvCxnSpPr>
          <p:cNvPr id="52" name="Verbinder: gewinkelt 51">
            <a:extLst>
              <a:ext uri="{FF2B5EF4-FFF2-40B4-BE49-F238E27FC236}">
                <a16:creationId xmlns:a16="http://schemas.microsoft.com/office/drawing/2014/main" id="{0A9BA4A4-9279-5096-19E0-A1302B882DBE}"/>
              </a:ext>
            </a:extLst>
          </p:cNvPr>
          <p:cNvCxnSpPr>
            <a:cxnSpLocks/>
            <a:stCxn id="37" idx="2"/>
            <a:endCxn id="51" idx="3"/>
          </p:cNvCxnSpPr>
          <p:nvPr/>
        </p:nvCxnSpPr>
        <p:spPr>
          <a:xfrm rot="5400000">
            <a:off x="7177577" y="3787624"/>
            <a:ext cx="765511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BC688AE5-BDAB-4EC5-E5CA-F68293F7CB53}"/>
              </a:ext>
            </a:extLst>
          </p:cNvPr>
          <p:cNvCxnSpPr>
            <a:cxnSpLocks/>
            <a:stCxn id="37" idx="2"/>
            <a:endCxn id="50" idx="3"/>
          </p:cNvCxnSpPr>
          <p:nvPr/>
        </p:nvCxnSpPr>
        <p:spPr>
          <a:xfrm rot="5400000">
            <a:off x="7343732" y="3621469"/>
            <a:ext cx="433200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642FC08A-2535-93AF-0F56-B8A41B5B0529}"/>
              </a:ext>
            </a:extLst>
          </p:cNvPr>
          <p:cNvCxnSpPr>
            <a:cxnSpLocks/>
            <a:stCxn id="37" idx="2"/>
            <a:endCxn id="49" idx="3"/>
          </p:cNvCxnSpPr>
          <p:nvPr/>
        </p:nvCxnSpPr>
        <p:spPr>
          <a:xfrm rot="5400000">
            <a:off x="7010171" y="3955030"/>
            <a:ext cx="1100322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FDBA0F35-6769-7342-2DD7-904D0B93E191}"/>
              </a:ext>
            </a:extLst>
          </p:cNvPr>
          <p:cNvSpPr/>
          <p:nvPr/>
        </p:nvSpPr>
        <p:spPr>
          <a:xfrm>
            <a:off x="4887430" y="2787774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config.py</a:t>
            </a:r>
          </a:p>
        </p:txBody>
      </p:sp>
      <p:cxnSp>
        <p:nvCxnSpPr>
          <p:cNvPr id="56" name="Verbinder: gewinkelt 55">
            <a:extLst>
              <a:ext uri="{FF2B5EF4-FFF2-40B4-BE49-F238E27FC236}">
                <a16:creationId xmlns:a16="http://schemas.microsoft.com/office/drawing/2014/main" id="{BA951134-2886-F9CC-34E1-773401ABFFB1}"/>
              </a:ext>
            </a:extLst>
          </p:cNvPr>
          <p:cNvCxnSpPr>
            <a:cxnSpLocks/>
            <a:stCxn id="34" idx="2"/>
            <a:endCxn id="55" idx="1"/>
          </p:cNvCxnSpPr>
          <p:nvPr/>
        </p:nvCxnSpPr>
        <p:spPr>
          <a:xfrm rot="16200000" flipH="1">
            <a:off x="4549209" y="2593568"/>
            <a:ext cx="594335" cy="82107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03AD58E1-82C6-8C2B-FE0E-8A318E8DA244}"/>
              </a:ext>
            </a:extLst>
          </p:cNvPr>
          <p:cNvSpPr/>
          <p:nvPr/>
        </p:nvSpPr>
        <p:spPr>
          <a:xfrm>
            <a:off x="6300192" y="4731990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distance.py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E258576F-DCC9-BC88-2865-4D761495523C}"/>
              </a:ext>
            </a:extLst>
          </p:cNvPr>
          <p:cNvSpPr/>
          <p:nvPr/>
        </p:nvSpPr>
        <p:spPr>
          <a:xfrm>
            <a:off x="7669440" y="4561239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utils.py</a:t>
            </a:r>
          </a:p>
        </p:txBody>
      </p:sp>
      <p:cxnSp>
        <p:nvCxnSpPr>
          <p:cNvPr id="63" name="Verbinder: gewinkelt 62">
            <a:extLst>
              <a:ext uri="{FF2B5EF4-FFF2-40B4-BE49-F238E27FC236}">
                <a16:creationId xmlns:a16="http://schemas.microsoft.com/office/drawing/2014/main" id="{3F86E5EF-B67A-1369-B24A-AA4A1CE9BE8B}"/>
              </a:ext>
            </a:extLst>
          </p:cNvPr>
          <p:cNvCxnSpPr>
            <a:cxnSpLocks/>
            <a:stCxn id="37" idx="2"/>
            <a:endCxn id="61" idx="3"/>
          </p:cNvCxnSpPr>
          <p:nvPr/>
        </p:nvCxnSpPr>
        <p:spPr>
          <a:xfrm rot="5400000">
            <a:off x="6842766" y="4122435"/>
            <a:ext cx="1435133" cy="72008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Verbinder: gewinkelt 65">
            <a:extLst>
              <a:ext uri="{FF2B5EF4-FFF2-40B4-BE49-F238E27FC236}">
                <a16:creationId xmlns:a16="http://schemas.microsoft.com/office/drawing/2014/main" id="{A07E703F-6989-24F6-EF38-D001A0E043D3}"/>
              </a:ext>
            </a:extLst>
          </p:cNvPr>
          <p:cNvCxnSpPr>
            <a:cxnSpLocks/>
            <a:stCxn id="37" idx="2"/>
            <a:endCxn id="62" idx="1"/>
          </p:cNvCxnSpPr>
          <p:nvPr/>
        </p:nvCxnSpPr>
        <p:spPr>
          <a:xfrm rot="16200000" flipH="1">
            <a:off x="7000697" y="4036512"/>
            <a:ext cx="1264382" cy="73104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9" name="Rechteck 68">
            <a:extLst>
              <a:ext uri="{FF2B5EF4-FFF2-40B4-BE49-F238E27FC236}">
                <a16:creationId xmlns:a16="http://schemas.microsoft.com/office/drawing/2014/main" id="{D40FC5BA-56C5-A47C-2AED-5C82080BB286}"/>
              </a:ext>
            </a:extLst>
          </p:cNvPr>
          <p:cNvSpPr/>
          <p:nvPr/>
        </p:nvSpPr>
        <p:spPr>
          <a:xfrm>
            <a:off x="251520" y="3507854"/>
            <a:ext cx="122413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snapshots.py</a:t>
            </a:r>
          </a:p>
        </p:txBody>
      </p:sp>
      <p:cxnSp>
        <p:nvCxnSpPr>
          <p:cNvPr id="72" name="Verbinder: gewinkelt 71">
            <a:extLst>
              <a:ext uri="{FF2B5EF4-FFF2-40B4-BE49-F238E27FC236}">
                <a16:creationId xmlns:a16="http://schemas.microsoft.com/office/drawing/2014/main" id="{945744BD-1A1C-0B9B-5467-D533458673D9}"/>
              </a:ext>
            </a:extLst>
          </p:cNvPr>
          <p:cNvCxnSpPr>
            <a:cxnSpLocks/>
            <a:stCxn id="10" idx="2"/>
            <a:endCxn id="69" idx="3"/>
          </p:cNvCxnSpPr>
          <p:nvPr/>
        </p:nvCxnSpPr>
        <p:spPr>
          <a:xfrm rot="5400000">
            <a:off x="1301814" y="3392512"/>
            <a:ext cx="433200" cy="85516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8A3D5797-6697-0DDD-3BA9-137C8C812E19}"/>
              </a:ext>
            </a:extLst>
          </p:cNvPr>
          <p:cNvSpPr/>
          <p:nvPr/>
        </p:nvSpPr>
        <p:spPr>
          <a:xfrm>
            <a:off x="6732240" y="1428022"/>
            <a:ext cx="2142136" cy="59275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script that automatically creates all the folders and files (correct names, but empty)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CEC583F5-1B01-64E0-56D0-68EACC5F549F}"/>
              </a:ext>
            </a:extLst>
          </p:cNvPr>
          <p:cNvSpPr/>
          <p:nvPr/>
        </p:nvSpPr>
        <p:spPr>
          <a:xfrm>
            <a:off x="6732240" y="1139989"/>
            <a:ext cx="2142136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setup.py</a:t>
            </a: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DEA3D500-15E3-FECC-F986-8D083B40D380}"/>
              </a:ext>
            </a:extLst>
          </p:cNvPr>
          <p:cNvSpPr/>
          <p:nvPr/>
        </p:nvSpPr>
        <p:spPr>
          <a:xfrm>
            <a:off x="2339752" y="2211710"/>
            <a:ext cx="138968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README.md</a:t>
            </a: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20EF95B5-E909-EEAD-8329-8DE5C95B06C6}"/>
              </a:ext>
            </a:extLst>
          </p:cNvPr>
          <p:cNvSpPr/>
          <p:nvPr/>
        </p:nvSpPr>
        <p:spPr>
          <a:xfrm>
            <a:off x="2339752" y="2550422"/>
            <a:ext cx="1389686" cy="2880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requirenments.txt</a:t>
            </a:r>
          </a:p>
        </p:txBody>
      </p: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5EBF2E62-B325-514B-3274-9EFD98E17EAD}"/>
              </a:ext>
            </a:extLst>
          </p:cNvPr>
          <p:cNvCxnSpPr>
            <a:cxnSpLocks/>
            <a:stCxn id="90" idx="3"/>
            <a:endCxn id="8" idx="2"/>
          </p:cNvCxnSpPr>
          <p:nvPr/>
        </p:nvCxnSpPr>
        <p:spPr>
          <a:xfrm flipV="1">
            <a:off x="3729438" y="1710955"/>
            <a:ext cx="122482" cy="644771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Verbinder: gewinkelt 94">
            <a:extLst>
              <a:ext uri="{FF2B5EF4-FFF2-40B4-BE49-F238E27FC236}">
                <a16:creationId xmlns:a16="http://schemas.microsoft.com/office/drawing/2014/main" id="{2AF9DADF-7358-CB7F-5817-21E10046642D}"/>
              </a:ext>
            </a:extLst>
          </p:cNvPr>
          <p:cNvCxnSpPr>
            <a:cxnSpLocks/>
            <a:stCxn id="91" idx="3"/>
            <a:endCxn id="8" idx="2"/>
          </p:cNvCxnSpPr>
          <p:nvPr/>
        </p:nvCxnSpPr>
        <p:spPr>
          <a:xfrm flipV="1">
            <a:off x="3729438" y="1710955"/>
            <a:ext cx="122482" cy="983483"/>
          </a:xfrm>
          <a:prstGeom prst="bentConnector2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06087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38A5F1-4788-C2D1-F952-E8FCBF44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Here, the single files contain the information necessary to simulate the basic chase and escape model (1/ 2)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03FAE82-3EA3-F3DA-3D86-6DD7E2E144A3}"/>
              </a:ext>
            </a:extLst>
          </p:cNvPr>
          <p:cNvSpPr/>
          <p:nvPr/>
        </p:nvSpPr>
        <p:spPr>
          <a:xfrm>
            <a:off x="251520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Main file</a:t>
            </a:r>
          </a:p>
          <a:p>
            <a:endParaRPr lang="en-US" sz="1000" noProof="0" dirty="0">
              <a:solidFill>
                <a:schemeClr val="tx1"/>
              </a:solidFill>
            </a:endParaRPr>
          </a:p>
          <a:p>
            <a:r>
              <a:rPr lang="en-US" sz="1000" noProof="0" dirty="0">
                <a:solidFill>
                  <a:schemeClr val="tx1"/>
                </a:solidFill>
              </a:rPr>
              <a:t>supported by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README.md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requirenments.txt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DC789E1-88DB-0B7D-9B46-EB6F3ABE0B4C}"/>
              </a:ext>
            </a:extLst>
          </p:cNvPr>
          <p:cNvSpPr/>
          <p:nvPr/>
        </p:nvSpPr>
        <p:spPr>
          <a:xfrm>
            <a:off x="1979712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Stores: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lattice size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numbers of chasers and targets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number of time steps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random seed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visualization settings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debug flag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0159F29-2477-0312-3443-DB86720EF82E}"/>
              </a:ext>
            </a:extLst>
          </p:cNvPr>
          <p:cNvSpPr/>
          <p:nvPr/>
        </p:nvSpPr>
        <p:spPr>
          <a:xfrm>
            <a:off x="3744742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Responsible for: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creating the lattice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toroidal wrapping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occupancy checks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placing and removing agents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querying whether a site is empty or occupied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70AA770-1E81-9642-27DE-8F64E117E61E}"/>
              </a:ext>
            </a:extLst>
          </p:cNvPr>
          <p:cNvSpPr/>
          <p:nvPr/>
        </p:nvSpPr>
        <p:spPr>
          <a:xfrm>
            <a:off x="5508104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Defines classes such as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target and 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chaser</a:t>
            </a:r>
          </a:p>
          <a:p>
            <a:endParaRPr lang="en-US" sz="500" noProof="0" dirty="0">
              <a:solidFill>
                <a:schemeClr val="tx1"/>
              </a:solidFill>
            </a:endParaRPr>
          </a:p>
          <a:p>
            <a:r>
              <a:rPr lang="en-US" sz="1000" noProof="0" dirty="0">
                <a:solidFill>
                  <a:schemeClr val="tx1"/>
                </a:solidFill>
              </a:rPr>
              <a:t>Each agent should minimally have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unique id,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position (x, y),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active/ alive status for targets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A8B506B-31B1-D1ED-C05D-B299D3257173}"/>
              </a:ext>
            </a:extLst>
          </p:cNvPr>
          <p:cNvSpPr/>
          <p:nvPr/>
        </p:nvSpPr>
        <p:spPr>
          <a:xfrm>
            <a:off x="251520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main.py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F9C732F-3F5F-D228-3B80-06E40CF75F10}"/>
              </a:ext>
            </a:extLst>
          </p:cNvPr>
          <p:cNvSpPr/>
          <p:nvPr/>
        </p:nvSpPr>
        <p:spPr>
          <a:xfrm>
            <a:off x="1979712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config/config.py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40D0CE5-9720-F2C4-14C6-AA7F5CCFBF01}"/>
              </a:ext>
            </a:extLst>
          </p:cNvPr>
          <p:cNvSpPr/>
          <p:nvPr/>
        </p:nvSpPr>
        <p:spPr>
          <a:xfrm>
            <a:off x="3744742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core/lattice.py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EE51A20-68C5-AD1C-4EFA-713D2B59FBFD}"/>
              </a:ext>
            </a:extLst>
          </p:cNvPr>
          <p:cNvSpPr/>
          <p:nvPr/>
        </p:nvSpPr>
        <p:spPr>
          <a:xfrm>
            <a:off x="5508104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core/agents.py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5E08A20-5EAB-D081-FD69-5F03313A569A}"/>
              </a:ext>
            </a:extLst>
          </p:cNvPr>
          <p:cNvSpPr/>
          <p:nvPr/>
        </p:nvSpPr>
        <p:spPr>
          <a:xfrm>
            <a:off x="7236296" y="1416908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Implements: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Euclidean distance on a torus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nearest chaser to a target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nearest target to a chaser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tie handling support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838EF1A-0950-19D9-AEA7-66B6B4F84FC0}"/>
              </a:ext>
            </a:extLst>
          </p:cNvPr>
          <p:cNvSpPr/>
          <p:nvPr/>
        </p:nvSpPr>
        <p:spPr>
          <a:xfrm>
            <a:off x="7236296" y="1128876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core/distance.py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07A8156-FF17-AC94-8CF7-840E6BE5884B}"/>
              </a:ext>
            </a:extLst>
          </p:cNvPr>
          <p:cNvSpPr/>
          <p:nvPr/>
        </p:nvSpPr>
        <p:spPr>
          <a:xfrm>
            <a:off x="251520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Contains the local movement rules: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candidate neighboring sites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target evasion rule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chaser pursuit rule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random tie resolution for equally good moves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blocked move handling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B2264F4-7385-815E-5A7A-660F88CD3FD8}"/>
              </a:ext>
            </a:extLst>
          </p:cNvPr>
          <p:cNvSpPr/>
          <p:nvPr/>
        </p:nvSpPr>
        <p:spPr>
          <a:xfrm>
            <a:off x="1979712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Handles the catch event: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detect whether a target is on a nearest site to a chaser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move chaser onto target site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remove target from the system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F4E0BC3-AF03-E7BB-68E8-60F9D4859AE3}"/>
              </a:ext>
            </a:extLst>
          </p:cNvPr>
          <p:cNvSpPr/>
          <p:nvPr/>
        </p:nvSpPr>
        <p:spPr>
          <a:xfrm>
            <a:off x="3744742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The central engine: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initialize state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iterate time steps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update targets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update chasers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resolve captures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record observables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3E066AE-6CCD-3D45-ED66-A7EE3EE83C2E}"/>
              </a:ext>
            </a:extLst>
          </p:cNvPr>
          <p:cNvSpPr/>
          <p:nvPr/>
        </p:nvSpPr>
        <p:spPr>
          <a:xfrm>
            <a:off x="5508104" y="3456384"/>
            <a:ext cx="3384376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Computes quantities such as: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number of surviving targets over time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number of captures per step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mean nearest chaser-target distance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time to extinction of all targets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spatial clustering measures, if wanted later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FE9FDB1-778C-38EC-410B-F5EA075A029F}"/>
              </a:ext>
            </a:extLst>
          </p:cNvPr>
          <p:cNvSpPr/>
          <p:nvPr/>
        </p:nvSpPr>
        <p:spPr>
          <a:xfrm>
            <a:off x="251520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core/movement.py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4EE9123-DEA3-E2EF-54CE-A2BDA3C1A5B5}"/>
              </a:ext>
            </a:extLst>
          </p:cNvPr>
          <p:cNvSpPr/>
          <p:nvPr/>
        </p:nvSpPr>
        <p:spPr>
          <a:xfrm>
            <a:off x="1979712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core/capture.py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6F118C7-6297-FABB-C4D1-4AB9C0159017}"/>
              </a:ext>
            </a:extLst>
          </p:cNvPr>
          <p:cNvSpPr/>
          <p:nvPr/>
        </p:nvSpPr>
        <p:spPr>
          <a:xfrm>
            <a:off x="3744742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core/simulation.py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338B110-D949-B90A-9FA5-42E3CB014C06}"/>
              </a:ext>
            </a:extLst>
          </p:cNvPr>
          <p:cNvSpPr/>
          <p:nvPr/>
        </p:nvSpPr>
        <p:spPr>
          <a:xfrm>
            <a:off x="5508104" y="3168352"/>
            <a:ext cx="3384376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analysis/observables.py</a:t>
            </a:r>
          </a:p>
        </p:txBody>
      </p:sp>
    </p:spTree>
    <p:extLst>
      <p:ext uri="{BB962C8B-B14F-4D97-AF65-F5344CB8AC3E}">
        <p14:creationId xmlns:p14="http://schemas.microsoft.com/office/powerpoint/2010/main" val="23594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886C-E70B-6490-84E2-4EE857EE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1A74D-8745-CF24-6758-6B3CD07A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Here, the single files contain the information necessary to simulate the basic chase and escape model (2/ 2)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CCAE782-4C3A-D3BC-D3F1-4CC94D529482}"/>
              </a:ext>
            </a:extLst>
          </p:cNvPr>
          <p:cNvSpPr/>
          <p:nvPr/>
        </p:nvSpPr>
        <p:spPr>
          <a:xfrm>
            <a:off x="251520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Produces: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lattice snapshots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time series plots of targets and chasers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optional trajectories of selected individuals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B078ABB-9103-34F0-75C6-DD8EB3684E15}"/>
              </a:ext>
            </a:extLst>
          </p:cNvPr>
          <p:cNvSpPr/>
          <p:nvPr/>
        </p:nvSpPr>
        <p:spPr>
          <a:xfrm>
            <a:off x="1979712" y="1419622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Produces: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animations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E3464F7-D58E-C046-FA70-A4F36FEB8BDC}"/>
              </a:ext>
            </a:extLst>
          </p:cNvPr>
          <p:cNvSpPr/>
          <p:nvPr/>
        </p:nvSpPr>
        <p:spPr>
          <a:xfrm>
            <a:off x="251520" y="3456384"/>
            <a:ext cx="1656184" cy="156363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noProof="0" dirty="0">
                <a:solidFill>
                  <a:schemeClr val="tx1"/>
                </a:solidFill>
              </a:rPr>
              <a:t>Test for: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toroidal wrap-around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nearest-agent identification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target move choices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chaser move choices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capture removal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chemeClr val="tx1"/>
                </a:solidFill>
              </a:rPr>
              <a:t>occupancy consistency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D7C6B17-EF2C-F970-2642-EAA1BA66295D}"/>
              </a:ext>
            </a:extLst>
          </p:cNvPr>
          <p:cNvSpPr/>
          <p:nvPr/>
        </p:nvSpPr>
        <p:spPr>
          <a:xfrm>
            <a:off x="251520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vis…/plotters.py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D05D950-FABD-4EDE-6DFA-00022BC40361}"/>
              </a:ext>
            </a:extLst>
          </p:cNvPr>
          <p:cNvSpPr/>
          <p:nvPr/>
        </p:nvSpPr>
        <p:spPr>
          <a:xfrm>
            <a:off x="1979712" y="1131590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vis…/animation.py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CF50950-CF7C-D7ED-26B9-49ED953E0265}"/>
              </a:ext>
            </a:extLst>
          </p:cNvPr>
          <p:cNvSpPr/>
          <p:nvPr/>
        </p:nvSpPr>
        <p:spPr>
          <a:xfrm>
            <a:off x="251520" y="3168352"/>
            <a:ext cx="1656184" cy="2880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tests/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9A93139-6D2C-102D-80AD-70C0457E701C}"/>
              </a:ext>
            </a:extLst>
          </p:cNvPr>
          <p:cNvSpPr/>
          <p:nvPr/>
        </p:nvSpPr>
        <p:spPr>
          <a:xfrm>
            <a:off x="4572000" y="1131590"/>
            <a:ext cx="432048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 lattice, targets, chasers</a:t>
            </a:r>
          </a:p>
          <a:p>
            <a:endParaRPr lang="en-US" sz="80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each time step:</a:t>
            </a:r>
          </a:p>
          <a:p>
            <a:endParaRPr lang="en-US" sz="80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shuffle targets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each alive target: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find nearest chaser(s)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choose one nearest chaser at random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evaluate the 4 neighboring sites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keep those maximizing distance from that chaser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choose one best site at random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move there if empty, otherwise stay</a:t>
            </a:r>
          </a:p>
          <a:p>
            <a:endParaRPr lang="en-US" sz="80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shuffle chasers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FOR each chaser: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find nearest alive target(s)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evaluate the 4 neighboring sites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keep those minimizing distance to the nearest targets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choose one best site at random</a:t>
            </a:r>
          </a:p>
          <a:p>
            <a:endParaRPr lang="en-US" sz="80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chosen site is empty: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move there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else if chosen site contains a live nearest target: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move onto that site and remove the target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else: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stay</a:t>
            </a:r>
          </a:p>
          <a:p>
            <a:endParaRPr lang="en-US" sz="80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record alive target count and grid snapshot</a:t>
            </a:r>
          </a:p>
          <a:p>
            <a:endParaRPr lang="en-US" sz="80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no targets remain:</a:t>
            </a:r>
          </a:p>
          <a:p>
            <a:r>
              <a:rPr lang="en-US" sz="8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stop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F12B611-1A0C-E549-B623-15E3EBF6ED5A}"/>
              </a:ext>
            </a:extLst>
          </p:cNvPr>
          <p:cNvSpPr/>
          <p:nvPr/>
        </p:nvSpPr>
        <p:spPr>
          <a:xfrm>
            <a:off x="7452320" y="1213867"/>
            <a:ext cx="1368152" cy="4115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>
                <a:solidFill>
                  <a:schemeClr val="tx1"/>
                </a:solidFill>
              </a:rPr>
              <a:t>Pseudo-Code Algorithm</a:t>
            </a:r>
          </a:p>
        </p:txBody>
      </p:sp>
    </p:spTree>
    <p:extLst>
      <p:ext uri="{BB962C8B-B14F-4D97-AF65-F5344CB8AC3E}">
        <p14:creationId xmlns:p14="http://schemas.microsoft.com/office/powerpoint/2010/main" val="4167493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C2197-A63C-CC8D-D7B3-5309C0FB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Starter prompt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86E85D7-DF8D-5CC8-C4BB-2B26D9F2990B}"/>
              </a:ext>
            </a:extLst>
          </p:cNvPr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Please help me implement a modular Python simulation of the 2D chase-and-escape model on a square lattice with toroidal boundary conditions.</a:t>
            </a:r>
          </a:p>
          <a:p>
            <a:pPr>
              <a:spcAft>
                <a:spcPts val="200"/>
              </a:spcAft>
            </a:pPr>
            <a:r>
              <a:rPr lang="en-US" sz="1400" noProof="0" dirty="0">
                <a:solidFill>
                  <a:schemeClr val="tx1"/>
                </a:solidFill>
              </a:rPr>
              <a:t>Important requirements: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Keep the code beginner-friendly.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Separate configuration, lattice logic, distance calculations, movement rules, capture logic, simulation loop, visualization, and tests into different files.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Use only Python, NumPy, matplotlib, and </a:t>
            </a:r>
            <a:r>
              <a:rPr lang="en-US" sz="1400" noProof="0" dirty="0" err="1">
                <a:solidFill>
                  <a:schemeClr val="tx1"/>
                </a:solidFill>
              </a:rPr>
              <a:t>pytest</a:t>
            </a:r>
            <a:r>
              <a:rPr lang="en-US" sz="1400" noProof="0" dirty="0">
                <a:solidFill>
                  <a:schemeClr val="tx1"/>
                </a:solidFill>
              </a:rPr>
              <a:t>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At most one particle per site.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Targets move away from their nearest chaser.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Chasers move toward their nearest target.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If several equally good nearest moves exist, choose randomly with equal probability.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If a selected destination is occupied, the agent stays in place.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A chaser catches a target by hopping onto its site when allowed by the model.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Add comments, docstrings, and simple debug printouts.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Avoid overly advanced abstractions.</a:t>
            </a:r>
          </a:p>
          <a:p>
            <a:pPr marL="266700" indent="-26670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noProof="0" dirty="0">
                <a:solidFill>
                  <a:schemeClr val="tx1"/>
                </a:solidFill>
              </a:rPr>
              <a:t>Make everything easy to test.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3C09800-24EE-182E-BADF-F5491DB16C8D}"/>
              </a:ext>
            </a:extLst>
          </p:cNvPr>
          <p:cNvSpPr/>
          <p:nvPr/>
        </p:nvSpPr>
        <p:spPr>
          <a:xfrm>
            <a:off x="251520" y="1131590"/>
            <a:ext cx="1296144" cy="1040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CEAA41B-F66D-E826-C77C-4B998897AB76}"/>
              </a:ext>
            </a:extLst>
          </p:cNvPr>
          <p:cNvGrpSpPr/>
          <p:nvPr/>
        </p:nvGrpSpPr>
        <p:grpSpPr>
          <a:xfrm>
            <a:off x="1047398" y="1191281"/>
            <a:ext cx="432048" cy="432048"/>
            <a:chOff x="7452320" y="2571750"/>
            <a:chExt cx="720080" cy="720080"/>
          </a:xfrm>
        </p:grpSpPr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BEF0C2F0-1B2B-9B65-89DD-8FF2E7FCB464}"/>
                </a:ext>
              </a:extLst>
            </p:cNvPr>
            <p:cNvSpPr/>
            <p:nvPr/>
          </p:nvSpPr>
          <p:spPr>
            <a:xfrm>
              <a:off x="7452320" y="2571750"/>
              <a:ext cx="720080" cy="72008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noProof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A2FE27AC-4E9A-52DC-25AC-4ED78115454A}"/>
                </a:ext>
              </a:extLst>
            </p:cNvPr>
            <p:cNvSpPr/>
            <p:nvPr/>
          </p:nvSpPr>
          <p:spPr>
            <a:xfrm>
              <a:off x="7528520" y="2647950"/>
              <a:ext cx="571872" cy="571872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tx1"/>
                  </a:solidFill>
                </a:rPr>
                <a:t>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5549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228E-88C6-C6AD-AC6F-447C685D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8B59C1-0603-AC42-53AF-567FBFA9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simulations:</a:t>
            </a:r>
            <a:br>
              <a:rPr lang="en-US" noProof="0" dirty="0"/>
            </a:br>
            <a:r>
              <a:rPr lang="en-US" noProof="0" dirty="0"/>
              <a:t>Group chase and (unsuccessful) escape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D10E56F-893D-ACFC-7BFA-897B1ECD3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057" y="989242"/>
            <a:ext cx="3648405" cy="273630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DB24211-7ED9-451F-DB41-5B2C0C935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3"/>
          <a:stretch>
            <a:fillRect/>
          </a:stretch>
        </p:blipFill>
        <p:spPr>
          <a:xfrm>
            <a:off x="6228184" y="2786512"/>
            <a:ext cx="2880320" cy="2299905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67EBA6C5-CEC3-913A-FF90-B2AF56882221}"/>
              </a:ext>
            </a:extLst>
          </p:cNvPr>
          <p:cNvSpPr/>
          <p:nvPr/>
        </p:nvSpPr>
        <p:spPr>
          <a:xfrm>
            <a:off x="251519" y="1131590"/>
            <a:ext cx="4320479" cy="38884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ED8C08BF-0455-E45E-5CC4-A33655983CE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228184" y="2786511"/>
            <a:ext cx="0" cy="114995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60F433D-0D61-E003-FD3C-495DF93160F5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228184" y="2786512"/>
            <a:ext cx="144016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5" name="Grafik 24">
            <a:extLst>
              <a:ext uri="{FF2B5EF4-FFF2-40B4-BE49-F238E27FC236}">
                <a16:creationId xmlns:a16="http://schemas.microsoft.com/office/drawing/2014/main" id="{3DCE673F-639B-4271-E659-8F5BBCC490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0" r="7496"/>
          <a:stretch>
            <a:fillRect/>
          </a:stretch>
        </p:blipFill>
        <p:spPr>
          <a:xfrm>
            <a:off x="323529" y="1203598"/>
            <a:ext cx="4176463" cy="3672406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9FD8972F-C917-2599-568E-EE72FFEEF951}"/>
              </a:ext>
            </a:extLst>
          </p:cNvPr>
          <p:cNvSpPr/>
          <p:nvPr/>
        </p:nvSpPr>
        <p:spPr>
          <a:xfrm>
            <a:off x="7308304" y="1131590"/>
            <a:ext cx="1584177" cy="15121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noProof="0" dirty="0">
                <a:solidFill>
                  <a:schemeClr val="tx1"/>
                </a:solidFill>
              </a:rPr>
              <a:t>Simulation parameter:</a:t>
            </a:r>
          </a:p>
          <a:p>
            <a:r>
              <a:rPr lang="en-US" sz="1200" noProof="0" dirty="0">
                <a:solidFill>
                  <a:schemeClr val="tx1"/>
                </a:solidFill>
              </a:rPr>
              <a:t># chaser: 12</a:t>
            </a:r>
          </a:p>
          <a:p>
            <a:r>
              <a:rPr lang="en-US" sz="1200" noProof="0" dirty="0">
                <a:solidFill>
                  <a:schemeClr val="tx1"/>
                </a:solidFill>
              </a:rPr>
              <a:t># targets: 20</a:t>
            </a:r>
          </a:p>
          <a:p>
            <a:r>
              <a:rPr lang="en-US" sz="1200" noProof="0" dirty="0">
                <a:solidFill>
                  <a:schemeClr val="tx1"/>
                </a:solidFill>
              </a:rPr>
              <a:t># time steps: 200</a:t>
            </a:r>
          </a:p>
        </p:txBody>
      </p:sp>
    </p:spTree>
    <p:extLst>
      <p:ext uri="{BB962C8B-B14F-4D97-AF65-F5344CB8AC3E}">
        <p14:creationId xmlns:p14="http://schemas.microsoft.com/office/powerpoint/2010/main" val="1213812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DD54-202A-F80D-B711-3CD8148C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bgerundetes Rechteck 4">
            <a:extLst>
              <a:ext uri="{FF2B5EF4-FFF2-40B4-BE49-F238E27FC236}">
                <a16:creationId xmlns:a16="http://schemas.microsoft.com/office/drawing/2014/main" id="{68E7C3E6-F3D4-069F-A493-F73C531FDE3F}"/>
              </a:ext>
            </a:extLst>
          </p:cNvPr>
          <p:cNvSpPr/>
          <p:nvPr/>
        </p:nvSpPr>
        <p:spPr>
          <a:xfrm>
            <a:off x="3851920" y="2232812"/>
            <a:ext cx="504056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FDA9AE9-D4E5-AE79-2280-71F066A0B038}"/>
              </a:ext>
            </a:extLst>
          </p:cNvPr>
          <p:cNvSpPr txBox="1"/>
          <p:nvPr/>
        </p:nvSpPr>
        <p:spPr>
          <a:xfrm>
            <a:off x="3851920" y="1131590"/>
            <a:ext cx="48567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Sub-Agenda: The Basic Model of Chase &amp; Escape </a:t>
            </a: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</a:p>
          <a:p>
            <a:pPr>
              <a:tabLst>
                <a:tab pos="361950" algn="l"/>
              </a:tabLst>
            </a:pPr>
            <a:r>
              <a:rPr lang="en-US" noProof="0" dirty="0"/>
              <a:t>	The Computerized Model</a:t>
            </a:r>
          </a:p>
          <a:p>
            <a:pPr>
              <a:tabLst>
                <a:tab pos="361950" algn="l"/>
              </a:tabLst>
            </a:pPr>
            <a:endParaRPr lang="en-US" noProof="0" dirty="0"/>
          </a:p>
          <a:p>
            <a:pPr>
              <a:tabLst>
                <a:tab pos="361950" algn="l"/>
              </a:tabLst>
            </a:pPr>
            <a:r>
              <a:rPr lang="en-US" noProof="0" dirty="0"/>
              <a:t>	</a:t>
            </a:r>
            <a:r>
              <a:rPr lang="en-US" b="1" noProof="0" dirty="0"/>
              <a:t>Simulations</a:t>
            </a:r>
          </a:p>
        </p:txBody>
      </p:sp>
      <p:pic>
        <p:nvPicPr>
          <p:cNvPr id="5" name="Picture 2" descr="Exciting wildlife chase as lion hunts gazelle in natures survival drama  Concept Wildlife Photography Lion Hunting Nature Survival Animal Behavior  Dramatic Nature Capture | Premium AI-generated image">
            <a:extLst>
              <a:ext uri="{FF2B5EF4-FFF2-40B4-BE49-F238E27FC236}">
                <a16:creationId xmlns:a16="http://schemas.microsoft.com/office/drawing/2014/main" id="{FD4DBC36-C785-448D-3C23-95EDD6771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0"/>
            <a:ext cx="2880320" cy="144016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5625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of the basic model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3888432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990" y="1197199"/>
            <a:ext cx="7080188" cy="3584133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of the basic model</a:t>
            </a:r>
          </a:p>
        </p:txBody>
      </p:sp>
      <p:sp>
        <p:nvSpPr>
          <p:cNvPr id="3" name="Rechteck 2"/>
          <p:cNvSpPr/>
          <p:nvPr/>
        </p:nvSpPr>
        <p:spPr>
          <a:xfrm>
            <a:off x="1691680" y="1131590"/>
            <a:ext cx="7200800" cy="2160240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1750991" y="1197199"/>
            <a:ext cx="7091079" cy="172595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1) Time until all chasers are caught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22" y="1190896"/>
            <a:ext cx="5343182" cy="3688643"/>
          </a:xfrm>
          <a:prstGeom prst="rect">
            <a:avLst/>
          </a:prstGeom>
          <a:noFill/>
          <a:ln/>
          <a:effectLst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7070" y="1131589"/>
            <a:ext cx="2941111" cy="2098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feld 6"/>
          <p:cNvSpPr txBox="1"/>
          <p:nvPr/>
        </p:nvSpPr>
        <p:spPr>
          <a:xfrm>
            <a:off x="251520" y="3363838"/>
            <a:ext cx="288032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noProof="0" dirty="0"/>
              <a:t>Distribution of time for the entire catch </a:t>
            </a:r>
            <a:r>
              <a:rPr lang="en-US" sz="1200" i="1" noProof="0" dirty="0"/>
              <a:t>T</a:t>
            </a:r>
            <a:r>
              <a:rPr lang="en-US" sz="1200" noProof="0" dirty="0"/>
              <a:t> for different numbers of chasers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= 10, 100, 500.</a:t>
            </a:r>
          </a:p>
          <a:p>
            <a:pPr>
              <a:spcAft>
                <a:spcPts val="600"/>
              </a:spcAft>
            </a:pPr>
            <a:r>
              <a:rPr lang="en-US" sz="1200" noProof="0" dirty="0"/>
              <a:t>The grid parameters are </a:t>
            </a:r>
            <a:r>
              <a:rPr lang="en-US" sz="1200" i="1" noProof="0" dirty="0"/>
              <a:t>L</a:t>
            </a:r>
            <a:r>
              <a:rPr lang="en-US" sz="1200" i="1" baseline="-25000" noProof="0" dirty="0"/>
              <a:t>X</a:t>
            </a:r>
            <a:r>
              <a:rPr lang="en-US" sz="1200" noProof="0" dirty="0"/>
              <a:t> = </a:t>
            </a:r>
            <a:r>
              <a:rPr lang="en-US" sz="1200" i="1" noProof="0" dirty="0"/>
              <a:t>L</a:t>
            </a:r>
            <a:r>
              <a:rPr lang="en-US" sz="1200" i="1" baseline="-25000" noProof="0" dirty="0"/>
              <a:t>Y</a:t>
            </a:r>
            <a:r>
              <a:rPr lang="en-US" sz="1200" noProof="0" dirty="0"/>
              <a:t> = 100 and the initial number of targets is N</a:t>
            </a:r>
            <a:r>
              <a:rPr lang="en-US" sz="1200" baseline="30000" noProof="0" dirty="0"/>
              <a:t>0</a:t>
            </a:r>
            <a:r>
              <a:rPr lang="en-US" sz="1200" baseline="-25000" noProof="0" dirty="0"/>
              <a:t>T</a:t>
            </a:r>
            <a:r>
              <a:rPr lang="en-US" sz="1200" noProof="0" dirty="0"/>
              <a:t> = 10.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2) Cooperative chase?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059582"/>
            <a:ext cx="5443561" cy="91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feld 3"/>
          <p:cNvSpPr txBox="1"/>
          <p:nvPr/>
        </p:nvSpPr>
        <p:spPr>
          <a:xfrm>
            <a:off x="5796136" y="1131590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/>
              <a:t>Snapshots of a catch event with time evolution from left to right. Red and green circles denote chasers and target, respectively.</a:t>
            </a:r>
          </a:p>
        </p:txBody>
      </p:sp>
      <p:sp>
        <p:nvSpPr>
          <p:cNvPr id="5" name="Rechteck 4"/>
          <p:cNvSpPr/>
          <p:nvPr/>
        </p:nvSpPr>
        <p:spPr>
          <a:xfrm>
            <a:off x="1691680" y="2283718"/>
            <a:ext cx="7200800" cy="273630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Grafik 7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750990" y="2349325"/>
            <a:ext cx="7082047" cy="228618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3) Lifetime distributions of targets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21" y="1190897"/>
            <a:ext cx="5355096" cy="3460723"/>
          </a:xfrm>
          <a:prstGeom prst="rect">
            <a:avLst/>
          </a:prstGeom>
          <a:noFill/>
          <a:ln/>
          <a:effectLst/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719" y="1093490"/>
            <a:ext cx="2964202" cy="211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feld 7"/>
          <p:cNvSpPr txBox="1"/>
          <p:nvPr/>
        </p:nvSpPr>
        <p:spPr>
          <a:xfrm>
            <a:off x="251520" y="3363838"/>
            <a:ext cx="288032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noProof="0" dirty="0"/>
              <a:t>Lifetime distribution of targets for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= 10, 100, and 500.</a:t>
            </a:r>
          </a:p>
          <a:p>
            <a:pPr>
              <a:spcAft>
                <a:spcPts val="600"/>
              </a:spcAft>
            </a:pPr>
            <a:r>
              <a:rPr lang="en-US" sz="1200" noProof="0" dirty="0"/>
              <a:t>Parameters are identical with those of the previous figure.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3) Lifetime distributions of targets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2016224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9" name="Grafik 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20" y="1190894"/>
            <a:ext cx="5356118" cy="1159258"/>
          </a:xfrm>
          <a:prstGeom prst="rect">
            <a:avLst/>
          </a:prstGeom>
          <a:noFill/>
          <a:ln/>
          <a:effectLst/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719" y="1093490"/>
            <a:ext cx="2964202" cy="211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feld 7"/>
          <p:cNvSpPr txBox="1"/>
          <p:nvPr/>
        </p:nvSpPr>
        <p:spPr>
          <a:xfrm>
            <a:off x="251520" y="3363838"/>
            <a:ext cx="288032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noProof="0" dirty="0"/>
              <a:t>Lifetime distribution of targets for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= 10, 100, and 500.</a:t>
            </a:r>
          </a:p>
          <a:p>
            <a:pPr>
              <a:spcAft>
                <a:spcPts val="600"/>
              </a:spcAft>
            </a:pPr>
            <a:r>
              <a:rPr lang="en-US" sz="1200" noProof="0" dirty="0"/>
              <a:t>Parameters are identical with those of the previous figure.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4) Lifetime distributions of the final targets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20" y="1190896"/>
            <a:ext cx="5358203" cy="3784218"/>
          </a:xfrm>
          <a:prstGeom prst="rect">
            <a:avLst/>
          </a:prstGeom>
          <a:noFill/>
          <a:ln/>
          <a:effectLst/>
        </p:spPr>
      </p:pic>
      <p:sp>
        <p:nvSpPr>
          <p:cNvPr id="8" name="Textfeld 7"/>
          <p:cNvSpPr txBox="1"/>
          <p:nvPr/>
        </p:nvSpPr>
        <p:spPr>
          <a:xfrm>
            <a:off x="251520" y="3363838"/>
            <a:ext cx="288032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noProof="0" dirty="0"/>
              <a:t>Lifetime of final (</a:t>
            </a:r>
            <a:r>
              <a:rPr lang="en-US" sz="1200" i="1" noProof="0" dirty="0"/>
              <a:t>T</a:t>
            </a:r>
            <a:r>
              <a:rPr lang="en-US" sz="1200" noProof="0" dirty="0"/>
              <a:t>) and typical (</a:t>
            </a:r>
            <a:r>
              <a:rPr lang="en-US" sz="1200" noProof="0" dirty="0">
                <a:sym typeface="Symbol"/>
              </a:rPr>
              <a:t></a:t>
            </a:r>
            <a:r>
              <a:rPr lang="en-US" sz="1200" noProof="0" dirty="0"/>
              <a:t>) targets as a function of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for fixed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T</a:t>
            </a:r>
            <a:r>
              <a:rPr lang="en-US" sz="1200" noProof="0" dirty="0"/>
              <a:t> = 10.</a:t>
            </a:r>
          </a:p>
          <a:p>
            <a:pPr>
              <a:spcAft>
                <a:spcPts val="600"/>
              </a:spcAft>
            </a:pPr>
            <a:r>
              <a:rPr lang="en-US" sz="1200" noProof="0" dirty="0"/>
              <a:t>The power-law dependences of N</a:t>
            </a:r>
            <a:r>
              <a:rPr lang="en-US" sz="1200" baseline="30000" noProof="0" dirty="0"/>
              <a:t>-3</a:t>
            </a:r>
            <a:r>
              <a:rPr lang="en-US" sz="1200" baseline="-25000" noProof="0" dirty="0"/>
              <a:t>C</a:t>
            </a:r>
            <a:r>
              <a:rPr lang="en-US" sz="1200" noProof="0" dirty="0"/>
              <a:t> and       N</a:t>
            </a:r>
            <a:r>
              <a:rPr lang="en-US" sz="1200" baseline="30000" noProof="0" dirty="0"/>
              <a:t>-0.75</a:t>
            </a:r>
            <a:r>
              <a:rPr lang="en-US" sz="1200" baseline="-25000" noProof="0" dirty="0"/>
              <a:t>C</a:t>
            </a:r>
            <a:r>
              <a:rPr lang="en-US" sz="1200" noProof="0" dirty="0"/>
              <a:t> are also shown as dotted lines.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7992" y="1106190"/>
            <a:ext cx="2942002" cy="199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4) Lifetime distributions of the final targets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9" name="Grafik 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98218" y="1190896"/>
            <a:ext cx="5358834" cy="3776076"/>
          </a:xfrm>
          <a:prstGeom prst="rect">
            <a:avLst/>
          </a:prstGeom>
          <a:noFill/>
          <a:ln/>
          <a:effectLst/>
        </p:spPr>
      </p:pic>
      <p:sp>
        <p:nvSpPr>
          <p:cNvPr id="8" name="Textfeld 7"/>
          <p:cNvSpPr txBox="1"/>
          <p:nvPr/>
        </p:nvSpPr>
        <p:spPr>
          <a:xfrm>
            <a:off x="251520" y="3363838"/>
            <a:ext cx="288032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noProof="0" dirty="0"/>
              <a:t>Lifetime of final (</a:t>
            </a:r>
            <a:r>
              <a:rPr lang="en-US" sz="1200" i="1" noProof="0" dirty="0"/>
              <a:t>T</a:t>
            </a:r>
            <a:r>
              <a:rPr lang="en-US" sz="1200" noProof="0" dirty="0"/>
              <a:t>) and typical (</a:t>
            </a:r>
            <a:r>
              <a:rPr lang="en-US" sz="1200" noProof="0" dirty="0">
                <a:sym typeface="Symbol"/>
              </a:rPr>
              <a:t></a:t>
            </a:r>
            <a:r>
              <a:rPr lang="en-US" sz="1200" noProof="0" dirty="0"/>
              <a:t>) targets as a function of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for fixed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T</a:t>
            </a:r>
            <a:r>
              <a:rPr lang="en-US" sz="1200" noProof="0" dirty="0"/>
              <a:t> = 10.</a:t>
            </a:r>
          </a:p>
          <a:p>
            <a:pPr>
              <a:spcAft>
                <a:spcPts val="600"/>
              </a:spcAft>
            </a:pPr>
            <a:r>
              <a:rPr lang="en-US" sz="1200" noProof="0" dirty="0"/>
              <a:t>The power-law dependences of N</a:t>
            </a:r>
            <a:r>
              <a:rPr lang="en-US" sz="1200" baseline="30000" noProof="0" dirty="0"/>
              <a:t>-3</a:t>
            </a:r>
            <a:r>
              <a:rPr lang="en-US" sz="1200" baseline="-25000" noProof="0" dirty="0"/>
              <a:t>C</a:t>
            </a:r>
            <a:r>
              <a:rPr lang="en-US" sz="1200" noProof="0" dirty="0"/>
              <a:t> and       N</a:t>
            </a:r>
            <a:r>
              <a:rPr lang="en-US" sz="1200" baseline="30000" noProof="0" dirty="0"/>
              <a:t>-0.75</a:t>
            </a:r>
            <a:r>
              <a:rPr lang="en-US" sz="1200" baseline="-25000" noProof="0" dirty="0"/>
              <a:t>C</a:t>
            </a:r>
            <a:r>
              <a:rPr lang="en-US" sz="1200" noProof="0" dirty="0"/>
              <a:t> are also shown as dotted lines.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7992" y="1106190"/>
            <a:ext cx="2942002" cy="199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5) Lifetime compared to the initial number of targets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85521" y="1190896"/>
            <a:ext cx="5345617" cy="3525102"/>
          </a:xfrm>
          <a:prstGeom prst="rect">
            <a:avLst/>
          </a:prstGeom>
          <a:noFill/>
          <a:ln/>
          <a:effectLst/>
        </p:spPr>
      </p:pic>
      <p:sp>
        <p:nvSpPr>
          <p:cNvPr id="8" name="Textfeld 7"/>
          <p:cNvSpPr txBox="1"/>
          <p:nvPr/>
        </p:nvSpPr>
        <p:spPr>
          <a:xfrm>
            <a:off x="251520" y="3363838"/>
            <a:ext cx="2880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noProof="0" dirty="0"/>
              <a:t>Lifetime of final (</a:t>
            </a:r>
            <a:r>
              <a:rPr lang="en-US" sz="1200" i="1" noProof="0" dirty="0"/>
              <a:t>T</a:t>
            </a:r>
            <a:r>
              <a:rPr lang="en-US" sz="1200" noProof="0" dirty="0"/>
              <a:t>) and typical (</a:t>
            </a:r>
            <a:r>
              <a:rPr lang="en-US" sz="1200" noProof="0" dirty="0">
                <a:sym typeface="Symbol"/>
              </a:rPr>
              <a:t></a:t>
            </a:r>
            <a:r>
              <a:rPr lang="en-US" sz="1200" noProof="0" dirty="0"/>
              <a:t>) targets as a function of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T</a:t>
            </a:r>
            <a:r>
              <a:rPr lang="en-US" sz="1200" noProof="0" dirty="0"/>
              <a:t> for fixed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= 100.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077" y="1112539"/>
            <a:ext cx="2929173" cy="2024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6) Cluster emergence during the chasing and escaping process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9" name="Grafik 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85520" y="1190896"/>
            <a:ext cx="5331299" cy="2905469"/>
          </a:xfrm>
          <a:prstGeom prst="rect">
            <a:avLst/>
          </a:prstGeom>
          <a:noFill/>
          <a:ln/>
          <a:effectLst/>
        </p:spPr>
      </p:pic>
      <p:sp>
        <p:nvSpPr>
          <p:cNvPr id="8" name="Textfeld 7"/>
          <p:cNvSpPr txBox="1"/>
          <p:nvPr/>
        </p:nvSpPr>
        <p:spPr>
          <a:xfrm>
            <a:off x="251520" y="2715766"/>
            <a:ext cx="288032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noProof="0" dirty="0"/>
              <a:t>Snapshots of the system for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= 100 and </a:t>
            </a:r>
            <a:r>
              <a:rPr lang="en-US" sz="1200" i="1" noProof="0" dirty="0"/>
              <a:t>N</a:t>
            </a:r>
            <a:r>
              <a:rPr lang="en-US" sz="1200" i="1" baseline="30000" noProof="0" dirty="0"/>
              <a:t>0</a:t>
            </a:r>
            <a:r>
              <a:rPr lang="en-US" sz="1200" i="1" baseline="-25000" noProof="0" dirty="0"/>
              <a:t>T</a:t>
            </a:r>
            <a:r>
              <a:rPr lang="en-US" sz="1200" noProof="0" dirty="0"/>
              <a:t> = 1000.</a:t>
            </a:r>
          </a:p>
          <a:p>
            <a:pPr>
              <a:spcAft>
                <a:spcPts val="600"/>
              </a:spcAft>
            </a:pPr>
            <a:r>
              <a:rPr lang="en-US" sz="1200" noProof="0" dirty="0"/>
              <a:t>Red and green points represent chasers and targets, respectively.</a:t>
            </a:r>
          </a:p>
          <a:p>
            <a:pPr>
              <a:spcAft>
                <a:spcPts val="600"/>
              </a:spcAft>
            </a:pPr>
            <a:r>
              <a:rPr lang="en-US" sz="1200" noProof="0" dirty="0"/>
              <a:t>Clusters of targets are typically observed during the chasing and escaping processes.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1131589"/>
            <a:ext cx="3024335" cy="1400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7) Cost efficiency of chasing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12" name="Grafik 11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85520" y="1190896"/>
            <a:ext cx="5361687" cy="3770683"/>
          </a:xfrm>
          <a:prstGeom prst="rect">
            <a:avLst/>
          </a:prstGeom>
          <a:noFill/>
          <a:ln/>
          <a:effectLst/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421" y="1106191"/>
            <a:ext cx="2952327" cy="19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feld 12"/>
          <p:cNvSpPr txBox="1"/>
          <p:nvPr/>
        </p:nvSpPr>
        <p:spPr>
          <a:xfrm>
            <a:off x="251520" y="3363838"/>
            <a:ext cx="288032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noProof="0" dirty="0"/>
              <a:t>Cost </a:t>
            </a:r>
            <a:r>
              <a:rPr lang="en-US" sz="1200" i="1" noProof="0" dirty="0"/>
              <a:t>c</a:t>
            </a:r>
            <a:r>
              <a:rPr lang="en-US" sz="1200" noProof="0" dirty="0"/>
              <a:t> =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i="1" noProof="0" dirty="0"/>
              <a:t>T</a:t>
            </a:r>
            <a:r>
              <a:rPr lang="en-US" sz="1200" noProof="0" dirty="0"/>
              <a:t>/</a:t>
            </a:r>
            <a:r>
              <a:rPr lang="en-US" sz="1200" i="1" noProof="0" dirty="0"/>
              <a:t>N</a:t>
            </a:r>
            <a:r>
              <a:rPr lang="en-US" sz="1200" baseline="30000" noProof="0" dirty="0"/>
              <a:t>0</a:t>
            </a:r>
            <a:r>
              <a:rPr lang="en-US" sz="1200" i="1" baseline="-25000" noProof="0" dirty="0"/>
              <a:t>T</a:t>
            </a:r>
            <a:r>
              <a:rPr lang="en-US" sz="1200" noProof="0" dirty="0"/>
              <a:t> vs. the number of chasers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for N</a:t>
            </a:r>
            <a:r>
              <a:rPr lang="en-US" sz="1200" baseline="30000" noProof="0" dirty="0"/>
              <a:t>0</a:t>
            </a:r>
            <a:r>
              <a:rPr lang="en-US" sz="1200" baseline="-25000" noProof="0" dirty="0"/>
              <a:t>T</a:t>
            </a:r>
            <a:r>
              <a:rPr lang="en-US" sz="1200" noProof="0" dirty="0"/>
              <a:t> = 10 in following four cases: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the original chasers and targets (C&amp;T),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both chasers and targets are random walkers (RW),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targets are random walkers (TRW), and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chasers are random walkers (CRW).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7) Cost efficiency of chasing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7" name="Grafik 6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85520" y="1190897"/>
            <a:ext cx="5351962" cy="3467861"/>
          </a:xfrm>
          <a:prstGeom prst="rect">
            <a:avLst/>
          </a:prstGeom>
          <a:noFill/>
          <a:ln/>
          <a:effectLst/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421" y="1106191"/>
            <a:ext cx="2952327" cy="19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feld 12"/>
          <p:cNvSpPr txBox="1"/>
          <p:nvPr/>
        </p:nvSpPr>
        <p:spPr>
          <a:xfrm>
            <a:off x="251520" y="3363838"/>
            <a:ext cx="288032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noProof="0" dirty="0"/>
              <a:t>Cost </a:t>
            </a:r>
            <a:r>
              <a:rPr lang="en-US" sz="1200" i="1" noProof="0" dirty="0"/>
              <a:t>c</a:t>
            </a:r>
            <a:r>
              <a:rPr lang="en-US" sz="1200" noProof="0" dirty="0"/>
              <a:t> =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i="1" noProof="0" dirty="0"/>
              <a:t>T</a:t>
            </a:r>
            <a:r>
              <a:rPr lang="en-US" sz="1200" noProof="0" dirty="0"/>
              <a:t>/</a:t>
            </a:r>
            <a:r>
              <a:rPr lang="en-US" sz="1200" i="1" noProof="0" dirty="0"/>
              <a:t>N</a:t>
            </a:r>
            <a:r>
              <a:rPr lang="en-US" sz="1200" baseline="30000" noProof="0" dirty="0"/>
              <a:t>0</a:t>
            </a:r>
            <a:r>
              <a:rPr lang="en-US" sz="1200" i="1" baseline="-25000" noProof="0" dirty="0"/>
              <a:t>T</a:t>
            </a:r>
            <a:r>
              <a:rPr lang="en-US" sz="1200" noProof="0" dirty="0"/>
              <a:t> vs. the number of chasers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for N</a:t>
            </a:r>
            <a:r>
              <a:rPr lang="en-US" sz="1200" baseline="30000" noProof="0" dirty="0"/>
              <a:t>0</a:t>
            </a:r>
            <a:r>
              <a:rPr lang="en-US" sz="1200" baseline="-25000" noProof="0" dirty="0"/>
              <a:t>T</a:t>
            </a:r>
            <a:r>
              <a:rPr lang="en-US" sz="1200" noProof="0" dirty="0"/>
              <a:t> = 10 in following four cases: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the original chasers and targets (C&amp;T),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both chasers and targets are random walkers (RW),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targets are random walkers (TRW), and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chasers are random walkers (CRW).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Simulation results:</a:t>
            </a:r>
            <a:br>
              <a:rPr lang="en-US" noProof="0" dirty="0"/>
            </a:br>
            <a:r>
              <a:rPr lang="en-US" noProof="0" dirty="0"/>
              <a:t>7) Cost efficiency of chasing</a:t>
            </a:r>
          </a:p>
        </p:txBody>
      </p:sp>
      <p:sp>
        <p:nvSpPr>
          <p:cNvPr id="3" name="Rechteck 2"/>
          <p:cNvSpPr/>
          <p:nvPr/>
        </p:nvSpPr>
        <p:spPr>
          <a:xfrm>
            <a:off x="3419872" y="1131590"/>
            <a:ext cx="5472608" cy="3888432"/>
          </a:xfrm>
          <a:prstGeom prst="rect">
            <a:avLst/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noProof="0" dirty="0">
              <a:solidFill>
                <a:schemeClr val="bg1"/>
              </a:solidFill>
            </a:endParaRPr>
          </a:p>
        </p:txBody>
      </p:sp>
      <p:pic>
        <p:nvPicPr>
          <p:cNvPr id="9" name="Grafik 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85521" y="1190896"/>
            <a:ext cx="5353777" cy="2729375"/>
          </a:xfrm>
          <a:prstGeom prst="rect">
            <a:avLst/>
          </a:prstGeom>
          <a:noFill/>
          <a:ln/>
          <a:effectLst/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421" y="1106191"/>
            <a:ext cx="2952327" cy="19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feld 12"/>
          <p:cNvSpPr txBox="1"/>
          <p:nvPr/>
        </p:nvSpPr>
        <p:spPr>
          <a:xfrm>
            <a:off x="251520" y="3363838"/>
            <a:ext cx="288032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noProof="0" dirty="0"/>
              <a:t>Cost </a:t>
            </a:r>
            <a:r>
              <a:rPr lang="en-US" sz="1200" i="1" noProof="0" dirty="0"/>
              <a:t>c</a:t>
            </a:r>
            <a:r>
              <a:rPr lang="en-US" sz="1200" noProof="0" dirty="0"/>
              <a:t> =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i="1" noProof="0" dirty="0"/>
              <a:t>T</a:t>
            </a:r>
            <a:r>
              <a:rPr lang="en-US" sz="1200" noProof="0" dirty="0"/>
              <a:t>/</a:t>
            </a:r>
            <a:r>
              <a:rPr lang="en-US" sz="1200" i="1" noProof="0" dirty="0"/>
              <a:t>N</a:t>
            </a:r>
            <a:r>
              <a:rPr lang="en-US" sz="1200" baseline="30000" noProof="0" dirty="0"/>
              <a:t>0</a:t>
            </a:r>
            <a:r>
              <a:rPr lang="en-US" sz="1200" i="1" baseline="-25000" noProof="0" dirty="0"/>
              <a:t>T</a:t>
            </a:r>
            <a:r>
              <a:rPr lang="en-US" sz="1200" noProof="0" dirty="0"/>
              <a:t> vs. the number of chasers </a:t>
            </a:r>
            <a:r>
              <a:rPr lang="en-US" sz="1200" i="1" noProof="0" dirty="0"/>
              <a:t>N</a:t>
            </a:r>
            <a:r>
              <a:rPr lang="en-US" sz="1200" i="1" baseline="-25000" noProof="0" dirty="0"/>
              <a:t>C</a:t>
            </a:r>
            <a:r>
              <a:rPr lang="en-US" sz="1200" noProof="0" dirty="0"/>
              <a:t> for N</a:t>
            </a:r>
            <a:r>
              <a:rPr lang="en-US" sz="1200" baseline="30000" noProof="0" dirty="0"/>
              <a:t>0</a:t>
            </a:r>
            <a:r>
              <a:rPr lang="en-US" sz="1200" baseline="-25000" noProof="0" dirty="0"/>
              <a:t>T</a:t>
            </a:r>
            <a:r>
              <a:rPr lang="en-US" sz="1200" noProof="0" dirty="0"/>
              <a:t> = 10 in following four cases: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the original chasers and targets (C&amp;T),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both chasers and targets are random walkers (RW),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targets are random walkers (TRW), and</a:t>
            </a:r>
          </a:p>
          <a:p>
            <a:pPr marL="266700" indent="-177800">
              <a:spcAft>
                <a:spcPts val="300"/>
              </a:spcAft>
              <a:buFont typeface="Arial" pitchFamily="34" charset="0"/>
              <a:buChar char="•"/>
            </a:pPr>
            <a:r>
              <a:rPr lang="en-US" sz="1200" noProof="0" dirty="0"/>
              <a:t>chasers are random walkers (CRW).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3851920" y="1275606"/>
            <a:ext cx="5040560" cy="864095"/>
          </a:xfrm>
        </p:spPr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917350" y="4712245"/>
            <a:ext cx="197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florian.rupp@kiu.edu.ge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V12iISWwkOOVDsSNsZR1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58,005"/>
  <p:tag name="ORIGINALWIDTH" val="3396,325"/>
  <p:tag name="LATEXADDIN" val="\documentclass{article}\pagestyle{empty}&#10;\usepackage{amsmath}&#10;\usepackage{amsfonts}&#10;\usepackage{amssymb}&#10;\begin{document}&#10;\begin{minipage}{9.6 cm}&#10;{\sffamily{&#10;We consider a twodimensional square lattice of size $L_x \times L_y$ with torioidal boundary conditions.&#10;At most one particle, a chaser or a target (escapee), can occupy each site.\\[2mm]&#10;The chasers and targets play tag by hopping between the sites:&#10;\begin{itemize}&#10;\item a {\bf{target}} at position $(x_T, y_T)$ moves to evade its nearest chaser, while&#10;\item a {\bf{chaser}} at position $(x_C, y_C)$ hops to close in on its nearest target.&#10;\end{itemize}&#10;The distance between them is calculated as&#10;$$&#10;d \, \, := \, \, \sqrt{(x_T - x_C)^2 + (y_T - y_C)^2} \, .&#10;$$&#10;}}&#10;\end{minipage}&#10;\end{document}"/>
  <p:tag name="IGUANATEXSIZE" val="20"/>
  <p:tag name="IGUANATEXCURSOR" val="242"/>
  <p:tag name="TRANSPARENCY" val="Wahr"/>
  <p:tag name="LATEXENGINEID" val="0"/>
  <p:tag name="TEMPFOLDER" val="c:\temp\"/>
  <p:tag name="LATEXFORMHEIGHT" val="482,25"/>
  <p:tag name="LATEXFORMWIDTH" val="1030,5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95,763"/>
  <p:tag name="ORIGINALWIDTH" val="3395,576"/>
  <p:tag name="LATEXADDIN" val="\documentclass{article}\pagestyle{empty}&#10;\usepackage{amsmath}&#10;\usepackage{amsfonts}&#10;\usepackage{amssymb}&#10;\begin{document}&#10;\begin{minipage}{9.6 cm}&#10;{\sffamily{&#10;Each target calculates the distance for all chasers in order to identify the chaser with a minimum $d$, i.e.,&#10;the nearest to the target. If there are more than two chasers who are equally near (equal $d$), the target&#10;chooses one of them randomly.\\[2mm]&#10;Then, the target hops to its nearest site in the direction to increase the distance from the chaser (see the figure).&#10;Generally, the target has two or three possible sites to which to hop.&#10;\begin{itemize}&#10;\item In the case of two possible sites, one of them is chosen with an equal probability $\frac{1}{2}$.&#10;\item When the target has three possible sites to increase the distance, one of these is chosen with an equal probability&#10;$\frac{1}{3}$.&#10;\end{itemize}}}&#10;\end{minipage}&#10;\end{document}"/>
  <p:tag name="IGUANATEXSIZE" val="20"/>
  <p:tag name="IGUANATEXCURSOR" val="872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12,224"/>
  <p:tag name="ORIGINALWIDTH" val="3397,825"/>
  <p:tag name="LATEXADDIN" val="\documentclass{article}\pagestyle{empty}&#10;\usepackage{amsmath}&#10;\usepackage{amsfonts}&#10;\usepackage{amssymb}&#10;\begin{document}&#10;\begin{minipage}{9.6 cm}&#10;{\sffamily{&#10;Similarly, the rule for each chaser is defined such that it hops to close in on its&#10;nearest target. A chaser determines the nearest target by calculating distances in the&#10;same way as for a target. The chaser, then, hops to its nearest site that decreases&#10;the distance. Generally, each chaser&#10;\begin{itemize}&#10;\item has a single site to hop to,&#10;\item or two possible sites to choose from with equal probability for each of them of $\frac{1}{2}$.&#10;\end{itemize}&#10;If the chosen sites are occupied, chasers and targets cannot move, except in 'catch events' explained below,&#10;and they stay in their original sites. (Here, we first choose one of the nearest sites&#10;by the probabilities above, so that the chasers or the targets do not move even if the&#10;other nearest sites are empty.)&#10;}}&#10;\end{minipage}&#10;\end{document}"/>
  <p:tag name="IGUANATEXSIZE" val="20"/>
  <p:tag name="IGUANATEXCURSOR" val="866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85,9018"/>
  <p:tag name="ORIGINALWIDTH" val="3397,076"/>
  <p:tag name="LATEXADDIN" val="\documentclass{article}\pagestyle{empty}&#10;\usepackage{amsmath}&#10;\usepackage{amsfonts}&#10;\usepackage{amssymb}&#10;\begin{document}&#10;\begin{minipage}{9.6 cm}&#10;{\sffamily{&#10;When a target is in a site nearest to a chaser, the chaser catches the target by hopping to the site, and then the target is removed from the system.&#10;We call this a {\bf{catch event}}.\\[2mm] After the catch, the chaser pursues the remaining targets in the same manner.)&#10;}}&#10;\end{minipage}&#10;\end{document}"/>
  <p:tag name="IGUANATEXSIZE" val="20"/>
  <p:tag name="IGUANATEXCURSOR" val="350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31,009"/>
  <p:tag name="ORIGINALWIDTH" val="4387,702"/>
  <p:tag name="LATEXADDIN" val="\documentclass{article}\pagestyle{empty}&#10;\usepackage{amsmath}&#10;\usepackage{amsfonts}&#10;\usepackage{amssymb}&#10;\begin{document}&#10;\begin{minipage}{12.4 cm}&#10;{\sffamily{&#10;Initially, $N^0_C$ chasers and $N^0_T$ targets are randomly distributed in the lattice. In accordance with the above hopping rules,&#10;every chaser and target are to hop by one site (this implies that we are considering the case that the speeds of chaser and targets&#10;are the same).&#10;\begin{itemize}&#10;\item We first determine the next hopping site for chasers and targets. Then, we move all chasers (the update is done in a&#10;random sequential order). If a chaser hops to a site a target occupies, the chaser catches the target, and the caught targets&#10;are removed from the field.&#10;\item After this, we move all the remaining targets.&#10;\end{itemize}&#10;Consequently, the number of targets, $N_T$, monotonically decreases along with the catches, while the number of chasers, $N_C$, remains a&#10;constant $N^0_C$.}}&#10;\end{minipage}&#10;\end{document}"/>
  <p:tag name="IGUANATEXSIZE" val="20"/>
  <p:tag name="IGUANATEXCURSOR" val="954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9,8839"/>
  <p:tag name="ORIGINALWIDTH" val="4394,451"/>
  <p:tag name="LATEXADDIN" val="\documentclass{article}\pagestyle{empty}&#10;\usepackage{amsmath}&#10;\usepackage{amsfonts}&#10;\usepackage{amssymb}&#10;\begin{document}&#10;\begin{minipage}{12.4 cm}&#10;{\sffamily{&#10;It is noteworthy here that we assume the timescales in the chase and escape processes are much shorter than typical lifetimes of particles,&#10;thus intrinsic birth and death of chasers and targets are not considered in the basic model. Neither do we include satuaration of the chasers&#10;(predators) nor decline of energy due to chase/ escape.\\[2mm]&#10;Simulations are carried out until all targets have been caught by chasers, i.e., $N_T = 0$. The results are averaged over $10^4$ samples.}}&#10;\end{minipage}&#10;\end{document}"/>
  <p:tag name="IGUANATEXSIZE" val="20"/>
  <p:tag name="IGUANATEXCURSOR" val="497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66,217"/>
  <p:tag name="ORIGINALWIDTH" val="3397,825"/>
  <p:tag name="LATEXADDIN" val="\documentclass{article}\pagestyle{empty}&#10;\usepackage{amsmath}&#10;\usepackage{amsfonts}&#10;\usepackage{amssymb}&#10;\begin{document}&#10;\begin{minipage}{9.6 cm}&#10;{\sffamily{&#10;First, let us define the time length for the entire catch $T$ as the simulation steps it&#10;takes for the chasers to catch all the targets. Their distribution is shown in the figure.\\[2mm]&#10;Since the time $T$ can be also interpreted as a 'lifetime' of the final target, the figure also&#10;represents the probability distribution of this lifetime.\\[2mm]&#10;When the number of chasers $N_C$ is larger than that of targets $N_T$, the distribution basically shows a parabolic shape&#10;on the log-log scales, suggesting a log-normal distribution. This distribution can be&#10;obtained even when both chasers and targets are moving as conventional symmetric&#10;random walks.\\[2mm]&#10;However, as $N_C$ decreases and approaches values approximately equal to $N_T$, it deviates from the log-normal distribution, reflecting&#10;the effect of chase and escape.}}&#10;\end{minipage}&#10;\end{document}"/>
  <p:tag name="IGUANATEXSIZE" val="20"/>
  <p:tag name="IGUANATEXCURSOR" val="895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9,846"/>
  <p:tag name="ORIGINALWIDTH" val="4387,702"/>
  <p:tag name="LATEXADDIN" val="\documentclass{article}\pagestyle{empty}&#10;\usepackage{amsmath}&#10;\usepackage{amsfonts}&#10;\usepackage{amssymb}&#10;\begin{document}&#10;\begin{minipage}{12.4 cm}&#10;{\sffamily{&#10;Naturally, the time $T$ decreases as the number of chasers increases because it&#10;is intuitively reasonable that the targets are caught up sooner when there are more&#10;chasers. We note that because we are considering the case where the chasers and the&#10;targets have the same speeds, an individual chaser generally cannot catch up with&#10;targets.\\[2mm]&#10;Thus, the catch event typically occurs when chasers surround each individual&#10;target, as depicted in the figure. Although an individual chaser independently tries&#10;to catch a target, it appears as if the group of chasers cooperates to catch a target.}}&#10;\end{minipage}&#10;\end{document}"/>
  <p:tag name="IGUANATEXSIZE" val="20"/>
  <p:tag name="IGUANATEXCURSOR" val="754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5,984"/>
  <p:tag name="ORIGINALWIDTH" val="3404,575"/>
  <p:tag name="LATEXADDIN" val="\documentclass{article}\pagestyle{empty}&#10;\usepackage{amsmath}&#10;\usepackage{amsfonts}&#10;\usepackage{amssymb}&#10;\begin{document}&#10;\begin{minipage}{9.6 cm}&#10;{\sffamily{&#10;If we further look at the lifetime distribution of all targets, then we obtain the&#10;results shown in the figure. The distribution first shows large drops at the left (at the&#10;point the lifetime is equal to one), then increases and peaks at a typical time, which&#10;gets shorter (shifts to the left) for a larger number of chasers. After the peak, it&#10;decreases again.\\[2mm]&#10;The large drops at the point the lifetime is equal to one indicate that a number&#10;of catch events occur at the initial first step. This is because, in the initial condition,&#10;targets can be positioned in the nearest neighboring sites to chasers, i.e., $d =1$. Then,&#10;the targets are caught by the chasers in the next step. However, if the initial distances&#10;between targets and chasers are larger than d =1, the targets can momentarily evade&#10;the chaser. Then, the number of catch events decreases, causing the drop in the&#10;figure.}}&#10;\end{minipage}&#10;\end{document}"/>
  <p:tag name="IGUANATEXSIZE" val="20"/>
  <p:tag name="IGUANATEXCURSOR" val="784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0,9112"/>
  <p:tag name="ORIGINALWIDTH" val="3403,825"/>
  <p:tag name="LATEXADDIN" val="\documentclass{article}\pagestyle{empty}&#10;\usepackage{amsmath}&#10;\usepackage{amsfonts}&#10;\usepackage{amssymb}&#10;\begin{document}&#10;\begin{minipage}{9.6 cm}&#10;{\sffamily{&#10;Besides the first drop, the distribution has a peak. The value of these peak positions&#10;can be inferred as a typical lifetime of the targets. It can be interpreted to&#10;represent a timescale for chasers to form a spatial structure from the random initial&#10;condition to surround and catch targets.}}&#10;\end{minipage}&#10;\end{document}"/>
  <p:tag name="IGUANATEXSIZE" val="20"/>
  <p:tag name="IGUANATEXCURSOR" val="451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20,21"/>
  <p:tag name="ORIGINALWIDTH" val="3404,575"/>
  <p:tag name="LATEXADDIN" val="\documentclass{article}\pagestyle{empty}&#10;\usepackage{amsmath}&#10;\usepackage{amsfonts}&#10;\usepackage{amssymb}&#10;\begin{document}&#10;\begin{minipage}{9.6 cm}&#10;{\sffamily{&#10;Let us now turn our attention to investigate how the lifetimes of the longest-living (final) and typical targets change with&#10;the numbers of chasers $N_C$ and initial targets $N^0_T$. The lifetime of the final targets is equal to the time for the entire&#10;catch $T$, as described above.\\[1.5mm]&#10;The typical lifetime is defined here as&#10;$$&#10;\tau \, \, = \, \, \sum_t \frac{N^{t-1}_T - N^t_T}{N^0_T} \, ,&#10;$$&#10;where $N^t_T$ denotes the number of targets at $t$ so that $(N^{t-1}_T - N^t_T)$ represents the&#10;number of targets with a lifetime $t$.\\[1.5mm]&#10;In the figure, we show how $T$ and $\tau$ change with the number of chasers $N_C$ for a fixed $N^0_T = 10$. Both $T$ and $\tau$&#10;show similar dependences.}}&#10;\end{minipage}&#10;\end{document}"/>
  <p:tag name="IGUANATEXSIZE" val="20"/>
  <p:tag name="IGUANATEXCURSOR" val="701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4,211"/>
  <p:tag name="ORIGINALWIDTH" val="3403,825"/>
  <p:tag name="LATEXADDIN" val="\documentclass{article}\pagestyle{empty}&#10;\usepackage{amsmath}&#10;\usepackage{amsfonts}&#10;\usepackage{amssymb}&#10;\begin{document}&#10;\begin{minipage}{9.6 cm}&#10;{\sffamily{&#10;For moderately small $N_C$, the lifetimes decrease as $N^{-\alpha}_C$ with $\alpha \approx 3$. The power-law&#10;dependence is valid for a region where the ratio of $N_C$ to $N^0_T$ is less than approximately $5$.\\[1mm]&#10;However, as $N_C$ increases further, the lifetimes show a crossover to slower decreases, which are approximately&#10;fitted by another power law $N^{-0.75}_C$.\\[1mm]&#10;At the right end, both of them approach one where the sites are filled with chasers so&#10;that both typical and longest-living targets can survive only in one time step.\\[1mm] The&#10;two distinctive regions are found and characterized by the different dependences on&#10;the number of chasers. Even though the powers of the dependences sensitively depend&#10;on the details of the model, the two distinctive regions are generally observed in subsequent studies. As we will show that the two&#10;regions are also characterized by typical catching processes.}}&#10;\end{minipage}&#10;\end{document}"/>
  <p:tag name="IGUANATEXSIZE" val="20"/>
  <p:tag name="IGUANATEXCURSOR" val="712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61,23"/>
  <p:tag name="ORIGINALWIDTH" val="3397,076"/>
  <p:tag name="LATEXADDIN" val="\documentclass{article}\pagestyle{empty}&#10;\usepackage{amsmath}&#10;\usepackage{amsfonts}&#10;\usepackage{amssymb}&#10;\begin{document}&#10;\begin{minipage}{9.6 cm}&#10;{\sffamily{&#10;We next investigate how the lifetimes change with the initial number of targets $N^0_T$ for a fixed $N_C = 100$, as shown in the figure.\\[1mm]&#10;As $N_T$ increases, the lifetime of final targets monotonically increases. On the other hand, the lifetime of typical targets&#10;peaks around $N_T = 10^3$ and slightly decreases again.\\[2mm]&#10;We show typical snapshots in Fig. 4.7. From the initial condition, targets evade chasers at first by producing&#10;clusters of targets. As shown in the left snapshot, we can see the clusters of targets&#10;appear where targets get close to each other. Then a group of chasers gets closer to&#10;the clusters to catch up targets. It is intuitively efficient for the group of chasers to&#10;catch targets by surrounding the cluster of targets because the number of targets can&#10;be caught, more or less, by a single enclosure event. The peak of the lifetime may&#10;represent such effects.}}&#10;\end{minipage}&#10;\end{document}"/>
  <p:tag name="IGUANATEXSIZE" val="20"/>
  <p:tag name="IGUANATEXCURSOR" val="735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81,027"/>
  <p:tag name="ORIGINALWIDTH" val="3387,327"/>
  <p:tag name="LATEXADDIN" val="\documentclass{article}\pagestyle{empty}&#10;\usepackage{amsmath}&#10;\usepackage{amsfonts}&#10;\usepackage{amssymb}&#10;\begin{document}&#10;\begin{minipage}{9.6 cm}&#10;{\sffamily{&#10;Next, we show typical snapshots:&#10;\begin{itemize}&#10;\item From the initial condition, targets evade chasers at first by producing&#10;clusters of targets. As shown in the left snapshot, we can see the clusters of targets&#10;appear where targets get close to each other.&#10;\item Then a group of chasers gets closer to&#10;the clusters to catch up targets. It is intuitively efficient for the group of chasers to&#10;catch targets by surrounding the cluster of targets because the number of targets can&#10;be caught, more or less, by a single enclosure event. The peak of the lifetime may&#10;represent such effects.&#10;\end{itemize}}}&#10;\end{minipage}&#10;\end{document}"/>
  <p:tag name="IGUANATEXSIZE" val="20"/>
  <p:tag name="IGUANATEXCURSOR" val="760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10,461"/>
  <p:tag name="ORIGINALWIDTH" val="3404,575"/>
  <p:tag name="LATEXADDIN" val="\documentclass{article}\pagestyle{empty}&#10;\usepackage{amsmath}&#10;\usepackage{amsfonts}&#10;\usepackage{amssymb}&#10;\begin{document}&#10;\begin{minipage}{9.6 cm}&#10;{\sffamily{&#10;Also, it is of interest to know the most 'efficient' number of chasers $N_C$ for&#10;a given number $N^0_T$ of targets.\\[1mm] We have evaluated this by focusing on a quantity\\[-1mm]&#10;$$&#10;c \, \, = \, \, \frac{N_CT}{N^0_T} \, ,&#10;$$&#10;i.e. the number of work-hours $T$ for which $N_C$ chasers are deployed (total cost) divided&#10;by the initial number of targets $N^0_T$ . Thus, this quantity represents the&#10;unit cost for the group of chasers to finish the task per target.\\[1mm]&#10;We have plotted this unit cost function for different chasing and escaping rules&#10;in the figure.\\[1mm] Here, the cost is plotted by changing the number of chasers $N_C$ for a&#10;fixed $N^0_T$. We found that there is a minimum in this cost for the chase and target case&#10;(indicated by C\&amp;T).}}&#10;\end{minipage}&#10;\end{document}"/>
  <p:tag name="IGUANATEXSIZE" val="20"/>
  <p:tag name="IGUANATEXCURSOR" val="338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24,485"/>
  <p:tag name="ORIGINALWIDTH" val="3397,825"/>
  <p:tag name="LATEXADDIN" val="\documentclass{article}\pagestyle{empty}&#10;\usepackage{amsmath}&#10;\usepackage{amsfonts}&#10;\usepackage{amssymb}&#10;\begin{document}&#10;\begin{minipage}{9.6 cm}&#10;{\sffamily{&#10;This means there is an optimal number of chasers $N^*_C$ to finish the given chasing task most efficiently.\\[2mm]&#10;When the speed of targets is as fast as that of chasers, an individual chaser cannot catch up with targets,&#10;so it cannot finish the task alone by itself. Instead, a group of chasers catches a target by surrounding it so that&#10;the target cannot escape from them.\\[2mm]&#10;In this case, a number of chasers substantially more than targets is necessary to finish the task efficiently.&#10;On the other hand, as the number of chasers exceeds the optimal number to surround the targets, excessive&#10;chasers result in increased cost.\\[2mm]&#10;The right side of the figure, $N_C = 9990$, confirms that the system is fully occupied, so that the targets are caught&#10;in one simulation step, leading to the cost $c = 1 \cdot 9990/10 = 999 \approx 10^3$.}}&#10;\end{minipage}&#10;\end{document}"/>
  <p:tag name="IGUANATEXSIZE" val="20"/>
  <p:tag name="IGUANATEXCURSOR" val="1003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1,541"/>
  <p:tag name="ORIGINALWIDTH" val="3397,825"/>
  <p:tag name="LATEXADDIN" val="\documentclass{article}\pagestyle{empty}&#10;\usepackage{amsmath}&#10;\usepackage{amsfonts}&#10;\usepackage{amssymb}&#10;\begin{document}&#10;\begin{minipage}{9.6 cm}&#10;{\sffamily{&#10;Such a minimal cost is realized as a result of both chase and escape processes.\\[2mm] In the figure, we also show the costs in different cases:&#10;both or either chaser and target&#10;follow a random walk process in which the chasers/ targets randomly hop to one&#10;of the four nearest neighboring sites.\\[2mm] We observe that when the targets are random&#10;walkers (TRW), the cost monotonically increases along with the number of chasers.\\[2mm]&#10;On the other hand, when the chasers (CRW) or both (RW) are random walkers, they&#10;monotonically decrease.}}&#10;\end{minipage}&#10;\end{document}"/>
  <p:tag name="IGUANATEXSIZE" val="20"/>
  <p:tag name="IGUANATEXCURSOR" val="594"/>
  <p:tag name="TRANSPARENCY" val="Wahr"/>
  <p:tag name="FILENAME" val=""/>
  <p:tag name="LATEXENGINEID" val="0"/>
  <p:tag name="TEMPFOLDER" val="D:\iguana_temp\"/>
  <p:tag name="LATEXFORMHEIGHT" val="482,25"/>
  <p:tag name="LATEXFORMWIDTH" val="1030,5"/>
  <p:tag name="LATEXFORMWRAP" val="Wahr"/>
  <p:tag name="BITMAPVECTOR" val="0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1552</Words>
  <Application>Microsoft Office PowerPoint</Application>
  <PresentationFormat>Bildschirmpräsentation (16:9)</PresentationFormat>
  <Paragraphs>264</Paragraphs>
  <Slides>28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28</vt:i4>
      </vt:variant>
    </vt:vector>
  </HeadingPairs>
  <TitlesOfParts>
    <vt:vector size="33" baseType="lpstr">
      <vt:lpstr>Arial</vt:lpstr>
      <vt:lpstr>Courier New</vt:lpstr>
      <vt:lpstr>Symbol</vt:lpstr>
      <vt:lpstr>Calibri</vt:lpstr>
      <vt:lpstr>Larissa-Design</vt:lpstr>
      <vt:lpstr>Computational Biomathematics</vt:lpstr>
      <vt:lpstr>Some illustrations of chase and escape dynamics</vt:lpstr>
      <vt:lpstr>PowerPoint-Präsentation</vt:lpstr>
      <vt:lpstr>The basic model of group chase and escape (1/ 4)</vt:lpstr>
      <vt:lpstr>The basic model of group chase and escape (2/ 4)</vt:lpstr>
      <vt:lpstr>The basic model of group chase and escape (3/ 4)</vt:lpstr>
      <vt:lpstr>The basic model of group chase and escape (4/ 4)</vt:lpstr>
      <vt:lpstr>PowerPoint-Präsentation</vt:lpstr>
      <vt:lpstr>The modular program structure follows our previous architectures</vt:lpstr>
      <vt:lpstr>Here, the single files contain the information necessary to simulate the basic chase and escape model (1/ 2)</vt:lpstr>
      <vt:lpstr>Here, the single files contain the information necessary to simulate the basic chase and escape model (2/ 2)</vt:lpstr>
      <vt:lpstr>Starter prompt</vt:lpstr>
      <vt:lpstr>First simulations: Group chase and (unsuccessful) escape</vt:lpstr>
      <vt:lpstr>PowerPoint-Präsentation</vt:lpstr>
      <vt:lpstr>Simulation of the basic model</vt:lpstr>
      <vt:lpstr>Simulation of the basic model</vt:lpstr>
      <vt:lpstr>Simulation results: 1) Time until all chasers are caught</vt:lpstr>
      <vt:lpstr>Simulation results: 2) Cooperative chase?</vt:lpstr>
      <vt:lpstr>Simulation results: 3) Lifetime distributions of targets</vt:lpstr>
      <vt:lpstr>Simulation results: 3) Lifetime distributions of targets</vt:lpstr>
      <vt:lpstr>Simulation results: 4) Lifetime distributions of the final targets</vt:lpstr>
      <vt:lpstr>Simulation results: 4) Lifetime distributions of the final targets</vt:lpstr>
      <vt:lpstr>Simulation results: 5) Lifetime compared to the initial number of targets</vt:lpstr>
      <vt:lpstr>Simulation results: 6) Cluster emergence during the chasing and escaping process</vt:lpstr>
      <vt:lpstr>Simulation results: 7) Cost efficiency of chasing</vt:lpstr>
      <vt:lpstr>Simulation results: 7) Cost efficiency of chasing</vt:lpstr>
      <vt:lpstr>Simulation results: 7) Cost efficiency of chasing</vt:lpstr>
      <vt:lpstr>Computational Biomathematics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Florian</dc:creator>
  <cp:lastModifiedBy>Florian Rupp</cp:lastModifiedBy>
  <cp:revision>231</cp:revision>
  <cp:lastPrinted>2026-04-12T13:45:14Z</cp:lastPrinted>
  <dcterms:created xsi:type="dcterms:W3CDTF">2020-04-04T18:50:50Z</dcterms:created>
  <dcterms:modified xsi:type="dcterms:W3CDTF">2026-04-12T18:19:14Z</dcterms:modified>
</cp:coreProperties>
</file>